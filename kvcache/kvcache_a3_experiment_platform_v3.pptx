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78b1ed1ef493c" /><Relationship Type="http://schemas.openxmlformats.org/officeDocument/2006/relationships/extended-properties" Target="/docProps/app.xml" Id="R6566ede0ecd142d7" /><Relationship Type="http://schemas.openxmlformats.org/officeDocument/2006/relationships/officeDocument" Target="/ppt/presentation.xml" Id="Rf6fd0d9cbcf4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5079ee06f4519"/>
  </p:sldMasterIdLst>
  <p:notesMasterIdLst>
    <p:notesMasterId xmlns:r="http://schemas.openxmlformats.org/officeDocument/2006/relationships" r:id="R1c17ad6bf2ac4e1e"/>
  </p:notesMasterIdLst>
  <p:sldIdLst>
    <p:sldId xmlns:r="http://schemas.openxmlformats.org/officeDocument/2006/relationships" id="256" r:id="R59a29417b5af47db"/>
    <p:sldId xmlns:r="http://schemas.openxmlformats.org/officeDocument/2006/relationships" id="257" r:id="R986ff2b34a6e4bda"/>
    <p:sldId xmlns:r="http://schemas.openxmlformats.org/officeDocument/2006/relationships" id="258" r:id="Ref4f58e83f294f70"/>
    <p:sldId xmlns:r="http://schemas.openxmlformats.org/officeDocument/2006/relationships" id="259" r:id="R8df40946549f44f8"/>
    <p:sldId xmlns:r="http://schemas.openxmlformats.org/officeDocument/2006/relationships" id="260" r:id="Ref2f5bf9b61c4523"/>
    <p:sldId xmlns:r="http://schemas.openxmlformats.org/officeDocument/2006/relationships" id="261" r:id="Re48beea99b254d84"/>
    <p:sldId xmlns:r="http://schemas.openxmlformats.org/officeDocument/2006/relationships" id="262" r:id="R0509c4ad21834af5"/>
    <p:sldId xmlns:r="http://schemas.openxmlformats.org/officeDocument/2006/relationships" id="263" r:id="R13f794200a1347c4"/>
    <p:sldId xmlns:r="http://schemas.openxmlformats.org/officeDocument/2006/relationships" id="264" r:id="Re5a4dae24c82435e"/>
    <p:sldId xmlns:r="http://schemas.openxmlformats.org/officeDocument/2006/relationships" id="265" r:id="Rdbbf7a5466a747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4151a06404f8f" /><Relationship Type="http://schemas.openxmlformats.org/officeDocument/2006/relationships/slideMaster" Target="/ppt/slideMasters/slideMaster1.xml" Id="R7885079ee06f4519" /><Relationship Type="http://schemas.openxmlformats.org/officeDocument/2006/relationships/notesMaster" Target="/ppt/notesMasters/notesMaster1.xml" Id="R1c17ad6bf2ac4e1e" /><Relationship Type="http://schemas.openxmlformats.org/officeDocument/2006/relationships/presProps" Target="/ppt/presProps.xml" Id="R843dcd12249f4e4b" /><Relationship Type="http://schemas.openxmlformats.org/officeDocument/2006/relationships/tableStyles" Target="/ppt/tableStyles.xml" Id="R9a16d9c91f484ce8" /><Relationship Type="http://schemas.openxmlformats.org/officeDocument/2006/relationships/slide" Target="/ppt/slides/slide1.xml" Id="R59a29417b5af47db" /><Relationship Type="http://schemas.openxmlformats.org/officeDocument/2006/relationships/slide" Target="/ppt/slides/slide2.xml" Id="R986ff2b34a6e4bda" /><Relationship Type="http://schemas.openxmlformats.org/officeDocument/2006/relationships/slide" Target="/ppt/slides/slide3.xml" Id="Ref4f58e83f294f70" /><Relationship Type="http://schemas.openxmlformats.org/officeDocument/2006/relationships/slide" Target="/ppt/slides/slide4.xml" Id="R8df40946549f44f8" /><Relationship Type="http://schemas.openxmlformats.org/officeDocument/2006/relationships/slide" Target="/ppt/slides/slide5.xml" Id="Ref2f5bf9b61c4523" /><Relationship Type="http://schemas.openxmlformats.org/officeDocument/2006/relationships/slide" Target="/ppt/slides/slide6.xml" Id="Re48beea99b254d84" /><Relationship Type="http://schemas.openxmlformats.org/officeDocument/2006/relationships/slide" Target="/ppt/slides/slide7.xml" Id="R0509c4ad21834af5" /><Relationship Type="http://schemas.openxmlformats.org/officeDocument/2006/relationships/slide" Target="/ppt/slides/slide8.xml" Id="R13f794200a1347c4" /><Relationship Type="http://schemas.openxmlformats.org/officeDocument/2006/relationships/slide" Target="/ppt/slides/slide9.xml" Id="Re5a4dae24c82435e" /><Relationship Type="http://schemas.openxmlformats.org/officeDocument/2006/relationships/slide" Target="/ppt/slides/slide10.xml" Id="Rdbbf7a5466a7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3edfac1b14c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8d1422854e4572" /><Relationship Type="http://schemas.openxmlformats.org/officeDocument/2006/relationships/notesMaster" Target="/ppt/notesMasters/notesMaster1.xml" Id="R0f316181e2e343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a1e97e264b42ba" /><Relationship Type="http://schemas.openxmlformats.org/officeDocument/2006/relationships/notesMaster" Target="/ppt/notesMasters/notesMaster1.xml" Id="R43ef52fc68eb47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22760893e4f75" /><Relationship Type="http://schemas.openxmlformats.org/officeDocument/2006/relationships/notesMaster" Target="/ppt/notesMasters/notesMaster1.xml" Id="Rba1cd196204e4c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7cba99c1e4965" /><Relationship Type="http://schemas.openxmlformats.org/officeDocument/2006/relationships/notesMaster" Target="/ppt/notesMasters/notesMaster1.xml" Id="R2b8748359971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bbf981ced4ccc" /><Relationship Type="http://schemas.openxmlformats.org/officeDocument/2006/relationships/notesMaster" Target="/ppt/notesMasters/notesMaster1.xml" Id="R8fdda4795d0e4d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df8a06b35f449b" /><Relationship Type="http://schemas.openxmlformats.org/officeDocument/2006/relationships/notesMaster" Target="/ppt/notesMasters/notesMaster1.xml" Id="R1af4a367dece44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e49631eac418a" /><Relationship Type="http://schemas.openxmlformats.org/officeDocument/2006/relationships/notesMaster" Target="/ppt/notesMasters/notesMaster1.xml" Id="Rac285f72768244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672d78105b4c41" /><Relationship Type="http://schemas.openxmlformats.org/officeDocument/2006/relationships/notesMaster" Target="/ppt/notesMasters/notesMaster1.xml" Id="R8c841f572a174f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67217ea9cb4e89" /><Relationship Type="http://schemas.openxmlformats.org/officeDocument/2006/relationships/notesMaster" Target="/ppt/notesMasters/notesMaster1.xml" Id="R191b1323a2c04c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caa73417634324" /><Relationship Type="http://schemas.openxmlformats.org/officeDocument/2006/relationships/notesMaster" Target="/ppt/notesMasters/notesMaster1.xml" Id="R730e63b12e68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dcc6858bb44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f700c5ffa4523" /><Relationship Type="http://schemas.openxmlformats.org/officeDocument/2006/relationships/slideLayout" Target="/ppt/slideLayouts/slideLayout1.xml" Id="Rbfd083eb4cc142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d083eb4cc1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10a61379c48fa" /><Relationship Type="http://schemas.openxmlformats.org/officeDocument/2006/relationships/notesSlide" Target="/ppt/notesSlides/notesSlide1.xml" Id="R2f972cfea75449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8e0a429744839" /><Relationship Type="http://schemas.openxmlformats.org/officeDocument/2006/relationships/notesSlide" Target="/ppt/notesSlides/notesSlide2.xml" Id="R1dcc34d1d996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4266be5fb4967" /><Relationship Type="http://schemas.openxmlformats.org/officeDocument/2006/relationships/notesSlide" Target="/ppt/notesSlides/notesSlide3.xml" Id="R1ee9b932e0ee47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f3365ae7a4365" /><Relationship Type="http://schemas.openxmlformats.org/officeDocument/2006/relationships/notesSlide" Target="/ppt/notesSlides/notesSlide4.xml" Id="Rbc9d4088e54b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9480b76a94867" /><Relationship Type="http://schemas.openxmlformats.org/officeDocument/2006/relationships/notesSlide" Target="/ppt/notesSlides/notesSlide5.xml" Id="R032aaf756bc442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54d9362f4475a" /><Relationship Type="http://schemas.openxmlformats.org/officeDocument/2006/relationships/notesSlide" Target="/ppt/notesSlides/notesSlide6.xml" Id="R57ca71a2b4f147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532d5b134d3c" /><Relationship Type="http://schemas.openxmlformats.org/officeDocument/2006/relationships/notesSlide" Target="/ppt/notesSlides/notesSlide7.xml" Id="R031357a1012848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677b0c0414e4b" /><Relationship Type="http://schemas.openxmlformats.org/officeDocument/2006/relationships/notesSlide" Target="/ppt/notesSlides/notesSlide8.xml" Id="R44d396afe4ea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006c65c99406e" /><Relationship Type="http://schemas.openxmlformats.org/officeDocument/2006/relationships/notesSlide" Target="/ppt/notesSlides/notesSlide9.xml" Id="Ra096858cbb6c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bee3453684155" /><Relationship Type="http://schemas.openxmlformats.org/officeDocument/2006/relationships/notesSlide" Target="/ppt/notesSlides/notesSlide10.xml" Id="R9ca3b8bdba95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EE7F2-D16B-41FE-977E-7F8EDA3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结论先行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321E4-706B-4293-AA2C-3CE4F75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A0A0A"/>
                </a:solidFill>
              </a:defRPr>
            </a:pPr>
            <a:r>
              <a:rPr sz="3375" b="1">
                <a:solidFill>
                  <a:srgbClr val="0A0A0A"/>
                </a:solidFill>
              </a:rPr>
              <a:t>2 个 Ascend A3 8卡 Pod 是覆盖 KVCache 全业务流程的最佳实验配置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1E64D-FCA9-4FED-B218-3F5E725A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它不是“能跑模型”的最小算力，而是能复刻真实在线推理 KVCache 流动、传输时延和优化闭环的最小完整环境。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C17E0-C64D-43D1-9801-89A8A91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9E3B4-EF81-4BF1-96E5-5B26F3C0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判断维度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9FE95-8791-4D8B-AC29-62837569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B1A67-BC46-42B1-993D-4E6D8FED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242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1 个 8卡 Pod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4E3DE-8BDA-44F3-BAC7-DC45023C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161E5-58FB-4B0F-A452-17564BD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242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2 个 8卡 Pod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53D5A-39D7-4634-898C-FB6BD96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E9E30-B720-436C-A79F-2D726EF5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242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3 个 Pod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A44E8-A6B1-467A-A7C9-285B125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57522-12DB-499C-8B80-55DB93E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KV 全流程覆盖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856B9-3CA0-46CE-9C92-CFB7F67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8617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F6DEE-B72B-40A9-A62D-70BAB027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528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功能可模拟，跨节点不足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4545D-71B8-4466-A00C-F2E5D78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8617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85038-FB20-4981-A99A-489EE213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7528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完整覆盖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F41B5-FB6A-4BF3-A213-F453AD4B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8617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F6460-CC92-4108-8539-896B3E9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528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完整但成本更高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D59D0-B20D-40CB-A379-B503FFB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35AB9-650C-4876-B1B4-6FAE60C5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真实 PD 时延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1FB01-5B30-4A31-A281-96FF2638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1480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8AB9D-A4A1-4727-837E-508B178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814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缺少跨节点网络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8B3BC-DCE2-4B4A-B34C-5E626935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44D4B-C3C7-460E-AD73-620A42CB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814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可真实测 Prefill-&gt;Decode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729E6-BC93-424F-BF8D-BE59FCE9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750F8-E7F5-4020-AB27-4CECB8A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814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可测且隔离更强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13447-C7EB-4B42-A9C9-6D693605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E9BC41-AC0C-406E-AC91-C5284676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远端 cache restore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3CF026-5498-456F-B72B-2D2C925F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4342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4ACD7C-1DF0-4B11-8378-9036ABC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101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本机模拟，低估尾延迟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C7F00-7CB8-4DEB-AFB0-5ABCD02A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4342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FBB970-A5BB-4517-88DC-9AAA0CD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6101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跨 Pod 远端缓存可复刻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08FE23-8F6E-428F-82E6-00D31B21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43425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221773-C4F0-4A4D-96C8-C9913BC9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6101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独立 cache 节点更纯粹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894E19-2D5B-4B15-9E6E-DCAB183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8431B5-BC31-4F16-B503-3C5C0361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2305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投入/覆盖比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F99F60-C514-449C-A8EA-04A85E3C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720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DF5F6D-C9F5-4CC9-9F33-057C89A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387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低，但风险遗漏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1DBBA5-694D-49D7-8E48-03AE86C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720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DE2A8E-25CD-4BEA-B3A7-A1AFBC75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387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最佳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DDBBE4-3309-473B-BC2A-2180E65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2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BF3CEE-3292-4AA4-AF1D-CF0987FC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387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扩展阶段选择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8B05DB-BE1D-4981-A1A4-ABE72FE0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推荐：以 2 Pod 为实验平台一期目标；1 Pod 只做功能冒烟；第 3 个 Cache Pod 作为规模化扩展项。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0B4315-CD7A-46F1-8F7A-9D88D5D1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4667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19E21-C82B-442E-8A20-F78F316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EF05B-DA59-4F20-9426-BD24B2FA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完整 KVCache 实验平台的需求规格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BF476-54AA-490B-9309-AC23FEB9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先定义“不能遗漏的业务流程”，再反推硬件。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82FEE-0582-4A5C-A343-BA9F7C84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52EAC-EDB0-4675-A170-56477160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2DCA4-DB6A-4537-AE46-715545B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需求规格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5A236-498F-41F4-9CF4-E6FF33C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4310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9745C-3760-4FEE-B7B4-3FD9387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977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必须复刻的业务事实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D752C-9BA7-469E-8428-6AA87FF5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4310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46792-DDD1-4433-8D5A-A0AF5390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0977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关键实验指标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53AB2-E6ED-4C45-9F72-D613F9F5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19069-184A-404D-8E04-4BA794E1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0977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对平台的要求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2BEE3-F15F-47D8-86A8-90F0B5B6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8602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1F08F-40A9-416D-9FF8-0FD121A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Prefix 命中与复用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3BF33-81C7-429F-A480-59BB74DE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8602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AB199-F50F-4C81-8532-7CB4545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52700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命中 KV 可能在 HBM/DDR/SSD/远端，不一定本地可用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7CF93-9B34-48D8-89EF-12722D81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86025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D5B92-7CA0-461A-A37D-6505B0E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logical hit、effective hit、restore 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6A766-EE41-43FF-ABBB-FC9A2AAA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860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EA9E7-79B3-4F67-8EF4-ABE4582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52700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必须具备多层 cache 与跨节点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FBD65-F112-4955-B481-634FB50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05195-2668-4062-A7B3-D948E95D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9562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HBM 压力与卸载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FF18B-B1E1-45A1-A1EC-7CE5A99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98493-1E9F-49A1-A4F6-8F97A234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9562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长上下文和并发 decode 会挤压 HBM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D5EED-9E33-4A5A-AF03-7FC06E0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6B5549-3AB0-4B90-AAC6-4C0FCE9B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9562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D2H/H2D bytes、evict/load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FFED4-5F0D-412B-B6A1-E834AF77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92421-84C7-4E43-8719-A6F5401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9562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 Host DDR L2 与可观测 H2D/D2H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7E253-3DC4-4B39-A5C0-90CC196C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99928-0D1E-4241-BA67-5B6337A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3855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SSD 与远端缓存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522CF-A4C2-49E1-A30A-955811A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7187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803A1-B6AE-4BEE-9059-B23176A6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38550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冷 KV 进入 SSD 或远端节点，回读影响 TTFT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701A0-C8CA-43AC-9556-BCF39D6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71875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79C09E-EC88-42F1-B47D-DFDA453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3855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NVMe P99、remote get latency、metadata QPS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67FE91-E045-438D-A6A5-61C9CE8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18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ADF40A-9BF7-44AB-9AF6-85DD7CD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38550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必须有本地 SSD 与跨节点 cache 读写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7A3893-FA54-42AC-BD22-9605B4D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948AF-B476-4053-9D03-F970A731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分离传输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74BFB4-6A45-40AF-A035-F37BA0BE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76F7BB-7B2B-47A9-A724-5C33990E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8147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Prefill 与 Decode 常部署在不同节点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348F87-B3D6-4F0C-8DAD-DB63C1D4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AFC2B1-5287-4FBA-B837-5E6C0520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8147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bytes、bootstrap、decode wait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047786-444C-4A54-91CC-D70D93B8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48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883EA9-2413-4634-B184-0A88F3ED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8147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必须有两个物理 Pod 才能测真实链路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77AE0F-0B0A-48F1-BC66-6244092F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21E87B-7211-4F7E-AC1C-25EDE98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2440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TP/PP/异构切分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4043E6-D96E-42FD-9865-D2BDD663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57725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16AF24-D3C4-4C76-9F91-9347FBB2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724400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不同模型和部署会产生 slice/staging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B8D2B5-122C-408B-A414-67050CBA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57725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FCF997-72C0-4AA8-BFD3-100EF22C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7244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小包数、staging cost、带宽效率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DC92D7-B906-404E-AF31-C0CCD6C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577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92CBA7-50A2-47C6-95E4-87952C9C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24400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必须有 8卡 Pod 覆盖 TP=8 与分组切分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4FF84A-7FB4-4FA4-95EC-8237DBC9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2000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AEC318-CBE9-4A4D-8F81-97DDA246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推理体验闭环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603A85-1D63-404B-9F92-A17AD07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00650"/>
            <a:ext cx="314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361FE3-45B0-48B2-BA6F-B933D1F7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267325"/>
            <a:ext cx="297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KV 优化最终要体现为 TTFT/TPOT/P99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B0C27B-E053-48A0-B6BD-3D838DD5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00650"/>
            <a:ext cx="2952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107F12-65B8-4A83-B84D-19D86A6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26732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TTFT、TPOT、吞吐、P99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337F9C-933D-46D3-A72B-3DD5BEF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332EEC-983C-4F73-A889-7F726F22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67325"/>
            <a:ext cx="2686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必须集成 serving 与硬件遥测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E13C67-BCED-4064-AA5E-5ECD973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5705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0A031D-1BD1-4668-B6AD-006B4D3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8D091-C7D6-4C5F-8D00-CAB0469C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场景覆盖矩阵：没有 KVCache 相关流程被遗漏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DC112-C9AF-44E7-8BB9-9DFEBF47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0CCD8-97DD-4A8F-8EA2-8E2F931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58443-F6F7-47DE-8A99-B6596B4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编号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80AAE-CF0F-4950-B1E3-71EAD3AE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935B3-80AB-4792-AE0D-A268F53A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335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E091C-DB8A-4087-94FD-AA0561B5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669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B2E26-39BE-4539-8A5C-02DBAD6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335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KV 流向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6CD47-98D1-49AB-9304-DA99430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8669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22BAD-9FFF-4B6D-86BE-C72BD331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335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2 Pod 覆盖方式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21B83-67CB-4E78-8B76-4658B55B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D1598-9DC2-49B6-AB77-207C269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33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核心验证点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BC799-58CB-4C08-8F9B-48AA6372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6B3A8-CD7B-4F8A-A70A-34A2BD73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72C0C-87ED-41FB-AF27-0024774B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64103-A19E-4665-9B39-202454DD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098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单节点推理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54002-E9CD-47F9-A89C-83D21C8F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43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59096-6D3D-42CF-972A-C30E601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HBM 内 page/block 分配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4C28A-737F-4D10-B715-A1ADB54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431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ED711-BCD3-4F68-874E-5F7753E0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98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任一 Pod 单独运行 vLLM/SGLang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A2BE4-7DC4-47EA-9C13-525AE6DA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C9AAE-77FA-4502-9AB2-A9BC882F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09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HBM 占用、fragmentation、baseline TTFT/TPOT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CF469-4C3D-4080-A08C-72E10CE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3565C-C048-419C-A792-BBE3E986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585B91-BDC5-4297-8C9C-4112B852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AA783-17EA-4A81-B38B-FE8F73D9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8860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Prefix HBM 命中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05647-6E2E-4BED-8D99-327D32EF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194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4637E-A62C-4F41-9686-F2D484C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86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Decode HBM 直接复用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9B48C-C40F-494E-9557-371B2FD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194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45FAA-5BD5-4502-BB28-C91BDA8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860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Decode Pod 保留热 KV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3B770-4246-47EC-BBB5-F6ECB895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86ACB-B705-4C27-B1D2-8AA6AB4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local HBM hit 与 TTFT 降幅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3A192-5EFE-47D6-8AE0-5E2184A7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E5DF71-D588-4178-B71F-3B162242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S3/S4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ADEFB4-B784-4A56-9CBE-018244A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0CB7F4-0555-49B8-9113-958D7CF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623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HBM&lt;-&gt;DDR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5D87D-8F15-4E0B-A2C0-A0A2703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956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5344AF-6ED7-4F3E-BB17-C29D26E0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623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Device HBM &lt;-&gt; Host DDR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CF7D3-95E7-4FF5-96F6-8C55390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956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15BB0F-497C-4021-96E8-BED1A070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623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内 HiCache L1/L2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4A9597-43C1-4295-8F60-5B173948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09C89B-F670-45D3-8A6D-3D117840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362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D2H/H2D latency 与 stream overlap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FA47A6-69ED-4D4C-B1E1-243D85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0986D3-3530-4FAB-B602-71454BEA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S5/S6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DEADA6-F990-4180-9DB1-72C03821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C92673-09FA-4EA0-9CB4-A69B8BF6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385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DDR&lt;-&gt;SSD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49A297-D96B-40D7-B87C-2C947C0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719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069C76-7A11-4313-8D4A-78246932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385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Host DDR &lt;-&gt; NVMe L3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05998C-1332-44C2-AADE-34130AD2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719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0B8F46-BACE-4036-B647-D0D97DB9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本地 NVMe + Mooncake/NIXL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A96789-A859-484D-8AEA-60F44CE6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4CA751-FFFA-4083-97CF-9666A321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38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SSD P99 对 restore 的影响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3F80C5-3949-48F5-BAC7-0DCAF741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9B13CB-90CA-4418-827C-C0849B30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S7/S8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96C5EE-B2FD-45EB-99B5-00E8D64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CAB938-2143-470F-9831-29DE603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48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远端 cache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36A71D-8BC0-4501-BF7C-AB2E8FF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48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872B32-4BB5-4C38-964C-C902E92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148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Remote cache &lt;-&gt; 本机 DDR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2B7DF1-A6EA-4C92-8C89-ED597578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481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AC1A718-EABD-40BC-AD1E-CC52BCC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A/B 互为远端 cache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C8981C-BF7A-4743-AD98-976DD000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FA999B-6814-4095-B2D6-227F78D8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14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metadata、RDMA/RoCE、remote get P99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F15B28-FFD5-443A-9EB8-2F87ABFB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778AD0-9A17-462A-B086-0FBC9705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910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S9/S10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D8F721-1803-4386-BBF8-60884C75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2440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7795D2-FCF3-427F-9044-17030E7A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9107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PD 分离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88CD10-2A5D-4D0E-81C7-8C537236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244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360A94-C62D-4F67-8A98-7FB2903F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9107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Prefill HBM -&gt; Decode HBM；Local restore gate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19FDA5-3D9A-4B4E-8186-271AC4F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72440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21DA6E-CD99-45FA-985B-6EFFCE20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9107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Pod A Prefill，Pod B Decode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8EB42D-CD6E-47DB-B0CC-3B3C133B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2A47A7-5219-40AF-897D-4D11D61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91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bootstrap、transfer、decode wait、restore gate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1EEEB9-2C6F-45D3-8804-7C27318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85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425D85-9DE3-4EB5-8D96-E7B162F4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S11/S12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828345-7473-4814-B41B-1E8D5808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006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D6132-807A-4668-AA0B-26A97F30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67325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TP 异构/长上下文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83ED14-9F65-4DE7-9099-D316E087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006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3C4B59-7B60-45C5-8475-1A393796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67325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slice/staging；4K-1M 混合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F8A75E-175B-4026-A5F6-63C7C49D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200650"/>
            <a:ext cx="2333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8B47CF-3519-4DB8-A18C-CEAFBBF9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67325"/>
            <a:ext cx="2162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8卡 Pod 内 TP=8 + 跨 Pod pressure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BDDBBB-4F91-478A-9CBA-216F5305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D3447B-2EFE-49BD-BE49-27A3E204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67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22222"/>
                </a:solidFill>
              </a:defRPr>
            </a:pPr>
            <a:r>
              <a:rPr sz="938" b="0">
                <a:solidFill>
                  <a:srgbClr val="222222"/>
                </a:solidFill>
              </a:rPr>
              <a:t>小段放大、staging 收益、cache churn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6BC0EF-6ED3-4742-8DBB-DB2EF88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关键点：2 个 Pod 既能构造跨节点 PD，也能构造远端 cache restore；1 个 Pod 只能模拟 API，不能复刻真实时延环境。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347584-778C-4116-94D7-8EBB05D7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3251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A2288-CB6D-4E58-A2FF-D0192C4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A5E4C-207E-4E1C-95DA-658AD8F0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全业务流程：从请求到 KV 复用、卸载、恢复与优化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48D9E-8F5D-4FA4-A3D4-02D88F6D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AC29B-1304-46A7-9821-32DF555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C0D60-F5C3-406F-B0F9-BD45B418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请求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31A55-9F30-4104-9A3A-93E4ED5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218AA-BF4F-4AE8-93F2-DD284E81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383EC-CF0C-433C-BACF-BC079316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Prefill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生成 KV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7C87A-3FA3-4CF5-BE98-48D226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51F8D-3C80-4D4A-BE32-7DF8DDA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1DDAA-B54E-415C-9555-D2A616E3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Decode HBM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活跃 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EBA07-46A3-4FE6-9615-A5C03F44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42DB1-242A-404A-B5C0-5F7C93FD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83419-F343-4EC0-B838-A9C72AA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Host DDR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L2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CBB56-1148-4B02-B7E6-36734A8B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DB237-0427-4E61-B94E-748F166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A2FF6-E933-4CAC-8533-B699DD3D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SSD / Remote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EDCB1-C748-4FB3-8285-5F468DB4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62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67F69-D7CF-442B-A1CF-81757463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12858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661E8-D2DE-42DD-8D1A-8466074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62200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指标闭环</a:t>
            </a:r>
          </a:p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TTFT/TPOT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4D40F-B886-4F0D-9DA6-EDC9672D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核心闭环不是单次传输，而是“命中在哪里 -&gt; 是否需要 restore -&gt; restore 能否赶在 TTFT deadline 内完成”。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6EE83-6C7F-4DFD-8C7F-B43A265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D0CA2-D5A3-4FB5-A08A-4B94743A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624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命中位置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EC87C-C039-40DD-AEE2-66D48318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B06E5-FE59-40EF-8265-9D3F59E1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62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后续动作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0A0E2-416B-4BE4-BA60-45E19680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4A07F-2262-45BD-914C-73FF1017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62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延迟风险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BBAFF-E1E1-4A87-9224-7DC49C2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8AB9A-08E9-4488-8A58-BA7FB11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624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为什么 2 Pod 必要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99BE5-5238-4189-8BE6-04F2B5D9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52392-5489-4ECB-8466-8531C940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624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Decode HBM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F22FC-B4B4-46E1-B8EB-96D316A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95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145C1B-0CFB-4AA1-B74B-5107DBDC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624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直接复用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CD1062-FBBA-4B98-84AB-A3800CA9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95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BBE390-3DC9-4492-9C1E-E544323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最低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31F733-76F8-49E9-A947-1B7CBB6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958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5A9C2D-A4AC-4011-AC42-40625429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624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建立理想上界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65EFD8-1A63-4C35-B693-C8E94ECC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0218C-9F58-44C0-8B97-C220FDC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本机 DDR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AD33FA-D1BE-4AD4-84B5-9A68DC5E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95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B1C824-029A-48C4-8624-34F85586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625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DDR -&gt; HBM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800247-9B3A-4706-BEAE-7FC58B09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95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27E7BC-9968-49C5-9FFF-CF9B117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625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H2D 与 stream overlap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DE110-4B83-4E8E-95BC-B301530E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370AB4-9086-48A7-A2C9-9652FDA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625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验证 L2 restore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6389D3-BFBF-4B67-B356-A289D0F7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6C7BEC-8818-434E-B7A8-DEBF00A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625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SSD / 远端 cache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35CF41-930C-4668-8402-2125CE1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95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2EF287-013D-4F43-9D38-48C743A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625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SSD/Remote -&gt; DDR -&gt; HBM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D0C19E-C357-496A-891C-446AE2B5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95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694565-EB93-4BBC-9B09-2EE12DE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625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NVMe/RDMA/metadata P99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A610C6-B568-43B8-861F-C10C145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959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4B41D0-A058-4109-A107-4B6677E9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625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跨 Pod 才有真实远端路径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3D0702-CD1E-4DE7-98B7-196EECF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D96BE8-2F7E-4113-AE0D-AECEE7C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6262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Prefill 节点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CCFD14-368A-474E-9F74-374E5DCF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95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814A34-F0F0-4C43-B215-E11EF18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626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KV transfer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0D4633-43CD-49ED-ADEE-BA1482C1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95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9A48F5-D134-44C0-9559-DB41CD0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626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bootstrap + transfer + status gate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4FA27-961B-4D46-8652-47804D4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695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EFC368-9747-4852-A7B3-F4658219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6262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Prefill/Decode 必须分属两 Pod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254A7C-2FC5-4D19-A4C6-E9492F4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8953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072BD-62C0-41D9-A5D0-B3D742D7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F7319-60F1-4E09-8B06-218090C4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硬件推导：主流模型的 KV 数据量已经进入网络/DDR/SSD 压力区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FDBC6-FD50-4395-B893-CC496C7A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548E2-90FE-4248-9023-EA801F9A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BF24-5F88-4D3B-B77D-DD1015EC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907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模型类型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7DA7F-3E58-4C18-BCA3-ED10947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240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EE72E-CD98-445E-83F5-20BFEFA4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907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KV/token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8041B-CC4B-4C41-8B73-9F175C02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AE5C8-CB25-41D1-89E0-A14D19F6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907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32K KV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6F331-0AE5-4E8F-97F3-8EAB3CC2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051A8-4532-4479-A70B-FC1DF775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9907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128K 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EA46-3E43-455E-86E3-C66DD064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77264-59D5-43B9-83E8-42CF7F74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907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100ms 带宽诉求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05F84-C456-468B-A0F1-10B1D6C4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C6095-0AE2-4525-B573-9F2C762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907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0A0A0A"/>
                </a:solidFill>
              </a:defRPr>
            </a:pPr>
            <a:r>
              <a:rPr sz="953" b="1">
                <a:solidFill>
                  <a:srgbClr val="0A0A0A"/>
                </a:solidFill>
              </a:rPr>
              <a:t>实验含义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45D22-2446-483C-813B-263C80A5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FF1EC-60EE-46AE-A002-0EA35989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860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8B GQA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F1D54-6B4D-4E22-9C64-C47B5FC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6FA3C-7592-45A1-B4AE-79B0548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860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128 KiB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D9E57-ED8D-4A65-848D-D65C1937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193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0890E-7AD6-4746-BE19-2563DB18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860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 GiB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E4005-2D8D-4B5C-8C56-0D838C1D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193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0456B-96C4-428D-BCA3-7AC704FD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860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16 GiB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B3CCE-5B10-4C19-8F79-25D57D76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1F192-7429-4E2F-975F-3996AE3D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860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40 GiB/s @32K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A78E2-E73D-497D-8311-51F16F2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1C543-D029-476D-8996-9B2A4CE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860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适合冒烟与功能闭环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C1FD5-6B56-4E9C-8251-D8D3ECF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ED0FF-529B-4A51-AEC8-15BC45F6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32B GQA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9D341-1305-4C18-97B4-EBF127D8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A6566-33DB-45BA-943C-D9324A93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813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256 KiB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8867C3-7141-4689-934B-7BF22DAD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14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3C8496-AE6F-4D90-95FC-07173EAF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 GiB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B50C66-D045-4778-BB9E-6D023BA8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470F60-0433-4037-95AB-0203D04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9813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32 GiB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EFFFC3-EAE8-4037-89AF-3406FFA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D27BB8-F8CC-4B2B-AD66-2287530E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81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80 GiB/s @32K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43F01E-FBEA-4C5B-B703-BFB5034E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5895F7-B9B3-4AA6-9AA1-2166C67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813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中等压力，观察 HBM/DDR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8C14A7-FB27-4DA8-9312-F95F5E01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9F9582-E869-4154-8514-E0860C4E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766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70B/72B GQA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5E6C5F-8372-4DAD-AE44-831DF2C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99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FAB7B2-81B2-4F68-B83F-657B518D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766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320 KiB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A80457-A3DE-462A-BA98-E066726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99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B5BA6A-4227-47C6-8429-3D511258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766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10 GiB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9F9B83-1D5B-42E0-BDD9-D92192D2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99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8DCA57-DC6A-4056-96AF-0324050E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766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40 GiB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DE9D12-56CA-4A32-B7DD-84763248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9AD8A8-6730-40DC-88FA-714F3316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766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100 GiB/s @32K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E17EE4-81C2-49C1-92FC-D5A68BB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BCA33F-6864-48CE-896D-F7A4EA4D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766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生产级长上下文主测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91CF75-F9AD-4599-A324-074B723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D2F64D-D977-4369-9AE6-D81A50C4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71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405B GQA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4A7D32-C892-44B4-8097-7254D3A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052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DA6FE1-296B-4488-B4BF-6702E4B7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719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504 KiB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264E07-BC90-4588-BEB2-EF99DE7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052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94C7BE-DD4D-43D4-8299-B3AE8C2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719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15.75 GiB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3795E1-5DC7-4000-A5D2-60D7A2C0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052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F73334-8670-4CD4-B781-71C237C1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9719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63 GiB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A5DFBD-DE6A-4BC4-9B91-9271E89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67F067-D5F5-44D1-9BA7-C0D1017A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719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157 GiB/s @32K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A6E886-C4D3-4B45-AF4B-99375CF6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82D448-4993-4ED1-9FB8-450705F5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719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极大模型远端 cache 压力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E6C727-537C-45C0-8A1D-83884CC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EAA745-D935-4DCE-B4ED-05522B89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672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DeepSeek MLA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88ADA6-E871-40D3-929C-D172A31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4C81A7-54BB-4FFD-ACC7-10A18CFD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4672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68.6 KiB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5896CD-49EC-42DC-B3A0-1F3DFA84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005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5C1510-CB44-4DD6-B072-9632F636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672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2.14 GiB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EBA1D2-6B8A-4026-971D-BFCE47E7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005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1CF240-D7E1-4DF2-AFE7-89E7646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672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8.58 GiB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D8B659-95F6-4D0F-A246-11E63B5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E4E2C0-EC5D-4030-823A-83494DD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672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21 GiB/s @32K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8CB823-FB74-4539-A034-28D564DF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005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E02322-62B9-4BAF-8125-00A057AC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4672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MLA 降低 KV，但高并发仍受 HBM/DDR 限制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C8F22F-C2F6-4E44-B1B4-A901804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B88517-C128-40ED-87E8-89BFCC6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1M context 新模型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0938FE-B4C8-4DC5-B633-FEA3822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958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689DA3-6C9E-42F5-9653-D47DE02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9625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需实测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3E9AE6-E9BE-4ADA-906B-E8F9E69F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5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9ABB770-E093-47A3-876E-C7C299B9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625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不适用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9F1BF54-13AC-4B45-83F9-D4EB2092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958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3C5828-6C66-419E-897A-6A8837CF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9625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67-312 GiB @1M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69C6AF8-EADF-4245-80AE-11018571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758F4E-7F81-4D29-AC11-D07D94F1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625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67-312 GiB/s @1s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19EFA9A-07EA-43E5-8F2D-6A7D901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61D9F6-9328-4780-AAC2-FCC51F9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962525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222222"/>
                </a:solidFill>
              </a:defRPr>
            </a:pPr>
            <a:r>
              <a:rPr sz="953" b="0">
                <a:solidFill>
                  <a:srgbClr val="222222"/>
                </a:solidFill>
              </a:rPr>
              <a:t>MiniMax/GLM/DeepSeek-V4 必须 runtime 校准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D9C673-739C-4197-AFE2-0653955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推导结果：单 Pod 算力可以跑部分模型，但无法复刻 70B+ 长上下文的跨节点 KV 传输与 restore 时延；2 Pod 是真实链路的最小配置。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431A8D7-24EA-4737-AE4E-72E744FB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7286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26717-19E3-4E1E-96A1-009AC34F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1EAAC-7522-4791-BDB3-CF43F27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为什么不是 1 个 Pod：它会系统性低估 KVCache 时延风险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07414-4913-4BD8-A205-F2EA399C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EAB83-361D-42E7-9F27-F130CEA2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99BD-6B6E-4BAB-BB34-DE73F5A3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193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被低估的风险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F950D-26D4-4ABF-A590-BD0FB1E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787AE-6744-43FE-907B-64623469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193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1 个 Pod 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E614-642F-4599-BF26-4544513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CF345-0FC8-4CAF-97EA-3A6D8E4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193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2 个 Pod 如何覆盖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66BCF-8918-448C-9E9C-4262509B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D5BD0-814F-45FA-BDB6-AB8FC02D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193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影响指标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D40E5-EBB1-42D0-B7D6-988A935C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78B32-74D4-4BA4-98AD-B3ABC8FB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PD 跨节点传输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E48A7-A798-4C8F-8D8E-8341C14F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12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92B70-FFCD-4377-8C77-39E7A15E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479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Prefill/Decode 同机，缺少网络 RTT、拥塞、序列化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32D59-8641-4D6A-B921-1D1A3900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8D528-3941-4A1D-A5F2-3225ED2D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479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Pod A Prefill、Pod B Decode，真实跨节点链路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B7765-5E54-4002-A67D-87347BD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812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6F2FD-C11A-4C4F-B031-3092F839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TTFT、decode 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63161-B4C0-4EEC-974D-6966BB1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D46CD-110D-4725-8E7A-562ED8D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远端 cache restore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2218A-AA49-43ED-BF77-09B8526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99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E96B3-EB1A-4BEB-AC4B-D00FC1B7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766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remote API 本机模拟，低估 metadata 与 RDMA P99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3A304-7D1B-4964-9E8E-872A5E03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768E1-8BD9-406E-8DD7-51D9DE1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766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另一 Pod 承载 remote cache/store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EAEB9-B7B9-4B61-A681-11EEDD9F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18DAE-BD25-4E5F-BBFE-C5799111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766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effective hit、restore latency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1B6B7-8CCC-4101-B66A-92DA1378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793D5-2C77-481D-B59A-0062F9C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资源竞争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07430-5EBC-4B5D-8AE3-24A433A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D624DF-ED28-4C8A-A450-C95C9BB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052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CPU/DDR/SSD/NIC 与推理同机耦合，难拆因果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3B47B5-B576-47A2-B6B1-B06C38ED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0A32F-E5F9-4AC7-BD29-1A38849E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052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两 Pod 可分离 Prefill/Decode/cache 压力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E76FA0-FA81-4830-9406-FB08AFA0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385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209412-7CAB-4819-B948-87662D08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9052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P99、带宽效率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EAE318-A5CD-48F0-A7AC-AEFD339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24F34-6643-46DF-BC53-7E985BC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TP/PP 与角色切分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DF730F-9B50-40BB-8E17-94E928A7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672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AD72B-362C-4093-B759-6DD8ED3D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339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8 卡内同时跑所有角色，实验空间不足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98506-C62B-4798-A7D3-A0B158FA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672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1A3D87-9890-419A-8244-3985761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3390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两个 TP=8 单元，角色可互换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C6ECED-9043-40EC-A56F-2C91A0B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672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442206-F77C-40E2-A994-B0158569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5339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吞吐、TPOT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B4DE38-26C4-4430-AA1C-D21AB81E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19C02F-A94E-43BB-BC7A-AAE02EFE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62550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真实业务复刻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A10684-EAF8-4E37-B30A-8F5F1A48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9E4CA6-3D29-4D5E-ACF7-D3A91633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625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缺少跨节点部署拓扑，优化策略不可外推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50A944-8027-4B86-9633-B47DE504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1A82FD-016F-4131-8B6C-215D76B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62550"/>
            <a:ext cx="297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复刻线上 Prefill pool / Decode pool / Cache service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DC675D-ABCC-4E88-B61A-E5A7913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DF0CF8-90C5-4026-8EA5-C1D6E616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1625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</a:defRPr>
            </a:pPr>
            <a:r>
              <a:rPr sz="1013" b="0">
                <a:solidFill>
                  <a:srgbClr val="222222"/>
                </a:solidFill>
              </a:rPr>
              <a:t>优化可信度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55EC97-26FA-4F78-8A4B-6F544DA3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344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F0ADD8-28F8-4D56-9EED-5A895039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1B189-C32D-49D0-BD3F-58A7BB68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2 个 8卡 A3 Pod 的部署结构：最小完整、角色可互换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03D0D-80E8-4461-B31F-6AAAE5D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B0152-8952-4A30-A6AD-F077CB1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6174D-477E-4642-AC5C-41050BD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5CBDF-708F-4192-A3CA-2AA88BED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Pod A：Prefill / Cache 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ADB7A-02C4-48FA-9D24-EB9F028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1AD33-FD97-437E-9BED-9D108B5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8 卡 A3：TP=8 或拆分小 TP 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AEC77-3AF7-42B3-8452-5FD498A9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14138-321C-45CC-B886-A93501B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SGLang prefill + Mooncake/NIXL sender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90F07-7D9D-4503-A05D-C6ADDEE6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085AE-75E2-472A-A6C2-6AD09C5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本地 DDR/SSD 可作为 L2/L3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92C6D-0155-43C3-B917-AE253323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83837-7C7D-47C7-8626-C1BE33FC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可运行远端 cache 服务，对 Pod B 提供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6D93E-BF7F-4D1E-A5C7-A01124A0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Pod B：Decode / Cache 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A8F44-3080-4871-95D0-B738C8F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84689-B7AD-422F-B781-98C5AC0E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8 卡 A3：承载 Decode HBM resident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947D8-5632-4EC8-A28C-5137285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E68BB-C158-4C48-BF11-6A2EAF8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SGLang decode + HiCache restore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F4196-75C3-4FC0-B93E-1496AE4F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E8940-4934-41A2-B7FF-8C173814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67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接收 PD KV transfer 与 remote 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DE6A8-3E0D-422F-B8C9-861AA7F6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47EC0-F707-41E9-93DD-FFB80D54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</a:defRPr>
            </a:pPr>
            <a:r>
              <a:rPr sz="1275" b="0">
                <a:solidFill>
                  <a:srgbClr val="0A0A0A"/>
                </a:solidFill>
              </a:rPr>
              <a:t>可与 Pod A 角色反向，验证拓扑敏感性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316F0-0A83-45CB-ADB2-992687C4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4797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523B0-CA02-416F-A89F-69E5878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0997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5EE2A8-92AC-4B5D-B6A4-E532731A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跨 Pod 链路承载两类核心时延：1) Prefill HBM -&gt; Decode HBM；2) Remote cache -&gt; DDR -&gt; HBM restore。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BD627F-3695-47D5-B7F5-337D2DBE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BB8F1-07F3-463F-94AA-83E7CA21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553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角色切换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26653-C100-44E2-BD0C-96DD0287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DB4A8-B7AA-4902-BB5F-A71DD9A3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553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Pod A Prefill / Pod B Decode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5EE9F-DA0F-40A4-ACFC-28B32A36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B0B86-DCDB-4365-B8A4-86598696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553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Pod B Prefill / Pod A Decode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E5D02-B8BF-4379-A371-DD23565D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5ED830-6F41-41C7-904C-065590A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876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目的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720284-3269-4D06-B0D2-AEC00AB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11F8D5-5FD4-4996-9275-D44BA9AF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876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验证主路径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5DFBA4-5B91-4ADC-8F11-3E09E09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90E44-4337-46DE-8D53-08F450E8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87692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验证拓扑和负载均衡敏感性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3B7C33-D7A2-44C0-81F8-FD008472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57032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E3316-F4DF-45E9-88A7-CFCFD06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D0373-BC33-4DC7-9122-627B9E3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软件栈部署：每个组件都对应一个 KVCache 流程验证点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6A634-31C4-4988-A692-48C2F60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EAA5E-C3B0-45BF-A633-64C3EB1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C18FC-3594-46D2-911C-6DC33A1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组件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BF432-C119-482B-BCED-360423D7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669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DBFD-EF20-4CCC-B3A1-533EB8C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335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部署位置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81A97-5284-4296-ADB1-4459420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8669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A3DC3-A75D-4CFC-B24E-1D67DB6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335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必要性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1BAF2-2492-4B34-88CA-360C187B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116A1-F3DF-4816-BF9E-F5FD03E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33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覆盖场景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95F87-7AEB-49CA-A742-DFAC4C4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9679D-4729-45C5-B0F9-E164BA04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SGLang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EAE68-4941-4C64-9079-A8629B56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431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DCC63-402A-46F0-A74C-6148D63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Pod A/B 均部署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4E4D0-5997-4090-BFE9-E69E4F33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431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D2880-EC0B-4894-A960-50EE241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98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主测 HiCache、Radix、PD disaggregation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0F398-2DFA-4C48-BDC4-F317C9A0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32165-C699-4443-9B35-A362D5B8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9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HBM/DDR/SSD/远端/PD/restore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CC753-111C-47DD-9BAD-5A965A85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3F941-6343-4D91-9EBF-70604E4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860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vLLM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919D2-9EFE-4504-B65F-D1EF769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194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4E11A-C1DB-4827-83DC-ABFD4462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独立 baseline 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5D9E0-CE84-4204-98DB-A0B331DA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194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9CCD1-3CB7-44F2-B18B-AF4BFAB3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860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复刻主流 PagedAttention 与 prefix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9BFAA-FF31-498E-BE6B-D589EF5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DDB7D-FE81-4DE7-9C1C-4C130CB6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86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单节点 baseline、prefix hit 上界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6A0FB8-F51C-413E-A001-927C5300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B824C-A6CB-48E7-9E35-E9723313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Mooncake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D4694-A186-40D2-89F9-A4650ACE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1926A-74D8-4C48-AF06-3DD0373A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623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两 Pod 均部署 store + transfer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2576C2-B2BC-4B02-A7C0-CB9FF56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956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DAFB6-33C2-4A35-86CE-7A6303CF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623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主测 PD transfer 与 distributed KV store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93B56-A7B7-4AA2-9B69-485F7B4A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3883E7-8B0A-4784-A679-886F8C6E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62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PD、远端 cache、SSD offload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A21349-5254-46B1-8FA1-CD95F94F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146DBE-DBE9-4375-B71B-8F59B04C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NIXL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654FA1-3899-41ED-B7EC-7B9ED4D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719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0B412E-3AB9-4B7A-9E7D-203DBA9A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8385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作为可切换后端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DFF0CC-F09F-4364-890C-A9AC32C5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719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B1505E-26F2-4D59-9A34-B2BA089C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385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对照 Mooncake，定位传输库差异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09DACB-FED9-44D7-82F3-0B05C03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719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03A1E9-2250-4E76-95EE-74AF55D1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385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xfer、FILE/GDS/OBJ、远端 restore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E9962F-7DC6-462C-A232-3891FB1C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3E987-73E1-4D06-BE7D-940944D9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LMCache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CD71FF-5261-4A72-88AD-8FABFDFC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481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6EBC3E-607B-4783-8410-3B8B4B6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3148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cache service / connector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2A6448-FB27-46CC-839C-3891291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481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84C591-21D0-4BB8-8701-1D8BBC32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148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对照 prefix lookup/retrieve/store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553259-2A99-490C-AB2B-7B693454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6500F4-760D-4247-87FB-469339BE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148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remote prefix reuse、session lifecycle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248509-C9F0-4805-A124-B38C2F3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9AD9B1-78EC-4448-BD37-89F1776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910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Prometheus/Grafana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583A95-DCC3-4F8D-B552-AC76591B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A8F185-11BD-45FE-B1FD-40C5351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9107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全节点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03AF16-B150-44C7-A1AC-6C9C957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2440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1F5714-FFF4-44C7-8094-321DF1D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9107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统一采集 KV bytes、latency、TTFT/TPOT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016CB1-2ADC-47F0-8C34-ED1747DC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574799-4ED1-43BD-A86B-4314C9E9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9107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优化闭环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E65911-58A2-4E8B-ACC3-5C523E3E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3F7558-0067-4A04-931A-F94497B2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67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Ascend Profiler + NIC/SSD telemetry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9B7464-0702-49C8-BB69-20109E80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006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455360-5715-41BC-96E1-2D97492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67325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全节点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602AC9-9EF2-4F6F-A49C-298B1830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200650"/>
            <a:ext cx="2905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072F7C-C12E-4F41-98E4-019C7B23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67325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把瓶颈定位到 NPU/DDR/NIC/NVMe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DAFADF-AF27-4277-90FB-CC46C99A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00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041A1D-033A-4604-BF40-1C6B1AF6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673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P99 与硬件归因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CF451A-B35A-440B-8638-6EBC8FD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9356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4C71E-190A-4572-BD92-C6CB2083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99C7B-EA9D-406B-AD63-DEC8C792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实验穿刺路径：从功能闭环到真实性能优化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96650-B65C-4B06-9094-32E2CC7A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48AEC-C31A-4600-887F-4AFD13CD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5A48F-D9BA-4E9F-9AFB-F3ED068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4444C-152B-485E-8E7F-1568473A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85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54A00-2C0E-42A1-A8F2-37B413C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952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6B172-EE35-43AA-9488-CA47CC7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DA813-66B2-4D3C-94A7-C42C16E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3623F-E903-4886-8404-56F5D3FC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06DCA-B718-4FA0-A3F9-055BDB65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526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主指标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DABE3-FA48-4701-B849-6ACA634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6D736-489C-4CFD-AF5E-2BF39531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52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B55B3-008A-4A06-BF1E-B21B889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7B8C5-9B87-46A1-A9F7-4A86EFB1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75B2F-5D13-484F-9D03-E28E4865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76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1B8E7-4BEE-450C-9CCA-F673FC13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5431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单 Pod 冒烟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2DF28-D2A7-48F6-9989-72968532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9F563-69AA-4BAA-95AD-D5F7685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431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8B/32B，vLLM vs SGLang，HBM/DDR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88088-958D-42B7-BACF-CCD933AA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484B4-ED2E-42A0-9C4A-5383C48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431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KV bytes、TTFT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91E76-F368-4214-B404-BEB7CBC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4774D-7C74-4D53-A454-9D73530B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431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指标采集链路可用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D4F09-C19E-4681-A4C4-EFFDBAC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59EFC-80BA-4FB0-B2DA-A9D8FFE7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3372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AF5C6-BB5C-4E0D-94CA-DE27E1D6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67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544BA-731F-4296-92BE-9631ADB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337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分层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4521D-3EA3-46D0-90E0-0388F512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83F1D-C276-459A-AC42-63BFAF1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DDR&lt;-&gt;SSD、远端 cache get/set、prefix restore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4D89A8-2792-4CBF-92E3-F1BD6B82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AA7A74-A8A7-48A6-B08D-A3AA088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337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restore latency、effective hit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A57B1-6099-40C0-986D-642D8DA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FEE61C-0298-4505-9B07-E1D53B9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337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cache 放置策略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7F983F-D26A-4EED-87E2-94CEB44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2F680-3B05-49E0-BEB3-E1AF6ED6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2427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9D8604-6BB1-4A7B-B7EC-CAF6713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576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A3059-D1FD-4903-AA77-E661E8C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242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真实 PD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7922C-D031-47F5-9540-37F0DE2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BCB61B-963C-47FF-8B76-BA8385AE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242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Pod A Prefill -&gt; Pod B Decode，Mooncake/NIXL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CD3C81-A31B-4EA9-8EFB-5700694B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57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634BD5-E186-4141-8214-A9684A4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7242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bw、decode wait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DF7B84-9558-4872-B2C5-70CE6AEE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439C03-F5E1-4041-B3E4-B150EE7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242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PD 瓶颈排行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08664-28D6-4E32-A9C2-06E7B10C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69A73D-D4C9-4E3D-B927-C1A64F8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170E81-00F4-44CA-8383-EA5F793B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96E1E8-5A15-4B48-8602-2A87FA0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3148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主流大模型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8C67A7-003E-4194-8585-DE3C0B53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481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EC560D-ABF3-448B-9768-94E80FF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148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70B/72B、DeepSeek V3/R1、Qwen3-235B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01242F-01CB-4A8D-B5F7-F9B3DD2C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C0BE1E-AD66-438E-B128-6A918C7C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148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TTFT/TPOT/P99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6F28F9-7EBD-45CD-BEE9-76B0E64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481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62C6AC-A921-4149-AACC-989428D5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148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模型级容量与带宽边界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9F8871-8F81-4912-93BC-F715C956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ABA0A2-4C11-48A0-8E3E-BCA2AF42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0537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7C87FF-0CF7-40CB-98BA-8B6632B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387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D2DC3A-6458-4AC7-96CB-AB956BC8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9053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超大新模型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EA0BA7-DCF9-42E3-815F-D4420BD8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8F6C24-E787-4787-BE20-90D5076C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053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MiniMax-M1、GLM-4.5、DeepSeek-V4，256K/1M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57BBA8-556A-43CF-87D5-BF0D25AF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387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B92BCA-574B-4397-AF05-BD8B7C55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053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runtime state bytes/token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B783A0-B411-4D92-ABC5-830B379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387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CE83E6-160F-4105-B91C-E6FA77D4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9053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下一代模型扩容依据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C725C6-6F93-439D-8263-34F40C52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优化动作：提高 HBM resident hit、降低 restore latency、批量化 remote get、staging 减少小包、基于拓扑调度 Prefill/Decode/Cache。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B6163A-966F-4BEF-9914-5595365E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71230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95DA6-52B8-4303-96BF-CEF97FC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KVCache 传输实验平台选型论证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47601-7C72-4DD1-A8E9-83108AB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A0A0A"/>
                </a:solidFill>
              </a:defRPr>
            </a:pPr>
            <a:r>
              <a:rPr sz="2700" b="1">
                <a:solidFill>
                  <a:srgbClr val="0A0A0A"/>
                </a:solidFill>
              </a:rPr>
              <a:t>最终建议：采购/申请 2 个 8卡 A3 Pod 作为一期完整平台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2A76-07D1-41C1-928E-1199085A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6BF3E-8677-4E8E-B542-E8EE1A8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F042F-9826-4CC3-84C1-2DEEDED6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669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决策点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6471-DF2E-4557-B1F7-BDE7575F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D047A-C0C5-4548-9307-07D6724E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669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2 个 8卡 A3 Pod 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969B8-38D6-4996-9EA0-C8B3B9B9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FA2BF-0346-44DA-B4A0-CF282E91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669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为什么满足目标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E76E0-0FDF-41A1-90D9-B3438598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067B8-66B9-4F42-8240-DBB3781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908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全业务流程覆盖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77BF2-9073-4FD8-AFF5-F3D8181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2B45D-488B-4260-A509-E842897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908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单节点、PD、DDR、SSD、远端 cache、prefix restore、TP 异构全部可测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D282E-6843-4CDD-98DE-3A061072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AB342-F0DA-4D76-AB1C-98CAE18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908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没有 KVCache 相关场景遗漏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6E6C9-0A16-4E08-9657-74B34499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5A64C-F475-4C2B-B441-7563630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147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真实时延环境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A16A3-1C43-4259-A24A-34687377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C7642-5168-4E6C-AFEE-5AB238FF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147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Pod 间形成真实网络 RTT、带宽、拥塞和远端 cache P99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A8A3C-582F-42D5-8253-E1B52A5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480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390E-6D45-46C8-8805-FB1A3BA3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147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可把优化结果外推到真实业务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9F207-8484-4AA6-BA06-89CC6552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11216-4AA7-488F-AA2B-070A22AC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386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主流模型覆盖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3B951-F278-4F2E-B796-9EBBE864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96818-C24E-48DE-9D61-D473F84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8B/32B/70B/405B、DeepSeek MLA、Qwen/MiniMax/GLM/DeepSeek-V4 分层验证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3897D-2534-45B9-B465-6B97121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7F496-BC21-4F06-95E8-BF86B22C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模型大小变化不改变平台覆盖能力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A8442-AB8D-44B1-85AF-E5FD0B9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97878-F0C8-4FC8-89BC-A45E8125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62525"/>
            <a:ext cx="2305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投入产出比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CFEE2-C1B5-40D1-8D02-B7CAD5BE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8130D-B24B-4984-B9D0-D2363A0C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625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比 1 Pod 多出真实跨节点链路，比 3 Pod 成本更低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2DEDD3-B849-4FE7-B814-3B7DCCE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958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D1453B-43AA-4796-BFFE-59D3BD2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625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一期最佳硬件配置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0C165-3B7D-47D7-847E-EBC771A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一句话：2 个 8卡 A3 Pod 是“能把 KVCache 全流程讲清、测准、优化”的最小完整实验平台。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43AF27-CD91-4F50-B84C-7706D5D2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6198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2026-06-25T06:31:12.8790000Z</dcterms:created>
  <dcterms:modified xsi:type="dcterms:W3CDTF">2026-06-25T06:31:12.8790000Z</dcterms:modified>
</coreProperties>
</file>