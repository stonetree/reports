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a9d4255b14301" /><Relationship Type="http://schemas.openxmlformats.org/officeDocument/2006/relationships/extended-properties" Target="/docProps/app.xml" Id="R68aee0f8f19646cb" /><Relationship Type="http://schemas.openxmlformats.org/officeDocument/2006/relationships/officeDocument" Target="/ppt/presentation.xml" Id="R45d650f3c8a1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6ca90317814126"/>
  </p:sldMasterIdLst>
  <p:notesMasterIdLst>
    <p:notesMasterId xmlns:r="http://schemas.openxmlformats.org/officeDocument/2006/relationships" r:id="Rdcffc468bd734599"/>
  </p:notesMasterIdLst>
  <p:sldIdLst>
    <p:sldId xmlns:r="http://schemas.openxmlformats.org/officeDocument/2006/relationships" id="256" r:id="Re48936e7cc624ab4"/>
    <p:sldId xmlns:r="http://schemas.openxmlformats.org/officeDocument/2006/relationships" id="257" r:id="R634a2b17ee884649"/>
    <p:sldId xmlns:r="http://schemas.openxmlformats.org/officeDocument/2006/relationships" id="258" r:id="R52177f801b2d4771"/>
    <p:sldId xmlns:r="http://schemas.openxmlformats.org/officeDocument/2006/relationships" id="259" r:id="R9148cf3fe7314ae3"/>
    <p:sldId xmlns:r="http://schemas.openxmlformats.org/officeDocument/2006/relationships" id="260" r:id="Rdff4a806006e48c9"/>
    <p:sldId xmlns:r="http://schemas.openxmlformats.org/officeDocument/2006/relationships" id="261" r:id="Rcaf692f31fe84fc1"/>
    <p:sldId xmlns:r="http://schemas.openxmlformats.org/officeDocument/2006/relationships" id="262" r:id="Rff6d285f96214b97"/>
    <p:sldId xmlns:r="http://schemas.openxmlformats.org/officeDocument/2006/relationships" id="263" r:id="R71bb3a06bca84bdd"/>
    <p:sldId xmlns:r="http://schemas.openxmlformats.org/officeDocument/2006/relationships" id="264" r:id="Re3dde20c658c40e7"/>
    <p:sldId xmlns:r="http://schemas.openxmlformats.org/officeDocument/2006/relationships" id="265" r:id="Ra675c8fdf87c4c88"/>
    <p:sldId xmlns:r="http://schemas.openxmlformats.org/officeDocument/2006/relationships" id="266" r:id="R4f66f06ff59748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fe8af6bec47e7" /><Relationship Type="http://schemas.openxmlformats.org/officeDocument/2006/relationships/slideMaster" Target="/ppt/slideMasters/slideMaster1.xml" Id="R766ca90317814126" /><Relationship Type="http://schemas.openxmlformats.org/officeDocument/2006/relationships/notesMaster" Target="/ppt/notesMasters/notesMaster1.xml" Id="Rdcffc468bd734599" /><Relationship Type="http://schemas.openxmlformats.org/officeDocument/2006/relationships/presProps" Target="/ppt/presProps.xml" Id="R62f686b8dfd942d3" /><Relationship Type="http://schemas.openxmlformats.org/officeDocument/2006/relationships/tableStyles" Target="/ppt/tableStyles.xml" Id="R5d9f715ad71d4847" /><Relationship Type="http://schemas.openxmlformats.org/officeDocument/2006/relationships/slide" Target="/ppt/slides/slide1.xml" Id="Re48936e7cc624ab4" /><Relationship Type="http://schemas.openxmlformats.org/officeDocument/2006/relationships/slide" Target="/ppt/slides/slide2.xml" Id="R634a2b17ee884649" /><Relationship Type="http://schemas.openxmlformats.org/officeDocument/2006/relationships/slide" Target="/ppt/slides/slide3.xml" Id="R52177f801b2d4771" /><Relationship Type="http://schemas.openxmlformats.org/officeDocument/2006/relationships/slide" Target="/ppt/slides/slide4.xml" Id="R9148cf3fe7314ae3" /><Relationship Type="http://schemas.openxmlformats.org/officeDocument/2006/relationships/slide" Target="/ppt/slides/slide5.xml" Id="Rdff4a806006e48c9" /><Relationship Type="http://schemas.openxmlformats.org/officeDocument/2006/relationships/slide" Target="/ppt/slides/slide6.xml" Id="Rcaf692f31fe84fc1" /><Relationship Type="http://schemas.openxmlformats.org/officeDocument/2006/relationships/slide" Target="/ppt/slides/slide7.xml" Id="Rff6d285f96214b97" /><Relationship Type="http://schemas.openxmlformats.org/officeDocument/2006/relationships/slide" Target="/ppt/slides/slide8.xml" Id="R71bb3a06bca84bdd" /><Relationship Type="http://schemas.openxmlformats.org/officeDocument/2006/relationships/slide" Target="/ppt/slides/slide9.xml" Id="Re3dde20c658c40e7" /><Relationship Type="http://schemas.openxmlformats.org/officeDocument/2006/relationships/slide" Target="/ppt/slides/slide10.xml" Id="Ra675c8fdf87c4c88" /><Relationship Type="http://schemas.openxmlformats.org/officeDocument/2006/relationships/slide" Target="/ppt/slides/slide11.xml" Id="R4f66f06ff597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fe0121fc7f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0d7a028ff4d40" /><Relationship Type="http://schemas.openxmlformats.org/officeDocument/2006/relationships/notesMaster" Target="/ppt/notesMasters/notesMaster1.xml" Id="Rc3250cc8952f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8f115e0934a73" /><Relationship Type="http://schemas.openxmlformats.org/officeDocument/2006/relationships/notesMaster" Target="/ppt/notesMasters/notesMaster1.xml" Id="R8e30458002e44a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3a815e9c24ff8" /><Relationship Type="http://schemas.openxmlformats.org/officeDocument/2006/relationships/notesMaster" Target="/ppt/notesMasters/notesMaster1.xml" Id="Ref223da5e744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51ddb7e864fc7" /><Relationship Type="http://schemas.openxmlformats.org/officeDocument/2006/relationships/notesMaster" Target="/ppt/notesMasters/notesMaster1.xml" Id="Rdbe8bc15786645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34d2e30cf74af9" /><Relationship Type="http://schemas.openxmlformats.org/officeDocument/2006/relationships/notesMaster" Target="/ppt/notesMasters/notesMaster1.xml" Id="Rb5844d867b56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ef33fc1dc4a6c" /><Relationship Type="http://schemas.openxmlformats.org/officeDocument/2006/relationships/notesMaster" Target="/ppt/notesMasters/notesMaster1.xml" Id="R9f39a1e7bf40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97427a50ff4593" /><Relationship Type="http://schemas.openxmlformats.org/officeDocument/2006/relationships/notesMaster" Target="/ppt/notesMasters/notesMaster1.xml" Id="Rc417dfb0730b45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228701e5454805" /><Relationship Type="http://schemas.openxmlformats.org/officeDocument/2006/relationships/notesMaster" Target="/ppt/notesMasters/notesMaster1.xml" Id="R1b765b197d5a4e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2b82739eda4c4d" /><Relationship Type="http://schemas.openxmlformats.org/officeDocument/2006/relationships/notesMaster" Target="/ppt/notesMasters/notesMaster1.xml" Id="R91ad1605298546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6c227da494106" /><Relationship Type="http://schemas.openxmlformats.org/officeDocument/2006/relationships/notesMaster" Target="/ppt/notesMasters/notesMaster1.xml" Id="Rf6a03f7825754c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3356770e54fd8" /><Relationship Type="http://schemas.openxmlformats.org/officeDocument/2006/relationships/notesMaster" Target="/ppt/notesMasters/notesMaster1.xml" Id="R832bfc278dea43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d433d8aed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198b76403147e3" /><Relationship Type="http://schemas.openxmlformats.org/officeDocument/2006/relationships/slideLayout" Target="/ppt/slideLayouts/slideLayout1.xml" Id="Rf66ac4c50a464e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ac4c50a464e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46b5b954b4e6b" /><Relationship Type="http://schemas.openxmlformats.org/officeDocument/2006/relationships/notesSlide" Target="/ppt/notesSlides/notesSlide1.xml" Id="Rd6923d33856d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449a7cfaf4575" /><Relationship Type="http://schemas.openxmlformats.org/officeDocument/2006/relationships/notesSlide" Target="/ppt/notesSlides/notesSlide2.xml" Id="Rbf30bbb31526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b97a1b2b4a23" /><Relationship Type="http://schemas.openxmlformats.org/officeDocument/2006/relationships/notesSlide" Target="/ppt/notesSlides/notesSlide3.xml" Id="R5dd0f8c38156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e855432245e5" /><Relationship Type="http://schemas.openxmlformats.org/officeDocument/2006/relationships/notesSlide" Target="/ppt/notesSlides/notesSlide4.xml" Id="R247843a4e2f04d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81e455bf468f" /><Relationship Type="http://schemas.openxmlformats.org/officeDocument/2006/relationships/notesSlide" Target="/ppt/notesSlides/notesSlide5.xml" Id="Rc551641cc39a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1d7d0a2d43ce" /><Relationship Type="http://schemas.openxmlformats.org/officeDocument/2006/relationships/notesSlide" Target="/ppt/notesSlides/notesSlide6.xml" Id="R40e159a3a38c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87be2bae4f8a" /><Relationship Type="http://schemas.openxmlformats.org/officeDocument/2006/relationships/notesSlide" Target="/ppt/notesSlides/notesSlide7.xml" Id="R08ed72ecad404f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0535bd367453c" /><Relationship Type="http://schemas.openxmlformats.org/officeDocument/2006/relationships/notesSlide" Target="/ppt/notesSlides/notesSlide8.xml" Id="Rfaa9929283e3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b4209fa61432d" /><Relationship Type="http://schemas.openxmlformats.org/officeDocument/2006/relationships/notesSlide" Target="/ppt/notesSlides/notesSlide9.xml" Id="Rbff48ef7563244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9b659cc1643e6" /><Relationship Type="http://schemas.openxmlformats.org/officeDocument/2006/relationships/notesSlide" Target="/ppt/notesSlides/notesSlide10.xml" Id="Rfa38cb4acb5340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a4a85a1444257" /><Relationship Type="http://schemas.openxmlformats.org/officeDocument/2006/relationships/notesSlide" Target="/ppt/notesSlides/notesSlide11.xml" Id="R6c4cabbcd950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3FCDC-539D-45CC-BE3B-B62663BC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结论先行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9FB6D-B487-404B-BF45-D16EF2F0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A0A0A"/>
                </a:solidFill>
              </a:defRPr>
            </a:pPr>
            <a:r>
              <a:rPr sz="3375" b="1">
                <a:solidFill>
                  <a:srgbClr val="0A0A0A"/>
                </a:solidFill>
              </a:rPr>
              <a:t>2 个 Ascend A3 8卡 Pod 是覆盖 KVCache 全业务流程的最佳实验配置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91B38-F5A2-4D05-8B0C-53944216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它不是“能跑模型”的最小算力，而是能复刻真实在线推理 KVCache 流动、传输时延和优化闭环的最小完整环境。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A44D7-B487-40A0-97D6-99AECB83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B9BDA-2DED-40DE-8C97-D83E2771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判断维度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AD6F3-9830-4CC6-B256-9AF2D0C7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049DE-EC15-48B9-82A4-9BE9175F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1 个 8卡 Pod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F0734-FA42-460F-8A43-1736253B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4C07E-83AA-45EE-B2FB-EA336C3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2 个 8卡 Pod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17CE5-72DA-49C7-906E-54172266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21B97-2759-4AAC-9DC6-B251E13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3 个 Pod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82CFB-EFB2-41FD-829E-174475CA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A58A1-F76D-4F33-A13D-C2EFB58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KV 全流程覆盖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AFCA8-A1C5-40AB-9713-1615797C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7DF6B-A108-4A4E-BAE2-E9778CB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功能可模拟，跨节点不足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3B487-9DF2-4E2D-8398-319F0D9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9D41A-04B0-4B4F-85FF-2FDEAEE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完整覆盖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257BA-34C8-4AD7-8D2D-E53475C5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ABD03-A8C6-4BCC-AA5C-17660A4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完整但成本更高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D8FA2-E206-4ABA-91F7-D7DA9D2F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9059F-D22B-4F53-9EF9-E9E046E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真实 PD 时延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51442-5BD7-4E46-9A38-8DB06568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83DAC-CE33-44C9-91F5-8A8798D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缺少跨节点网络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0BE8E-36EF-4F16-B6DA-0DAD1583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8324B-7E95-429E-A371-AE44065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可真实测 Prefill-&gt;Decode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00F35-F49C-4310-869E-F6AB618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FA515-C088-4744-83B5-31A875D6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可测且隔离更强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BE5B6-452E-49D4-92B5-7BC7BDA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F5EB4-96D1-4FA1-9390-2107BAA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远端 cache restore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CA406-1FE0-48C6-827F-85524B7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3EF44-052D-44B8-9327-BCD56B5D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本机模拟，低估尾延迟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D4F0E0-D977-4DB2-991E-F2146EC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2DC42-B1FC-4AD4-8F04-60D8613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跨 Pod 远端缓存可复刻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8CE91-AC54-4225-946E-84BC1B7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DEFD0-1BEF-4C21-BD70-B7123C01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独立 cache 节点更纯粹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E5E0FD-8898-4D01-BF71-7C52FFA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4530FD-ABC5-4432-947C-F190A8C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投入/覆盖比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E19DA3-932A-4FF1-9097-C40B3D6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822912-9A07-42AB-9E8C-B5DFADE7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低，但风险遗漏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2FA9E3-DBA2-4E9E-A61D-BC9CBD3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BE325A-36F7-49C8-8406-78287A0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最佳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A6916-AE7D-457A-BB68-CAB63E9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F5AB26-296E-43BB-8F58-7E441D56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扩展阶段选择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37506B-6EC9-444B-938E-9046E87A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推荐：以 2 Pod 为实验平台一期目标；1 Pod 只做功能冒烟；第 3 个 Cache Pod 作为规模化扩展项。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7FB831-7120-4CF1-90B0-47939E1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8537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866F3-5249-4456-B600-E5F847E8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A323E-1AAF-4ACC-B75D-116BF930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完整 KVCache 实验平台的需求规格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49D42-6EE0-4821-8AF3-0571604D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先定义“不能遗漏的业务流程”，再反推硬件。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B7F9-F143-4639-A9B0-CF2F297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8528A-7215-4B71-96DA-9686367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46B99-89DE-4BD4-A543-1BB864F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需求规格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EFC4E-3F1F-4FC6-A500-72714C9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431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B835-7A3E-4FB5-84B5-E3C7AEA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977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必须复刻的业务事实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0867-DF58-44EE-8004-3B24EC5C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D10E-3CE5-4FC6-B346-DC483E8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0977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关键实验指标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DB74D-CA02-4085-8DD2-CFFFA8C0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09D57-15A0-493F-99F8-8A07F5E8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0977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对平台的要求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A0479-99D6-4D18-8E55-817D253F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CF886-4717-4902-BE53-18C54F8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Prefix 命中与复用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FB708-A308-45C7-9796-75EDFC2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860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E0177-9B81-4F0F-88D1-56F00CF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5270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命中 KV 可能在 HBM/DDR/SSD/远端，不一定本地可用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D974F-E8BB-47C1-9027-4157586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8602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A76AC-9AFC-4E04-A2D4-C17D7DE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logical hit、effective hit、restore 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51DCF-2965-4533-9241-36F8C22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860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F39FB-4158-4DAD-83C1-C0718A1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5270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必须具备多层 cache 与跨节点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B528A-9C99-4AB4-822F-D2E3C5F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2D80B-89F2-448F-A24A-E233E48F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HBM 压力与卸载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F1108-C2B0-454B-BC6C-FFD8D95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92CFA-A353-4BA4-ADE5-6DD9A3BA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9562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长上下文和并发 decode 会挤压 HBM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5651A-759B-437A-B905-CA8F62D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20AC6-A302-40BD-8640-EFCE190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9562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D2H/H2D bytes、evict/load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D7B01-FBF3-4E10-B8F6-7E25936C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4ED37-7080-4EDF-879A-48390775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9562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 Host DDR L2 与可观测 H2D/D2H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133EF-D083-4AC5-BA8A-35209B3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FA912F-A73F-46A6-915E-6965D1DF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3855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 与远端缓存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422FE-A38A-4FDD-BA1F-38B8DEC9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718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4B153-6727-4FF2-A04C-62017D3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3855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冷 KV 进入 SSD 或远端节点，回读影响 TTFT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E78732-E76F-4E13-ADE8-559DED4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7187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92590-BC99-4C7E-A772-33A7EF3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3855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NVMe P99、remote get latency、metadata QPS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564BA-1139-49CA-918A-9CD68479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A32E8-0D8B-468F-A30B-DA729AA0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3855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必须有本地 SSD 与跨节点 cache 读写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ADD547-893C-4205-99DB-1ABECCBB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3F4923-07BA-42C8-9B3E-00C7F99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分离传输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C81F7F-46B1-45B0-8A59-F0C4921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35B6BA-1DEC-4AF3-A219-5E626D8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8147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 与 Decode 常部署在不同节点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087AE-1376-480B-87E1-1C04BB4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5FACE3-FEC7-4091-867D-46CAB44A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8147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bytes、bootstrap、decode wait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42084E-DCE5-47DD-A173-D27B4EA4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F547D8-71D2-4BB8-BC49-9F4B8AED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8147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必须有两个物理 Pod 才能测真实链路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CA07F1-02CE-4479-99B3-B4E45317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174D19-0776-4B0A-A362-B34997AA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440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TP/PP/异构切分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12710E-033C-49E2-B610-C35B3D3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577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5E250B-AC31-4185-9324-49769E1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2440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不同模型和部署会产生 slice/staging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B1F87E-37D0-455A-9650-226C9AD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5772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81CCC1-BFDD-44DA-91CB-E083632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7244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小包数、staging cost、带宽效率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68B186-054C-40B8-A5F7-8125D5C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8BEC67-BE5B-4AFF-B126-225F8D63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2440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 8卡 Pod 覆盖 TP=8 与分组切分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AE4BE3-D86F-46B2-813D-63DF0D6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1193D9-F7A2-454F-A0D0-C431D70D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推理体验闭环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09E9A1-13F6-40D9-8133-F33B52A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006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E6FF3C-5BB1-4D50-B3CB-C1742108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26732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KV 优化最终要体现为 TTFT/TPOT/P99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74D83A-8033-4C52-8553-162DE867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0065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0CD239-689B-42EF-BA9F-B2C096B2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26732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TTFT、TPOT、吞吐、P99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48E346-27FA-48DD-AB8D-DACF997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838C3D-874B-4EB5-BDEB-1AB3F909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6732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必须集成 serving 与硬件遥测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4DBB88-73FB-4D93-A045-5B16AD7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098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EABF8-2126-48CF-BBE6-0BD8DCD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8C25C-02F7-4479-9D74-73167123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场景覆盖矩阵：没有 KVCache 相关流程被遗漏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718E7-C36D-4659-9CE7-37C93D14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71322-446E-4DC6-91B7-DD34F09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26B41-8894-4C22-9CBD-B1DBCA2D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编号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59CFD-A87E-4B63-B5B4-B301D23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B2710-BACA-4495-9BA2-0F10A33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335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EE72B-58BA-458D-9BA3-F0A289EE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66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41D0D-9371-4487-81C4-8DB7803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335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KV 流向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F9E20-6200-4B5D-9B49-AC4B4EF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669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05BFB-4B6F-4713-9AF3-7A5951C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335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2 Pod 覆盖方式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3B36D-84CE-4CFC-BD40-64F3B768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9C948-E359-4F05-8C3F-70AE144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33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核心验证点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A0B3F-8613-486F-8CB8-63ACAA1C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3CA9C-BDA0-416E-B720-E774AFE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BEC77-5D79-4F06-A596-3CBE4C0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AA1B6-341E-4FD4-9D40-B5BB781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98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单节点推理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1D360-CE7B-465C-95E0-58F8D5B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43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12B7B-89E2-45F0-B885-D5107C7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 内 page/block 分配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A745D-97F7-472C-8DE0-764CC00E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431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52A42-BE44-47F2-B91D-A977E30A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98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任一 Pod 单独运行 vLLM/SGLang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5DA3B-C29A-4A2E-9523-344D9CD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F3227-4480-457A-803E-E71AAE20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9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 占用、fragmentation、baseline TTFT/TPOT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86C1C-F1AE-4E76-AE85-8065CA90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52946-9D40-4352-9B88-CC08B6C0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80A58-20B9-4443-90F1-EBBDF14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2078B-996A-43F0-9F0A-97A7AAB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860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Prefix HBM 命中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C35B7-AEBF-4126-9837-F8194CB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194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82EC3-347D-45AF-B12A-FBA1BD6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86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Decode HBM 直接复用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F3FC2-376F-4C4B-9006-BB972DE8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194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20F97-815D-403E-A824-0961CBB4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860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Decode Pod 保留热 KV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C5DF4-6E79-43CB-80EB-F228320A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5E39B2-A5EF-47D6-951F-EDB217B0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local HBM hit 与 TTFT 降幅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00C69-E668-4538-9481-0D2E4BD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18DD6-D80D-4554-9A5B-8257A67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S3/S4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E0083A-9923-430B-8FAB-E45AD679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5A8837-0339-4D3C-9D05-0FA4D53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623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HBM&lt;-&gt;DDR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9BC9D-15DF-487E-956B-90A448A7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95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AA2CE-A10C-45E1-9434-E247981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623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Device HBM &lt;-&gt; Host 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B0DC4D-5CB2-4517-9465-7031EABB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956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07F93D-AB6C-4C59-8C3D-6A1B7AA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623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内 HiCache L1/L2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EAED5A-F3C1-41ED-A1A6-38113724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C938BE-F17D-45CD-9DEB-7606309D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62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D2H/H2D latency 与 stream overlap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1C6ABC-F039-4691-95FE-A6AAD4C4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63F21C-E7A3-4523-A3C8-E873100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S5/S6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9EF90-745D-42F1-8305-3E9423E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C86C40-EEAD-449D-B797-0B1421CA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385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DDR&lt;-&gt;SSD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1FF375-099B-466B-A5E6-19208E43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71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ECD5E6-3D57-4FF9-8095-E1CD41B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385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Host DDR &lt;-&gt; NVMe L3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DBAB19-8BA3-4ADF-9541-F85C567B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719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53E71D-2F19-4263-9C3A-17EF7F2E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本地 NVMe + Mooncake/NIXL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8B0036-1DE0-48F0-BE22-7F70A62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515473-24A2-4F1C-A4C8-DEC7823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SSD P99 对 restore 的影响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C73192-A76C-4765-A49E-09239FFC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2D0D40-28C9-4B15-9A7A-8D495A0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S7/S8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4D5BF8-032B-446C-8ED0-D5D148B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26437E-EEE1-40DC-8B7C-32674543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48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远端 cache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84148E-4F1F-45F0-BC54-A4C06FA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48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B7F737-8660-499E-97FA-5A14222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148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Remote cache &lt;-&gt; 本机 DDR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3C7306-0C0C-442E-AC78-1EF051DF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481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68C7B8-DAC8-4662-A63B-A2EE58B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A/B 互为远端 cache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34630D-3E1C-422B-9954-B97ACCE0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4FA462-B903-4AF1-99BB-CAC5A62C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14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metadata、RDMA/RoCE、remote get P99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64A13C-A8D1-4299-8274-F454BDC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638084-3141-4945-B8DF-42C6D92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910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S9/S10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2EFDBF-66FF-4EFA-9699-EB0ECBDA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244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A00D82-8B4C-4AC7-834A-3A2F523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910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PD 分离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A66F80-CC28-46C5-B464-18820A52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244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977961-7083-4B4F-AAE0-4699776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91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Prefill HBM -&gt; Decode HBM；Local restore gate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00B906-7D00-4852-BD19-2CD1161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244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AB46D9-8BF4-41F0-836B-E144C5A7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910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A Prefill，Pod B Decode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20C51F-226E-41FE-AEA7-CA1DA35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FEEF59-4E40-4EBE-828F-52B7F46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91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bootstrap、transfer、decode wait、restore gate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4A7A7C-2E47-452F-85A8-6ECE328A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4E421F-9D55-4419-A0D1-65BDB6DD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S11/S12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63C624-7E6F-4165-9D31-951548C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9DBCAA-05B6-447F-B5A4-2847693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673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TP 异构/长上下文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F5A94D-A8E5-482B-A356-D1EB1296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00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4C9348-51E2-44CF-BBF3-3D32105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673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slice/staging；4K-1M 混合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8F5654-E06A-4708-9ADE-6AF2130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006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2593F2B-C30E-46C7-8B5A-F38846D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673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8卡 Pod 内 TP=8 + 跨 Pod pressure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5DB588-7B0D-49F6-9983-224B0A9E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1D775E-7831-4544-8660-44D9436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67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小段放大、staging 收益、cache churn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9A076A-03E2-4554-BA57-69517B7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关键点：2 个 Pod 既能构造跨节点 PD，也能构造远端 cache restore；1 个 Pod 只能模拟 API，不能复刻真实时延环境。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78F141-6227-4EDC-BC10-127C55F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3977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47709-6465-45B1-99F9-142A4D79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9CFF4-885E-4BBA-A083-9541A88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全业务流程：从请求到 KV 复用、卸载、恢复与优化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4B2C5-E052-41A2-8C00-625741B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FA6F0-829B-421B-A2FD-5ED6DFFF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FC6D7-7303-446F-B92E-93B84DC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请求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FAED4-D7DD-4E6E-A5AE-4DB8020A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C2061-0E3D-4CB3-870A-69C341C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B1E2A-4078-4387-A3E3-DFE75E5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Prefill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生成 KV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7A534-388D-4639-9DC1-9EC52CE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78A67-22AF-4B60-93C7-DF3E499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99D66-4625-4C54-8463-66272C3F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Decode HBM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活跃 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40FF6-B068-4683-A73A-ED57E06D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F1AEE-9F68-404E-8C95-F6395E4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1B233-B9D2-491F-BFE4-1BFA79F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Host DDR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01936-7C94-4437-BA92-D4198B90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13054-E046-4EB9-9C60-F2CC36F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65F0A-F73F-479F-8DF4-BA951A7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SSD / Remote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A81B0-DE71-4779-A94E-588D6934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53744-26D0-47EF-8EA1-D7FB8CF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B87C0-1E14-4486-B42C-550EF97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指标闭环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TTFT/TPOT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65552-C953-4524-A681-1182D33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核心闭环不是单次传输，而是“命中在哪里 -&gt; 是否需要 restore -&gt; restore 能否赶在 TTFT deadline 内完成”。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39207-FEF1-44FE-827F-3A910E7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874B4-D7F4-4CEA-AAF8-B25765E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624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命中位置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21D84-D82B-4F7E-83F4-2CB78C41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78B0C-521C-4C86-9B2F-A044489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后续动作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1AFAF-1C42-4EAC-8058-67CE99E5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CF05A-9F81-495D-89BA-86E445DA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延迟风险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CDA83-3016-4DB2-83B1-3BB3F49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A493B-0DC4-431C-A671-194F2A0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为什么 2 Pod 必要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E265D-9251-40A9-81A3-208CF2E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F77B8-7D32-47E9-8E81-0176C951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Decode HBM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3AA90B-EE60-480C-919A-56DDF6D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57C00-D124-415B-8F02-AADBE03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直接复用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CEE613-3564-440C-8AE4-42AB05E0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DE284-7BE0-48BD-90CB-1524904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最低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E2E99-1431-4F57-A357-ED1E6937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1C116B-3F2C-4D31-A951-86FCCF42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建立理想上界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CF15BA-A4C1-464D-82F8-8F34B39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3FDF52-F3DA-48A0-8A01-DCD8AC9A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本机 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1EC784-008E-477D-9F9A-006FF67E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A7950-0F52-4396-87E2-D182590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DDR -&gt; HBM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653BFD-EC4B-4782-84AF-97EC575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536F5F-D308-4D54-BB9A-D54A7E88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H2D 与 stream overlap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2DECBD-72FB-4338-A301-B52DC8E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62EC55-7287-430C-B6CF-662DCB6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 L2 restore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CACDD6-30D5-4912-9753-A164190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320371-8BD4-4181-8774-104BA7A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 / 远端 cache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C8C1A2-D716-444D-AD76-86ED3C2C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0DF115-57A7-4C31-81A2-0700C3B4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SSD/Remote -&gt; DDR -&gt; HBM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578DBB-34E3-44FB-B5F0-6E9222F3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532DE5-2806-4349-8110-C45F7800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NVMe/RDMA/metadata P99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51D18F-0C7B-494C-9739-0BC6F99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51A127-81DB-4297-9285-4A5BDC40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跨 Pod 才有真实远端路径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ED5AF0-E6FB-4E43-84C0-48C4919F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A06F56-554E-4E9B-A3C4-4D681143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626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 节点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C0592D-9C2F-4D46-BF4D-25749F4B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66570F-12C9-4B6E-93FB-47A7B82D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KV transfer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548B9D-63D9-47DB-B921-FBF7F9C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81DE58-BF34-4FB5-99E9-8599D12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bootstrap + transfer + status gate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704037-B6B9-4C30-8922-ABA35510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31D42A-2828-4542-92A0-EB0BD3F1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Prefill/Decode 必须分属两 Pod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FC6816-56EB-468B-BBB8-674783F8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9341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20A4C-3001-4456-8AAB-089BB5F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82F2A-AED1-4684-B22A-66C57FB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硬件推导：主流模型的 KV 数据量已经进入网络/DDR/SSD 压力区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3110-DD6E-4E1F-8361-C6ABE42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A120-621A-4634-BB45-5E00740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87A04-2165-4BB4-AAAA-B2B84CB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907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模型类型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842A0-D653-490E-B842-C507FC6C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240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1BC6C-1171-4874-A449-B29AD21F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907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KV/token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5DD7-A6B9-477E-B53A-D90C441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CF0EF-B6A2-42B6-8331-A2E71620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907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32K KV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E6931-7CE4-48F7-978C-E55345C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C3DFF-504A-4EC0-98BD-B6A2DBF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907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128K 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11715-5A2C-41FF-92F2-514E3F2B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23F85-5988-4EA8-BE34-05FE325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907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100ms 带宽诉求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81A6A-1E68-4559-878D-A68E22D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9266A-6FC7-43A3-BF07-F6D04ADD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907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实验含义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B8244-CA65-4A19-91D2-32C4CB6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A79A4-832C-4E37-B5C4-4BB04DCF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860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8B GQA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5C74E-7651-4F55-BE3F-4694092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A4570-C565-4F9B-B4D5-23E7037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860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128 KiB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2F9E9-1E6F-414D-8A12-6C4C055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E3B41-5494-4B8D-9AE3-A2F508C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860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 GiB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F3F46-05DF-41EF-9838-94CC4FB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6541C-5FCB-49B4-9DAB-96CE83A4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860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16 GiB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8074E-F720-47CB-9A18-54BBFA69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F64FE-5A00-4B59-B19A-17074A5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860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 GiB/s @32K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D83A9-F7E4-4192-87EC-24C623F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8ED20-9041-4920-8BD0-B6F283E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860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适合冒烟与功能闭环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E7D36-4BCC-477E-808D-4407B922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C8338-7502-4AFB-92B0-4661071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32B GQA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187E3-443A-477B-A50F-74DC55C9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7A550-4C55-42A8-B171-01204B8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813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256 KiB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24346-A6F9-454D-A60E-90BC873D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14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0C31BC-8740-477E-947C-7FBB730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 GiB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85A193-260B-43F8-A3FE-9E93054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74BE0B-82EC-40B7-95F2-44BD21D4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813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 GiB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D9C44-5B37-488E-B150-7D9E9BB9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E54CE-35F2-43F6-9B26-86B85E83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81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80 GiB/s @32K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151283-4F00-41EC-8FA1-5A0E813E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26F840-6ACA-4920-A540-57356C6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813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中等压力，观察 HBM/DDR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E556C0-7179-4328-B190-CAED9FA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DF1B8C-16D8-494E-94E6-474693F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70B/72B GQA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9FB594-D5E3-4EAC-9B66-6FE45BAA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3389CE-94CD-4857-A3BF-44AF71C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766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320 KiB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2B3268-CBBB-4970-B3F4-4231325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99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7CCF85-7D6C-4C71-9264-05945F39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766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10 GiB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7D4D46-4BC4-4555-BC4A-EBC254B6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DE2A1C-FAA4-47F4-A04A-93DD171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766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 GiB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A987C5-7703-4B90-8755-D4EAAEC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F98767-75E0-4442-BBF9-8577D97F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766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100 GiB/s @32K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4C23D-2805-46F6-BFEC-A81832C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E13A5D-A8E5-4BEB-9D45-BB75C90B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766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生产级长上下文主测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FB2F90-EFF5-4544-885A-F7D8D66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3C3A20-3914-43E3-AE8B-6B50BCD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405B GQA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0C5781-06CE-4334-A48A-9E533343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7DF474-A255-439E-9290-A1CDCA0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719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504 KiB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243D48-8857-4FA1-A805-268A91CB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052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A61636-77A3-44AC-A567-3A54369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15.75 GiB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59A723-97C4-4332-BBCA-6EF93D1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91A400-B551-480D-B617-8913E50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719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63 GiB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0CC118-7D1C-4316-A413-B8A97DF9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3B60B4-695C-4E69-A631-4B475FB8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71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157 GiB/s @32K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E82CEA-122D-4633-A81F-2D9A3B3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796664-1292-4F69-9B10-AEAD124E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719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极大模型远端 cache 压力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2844B9-2D0A-41FC-826D-F3EE33A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659A31-797A-454F-B676-63B1339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672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DeepSeek MLA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82412B-A91A-4D76-9F27-3675049E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FC92CB-EB7A-48CD-94BA-964B6C62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4672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68.6 KiB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2DE058-021A-4044-9FCC-9551A02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00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A1F152-D0E6-4AFF-A0DA-5F43BD79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672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2.14 GiB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893A2A-328C-4D99-B2F1-264FFD22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005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C09822-C49D-418D-A6F2-7233D703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672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8.58 GiB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1C7108-7A4E-4C28-A301-D6D431F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C29420-408C-469C-AEDF-410A81C4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672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21 GiB/s @32K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5B9CFF-6F51-4CAA-AD5B-76868554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593AC0-4BAF-4A14-9E25-7E56FE68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4672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MLA 降低 KV，但高并发仍受 HBM/DDR 限制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ABD309-FEC7-46B9-9015-D680F64E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A4CCE5E-2BE5-4100-95E9-1C939A69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1M context 新模型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D07FD8-5F07-4BBB-856A-BF6AF8D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958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041CD6-50A6-4C8C-A2B3-449FA64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9625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需实测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0B9133-FEA7-4A62-AD82-3204245D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5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A1FCB7-17C0-4B7F-A9F3-C3FBC698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625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不适用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6C003B-E83C-4AF1-939C-AE2D1A8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958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DEB364-71B7-4726-AA5B-809FF34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625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67-312 GiB @1M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35E6C3-A179-4BA1-AE27-C4ECD68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43EB49B-25F7-43E9-9115-5F7E7A1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625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67-312 GiB/s @1s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2378E5-5928-49AD-8725-E1154A8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CCFC280-570E-4511-B93E-EFD7DD0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9625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MiniMax/GLM/DeepSeek-V4 必须 runtime 校准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2F8CA1-A282-43F4-8E7A-CD5A8F1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推导结果：单 Pod 算力可以跑部分模型，但无法复刻 70B+ 长上下文的跨节点 KV 传输与 restore 时延；2 Pod 是真实链路的最小配置。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591435-5291-4CF2-8AB4-E9515BAE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3745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E94EA-B04D-476C-ACFD-9F81CC9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C200D-8887-4927-93D2-8C16098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为什么不是 1 个 Pod：它会系统性低估 KVCache 时延风险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FE2B0-3BAF-4778-88ED-F75B14D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7213-591C-4934-ACFC-7DD3744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FA44B-BB59-4C26-948C-F831F152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193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被低估的风险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0474E-6887-4C4C-B0E7-6214B5F1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C128F-788D-4D8E-817A-F850E39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193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1 个 Pod 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3998F-DD74-4292-8666-2B12E85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5EDF1-09DF-4992-A0DB-E86194E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2 个 Pod 如何覆盖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34A1-665A-46DE-A952-EA04E9E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D86BA-E814-47E7-9B8D-BF44A6DB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193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影响指标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D0A98-1D89-4D09-ABC8-91C6230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C4D47-D152-4C87-B586-4AFBD9A1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PD 跨节点传输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31026-6125-46A9-B046-C08C719E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12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5C448-0B9B-473D-80B6-4BD2FBC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479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Prefill/Decode 同机，缺少网络 RTT、拥塞、序列化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81574-5404-4F4E-8CE3-5194AA2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1DC0F-88A9-4F31-9EBB-388479D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Pod A Prefill、Pod B Decode，真实跨节点链路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F58C7-56F8-4EC5-AB9E-747A399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812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7B7EB-E3DE-4A28-9C36-BA08F2E3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TTFT、decode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05A73-010A-45C0-BCD8-82018BFC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42575-EC77-483C-AE98-1856236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远端 cache restore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FC0AA-9B3F-4CEF-9248-4BFE123F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99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A4E6F-F915-4E47-8911-038EB17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766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remote API 本机模拟，低估 metadata 与 RDMA P99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476D5-1F51-40D2-BF11-06668C59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38C5D-5819-47D4-BB39-1F5E625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766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另一 Pod 承载 remote cache/store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4CDCB-2DA3-4148-A2DC-869C8B3B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61A1-E7AD-4146-B5FF-BE0409CE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766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effective hit、restore latency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D1217-08F5-4C02-80A3-ADC813BE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643E7-AAC6-4865-BEF2-CC4226D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资源竞争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3A888-5FA7-4051-A88E-ACA23E1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ABB67-C4ED-4F99-96D5-9691C5B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052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CPU/DDR/SSD/NIC 与推理同机耦合，难拆因果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84613-5C9A-45DC-A7BB-F466F92D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1FEA5E-5AF2-4C9A-B4C1-790D81EE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052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两 Pod 可分离 Prefill/Decode/cache 压力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33049D-52DC-4416-A2D2-1683670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385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DC257F-6820-4846-949B-69E4D479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9052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P99、带宽效率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0A726-0504-4A3E-A07B-D6292B1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97466-3AE9-4B81-95E3-2EE518B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TP/PP 与角色切分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FA6D4-B2CD-441A-9ABA-50CBFA1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672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6C4B8C-9E19-48F6-9A27-472E63F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339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8 卡内同时跑所有角色，实验空间不足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1F6D38-C13A-4B71-80C0-85ED5532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672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0E87D7-1757-4F07-B902-B7539B4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339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两个 TP=8 单元，角色可互换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4906D2-CD26-484C-B8DF-BC53373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672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A7E82-5FF0-4B53-9044-4199E636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5339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吞吐、TPOT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EF1145-1917-49D9-9C53-850C85B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EC4659-9A8B-44FE-9CB0-56F2A04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625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真实业务复刻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CF91CA-0441-4F0F-B96E-CD8B443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AA5FDA-7336-4900-A754-AAA3BC6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625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缺少跨节点部署拓扑，优化策略不可外推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15B872-0732-4621-AAA7-041F8F80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449850-369D-48D7-9E9E-C1F79588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625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复刻线上 Prefill pool / Decode pool / Cache service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2E8E17-89FE-4ACE-8C7B-813B6AB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F0C912-4592-47E0-A7A3-CA2C3842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162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优化可信度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F40937-70F5-4CAF-8640-DCC00DDE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1030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70E9D-DCBD-4DE9-B8B7-CAB0548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A95E9-2438-4AF9-8841-933643B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2 个 8卡 A3 Pod 的部署结构：最小完整、角色可互换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4A4AF-A8B2-48C7-8168-189C9F3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CDE67-1FB5-42E6-A4D7-5A68A95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B4A8B-D9AB-4FF3-BDD1-70ED3C9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25A9B-C569-4500-B04C-F3E86187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Pod A：Prefill / Cache 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42F49-709C-4D0A-BD8B-B9D763C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BA63F-7C95-4912-809A-8A6C72EF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8 卡 A3：TP=8 或拆分小 TP 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D29BE-91B8-490E-A27E-8EEF8575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C6C8C-7CE0-4697-B5B0-75D96C3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SGLang prefill + Mooncake/NIXL sender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D04DF-410E-466F-9B9C-DC2250B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7A9CC-958B-4040-8244-4D52907E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本地 DDR/SSD 可作为 L2/L3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B1328-9CE1-483C-91C1-72B0E04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77DD8-3BB9-4E54-8176-92D62CFD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可运行远端 cache 服务，对 Pod B 提供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448F9-5F09-480E-85D0-EA5861D5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Pod B：Decode / Cache 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14ABC-6050-4B8C-8CC8-02177885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C1BA5-24D1-4268-B7A9-1208992B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8 卡 A3：承载 Decode HBM resident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FB51B-CA38-4D62-8FEF-C76ADF9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72CD2-EE48-4A88-8815-C9971CDE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SGLang decode + HiCache restore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F2287-BFCA-4BF2-A624-73B05F58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4A7C6-306E-457F-82BF-B7F6A99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接收 PD KV transfer 与 remote 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6418C-E375-4A82-9B3C-0D9FE20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26173-1639-4591-9957-FFEA14E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可与 Pod A 角色反向，验证拓扑敏感性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8A241-1A43-451E-A2D9-EE171C14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4797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3CC16-405D-48D4-A75D-E584FCB7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0997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F42E2-8EBB-4EE1-AE35-168EC82F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跨 Pod 链路承载两类核心时延：1) Prefill HBM -&gt; Decode HBM；2) Remote cache -&gt; DDR -&gt; HBM restore。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9A32E-33CE-4443-8D5F-7EBA747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78008-6CE3-4A44-B581-BA3B3BC6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角色切换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5C7B9-835D-49B0-A363-B62803F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ACBE52-AF0E-487E-8B83-E36181E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Pod A Prefill / Pod B Decode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B3162-D3E8-483B-A160-1BEFA5A9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702CB-029F-40FE-A8F1-1FC55D6B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Pod B Prefill / Pod A Decode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60CB47-92AB-4205-8251-26E5C64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FA229-AD15-4284-A07F-1533955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目的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11253F-384D-4DA9-9C32-3D7DDDF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8BDCF-9ED1-417B-A851-B131D65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验证主路径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EEB433-8CC3-4874-9AEF-30147D3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075DE-555C-46BF-9B44-D2D1E5E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验证拓扑和负载均衡敏感性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1C7564-1F5C-4441-A221-F672AC97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3379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B5D20-1CC3-4183-9458-BE742AB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0BD6F-811B-496F-B185-BB6EA417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软件栈部署：每个组件都对应一个 KVCache 流程验证点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BD57A-392E-48D6-BF02-EAB94392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525F6-1529-4964-B122-A6E49D70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9D962-A53A-4780-93D5-452B603B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组件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457DD-AEBD-40F2-9E3F-F49237C9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669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7B032-6EEF-4AC8-AD0D-6D2E302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335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部署位置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3BE78-3555-43C4-A451-6F661D7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8669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A72D0-4A69-42F3-A79C-E84F59E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335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必要性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EC606-4806-4D3C-8ACC-2B116F34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76F3B-2C04-4A2B-8C35-EBE4C95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33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覆盖场景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ED46A-112F-4A52-9E4F-B8A61656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0D0F8-A181-4635-89AC-92E39DC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SGLang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EFFFD-862F-4B47-896B-CD2F2D04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43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B49A6-EBD4-42EF-9100-3532D287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Pod A/B 均部署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00D21-72AA-40FC-9E94-1286EDDA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431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2A9F1-DDAE-42F8-B77E-1236B9B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98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主测 HiCache、Radix、PD disaggregation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FD0D8-34D8-47F3-8069-5AC1717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44F58-5856-4FEA-A45F-EA3BC637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9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HBM/DDR/SSD/远端/PD/restore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D2F33-F7E2-42F4-B7D0-BEE8DDD7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D39E9-A22A-4C2E-A9C7-98D7ED96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vLLM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2E4B1-F1F1-41DA-B10F-0BD45921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194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59901-0DCD-4F5E-B032-0D04CFFD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独立 baseline 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6BFE9-EB82-4550-9D73-D03DCB4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194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C46BF-110E-4351-BE08-054D0B1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复刻主流 PagedAttention 与 prefix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F4FB8-0FB9-4BAB-8B7C-8328D8C5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4CB3B-33A6-46EA-8F4F-19FFE06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86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单节点 baseline、prefix hit 上界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0D3EAE-3054-4C5E-B339-0C58EBE4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9FC09-B3F9-4F51-8B12-AE9CBDC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Mooncake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82A2C-386A-44E4-9F6B-9BED449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BA140-3A32-4A34-B183-498627F6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623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两 Pod 均部署 store + transfer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F898C-A325-4471-BD47-3503327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956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A3F3EB-A713-4982-9076-FEAC88CD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623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主测 PD transfer 与 distributed KV store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D240F-7FAF-4C37-A68D-91DA8E6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5F798E-E19A-416B-8A27-57C3B82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62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PD、远端 cache、SSD offload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BD90D-7ABB-47B7-8240-CE84F01D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B095B0-2888-4A4C-AE5D-4F10345C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NIXL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ABCE6-93EA-49C8-A64B-09C36E79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719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BA6FE-8002-4FD5-A4AF-1ECF061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8385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作为可切换后端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65FA5C-5550-404A-9B0A-9F8736E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719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3F58AE-36CD-42BB-8556-652357C2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对照 Mooncake，定位传输库差异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2CFF0B-BC5B-4568-8ADF-0A46213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149FB0-CF37-4693-B8CE-71217F7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38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xfer、FILE/GDS/OBJ、远端 restore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F2F239-A772-452D-8065-0081893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DC86D9-1870-41C3-8B36-A96534A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LMCache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C032D8-6F21-4F65-A901-5017CDF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48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0390A5-E3B7-40D8-8FE9-7AC5EF0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148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cache service / connector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8A3ACC-4F4B-4D6E-A131-F980D1B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481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0A5C95-5B46-46FD-B710-4F332FAF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148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对照 prefix lookup/retrieve/store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56F493-0943-4784-80B2-37DA631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E0A6CB-700A-4268-B154-20405434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14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remote prefix reuse、session lifecycle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712589-C9C1-4A72-990E-053778E8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30F732-CE39-4EF9-884A-55F24E82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910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Prometheus/Grafana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41FD8C-3757-4B80-A33E-FD620B9E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D4F687-A999-46BD-8D4D-8B10AD8E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910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全节点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615C55-70A6-435B-8ADC-69ADDD1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244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79E801-53C4-4988-903B-DA3BA8F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910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统一采集 KV bytes、latency、TTFT/TPOT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7FA3C5-261B-4187-9DF0-3632102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FED348-6F69-4A6D-827C-7695258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91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优化闭环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4258C4-774D-4DA1-A49E-A1C1005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2D1196-A745-477A-83D6-D17CFCBC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Ascend Profiler + NIC/SSD telemetry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BDED23-65EE-43B3-9F68-9342B98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D6A0BA-5CB4-4389-8B7A-8CBE4A8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673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全节点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6D1455-81FB-4F6B-9608-5520ABDF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2006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E31623-04C2-4A25-B150-C81B60D3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673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把瓶颈定位到 NPU/DDR/NIC/NVMe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D7D4E0-0AA1-48F3-8976-4385CDDC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D67F7F-59DF-43C4-9BEC-301562C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67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P99 与硬件归因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9B350D-FBAE-4569-8929-9B4E594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0432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3665D-FDB4-4EA6-A199-F0D7A90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00DAE-74FB-486E-92FC-23CAB029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实验穿刺路径：从功能闭环到真实性能优化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B3F72-C863-4A0E-A507-89B3711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按场景、实验、业务指标、模块指标、输出组织后续计划。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53A45-06FD-493B-8737-2C4BF123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E9FD-3307-4DA3-8871-C1F5BBF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DA57F-32C1-4731-90F0-51BF8F9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9335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6E93F-80C9-4C99-90D4-FEBF746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8669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A3DB-615D-4510-8F21-6854C8DD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335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1A506-D96C-450C-A60D-00FCCC3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CAFF9-8221-4B54-AD6F-1D70DC9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335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业务指标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CE935-472A-41C1-A898-F6C7B8A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1B0B3-EBE4-4E63-B0B5-36749A5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335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模块指标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A57DF-95E2-47B6-B41C-95E3194B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669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E4238-F4C8-48D9-B394-CC87E79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335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3CFD2-A6A9-40EE-9D1E-E56EB11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A59C2-A979-4798-9C48-8DE0459C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288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S0 基线闭环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8884D-5D71-4C7E-B94E-3ACADC2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3622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A468E-501D-42CE-8CB5-053B812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8B/32B；vLLM vs SGLang；单 Pod HBM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A75F8-2AF6-458F-A3DF-669096B5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622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48250-AB96-40CE-9215-9805AC2A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288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TTFT、TPOT、吞吐、P99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9EC39-FA16-40E8-BC96-1A8B4F5A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1F869-E907-4AE1-8FD2-0445157A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288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KV block/page 占用、HBM resident tokens、scheduler queue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AAC02-C5FC-450C-B6EB-2E9E519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622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8858F-5B71-426B-B359-5FBC74A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统一压测脚本、指标口径、baseline 曲线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657C0-EA93-40C1-A2AB-8CE51EA3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2F819-6604-42E4-9EE2-3B323A6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241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S1 Prefix restore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0FC5B-325E-40B0-9D21-4C056B3B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575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46CF2-EAA3-4BFE-B78F-293F069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241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构造 0/50/75/90% logical hit；命中分别落在 HBM/DDR/SSD/远端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4D9BD-A005-4C61-AA60-2F5AB4FE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A0B1E-B806-4EC3-B5BE-0688DD4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241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effective hit、TTFT saved、restore miss penalty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D5837-9D27-4ADD-9DAA-106FAED1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419FE-FCA3-4204-9A49-2C28745D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241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restore_required_tokens、H2D latency、remote get latency、metadata P99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928A3-9BE9-475D-B688-1B186EE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575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B54EA-E3E8-44FD-AEB0-409C4F3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241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prefix 命中收益模型；cache 放置策略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733F1E-436B-4A3A-AAF9-09318FFE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774162-8787-4B30-AF01-58EB433F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194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S2 HBM&lt;-&gt;DDR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7A433-E60C-4533-9465-6EC6CCC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3528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F71A9D-8C31-4801-AE31-B6F207A3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19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长上下文 + 高并发触发 HiCache unload/load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B4E6D8-6321-46A0-BFB5-9571FA63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B493B2-2E9C-4041-AC62-8A10BD32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194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TPOT 抖动、decode stall、请求完成率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FBFDED-E56D-4591-A26F-5DB89BE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559911-C75E-4579-A52D-14D3BE56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194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D2H/H2D bytes、copy stream overlap、evict/load queue wait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F3201-7F53-4E9F-8678-A2E4111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528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3CF6B6-E6C3-4376-AA01-8BA80E51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194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HBM 水位线、DDR L2 容量建议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AFC19A-7A0E-43CE-8DF6-A07376BF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81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5EB4B4-0B3F-4361-BBB1-094E8D96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147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S3 SSD/远端 L3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68C595-522F-46AB-A8E1-50E55108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481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52850E-A336-4FBA-BDA7-CFC9B4F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147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DDR&lt;-&gt;SSD、DDR&lt;-&gt;Remote；Mooncake/NIXL/LMCache 对照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B04E45-253E-4045-A2DE-D060A720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376089-4ABA-41B1-9685-4639EDB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147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TTFT P95/P99、远端复用收益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F868E3-17E2-4926-979A-D65E2052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EF6E6D-59AF-46C2-9BEC-DCBE02E9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147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batch_get/set latency、NVMe P99、RDMA bw、metadata QPS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2E3E93-3DF1-4715-9D4A-0BDCBEE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8481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CD7E00-FFEB-4894-9BF2-03360D68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147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L3 对象粒度、batch 大小、冷热分层策略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2FBF43-8B91-4D40-BC30-297A533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BBFBBA-7525-4148-A7A6-897B094A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100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S4 PD 分离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43ED05-4CD9-4F19-A953-75FBEE9A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3434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EB71B4-DCE4-4415-92F5-A1ACED41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100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Pod A Prefill -&gt; Pod B Decode；TP 一致/异构；staging 开关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D6E550-78DF-4563-853F-B4BBD67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434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D99A6F-3D6A-4559-A91E-EE72EAF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100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TTFT、decode wait、prefill/decode 利用率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B2924D-CA9E-4931-AC3B-3B351AD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727365-EE3A-448C-A0EE-2387924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100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PD bytes、batch_transfer_sync latency、小段数量、staging gather/scatter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9770F9-3672-429B-BE8C-551BE5F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434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834E10-A4C8-4877-9F11-325158F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00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PD 传输瓶颈排行；staging 使用边界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344489-600C-458A-8E90-E3AA606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020409-79D4-4EC0-B93F-DF6FD353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05375"/>
            <a:ext cx="1304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S5 超大模型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4572C9-AFF4-4130-A136-5C6028E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83870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5FE203-AACB-4571-A9EC-5ED1F240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053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70B/405B、DeepSeek MLA、MiniMax/GLM/DeepSeek-V4；128K/256K/1M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3AF256-BB78-4FE6-B790-34E36B9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79E087-AA07-4E10-A7D3-11952D82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053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长上下文 SLA、并发容量、成本/token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7307F5-72F6-42FC-9111-455404F0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2428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BE1BAD-B4C4-4CBA-978C-D6C405FC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05375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runtime KV/state bytes/token、cache churn、network aggregate bw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02B325-7DC2-47FA-900A-FBED50C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38700"/>
            <a:ext cx="2714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9A5D82-604C-43E0-9275-14F8FAC0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05375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2222"/>
                </a:solidFill>
              </a:defRPr>
            </a:pPr>
            <a:r>
              <a:rPr sz="863" b="0">
                <a:solidFill>
                  <a:srgbClr val="222222"/>
                </a:solidFill>
              </a:rPr>
              <a:t>模型分层准入标准；A3 Pod 扩容依据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C2AD72-4C69-4A2A-B7E2-8447CBE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关键产出：每个场景都能把业务体验指标映射到具体模块瓶颈，形成可执行优化项，而不是只给总体 TTFT/TPOT 曲线。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820DD1-2E94-4591-954B-D4F3A644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7429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AAA63-6DB0-48A1-8B6A-AE12AB56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8BEC6-B5D7-4420-980C-D56B2221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网络诉求专项：KVCache 传输对 Pod 内/Pod 间网络的实验规划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ED2B8-1EAE-4135-A1F8-5994874A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目标是把 AI 集群网络能力从“带宽规格”拆成可验证的时延、并发、拥塞和拓扑指标。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FE95E-3061-466C-A82C-C2B265FC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48F5-D301-4CFC-8190-AE9C1F7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54660-1652-4140-818D-92F77A32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95262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A0A0A"/>
                </a:solidFill>
              </a:defRPr>
            </a:pPr>
            <a:r>
              <a:rPr sz="885" b="1">
                <a:solidFill>
                  <a:srgbClr val="0A0A0A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746D9-42F1-4490-BEB6-F15CF9F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04CB3-8BFB-46BE-8C32-5B040CE7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95262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A0A0A"/>
                </a:solidFill>
              </a:defRPr>
            </a:pPr>
            <a:r>
              <a:rPr sz="885" b="1">
                <a:solidFill>
                  <a:srgbClr val="0A0A0A"/>
                </a:solidFill>
              </a:rPr>
              <a:t>实验设计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1C504-819C-43CE-A5A5-624EDA19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8595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DC4B-FD3D-4CB0-8E5E-3C2E491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5262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A0A0A"/>
                </a:solidFill>
              </a:defRPr>
            </a:pPr>
            <a:r>
              <a:rPr sz="885" b="1">
                <a:solidFill>
                  <a:srgbClr val="0A0A0A"/>
                </a:solidFill>
              </a:rPr>
              <a:t>性能指标设计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0E3FF-9B7F-4D1E-963B-9A804B32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859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B0C35-5C21-405E-BB7F-A180F2F8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A0A0A"/>
                </a:solidFill>
              </a:defRPr>
            </a:pPr>
            <a:r>
              <a:rPr sz="885" b="1">
                <a:solidFill>
                  <a:srgbClr val="0A0A0A"/>
                </a:solidFill>
              </a:rPr>
              <a:t>优化技术手段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4FAB1-7FA9-49BC-A7FC-D15C169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7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C4704-923F-4974-A19B-F6B120BC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1937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Pod 内网络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FFDE8-9BDE-4A4E-BF47-73C2A2A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2CB0A-E447-4852-B30A-EDD6319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61937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同 Pod 内 Prefill/Decode 角色切分；TP=8、TP=4x2；HBM&lt;-&gt;HBM/DDR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E49A6-5433-433F-A3EC-BE74CD6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5270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42EEE-93F7-400D-A817-A7EFF55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1937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单 rank/全 rank 有效带宽、P50/P99 latency、copy/compute overlap、NPU link 利用率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40A7C-2B18-4A04-AA15-41E3D5A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95384-408D-4CE9-BFDE-463E261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1937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拓扑亲和 rank placement；减少跨 NUMA/跨交换层；KV page 连续化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0C99D-7B53-40FB-8FF6-E7DD491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7ACF6-7011-4A82-8683-9E86819E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8612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Pod 间 PD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21FE6-E282-4B7B-A726-A265EFE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1945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C26B0-9376-4FA8-ABEE-6DACB469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8612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Pod A prefill -&gt; Pod B decode；32K/128K；TP 一致与异构；staging on/off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A76BB-E234-4615-A817-F6BDE8E5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1945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FD690-ADFE-4DD3-9F1A-266C3D00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8612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PD transfer bytes、batch latency、小段数量、decode wait、网络拥塞下 TTFT P99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DAFA1-8383-442C-8755-959D35F0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194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6F786-1AA6-46E7-898A-B3D6D28D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8612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batch 合并；staging bulk transfer；Prefill/Decode 拓扑就近调度；流量限速与优先级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5EEC0-85F8-493F-985A-868E4DA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A1DA0-0F0C-49CB-BC21-150EF06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5287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远端 cache restore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D1872-7994-4837-ABDB-27EF8B6E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862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1A4A1-587E-414C-8E8D-9D5C028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95287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Pod B 从 Pod A remote cache 拉取命中 prefix；HBM/DDR/SSD/remote 分层命中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04F6E-89B8-4C7F-AAE0-5D3AA22B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8620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FA74A-DA0B-49AB-A9EC-1BC45C63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5287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remote get latency、metadata RTT、effective prefix hit、restore deadline miss ratio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72230-9ACC-4F24-BA06-9643EC36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C0A13-CC3C-43B4-B933-FEF826B3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5287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metadata 本地化/缓存；批量 get；预取；热 prefix 放 HBM/DDR，冷 prefix 放 SSD/远端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8F9DB-311E-4D76-AF85-C71FC20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D50696-C983-46C3-8C12-44A56E3E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1962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并发与拥塞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EEC670-158C-49E0-92D5-5D3986F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5295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2DCEC0-F539-4DD5-9787-549CFAA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1962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并发 1/8/32/128；混合 4K/32K/128K/1M；PD+remote restore 同时发生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506193-B60E-4E9E-8E32-4018460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55295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E773AA-66B1-4F05-A4C3-25A830C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962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aggregate bw、tail latency、重传/拥塞、queue wait、TTFT/TPOT P99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0B5170-4132-4B6B-98C6-2619D2A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529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2092C0-5718-4DC2-BD1B-9734754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1962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业务流量分级；PD 与 restore 分通道/分队列；ECN/PFC 参数；cache 节点分片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2F7727-46B5-4FDC-9420-7D608B8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5267D-C178-4AE5-B514-3AC90E7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86375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故障与抖动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A85C8C-C762-4340-95E4-112C33F5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197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CE1CC1-305E-4C23-89D8-9AFF6948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286375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模拟 cache 节点慢、网络拥塞、metadata 抖动、SSD P99 上升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BAFB32-C8B0-41E8-ADE7-6E88F0C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19700"/>
            <a:ext cx="2524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5D7C8F-4730-4746-AB3F-A348C02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86375"/>
            <a:ext cx="2352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SLA breach count、fallback prefill rate、retry cost、恢复时间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0CB714-8B4A-41B7-A77C-293E497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C5640E-5561-48D4-9A30-F3D31CF2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86375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22222"/>
                </a:solidFill>
              </a:defRPr>
            </a:pPr>
            <a:r>
              <a:rPr sz="885" b="0">
                <a:solidFill>
                  <a:srgbClr val="222222"/>
                </a:solidFill>
              </a:rPr>
              <a:t>超时降级；本地 prefill fallback；多副本 cache；基于 deadline 的 restore 取消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715EC4-E52A-464B-92BA-44345BD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判断标准：网络能力不只看峰值带宽，而要看在 PD + remote restore + SSD 回读同时发生时，是否还能满足 TTFT deadline。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6780E7-DDF1-4133-8607-6B61D132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58045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196E4-8302-4B16-B83D-18A8616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AF462-84C8-4DB8-B17A-5F57D189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最终建议：采购/申请 2 个 8卡 A3 Pod 作为一期完整平台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24394-168D-4466-8B72-0281F56C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700B4-242C-455F-B989-5F116338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7D2A6-1215-4F28-9B3E-BE2654C0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669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决策点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5615D-227B-4C24-8D17-0182225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B2833-55E0-47C2-9380-6AC803C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669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2 个 8卡 A3 Pod 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55BE3-738F-41BD-B007-AA02FCD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4599C-72A0-446C-8130-C2A64D39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669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为什么满足目标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F789E-2F8D-4223-BE18-6066E7B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84A6F-CED4-44DD-91C1-8530809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全业务流程覆盖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34E60-C4FA-4E1C-9A06-6AD0E10D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F27B-5FC2-45C8-AE41-4F0E5B7D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单节点、PD、DDR、SSD、远端 cache、prefix restore、TP 异构全部可测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5FF53-2C97-4190-99EA-3BC85B2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881A-7B1A-451B-A574-CAA09DEA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908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没有 KVCache 相关场景遗漏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0F8EC-CF0C-43DA-85CF-5717591A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09AC5-9C60-456B-8070-045A061A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真实时延环境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C08A3-EC24-4E0E-B6E4-461F239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8338A-0BDC-4385-AE4B-56B88092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147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Pod 间形成真实网络 RTT、带宽、拥塞和远端 cache P99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5956D-B555-4471-83A9-64FCDC09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480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55D74-F701-4C52-9C0C-5782759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147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可把优化结果外推到真实业务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7F1BE-E2E6-4437-8899-BD270446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12298-E35A-43DB-B82E-9AF54D5F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386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主流模型覆盖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F451D-38BD-4647-BEAD-CF8F78A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32449-CC57-43D2-A5A5-7AACB1E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8B/32B/70B/405B、DeepSeek MLA、Qwen/MiniMax/GLM/DeepSeek-V4 分层验证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E6700-B114-4288-BEC1-3D60912A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C1EEA-61D9-4FD5-9E93-94A8975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模型大小变化不改变平台覆盖能力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A6201-CFC2-49D7-9431-978953F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D42BE-ACD3-4E8D-914E-6B1605A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投入产出比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50283-213D-4F86-A6F4-D4A9E96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3AFD0-05B2-4AA0-A729-269EE5C6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625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比 1 Pod 多出真实跨节点链路，比 3 Pod 成本更低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54391-A7BC-4D36-A7DE-1991911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958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805D0-16B4-479B-A19D-3DAF38FF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625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一期最佳硬件配置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D55FF-11F5-45C8-8CB9-8D33834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一句话：2 个 8卡 A3 Pod 是“能把 KVCache 全流程讲清、测准、优化”的最小完整实验平台。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C354A-9E81-487C-86E5-39FC058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0836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2026-06-25T07:17:28.9440000Z</dcterms:created>
  <dcterms:modified xsi:type="dcterms:W3CDTF">2026-06-25T07:17:28.9450000Z</dcterms:modified>
</coreProperties>
</file>