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7" r:id="rId7"/>
    <p:sldId id="257" r:id="rId8"/>
    <p:sldId id="268" r:id="rId9"/>
    <p:sldId id="269" r:id="rId10"/>
    <p:sldId id="263" r:id="rId11"/>
    <p:sldId id="264" r:id="rId12"/>
    <p:sldId id="265" r:id="rId13"/>
    <p:sldId id="266" r:id="rId14"/>
    <p:sldId id="271" r:id="rId15"/>
    <p:sldId id="273" r:id="rId16"/>
    <p:sldId id="274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B52FA3D-D151-4F68-BCF8-1A07F39E1327}">
          <p14:sldIdLst>
            <p14:sldId id="256"/>
          </p14:sldIdLst>
        </p14:section>
        <p14:section name="无标题节" id="{24715974-D11E-433F-92DD-A82EDDECF8EE}">
          <p14:sldIdLst>
            <p14:sldId id="259"/>
            <p14:sldId id="261"/>
            <p14:sldId id="260"/>
            <p14:sldId id="262"/>
            <p14:sldId id="267"/>
            <p14:sldId id="257"/>
          </p14:sldIdLst>
        </p14:section>
        <p14:section name="无标题节" id="{EA2A03E5-ADEB-4FD8-B078-04DD82C931CC}">
          <p14:sldIdLst>
            <p14:sldId id="268"/>
            <p14:sldId id="269"/>
            <p14:sldId id="263"/>
            <p14:sldId id="264"/>
            <p14:sldId id="265"/>
            <p14:sldId id="266"/>
            <p14:sldId id="271"/>
            <p14:sldId id="273"/>
            <p14:sldId id="274"/>
          </p14:sldIdLst>
        </p14:section>
        <p14:section name="无标题节" id="{337223D9-5D91-4B89-A3E5-0F8CA8CB996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65" autoAdjust="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81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85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34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5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19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31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05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88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5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2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17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7E29E-2E47-4D39-92B9-30D04CD9013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557D1-CB8E-409C-A12C-06F52BE84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97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39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94967" y="2457409"/>
            <a:ext cx="6289407" cy="11602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 err="1" smtClean="0">
                <a:latin typeface="+mn-ea"/>
                <a:ea typeface="+mn-ea"/>
              </a:rPr>
              <a:t>KVCache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3066" y="1222479"/>
            <a:ext cx="10160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KV Cache</a:t>
            </a:r>
            <a:r>
              <a:rPr lang="zh-CN" altLang="zh-CN" sz="1400" dirty="0">
                <a:latin typeface="+mn-ea"/>
              </a:rPr>
              <a:t>本质上是注意力机制中每一层</a:t>
            </a:r>
            <a:r>
              <a:rPr lang="en-US" altLang="zh-CN" sz="1400" dirty="0">
                <a:latin typeface="+mn-ea"/>
              </a:rPr>
              <a:t>Transformer Block</a:t>
            </a:r>
            <a:r>
              <a:rPr lang="zh-CN" altLang="zh-CN" sz="1400" dirty="0">
                <a:latin typeface="+mn-ea"/>
              </a:rPr>
              <a:t>的</a:t>
            </a:r>
            <a:r>
              <a:rPr lang="en-US" altLang="zh-CN" sz="1400" dirty="0">
                <a:latin typeface="+mn-ea"/>
              </a:rPr>
              <a:t>Key</a:t>
            </a:r>
            <a:r>
              <a:rPr lang="zh-CN" altLang="zh-CN" sz="1400" dirty="0">
                <a:latin typeface="+mn-ea"/>
              </a:rPr>
              <a:t>矩阵和</a:t>
            </a:r>
            <a:r>
              <a:rPr lang="en-US" altLang="zh-CN" sz="1400" dirty="0">
                <a:latin typeface="+mn-ea"/>
              </a:rPr>
              <a:t>Value</a:t>
            </a:r>
            <a:r>
              <a:rPr lang="zh-CN" altLang="zh-CN" sz="1400" dirty="0">
                <a:latin typeface="+mn-ea"/>
              </a:rPr>
              <a:t>矩阵的缓存。对于一个包含</a:t>
            </a:r>
            <a:r>
              <a:rPr lang="en-US" altLang="zh-CN" sz="1400" dirty="0">
                <a:latin typeface="+mn-ea"/>
              </a:rPr>
              <a:t>T</a:t>
            </a:r>
            <a:r>
              <a:rPr lang="zh-CN" altLang="zh-CN" sz="1400" dirty="0">
                <a:latin typeface="+mn-ea"/>
              </a:rPr>
              <a:t>个</a:t>
            </a:r>
            <a:r>
              <a:rPr lang="en-US" altLang="zh-CN" sz="1400" dirty="0">
                <a:latin typeface="+mn-ea"/>
              </a:rPr>
              <a:t>Token</a:t>
            </a:r>
            <a:r>
              <a:rPr lang="zh-CN" altLang="zh-CN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L</a:t>
            </a:r>
            <a:r>
              <a:rPr lang="zh-CN" altLang="zh-CN" sz="1400" dirty="0">
                <a:latin typeface="+mn-ea"/>
              </a:rPr>
              <a:t>层</a:t>
            </a:r>
            <a:r>
              <a:rPr lang="en-US" altLang="zh-CN" sz="1400" dirty="0">
                <a:latin typeface="+mn-ea"/>
              </a:rPr>
              <a:t>Transformer</a:t>
            </a:r>
            <a:r>
              <a:rPr lang="zh-CN" altLang="zh-CN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H</a:t>
            </a:r>
            <a:r>
              <a:rPr lang="zh-CN" altLang="zh-CN" sz="1400" dirty="0">
                <a:latin typeface="+mn-ea"/>
              </a:rPr>
              <a:t>个</a:t>
            </a:r>
            <a:r>
              <a:rPr lang="en-US" altLang="zh-CN" sz="1400" dirty="0">
                <a:latin typeface="+mn-ea"/>
              </a:rPr>
              <a:t>KV</a:t>
            </a:r>
            <a:r>
              <a:rPr lang="zh-CN" altLang="zh-CN" sz="1400" dirty="0">
                <a:latin typeface="+mn-ea"/>
              </a:rPr>
              <a:t>注意力头、</a:t>
            </a:r>
            <a:r>
              <a:rPr lang="en-US" altLang="zh-CN" sz="1400" dirty="0">
                <a:latin typeface="+mn-ea"/>
              </a:rPr>
              <a:t>D</a:t>
            </a:r>
            <a:r>
              <a:rPr lang="zh-CN" altLang="zh-CN" sz="1400" dirty="0">
                <a:latin typeface="+mn-ea"/>
              </a:rPr>
              <a:t>为</a:t>
            </a:r>
            <a:r>
              <a:rPr lang="en-US" altLang="zh-CN" sz="1400" dirty="0">
                <a:latin typeface="+mn-ea"/>
              </a:rPr>
              <a:t>Head Dimension</a:t>
            </a:r>
            <a:r>
              <a:rPr lang="zh-CN" altLang="zh-CN" sz="1400" dirty="0">
                <a:latin typeface="+mn-ea"/>
              </a:rPr>
              <a:t>的模型：</a:t>
            </a:r>
            <a:endParaRPr lang="zh-CN" altLang="en-US" sz="1400" dirty="0">
              <a:latin typeface="+mn-ea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03190"/>
              </p:ext>
            </p:extLst>
          </p:nvPr>
        </p:nvGraphicFramePr>
        <p:xfrm>
          <a:off x="507124" y="2566399"/>
          <a:ext cx="5865092" cy="94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5092">
                  <a:extLst>
                    <a:ext uri="{9D8B030D-6E8A-4147-A177-3AD203B41FA5}">
                      <a16:colId xmlns:a16="http://schemas.microsoft.com/office/drawing/2014/main" val="2331620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单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Token</a:t>
                      </a: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单层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KVCache</a:t>
                      </a: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大小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 = H × D × 2 (K+V) ×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sizeof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dtype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单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Token</a:t>
                      </a: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全模型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KVCache</a:t>
                      </a: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大小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 = L × H × D × 2 ×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sizeof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dtype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单请求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KVCache</a:t>
                      </a:r>
                      <a:r>
                        <a:rPr lang="zh-CN" sz="1400" b="1" dirty="0">
                          <a:solidFill>
                            <a:schemeClr val="tx1"/>
                          </a:solidFill>
                          <a:effectLst/>
                        </a:rPr>
                        <a:t>总量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 =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T_context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 × L × H × D × 2 ×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sizeof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dtype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152400" marR="101600" marT="76200" marB="762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074093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6834630" y="2719020"/>
            <a:ext cx="5003761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+mn-ea"/>
              </a:rPr>
              <a:t>以</a:t>
            </a:r>
            <a:r>
              <a:rPr lang="en-US" altLang="zh-CN" sz="1200" dirty="0">
                <a:latin typeface="+mn-ea"/>
              </a:rPr>
              <a:t>Llama-3-70B</a:t>
            </a:r>
            <a:r>
              <a:rPr lang="zh-CN" altLang="zh-CN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32K</a:t>
            </a:r>
            <a:r>
              <a:rPr lang="zh-CN" altLang="zh-CN" sz="1200" dirty="0">
                <a:latin typeface="+mn-ea"/>
              </a:rPr>
              <a:t>上下文、</a:t>
            </a:r>
            <a:r>
              <a:rPr lang="en-US" altLang="zh-CN" sz="1200" dirty="0">
                <a:latin typeface="+mn-ea"/>
              </a:rPr>
              <a:t>FP16</a:t>
            </a:r>
            <a:r>
              <a:rPr lang="zh-CN" altLang="zh-CN" sz="1200" dirty="0">
                <a:latin typeface="+mn-ea"/>
              </a:rPr>
              <a:t>精度为例，单请求</a:t>
            </a:r>
            <a:r>
              <a:rPr lang="en-US" altLang="zh-CN" sz="1200" dirty="0">
                <a:latin typeface="+mn-ea"/>
              </a:rPr>
              <a:t>KV Cache</a:t>
            </a:r>
            <a:r>
              <a:rPr lang="zh-CN" altLang="zh-CN" sz="1200" dirty="0">
                <a:latin typeface="+mn-ea"/>
              </a:rPr>
              <a:t>约占</a:t>
            </a:r>
            <a:r>
              <a:rPr lang="en-US" altLang="zh-CN" sz="1200" dirty="0">
                <a:latin typeface="+mn-ea"/>
              </a:rPr>
              <a:t> 32K × 8</a:t>
            </a:r>
            <a:r>
              <a:rPr lang="zh-CN" altLang="zh-CN" sz="1200" dirty="0">
                <a:latin typeface="+mn-ea"/>
              </a:rPr>
              <a:t>头</a:t>
            </a:r>
            <a:r>
              <a:rPr lang="en-US" altLang="zh-CN" sz="1200" dirty="0">
                <a:latin typeface="+mn-ea"/>
              </a:rPr>
              <a:t> × 128</a:t>
            </a:r>
            <a:r>
              <a:rPr lang="zh-CN" altLang="zh-CN" sz="1200" dirty="0">
                <a:latin typeface="+mn-ea"/>
              </a:rPr>
              <a:t>维</a:t>
            </a:r>
            <a:r>
              <a:rPr lang="en-US" altLang="zh-CN" sz="1200" dirty="0">
                <a:latin typeface="+mn-ea"/>
              </a:rPr>
              <a:t> × 2(K+V) × 80</a:t>
            </a:r>
            <a:r>
              <a:rPr lang="zh-CN" altLang="zh-CN" sz="1200" dirty="0">
                <a:latin typeface="+mn-ea"/>
              </a:rPr>
              <a:t>层</a:t>
            </a:r>
            <a:r>
              <a:rPr lang="en-US" altLang="zh-CN" sz="1200" dirty="0">
                <a:latin typeface="+mn-ea"/>
              </a:rPr>
              <a:t> × 2</a:t>
            </a:r>
            <a:r>
              <a:rPr lang="zh-CN" altLang="zh-CN" sz="1200" dirty="0">
                <a:latin typeface="+mn-ea"/>
              </a:rPr>
              <a:t>字节</a:t>
            </a:r>
            <a:r>
              <a:rPr lang="en-US" altLang="zh-CN" sz="1200" dirty="0">
                <a:latin typeface="+mn-ea"/>
              </a:rPr>
              <a:t> ≈ 10.5 GB HBM</a:t>
            </a:r>
            <a:r>
              <a:rPr lang="zh-CN" altLang="zh-CN" sz="1200" dirty="0">
                <a:latin typeface="+mn-ea"/>
              </a:rPr>
              <a:t>；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+mn-ea"/>
              </a:rPr>
              <a:t>在线服务并发规模：生产环境通常需要同时维护数百至数千个并发请求的</a:t>
            </a:r>
            <a:r>
              <a:rPr lang="en-US" altLang="zh-CN" sz="1200" dirty="0">
                <a:latin typeface="+mn-ea"/>
              </a:rPr>
              <a:t>KV Cache</a:t>
            </a:r>
            <a:r>
              <a:rPr lang="zh-CN" altLang="zh-CN" sz="1200" dirty="0">
                <a:latin typeface="+mn-ea"/>
              </a:rPr>
              <a:t>，总需求轻易超过</a:t>
            </a:r>
            <a:r>
              <a:rPr lang="zh-CN" altLang="zh-CN" sz="1200" dirty="0" smtClean="0">
                <a:latin typeface="+mn-ea"/>
              </a:rPr>
              <a:t>单机</a:t>
            </a:r>
            <a:r>
              <a:rPr lang="en-US" altLang="zh-CN" sz="1200" dirty="0" smtClean="0">
                <a:latin typeface="+mn-ea"/>
              </a:rPr>
              <a:t>NPU </a:t>
            </a:r>
            <a:r>
              <a:rPr lang="en-US" altLang="zh-CN" sz="1200" dirty="0">
                <a:latin typeface="+mn-ea"/>
              </a:rPr>
              <a:t>HBM</a:t>
            </a:r>
            <a:r>
              <a:rPr lang="zh-CN" altLang="zh-CN" sz="1200" dirty="0">
                <a:latin typeface="+mn-ea"/>
              </a:rPr>
              <a:t>容量</a:t>
            </a:r>
            <a:r>
              <a:rPr lang="zh-CN" altLang="zh-CN" sz="1200" dirty="0" smtClean="0">
                <a:latin typeface="+mn-ea"/>
              </a:rPr>
              <a:t>；</a:t>
            </a:r>
            <a:endParaRPr lang="en-US" altLang="zh-CN" sz="1200" dirty="0" smtClean="0"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随着模型规模扩大（参数量从</a:t>
            </a:r>
            <a:r>
              <a:rPr lang="en-US" altLang="zh-CN" sz="1200" dirty="0">
                <a:latin typeface="+mn-ea"/>
              </a:rPr>
              <a:t>7B</a:t>
            </a:r>
            <a:r>
              <a:rPr lang="zh-CN" altLang="en-US" sz="1200" dirty="0">
                <a:latin typeface="+mn-ea"/>
              </a:rPr>
              <a:t>到</a:t>
            </a:r>
            <a:r>
              <a:rPr lang="en-US" altLang="zh-CN" sz="1200" dirty="0">
                <a:latin typeface="+mn-ea"/>
              </a:rPr>
              <a:t>405B+</a:t>
            </a:r>
            <a:r>
              <a:rPr lang="zh-CN" altLang="en-US" sz="1200" dirty="0">
                <a:latin typeface="+mn-ea"/>
              </a:rPr>
              <a:t>）和上下文窗口增长（从</a:t>
            </a:r>
            <a:r>
              <a:rPr lang="en-US" altLang="zh-CN" sz="1200" dirty="0">
                <a:latin typeface="+mn-ea"/>
              </a:rPr>
              <a:t>4K</a:t>
            </a:r>
            <a:r>
              <a:rPr lang="zh-CN" altLang="en-US" sz="1200" dirty="0">
                <a:latin typeface="+mn-ea"/>
              </a:rPr>
              <a:t>到</a:t>
            </a:r>
            <a:r>
              <a:rPr lang="en-US" altLang="zh-CN" sz="1200" dirty="0">
                <a:latin typeface="+mn-ea"/>
              </a:rPr>
              <a:t>1M tokens</a:t>
            </a:r>
            <a:r>
              <a:rPr lang="zh-CN" altLang="en-US" sz="1200" dirty="0">
                <a:latin typeface="+mn-ea"/>
              </a:rPr>
              <a:t>），</a:t>
            </a:r>
            <a:r>
              <a:rPr lang="en-US" altLang="zh-CN" sz="1200" dirty="0">
                <a:latin typeface="+mn-ea"/>
              </a:rPr>
              <a:t>KV Cache</a:t>
            </a:r>
            <a:r>
              <a:rPr lang="zh-CN" altLang="en-US" sz="1200" dirty="0">
                <a:latin typeface="+mn-ea"/>
              </a:rPr>
              <a:t>的内存需求急剧攀升</a:t>
            </a:r>
            <a:endParaRPr lang="zh-CN" altLang="zh-CN" sz="1200" dirty="0">
              <a:latin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33973"/>
              </p:ext>
            </p:extLst>
          </p:nvPr>
        </p:nvGraphicFramePr>
        <p:xfrm>
          <a:off x="333066" y="4590983"/>
          <a:ext cx="7793182" cy="1690038"/>
        </p:xfrm>
        <a:graphic>
          <a:graphicData uri="http://schemas.openxmlformats.org/drawingml/2006/table">
            <a:tbl>
              <a:tblPr/>
              <a:tblGrid>
                <a:gridCol w="487074">
                  <a:extLst>
                    <a:ext uri="{9D8B030D-6E8A-4147-A177-3AD203B41FA5}">
                      <a16:colId xmlns:a16="http://schemas.microsoft.com/office/drawing/2014/main" val="3748607752"/>
                    </a:ext>
                  </a:extLst>
                </a:gridCol>
                <a:gridCol w="7306108">
                  <a:extLst>
                    <a:ext uri="{9D8B030D-6E8A-4147-A177-3AD203B41FA5}">
                      <a16:colId xmlns:a16="http://schemas.microsoft.com/office/drawing/2014/main" val="2306492921"/>
                    </a:ext>
                  </a:extLst>
                </a:gridCol>
              </a:tblGrid>
              <a:tr h="368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核心问题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57081"/>
                  </a:ext>
                </a:extLst>
              </a:tr>
              <a:tr h="3304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Q1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vLLM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SGLang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如何管理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生命周期（触发时机、传输规格）？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4252"/>
                  </a:ext>
                </a:extLst>
              </a:tr>
              <a:tr h="3304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Q2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层软件栈各层如何协同完成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跨介质传输？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32681"/>
                  </a:ext>
                </a:extLst>
              </a:tr>
              <a:tr h="3304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Q3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异构多级存储协同服务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的业务痛点与优化空间？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519439"/>
                  </a:ext>
                </a:extLst>
              </a:tr>
              <a:tr h="3304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Q4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面向未来集群，统一异构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存储池的技术架构与需求规范？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0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9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Autofit/>
          </a:bodyPr>
          <a:lstStyle/>
          <a:p>
            <a:r>
              <a:rPr lang="en-US" altLang="zh-CN" sz="2900" dirty="0" smtClean="0"/>
              <a:t>VLLM/</a:t>
            </a:r>
            <a:r>
              <a:rPr lang="en-US" altLang="zh-CN" sz="2900" dirty="0" err="1" smtClean="0"/>
              <a:t>sglang</a:t>
            </a:r>
            <a:r>
              <a:rPr lang="zh-CN" altLang="en-US" sz="2900" dirty="0" smtClean="0"/>
              <a:t>中</a:t>
            </a:r>
            <a:r>
              <a:rPr lang="en-US" altLang="zh-CN" sz="2900" dirty="0" err="1" smtClean="0"/>
              <a:t>KVCache</a:t>
            </a:r>
            <a:r>
              <a:rPr lang="zh-CN" altLang="zh-CN" sz="2900" dirty="0"/>
              <a:t>传输规格分析</a:t>
            </a:r>
            <a:endParaRPr lang="zh-CN" altLang="en-US" sz="2900" dirty="0"/>
          </a:p>
        </p:txBody>
      </p:sp>
      <p:sp>
        <p:nvSpPr>
          <p:cNvPr id="3" name="矩形 2"/>
          <p:cNvSpPr/>
          <p:nvPr/>
        </p:nvSpPr>
        <p:spPr>
          <a:xfrm>
            <a:off x="357645" y="1058330"/>
            <a:ext cx="5471654" cy="2072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en-US" altLang="zh-CN" sz="1400" dirty="0" err="1">
                <a:latin typeface="+mn-ea"/>
              </a:rPr>
              <a:t>vLLM</a:t>
            </a:r>
            <a:r>
              <a:rPr lang="zh-CN" altLang="zh-CN" sz="1400" dirty="0">
                <a:latin typeface="+mn-ea"/>
              </a:rPr>
              <a:t>以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为基本传输单位（而非整个序列），核心实现路径：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传输单位</a:t>
            </a:r>
            <a:r>
              <a:rPr lang="zh-CN" altLang="zh-CN" sz="1400" dirty="0">
                <a:latin typeface="+mn-ea"/>
              </a:rPr>
              <a:t>：单个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en-US" altLang="zh-CN" sz="1400" dirty="0">
                <a:latin typeface="+mn-ea"/>
              </a:rPr>
              <a:t> Block</a:t>
            </a:r>
            <a:r>
              <a:rPr lang="zh-CN" altLang="zh-CN" sz="1400" dirty="0">
                <a:latin typeface="+mn-ea"/>
              </a:rPr>
              <a:t>（对应</a:t>
            </a:r>
            <a:r>
              <a:rPr lang="en-US" altLang="zh-CN" sz="1400" dirty="0" err="1" smtClean="0">
                <a:latin typeface="+mn-ea"/>
              </a:rPr>
              <a:t>block_size</a:t>
            </a:r>
            <a:r>
              <a:rPr lang="en-US" altLang="zh-CN" sz="1400" dirty="0" smtClean="0">
                <a:latin typeface="+mn-ea"/>
              </a:rPr>
              <a:t>=16 </a:t>
            </a:r>
            <a:r>
              <a:rPr lang="en-US" altLang="zh-CN" sz="1400" dirty="0">
                <a:latin typeface="+mn-ea"/>
              </a:rPr>
              <a:t>tokens</a:t>
            </a:r>
            <a:r>
              <a:rPr lang="zh-CN" altLang="zh-CN" sz="1400" dirty="0">
                <a:latin typeface="+mn-ea"/>
              </a:rPr>
              <a:t>的全层</a:t>
            </a:r>
            <a:r>
              <a:rPr lang="en-US" altLang="zh-CN" sz="1400" dirty="0">
                <a:latin typeface="+mn-ea"/>
              </a:rPr>
              <a:t>KV</a:t>
            </a:r>
            <a:r>
              <a:rPr lang="zh-CN" altLang="zh-CN" sz="1400" dirty="0">
                <a:latin typeface="+mn-ea"/>
              </a:rPr>
              <a:t>数据）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传输粒度</a:t>
            </a:r>
            <a:r>
              <a:rPr lang="zh-CN" altLang="zh-CN" sz="1400" dirty="0">
                <a:latin typeface="+mn-ea"/>
              </a:rPr>
              <a:t>：每次</a:t>
            </a:r>
            <a:r>
              <a:rPr lang="en-US" altLang="zh-CN" sz="1400" dirty="0">
                <a:latin typeface="+mn-ea"/>
              </a:rPr>
              <a:t>swap out/in</a:t>
            </a:r>
            <a:r>
              <a:rPr lang="zh-CN" altLang="zh-CN" sz="1400" dirty="0">
                <a:latin typeface="+mn-ea"/>
              </a:rPr>
              <a:t>传输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zh-CN" sz="1400" dirty="0">
                <a:latin typeface="+mn-ea"/>
              </a:rPr>
              <a:t>个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，但通常一次调度触发多个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（一个请求的全部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）的批量</a:t>
            </a:r>
            <a:r>
              <a:rPr lang="zh-CN" altLang="zh-CN" sz="1400" dirty="0" smtClean="0">
                <a:latin typeface="+mn-ea"/>
              </a:rPr>
              <a:t>传输</a:t>
            </a:r>
            <a:endParaRPr lang="en-US" altLang="zh-CN" sz="1400" dirty="0" smtClean="0"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 smtClean="0">
                <a:latin typeface="+mn-ea"/>
              </a:rPr>
              <a:t>物理</a:t>
            </a:r>
            <a:r>
              <a:rPr lang="zh-CN" altLang="zh-CN" sz="1200" b="1" dirty="0">
                <a:latin typeface="+mn-ea"/>
              </a:rPr>
              <a:t>不连续性</a:t>
            </a:r>
            <a:r>
              <a:rPr lang="zh-CN" altLang="zh-CN" sz="1400" dirty="0">
                <a:latin typeface="+mn-ea"/>
              </a:rPr>
              <a:t>：由于</a:t>
            </a:r>
            <a:r>
              <a:rPr lang="en-US" altLang="zh-CN" sz="1400" dirty="0" err="1">
                <a:latin typeface="+mn-ea"/>
              </a:rPr>
              <a:t>PagedAttention</a:t>
            </a:r>
            <a:r>
              <a:rPr lang="zh-CN" altLang="zh-CN" sz="1400" dirty="0">
                <a:latin typeface="+mn-ea"/>
              </a:rPr>
              <a:t>的分页特性，同一请求的多个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 smtClean="0">
                <a:latin typeface="+mn-ea"/>
              </a:rPr>
              <a:t>在</a:t>
            </a:r>
            <a:r>
              <a:rPr lang="en-US" altLang="zh-CN" sz="1400" dirty="0" smtClean="0">
                <a:latin typeface="+mn-ea"/>
              </a:rPr>
              <a:t>NPU</a:t>
            </a:r>
            <a:r>
              <a:rPr lang="zh-CN" altLang="zh-CN" sz="1400" dirty="0" smtClean="0">
                <a:latin typeface="+mn-ea"/>
              </a:rPr>
              <a:t>显</a:t>
            </a:r>
            <a:r>
              <a:rPr lang="zh-CN" altLang="zh-CN" sz="1400" dirty="0">
                <a:latin typeface="+mn-ea"/>
              </a:rPr>
              <a:t>存中物理地址不连续，当前实现采用</a:t>
            </a:r>
            <a:r>
              <a:rPr lang="en-US" altLang="zh-CN" sz="1400" dirty="0">
                <a:latin typeface="+mn-ea"/>
              </a:rPr>
              <a:t>for</a:t>
            </a:r>
            <a:r>
              <a:rPr lang="zh-CN" altLang="zh-CN" sz="1400" dirty="0">
                <a:latin typeface="+mn-ea"/>
              </a:rPr>
              <a:t>循环逐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调用</a:t>
            </a:r>
            <a:r>
              <a:rPr lang="en-US" altLang="zh-CN" sz="1400" dirty="0" err="1">
                <a:latin typeface="+mn-ea"/>
              </a:rPr>
              <a:t>cudaMemcpy</a:t>
            </a:r>
            <a:r>
              <a:rPr lang="zh-CN" altLang="zh-CN" sz="1400" dirty="0">
                <a:latin typeface="+mn-ea"/>
              </a:rPr>
              <a:t>的方式传输</a:t>
            </a:r>
            <a:endParaRPr lang="zh-CN" altLang="en-US" sz="14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0641" y="6366272"/>
            <a:ext cx="98984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+mn-ea"/>
              </a:rPr>
              <a:t>for</a:t>
            </a:r>
            <a:r>
              <a:rPr lang="zh-CN" altLang="zh-CN" sz="1400" dirty="0">
                <a:latin typeface="+mn-ea"/>
              </a:rPr>
              <a:t>循环多次</a:t>
            </a:r>
            <a:r>
              <a:rPr lang="en-US" altLang="zh-CN" sz="1400" dirty="0" err="1">
                <a:latin typeface="+mn-ea"/>
              </a:rPr>
              <a:t>cudaMemcpy</a:t>
            </a:r>
            <a:r>
              <a:rPr lang="zh-CN" altLang="zh-CN" sz="1400" dirty="0">
                <a:latin typeface="+mn-ea"/>
              </a:rPr>
              <a:t>导致实际</a:t>
            </a:r>
            <a:r>
              <a:rPr lang="en-US" altLang="zh-CN" sz="1400" dirty="0" err="1">
                <a:latin typeface="+mn-ea"/>
              </a:rPr>
              <a:t>PCIe</a:t>
            </a:r>
            <a:r>
              <a:rPr lang="zh-CN" altLang="zh-CN" sz="1400" dirty="0">
                <a:latin typeface="+mn-ea"/>
              </a:rPr>
              <a:t>利用率仅达峰值的</a:t>
            </a:r>
            <a:r>
              <a:rPr lang="en-US" altLang="zh-CN" sz="1400" dirty="0">
                <a:latin typeface="+mn-ea"/>
              </a:rPr>
              <a:t>20-40%</a:t>
            </a:r>
            <a:r>
              <a:rPr lang="zh-CN" altLang="zh-CN" sz="1400" dirty="0">
                <a:latin typeface="+mn-ea"/>
              </a:rPr>
              <a:t>，真实传输时延为上表估算值的</a:t>
            </a:r>
            <a:r>
              <a:rPr lang="en-US" altLang="zh-CN" sz="1400" dirty="0">
                <a:latin typeface="+mn-ea"/>
              </a:rPr>
              <a:t>2.5-5</a:t>
            </a:r>
            <a:r>
              <a:rPr lang="zh-CN" altLang="zh-CN" sz="1400" dirty="0">
                <a:latin typeface="+mn-ea"/>
              </a:rPr>
              <a:t>倍。</a:t>
            </a:r>
            <a:endParaRPr lang="zh-CN" altLang="en-US" sz="1400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90673" y="992224"/>
            <a:ext cx="5668818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250"/>
              </a:spcBef>
              <a:spcAft>
                <a:spcPts val="250"/>
              </a:spcAft>
            </a:pPr>
            <a:r>
              <a:rPr lang="en-US" altLang="zh-CN" sz="1400" dirty="0" err="1" smtClean="0">
                <a:latin typeface="+mn-ea"/>
              </a:rPr>
              <a:t>sglang</a:t>
            </a:r>
            <a:r>
              <a:rPr lang="zh-CN" altLang="zh-CN" sz="1400" dirty="0" smtClean="0">
                <a:latin typeface="+mn-ea"/>
              </a:rPr>
              <a:t>以</a:t>
            </a:r>
            <a:r>
              <a:rPr lang="en-US" altLang="zh-CN" sz="1400" dirty="0" err="1">
                <a:latin typeface="+mn-ea"/>
              </a:rPr>
              <a:t>RadixNode</a:t>
            </a:r>
            <a:r>
              <a:rPr lang="zh-CN" altLang="zh-CN" sz="1400" dirty="0">
                <a:latin typeface="+mn-ea"/>
              </a:rPr>
              <a:t>为逻辑传输单元，</a:t>
            </a:r>
            <a:r>
              <a:rPr lang="zh-CN" altLang="zh-CN" sz="1400" b="1" dirty="0">
                <a:latin typeface="+mn-ea"/>
              </a:rPr>
              <a:t>一个</a:t>
            </a:r>
            <a:r>
              <a:rPr lang="en-US" altLang="zh-CN" sz="1400" b="1" dirty="0" err="1">
                <a:latin typeface="+mn-ea"/>
              </a:rPr>
              <a:t>RadixNode</a:t>
            </a:r>
            <a:r>
              <a:rPr lang="zh-CN" altLang="zh-CN" sz="1400" b="1" dirty="0">
                <a:latin typeface="+mn-ea"/>
              </a:rPr>
              <a:t>可能持有</a:t>
            </a:r>
            <a:r>
              <a:rPr lang="en-US" altLang="zh-CN" sz="1400" b="1" dirty="0">
                <a:latin typeface="+mn-ea"/>
              </a:rPr>
              <a:t>1</a:t>
            </a:r>
            <a:r>
              <a:rPr lang="zh-CN" altLang="zh-CN" sz="1400" b="1" dirty="0">
                <a:latin typeface="+mn-ea"/>
              </a:rPr>
              <a:t>至多个物理</a:t>
            </a:r>
            <a:r>
              <a:rPr lang="en-US" altLang="zh-CN" sz="1400" b="1" dirty="0">
                <a:latin typeface="+mn-ea"/>
              </a:rPr>
              <a:t>Block</a:t>
            </a:r>
            <a:r>
              <a:rPr lang="zh-CN" altLang="zh-CN" sz="1400" b="1" dirty="0">
                <a:latin typeface="+mn-ea"/>
              </a:rPr>
              <a:t>；每个</a:t>
            </a:r>
            <a:r>
              <a:rPr lang="en-US" altLang="zh-CN" sz="1400" b="1" dirty="0">
                <a:latin typeface="+mn-ea"/>
              </a:rPr>
              <a:t>Block</a:t>
            </a:r>
            <a:r>
              <a:rPr lang="zh-CN" altLang="zh-CN" sz="1400" b="1" dirty="0">
                <a:latin typeface="+mn-ea"/>
              </a:rPr>
              <a:t>大小可配置（默认</a:t>
            </a:r>
            <a:r>
              <a:rPr lang="en-US" altLang="zh-CN" sz="1400" b="1" dirty="0">
                <a:latin typeface="+mn-ea"/>
              </a:rPr>
              <a:t>16 tokens</a:t>
            </a:r>
            <a:r>
              <a:rPr lang="zh-CN" altLang="zh-CN" sz="1400" b="1" dirty="0">
                <a:latin typeface="+mn-ea"/>
              </a:rPr>
              <a:t>）</a:t>
            </a:r>
            <a:r>
              <a:rPr lang="zh-CN" altLang="zh-CN" sz="1400" dirty="0">
                <a:latin typeface="+mn-ea"/>
              </a:rPr>
              <a:t>；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+mn-ea"/>
              </a:rPr>
              <a:t>Offload</a:t>
            </a:r>
            <a:r>
              <a:rPr lang="zh-CN" altLang="zh-CN" sz="1400" b="1" dirty="0">
                <a:latin typeface="+mn-ea"/>
              </a:rPr>
              <a:t>实现</a:t>
            </a:r>
            <a:r>
              <a:rPr lang="zh-CN" altLang="zh-CN" sz="1400" dirty="0">
                <a:latin typeface="+mn-ea"/>
              </a:rPr>
              <a:t>：</a:t>
            </a:r>
            <a:r>
              <a:rPr lang="en-US" altLang="zh-CN" sz="1400" dirty="0" err="1">
                <a:latin typeface="+mn-ea"/>
              </a:rPr>
              <a:t>SGLang</a:t>
            </a:r>
            <a:r>
              <a:rPr lang="zh-CN" altLang="zh-CN" sz="1400" dirty="0">
                <a:latin typeface="+mn-ea"/>
              </a:rPr>
              <a:t>使用</a:t>
            </a:r>
            <a:r>
              <a:rPr lang="en-US" altLang="zh-CN" sz="1400" dirty="0" err="1">
                <a:latin typeface="+mn-ea"/>
              </a:rPr>
              <a:t>AsyncTokenToKVPool</a:t>
            </a:r>
            <a:r>
              <a:rPr lang="zh-CN" altLang="zh-CN" sz="1400" dirty="0">
                <a:latin typeface="+mn-ea"/>
              </a:rPr>
              <a:t>管理</a:t>
            </a:r>
            <a:r>
              <a:rPr lang="en-US" altLang="zh-CN" sz="1400" dirty="0">
                <a:latin typeface="+mn-ea"/>
              </a:rPr>
              <a:t>CPU</a:t>
            </a:r>
            <a:r>
              <a:rPr lang="zh-CN" altLang="zh-CN" sz="1400" dirty="0">
                <a:latin typeface="+mn-ea"/>
              </a:rPr>
              <a:t>侧</a:t>
            </a:r>
            <a:r>
              <a:rPr lang="en-US" altLang="zh-CN" sz="1400" dirty="0">
                <a:latin typeface="+mn-ea"/>
              </a:rPr>
              <a:t>Pin Memory</a:t>
            </a:r>
            <a:r>
              <a:rPr lang="zh-CN" altLang="zh-CN" sz="1400" dirty="0">
                <a:latin typeface="+mn-ea"/>
              </a:rPr>
              <a:t>，</a:t>
            </a:r>
            <a:r>
              <a:rPr lang="en-US" altLang="zh-CN" sz="1400" dirty="0">
                <a:latin typeface="+mn-ea"/>
              </a:rPr>
              <a:t>Offload</a:t>
            </a:r>
            <a:r>
              <a:rPr lang="zh-CN" altLang="zh-CN" sz="1400" dirty="0">
                <a:latin typeface="+mn-ea"/>
              </a:rPr>
              <a:t>时异步发起多个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的</a:t>
            </a:r>
            <a:r>
              <a:rPr lang="en-US" altLang="zh-CN" sz="1400" dirty="0">
                <a:latin typeface="+mn-ea"/>
              </a:rPr>
              <a:t>D2H</a:t>
            </a:r>
            <a:r>
              <a:rPr lang="zh-CN" altLang="zh-CN" sz="1400" dirty="0">
                <a:latin typeface="+mn-ea"/>
              </a:rPr>
              <a:t>拷贝；实质仍是针对每个不连续物理</a:t>
            </a:r>
            <a:r>
              <a:rPr lang="en-US" altLang="zh-CN" sz="1400" dirty="0">
                <a:latin typeface="+mn-ea"/>
              </a:rPr>
              <a:t>Block</a:t>
            </a:r>
            <a:r>
              <a:rPr lang="zh-CN" altLang="zh-CN" sz="1400" dirty="0">
                <a:latin typeface="+mn-ea"/>
              </a:rPr>
              <a:t>的独立</a:t>
            </a:r>
            <a:r>
              <a:rPr lang="en-US" altLang="zh-CN" sz="1400" dirty="0" err="1">
                <a:latin typeface="+mn-ea"/>
              </a:rPr>
              <a:t>cudaMemcpyAsync</a:t>
            </a:r>
            <a:r>
              <a:rPr lang="zh-CN" altLang="zh-CN" sz="1400" dirty="0">
                <a:latin typeface="+mn-ea"/>
              </a:rPr>
              <a:t>调用；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传输并发性</a:t>
            </a:r>
            <a:r>
              <a:rPr lang="zh-CN" altLang="zh-CN" sz="1400" dirty="0">
                <a:latin typeface="+mn-ea"/>
              </a:rPr>
              <a:t>：</a:t>
            </a:r>
            <a:r>
              <a:rPr lang="en-US" altLang="zh-CN" sz="1400" dirty="0" err="1">
                <a:latin typeface="+mn-ea"/>
              </a:rPr>
              <a:t>SGLang</a:t>
            </a:r>
            <a:r>
              <a:rPr lang="zh-CN" altLang="zh-CN" sz="1400" dirty="0">
                <a:latin typeface="+mn-ea"/>
              </a:rPr>
              <a:t>在独立</a:t>
            </a:r>
            <a:r>
              <a:rPr lang="en-US" altLang="zh-CN" sz="1400" dirty="0">
                <a:latin typeface="+mn-ea"/>
              </a:rPr>
              <a:t>CUDA Stream</a:t>
            </a:r>
            <a:r>
              <a:rPr lang="zh-CN" altLang="zh-CN" sz="1400" dirty="0">
                <a:latin typeface="+mn-ea"/>
              </a:rPr>
              <a:t>上执行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拷贝，与</a:t>
            </a:r>
            <a:r>
              <a:rPr lang="en-US" altLang="zh-CN" sz="1400" dirty="0">
                <a:latin typeface="+mn-ea"/>
              </a:rPr>
              <a:t>prefill/decode</a:t>
            </a:r>
            <a:r>
              <a:rPr lang="zh-CN" altLang="zh-CN" sz="1400" dirty="0">
                <a:latin typeface="+mn-ea"/>
              </a:rPr>
              <a:t>计算流部分重叠，但受</a:t>
            </a:r>
            <a:r>
              <a:rPr lang="en-US" altLang="zh-CN" sz="1400" dirty="0" err="1">
                <a:latin typeface="+mn-ea"/>
              </a:rPr>
              <a:t>PCIe</a:t>
            </a:r>
            <a:r>
              <a:rPr lang="zh-CN" altLang="zh-CN" sz="1400" dirty="0">
                <a:latin typeface="+mn-ea"/>
              </a:rPr>
              <a:t>带宽瓶颈限制，重叠效益有限</a:t>
            </a:r>
            <a:r>
              <a:rPr lang="zh-CN" altLang="zh-CN" sz="1400" dirty="0" smtClean="0">
                <a:latin typeface="+mn-ea"/>
              </a:rPr>
              <a:t>；</a:t>
            </a:r>
            <a:endParaRPr lang="en-US" altLang="zh-CN" sz="1400" dirty="0" smtClean="0"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 smtClean="0">
                <a:latin typeface="+mn-ea"/>
              </a:rPr>
              <a:t>远</a:t>
            </a:r>
            <a:r>
              <a:rPr lang="zh-CN" altLang="zh-CN" sz="1400" b="1" dirty="0">
                <a:latin typeface="+mn-ea"/>
              </a:rPr>
              <a:t>端</a:t>
            </a:r>
            <a:r>
              <a:rPr lang="en-US" altLang="zh-CN" sz="1400" b="1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：通过</a:t>
            </a:r>
            <a:r>
              <a:rPr lang="en-US" altLang="zh-CN" sz="1400" dirty="0" err="1">
                <a:latin typeface="+mn-ea"/>
              </a:rPr>
              <a:t>sglang.srt.mem_cache.connector</a:t>
            </a:r>
            <a:r>
              <a:rPr lang="zh-CN" altLang="zh-CN" sz="1400" dirty="0">
                <a:latin typeface="+mn-ea"/>
              </a:rPr>
              <a:t>接口对接</a:t>
            </a:r>
            <a:r>
              <a:rPr lang="en-US" altLang="zh-CN" sz="1400" dirty="0">
                <a:latin typeface="+mn-ea"/>
              </a:rPr>
              <a:t>Mooncake</a:t>
            </a:r>
            <a:r>
              <a:rPr lang="zh-CN" altLang="zh-CN" sz="1400" dirty="0">
                <a:latin typeface="+mn-ea"/>
              </a:rPr>
              <a:t>等外部</a:t>
            </a:r>
            <a:r>
              <a:rPr lang="en-US" altLang="zh-CN" sz="1400" dirty="0">
                <a:latin typeface="+mn-ea"/>
              </a:rPr>
              <a:t>KV Store</a:t>
            </a:r>
            <a:r>
              <a:rPr lang="zh-CN" altLang="zh-CN" sz="1400" dirty="0">
                <a:latin typeface="+mn-ea"/>
              </a:rPr>
              <a:t>，触发远端</a:t>
            </a:r>
            <a:r>
              <a:rPr lang="en-US" altLang="zh-CN" sz="1400" dirty="0">
                <a:latin typeface="+mn-ea"/>
              </a:rPr>
              <a:t>GET/PUT</a:t>
            </a:r>
            <a:r>
              <a:rPr lang="zh-CN" altLang="zh-CN" sz="1400" dirty="0">
                <a:latin typeface="+mn-ea"/>
              </a:rPr>
              <a:t>操作。</a:t>
            </a:r>
            <a:endParaRPr lang="zh-CN" altLang="en-US" sz="1400" dirty="0">
              <a:latin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770426"/>
              </p:ext>
            </p:extLst>
          </p:nvPr>
        </p:nvGraphicFramePr>
        <p:xfrm>
          <a:off x="710641" y="4040397"/>
          <a:ext cx="10437650" cy="2148428"/>
        </p:xfrm>
        <a:graphic>
          <a:graphicData uri="http://schemas.openxmlformats.org/drawingml/2006/table">
            <a:tbl>
              <a:tblPr/>
              <a:tblGrid>
                <a:gridCol w="2676321">
                  <a:extLst>
                    <a:ext uri="{9D8B030D-6E8A-4147-A177-3AD203B41FA5}">
                      <a16:colId xmlns:a16="http://schemas.microsoft.com/office/drawing/2014/main" val="2057872395"/>
                    </a:ext>
                  </a:extLst>
                </a:gridCol>
                <a:gridCol w="1561187">
                  <a:extLst>
                    <a:ext uri="{9D8B030D-6E8A-4147-A177-3AD203B41FA5}">
                      <a16:colId xmlns:a16="http://schemas.microsoft.com/office/drawing/2014/main" val="3070992258"/>
                    </a:ext>
                  </a:extLst>
                </a:gridCol>
                <a:gridCol w="2007240">
                  <a:extLst>
                    <a:ext uri="{9D8B030D-6E8A-4147-A177-3AD203B41FA5}">
                      <a16:colId xmlns:a16="http://schemas.microsoft.com/office/drawing/2014/main" val="2055923879"/>
                    </a:ext>
                  </a:extLst>
                </a:gridCol>
                <a:gridCol w="2007240">
                  <a:extLst>
                    <a:ext uri="{9D8B030D-6E8A-4147-A177-3AD203B41FA5}">
                      <a16:colId xmlns:a16="http://schemas.microsoft.com/office/drawing/2014/main" val="985162726"/>
                    </a:ext>
                  </a:extLst>
                </a:gridCol>
                <a:gridCol w="2185662">
                  <a:extLst>
                    <a:ext uri="{9D8B030D-6E8A-4147-A177-3AD203B41FA5}">
                      <a16:colId xmlns:a16="http://schemas.microsoft.com/office/drawing/2014/main" val="174865419"/>
                    </a:ext>
                  </a:extLst>
                </a:gridCol>
              </a:tblGrid>
              <a:tr h="3347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场景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单次传输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数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Llama-3-8B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单次传输量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Llama-3-70B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单次传输量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PCIe Gen4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峰值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BW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下最小时延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761181"/>
                  </a:ext>
                </a:extLst>
              </a:tr>
              <a:tr h="49692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单请求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Swap Out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2K context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~8 blocks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128 tokens/block×16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8×2MB = 16 MB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8×5MB = 40 MB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16MB: ~1.0ms / 40MB: ~2.5ms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13201"/>
                  </a:ext>
                </a:extLst>
              </a:tr>
              <a:tr h="3002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单请求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Swap Out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8K context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~32 blocks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32×2MB = 64 MB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32×5MB = 160 MB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64MB: ~4ms / 160MB: ~10ms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89014"/>
                  </a:ext>
                </a:extLst>
              </a:tr>
              <a:tr h="3002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单请求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Swap Out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32K context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~128 blocks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128×2MB = 256 MB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128×5MB = 640 MB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256MB: ~16ms / 640MB: ~40ms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42495"/>
                  </a:ext>
                </a:extLst>
              </a:tr>
              <a:tr h="3002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批量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Swap Out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16 reqs×8K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~512 blocks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512×2MB = 1 GB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512×5MB = 2.5 GB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1GB: ~63ms / 2.5GB: ~157ms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00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35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 smtClean="0"/>
              <a:t>VLLM</a:t>
            </a:r>
            <a:r>
              <a:rPr lang="zh-CN" altLang="en-US" sz="3200" dirty="0" smtClean="0"/>
              <a:t>中 </a:t>
            </a:r>
            <a:r>
              <a:rPr lang="en-US" altLang="zh-CN" sz="3200" dirty="0" err="1" smtClean="0"/>
              <a:t>KVCache</a:t>
            </a:r>
            <a:r>
              <a:rPr lang="zh-CN" altLang="en-US" sz="3200" dirty="0"/>
              <a:t>卸载</a:t>
            </a:r>
            <a:r>
              <a:rPr lang="en-US" altLang="zh-CN" sz="3200" dirty="0"/>
              <a:t>/</a:t>
            </a:r>
            <a:r>
              <a:rPr lang="zh-CN" altLang="en-US" sz="3200" dirty="0"/>
              <a:t>加载对</a:t>
            </a:r>
            <a:r>
              <a:rPr lang="zh-CN" altLang="en-US" sz="3200" dirty="0" smtClean="0"/>
              <a:t>业务指标的影响</a:t>
            </a:r>
            <a:endParaRPr lang="zh-CN" altLang="en-US" sz="32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54468"/>
              </p:ext>
            </p:extLst>
          </p:nvPr>
        </p:nvGraphicFramePr>
        <p:xfrm>
          <a:off x="768926" y="1330485"/>
          <a:ext cx="10434782" cy="4017369"/>
        </p:xfrm>
        <a:graphic>
          <a:graphicData uri="http://schemas.openxmlformats.org/drawingml/2006/table">
            <a:tbl>
              <a:tblPr/>
              <a:tblGrid>
                <a:gridCol w="1672241">
                  <a:extLst>
                    <a:ext uri="{9D8B030D-6E8A-4147-A177-3AD203B41FA5}">
                      <a16:colId xmlns:a16="http://schemas.microsoft.com/office/drawing/2014/main" val="1664072666"/>
                    </a:ext>
                  </a:extLst>
                </a:gridCol>
                <a:gridCol w="2452620">
                  <a:extLst>
                    <a:ext uri="{9D8B030D-6E8A-4147-A177-3AD203B41FA5}">
                      <a16:colId xmlns:a16="http://schemas.microsoft.com/office/drawing/2014/main" val="2313105652"/>
                    </a:ext>
                  </a:extLst>
                </a:gridCol>
                <a:gridCol w="1783723">
                  <a:extLst>
                    <a:ext uri="{9D8B030D-6E8A-4147-A177-3AD203B41FA5}">
                      <a16:colId xmlns:a16="http://schemas.microsoft.com/office/drawing/2014/main" val="2068826208"/>
                    </a:ext>
                  </a:extLst>
                </a:gridCol>
                <a:gridCol w="1516165">
                  <a:extLst>
                    <a:ext uri="{9D8B030D-6E8A-4147-A177-3AD203B41FA5}">
                      <a16:colId xmlns:a16="http://schemas.microsoft.com/office/drawing/2014/main" val="1179858330"/>
                    </a:ext>
                  </a:extLst>
                </a:gridCol>
                <a:gridCol w="3010033">
                  <a:extLst>
                    <a:ext uri="{9D8B030D-6E8A-4147-A177-3AD203B41FA5}">
                      <a16:colId xmlns:a16="http://schemas.microsoft.com/office/drawing/2014/main" val="1332930618"/>
                    </a:ext>
                  </a:extLst>
                </a:gridCol>
              </a:tblGrid>
              <a:tr h="336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触发事件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触发条件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操作类型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影响范围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对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TTFT/TPOT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的影响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154534"/>
                  </a:ext>
                </a:extLst>
              </a:tr>
              <a:tr h="5232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新请求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Prefill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waiting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队列调度，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BlockSpaceManager.allocate()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分配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单请求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TTFT: 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影响分配时延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(μs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25758"/>
                  </a:ext>
                </a:extLst>
              </a:tr>
              <a:tr h="631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Decode Slot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分配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每个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decode step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需新增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个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slot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内部空间占用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所有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running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请求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TPOT: 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分配检测开销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&lt;1ms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917100"/>
                  </a:ext>
                </a:extLst>
              </a:tr>
              <a:tr h="739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Swap Out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触发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decode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时发现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can_append_slots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()=False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即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耗尽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Block→CPU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Pin Memory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批量拷贝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被抢占请求的全部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TPOT: 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阻塞当前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step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，尖峰时延显著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878523"/>
                  </a:ext>
                </a:extLst>
              </a:tr>
              <a:tr h="739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Swap In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触发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被抢占请求重新进入调度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有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足够空闲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 Pin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Memory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→NPU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批量拷贝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恢复请求的全部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TTFT(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如重调度作为新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prefill)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51588"/>
                  </a:ext>
                </a:extLst>
              </a:tr>
              <a:tr h="5232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Prefix Cache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命中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KVCacheManager._get_cached_prefix()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哈希匹配成功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引用计数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+1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，无数据拷贝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命中前缀的所有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TTFT: 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大幅降低（跳过计算）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075744"/>
                  </a:ext>
                </a:extLst>
              </a:tr>
              <a:tr h="5232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Copy-on-Write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beam search/parallel sampling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时多序列共享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需要修改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数据复制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(NPU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内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P2P)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分叉序列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TPOT: 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小幅增加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4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72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 err="1" smtClean="0">
                <a:latin typeface="+mn-ea"/>
                <a:ea typeface="+mn-ea"/>
              </a:rPr>
              <a:t>Sglang</a:t>
            </a:r>
            <a:r>
              <a:rPr lang="zh-CN" altLang="en-US" sz="3200" dirty="0">
                <a:latin typeface="+mn-ea"/>
                <a:ea typeface="+mn-ea"/>
              </a:rPr>
              <a:t>中 </a:t>
            </a:r>
            <a:r>
              <a:rPr lang="en-US" altLang="zh-CN" sz="3200" dirty="0" err="1" smtClean="0">
                <a:latin typeface="+mn-ea"/>
                <a:ea typeface="+mn-ea"/>
              </a:rPr>
              <a:t>KVCache</a:t>
            </a:r>
            <a:r>
              <a:rPr lang="zh-CN" altLang="en-US" sz="3200" dirty="0" smtClean="0">
                <a:latin typeface="+mn-ea"/>
                <a:ea typeface="+mn-ea"/>
              </a:rPr>
              <a:t>卸载</a:t>
            </a:r>
            <a:r>
              <a:rPr lang="en-US" altLang="zh-CN" sz="3200" dirty="0" smtClean="0">
                <a:latin typeface="+mn-ea"/>
                <a:ea typeface="+mn-ea"/>
              </a:rPr>
              <a:t>/</a:t>
            </a:r>
            <a:r>
              <a:rPr lang="zh-CN" altLang="en-US" sz="3200" dirty="0" smtClean="0">
                <a:latin typeface="+mn-ea"/>
                <a:ea typeface="+mn-ea"/>
              </a:rPr>
              <a:t>加载对</a:t>
            </a:r>
            <a:r>
              <a:rPr lang="zh-CN" altLang="en-US" sz="3200" dirty="0">
                <a:latin typeface="+mn-ea"/>
                <a:ea typeface="+mn-ea"/>
              </a:rPr>
              <a:t>业务指标的影响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64364"/>
              </p:ext>
            </p:extLst>
          </p:nvPr>
        </p:nvGraphicFramePr>
        <p:xfrm>
          <a:off x="704273" y="1264330"/>
          <a:ext cx="10287001" cy="4194361"/>
        </p:xfrm>
        <a:graphic>
          <a:graphicData uri="http://schemas.openxmlformats.org/drawingml/2006/table">
            <a:tbl>
              <a:tblPr/>
              <a:tblGrid>
                <a:gridCol w="1758462">
                  <a:extLst>
                    <a:ext uri="{9D8B030D-6E8A-4147-A177-3AD203B41FA5}">
                      <a16:colId xmlns:a16="http://schemas.microsoft.com/office/drawing/2014/main" val="1492393909"/>
                    </a:ext>
                  </a:extLst>
                </a:gridCol>
                <a:gridCol w="2198077">
                  <a:extLst>
                    <a:ext uri="{9D8B030D-6E8A-4147-A177-3AD203B41FA5}">
                      <a16:colId xmlns:a16="http://schemas.microsoft.com/office/drawing/2014/main" val="804702576"/>
                    </a:ext>
                  </a:extLst>
                </a:gridCol>
                <a:gridCol w="1868365">
                  <a:extLst>
                    <a:ext uri="{9D8B030D-6E8A-4147-A177-3AD203B41FA5}">
                      <a16:colId xmlns:a16="http://schemas.microsoft.com/office/drawing/2014/main" val="2726524184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00369145"/>
                    </a:ext>
                  </a:extLst>
                </a:gridCol>
                <a:gridCol w="2703635">
                  <a:extLst>
                    <a:ext uri="{9D8B030D-6E8A-4147-A177-3AD203B41FA5}">
                      <a16:colId xmlns:a16="http://schemas.microsoft.com/office/drawing/2014/main" val="1890021275"/>
                    </a:ext>
                  </a:extLst>
                </a:gridCol>
              </a:tblGrid>
              <a:tr h="423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触发事件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触发条件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操作类型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对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RadixTree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的影响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对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TTFT/TPOT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的影响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985"/>
                  </a:ext>
                </a:extLst>
              </a:tr>
              <a:tr h="628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RadixTree Prefix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命中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新请求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prefix tokens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完全匹配树中已有路径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引用计数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+1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 Block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就绪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节点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lock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，不可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evict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大幅降低（跳过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prefill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计算）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798947"/>
                  </a:ext>
                </a:extLst>
              </a:tr>
              <a:tr h="628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RadixTree Prefix Miss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新请求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prefix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不在树中或部分不匹配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执行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chunked prefill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，新节点插入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树节点创建，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分配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正常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prefill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计算时延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736432"/>
                  </a:ext>
                </a:extLst>
              </a:tr>
              <a:tr h="628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CPU Offload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触发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 Pool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耗尽，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LRU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选择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evict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候选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引用计数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=0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的节点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拷贝至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CPU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节点状态转为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OFFLOADED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该请求下次命中时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+swap in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时延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20174"/>
                  </a:ext>
                </a:extLst>
              </a:tr>
              <a:tr h="628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CPU</a:t>
                      </a:r>
                      <a:r>
                        <a:rPr lang="en-US" sz="1200" b="1" dirty="0" smtClean="0">
                          <a:effectLst/>
                          <a:latin typeface="+mn-ea"/>
                          <a:ea typeface="+mn-ea"/>
                        </a:rPr>
                        <a:t>→NPU </a:t>
                      </a: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加载触发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命中的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RadixNode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状态为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OFFLOADED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（在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CPU DDR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 Pin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Memory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→NPU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异步拷贝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节点状态恢复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CACHED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增加（加载时延，可达数百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ms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686822"/>
                  </a:ext>
                </a:extLst>
              </a:tr>
              <a:tr h="628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节点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Evict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（丢弃）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也不足或配置不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offload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，直接删除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释放，节点从树删除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树裁剪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下次相同前缀需完整重算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576983"/>
                  </a:ext>
                </a:extLst>
              </a:tr>
              <a:tr h="6285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Chunked Prefill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长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context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分批计算（配置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chunk_size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每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chunk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完成后写入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节点部分更新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TTFT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均匀化，避免单次大时延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3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50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zh-CN" altLang="en-US" sz="3200" dirty="0" smtClean="0">
                <a:latin typeface="+mn-ea"/>
                <a:ea typeface="+mn-ea"/>
              </a:rPr>
              <a:t>关键业务痛点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6158" y="1276990"/>
            <a:ext cx="703925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+mn-ea"/>
              </a:rPr>
              <a:t>痛点一：非连续</a:t>
            </a:r>
            <a:r>
              <a:rPr lang="en-US" altLang="zh-CN" b="1" dirty="0">
                <a:latin typeface="+mn-ea"/>
              </a:rPr>
              <a:t>Block</a:t>
            </a:r>
            <a:r>
              <a:rPr lang="zh-CN" altLang="zh-CN" b="1" dirty="0">
                <a:latin typeface="+mn-ea"/>
              </a:rPr>
              <a:t>导致的小</a:t>
            </a:r>
            <a:r>
              <a:rPr lang="en-US" altLang="zh-CN" b="1" dirty="0">
                <a:latin typeface="+mn-ea"/>
              </a:rPr>
              <a:t>IO</a:t>
            </a:r>
            <a:r>
              <a:rPr lang="zh-CN" altLang="zh-CN" b="1" dirty="0">
                <a:latin typeface="+mn-ea"/>
              </a:rPr>
              <a:t>聚合</a:t>
            </a:r>
            <a:r>
              <a:rPr lang="zh-CN" altLang="zh-CN" b="1" dirty="0" smtClean="0">
                <a:latin typeface="+mn-ea"/>
              </a:rPr>
              <a:t>缺失</a:t>
            </a:r>
            <a:endParaRPr lang="en-US" altLang="zh-CN" b="1" dirty="0" smtClean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+mn-ea"/>
              </a:rPr>
              <a:t>痛点二：</a:t>
            </a:r>
            <a:r>
              <a:rPr lang="en-US" altLang="zh-CN" b="1" dirty="0" err="1">
                <a:latin typeface="+mn-ea"/>
              </a:rPr>
              <a:t>KVCache</a:t>
            </a:r>
            <a:r>
              <a:rPr lang="zh-CN" altLang="zh-CN" b="1" dirty="0">
                <a:latin typeface="+mn-ea"/>
              </a:rPr>
              <a:t>传输阻塞推理计算</a:t>
            </a:r>
            <a:r>
              <a:rPr lang="zh-CN" altLang="zh-CN" b="1" dirty="0" smtClean="0">
                <a:latin typeface="+mn-ea"/>
              </a:rPr>
              <a:t>关键路径</a:t>
            </a:r>
            <a:endParaRPr lang="en-US" altLang="zh-CN" b="1" dirty="0" smtClean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b="1" dirty="0" smtClean="0">
                <a:latin typeface="+mn-ea"/>
              </a:rPr>
              <a:t>痛点</a:t>
            </a:r>
            <a:r>
              <a:rPr lang="zh-CN" altLang="en-US" b="1" dirty="0" smtClean="0">
                <a:latin typeface="+mn-ea"/>
              </a:rPr>
              <a:t>三</a:t>
            </a:r>
            <a:r>
              <a:rPr lang="zh-CN" altLang="zh-CN" b="1" dirty="0" smtClean="0">
                <a:latin typeface="+mn-ea"/>
              </a:rPr>
              <a:t>：</a:t>
            </a:r>
            <a:r>
              <a:rPr lang="zh-CN" altLang="zh-CN" b="1" dirty="0">
                <a:latin typeface="+mn-ea"/>
              </a:rPr>
              <a:t>缺乏拓扑感知导致次优</a:t>
            </a:r>
            <a:r>
              <a:rPr lang="zh-CN" altLang="zh-CN" b="1" dirty="0" smtClean="0">
                <a:latin typeface="+mn-ea"/>
              </a:rPr>
              <a:t>路由</a:t>
            </a:r>
            <a:endParaRPr lang="en-US" altLang="zh-CN" b="1" dirty="0" smtClean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b="1" dirty="0" smtClean="0">
                <a:latin typeface="+mn-ea"/>
              </a:rPr>
              <a:t>痛点</a:t>
            </a:r>
            <a:r>
              <a:rPr lang="zh-CN" altLang="en-US" b="1" dirty="0" smtClean="0">
                <a:latin typeface="+mn-ea"/>
              </a:rPr>
              <a:t>四</a:t>
            </a:r>
            <a:r>
              <a:rPr lang="zh-CN" altLang="zh-CN" b="1" dirty="0" smtClean="0">
                <a:latin typeface="+mn-ea"/>
              </a:rPr>
              <a:t>：</a:t>
            </a:r>
            <a:r>
              <a:rPr lang="zh-CN" altLang="zh-CN" b="1" dirty="0">
                <a:latin typeface="+mn-ea"/>
              </a:rPr>
              <a:t>无统一内存池导致碎片化与低</a:t>
            </a:r>
            <a:r>
              <a:rPr lang="zh-CN" altLang="zh-CN" b="1" dirty="0" smtClean="0">
                <a:latin typeface="+mn-ea"/>
              </a:rPr>
              <a:t>利用率</a:t>
            </a:r>
            <a:endParaRPr lang="en-US" altLang="zh-CN" b="1" dirty="0" smtClean="0"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 smtClean="0">
                <a:latin typeface="+mn-ea"/>
              </a:rPr>
              <a:t>痛点五：元数据、各种场景的</a:t>
            </a:r>
            <a:r>
              <a:rPr lang="en-US" altLang="zh-CN" b="1" dirty="0" err="1" smtClean="0">
                <a:latin typeface="+mn-ea"/>
              </a:rPr>
              <a:t>KVCache</a:t>
            </a:r>
            <a:r>
              <a:rPr lang="zh-CN" altLang="en-US" b="1" dirty="0" smtClean="0">
                <a:latin typeface="+mn-ea"/>
              </a:rPr>
              <a:t>抢占底层传输带宽</a:t>
            </a:r>
            <a:endParaRPr lang="en-US" altLang="zh-CN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868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zh-CN" altLang="zh-CN" sz="3200" b="1" dirty="0">
                <a:latin typeface="+mn-ea"/>
                <a:ea typeface="+mn-ea"/>
              </a:rPr>
              <a:t>统一异构</a:t>
            </a:r>
            <a:r>
              <a:rPr lang="en-US" altLang="zh-CN" sz="3200" b="1" dirty="0" err="1">
                <a:latin typeface="+mn-ea"/>
                <a:ea typeface="+mn-ea"/>
              </a:rPr>
              <a:t>KVCache</a:t>
            </a:r>
            <a:r>
              <a:rPr lang="zh-CN" altLang="zh-CN" sz="3200" b="1" dirty="0">
                <a:latin typeface="+mn-ea"/>
                <a:ea typeface="+mn-ea"/>
              </a:rPr>
              <a:t>存储</a:t>
            </a:r>
            <a:r>
              <a:rPr lang="zh-CN" altLang="zh-CN" sz="3200" b="1" dirty="0" smtClean="0">
                <a:latin typeface="+mn-ea"/>
                <a:ea typeface="+mn-ea"/>
              </a:rPr>
              <a:t>池</a:t>
            </a:r>
            <a:r>
              <a:rPr lang="zh-CN" altLang="en-US" sz="3200" b="1" dirty="0" smtClean="0">
                <a:latin typeface="+mn-ea"/>
                <a:ea typeface="+mn-ea"/>
              </a:rPr>
              <a:t>的关键业务价值与竞争力护城河解构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1911" y="971132"/>
            <a:ext cx="63161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1565C0"/>
                </a:solidFill>
                <a:latin typeface="+mn-ea"/>
              </a:rPr>
              <a:t>TTFT</a:t>
            </a:r>
            <a:r>
              <a:rPr lang="zh-CN" altLang="en-US" b="1" dirty="0" smtClean="0">
                <a:solidFill>
                  <a:srgbClr val="1565C0"/>
                </a:solidFill>
                <a:latin typeface="+mn-ea"/>
              </a:rPr>
              <a:t>、</a:t>
            </a:r>
            <a:r>
              <a:rPr lang="en-US" altLang="zh-CN" b="1" dirty="0" smtClean="0">
                <a:solidFill>
                  <a:srgbClr val="1565C0"/>
                </a:solidFill>
                <a:latin typeface="+mn-ea"/>
              </a:rPr>
              <a:t>TPOT</a:t>
            </a:r>
            <a:r>
              <a:rPr lang="zh-CN" altLang="en-US" b="1" dirty="0" smtClean="0">
                <a:solidFill>
                  <a:srgbClr val="1565C0"/>
                </a:solidFill>
                <a:latin typeface="+mn-ea"/>
              </a:rPr>
              <a:t>、</a:t>
            </a:r>
            <a:r>
              <a:rPr lang="en-US" altLang="zh-CN" b="1" dirty="0" err="1" smtClean="0">
                <a:solidFill>
                  <a:srgbClr val="1565C0"/>
                </a:solidFill>
                <a:latin typeface="+mn-ea"/>
              </a:rPr>
              <a:t>KVCache</a:t>
            </a:r>
            <a:r>
              <a:rPr lang="zh-CN" altLang="en-US" b="1" dirty="0" smtClean="0">
                <a:solidFill>
                  <a:srgbClr val="1565C0"/>
                </a:solidFill>
                <a:latin typeface="+mn-ea"/>
              </a:rPr>
              <a:t>命中率等关键业务指标系统性提升</a:t>
            </a:r>
            <a:endParaRPr lang="zh-CN" altLang="en-US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911" y="2426223"/>
            <a:ext cx="3220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1565C0"/>
                </a:solidFill>
                <a:latin typeface="+mn-ea"/>
              </a:rPr>
              <a:t>NPU</a:t>
            </a:r>
            <a:r>
              <a:rPr lang="zh-CN" altLang="zh-CN" b="1" dirty="0" smtClean="0">
                <a:solidFill>
                  <a:srgbClr val="1565C0"/>
                </a:solidFill>
                <a:latin typeface="+mn-ea"/>
              </a:rPr>
              <a:t>有效</a:t>
            </a:r>
            <a:r>
              <a:rPr lang="zh-CN" altLang="zh-CN" b="1" dirty="0">
                <a:solidFill>
                  <a:srgbClr val="1565C0"/>
                </a:solidFill>
                <a:latin typeface="+mn-ea"/>
              </a:rPr>
              <a:t>利用率的结构性提升</a:t>
            </a:r>
            <a:endParaRPr lang="zh-CN" altLang="en-US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1911" y="3296481"/>
            <a:ext cx="2920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1565C0"/>
                </a:solidFill>
                <a:latin typeface="+mn-ea"/>
              </a:rPr>
              <a:t>每百万</a:t>
            </a:r>
            <a:r>
              <a:rPr lang="en-US" altLang="zh-CN" b="1" dirty="0">
                <a:solidFill>
                  <a:srgbClr val="1565C0"/>
                </a:solidFill>
                <a:latin typeface="+mn-ea"/>
              </a:rPr>
              <a:t>Token</a:t>
            </a:r>
            <a:r>
              <a:rPr lang="zh-CN" altLang="zh-CN" b="1" dirty="0">
                <a:solidFill>
                  <a:srgbClr val="1565C0"/>
                </a:solidFill>
                <a:latin typeface="+mn-ea"/>
              </a:rPr>
              <a:t>成本模型重构</a:t>
            </a:r>
            <a:endParaRPr lang="zh-CN" altLang="en-US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1911" y="4233335"/>
            <a:ext cx="343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 smtClean="0">
                <a:solidFill>
                  <a:srgbClr val="1565C0"/>
                </a:solidFill>
                <a:latin typeface="+mn-ea"/>
              </a:rPr>
              <a:t>单位</a:t>
            </a:r>
            <a:r>
              <a:rPr lang="en-US" altLang="zh-CN" b="1" dirty="0" smtClean="0">
                <a:solidFill>
                  <a:srgbClr val="1565C0"/>
                </a:solidFill>
                <a:latin typeface="+mn-ea"/>
              </a:rPr>
              <a:t>NPU</a:t>
            </a:r>
            <a:r>
              <a:rPr lang="zh-CN" altLang="zh-CN" b="1" dirty="0" smtClean="0">
                <a:solidFill>
                  <a:srgbClr val="1565C0"/>
                </a:solidFill>
                <a:latin typeface="+mn-ea"/>
              </a:rPr>
              <a:t>服务</a:t>
            </a:r>
            <a:r>
              <a:rPr lang="zh-CN" altLang="zh-CN" b="1" dirty="0">
                <a:solidFill>
                  <a:srgbClr val="1565C0"/>
                </a:solidFill>
                <a:latin typeface="+mn-ea"/>
              </a:rPr>
              <a:t>并发用户数的飞跃</a:t>
            </a:r>
            <a:endParaRPr lang="zh-CN" altLang="en-US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911" y="5144620"/>
            <a:ext cx="7340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1565C0"/>
                </a:solidFill>
                <a:latin typeface="+mn-ea"/>
              </a:rPr>
              <a:t>构筑技术复杂度、硬件协同、数据飞轮、生态标准化四维竞争力护城河</a:t>
            </a:r>
            <a:endParaRPr lang="zh-CN" altLang="en-US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1911" y="1393488"/>
            <a:ext cx="11147603" cy="932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1400" dirty="0" smtClean="0">
                <a:latin typeface="+mn-ea"/>
              </a:rPr>
              <a:t>系统</a:t>
            </a:r>
            <a:r>
              <a:rPr lang="zh-CN" altLang="en-US" sz="1400" dirty="0" smtClean="0">
                <a:latin typeface="+mn-ea"/>
              </a:rPr>
              <a:t>关键提示词</a:t>
            </a:r>
            <a:r>
              <a:rPr lang="en-US" altLang="zh-CN" sz="1400" dirty="0" smtClean="0">
                <a:latin typeface="+mn-ea"/>
              </a:rPr>
              <a:t>HBM</a:t>
            </a:r>
            <a:r>
              <a:rPr lang="zh-CN" altLang="en-US" sz="1400" dirty="0" smtClean="0">
                <a:latin typeface="+mn-ea"/>
              </a:rPr>
              <a:t>常驻、长对话</a:t>
            </a:r>
            <a:r>
              <a:rPr lang="en-US" altLang="zh-CN" sz="1400" dirty="0" err="1" smtClean="0">
                <a:latin typeface="+mn-ea"/>
              </a:rPr>
              <a:t>KVCache</a:t>
            </a:r>
            <a:r>
              <a:rPr lang="zh-CN" altLang="en-US" sz="1400" dirty="0" smtClean="0">
                <a:latin typeface="+mn-ea"/>
              </a:rPr>
              <a:t>命中、</a:t>
            </a:r>
            <a:r>
              <a:rPr lang="en-US" altLang="zh-CN" sz="1400" dirty="0" smtClean="0">
                <a:latin typeface="+mn-ea"/>
              </a:rPr>
              <a:t>RAG</a:t>
            </a:r>
            <a:r>
              <a:rPr lang="zh-CN" altLang="en-US" sz="1400" dirty="0" smtClean="0">
                <a:latin typeface="+mn-ea"/>
              </a:rPr>
              <a:t>检索增强</a:t>
            </a:r>
            <a:r>
              <a:rPr lang="en-US" altLang="zh-CN" sz="1400" dirty="0" err="1" smtClean="0">
                <a:latin typeface="+mn-ea"/>
              </a:rPr>
              <a:t>KVCache</a:t>
            </a:r>
            <a:r>
              <a:rPr lang="zh-CN" altLang="en-US" sz="1400" dirty="0" smtClean="0">
                <a:latin typeface="+mn-ea"/>
              </a:rPr>
              <a:t>持久化、冷启动会话快速恢复，多场景提升</a:t>
            </a:r>
            <a:r>
              <a:rPr lang="en-US" altLang="zh-CN" sz="1400" dirty="0" smtClean="0">
                <a:latin typeface="+mn-ea"/>
              </a:rPr>
              <a:t>prefill</a:t>
            </a:r>
            <a:r>
              <a:rPr lang="zh-CN" altLang="en-US" sz="1400" dirty="0" smtClean="0">
                <a:latin typeface="+mn-ea"/>
              </a:rPr>
              <a:t>阶段的</a:t>
            </a:r>
            <a:r>
              <a:rPr lang="en-US" altLang="zh-CN" sz="1400" dirty="0" smtClean="0">
                <a:latin typeface="+mn-ea"/>
              </a:rPr>
              <a:t>TTFT</a:t>
            </a:r>
            <a:r>
              <a:rPr lang="zh-CN" altLang="en-US" sz="1400" dirty="0" smtClean="0">
                <a:latin typeface="+mn-ea"/>
              </a:rPr>
              <a:t>性能；</a:t>
            </a:r>
            <a:endParaRPr lang="en-US" altLang="zh-CN" sz="1400" dirty="0" smtClean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 smtClean="0">
                <a:latin typeface="+mn-ea"/>
              </a:rPr>
              <a:t>KVCache</a:t>
            </a:r>
            <a:r>
              <a:rPr lang="en-US" altLang="zh-CN" sz="1400" dirty="0" smtClean="0">
                <a:latin typeface="+mn-ea"/>
              </a:rPr>
              <a:t> Swap</a:t>
            </a:r>
            <a:r>
              <a:rPr lang="zh-CN" altLang="zh-CN" sz="1400" dirty="0" smtClean="0">
                <a:latin typeface="+mn-ea"/>
              </a:rPr>
              <a:t>阻塞流水线化</a:t>
            </a:r>
            <a:r>
              <a:rPr lang="zh-CN" altLang="en-US" sz="1400" dirty="0" smtClean="0">
                <a:latin typeface="+mn-ea"/>
              </a:rPr>
              <a:t>、</a:t>
            </a:r>
            <a:r>
              <a:rPr lang="en-US" altLang="zh-CN" sz="1400" dirty="0" smtClean="0">
                <a:latin typeface="+mn-ea"/>
              </a:rPr>
              <a:t>PD</a:t>
            </a:r>
            <a:r>
              <a:rPr lang="zh-CN" altLang="en-US" sz="1400" dirty="0" smtClean="0">
                <a:latin typeface="+mn-ea"/>
              </a:rPr>
              <a:t>分离</a:t>
            </a:r>
            <a:r>
              <a:rPr lang="en-US" altLang="zh-CN" sz="1400" dirty="0" err="1" smtClean="0">
                <a:latin typeface="+mn-ea"/>
              </a:rPr>
              <a:t>KVCache</a:t>
            </a:r>
            <a:r>
              <a:rPr lang="zh-CN" altLang="en-US" sz="1400" dirty="0" smtClean="0">
                <a:latin typeface="+mn-ea"/>
              </a:rPr>
              <a:t>传输多流多协议并发，显著降低</a:t>
            </a:r>
            <a:r>
              <a:rPr lang="en-US" altLang="zh-CN" sz="1400" dirty="0" smtClean="0">
                <a:latin typeface="+mn-ea"/>
              </a:rPr>
              <a:t>decode</a:t>
            </a:r>
            <a:r>
              <a:rPr lang="zh-CN" altLang="en-US" sz="1400" dirty="0" smtClean="0">
                <a:latin typeface="+mn-ea"/>
              </a:rPr>
              <a:t>阶段的性能抖动；</a:t>
            </a:r>
            <a:endParaRPr lang="en-US" altLang="zh-CN" sz="1400" dirty="0" smtClean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+mn-ea"/>
              </a:rPr>
              <a:t>多层级</a:t>
            </a:r>
            <a:r>
              <a:rPr lang="en-US" altLang="zh-CN" sz="1400" dirty="0" err="1" smtClean="0">
                <a:latin typeface="+mn-ea"/>
              </a:rPr>
              <a:t>KVCache</a:t>
            </a:r>
            <a:r>
              <a:rPr lang="zh-CN" altLang="en-US" sz="1400" dirty="0" smtClean="0">
                <a:latin typeface="+mn-ea"/>
              </a:rPr>
              <a:t>池，结合</a:t>
            </a:r>
            <a:r>
              <a:rPr lang="en-US" altLang="zh-CN" sz="1400" dirty="0" smtClean="0">
                <a:latin typeface="+mn-ea"/>
              </a:rPr>
              <a:t>URMA</a:t>
            </a:r>
            <a:r>
              <a:rPr lang="zh-CN" altLang="en-US" sz="1400" dirty="0" smtClean="0">
                <a:latin typeface="+mn-ea"/>
              </a:rPr>
              <a:t>、索引前缀快速匹配，大幅提升</a:t>
            </a:r>
            <a:r>
              <a:rPr lang="en-US" altLang="zh-CN" sz="1400" dirty="0" err="1" smtClean="0">
                <a:latin typeface="+mn-ea"/>
              </a:rPr>
              <a:t>KVCache</a:t>
            </a:r>
            <a:r>
              <a:rPr lang="zh-CN" altLang="zh-CN" sz="1400" dirty="0" smtClean="0">
                <a:latin typeface="+mn-ea"/>
              </a:rPr>
              <a:t>命中率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911" y="2831015"/>
            <a:ext cx="96584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latin typeface="+mn-ea"/>
              </a:rPr>
              <a:t>通过上层推理调度的</a:t>
            </a:r>
            <a:r>
              <a:rPr lang="zh-CN" altLang="zh-CN" sz="1400" dirty="0" smtClean="0">
                <a:latin typeface="+mn-ea"/>
              </a:rPr>
              <a:t>异步</a:t>
            </a:r>
            <a:r>
              <a:rPr lang="zh-CN" altLang="zh-CN" sz="1400" dirty="0">
                <a:latin typeface="+mn-ea"/>
              </a:rPr>
              <a:t>流水线</a:t>
            </a:r>
            <a:r>
              <a:rPr lang="zh-CN" altLang="zh-CN" sz="1400" dirty="0" smtClean="0">
                <a:latin typeface="+mn-ea"/>
              </a:rPr>
              <a:t>化</a:t>
            </a:r>
            <a:r>
              <a:rPr lang="zh-CN" altLang="en-US" sz="1400" dirty="0" smtClean="0">
                <a:latin typeface="+mn-ea"/>
              </a:rPr>
              <a:t>、提升</a:t>
            </a:r>
            <a:r>
              <a:rPr lang="en-US" altLang="zh-CN" sz="1400" dirty="0" err="1" smtClean="0">
                <a:latin typeface="+mn-ea"/>
              </a:rPr>
              <a:t>KVCache</a:t>
            </a:r>
            <a:r>
              <a:rPr lang="zh-CN" altLang="en-US" sz="1400" dirty="0">
                <a:latin typeface="+mn-ea"/>
              </a:rPr>
              <a:t>命中率</a:t>
            </a:r>
            <a:r>
              <a:rPr lang="zh-CN" altLang="en-US" sz="1400" dirty="0" smtClean="0">
                <a:latin typeface="+mn-ea"/>
              </a:rPr>
              <a:t>、加速</a:t>
            </a:r>
            <a:r>
              <a:rPr lang="zh-CN" altLang="zh-CN" sz="1400" dirty="0" smtClean="0">
                <a:latin typeface="+mn-ea"/>
              </a:rPr>
              <a:t>前缀检测</a:t>
            </a:r>
            <a:r>
              <a:rPr lang="zh-CN" altLang="en-US" sz="1400" dirty="0" smtClean="0">
                <a:latin typeface="+mn-ea"/>
              </a:rPr>
              <a:t>、增强散点传输模式、大幅降低</a:t>
            </a:r>
            <a:r>
              <a:rPr lang="en-US" altLang="zh-CN" sz="1400" dirty="0" smtClean="0">
                <a:latin typeface="+mn-ea"/>
              </a:rPr>
              <a:t>NPU</a:t>
            </a:r>
            <a:r>
              <a:rPr lang="zh-CN" altLang="en-US" sz="1400" dirty="0" smtClean="0">
                <a:latin typeface="+mn-ea"/>
              </a:rPr>
              <a:t>的空泡率；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1911" y="3679108"/>
            <a:ext cx="10887989" cy="372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1400" dirty="0">
                <a:latin typeface="+mn-ea"/>
              </a:rPr>
              <a:t>异步</a:t>
            </a:r>
            <a:r>
              <a:rPr lang="en-US" altLang="zh-CN" sz="1400" dirty="0">
                <a:latin typeface="+mn-ea"/>
              </a:rPr>
              <a:t>Swap+</a:t>
            </a:r>
            <a:r>
              <a:rPr lang="zh-CN" altLang="zh-CN" sz="1400" dirty="0">
                <a:latin typeface="+mn-ea"/>
              </a:rPr>
              <a:t>命中率提升消除重算</a:t>
            </a:r>
            <a:r>
              <a:rPr lang="zh-CN" altLang="en-US" sz="1400" dirty="0">
                <a:latin typeface="+mn-ea"/>
              </a:rPr>
              <a:t>、多级分层</a:t>
            </a:r>
            <a:r>
              <a:rPr lang="en-US" altLang="zh-CN" sz="1400" dirty="0">
                <a:latin typeface="+mn-ea"/>
              </a:rPr>
              <a:t>DDR/SSD</a:t>
            </a:r>
            <a:r>
              <a:rPr lang="zh-CN" altLang="en-US" sz="1400" dirty="0">
                <a:latin typeface="+mn-ea"/>
              </a:rPr>
              <a:t> 存储池</a:t>
            </a:r>
            <a:r>
              <a:rPr lang="en-US" altLang="zh-CN" sz="1400" dirty="0">
                <a:latin typeface="+mn-ea"/>
              </a:rPr>
              <a:t>+UBMEM/URM</a:t>
            </a:r>
            <a:r>
              <a:rPr lang="zh-CN" altLang="en-US" sz="1400" dirty="0">
                <a:latin typeface="+mn-ea"/>
              </a:rPr>
              <a:t>、降低结构化降低</a:t>
            </a:r>
            <a:r>
              <a:rPr lang="en-US" altLang="zh-CN" sz="1400" dirty="0">
                <a:latin typeface="+mn-ea"/>
              </a:rPr>
              <a:t>Token</a:t>
            </a:r>
            <a:r>
              <a:rPr lang="zh-CN" altLang="en-US" sz="1400" dirty="0">
                <a:latin typeface="+mn-ea"/>
              </a:rPr>
              <a:t>成本</a:t>
            </a:r>
          </a:p>
        </p:txBody>
      </p:sp>
      <p:sp>
        <p:nvSpPr>
          <p:cNvPr id="12" name="矩形 11"/>
          <p:cNvSpPr/>
          <p:nvPr/>
        </p:nvSpPr>
        <p:spPr>
          <a:xfrm>
            <a:off x="551911" y="4634095"/>
            <a:ext cx="98489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超高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en-US" sz="1400" dirty="0">
                <a:latin typeface="+mn-ea"/>
              </a:rPr>
              <a:t>命中率可大幅释放</a:t>
            </a:r>
            <a:r>
              <a:rPr lang="en-US" altLang="zh-CN" sz="1400" dirty="0">
                <a:latin typeface="+mn-ea"/>
              </a:rPr>
              <a:t>NPU</a:t>
            </a:r>
            <a:r>
              <a:rPr lang="zh-CN" altLang="en-US" sz="1400" dirty="0">
                <a:latin typeface="+mn-ea"/>
              </a:rPr>
              <a:t>的硬件资源，释放出的算力可接入更多新请求，推高服务用户并发数。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1911" y="5576808"/>
            <a:ext cx="98489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+mn-ea"/>
              </a:rPr>
              <a:t>基于</a:t>
            </a:r>
            <a:r>
              <a:rPr lang="en-US" altLang="zh-CN" sz="1400" dirty="0" smtClean="0">
                <a:latin typeface="+mn-ea"/>
              </a:rPr>
              <a:t>UBMEM/URMA</a:t>
            </a:r>
            <a:r>
              <a:rPr lang="zh-CN" altLang="en-US" sz="1400" dirty="0">
                <a:latin typeface="+mn-ea"/>
              </a:rPr>
              <a:t>特有</a:t>
            </a:r>
            <a:r>
              <a:rPr lang="zh-CN" altLang="en-US" sz="1400" dirty="0" smtClean="0">
                <a:latin typeface="+mn-ea"/>
              </a:rPr>
              <a:t>技术</a:t>
            </a:r>
            <a:r>
              <a:rPr lang="zh-CN" altLang="en-US" sz="1400" dirty="0">
                <a:latin typeface="+mn-ea"/>
              </a:rPr>
              <a:t>能力的深度挖掘，</a:t>
            </a:r>
            <a:r>
              <a:rPr lang="zh-CN" altLang="en-US" sz="1400" dirty="0" smtClean="0">
                <a:latin typeface="+mn-ea"/>
              </a:rPr>
              <a:t>四</a:t>
            </a:r>
            <a:r>
              <a:rPr lang="zh-CN" altLang="en-US" sz="1400" dirty="0">
                <a:latin typeface="+mn-ea"/>
              </a:rPr>
              <a:t>层软件自上而下系统性整合，四</a:t>
            </a:r>
            <a:r>
              <a:rPr lang="zh-CN" altLang="en-US" sz="1400" dirty="0" smtClean="0">
                <a:latin typeface="+mn-ea"/>
              </a:rPr>
              <a:t>层协同完成业务价值的最大化释放；</a:t>
            </a:r>
            <a:endParaRPr lang="en-US" altLang="zh-CN" sz="1400" dirty="0" smtClean="0">
              <a:latin typeface="+mn-ea"/>
            </a:endParaRPr>
          </a:p>
          <a:p>
            <a:r>
              <a:rPr lang="zh-CN" altLang="en-US" sz="1400" dirty="0" smtClean="0">
                <a:latin typeface="+mn-ea"/>
              </a:rPr>
              <a:t>通过在开源主流推理软件栈中推动</a:t>
            </a:r>
            <a:r>
              <a:rPr lang="en-US" altLang="zh-CN" sz="1400" dirty="0" smtClean="0">
                <a:latin typeface="+mn-ea"/>
              </a:rPr>
              <a:t>UBMEM/URMA</a:t>
            </a:r>
            <a:r>
              <a:rPr lang="zh-CN" altLang="en-US" sz="1400" dirty="0" smtClean="0">
                <a:latin typeface="+mn-ea"/>
              </a:rPr>
              <a:t>的硬件适配</a:t>
            </a:r>
            <a:r>
              <a:rPr lang="en-US" altLang="zh-CN" sz="1400" dirty="0" smtClean="0">
                <a:latin typeface="+mn-ea"/>
              </a:rPr>
              <a:t>API</a:t>
            </a:r>
            <a:r>
              <a:rPr lang="zh-CN" altLang="en-US" sz="1400" dirty="0" smtClean="0">
                <a:latin typeface="+mn-ea"/>
              </a:rPr>
              <a:t>，借此推动</a:t>
            </a:r>
            <a:r>
              <a:rPr lang="en-US" altLang="zh-CN" sz="1400" dirty="0" smtClean="0">
                <a:latin typeface="+mn-ea"/>
              </a:rPr>
              <a:t>UB</a:t>
            </a:r>
            <a:r>
              <a:rPr lang="zh-CN" altLang="en-US" sz="1400" dirty="0" smtClean="0">
                <a:latin typeface="+mn-ea"/>
              </a:rPr>
              <a:t>技术在</a:t>
            </a:r>
            <a:r>
              <a:rPr lang="en-US" altLang="zh-CN" sz="1400" dirty="0" smtClean="0">
                <a:latin typeface="+mn-ea"/>
              </a:rPr>
              <a:t>AI </a:t>
            </a:r>
            <a:r>
              <a:rPr lang="en-US" altLang="zh-CN" sz="1400" dirty="0">
                <a:latin typeface="+mn-ea"/>
              </a:rPr>
              <a:t>Infra</a:t>
            </a:r>
            <a:r>
              <a:rPr lang="zh-CN" altLang="en-US" sz="1400" dirty="0">
                <a:latin typeface="+mn-ea"/>
              </a:rPr>
              <a:t>生态中占据关键</a:t>
            </a:r>
            <a:r>
              <a:rPr lang="zh-CN" altLang="en-US" sz="1400" dirty="0" smtClean="0">
                <a:latin typeface="+mn-ea"/>
              </a:rPr>
              <a:t>地位；</a:t>
            </a:r>
            <a:endParaRPr lang="en-US" altLang="zh-CN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7568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拓扑感知</a:t>
            </a:r>
            <a:r>
              <a:rPr lang="en-US" altLang="zh-CN" sz="3200" dirty="0" err="1"/>
              <a:t>KVCache</a:t>
            </a:r>
            <a:r>
              <a:rPr lang="zh-CN" altLang="en-US" sz="3200" dirty="0"/>
              <a:t>内存管理架构设计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976078"/>
              </p:ext>
            </p:extLst>
          </p:nvPr>
        </p:nvGraphicFramePr>
        <p:xfrm>
          <a:off x="787397" y="1367310"/>
          <a:ext cx="9797474" cy="2844471"/>
        </p:xfrm>
        <a:graphic>
          <a:graphicData uri="http://schemas.openxmlformats.org/drawingml/2006/table">
            <a:tbl>
              <a:tblPr/>
              <a:tblGrid>
                <a:gridCol w="1570108">
                  <a:extLst>
                    <a:ext uri="{9D8B030D-6E8A-4147-A177-3AD203B41FA5}">
                      <a16:colId xmlns:a16="http://schemas.microsoft.com/office/drawing/2014/main" val="1562378852"/>
                    </a:ext>
                  </a:extLst>
                </a:gridCol>
                <a:gridCol w="2500822">
                  <a:extLst>
                    <a:ext uri="{9D8B030D-6E8A-4147-A177-3AD203B41FA5}">
                      <a16:colId xmlns:a16="http://schemas.microsoft.com/office/drawing/2014/main" val="1903440032"/>
                    </a:ext>
                  </a:extLst>
                </a:gridCol>
                <a:gridCol w="2770909">
                  <a:extLst>
                    <a:ext uri="{9D8B030D-6E8A-4147-A177-3AD203B41FA5}">
                      <a16:colId xmlns:a16="http://schemas.microsoft.com/office/drawing/2014/main" val="3547586727"/>
                    </a:ext>
                  </a:extLst>
                </a:gridCol>
                <a:gridCol w="2955635">
                  <a:extLst>
                    <a:ext uri="{9D8B030D-6E8A-4147-A177-3AD203B41FA5}">
                      <a16:colId xmlns:a16="http://schemas.microsoft.com/office/drawing/2014/main" val="3569505243"/>
                    </a:ext>
                  </a:extLst>
                </a:gridCol>
              </a:tblGrid>
              <a:tr h="3041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感知层次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感知内容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决策影响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实现手段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576145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200" b="1" dirty="0" smtClean="0">
                          <a:effectLst/>
                          <a:latin typeface="+mn-ea"/>
                          <a:ea typeface="+mn-ea"/>
                        </a:rPr>
                        <a:t>机柜内</a:t>
                      </a:r>
                      <a:r>
                        <a:rPr lang="en-US" sz="1200" b="1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b="1" dirty="0" smtClean="0">
                          <a:effectLst/>
                          <a:latin typeface="+mn-ea"/>
                          <a:ea typeface="+mn-ea"/>
                        </a:rPr>
                        <a:t>拓扑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连通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矩阵、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P2P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可访问性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间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带宽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同机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迁移路径选择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优先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npu-smi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topo / NCCL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ncclGetUniqueId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610146"/>
                  </a:ext>
                </a:extLst>
              </a:tr>
              <a:tr h="6503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NUMA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感知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 socket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NUMA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节点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亲和性、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PCIe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拓扑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NPU↔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 DDR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NUMA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跨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NUMA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传输区分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numactl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/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libnuma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/ /sys/bus/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pci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17523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网络拓扑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RDMA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网卡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-NPU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亲和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IB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端口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交换机链路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BW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跨节点传输选择最近网卡、避免远端跳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ibstat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/ RDMA CM route discovery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670322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存储介质感知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远端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DDR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SSD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的实时可用容量与负载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分级放置策略（热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→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冷层次调度）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实时性能监控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Agent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（采样间隔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100ms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282234"/>
                  </a:ext>
                </a:extLst>
              </a:tr>
              <a:tr h="4725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传输质量感知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各路径实时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BW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、时延、丢包率、队列深度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动态选择最优传输路径，支持快速故障切换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周期性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pingpong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测量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+ RDMA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计数器监控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8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69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zh-CN" altLang="en-US" sz="3200" dirty="0" smtClean="0"/>
              <a:t>统一</a:t>
            </a:r>
            <a:r>
              <a:rPr lang="en-US" altLang="zh-CN" sz="3200" dirty="0" err="1" smtClean="0"/>
              <a:t>KVCache</a:t>
            </a:r>
            <a:r>
              <a:rPr lang="zh-CN" altLang="en-US" sz="3200" dirty="0" smtClean="0"/>
              <a:t>内存</a:t>
            </a:r>
            <a:r>
              <a:rPr lang="zh-CN" altLang="en-US" sz="3200" dirty="0"/>
              <a:t>池核心设计原则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377554"/>
              </p:ext>
            </p:extLst>
          </p:nvPr>
        </p:nvGraphicFramePr>
        <p:xfrm>
          <a:off x="858124" y="3529171"/>
          <a:ext cx="10434782" cy="2936240"/>
        </p:xfrm>
        <a:graphic>
          <a:graphicData uri="http://schemas.openxmlformats.org/drawingml/2006/table">
            <a:tbl>
              <a:tblPr/>
              <a:tblGrid>
                <a:gridCol w="2229654">
                  <a:extLst>
                    <a:ext uri="{9D8B030D-6E8A-4147-A177-3AD203B41FA5}">
                      <a16:colId xmlns:a16="http://schemas.microsoft.com/office/drawing/2014/main" val="295027998"/>
                    </a:ext>
                  </a:extLst>
                </a:gridCol>
                <a:gridCol w="2006689">
                  <a:extLst>
                    <a:ext uri="{9D8B030D-6E8A-4147-A177-3AD203B41FA5}">
                      <a16:colId xmlns:a16="http://schemas.microsoft.com/office/drawing/2014/main" val="3352971049"/>
                    </a:ext>
                  </a:extLst>
                </a:gridCol>
                <a:gridCol w="3121516">
                  <a:extLst>
                    <a:ext uri="{9D8B030D-6E8A-4147-A177-3AD203B41FA5}">
                      <a16:colId xmlns:a16="http://schemas.microsoft.com/office/drawing/2014/main" val="3832672973"/>
                    </a:ext>
                  </a:extLst>
                </a:gridCol>
                <a:gridCol w="3076923">
                  <a:extLst>
                    <a:ext uri="{9D8B030D-6E8A-4147-A177-3AD203B41FA5}">
                      <a16:colId xmlns:a16="http://schemas.microsoft.com/office/drawing/2014/main" val="663135438"/>
                    </a:ext>
                  </a:extLst>
                </a:gridCol>
              </a:tblGrid>
              <a:tr h="2331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前沿技术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应用场景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对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的价值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成熟度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可行性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38520"/>
                  </a:ext>
                </a:extLst>
              </a:tr>
              <a:tr h="43106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+mn-ea"/>
                          <a:ea typeface="+mn-ea"/>
                        </a:rPr>
                        <a:t>UB </a:t>
                      </a: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5.0 / </a:t>
                      </a:r>
                      <a:r>
                        <a:rPr lang="en-US" sz="1200" b="1" dirty="0" err="1" smtClean="0">
                          <a:effectLst/>
                          <a:latin typeface="+mn-ea"/>
                          <a:ea typeface="+mn-ea"/>
                        </a:rPr>
                        <a:t>UBSwitch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卡机内高速互联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同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机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间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P2P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带宽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1.8TB/s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Disaggregated Prefill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时延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&lt;1ms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H100/H200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已量产，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H20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系列推广中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467815"/>
                  </a:ext>
                </a:extLst>
              </a:tr>
              <a:tr h="3622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b="1" dirty="0" smtClean="0">
                          <a:effectLst/>
                          <a:latin typeface="+mn-ea"/>
                          <a:ea typeface="+mn-ea"/>
                        </a:rPr>
                        <a:t>UB</a:t>
                      </a:r>
                      <a:r>
                        <a:rPr lang="zh-CN" sz="1200" b="1" dirty="0" smtClean="0">
                          <a:effectLst/>
                          <a:latin typeface="+mn-ea"/>
                          <a:ea typeface="+mn-ea"/>
                        </a:rPr>
                        <a:t>内存</a:t>
                      </a: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扩展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扩展近计算存储层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提供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&gt;200GB/s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&lt;300ns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时延的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TB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级内存池，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作为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溢出层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年量产，部分云厂商试用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990155"/>
                  </a:ext>
                </a:extLst>
              </a:tr>
              <a:tr h="3622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 err="1" smtClean="0">
                          <a:effectLst/>
                          <a:latin typeface="+mn-ea"/>
                          <a:ea typeface="+mn-ea"/>
                        </a:rPr>
                        <a:t>NPUDirect</a:t>
                      </a:r>
                      <a:r>
                        <a:rPr lang="en-US" sz="1200" b="1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Storage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直接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访问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NVMe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NVMe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数据绕过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CPU/DDR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直接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写入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冷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恢复时延降低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50%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cuFile API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稳定，商用案例增多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89905"/>
                  </a:ext>
                </a:extLst>
              </a:tr>
              <a:tr h="3622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 err="1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en-US" sz="1200" b="1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Unified Memory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统一地址空间管理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NPU/CPU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统一寻址，减少显式拷贝，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OS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自动迁移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page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适合计算密集型，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频繁小块访问时开销大，需谨慎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30307"/>
                  </a:ext>
                </a:extLst>
              </a:tr>
              <a:tr h="3622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RDMA over CXL Fabric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跨节点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CXL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内存访问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CXL 3.0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支持跨节点内存共享语义，实现真正的分布式统一内存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2026-2027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规模量产，架构前瞻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540944"/>
                  </a:ext>
                </a:extLst>
              </a:tr>
              <a:tr h="3622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智能网卡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DPU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卸载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数据路径卸载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BlueField-3/CX7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将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路由、压缩、加密卸载到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DPU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，释放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CPU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商用成熟，需软件集成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327007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65691" y="1140705"/>
            <a:ext cx="109272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1400" b="1" dirty="0">
                <a:latin typeface="+mn-ea"/>
              </a:rPr>
              <a:t>全局视图（</a:t>
            </a:r>
            <a:r>
              <a:rPr lang="en-US" altLang="zh-CN" sz="1400" b="1" dirty="0">
                <a:latin typeface="+mn-ea"/>
              </a:rPr>
              <a:t>Global View</a:t>
            </a:r>
            <a:r>
              <a:rPr lang="zh-CN" altLang="zh-CN" sz="1400" b="1" dirty="0">
                <a:latin typeface="+mn-ea"/>
              </a:rPr>
              <a:t>）：</a:t>
            </a:r>
            <a:r>
              <a:rPr lang="zh-CN" altLang="zh-CN" sz="1400" dirty="0">
                <a:latin typeface="+mn-ea"/>
              </a:rPr>
              <a:t>集群范围内的</a:t>
            </a:r>
            <a:r>
              <a:rPr lang="zh-CN" altLang="zh-CN" sz="1400" dirty="0" smtClean="0">
                <a:latin typeface="+mn-ea"/>
              </a:rPr>
              <a:t>所有</a:t>
            </a:r>
            <a:r>
              <a:rPr lang="en-US" altLang="zh-CN" sz="1400" dirty="0" smtClean="0">
                <a:latin typeface="+mn-ea"/>
              </a:rPr>
              <a:t>NPU </a:t>
            </a:r>
            <a:r>
              <a:rPr lang="en-US" altLang="zh-CN" sz="1400" dirty="0">
                <a:latin typeface="+mn-ea"/>
              </a:rPr>
              <a:t>HBM</a:t>
            </a:r>
            <a:r>
              <a:rPr lang="zh-CN" altLang="zh-CN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CPU DDR</a:t>
            </a:r>
            <a:r>
              <a:rPr lang="zh-CN" altLang="zh-CN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CXL</a:t>
            </a:r>
            <a:r>
              <a:rPr lang="zh-CN" altLang="zh-CN" sz="1400" dirty="0">
                <a:latin typeface="+mn-ea"/>
              </a:rPr>
              <a:t>内存、</a:t>
            </a:r>
            <a:r>
              <a:rPr lang="en-US" altLang="zh-CN" sz="1400" dirty="0" err="1">
                <a:latin typeface="+mn-ea"/>
              </a:rPr>
              <a:t>NVMe</a:t>
            </a:r>
            <a:r>
              <a:rPr lang="en-US" altLang="zh-CN" sz="1400" dirty="0">
                <a:latin typeface="+mn-ea"/>
              </a:rPr>
              <a:t> SSD</a:t>
            </a:r>
            <a:r>
              <a:rPr lang="zh-CN" altLang="zh-CN" sz="1400" dirty="0">
                <a:latin typeface="+mn-ea"/>
              </a:rPr>
              <a:t>的空闲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zh-CN" sz="1400" dirty="0">
                <a:latin typeface="+mn-ea"/>
              </a:rPr>
              <a:t>占用状态在统一内存池中有全局视图，支持跨节点的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查找与复用；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1400" b="1" dirty="0">
                <a:latin typeface="+mn-ea"/>
              </a:rPr>
              <a:t>透明分层（</a:t>
            </a:r>
            <a:r>
              <a:rPr lang="en-US" altLang="zh-CN" sz="1400" b="1" dirty="0">
                <a:latin typeface="+mn-ea"/>
              </a:rPr>
              <a:t>Transparent </a:t>
            </a:r>
            <a:r>
              <a:rPr lang="en-US" altLang="zh-CN" sz="1400" b="1" dirty="0" err="1">
                <a:latin typeface="+mn-ea"/>
              </a:rPr>
              <a:t>Tiering</a:t>
            </a:r>
            <a:r>
              <a:rPr lang="zh-CN" altLang="zh-CN" sz="1400" b="1" dirty="0">
                <a:latin typeface="+mn-ea"/>
              </a:rPr>
              <a:t>）：</a:t>
            </a:r>
            <a:r>
              <a:rPr lang="zh-CN" altLang="zh-CN" sz="1400" dirty="0">
                <a:latin typeface="+mn-ea"/>
              </a:rPr>
              <a:t>上层推理框架通过统一接口访问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，不需感知数据实际存储在哪层介质，分层调度由内存池内部策略引擎决定；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1400" b="1" dirty="0">
                <a:latin typeface="+mn-ea"/>
              </a:rPr>
              <a:t>拓扑感知放置（</a:t>
            </a:r>
            <a:r>
              <a:rPr lang="en-US" altLang="zh-CN" sz="1400" b="1" dirty="0">
                <a:latin typeface="+mn-ea"/>
              </a:rPr>
              <a:t>Topology-Aware Placement</a:t>
            </a:r>
            <a:r>
              <a:rPr lang="zh-CN" altLang="zh-CN" sz="1400" b="1" dirty="0">
                <a:latin typeface="+mn-ea"/>
              </a:rPr>
              <a:t>）：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初始放置时考虑请求来源节点的距离，优先放置在访问该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时路径最短的存储节点；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1400" b="1" dirty="0">
                <a:latin typeface="+mn-ea"/>
              </a:rPr>
              <a:t>预测性预取（</a:t>
            </a:r>
            <a:r>
              <a:rPr lang="en-US" altLang="zh-CN" sz="1400" b="1" dirty="0">
                <a:latin typeface="+mn-ea"/>
              </a:rPr>
              <a:t>Predictive </a:t>
            </a:r>
            <a:r>
              <a:rPr lang="en-US" altLang="zh-CN" sz="1400" b="1" dirty="0" err="1">
                <a:latin typeface="+mn-ea"/>
              </a:rPr>
              <a:t>Prefetch</a:t>
            </a:r>
            <a:r>
              <a:rPr lang="zh-CN" altLang="zh-CN" sz="1400" b="1" dirty="0">
                <a:latin typeface="+mn-ea"/>
              </a:rPr>
              <a:t>）：</a:t>
            </a:r>
            <a:r>
              <a:rPr lang="zh-CN" altLang="zh-CN" sz="1400" dirty="0">
                <a:latin typeface="+mn-ea"/>
              </a:rPr>
              <a:t>基于请求队列中的</a:t>
            </a:r>
            <a:r>
              <a:rPr lang="en-US" altLang="zh-CN" sz="1400" dirty="0">
                <a:latin typeface="+mn-ea"/>
              </a:rPr>
              <a:t>pending</a:t>
            </a:r>
            <a:r>
              <a:rPr lang="zh-CN" altLang="zh-CN" sz="1400" dirty="0">
                <a:latin typeface="+mn-ea"/>
              </a:rPr>
              <a:t>任务，提前将即将被命中的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从慢速层预取到快速层；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1400" b="1" dirty="0">
                <a:latin typeface="+mn-ea"/>
              </a:rPr>
              <a:t>弹性扩容（</a:t>
            </a:r>
            <a:r>
              <a:rPr lang="en-US" altLang="zh-CN" sz="1400" b="1" dirty="0">
                <a:latin typeface="+mn-ea"/>
              </a:rPr>
              <a:t>Elastic Scaling</a:t>
            </a:r>
            <a:r>
              <a:rPr lang="zh-CN" altLang="zh-CN" sz="1400" b="1" dirty="0">
                <a:latin typeface="+mn-ea"/>
              </a:rPr>
              <a:t>）：</a:t>
            </a:r>
            <a:r>
              <a:rPr lang="zh-CN" altLang="zh-CN" sz="1400" dirty="0">
                <a:latin typeface="+mn-ea"/>
              </a:rPr>
              <a:t>支持</a:t>
            </a:r>
            <a:r>
              <a:rPr lang="en-US" altLang="zh-CN" sz="1400" dirty="0">
                <a:latin typeface="+mn-ea"/>
              </a:rPr>
              <a:t>CXL</a:t>
            </a:r>
            <a:r>
              <a:rPr lang="zh-CN" altLang="zh-CN" sz="1400" dirty="0">
                <a:latin typeface="+mn-ea"/>
              </a:rPr>
              <a:t>内存的热插拔扩容，以及通过</a:t>
            </a:r>
            <a:r>
              <a:rPr lang="en-US" altLang="zh-CN" sz="1400" dirty="0">
                <a:latin typeface="+mn-ea"/>
              </a:rPr>
              <a:t>RDMA</a:t>
            </a:r>
            <a:r>
              <a:rPr lang="zh-CN" altLang="zh-CN" sz="1400" dirty="0">
                <a:latin typeface="+mn-ea"/>
              </a:rPr>
              <a:t>动态纳入新节点的</a:t>
            </a:r>
            <a:r>
              <a:rPr lang="en-US" altLang="zh-CN" sz="1400" dirty="0">
                <a:latin typeface="+mn-ea"/>
              </a:rPr>
              <a:t>CPU DDR</a:t>
            </a:r>
            <a:r>
              <a:rPr lang="zh-CN" altLang="zh-CN" sz="1400" dirty="0">
                <a:latin typeface="+mn-ea"/>
              </a:rPr>
              <a:t>为全局内存池的一部分；</a:t>
            </a:r>
          </a:p>
        </p:txBody>
      </p:sp>
    </p:spTree>
    <p:extLst>
      <p:ext uri="{BB962C8B-B14F-4D97-AF65-F5344CB8AC3E}">
        <p14:creationId xmlns:p14="http://schemas.microsoft.com/office/powerpoint/2010/main" val="25730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/>
              <a:t>L4 </a:t>
            </a:r>
            <a:r>
              <a:rPr lang="zh-CN" altLang="en-US" sz="3200" dirty="0"/>
              <a:t>底层传输层</a:t>
            </a:r>
          </a:p>
        </p:txBody>
      </p:sp>
      <p:sp>
        <p:nvSpPr>
          <p:cNvPr id="6" name="矩形 5"/>
          <p:cNvSpPr/>
          <p:nvPr/>
        </p:nvSpPr>
        <p:spPr>
          <a:xfrm>
            <a:off x="812204" y="4347769"/>
            <a:ext cx="9227724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250"/>
              </a:spcAft>
            </a:pPr>
            <a:r>
              <a:rPr lang="zh-CN" altLang="en-US" sz="1600" b="1" u="sng" dirty="0">
                <a:latin typeface="+mn-ea"/>
              </a:rPr>
              <a:t>向</a:t>
            </a:r>
            <a:r>
              <a:rPr lang="en-US" altLang="zh-CN" sz="1600" b="1" u="sng" dirty="0">
                <a:latin typeface="+mn-ea"/>
              </a:rPr>
              <a:t>L3 </a:t>
            </a:r>
            <a:r>
              <a:rPr lang="zh-CN" altLang="en-US" sz="1600" b="1" u="sng" dirty="0">
                <a:latin typeface="+mn-ea"/>
              </a:rPr>
              <a:t>层</a:t>
            </a:r>
            <a:r>
              <a:rPr lang="zh-CN" altLang="en-US" sz="1600" b="1" u="sng" dirty="0" smtClean="0">
                <a:latin typeface="+mn-ea"/>
              </a:rPr>
              <a:t>提供</a:t>
            </a:r>
            <a:r>
              <a:rPr lang="en-US" altLang="zh-CN" sz="1600" b="1" u="sng" dirty="0" smtClean="0">
                <a:latin typeface="+mn-ea"/>
              </a:rPr>
              <a:t>: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 smtClean="0">
                <a:latin typeface="+mn-ea"/>
              </a:rPr>
              <a:t>内存</a:t>
            </a:r>
            <a:r>
              <a:rPr lang="zh-CN" altLang="zh-CN" sz="1400" b="1" dirty="0">
                <a:latin typeface="+mn-ea"/>
              </a:rPr>
              <a:t>注册接口</a:t>
            </a:r>
            <a:r>
              <a:rPr lang="zh-CN" altLang="zh-CN" sz="1400" dirty="0">
                <a:latin typeface="+mn-ea"/>
              </a:rPr>
              <a:t>：</a:t>
            </a:r>
            <a:r>
              <a:rPr lang="en-US" altLang="zh-CN" sz="1400" dirty="0" err="1">
                <a:latin typeface="+mn-ea"/>
              </a:rPr>
              <a:t>cudaHostRegister</a:t>
            </a:r>
            <a:r>
              <a:rPr lang="en-US" altLang="zh-CN" sz="1400" dirty="0">
                <a:latin typeface="+mn-ea"/>
              </a:rPr>
              <a:t>/</a:t>
            </a:r>
            <a:r>
              <a:rPr lang="en-US" altLang="zh-CN" sz="1400" dirty="0" err="1">
                <a:latin typeface="+mn-ea"/>
              </a:rPr>
              <a:t>ibv_reg_mr</a:t>
            </a:r>
            <a:r>
              <a:rPr lang="zh-CN" altLang="zh-CN" sz="1400" dirty="0">
                <a:latin typeface="+mn-ea"/>
              </a:rPr>
              <a:t>，将内存区域注册为</a:t>
            </a:r>
            <a:r>
              <a:rPr lang="en-US" altLang="zh-CN" sz="1400" dirty="0">
                <a:latin typeface="+mn-ea"/>
              </a:rPr>
              <a:t>RDMA</a:t>
            </a:r>
            <a:r>
              <a:rPr lang="zh-CN" altLang="zh-CN" sz="1400" dirty="0">
                <a:latin typeface="+mn-ea"/>
              </a:rPr>
              <a:t>可访问，是传输前提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异步传输接口</a:t>
            </a:r>
            <a:r>
              <a:rPr lang="zh-CN" altLang="zh-CN" sz="1400" dirty="0">
                <a:latin typeface="+mn-ea"/>
              </a:rPr>
              <a:t>：</a:t>
            </a:r>
            <a:r>
              <a:rPr lang="en-US" altLang="zh-CN" sz="1400" dirty="0" err="1">
                <a:latin typeface="+mn-ea"/>
              </a:rPr>
              <a:t>cudaMemcpyAsync</a:t>
            </a:r>
            <a:r>
              <a:rPr lang="en-US" altLang="zh-CN" sz="1400" dirty="0">
                <a:latin typeface="+mn-ea"/>
              </a:rPr>
              <a:t>(stream) / </a:t>
            </a:r>
            <a:r>
              <a:rPr lang="en-US" altLang="zh-CN" sz="1400" dirty="0" err="1">
                <a:latin typeface="+mn-ea"/>
              </a:rPr>
              <a:t>ibv_post_send</a:t>
            </a:r>
            <a:r>
              <a:rPr lang="en-US" altLang="zh-CN" sz="1400" dirty="0">
                <a:latin typeface="+mn-ea"/>
              </a:rPr>
              <a:t>(</a:t>
            </a:r>
            <a:r>
              <a:rPr lang="en-US" altLang="zh-CN" sz="1400" dirty="0" err="1">
                <a:latin typeface="+mn-ea"/>
              </a:rPr>
              <a:t>wr</a:t>
            </a:r>
            <a:r>
              <a:rPr lang="en-US" altLang="zh-CN" sz="1400" dirty="0">
                <a:latin typeface="+mn-ea"/>
              </a:rPr>
              <a:t>)</a:t>
            </a:r>
            <a:r>
              <a:rPr lang="zh-CN" altLang="zh-CN" sz="1400" dirty="0">
                <a:latin typeface="+mn-ea"/>
              </a:rPr>
              <a:t>，发起异步</a:t>
            </a:r>
            <a:r>
              <a:rPr lang="en-US" altLang="zh-CN" sz="1400" dirty="0">
                <a:latin typeface="+mn-ea"/>
              </a:rPr>
              <a:t>DMA</a:t>
            </a:r>
            <a:r>
              <a:rPr lang="zh-CN" altLang="zh-CN" sz="1400" dirty="0">
                <a:latin typeface="+mn-ea"/>
              </a:rPr>
              <a:t>，无需</a:t>
            </a:r>
            <a:r>
              <a:rPr lang="en-US" altLang="zh-CN" sz="1400" dirty="0">
                <a:latin typeface="+mn-ea"/>
              </a:rPr>
              <a:t>CPU</a:t>
            </a:r>
            <a:r>
              <a:rPr lang="zh-CN" altLang="zh-CN" sz="1400" dirty="0">
                <a:latin typeface="+mn-ea"/>
              </a:rPr>
              <a:t>轮询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批量传输接口（待增强）</a:t>
            </a:r>
            <a:r>
              <a:rPr lang="zh-CN" altLang="zh-CN" sz="1400" dirty="0">
                <a:latin typeface="+mn-ea"/>
              </a:rPr>
              <a:t>：当前缺乏原生</a:t>
            </a:r>
            <a:r>
              <a:rPr lang="en-US" altLang="zh-CN" sz="1400" dirty="0">
                <a:latin typeface="+mn-ea"/>
              </a:rPr>
              <a:t>scatter-gather DMA</a:t>
            </a:r>
            <a:r>
              <a:rPr lang="zh-CN" altLang="zh-CN" sz="1400" dirty="0">
                <a:latin typeface="+mn-ea"/>
              </a:rPr>
              <a:t>支持，需上层</a:t>
            </a:r>
            <a:r>
              <a:rPr lang="en-US" altLang="zh-CN" sz="1400" dirty="0">
                <a:latin typeface="+mn-ea"/>
              </a:rPr>
              <a:t>for</a:t>
            </a:r>
            <a:r>
              <a:rPr lang="zh-CN" altLang="zh-CN" sz="1400" dirty="0">
                <a:latin typeface="+mn-ea"/>
              </a:rPr>
              <a:t>循环模拟，是主要性能痛点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完成通知接口</a:t>
            </a:r>
            <a:r>
              <a:rPr lang="zh-CN" altLang="zh-CN" sz="1400" dirty="0">
                <a:latin typeface="+mn-ea"/>
              </a:rPr>
              <a:t>：</a:t>
            </a:r>
            <a:r>
              <a:rPr lang="en-US" altLang="zh-CN" sz="1400" dirty="0">
                <a:latin typeface="+mn-ea"/>
              </a:rPr>
              <a:t>CUDA Event / RDMA completion queue (CQ)</a:t>
            </a:r>
            <a:r>
              <a:rPr lang="zh-CN" altLang="zh-CN" sz="1400" dirty="0">
                <a:latin typeface="+mn-ea"/>
              </a:rPr>
              <a:t>，传输完成后通知上层继续</a:t>
            </a:r>
            <a:r>
              <a:rPr lang="zh-CN" altLang="zh-CN" sz="1400" dirty="0" smtClean="0">
                <a:latin typeface="+mn-ea"/>
              </a:rPr>
              <a:t>计算</a:t>
            </a:r>
            <a:endParaRPr lang="en-US" altLang="zh-CN" sz="1400" dirty="0" smtClean="0"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 smtClean="0">
                <a:latin typeface="+mn-ea"/>
              </a:rPr>
              <a:t>拓扑</a:t>
            </a:r>
            <a:r>
              <a:rPr lang="zh-CN" altLang="zh-CN" sz="1400" b="1" dirty="0">
                <a:latin typeface="+mn-ea"/>
              </a:rPr>
              <a:t>查询接口</a:t>
            </a:r>
            <a:r>
              <a:rPr lang="zh-CN" altLang="zh-CN" sz="1400" dirty="0" smtClean="0">
                <a:latin typeface="+mn-ea"/>
              </a:rPr>
              <a:t>：</a:t>
            </a:r>
            <a:r>
              <a:rPr lang="en-US" altLang="zh-CN" sz="1400" dirty="0" err="1" smtClean="0">
                <a:latin typeface="+mn-ea"/>
              </a:rPr>
              <a:t>npu-smi</a:t>
            </a:r>
            <a:r>
              <a:rPr lang="en-US" altLang="zh-CN" sz="1400" dirty="0" smtClean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topo / </a:t>
            </a:r>
            <a:r>
              <a:rPr lang="en-US" altLang="zh-CN" sz="1400" dirty="0" err="1">
                <a:latin typeface="+mn-ea"/>
              </a:rPr>
              <a:t>ibstat</a:t>
            </a:r>
            <a:r>
              <a:rPr lang="zh-CN" altLang="zh-CN" sz="1400" dirty="0">
                <a:latin typeface="+mn-ea"/>
              </a:rPr>
              <a:t>，</a:t>
            </a:r>
            <a:r>
              <a:rPr lang="en-US" altLang="zh-CN" sz="1400" dirty="0">
                <a:latin typeface="+mn-ea"/>
              </a:rPr>
              <a:t>L3</a:t>
            </a:r>
            <a:r>
              <a:rPr lang="zh-CN" altLang="zh-CN" sz="1400" dirty="0">
                <a:latin typeface="+mn-ea"/>
              </a:rPr>
              <a:t>层据此做路由决策</a:t>
            </a:r>
            <a:endParaRPr lang="zh-CN" altLang="en-US" sz="1400" dirty="0">
              <a:latin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397413"/>
              </p:ext>
            </p:extLst>
          </p:nvPr>
        </p:nvGraphicFramePr>
        <p:xfrm>
          <a:off x="471912" y="1085006"/>
          <a:ext cx="11138199" cy="2570480"/>
        </p:xfrm>
        <a:graphic>
          <a:graphicData uri="http://schemas.openxmlformats.org/drawingml/2006/table">
            <a:tbl>
              <a:tblPr/>
              <a:tblGrid>
                <a:gridCol w="2141961">
                  <a:extLst>
                    <a:ext uri="{9D8B030D-6E8A-4147-A177-3AD203B41FA5}">
                      <a16:colId xmlns:a16="http://schemas.microsoft.com/office/drawing/2014/main" val="450821545"/>
                    </a:ext>
                  </a:extLst>
                </a:gridCol>
                <a:gridCol w="2022964">
                  <a:extLst>
                    <a:ext uri="{9D8B030D-6E8A-4147-A177-3AD203B41FA5}">
                      <a16:colId xmlns:a16="http://schemas.microsoft.com/office/drawing/2014/main" val="3931206514"/>
                    </a:ext>
                  </a:extLst>
                </a:gridCol>
                <a:gridCol w="2022964">
                  <a:extLst>
                    <a:ext uri="{9D8B030D-6E8A-4147-A177-3AD203B41FA5}">
                      <a16:colId xmlns:a16="http://schemas.microsoft.com/office/drawing/2014/main" val="2298620125"/>
                    </a:ext>
                  </a:extLst>
                </a:gridCol>
                <a:gridCol w="2260959">
                  <a:extLst>
                    <a:ext uri="{9D8B030D-6E8A-4147-A177-3AD203B41FA5}">
                      <a16:colId xmlns:a16="http://schemas.microsoft.com/office/drawing/2014/main" val="2268768734"/>
                    </a:ext>
                  </a:extLst>
                </a:gridCol>
                <a:gridCol w="2689351">
                  <a:extLst>
                    <a:ext uri="{9D8B030D-6E8A-4147-A177-3AD203B41FA5}">
                      <a16:colId xmlns:a16="http://schemas.microsoft.com/office/drawing/2014/main" val="3535729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传输机制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物理路径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峰值带宽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典型时延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主要用途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0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err="1" smtClean="0">
                          <a:effectLst/>
                          <a:latin typeface="+mn-ea"/>
                          <a:ea typeface="+mn-ea"/>
                        </a:rPr>
                        <a:t>xxx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Memcpy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HBM↔CPU DDR via 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PCIe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/URMA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PCIe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Gen4: 64 GB/s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双向</a:t>
                      </a: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UB</a:t>
                      </a:r>
                      <a:r>
                        <a:rPr lang="zh-CN" altLang="en-US" sz="1200" dirty="0" smtClean="0">
                          <a:effectLst/>
                          <a:latin typeface="+mn-ea"/>
                          <a:ea typeface="+mn-ea"/>
                        </a:rPr>
                        <a:t>：</a:t>
                      </a: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XXX</a:t>
                      </a:r>
                      <a:r>
                        <a:rPr lang="zh-CN" altLang="en-US" sz="1200" dirty="0" smtClean="0">
                          <a:effectLst/>
                          <a:latin typeface="+mn-ea"/>
                          <a:ea typeface="+mn-ea"/>
                        </a:rPr>
                        <a:t>双向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H2D/D2H: 10-50 μs+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传输时延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NPU-CPU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swap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919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P2P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Transfer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NPU↔NPU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via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UB/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PCIe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UB: XXX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GB/s;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PCIe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: 64 GB/s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UB: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2-5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μs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;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PCIe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: 20+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μs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同机多卡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迁移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465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NPUDirect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RDMA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HBM↔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网卡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↔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远端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ROCE</a:t>
                      </a:r>
                      <a:r>
                        <a:rPr lang="en-US" altLang="zh-CN" sz="1200" baseline="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400Gbps =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50 GB/s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3-10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μs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(RDMA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核心延迟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跨节点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P2P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传输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90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 RDMA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CPU DDR↔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网卡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↔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远端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DDR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ROCE</a:t>
                      </a:r>
                      <a:r>
                        <a:rPr lang="en-US" sz="1200" baseline="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400Gbps 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= 50 GB/s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5-15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μs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分布式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 DDR KV Pool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5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UBMEM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CPU DDR↔NPU</a:t>
                      </a:r>
                      <a:r>
                        <a:rPr lang="en-US" sz="1200" baseline="0" dirty="0" smtClean="0">
                          <a:effectLst/>
                          <a:latin typeface="+mn-ea"/>
                          <a:ea typeface="+mn-ea"/>
                        </a:rPr>
                        <a:t> DDR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UBMEM: XXX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GB/s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~100-300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ns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altLang="en-US" sz="1200" dirty="0" smtClean="0">
                          <a:effectLst/>
                          <a:latin typeface="+mn-ea"/>
                          <a:ea typeface="+mn-ea"/>
                        </a:rPr>
                        <a:t>元数据传输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77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NVMe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DMA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CPU↔NVMe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SSD via 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PCIe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PCIe Gen4 NVMe: 7 GB/s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50-200 μs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（读写混合）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冷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KVCache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持久化存储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671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832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 smtClean="0">
                <a:latin typeface="+mn-ea"/>
                <a:ea typeface="+mn-ea"/>
              </a:rPr>
              <a:t>L3</a:t>
            </a:r>
            <a:r>
              <a:rPr lang="zh-CN" altLang="en-US" sz="3200" dirty="0">
                <a:latin typeface="+mn-ea"/>
                <a:ea typeface="+mn-ea"/>
              </a:rPr>
              <a:t>传输管理层</a:t>
            </a:r>
          </a:p>
        </p:txBody>
      </p:sp>
      <p:sp>
        <p:nvSpPr>
          <p:cNvPr id="4" name="矩形 3"/>
          <p:cNvSpPr/>
          <p:nvPr/>
        </p:nvSpPr>
        <p:spPr>
          <a:xfrm>
            <a:off x="120073" y="946915"/>
            <a:ext cx="4082473" cy="3195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500"/>
              </a:spcAft>
            </a:pPr>
            <a:r>
              <a:rPr lang="en-US" altLang="zh-CN" sz="1200" b="1" dirty="0">
                <a:solidFill>
                  <a:srgbClr val="1F3864"/>
                </a:solidFill>
                <a:latin typeface="+mn-ea"/>
              </a:rPr>
              <a:t>Mooncake</a:t>
            </a:r>
            <a:r>
              <a:rPr lang="zh-CN" altLang="zh-CN" sz="1200" b="1" dirty="0">
                <a:solidFill>
                  <a:srgbClr val="1F3864"/>
                </a:solidFill>
                <a:latin typeface="+mn-ea"/>
              </a:rPr>
              <a:t>是月之暗面开源的面向</a:t>
            </a:r>
            <a:r>
              <a:rPr lang="en-US" altLang="zh-CN" sz="1200" b="1" dirty="0">
                <a:solidFill>
                  <a:srgbClr val="1F3864"/>
                </a:solidFill>
                <a:latin typeface="+mn-ea"/>
              </a:rPr>
              <a:t>LLM</a:t>
            </a:r>
            <a:r>
              <a:rPr lang="zh-CN" altLang="zh-CN" sz="1200" b="1" dirty="0">
                <a:solidFill>
                  <a:srgbClr val="1F3864"/>
                </a:solidFill>
                <a:latin typeface="+mn-ea"/>
              </a:rPr>
              <a:t>推理的分布式</a:t>
            </a:r>
            <a:r>
              <a:rPr lang="en-US" altLang="zh-CN" sz="1200" b="1" dirty="0" err="1">
                <a:solidFill>
                  <a:srgbClr val="1F3864"/>
                </a:solidFill>
                <a:latin typeface="+mn-ea"/>
              </a:rPr>
              <a:t>KVCache</a:t>
            </a:r>
            <a:r>
              <a:rPr lang="zh-CN" altLang="zh-CN" sz="1200" b="1" dirty="0">
                <a:solidFill>
                  <a:srgbClr val="1F3864"/>
                </a:solidFill>
                <a:latin typeface="+mn-ea"/>
              </a:rPr>
              <a:t>存储系统，其核心设计：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err="1">
                <a:latin typeface="+mn-ea"/>
              </a:rPr>
              <a:t>BufferPool</a:t>
            </a:r>
            <a:r>
              <a:rPr lang="zh-CN" altLang="zh-CN" sz="1200" b="1" dirty="0">
                <a:latin typeface="+mn-ea"/>
              </a:rPr>
              <a:t>管理</a:t>
            </a:r>
            <a:r>
              <a:rPr lang="zh-CN" altLang="zh-CN" sz="1200" dirty="0">
                <a:latin typeface="+mn-ea"/>
              </a:rPr>
              <a:t>：统一管理注册到</a:t>
            </a:r>
            <a:r>
              <a:rPr lang="en-US" altLang="zh-CN" sz="1200" dirty="0">
                <a:latin typeface="+mn-ea"/>
              </a:rPr>
              <a:t>RDMA</a:t>
            </a:r>
            <a:r>
              <a:rPr lang="zh-CN" altLang="zh-CN" sz="1200" dirty="0">
                <a:latin typeface="+mn-ea"/>
              </a:rPr>
              <a:t>传输的内存</a:t>
            </a:r>
            <a:r>
              <a:rPr lang="en-US" altLang="zh-CN" sz="1200" dirty="0">
                <a:latin typeface="+mn-ea"/>
              </a:rPr>
              <a:t>Buffer Pool</a:t>
            </a:r>
            <a:r>
              <a:rPr lang="zh-CN" altLang="zh-CN" sz="1200" dirty="0">
                <a:latin typeface="+mn-ea"/>
              </a:rPr>
              <a:t>，</a:t>
            </a:r>
            <a:r>
              <a:rPr lang="zh-CN" altLang="zh-CN" sz="1200" dirty="0" smtClean="0">
                <a:latin typeface="+mn-ea"/>
              </a:rPr>
              <a:t>支持</a:t>
            </a:r>
            <a:r>
              <a:rPr lang="en-US" altLang="zh-CN" sz="1200" dirty="0" smtClean="0">
                <a:latin typeface="+mn-ea"/>
              </a:rPr>
              <a:t>NPU </a:t>
            </a:r>
            <a:r>
              <a:rPr lang="en-US" altLang="zh-CN" sz="1200" dirty="0">
                <a:latin typeface="+mn-ea"/>
              </a:rPr>
              <a:t>HBM Pool</a:t>
            </a:r>
            <a:r>
              <a:rPr lang="zh-CN" altLang="zh-CN" sz="1200" dirty="0">
                <a:latin typeface="+mn-ea"/>
              </a:rPr>
              <a:t>和</a:t>
            </a:r>
            <a:r>
              <a:rPr lang="en-US" altLang="zh-CN" sz="1200" dirty="0">
                <a:latin typeface="+mn-ea"/>
              </a:rPr>
              <a:t>CPU DDR Pool</a:t>
            </a:r>
            <a:r>
              <a:rPr lang="zh-CN" altLang="zh-CN" sz="1200" dirty="0">
                <a:latin typeface="+mn-ea"/>
              </a:rPr>
              <a:t>，</a:t>
            </a:r>
            <a:r>
              <a:rPr lang="en-US" altLang="zh-CN" sz="1200" dirty="0">
                <a:latin typeface="+mn-ea"/>
              </a:rPr>
              <a:t>Buffer</a:t>
            </a:r>
            <a:r>
              <a:rPr lang="zh-CN" altLang="zh-CN" sz="1200" dirty="0">
                <a:latin typeface="+mn-ea"/>
              </a:rPr>
              <a:t>以</a:t>
            </a:r>
            <a:r>
              <a:rPr lang="en-US" altLang="zh-CN" sz="1200" dirty="0">
                <a:latin typeface="+mn-ea"/>
              </a:rPr>
              <a:t>Segment</a:t>
            </a:r>
            <a:r>
              <a:rPr lang="zh-CN" altLang="zh-CN" sz="1200" dirty="0">
                <a:latin typeface="+mn-ea"/>
              </a:rPr>
              <a:t>粒度分配（</a:t>
            </a:r>
            <a:r>
              <a:rPr lang="en-US" altLang="zh-CN" sz="1200" dirty="0">
                <a:latin typeface="+mn-ea"/>
              </a:rPr>
              <a:t>Segment = </a:t>
            </a:r>
            <a:r>
              <a:rPr lang="zh-CN" altLang="zh-CN" sz="1200" dirty="0">
                <a:latin typeface="+mn-ea"/>
              </a:rPr>
              <a:t>多个</a:t>
            </a:r>
            <a:r>
              <a:rPr lang="en-US" altLang="zh-CN" sz="1200" dirty="0" err="1">
                <a:latin typeface="+mn-ea"/>
              </a:rPr>
              <a:t>KVCache</a:t>
            </a:r>
            <a:r>
              <a:rPr lang="en-US" altLang="zh-CN" sz="1200" dirty="0">
                <a:latin typeface="+mn-ea"/>
              </a:rPr>
              <a:t> Block</a:t>
            </a:r>
            <a:r>
              <a:rPr lang="zh-CN" altLang="zh-CN" sz="1200" dirty="0">
                <a:latin typeface="+mn-ea"/>
              </a:rPr>
              <a:t>的连续内存区域）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元数据路由</a:t>
            </a:r>
            <a:r>
              <a:rPr lang="zh-CN" altLang="zh-CN" sz="1200" dirty="0">
                <a:latin typeface="+mn-ea"/>
              </a:rPr>
              <a:t>：基于全局分布式</a:t>
            </a:r>
            <a:r>
              <a:rPr lang="en-US" altLang="zh-CN" sz="1200" dirty="0">
                <a:latin typeface="+mn-ea"/>
              </a:rPr>
              <a:t>KV Store</a:t>
            </a:r>
            <a:r>
              <a:rPr lang="zh-CN" altLang="zh-CN" sz="1200" dirty="0">
                <a:latin typeface="+mn-ea"/>
              </a:rPr>
              <a:t>（</a:t>
            </a:r>
            <a:r>
              <a:rPr lang="en-US" altLang="zh-CN" sz="1200" dirty="0" err="1">
                <a:latin typeface="+mn-ea"/>
              </a:rPr>
              <a:t>etcd</a:t>
            </a:r>
            <a:r>
              <a:rPr lang="en-US" altLang="zh-CN" sz="1200" dirty="0">
                <a:latin typeface="+mn-ea"/>
              </a:rPr>
              <a:t>/</a:t>
            </a:r>
            <a:r>
              <a:rPr lang="en-US" altLang="zh-CN" sz="1200" dirty="0" err="1">
                <a:latin typeface="+mn-ea"/>
              </a:rPr>
              <a:t>Redis</a:t>
            </a:r>
            <a:r>
              <a:rPr lang="zh-CN" altLang="zh-CN" sz="1200" dirty="0">
                <a:latin typeface="+mn-ea"/>
              </a:rPr>
              <a:t>）维护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 err="1">
                <a:latin typeface="+mn-ea"/>
              </a:rPr>
              <a:t>prefix_hash</a:t>
            </a:r>
            <a:r>
              <a:rPr lang="en-US" altLang="zh-CN" sz="1200" dirty="0">
                <a:latin typeface="+mn-ea"/>
              </a:rPr>
              <a:t> → {</a:t>
            </a:r>
            <a:r>
              <a:rPr lang="en-US" altLang="zh-CN" sz="1200" dirty="0" err="1">
                <a:latin typeface="+mn-ea"/>
              </a:rPr>
              <a:t>node_id</a:t>
            </a:r>
            <a:r>
              <a:rPr lang="en-US" altLang="zh-CN" sz="1200" dirty="0">
                <a:latin typeface="+mn-ea"/>
              </a:rPr>
              <a:t>, </a:t>
            </a:r>
            <a:r>
              <a:rPr lang="en-US" altLang="zh-CN" sz="1200" dirty="0" err="1">
                <a:latin typeface="+mn-ea"/>
              </a:rPr>
              <a:t>segment_offset</a:t>
            </a:r>
            <a:r>
              <a:rPr lang="en-US" altLang="zh-CN" sz="1200" dirty="0">
                <a:latin typeface="+mn-ea"/>
              </a:rPr>
              <a:t>} </a:t>
            </a:r>
            <a:r>
              <a:rPr lang="zh-CN" altLang="zh-CN" sz="1200" dirty="0">
                <a:latin typeface="+mn-ea"/>
              </a:rPr>
              <a:t>的映射，支持多副本和一致性哈希分片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+mn-ea"/>
              </a:rPr>
              <a:t>P2P</a:t>
            </a:r>
            <a:r>
              <a:rPr lang="zh-CN" altLang="zh-CN" sz="1200" b="1" dirty="0">
                <a:latin typeface="+mn-ea"/>
              </a:rPr>
              <a:t>传输引擎</a:t>
            </a:r>
            <a:r>
              <a:rPr lang="zh-CN" altLang="zh-CN" sz="1200" dirty="0">
                <a:latin typeface="+mn-ea"/>
              </a:rPr>
              <a:t>：利用</a:t>
            </a:r>
            <a:r>
              <a:rPr lang="en-US" altLang="zh-CN" sz="1200" dirty="0">
                <a:latin typeface="+mn-ea"/>
              </a:rPr>
              <a:t>RDMA</a:t>
            </a:r>
            <a:r>
              <a:rPr lang="zh-CN" altLang="zh-CN" sz="1200" dirty="0">
                <a:latin typeface="+mn-ea"/>
              </a:rPr>
              <a:t>直接在</a:t>
            </a:r>
            <a:r>
              <a:rPr lang="en-US" altLang="zh-CN" sz="1200" dirty="0">
                <a:latin typeface="+mn-ea"/>
              </a:rPr>
              <a:t>Prefill</a:t>
            </a:r>
            <a:r>
              <a:rPr lang="zh-CN" altLang="zh-CN" sz="1200" dirty="0" smtClean="0">
                <a:latin typeface="+mn-ea"/>
              </a:rPr>
              <a:t>节点</a:t>
            </a:r>
            <a:r>
              <a:rPr lang="en-US" altLang="zh-CN" sz="1200" dirty="0" smtClean="0">
                <a:latin typeface="+mn-ea"/>
              </a:rPr>
              <a:t>NPU </a:t>
            </a:r>
            <a:r>
              <a:rPr lang="en-US" altLang="zh-CN" sz="1200" dirty="0">
                <a:latin typeface="+mn-ea"/>
              </a:rPr>
              <a:t>HBM</a:t>
            </a:r>
            <a:r>
              <a:rPr lang="zh-CN" altLang="zh-CN" sz="1200" dirty="0">
                <a:latin typeface="+mn-ea"/>
              </a:rPr>
              <a:t>和</a:t>
            </a:r>
            <a:r>
              <a:rPr lang="en-US" altLang="zh-CN" sz="1200" dirty="0">
                <a:latin typeface="+mn-ea"/>
              </a:rPr>
              <a:t>Decode</a:t>
            </a:r>
            <a:r>
              <a:rPr lang="zh-CN" altLang="zh-CN" sz="1200" dirty="0" smtClean="0">
                <a:latin typeface="+mn-ea"/>
              </a:rPr>
              <a:t>节点</a:t>
            </a:r>
            <a:r>
              <a:rPr lang="en-US" altLang="zh-CN" sz="1200" dirty="0" smtClean="0">
                <a:latin typeface="+mn-ea"/>
              </a:rPr>
              <a:t>NPU </a:t>
            </a:r>
            <a:r>
              <a:rPr lang="en-US" altLang="zh-CN" sz="1200" dirty="0">
                <a:latin typeface="+mn-ea"/>
              </a:rPr>
              <a:t>HBM</a:t>
            </a:r>
            <a:r>
              <a:rPr lang="zh-CN" altLang="zh-CN" sz="1200" dirty="0">
                <a:latin typeface="+mn-ea"/>
              </a:rPr>
              <a:t>之间传输</a:t>
            </a:r>
            <a:r>
              <a:rPr lang="en-US" altLang="zh-CN" sz="1200" dirty="0" err="1">
                <a:latin typeface="+mn-ea"/>
              </a:rPr>
              <a:t>KVCache</a:t>
            </a:r>
            <a:r>
              <a:rPr lang="zh-CN" altLang="zh-CN" sz="1200" dirty="0">
                <a:latin typeface="+mn-ea"/>
              </a:rPr>
              <a:t>，绕过</a:t>
            </a:r>
            <a:r>
              <a:rPr lang="en-US" altLang="zh-CN" sz="1200" dirty="0">
                <a:latin typeface="+mn-ea"/>
              </a:rPr>
              <a:t>CPU</a:t>
            </a:r>
            <a:r>
              <a:rPr lang="zh-CN" altLang="zh-CN" sz="1200" dirty="0">
                <a:latin typeface="+mn-ea"/>
              </a:rPr>
              <a:t>，实现</a:t>
            </a:r>
            <a:r>
              <a:rPr lang="en-US" altLang="zh-CN" sz="1200" dirty="0">
                <a:latin typeface="+mn-ea"/>
              </a:rPr>
              <a:t>Disaggregated Prefill</a:t>
            </a:r>
            <a:r>
              <a:rPr lang="zh-CN" altLang="zh-CN" sz="1200" dirty="0">
                <a:latin typeface="+mn-ea"/>
              </a:rPr>
              <a:t>架构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err="1">
                <a:latin typeface="+mn-ea"/>
              </a:rPr>
              <a:t>MooncakeStore</a:t>
            </a:r>
            <a:r>
              <a:rPr lang="zh-CN" altLang="zh-CN" sz="1200" dirty="0">
                <a:latin typeface="+mn-ea"/>
              </a:rPr>
              <a:t>：扩展了本地</a:t>
            </a:r>
            <a:r>
              <a:rPr lang="en-US" altLang="zh-CN" sz="1200" dirty="0">
                <a:latin typeface="+mn-ea"/>
              </a:rPr>
              <a:t>SSD/</a:t>
            </a:r>
            <a:r>
              <a:rPr lang="zh-CN" altLang="zh-CN" sz="1200" dirty="0">
                <a:latin typeface="+mn-ea"/>
              </a:rPr>
              <a:t>远端持久化存储层，支持</a:t>
            </a:r>
            <a:r>
              <a:rPr lang="en-US" altLang="zh-CN" sz="1200" dirty="0" err="1">
                <a:latin typeface="+mn-ea"/>
              </a:rPr>
              <a:t>KVCache</a:t>
            </a:r>
            <a:r>
              <a:rPr lang="zh-CN" altLang="zh-CN" sz="1200" dirty="0">
                <a:latin typeface="+mn-ea"/>
              </a:rPr>
              <a:t>的三级存储</a:t>
            </a:r>
            <a:r>
              <a:rPr lang="zh-CN" altLang="zh-CN" sz="1200" dirty="0" smtClean="0">
                <a:latin typeface="+mn-ea"/>
              </a:rPr>
              <a:t>（</a:t>
            </a:r>
            <a:r>
              <a:rPr lang="en-US" altLang="zh-CN" sz="1200" dirty="0" smtClean="0">
                <a:latin typeface="+mn-ea"/>
              </a:rPr>
              <a:t>NPU→</a:t>
            </a:r>
            <a:r>
              <a:rPr lang="en-US" altLang="zh-CN" sz="1200" dirty="0">
                <a:latin typeface="+mn-ea"/>
              </a:rPr>
              <a:t>CPU→SSD</a:t>
            </a:r>
            <a:r>
              <a:rPr lang="zh-CN" altLang="zh-CN" sz="1200" dirty="0">
                <a:latin typeface="+mn-ea"/>
              </a:rPr>
              <a:t>），提供统一的对象存储语义（</a:t>
            </a:r>
            <a:r>
              <a:rPr lang="en-US" altLang="zh-CN" sz="1200" dirty="0">
                <a:latin typeface="+mn-ea"/>
              </a:rPr>
              <a:t>PUT/GET/DELETE</a:t>
            </a:r>
            <a:r>
              <a:rPr lang="zh-CN" altLang="zh-CN" sz="1200" dirty="0">
                <a:latin typeface="+mn-ea"/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4387273" y="1223913"/>
            <a:ext cx="3592945" cy="264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500"/>
              </a:spcAft>
            </a:pPr>
            <a:r>
              <a:rPr lang="en-US" altLang="zh-CN" sz="1200" b="1" dirty="0" err="1">
                <a:solidFill>
                  <a:srgbClr val="1F3864"/>
                </a:solidFill>
                <a:latin typeface="+mn-ea"/>
              </a:rPr>
              <a:t>Nixl</a:t>
            </a:r>
            <a:r>
              <a:rPr lang="en-US" altLang="zh-CN" sz="1200" b="1" dirty="0">
                <a:solidFill>
                  <a:srgbClr val="1F3864"/>
                </a:solidFill>
                <a:latin typeface="+mn-ea"/>
              </a:rPr>
              <a:t> </a:t>
            </a:r>
            <a:r>
              <a:rPr lang="en-US" altLang="zh-CN" sz="1200" b="1" dirty="0" smtClean="0">
                <a:solidFill>
                  <a:srgbClr val="1F3864"/>
                </a:solidFill>
                <a:latin typeface="+mn-ea"/>
              </a:rPr>
              <a:t>(</a:t>
            </a:r>
            <a:r>
              <a:rPr lang="en-US" altLang="zh-CN" sz="1200" b="1" dirty="0" err="1" smtClean="0">
                <a:solidFill>
                  <a:srgbClr val="1F3864"/>
                </a:solidFill>
                <a:latin typeface="+mn-ea"/>
              </a:rPr>
              <a:t>npu</a:t>
            </a:r>
            <a:r>
              <a:rPr lang="en-US" altLang="zh-CN" sz="1200" b="1" dirty="0" smtClean="0">
                <a:solidFill>
                  <a:srgbClr val="1F3864"/>
                </a:solidFill>
                <a:latin typeface="+mn-ea"/>
              </a:rPr>
              <a:t> </a:t>
            </a:r>
            <a:r>
              <a:rPr lang="en-US" altLang="zh-CN" sz="1200" b="1" dirty="0">
                <a:solidFill>
                  <a:srgbClr val="1F3864"/>
                </a:solidFill>
                <a:latin typeface="+mn-ea"/>
              </a:rPr>
              <a:t>Inference Transfer Library)</a:t>
            </a:r>
            <a:endParaRPr lang="zh-CN" altLang="zh-CN" sz="1200" b="1" dirty="0">
              <a:solidFill>
                <a:srgbClr val="1F3864"/>
              </a:solidFill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拓扑感知路由</a:t>
            </a:r>
            <a:r>
              <a:rPr lang="zh-CN" altLang="zh-CN" sz="1200" dirty="0">
                <a:latin typeface="+mn-ea"/>
              </a:rPr>
              <a:t>：</a:t>
            </a:r>
            <a:r>
              <a:rPr lang="en-US" altLang="zh-CN" sz="1200" dirty="0" err="1">
                <a:latin typeface="+mn-ea"/>
              </a:rPr>
              <a:t>Nixl</a:t>
            </a:r>
            <a:r>
              <a:rPr lang="zh-CN" altLang="zh-CN" sz="1200" dirty="0">
                <a:latin typeface="+mn-ea"/>
              </a:rPr>
              <a:t>集成</a:t>
            </a:r>
            <a:r>
              <a:rPr lang="en-US" altLang="zh-CN" sz="1200" dirty="0">
                <a:latin typeface="+mn-ea"/>
              </a:rPr>
              <a:t>NCCL</a:t>
            </a:r>
            <a:r>
              <a:rPr lang="zh-CN" altLang="zh-CN" sz="1200" dirty="0">
                <a:latin typeface="+mn-ea"/>
              </a:rPr>
              <a:t>拓扑发现结果，自动</a:t>
            </a:r>
            <a:r>
              <a:rPr lang="zh-CN" altLang="zh-CN" sz="1200" dirty="0" smtClean="0">
                <a:latin typeface="+mn-ea"/>
              </a:rPr>
              <a:t>选择</a:t>
            </a:r>
            <a:r>
              <a:rPr lang="en-US" altLang="zh-CN" sz="1200" dirty="0" smtClean="0">
                <a:latin typeface="+mn-ea"/>
              </a:rPr>
              <a:t>UB </a:t>
            </a:r>
            <a:r>
              <a:rPr lang="en-US" altLang="zh-CN" sz="1200" dirty="0">
                <a:latin typeface="+mn-ea"/>
              </a:rPr>
              <a:t>vs </a:t>
            </a:r>
            <a:r>
              <a:rPr lang="en-US" altLang="zh-CN" sz="1200" dirty="0" err="1" smtClean="0">
                <a:latin typeface="+mn-ea"/>
              </a:rPr>
              <a:t>UBSwitch</a:t>
            </a:r>
            <a:r>
              <a:rPr lang="en-US" altLang="zh-CN" sz="1200" dirty="0" smtClean="0">
                <a:latin typeface="+mn-ea"/>
              </a:rPr>
              <a:t> </a:t>
            </a:r>
            <a:r>
              <a:rPr lang="en-US" altLang="zh-CN" sz="1200" dirty="0">
                <a:latin typeface="+mn-ea"/>
              </a:rPr>
              <a:t>vs </a:t>
            </a:r>
            <a:r>
              <a:rPr lang="en-US" altLang="zh-CN" sz="1200" dirty="0" err="1">
                <a:latin typeface="+mn-ea"/>
              </a:rPr>
              <a:t>PCIe</a:t>
            </a:r>
            <a:r>
              <a:rPr lang="en-US" altLang="zh-CN" sz="1200" dirty="0">
                <a:latin typeface="+mn-ea"/>
              </a:rPr>
              <a:t> vs IB</a:t>
            </a:r>
            <a:r>
              <a:rPr lang="zh-CN" altLang="zh-CN" sz="1200" dirty="0">
                <a:latin typeface="+mn-ea"/>
              </a:rPr>
              <a:t>的最优传输路径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latin typeface="+mn-ea"/>
              </a:rPr>
              <a:t>NPU</a:t>
            </a:r>
            <a:r>
              <a:rPr lang="zh-CN" altLang="zh-CN" sz="1200" b="1" dirty="0" smtClean="0">
                <a:latin typeface="+mn-ea"/>
              </a:rPr>
              <a:t>内存</a:t>
            </a:r>
            <a:r>
              <a:rPr lang="zh-CN" altLang="zh-CN" sz="1200" b="1" dirty="0">
                <a:latin typeface="+mn-ea"/>
              </a:rPr>
              <a:t>直传</a:t>
            </a:r>
            <a:r>
              <a:rPr lang="zh-CN" altLang="zh-CN" sz="1200" dirty="0">
                <a:latin typeface="+mn-ea"/>
              </a:rPr>
              <a:t>：</a:t>
            </a:r>
            <a:r>
              <a:rPr lang="zh-CN" altLang="zh-CN" sz="1200" dirty="0" smtClean="0">
                <a:latin typeface="+mn-ea"/>
              </a:rPr>
              <a:t>支持</a:t>
            </a:r>
            <a:r>
              <a:rPr lang="en-US" altLang="zh-CN" sz="1200" dirty="0" smtClean="0">
                <a:latin typeface="+mn-ea"/>
              </a:rPr>
              <a:t>NPU </a:t>
            </a:r>
            <a:r>
              <a:rPr lang="en-US" altLang="zh-CN" sz="1200" dirty="0">
                <a:latin typeface="+mn-ea"/>
              </a:rPr>
              <a:t>HBM</a:t>
            </a:r>
            <a:r>
              <a:rPr lang="zh-CN" altLang="zh-CN" sz="1200" dirty="0">
                <a:latin typeface="+mn-ea"/>
              </a:rPr>
              <a:t>直接作为</a:t>
            </a:r>
            <a:r>
              <a:rPr lang="en-US" altLang="zh-CN" sz="1200" dirty="0">
                <a:latin typeface="+mn-ea"/>
              </a:rPr>
              <a:t>RDMA Source/Destination</a:t>
            </a:r>
            <a:r>
              <a:rPr lang="zh-CN" altLang="zh-CN" sz="1200" dirty="0">
                <a:latin typeface="+mn-ea"/>
              </a:rPr>
              <a:t>（</a:t>
            </a:r>
            <a:r>
              <a:rPr lang="zh-CN" altLang="zh-CN" sz="1200" dirty="0" smtClean="0">
                <a:latin typeface="+mn-ea"/>
              </a:rPr>
              <a:t>依赖</a:t>
            </a:r>
            <a:r>
              <a:rPr lang="en-US" altLang="zh-CN" sz="1200" dirty="0" err="1" smtClean="0">
                <a:latin typeface="+mn-ea"/>
              </a:rPr>
              <a:t>NPUDirect</a:t>
            </a:r>
            <a:r>
              <a:rPr lang="en-US" altLang="zh-CN" sz="1200" dirty="0" smtClean="0">
                <a:latin typeface="+mn-ea"/>
              </a:rPr>
              <a:t> </a:t>
            </a:r>
            <a:r>
              <a:rPr lang="en-US" altLang="zh-CN" sz="1200" dirty="0">
                <a:latin typeface="+mn-ea"/>
              </a:rPr>
              <a:t>RDMA</a:t>
            </a:r>
            <a:r>
              <a:rPr lang="zh-CN" altLang="zh-CN" sz="1200" dirty="0">
                <a:latin typeface="+mn-ea"/>
              </a:rPr>
              <a:t>），完全绕过</a:t>
            </a:r>
            <a:r>
              <a:rPr lang="en-US" altLang="zh-CN" sz="1200" dirty="0">
                <a:latin typeface="+mn-ea"/>
              </a:rPr>
              <a:t>CPU</a:t>
            </a:r>
            <a:r>
              <a:rPr lang="zh-CN" altLang="zh-CN" sz="1200" dirty="0">
                <a:latin typeface="+mn-ea"/>
              </a:rPr>
              <a:t>和系统内存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传输原语</a:t>
            </a:r>
            <a:r>
              <a:rPr lang="zh-CN" altLang="zh-CN" sz="1200" dirty="0">
                <a:latin typeface="+mn-ea"/>
              </a:rPr>
              <a:t>：提供</a:t>
            </a:r>
            <a:r>
              <a:rPr lang="en-US" altLang="zh-CN" sz="1200" dirty="0" err="1">
                <a:latin typeface="+mn-ea"/>
              </a:rPr>
              <a:t>nixl_send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dirty="0" err="1">
                <a:latin typeface="+mn-ea"/>
              </a:rPr>
              <a:t>src_desc</a:t>
            </a:r>
            <a:r>
              <a:rPr lang="en-US" altLang="zh-CN" sz="1200" dirty="0">
                <a:latin typeface="+mn-ea"/>
              </a:rPr>
              <a:t>, </a:t>
            </a:r>
            <a:r>
              <a:rPr lang="en-US" altLang="zh-CN" sz="1200" dirty="0" err="1">
                <a:latin typeface="+mn-ea"/>
              </a:rPr>
              <a:t>dst_desc</a:t>
            </a:r>
            <a:r>
              <a:rPr lang="en-US" altLang="zh-CN" sz="1200" dirty="0">
                <a:latin typeface="+mn-ea"/>
              </a:rPr>
              <a:t>, size)</a:t>
            </a:r>
            <a:r>
              <a:rPr lang="zh-CN" altLang="zh-CN" sz="1200" dirty="0">
                <a:latin typeface="+mn-ea"/>
              </a:rPr>
              <a:t>和</a:t>
            </a:r>
            <a:r>
              <a:rPr lang="en-US" altLang="zh-CN" sz="1200" dirty="0" err="1">
                <a:latin typeface="+mn-ea"/>
              </a:rPr>
              <a:t>nixl_recv</a:t>
            </a:r>
            <a:r>
              <a:rPr lang="en-US" altLang="zh-CN" sz="1200" dirty="0">
                <a:latin typeface="+mn-ea"/>
              </a:rPr>
              <a:t>()</a:t>
            </a:r>
            <a:r>
              <a:rPr lang="zh-CN" altLang="zh-CN" sz="1200" dirty="0">
                <a:latin typeface="+mn-ea"/>
              </a:rPr>
              <a:t>接口，描述符（</a:t>
            </a:r>
            <a:r>
              <a:rPr lang="en-US" altLang="zh-CN" sz="1200" dirty="0">
                <a:latin typeface="+mn-ea"/>
              </a:rPr>
              <a:t>Descriptor</a:t>
            </a:r>
            <a:r>
              <a:rPr lang="zh-CN" altLang="zh-CN" sz="1200" dirty="0">
                <a:latin typeface="+mn-ea"/>
              </a:rPr>
              <a:t>）中包含内存类型</a:t>
            </a:r>
            <a:r>
              <a:rPr lang="zh-CN" altLang="zh-CN" sz="1200" dirty="0" smtClean="0">
                <a:latin typeface="+mn-ea"/>
              </a:rPr>
              <a:t>（</a:t>
            </a:r>
            <a:r>
              <a:rPr lang="en-US" altLang="zh-CN" sz="1200" dirty="0" smtClean="0">
                <a:latin typeface="+mn-ea"/>
              </a:rPr>
              <a:t>NPU/CPU</a:t>
            </a:r>
            <a:r>
              <a:rPr lang="zh-CN" altLang="zh-CN" sz="1200" dirty="0">
                <a:latin typeface="+mn-ea"/>
              </a:rPr>
              <a:t>）、地址、</a:t>
            </a:r>
            <a:r>
              <a:rPr lang="zh-CN" altLang="zh-CN" sz="1200" dirty="0" smtClean="0">
                <a:latin typeface="+mn-ea"/>
              </a:rPr>
              <a:t>大小</a:t>
            </a:r>
            <a:endParaRPr lang="en-US" altLang="zh-CN" sz="1200" dirty="0" smtClean="0"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 smtClean="0">
                <a:latin typeface="+mn-ea"/>
              </a:rPr>
              <a:t>异步传输</a:t>
            </a:r>
            <a:r>
              <a:rPr lang="zh-CN" altLang="zh-CN" sz="1200" b="1" dirty="0">
                <a:latin typeface="+mn-ea"/>
              </a:rPr>
              <a:t>与流同步</a:t>
            </a:r>
            <a:r>
              <a:rPr lang="zh-CN" altLang="zh-CN" sz="1200" dirty="0">
                <a:latin typeface="+mn-ea"/>
              </a:rPr>
              <a:t>：传输与</a:t>
            </a:r>
            <a:r>
              <a:rPr lang="en-US" altLang="zh-CN" sz="1200" dirty="0">
                <a:latin typeface="+mn-ea"/>
              </a:rPr>
              <a:t>CUDA</a:t>
            </a:r>
            <a:r>
              <a:rPr lang="zh-CN" altLang="zh-CN" sz="1200" dirty="0">
                <a:latin typeface="+mn-ea"/>
              </a:rPr>
              <a:t>计算</a:t>
            </a:r>
            <a:r>
              <a:rPr lang="en-US" altLang="zh-CN" sz="1200" dirty="0">
                <a:latin typeface="+mn-ea"/>
              </a:rPr>
              <a:t>Stream</a:t>
            </a:r>
            <a:r>
              <a:rPr lang="zh-CN" altLang="zh-CN" sz="1200" dirty="0">
                <a:latin typeface="+mn-ea"/>
              </a:rPr>
              <a:t>绑定，支持精确的流同步控制，避免数据竞争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35635" y="1223913"/>
            <a:ext cx="3740728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500"/>
              </a:spcAft>
            </a:pPr>
            <a:r>
              <a:rPr lang="en-US" altLang="zh-CN" sz="1200" b="1" dirty="0" err="1">
                <a:solidFill>
                  <a:srgbClr val="1F3864"/>
                </a:solidFill>
                <a:latin typeface="+mn-ea"/>
              </a:rPr>
              <a:t>LMCache</a:t>
            </a:r>
            <a:endParaRPr lang="zh-CN" altLang="zh-CN" sz="1200" b="1" dirty="0">
              <a:solidFill>
                <a:srgbClr val="1F3864"/>
              </a:solidFill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多层</a:t>
            </a:r>
            <a:r>
              <a:rPr lang="en-US" altLang="zh-CN" sz="1200" b="1" dirty="0" err="1">
                <a:latin typeface="+mn-ea"/>
              </a:rPr>
              <a:t>KVCache</a:t>
            </a:r>
            <a:r>
              <a:rPr lang="zh-CN" altLang="zh-CN" sz="1200" b="1" dirty="0">
                <a:latin typeface="+mn-ea"/>
              </a:rPr>
              <a:t>管理</a:t>
            </a:r>
            <a:r>
              <a:rPr lang="zh-CN" altLang="zh-CN" sz="1200" dirty="0">
                <a:latin typeface="+mn-ea"/>
              </a:rPr>
              <a:t>：</a:t>
            </a:r>
            <a:r>
              <a:rPr lang="zh-CN" altLang="zh-CN" sz="1200" dirty="0" smtClean="0">
                <a:latin typeface="+mn-ea"/>
              </a:rPr>
              <a:t>维护</a:t>
            </a:r>
            <a:r>
              <a:rPr lang="en-US" altLang="zh-CN" sz="1200" dirty="0" smtClean="0">
                <a:latin typeface="+mn-ea"/>
              </a:rPr>
              <a:t>NPU </a:t>
            </a:r>
            <a:r>
              <a:rPr lang="en-US" altLang="zh-CN" sz="1200" dirty="0">
                <a:latin typeface="+mn-ea"/>
              </a:rPr>
              <a:t>HBM → CPU DDR → </a:t>
            </a:r>
            <a:r>
              <a:rPr lang="zh-CN" altLang="zh-CN" sz="1200" dirty="0">
                <a:latin typeface="+mn-ea"/>
              </a:rPr>
              <a:t>本地</a:t>
            </a:r>
            <a:r>
              <a:rPr lang="en-US" altLang="zh-CN" sz="1200" dirty="0">
                <a:latin typeface="+mn-ea"/>
              </a:rPr>
              <a:t>SSD</a:t>
            </a:r>
            <a:r>
              <a:rPr lang="zh-CN" altLang="zh-CN" sz="1200" dirty="0">
                <a:latin typeface="+mn-ea"/>
              </a:rPr>
              <a:t>的三层存储，</a:t>
            </a:r>
            <a:r>
              <a:rPr lang="en-US" altLang="zh-CN" sz="1200" dirty="0">
                <a:latin typeface="+mn-ea"/>
              </a:rPr>
              <a:t>LRU</a:t>
            </a:r>
            <a:r>
              <a:rPr lang="zh-CN" altLang="zh-CN" sz="1200" dirty="0">
                <a:latin typeface="+mn-ea"/>
              </a:rPr>
              <a:t>策略自动将冷数据下推至慢速介质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语义缓存支持（实验）</a:t>
            </a:r>
            <a:r>
              <a:rPr lang="zh-CN" altLang="zh-CN" sz="1200" dirty="0">
                <a:latin typeface="+mn-ea"/>
              </a:rPr>
              <a:t>：通过嵌入相似度匹配，识别语义等价的</a:t>
            </a:r>
            <a:r>
              <a:rPr lang="en-US" altLang="zh-CN" sz="1200" dirty="0">
                <a:latin typeface="+mn-ea"/>
              </a:rPr>
              <a:t>prompt</a:t>
            </a:r>
            <a:r>
              <a:rPr lang="zh-CN" altLang="zh-CN" sz="1200" dirty="0">
                <a:latin typeface="+mn-ea"/>
              </a:rPr>
              <a:t>前缀，实现跨请求</a:t>
            </a:r>
            <a:r>
              <a:rPr lang="en-US" altLang="zh-CN" sz="1200" dirty="0" err="1">
                <a:latin typeface="+mn-ea"/>
              </a:rPr>
              <a:t>KVCache</a:t>
            </a:r>
            <a:r>
              <a:rPr lang="zh-CN" altLang="zh-CN" sz="1200" dirty="0">
                <a:latin typeface="+mn-ea"/>
              </a:rPr>
              <a:t>复用（近似匹配）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200" b="1" dirty="0">
                <a:latin typeface="+mn-ea"/>
              </a:rPr>
              <a:t>向</a:t>
            </a:r>
            <a:r>
              <a:rPr lang="en-US" altLang="zh-CN" sz="1200" b="1" dirty="0">
                <a:latin typeface="+mn-ea"/>
              </a:rPr>
              <a:t>L2</a:t>
            </a:r>
            <a:r>
              <a:rPr lang="zh-CN" altLang="zh-CN" sz="1200" b="1" dirty="0">
                <a:latin typeface="+mn-ea"/>
              </a:rPr>
              <a:t>提供的接口</a:t>
            </a:r>
            <a:r>
              <a:rPr lang="zh-CN" altLang="zh-CN" sz="1200" dirty="0">
                <a:latin typeface="+mn-ea"/>
              </a:rPr>
              <a:t>：</a:t>
            </a:r>
            <a:r>
              <a:rPr lang="en-US" altLang="zh-CN" sz="1200" dirty="0">
                <a:latin typeface="+mn-ea"/>
              </a:rPr>
              <a:t>store(key, </a:t>
            </a:r>
            <a:r>
              <a:rPr lang="en-US" altLang="zh-CN" sz="1200" dirty="0" err="1">
                <a:latin typeface="+mn-ea"/>
              </a:rPr>
              <a:t>kv_data</a:t>
            </a:r>
            <a:r>
              <a:rPr lang="en-US" altLang="zh-CN" sz="1200" dirty="0">
                <a:latin typeface="+mn-ea"/>
              </a:rPr>
              <a:t>)/retrieve(key)/evict(key)</a:t>
            </a:r>
            <a:r>
              <a:rPr lang="zh-CN" altLang="zh-CN" sz="1200" dirty="0">
                <a:latin typeface="+mn-ea"/>
              </a:rPr>
              <a:t>的简洁对象存储接口，</a:t>
            </a:r>
            <a:r>
              <a:rPr lang="en-US" altLang="zh-CN" sz="1200" dirty="0">
                <a:latin typeface="+mn-ea"/>
              </a:rPr>
              <a:t>key = </a:t>
            </a:r>
            <a:r>
              <a:rPr lang="en-US" altLang="zh-CN" sz="1200" dirty="0" err="1">
                <a:latin typeface="+mn-ea"/>
              </a:rPr>
              <a:t>prefix_hash</a:t>
            </a:r>
            <a:endParaRPr lang="zh-CN" altLang="zh-CN" sz="1200" dirty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02546" y="4421201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n-ea"/>
              </a:rPr>
              <a:t>L3 </a:t>
            </a:r>
            <a:r>
              <a:rPr lang="zh-CN" altLang="en-US" dirty="0" smtClean="0">
                <a:latin typeface="+mn-ea"/>
              </a:rPr>
              <a:t>层向上层提供的能力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119568"/>
              </p:ext>
            </p:extLst>
          </p:nvPr>
        </p:nvGraphicFramePr>
        <p:xfrm>
          <a:off x="866530" y="4320078"/>
          <a:ext cx="10497102" cy="2237743"/>
        </p:xfrm>
        <a:graphic>
          <a:graphicData uri="http://schemas.openxmlformats.org/drawingml/2006/table">
            <a:tbl>
              <a:tblPr/>
              <a:tblGrid>
                <a:gridCol w="1906525">
                  <a:extLst>
                    <a:ext uri="{9D8B030D-6E8A-4147-A177-3AD203B41FA5}">
                      <a16:colId xmlns:a16="http://schemas.microsoft.com/office/drawing/2014/main" val="3708919802"/>
                    </a:ext>
                  </a:extLst>
                </a:gridCol>
                <a:gridCol w="2018673">
                  <a:extLst>
                    <a:ext uri="{9D8B030D-6E8A-4147-A177-3AD203B41FA5}">
                      <a16:colId xmlns:a16="http://schemas.microsoft.com/office/drawing/2014/main" val="3155391294"/>
                    </a:ext>
                  </a:extLst>
                </a:gridCol>
                <a:gridCol w="1682228">
                  <a:extLst>
                    <a:ext uri="{9D8B030D-6E8A-4147-A177-3AD203B41FA5}">
                      <a16:colId xmlns:a16="http://schemas.microsoft.com/office/drawing/2014/main" val="2001994370"/>
                    </a:ext>
                  </a:extLst>
                </a:gridCol>
                <a:gridCol w="1682228">
                  <a:extLst>
                    <a:ext uri="{9D8B030D-6E8A-4147-A177-3AD203B41FA5}">
                      <a16:colId xmlns:a16="http://schemas.microsoft.com/office/drawing/2014/main" val="3887191815"/>
                    </a:ext>
                  </a:extLst>
                </a:gridCol>
                <a:gridCol w="3207448">
                  <a:extLst>
                    <a:ext uri="{9D8B030D-6E8A-4147-A177-3AD203B41FA5}">
                      <a16:colId xmlns:a16="http://schemas.microsoft.com/office/drawing/2014/main" val="1752202677"/>
                    </a:ext>
                  </a:extLst>
                </a:gridCol>
              </a:tblGrid>
              <a:tr h="3061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能力维度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Mooncake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Nixl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LMCache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关键差异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145949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跨节点传输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RDMA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P2P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RDMA/UB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⚠️ 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有限支持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Nixl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拓扑感知更强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335739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直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传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NPUDirect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NPUDirect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❌ 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需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经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CPU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Mooncake/Nixl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均支持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055330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分层存储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NPU/CPU/SSD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! NPU/CPU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为主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NPU/CPU/SSD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LMCache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分层策略更完善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359923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元数据管理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分布式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etcd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路由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! 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依赖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调用方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  <a:sym typeface="Wingdings 2" panose="05020102010507070707" pitchFamily="18" charset="2"/>
                        </a:rPr>
                        <a:t>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哈希索引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Mooncake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规模化能力最强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06077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传输压缩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!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部分支持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❌ 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不支持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! 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实验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性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均为待增强项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406781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200" dirty="0" smtClean="0">
                          <a:effectLst/>
                          <a:latin typeface="+mn-ea"/>
                          <a:ea typeface="+mn-ea"/>
                        </a:rPr>
                        <a:t>近似匹配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❌</a:t>
                      </a:r>
                      <a:r>
                        <a:rPr lang="zh-CN" altLang="zh-CN" sz="1200" dirty="0" smtClean="0">
                          <a:effectLst/>
                          <a:latin typeface="+mn-ea"/>
                          <a:ea typeface="+mn-ea"/>
                        </a:rPr>
                        <a:t>不支持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❌</a:t>
                      </a:r>
                      <a:r>
                        <a:rPr lang="zh-CN" altLang="zh-CN" sz="1200" dirty="0" smtClean="0">
                          <a:effectLst/>
                          <a:latin typeface="+mn-ea"/>
                          <a:ea typeface="+mn-ea"/>
                        </a:rPr>
                        <a:t>不支持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+mn-ea"/>
                          <a:ea typeface="+mn-ea"/>
                        </a:rPr>
                        <a:t>! 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实验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性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LMCache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创新性尝试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89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18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L2 Connector</a:t>
            </a:r>
            <a:r>
              <a:rPr lang="zh-CN" altLang="en-US" sz="3200" dirty="0">
                <a:latin typeface="+mn-ea"/>
                <a:ea typeface="+mn-ea"/>
              </a:rPr>
              <a:t>对接层</a:t>
            </a:r>
          </a:p>
        </p:txBody>
      </p:sp>
      <p:sp>
        <p:nvSpPr>
          <p:cNvPr id="5" name="矩形 4"/>
          <p:cNvSpPr/>
          <p:nvPr/>
        </p:nvSpPr>
        <p:spPr>
          <a:xfrm>
            <a:off x="868217" y="1267801"/>
            <a:ext cx="10640292" cy="1718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</a:pPr>
            <a:r>
              <a:rPr lang="en-US" altLang="zh-CN" sz="1400" dirty="0">
                <a:latin typeface="+mn-ea"/>
              </a:rPr>
              <a:t>Connector</a:t>
            </a:r>
            <a:r>
              <a:rPr lang="zh-CN" altLang="zh-CN" sz="1400" dirty="0">
                <a:latin typeface="+mn-ea"/>
              </a:rPr>
              <a:t>层负责将</a:t>
            </a:r>
            <a:r>
              <a:rPr lang="en-US" altLang="zh-CN" sz="1400" dirty="0">
                <a:latin typeface="+mn-ea"/>
              </a:rPr>
              <a:t>L1</a:t>
            </a:r>
            <a:r>
              <a:rPr lang="zh-CN" altLang="zh-CN" sz="1400" dirty="0">
                <a:latin typeface="+mn-ea"/>
              </a:rPr>
              <a:t>推理框架的</a:t>
            </a:r>
            <a:r>
              <a:rPr lang="en-US" altLang="zh-CN" sz="1400" dirty="0" err="1">
                <a:latin typeface="+mn-ea"/>
              </a:rPr>
              <a:t>KVCache</a:t>
            </a:r>
            <a:r>
              <a:rPr lang="zh-CN" altLang="zh-CN" sz="1400" dirty="0">
                <a:latin typeface="+mn-ea"/>
              </a:rPr>
              <a:t>操作请求转换为</a:t>
            </a:r>
            <a:r>
              <a:rPr lang="en-US" altLang="zh-CN" sz="1400" dirty="0">
                <a:latin typeface="+mn-ea"/>
              </a:rPr>
              <a:t>L3</a:t>
            </a:r>
            <a:r>
              <a:rPr lang="zh-CN" altLang="zh-CN" sz="1400" dirty="0">
                <a:latin typeface="+mn-ea"/>
              </a:rPr>
              <a:t>传输管理层的具体调用，屏蔽底层实现差异：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协议适配</a:t>
            </a:r>
            <a:r>
              <a:rPr lang="zh-CN" altLang="zh-CN" sz="1400" dirty="0">
                <a:latin typeface="+mn-ea"/>
              </a:rPr>
              <a:t>：将</a:t>
            </a:r>
            <a:r>
              <a:rPr lang="en-US" altLang="zh-CN" sz="1400" dirty="0" err="1">
                <a:latin typeface="+mn-ea"/>
              </a:rPr>
              <a:t>vLLM</a:t>
            </a:r>
            <a:r>
              <a:rPr lang="en-US" altLang="zh-CN" sz="1400" dirty="0">
                <a:latin typeface="+mn-ea"/>
              </a:rPr>
              <a:t> </a:t>
            </a:r>
            <a:r>
              <a:rPr lang="en-US" altLang="zh-CN" sz="1400" dirty="0" err="1">
                <a:latin typeface="+mn-ea"/>
              </a:rPr>
              <a:t>BlockSpaceManager</a:t>
            </a:r>
            <a:r>
              <a:rPr lang="zh-CN" altLang="zh-CN" sz="1400" dirty="0">
                <a:latin typeface="+mn-ea"/>
              </a:rPr>
              <a:t>的</a:t>
            </a:r>
            <a:r>
              <a:rPr lang="en-US" altLang="zh-CN" sz="1400" dirty="0">
                <a:latin typeface="+mn-ea"/>
              </a:rPr>
              <a:t>(</a:t>
            </a:r>
            <a:r>
              <a:rPr lang="en-US" altLang="zh-CN" sz="1400" dirty="0" err="1">
                <a:latin typeface="+mn-ea"/>
              </a:rPr>
              <a:t>src_block_id</a:t>
            </a:r>
            <a:r>
              <a:rPr lang="en-US" altLang="zh-CN" sz="1400" dirty="0">
                <a:latin typeface="+mn-ea"/>
              </a:rPr>
              <a:t>, </a:t>
            </a:r>
            <a:r>
              <a:rPr lang="en-US" altLang="zh-CN" sz="1400" dirty="0" err="1">
                <a:latin typeface="+mn-ea"/>
              </a:rPr>
              <a:t>dst_block_id</a:t>
            </a:r>
            <a:r>
              <a:rPr lang="en-US" altLang="zh-CN" sz="1400" dirty="0">
                <a:latin typeface="+mn-ea"/>
              </a:rPr>
              <a:t>)</a:t>
            </a:r>
            <a:r>
              <a:rPr lang="zh-CN" altLang="zh-CN" sz="1400" dirty="0">
                <a:latin typeface="+mn-ea"/>
              </a:rPr>
              <a:t>映射关系转换为</a:t>
            </a:r>
            <a:r>
              <a:rPr lang="en-US" altLang="zh-CN" sz="1400" dirty="0">
                <a:latin typeface="+mn-ea"/>
              </a:rPr>
              <a:t>Mooncake</a:t>
            </a:r>
            <a:r>
              <a:rPr lang="zh-CN" altLang="zh-CN" sz="1400" dirty="0">
                <a:latin typeface="+mn-ea"/>
              </a:rPr>
              <a:t>的</a:t>
            </a:r>
            <a:r>
              <a:rPr lang="en-US" altLang="zh-CN" sz="1400" dirty="0">
                <a:latin typeface="+mn-ea"/>
              </a:rPr>
              <a:t>(</a:t>
            </a:r>
            <a:r>
              <a:rPr lang="en-US" altLang="zh-CN" sz="1400" dirty="0" err="1">
                <a:latin typeface="+mn-ea"/>
              </a:rPr>
              <a:t>segment_key</a:t>
            </a:r>
            <a:r>
              <a:rPr lang="en-US" altLang="zh-CN" sz="1400" dirty="0">
                <a:latin typeface="+mn-ea"/>
              </a:rPr>
              <a:t>, offset, size)</a:t>
            </a:r>
            <a:r>
              <a:rPr lang="zh-CN" altLang="zh-CN" sz="1400" dirty="0">
                <a:latin typeface="+mn-ea"/>
              </a:rPr>
              <a:t>或</a:t>
            </a:r>
            <a:r>
              <a:rPr lang="en-US" altLang="zh-CN" sz="1400" dirty="0" err="1">
                <a:latin typeface="+mn-ea"/>
              </a:rPr>
              <a:t>Nixl</a:t>
            </a:r>
            <a:r>
              <a:rPr lang="zh-CN" altLang="zh-CN" sz="1400" dirty="0">
                <a:latin typeface="+mn-ea"/>
              </a:rPr>
              <a:t>的</a:t>
            </a:r>
            <a:r>
              <a:rPr lang="en-US" altLang="zh-CN" sz="1400" dirty="0">
                <a:latin typeface="+mn-ea"/>
              </a:rPr>
              <a:t>descriptor</a:t>
            </a:r>
            <a:endParaRPr lang="zh-CN" altLang="zh-CN" sz="1400" dirty="0">
              <a:latin typeface="+mn-ea"/>
            </a:endParaRP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路径选择</a:t>
            </a:r>
            <a:r>
              <a:rPr lang="zh-CN" altLang="zh-CN" sz="1400" dirty="0">
                <a:latin typeface="+mn-ea"/>
              </a:rPr>
              <a:t>：根据源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zh-CN" sz="1400" dirty="0">
                <a:latin typeface="+mn-ea"/>
              </a:rPr>
              <a:t>目标节点的网络拓扑、实时带宽、时延信息，选择最优传输后端（</a:t>
            </a:r>
            <a:r>
              <a:rPr lang="en-US" altLang="zh-CN" sz="1400" dirty="0">
                <a:latin typeface="+mn-ea"/>
              </a:rPr>
              <a:t>Mooncake/</a:t>
            </a:r>
            <a:r>
              <a:rPr lang="en-US" altLang="zh-CN" sz="1400" dirty="0" err="1">
                <a:latin typeface="+mn-ea"/>
              </a:rPr>
              <a:t>Nixl</a:t>
            </a:r>
            <a:r>
              <a:rPr lang="en-US" altLang="zh-CN" sz="1400" dirty="0">
                <a:latin typeface="+mn-ea"/>
              </a:rPr>
              <a:t>/</a:t>
            </a:r>
            <a:r>
              <a:rPr lang="en-US" altLang="zh-CN" sz="1400" dirty="0" err="1">
                <a:latin typeface="+mn-ea"/>
              </a:rPr>
              <a:t>LMCache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zh-CN" sz="1400" dirty="0">
                <a:latin typeface="+mn-ea"/>
              </a:rPr>
              <a:t>直接</a:t>
            </a:r>
            <a:r>
              <a:rPr lang="en-US" altLang="zh-CN" sz="1400" dirty="0" err="1">
                <a:latin typeface="+mn-ea"/>
              </a:rPr>
              <a:t>cudaMemcpy</a:t>
            </a:r>
            <a:r>
              <a:rPr lang="zh-CN" altLang="zh-CN" sz="1400" dirty="0">
                <a:latin typeface="+mn-ea"/>
              </a:rPr>
              <a:t>）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元数据管理</a:t>
            </a:r>
            <a:r>
              <a:rPr lang="zh-CN" altLang="zh-CN" sz="1400" dirty="0">
                <a:latin typeface="+mn-ea"/>
              </a:rPr>
              <a:t>：维护</a:t>
            </a:r>
            <a:r>
              <a:rPr lang="en-US" altLang="zh-CN" sz="1400" dirty="0" err="1">
                <a:latin typeface="+mn-ea"/>
              </a:rPr>
              <a:t>prefix_hash</a:t>
            </a:r>
            <a:r>
              <a:rPr lang="zh-CN" altLang="zh-CN" sz="1400" dirty="0">
                <a:latin typeface="+mn-ea"/>
              </a:rPr>
              <a:t>到</a:t>
            </a:r>
            <a:r>
              <a:rPr lang="en-US" altLang="zh-CN" sz="1400" dirty="0">
                <a:latin typeface="+mn-ea"/>
              </a:rPr>
              <a:t>L3</a:t>
            </a:r>
            <a:r>
              <a:rPr lang="zh-CN" altLang="zh-CN" sz="1400" dirty="0">
                <a:latin typeface="+mn-ea"/>
              </a:rPr>
              <a:t>层存储位置的缓存索引，加速命中查询（避免每次都走分布式元数据）</a:t>
            </a:r>
          </a:p>
          <a:p>
            <a:pPr marL="342900" lvl="0" indent="-342900">
              <a:spcBef>
                <a:spcPts val="250"/>
              </a:spcBef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latin typeface="+mn-ea"/>
              </a:rPr>
              <a:t>错误恢复</a:t>
            </a:r>
            <a:r>
              <a:rPr lang="zh-CN" altLang="zh-CN" sz="1400" dirty="0">
                <a:latin typeface="+mn-ea"/>
              </a:rPr>
              <a:t>：处理</a:t>
            </a:r>
            <a:r>
              <a:rPr lang="en-US" altLang="zh-CN" sz="1400" dirty="0">
                <a:latin typeface="+mn-ea"/>
              </a:rPr>
              <a:t>L3</a:t>
            </a:r>
            <a:r>
              <a:rPr lang="zh-CN" altLang="zh-CN" sz="1400" dirty="0">
                <a:latin typeface="+mn-ea"/>
              </a:rPr>
              <a:t>层传输失败，自动降级（如</a:t>
            </a:r>
            <a:r>
              <a:rPr lang="en-US" altLang="zh-CN" sz="1400" dirty="0">
                <a:latin typeface="+mn-ea"/>
              </a:rPr>
              <a:t>RDMA</a:t>
            </a:r>
            <a:r>
              <a:rPr lang="zh-CN" altLang="zh-CN" sz="1400" dirty="0">
                <a:latin typeface="+mn-ea"/>
              </a:rPr>
              <a:t>失败降级为</a:t>
            </a:r>
            <a:r>
              <a:rPr lang="en-US" altLang="zh-CN" sz="1400" dirty="0">
                <a:latin typeface="+mn-ea"/>
              </a:rPr>
              <a:t>TCP</a:t>
            </a:r>
            <a:r>
              <a:rPr lang="zh-CN" altLang="zh-CN" sz="1400" dirty="0">
                <a:latin typeface="+mn-ea"/>
              </a:rPr>
              <a:t>），并向</a:t>
            </a:r>
            <a:r>
              <a:rPr lang="en-US" altLang="zh-CN" sz="1400" dirty="0">
                <a:latin typeface="+mn-ea"/>
              </a:rPr>
              <a:t>L1</a:t>
            </a:r>
            <a:r>
              <a:rPr lang="zh-CN" altLang="zh-CN" sz="1400" dirty="0">
                <a:latin typeface="+mn-ea"/>
              </a:rPr>
              <a:t>报告错误供重调度</a:t>
            </a:r>
          </a:p>
        </p:txBody>
      </p:sp>
    </p:spTree>
    <p:extLst>
      <p:ext uri="{BB962C8B-B14F-4D97-AF65-F5344CB8AC3E}">
        <p14:creationId xmlns:p14="http://schemas.microsoft.com/office/powerpoint/2010/main" val="345192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L1 </a:t>
            </a:r>
            <a:r>
              <a:rPr lang="zh-CN" altLang="en-US" sz="3200" dirty="0">
                <a:latin typeface="+mn-ea"/>
                <a:ea typeface="+mn-ea"/>
              </a:rPr>
              <a:t>推理框架层接口</a:t>
            </a:r>
            <a:r>
              <a:rPr lang="zh-CN" altLang="en-US" sz="3200" dirty="0" smtClean="0">
                <a:latin typeface="+mn-ea"/>
                <a:ea typeface="+mn-ea"/>
              </a:rPr>
              <a:t>汇总（抽象概念）</a:t>
            </a:r>
            <a:endParaRPr lang="zh-CN" altLang="en-US" sz="3200" dirty="0">
              <a:latin typeface="+mn-ea"/>
              <a:ea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323164"/>
              </p:ext>
            </p:extLst>
          </p:nvPr>
        </p:nvGraphicFramePr>
        <p:xfrm>
          <a:off x="639617" y="1191490"/>
          <a:ext cx="9899074" cy="3038059"/>
        </p:xfrm>
        <a:graphic>
          <a:graphicData uri="http://schemas.openxmlformats.org/drawingml/2006/table">
            <a:tbl>
              <a:tblPr/>
              <a:tblGrid>
                <a:gridCol w="1903668">
                  <a:extLst>
                    <a:ext uri="{9D8B030D-6E8A-4147-A177-3AD203B41FA5}">
                      <a16:colId xmlns:a16="http://schemas.microsoft.com/office/drawing/2014/main" val="302780511"/>
                    </a:ext>
                  </a:extLst>
                </a:gridCol>
                <a:gridCol w="2538225">
                  <a:extLst>
                    <a:ext uri="{9D8B030D-6E8A-4147-A177-3AD203B41FA5}">
                      <a16:colId xmlns:a16="http://schemas.microsoft.com/office/drawing/2014/main" val="840306259"/>
                    </a:ext>
                  </a:extLst>
                </a:gridCol>
                <a:gridCol w="1903668">
                  <a:extLst>
                    <a:ext uri="{9D8B030D-6E8A-4147-A177-3AD203B41FA5}">
                      <a16:colId xmlns:a16="http://schemas.microsoft.com/office/drawing/2014/main" val="3485122241"/>
                    </a:ext>
                  </a:extLst>
                </a:gridCol>
                <a:gridCol w="3553513">
                  <a:extLst>
                    <a:ext uri="{9D8B030D-6E8A-4147-A177-3AD203B41FA5}">
                      <a16:colId xmlns:a16="http://schemas.microsoft.com/office/drawing/2014/main" val="4148070529"/>
                    </a:ext>
                  </a:extLst>
                </a:gridCol>
              </a:tblGrid>
              <a:tr h="3464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调用场景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L1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调用接口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触发条件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L2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调用接口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741212"/>
                  </a:ext>
                </a:extLst>
              </a:tr>
              <a:tr h="538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Prefill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完成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BlockSpaceManager.allocate_block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()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新请求完成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prefill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计算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Connector.put(prefix_hash, blocks, metadata)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304777"/>
                  </a:ext>
                </a:extLst>
              </a:tr>
              <a:tr h="538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Decode Swap Out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BlockSpaceManager.swap_out(seq)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Block Pool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耗尽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Connector.put(seq_hash, cpu_pages) 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或本地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只写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424613"/>
                  </a:ext>
                </a:extLst>
              </a:tr>
              <a:tr h="538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被抢占请求恢复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BlockSpaceManager.swap_in(seq)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Scheduler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重新调度该序列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Connector.get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seq_hash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dst_NPU_pages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530674"/>
                  </a:ext>
                </a:extLst>
              </a:tr>
              <a:tr h="538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前缀命中查询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KVCacheManager.check_prefix(tokens)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新请求到来时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Connector.get_status(prefix_hash)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322117"/>
                  </a:ext>
                </a:extLst>
              </a:tr>
              <a:tr h="5383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前缀预取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KVCacheManager.prefetch(tokens)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Scheduler lookahead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决策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Connector.prefetch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([hash1, hash2, ...])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82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686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协同场景与关键指标深度推演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999792"/>
              </p:ext>
            </p:extLst>
          </p:nvPr>
        </p:nvGraphicFramePr>
        <p:xfrm>
          <a:off x="667326" y="1162843"/>
          <a:ext cx="10807142" cy="3834028"/>
        </p:xfrm>
        <a:graphic>
          <a:graphicData uri="http://schemas.openxmlformats.org/drawingml/2006/table">
            <a:tbl>
              <a:tblPr/>
              <a:tblGrid>
                <a:gridCol w="1786041">
                  <a:extLst>
                    <a:ext uri="{9D8B030D-6E8A-4147-A177-3AD203B41FA5}">
                      <a16:colId xmlns:a16="http://schemas.microsoft.com/office/drawing/2014/main" val="2986050386"/>
                    </a:ext>
                  </a:extLst>
                </a:gridCol>
                <a:gridCol w="1908707">
                  <a:extLst>
                    <a:ext uri="{9D8B030D-6E8A-4147-A177-3AD203B41FA5}">
                      <a16:colId xmlns:a16="http://schemas.microsoft.com/office/drawing/2014/main" val="2512989361"/>
                    </a:ext>
                  </a:extLst>
                </a:gridCol>
                <a:gridCol w="1939744">
                  <a:extLst>
                    <a:ext uri="{9D8B030D-6E8A-4147-A177-3AD203B41FA5}">
                      <a16:colId xmlns:a16="http://schemas.microsoft.com/office/drawing/2014/main" val="2892653318"/>
                    </a:ext>
                  </a:extLst>
                </a:gridCol>
                <a:gridCol w="2771063">
                  <a:extLst>
                    <a:ext uri="{9D8B030D-6E8A-4147-A177-3AD203B41FA5}">
                      <a16:colId xmlns:a16="http://schemas.microsoft.com/office/drawing/2014/main" val="2257602979"/>
                    </a:ext>
                  </a:extLst>
                </a:gridCol>
                <a:gridCol w="2401587">
                  <a:extLst>
                    <a:ext uri="{9D8B030D-6E8A-4147-A177-3AD203B41FA5}">
                      <a16:colId xmlns:a16="http://schemas.microsoft.com/office/drawing/2014/main" val="3711748613"/>
                    </a:ext>
                  </a:extLst>
                </a:gridCol>
              </a:tblGrid>
              <a:tr h="3062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场景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存储协同路径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关键指标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当前痛点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优化方向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965552"/>
                  </a:ext>
                </a:extLst>
              </a:tr>
              <a:tr h="475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S1: </a:t>
                      </a: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在线服务标准路径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TPOT&lt;30ms P99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HBM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容量瓶颈，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OOM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导致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Swap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压缩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KV+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扩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HBM(H200 141GB)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52687"/>
                  </a:ext>
                </a:extLst>
              </a:tr>
              <a:tr h="475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S2: 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长上下文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KV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溢出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HBM→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DDR Swap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TTFT&lt;500ms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TPOT&lt;100ms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Swap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阻塞关键路径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异步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Swap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流水线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预取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545385"/>
                  </a:ext>
                </a:extLst>
              </a:tr>
              <a:tr h="475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S3: </a:t>
                      </a: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高前缀命中率场景（共享</a:t>
                      </a:r>
                      <a:r>
                        <a:rPr lang="en-US" sz="1200" b="1" dirty="0">
                          <a:effectLst/>
                          <a:latin typeface="+mn-ea"/>
                          <a:ea typeface="+mn-ea"/>
                        </a:rPr>
                        <a:t>System Prompt</a:t>
                      </a:r>
                      <a:r>
                        <a:rPr lang="zh-CN" sz="1200" b="1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HBM+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DDR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（前缀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Cache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前缀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TTFT&lt;50ms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前缀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被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Evict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导致重算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多层持久化前缀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Cache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459230"/>
                  </a:ext>
                </a:extLst>
              </a:tr>
              <a:tr h="475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S4: Disaggregated Prefill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Prefill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NPU→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远端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DDR→Decode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TTFT&lt;200ms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TPOT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分离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跨节点传输延迟高，带宽不稳定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NPUDirect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RDMA +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UB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P2P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099471"/>
                  </a:ext>
                </a:extLst>
              </a:tr>
              <a:tr h="475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S5: 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历史会话恢复（冷启动）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本地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SSD→CPU DDR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→NPU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HBM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会话恢复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TTFT&lt;2s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NVMe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读延迟导致首轮响应慢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NVMe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预热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200" dirty="0" err="1" smtClean="0">
                          <a:effectLst/>
                          <a:latin typeface="+mn-ea"/>
                          <a:ea typeface="+mn-ea"/>
                        </a:rPr>
                        <a:t>NPUDirect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Storage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94733"/>
                  </a:ext>
                </a:extLst>
              </a:tr>
              <a:tr h="67273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S6: 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多模态大批量推理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多路并发</a:t>
                      </a:r>
                      <a:r>
                        <a:rPr lang="zh-CN" sz="1200" dirty="0" smtClean="0">
                          <a:effectLst/>
                          <a:latin typeface="+mn-ea"/>
                          <a:ea typeface="+mn-ea"/>
                        </a:rPr>
                        <a:t>：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KV + CPU Embed + 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NPU 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KV swap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吞吐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&gt;100 req/s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多路数据竞争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PCIe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带宽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优先级调度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带宽隔离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(QoS)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316029"/>
                  </a:ext>
                </a:extLst>
              </a:tr>
              <a:tr h="475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S7: 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集群级</a:t>
                      </a:r>
                      <a:r>
                        <a:rPr lang="en-US" sz="1200" b="1">
                          <a:effectLst/>
                          <a:latin typeface="+mn-ea"/>
                          <a:ea typeface="+mn-ea"/>
                        </a:rPr>
                        <a:t>KV</a:t>
                      </a: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共享（多实例共前缀）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远端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DDR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统一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 Pool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集群命中率</a:t>
                      </a:r>
                      <a:r>
                        <a:rPr lang="en-US" sz="1200" dirty="0" smtClean="0">
                          <a:effectLst/>
                          <a:latin typeface="+mn-ea"/>
                          <a:ea typeface="+mn-ea"/>
                        </a:rPr>
                        <a:t>&gt;90%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跨节点查找延迟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一致性问题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分布式哈希路由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版本化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KV</a:t>
                      </a:r>
                      <a:endParaRPr lang="zh-CN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55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47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按照第一性原理，</a:t>
            </a:r>
            <a:r>
              <a:rPr lang="en-US" altLang="zh-CN" dirty="0" err="1"/>
              <a:t>KVCache</a:t>
            </a:r>
            <a:r>
              <a:rPr lang="en-US" altLang="zh-CN" dirty="0"/>
              <a:t> </a:t>
            </a:r>
            <a:r>
              <a:rPr lang="zh-CN" altLang="en-US" dirty="0"/>
              <a:t>软件系统必须完成 </a:t>
            </a:r>
            <a:r>
              <a:rPr lang="en-US" altLang="zh-CN" dirty="0"/>
              <a:t>9 </a:t>
            </a:r>
            <a:r>
              <a:rPr lang="zh-CN" altLang="en-US" dirty="0"/>
              <a:t>件事：</a:t>
            </a:r>
          </a:p>
          <a:p>
            <a:r>
              <a:rPr lang="zh-CN" altLang="en-US" dirty="0"/>
              <a:t>生成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标识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存放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查找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移动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消费 </a:t>
            </a:r>
            <a:r>
              <a:rPr lang="en-US" altLang="zh-CN" dirty="0"/>
              <a:t>/ attach 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共享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回收 </a:t>
            </a:r>
            <a:r>
              <a:rPr lang="en-US" altLang="zh-CN" dirty="0"/>
              <a:t>KV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管控、观测、升级 </a:t>
            </a:r>
            <a:r>
              <a:rPr lang="en-US" altLang="zh-CN" dirty="0"/>
              <a:t>KV </a:t>
            </a:r>
            <a:r>
              <a:rPr lang="zh-CN" altLang="en-US" dirty="0"/>
              <a:t>系统。</a:t>
            </a:r>
          </a:p>
        </p:txBody>
      </p:sp>
    </p:spTree>
    <p:extLst>
      <p:ext uri="{BB962C8B-B14F-4D97-AF65-F5344CB8AC3E}">
        <p14:creationId xmlns:p14="http://schemas.microsoft.com/office/powerpoint/2010/main" val="3032918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/>
              <a:t>但这些还不够形成完整的 </a:t>
            </a:r>
            <a:r>
              <a:rPr lang="en-US" altLang="zh-CN" b="1" dirty="0"/>
              <a:t>KV identity service</a:t>
            </a:r>
            <a:r>
              <a:rPr lang="zh-CN" altLang="en-US" dirty="0"/>
              <a:t>。</a:t>
            </a:r>
          </a:p>
          <a:p>
            <a:r>
              <a:rPr lang="en-US" altLang="zh-CN" dirty="0" err="1"/>
              <a:t>KVCache</a:t>
            </a:r>
            <a:r>
              <a:rPr lang="en-US" altLang="zh-CN" dirty="0"/>
              <a:t> </a:t>
            </a:r>
            <a:r>
              <a:rPr lang="zh-CN" altLang="en-US" dirty="0"/>
              <a:t>不是普通 </a:t>
            </a:r>
            <a:r>
              <a:rPr lang="en-US" altLang="zh-CN" dirty="0"/>
              <a:t>key-value bytes</a:t>
            </a:r>
            <a:r>
              <a:rPr lang="zh-CN" altLang="en-US" dirty="0"/>
              <a:t>。它能否复用，至少取决于：</a:t>
            </a:r>
          </a:p>
          <a:p>
            <a:r>
              <a:rPr lang="en-US" altLang="zh-CN" dirty="0"/>
              <a:t>model id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model weights version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tokenizer hash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chat template version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system prompt rendering</a:t>
            </a:r>
            <a:r>
              <a:rPr lang="zh-CN" altLang="en-US" dirty="0"/>
              <a:t>； </a:t>
            </a:r>
          </a:p>
          <a:p>
            <a:r>
              <a:rPr lang="en-US" altLang="zh-CN" dirty="0" err="1"/>
              <a:t>LoRA</a:t>
            </a:r>
            <a:r>
              <a:rPr lang="en-US" altLang="zh-CN" dirty="0"/>
              <a:t> / adapter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multimodal input hash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TP/PP/rank slice</a:t>
            </a:r>
            <a:r>
              <a:rPr lang="zh-CN" altLang="en-US" dirty="0"/>
              <a:t>； </a:t>
            </a:r>
          </a:p>
          <a:p>
            <a:r>
              <a:rPr lang="en-US" altLang="zh-CN" dirty="0" err="1"/>
              <a:t>dtype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KV layout</a:t>
            </a:r>
            <a:r>
              <a:rPr lang="zh-CN" altLang="en-US" dirty="0"/>
              <a:t>； </a:t>
            </a:r>
          </a:p>
          <a:p>
            <a:r>
              <a:rPr lang="en-US" altLang="zh-CN" dirty="0" err="1"/>
              <a:t>RoPE</a:t>
            </a:r>
            <a:r>
              <a:rPr lang="en-US" altLang="zh-CN" dirty="0"/>
              <a:t>/position policy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attention mask/sliding window policy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cache salt / tenant domain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0277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967" y="285506"/>
            <a:ext cx="11068665" cy="414900"/>
          </a:xfrm>
        </p:spPr>
        <p:txBody>
          <a:bodyPr>
            <a:normAutofit fontScale="90000"/>
          </a:bodyPr>
          <a:lstStyle/>
          <a:p>
            <a:r>
              <a:rPr lang="en-US" altLang="zh-CN" sz="3200" dirty="0" smtClean="0">
                <a:latin typeface="+mn-ea"/>
                <a:ea typeface="+mn-ea"/>
              </a:rPr>
              <a:t>UBMEM+URMA</a:t>
            </a:r>
            <a:r>
              <a:rPr lang="zh-CN" altLang="en-US" sz="3200" smtClean="0">
                <a:latin typeface="+mn-ea"/>
                <a:ea typeface="+mn-ea"/>
              </a:rPr>
              <a:t>融合技术挑战</a:t>
            </a:r>
            <a:endParaRPr lang="zh-CN" altLang="en-US" sz="3200" dirty="0">
              <a:latin typeface="+mn-ea"/>
              <a:ea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749271"/>
              </p:ext>
            </p:extLst>
          </p:nvPr>
        </p:nvGraphicFramePr>
        <p:xfrm>
          <a:off x="1008493" y="1122551"/>
          <a:ext cx="8634269" cy="2707041"/>
        </p:xfrm>
        <a:graphic>
          <a:graphicData uri="http://schemas.openxmlformats.org/drawingml/2006/table">
            <a:tbl>
              <a:tblPr/>
              <a:tblGrid>
                <a:gridCol w="1423231">
                  <a:extLst>
                    <a:ext uri="{9D8B030D-6E8A-4147-A177-3AD203B41FA5}">
                      <a16:colId xmlns:a16="http://schemas.microsoft.com/office/drawing/2014/main" val="3604749827"/>
                    </a:ext>
                  </a:extLst>
                </a:gridCol>
                <a:gridCol w="2182288">
                  <a:extLst>
                    <a:ext uri="{9D8B030D-6E8A-4147-A177-3AD203B41FA5}">
                      <a16:colId xmlns:a16="http://schemas.microsoft.com/office/drawing/2014/main" val="11184208"/>
                    </a:ext>
                  </a:extLst>
                </a:gridCol>
                <a:gridCol w="2182288">
                  <a:extLst>
                    <a:ext uri="{9D8B030D-6E8A-4147-A177-3AD203B41FA5}">
                      <a16:colId xmlns:a16="http://schemas.microsoft.com/office/drawing/2014/main" val="4233036204"/>
                    </a:ext>
                  </a:extLst>
                </a:gridCol>
                <a:gridCol w="2846462">
                  <a:extLst>
                    <a:ext uri="{9D8B030D-6E8A-4147-A177-3AD203B41FA5}">
                      <a16:colId xmlns:a16="http://schemas.microsoft.com/office/drawing/2014/main" val="159941960"/>
                    </a:ext>
                  </a:extLst>
                </a:gridCol>
              </a:tblGrid>
              <a:tr h="3906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差异维度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内存语义（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CXL/C2C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传输语义（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RDMA/TCP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融合挑战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73616"/>
                  </a:ext>
                </a:extLst>
              </a:tr>
              <a:tr h="3366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编程模型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load/store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操作，透明访问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显式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send/recv/write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，需发起传输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上层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API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如何统一两种模型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5879"/>
                  </a:ext>
                </a:extLst>
              </a:tr>
              <a:tr h="3366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内存注册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无需注册，直接访问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必须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ibv_reg_mr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注册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MR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，有开销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异构环境下注册管理的不对称性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69771"/>
                  </a:ext>
                </a:extLst>
              </a:tr>
              <a:tr h="3366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一致性模型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CXL.cache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可提供缓存一致性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RDMA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非一致，内存一致性需应用保证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混合使用时一致性边界的清晰划分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3256"/>
                  </a:ext>
                </a:extLst>
              </a:tr>
              <a:tr h="5485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传输粒度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细粒度（单词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缓存行，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&lt;64B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）均高效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大块传输（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&gt;4KB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）效率高，小块开销高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KVCache Block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2-8MB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）更适合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RDMA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，小元数据适合内存语义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922861"/>
                  </a:ext>
                </a:extLst>
              </a:tr>
              <a:tr h="3366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ea"/>
                          <a:ea typeface="+mn-ea"/>
                        </a:rPr>
                        <a:t>拓扑范围</a:t>
                      </a:r>
                      <a:endParaRPr lang="zh-CN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通常节点内或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CXL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直连设备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任意跨节点（</a:t>
                      </a:r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IP</a:t>
                      </a:r>
                      <a:r>
                        <a:rPr lang="zh-CN" sz="1200">
                          <a:effectLst/>
                          <a:latin typeface="+mn-ea"/>
                          <a:ea typeface="+mn-ea"/>
                        </a:rPr>
                        <a:t>网络可达即可）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+mn-ea"/>
                          <a:ea typeface="+mn-ea"/>
                        </a:rPr>
                        <a:t>内存语义覆盖范围有限，跨节点仍需传输语义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43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38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3447</Words>
  <Application>Microsoft Office PowerPoint</Application>
  <PresentationFormat>宽屏</PresentationFormat>
  <Paragraphs>419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Wingdings 2</vt:lpstr>
      <vt:lpstr>Office 主题​​</vt:lpstr>
      <vt:lpstr>PowerPoint 演示文稿</vt:lpstr>
      <vt:lpstr>KVCache</vt:lpstr>
      <vt:lpstr>VLLM/sglang中KVCache传输规格分析</vt:lpstr>
      <vt:lpstr>VLLM中 KVCache卸载/加载对业务指标的影响</vt:lpstr>
      <vt:lpstr>Sglang中 KVCache卸载/加载对业务指标的影响</vt:lpstr>
      <vt:lpstr>关键业务痛点</vt:lpstr>
      <vt:lpstr>统一异构KVCache存储池的关键业务价值与竞争力护城河解构</vt:lpstr>
      <vt:lpstr>拓扑感知KVCache内存管理架构设计</vt:lpstr>
      <vt:lpstr>统一KVCache内存池核心设计原则</vt:lpstr>
      <vt:lpstr>L4 底层传输层</vt:lpstr>
      <vt:lpstr>L3传输管理层</vt:lpstr>
      <vt:lpstr>L2 Connector对接层</vt:lpstr>
      <vt:lpstr>L1 推理框架层接口汇总（抽象概念）</vt:lpstr>
      <vt:lpstr>协同场景与关键指标深度推演</vt:lpstr>
      <vt:lpstr>PowerPoint 演示文稿</vt:lpstr>
      <vt:lpstr>PowerPoint 演示文稿</vt:lpstr>
      <vt:lpstr>UBMEM+URMA融合技术挑战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Liu</dc:creator>
  <cp:lastModifiedBy>Liu Liu</cp:lastModifiedBy>
  <cp:revision>69</cp:revision>
  <dcterms:created xsi:type="dcterms:W3CDTF">2026-06-27T23:24:01Z</dcterms:created>
  <dcterms:modified xsi:type="dcterms:W3CDTF">2026-07-04T13:10:17Z</dcterms:modified>
</cp:coreProperties>
</file>