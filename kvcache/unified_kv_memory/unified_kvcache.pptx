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25b587060449d3" /><Relationship Type="http://schemas.openxmlformats.org/officeDocument/2006/relationships/extended-properties" Target="/docProps/app.xml" Id="R310d4622958b49b5" /><Relationship Type="http://schemas.openxmlformats.org/officeDocument/2006/relationships/officeDocument" Target="/ppt/presentation.xml" Id="R6fd3ca8fe8c940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ad512f46944a9a"/>
  </p:sldMasterIdLst>
  <p:notesMasterIdLst>
    <p:notesMasterId xmlns:r="http://schemas.openxmlformats.org/officeDocument/2006/relationships" r:id="R82a0734557a54cc7"/>
  </p:notesMasterIdLst>
  <p:sldIdLst>
    <p:sldId xmlns:r="http://schemas.openxmlformats.org/officeDocument/2006/relationships" id="256" r:id="R142068495cac4562"/>
    <p:sldId xmlns:r="http://schemas.openxmlformats.org/officeDocument/2006/relationships" id="257" r:id="R5073a37f732f4557"/>
    <p:sldId xmlns:r="http://schemas.openxmlformats.org/officeDocument/2006/relationships" id="258" r:id="Rd77fe11ad7d5406e"/>
    <p:sldId xmlns:r="http://schemas.openxmlformats.org/officeDocument/2006/relationships" id="259" r:id="R0e867374b80a4c0c"/>
    <p:sldId xmlns:r="http://schemas.openxmlformats.org/officeDocument/2006/relationships" id="260" r:id="R81f561ff528d435d"/>
    <p:sldId xmlns:r="http://schemas.openxmlformats.org/officeDocument/2006/relationships" id="261" r:id="Rbd8c30eeff314cd1"/>
    <p:sldId xmlns:r="http://schemas.openxmlformats.org/officeDocument/2006/relationships" id="262" r:id="R2e1d3b12abf34664"/>
    <p:sldId xmlns:r="http://schemas.openxmlformats.org/officeDocument/2006/relationships" id="263" r:id="R018a190caaab47b5"/>
    <p:sldId xmlns:r="http://schemas.openxmlformats.org/officeDocument/2006/relationships" id="264" r:id="R40fb338e74394f6d"/>
    <p:sldId xmlns:r="http://schemas.openxmlformats.org/officeDocument/2006/relationships" id="265" r:id="R226cb3987a084928"/>
    <p:sldId xmlns:r="http://schemas.openxmlformats.org/officeDocument/2006/relationships" id="266" r:id="Rd23f6ad58f4644f0"/>
    <p:sldId xmlns:r="http://schemas.openxmlformats.org/officeDocument/2006/relationships" id="267" r:id="R2da719fc7bb243f2"/>
    <p:sldId xmlns:r="http://schemas.openxmlformats.org/officeDocument/2006/relationships" id="268" r:id="Rb73f648914f944c9"/>
    <p:sldId xmlns:r="http://schemas.openxmlformats.org/officeDocument/2006/relationships" id="269" r:id="Raadb0a4cee6f48a2"/>
    <p:sldId xmlns:r="http://schemas.openxmlformats.org/officeDocument/2006/relationships" id="270" r:id="Rca87e22c01f342d3"/>
    <p:sldId xmlns:r="http://schemas.openxmlformats.org/officeDocument/2006/relationships" id="271" r:id="R068fb9517577467e"/>
    <p:sldId xmlns:r="http://schemas.openxmlformats.org/officeDocument/2006/relationships" id="272" r:id="R580f961228b24c2f"/>
    <p:sldId xmlns:r="http://schemas.openxmlformats.org/officeDocument/2006/relationships" id="273" r:id="R732e9b26f3004bda"/>
    <p:sldId xmlns:r="http://schemas.openxmlformats.org/officeDocument/2006/relationships" id="274" r:id="R4d1a158ff5b94762"/>
    <p:sldId xmlns:r="http://schemas.openxmlformats.org/officeDocument/2006/relationships" id="275" r:id="Rdcda3bfeee7f4e8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c975a4c7ea445c" /><Relationship Type="http://schemas.openxmlformats.org/officeDocument/2006/relationships/slideMaster" Target="/ppt/slideMasters/slideMaster1.xml" Id="Rdbad512f46944a9a" /><Relationship Type="http://schemas.openxmlformats.org/officeDocument/2006/relationships/notesMaster" Target="/ppt/notesMasters/notesMaster1.xml" Id="R82a0734557a54cc7" /><Relationship Type="http://schemas.openxmlformats.org/officeDocument/2006/relationships/presProps" Target="/ppt/presProps.xml" Id="R2df9c7456c5844c0" /><Relationship Type="http://schemas.openxmlformats.org/officeDocument/2006/relationships/tableStyles" Target="/ppt/tableStyles.xml" Id="Rf8c077618e964663" /><Relationship Type="http://schemas.openxmlformats.org/officeDocument/2006/relationships/slide" Target="/ppt/slides/slide1.xml" Id="R142068495cac4562" /><Relationship Type="http://schemas.openxmlformats.org/officeDocument/2006/relationships/slide" Target="/ppt/slides/slide2.xml" Id="R5073a37f732f4557" /><Relationship Type="http://schemas.openxmlformats.org/officeDocument/2006/relationships/slide" Target="/ppt/slides/slide3.xml" Id="Rd77fe11ad7d5406e" /><Relationship Type="http://schemas.openxmlformats.org/officeDocument/2006/relationships/slide" Target="/ppt/slides/slide4.xml" Id="R0e867374b80a4c0c" /><Relationship Type="http://schemas.openxmlformats.org/officeDocument/2006/relationships/slide" Target="/ppt/slides/slide5.xml" Id="R81f561ff528d435d" /><Relationship Type="http://schemas.openxmlformats.org/officeDocument/2006/relationships/slide" Target="/ppt/slides/slide6.xml" Id="Rbd8c30eeff314cd1" /><Relationship Type="http://schemas.openxmlformats.org/officeDocument/2006/relationships/slide" Target="/ppt/slides/slide7.xml" Id="R2e1d3b12abf34664" /><Relationship Type="http://schemas.openxmlformats.org/officeDocument/2006/relationships/slide" Target="/ppt/slides/slide8.xml" Id="R018a190caaab47b5" /><Relationship Type="http://schemas.openxmlformats.org/officeDocument/2006/relationships/slide" Target="/ppt/slides/slide9.xml" Id="R40fb338e74394f6d" /><Relationship Type="http://schemas.openxmlformats.org/officeDocument/2006/relationships/slide" Target="/ppt/slides/slide10.xml" Id="R226cb3987a084928" /><Relationship Type="http://schemas.openxmlformats.org/officeDocument/2006/relationships/slide" Target="/ppt/slides/slide11.xml" Id="Rd23f6ad58f4644f0" /><Relationship Type="http://schemas.openxmlformats.org/officeDocument/2006/relationships/slide" Target="/ppt/slides/slide12.xml" Id="R2da719fc7bb243f2" /><Relationship Type="http://schemas.openxmlformats.org/officeDocument/2006/relationships/slide" Target="/ppt/slides/slide13.xml" Id="Rb73f648914f944c9" /><Relationship Type="http://schemas.openxmlformats.org/officeDocument/2006/relationships/slide" Target="/ppt/slides/slide14.xml" Id="Raadb0a4cee6f48a2" /><Relationship Type="http://schemas.openxmlformats.org/officeDocument/2006/relationships/slide" Target="/ppt/slides/slide15.xml" Id="Rca87e22c01f342d3" /><Relationship Type="http://schemas.openxmlformats.org/officeDocument/2006/relationships/slide" Target="/ppt/slides/slide16.xml" Id="R068fb9517577467e" /><Relationship Type="http://schemas.openxmlformats.org/officeDocument/2006/relationships/slide" Target="/ppt/slides/slide17.xml" Id="R580f961228b24c2f" /><Relationship Type="http://schemas.openxmlformats.org/officeDocument/2006/relationships/slide" Target="/ppt/slides/slide18.xml" Id="R732e9b26f3004bda" /><Relationship Type="http://schemas.openxmlformats.org/officeDocument/2006/relationships/slide" Target="/ppt/slides/slide19.xml" Id="R4d1a158ff5b94762" /><Relationship Type="http://schemas.openxmlformats.org/officeDocument/2006/relationships/slide" Target="/ppt/slides/slide20.xml" Id="Rdcda3bfeee7f4e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2bbfe9c97f4c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9d4f68bce0400a" /><Relationship Type="http://schemas.openxmlformats.org/officeDocument/2006/relationships/notesMaster" Target="/ppt/notesMasters/notesMaster1.xml" Id="R26ba760d1f5541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37cb26314641f0" /><Relationship Type="http://schemas.openxmlformats.org/officeDocument/2006/relationships/notesMaster" Target="/ppt/notesMasters/notesMaster1.xml" Id="R41462b3c26ab4b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3eefcf6f1e4bb7" /><Relationship Type="http://schemas.openxmlformats.org/officeDocument/2006/relationships/notesMaster" Target="/ppt/notesMasters/notesMaster1.xml" Id="R26cb2aa46d1446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f8020f67ef44d8" /><Relationship Type="http://schemas.openxmlformats.org/officeDocument/2006/relationships/notesMaster" Target="/ppt/notesMasters/notesMaster1.xml" Id="R55ea2cc599e248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bddc355ba347ca" /><Relationship Type="http://schemas.openxmlformats.org/officeDocument/2006/relationships/notesMaster" Target="/ppt/notesMasters/notesMaster1.xml" Id="R3d73ce94baba48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bc6924de054dca" /><Relationship Type="http://schemas.openxmlformats.org/officeDocument/2006/relationships/notesMaster" Target="/ppt/notesMasters/notesMaster1.xml" Id="R947a052c4c014d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f6bffabff44293" /><Relationship Type="http://schemas.openxmlformats.org/officeDocument/2006/relationships/notesMaster" Target="/ppt/notesMasters/notesMaster1.xml" Id="R8a8f6cc3921448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019f2c69d948b5" /><Relationship Type="http://schemas.openxmlformats.org/officeDocument/2006/relationships/notesMaster" Target="/ppt/notesMasters/notesMaster1.xml" Id="R60ea1ef6b3e44b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683043e0244afb" /><Relationship Type="http://schemas.openxmlformats.org/officeDocument/2006/relationships/notesMaster" Target="/ppt/notesMasters/notesMaster1.xml" Id="R194196aea7074b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2c5feff6334b17" /><Relationship Type="http://schemas.openxmlformats.org/officeDocument/2006/relationships/notesMaster" Target="/ppt/notesMasters/notesMaster1.xml" Id="R40c9627c4ce644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11a3eb93964c2c" /><Relationship Type="http://schemas.openxmlformats.org/officeDocument/2006/relationships/notesMaster" Target="/ppt/notesMasters/notesMaster1.xml" Id="R5766b562ed3847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372af1c5d84314" /><Relationship Type="http://schemas.openxmlformats.org/officeDocument/2006/relationships/notesMaster" Target="/ppt/notesMasters/notesMaster1.xml" Id="Rd158345f31d14c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9ccc32ea294ce8" /><Relationship Type="http://schemas.openxmlformats.org/officeDocument/2006/relationships/notesMaster" Target="/ppt/notesMasters/notesMaster1.xml" Id="R9519cd91d95b4a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b52255eafd433a" /><Relationship Type="http://schemas.openxmlformats.org/officeDocument/2006/relationships/notesMaster" Target="/ppt/notesMasters/notesMaster1.xml" Id="R6b528281b2814a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7dd4f44779447c" /><Relationship Type="http://schemas.openxmlformats.org/officeDocument/2006/relationships/notesMaster" Target="/ppt/notesMasters/notesMaster1.xml" Id="R687092c817d847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f329c465e644ca1" /><Relationship Type="http://schemas.openxmlformats.org/officeDocument/2006/relationships/notesMaster" Target="/ppt/notesMasters/notesMaster1.xml" Id="Re97353dffdbe4b8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d86ac3b6df94492" /><Relationship Type="http://schemas.openxmlformats.org/officeDocument/2006/relationships/notesMaster" Target="/ppt/notesMasters/notesMaster1.xml" Id="Rbd90d89c5e214b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d75fde38f2048cb" /><Relationship Type="http://schemas.openxmlformats.org/officeDocument/2006/relationships/notesMaster" Target="/ppt/notesMasters/notesMaster1.xml" Id="Re1a11e1f9d8b46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1f96c4e62af4749" /><Relationship Type="http://schemas.openxmlformats.org/officeDocument/2006/relationships/notesMaster" Target="/ppt/notesMasters/notesMaster1.xml" Id="R227cbed5c0ab433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2fb3b5659354ea0" /><Relationship Type="http://schemas.openxmlformats.org/officeDocument/2006/relationships/notesMaster" Target="/ppt/notesMasters/notesMaster1.xml" Id="R264309ed189748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800ec547ed40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34ec13c4614c64" /><Relationship Type="http://schemas.openxmlformats.org/officeDocument/2006/relationships/slideLayout" Target="/ppt/slideLayouts/slideLayout1.xml" Id="R065569a275774a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5569a275774a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b4d35f089493d" /><Relationship Type="http://schemas.openxmlformats.org/officeDocument/2006/relationships/notesSlide" Target="/ppt/notesSlides/notesSlide1.xml" Id="R0f1e6210e2864e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25fcdb60c48e1" /><Relationship Type="http://schemas.openxmlformats.org/officeDocument/2006/relationships/notesSlide" Target="/ppt/notesSlides/notesSlide2.xml" Id="R05295a7c5c3a40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49800668c4c1d" /><Relationship Type="http://schemas.openxmlformats.org/officeDocument/2006/relationships/notesSlide" Target="/ppt/notesSlides/notesSlide3.xml" Id="Refc9eea38a9f4e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6214bea47400b" /><Relationship Type="http://schemas.openxmlformats.org/officeDocument/2006/relationships/notesSlide" Target="/ppt/notesSlides/notesSlide4.xml" Id="Rf866e19d2bf54e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ead61b84e43d5" /><Relationship Type="http://schemas.openxmlformats.org/officeDocument/2006/relationships/notesSlide" Target="/ppt/notesSlides/notesSlide5.xml" Id="R08e7dd43c62144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001238fcc4306" /><Relationship Type="http://schemas.openxmlformats.org/officeDocument/2006/relationships/notesSlide" Target="/ppt/notesSlides/notesSlide6.xml" Id="R5498e1dd91084a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e8b6fb4db41e2" /><Relationship Type="http://schemas.openxmlformats.org/officeDocument/2006/relationships/notesSlide" Target="/ppt/notesSlides/notesSlide7.xml" Id="R2a14a19b89804f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b507515cd4c7f" /><Relationship Type="http://schemas.openxmlformats.org/officeDocument/2006/relationships/notesSlide" Target="/ppt/notesSlides/notesSlide8.xml" Id="Rea81a4a7ff224b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2ff08df5248ef" /><Relationship Type="http://schemas.openxmlformats.org/officeDocument/2006/relationships/notesSlide" Target="/ppt/notesSlides/notesSlide9.xml" Id="R7abaa56c341246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76ab69b2a44cd" /><Relationship Type="http://schemas.openxmlformats.org/officeDocument/2006/relationships/notesSlide" Target="/ppt/notesSlides/notesSlide10.xml" Id="R5ab924d490d848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fb60057ad4cea" /><Relationship Type="http://schemas.openxmlformats.org/officeDocument/2006/relationships/notesSlide" Target="/ppt/notesSlides/notesSlide11.xml" Id="Rdcdf2cb55eaf4a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31fa345664d54" /><Relationship Type="http://schemas.openxmlformats.org/officeDocument/2006/relationships/notesSlide" Target="/ppt/notesSlides/notesSlide12.xml" Id="R40f2eda82abe40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b12f0738c4210" /><Relationship Type="http://schemas.openxmlformats.org/officeDocument/2006/relationships/notesSlide" Target="/ppt/notesSlides/notesSlide13.xml" Id="Rd36f887469a148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3fed1e8af42d8" /><Relationship Type="http://schemas.openxmlformats.org/officeDocument/2006/relationships/notesSlide" Target="/ppt/notesSlides/notesSlide14.xml" Id="R623e7dbf472646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d7e67b4f74391" /><Relationship Type="http://schemas.openxmlformats.org/officeDocument/2006/relationships/notesSlide" Target="/ppt/notesSlides/notesSlide15.xml" Id="R76d0b76a1d3f4c9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514297cc74112" /><Relationship Type="http://schemas.openxmlformats.org/officeDocument/2006/relationships/notesSlide" Target="/ppt/notesSlides/notesSlide16.xml" Id="Rb4647f7111ad41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04be8d40b49c1" /><Relationship Type="http://schemas.openxmlformats.org/officeDocument/2006/relationships/notesSlide" Target="/ppt/notesSlides/notesSlide17.xml" Id="R61e47fb8d86944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c6798af624ba5" /><Relationship Type="http://schemas.openxmlformats.org/officeDocument/2006/relationships/notesSlide" Target="/ppt/notesSlides/notesSlide18.xml" Id="R8ba0c40b72bf470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464b2ae4e4687" /><Relationship Type="http://schemas.openxmlformats.org/officeDocument/2006/relationships/notesSlide" Target="/ppt/notesSlides/notesSlide19.xml" Id="Raf22cbfdb84e4b5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f560be88e4ef4" /><Relationship Type="http://schemas.openxmlformats.org/officeDocument/2006/relationships/notesSlide" Target="/ppt/notesSlides/notesSlide20.xml" Id="R5dc35dc5bf2041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612EE5-3577-47F0-9981-BB8137B6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40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240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统一异构 KVCache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40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240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存储池技术领导汇报材料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EF3FA-663E-4F72-BFD8-6212D509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385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4F4F4F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4F4F4F"/>
                </a:solidFill>
                <a:latin typeface="等线"/>
                <a:ea typeface="等线"/>
                <a:cs typeface="等线"/>
              </a:rPr>
              <a:t>基于 unified_kvcache_汇报材料_v2.md 提炼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4F4F4F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4F4F4F"/>
                </a:solidFill>
                <a:latin typeface="等线"/>
                <a:ea typeface="等线"/>
                <a:cs typeface="等线"/>
              </a:rPr>
              <a:t>风格参考 kvcache _srs.pptx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B41FA-468B-4645-AE2C-39384AD5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B41EB-A058-434E-B099-25CAC6C0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01</a:t>
            </a:r>
          </a:p>
        </p:txBody>
      </p:sp>
    </p:spTree>
    <p:extLst>
      <p:ext uri="{BB962C8B-B14F-4D97-AF65-F5344CB8AC3E}">
        <p14:creationId xmlns:p14="http://schemas.microsoft.com/office/powerpoint/2010/main" val="3699086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5FF24E-62A5-4CB7-B9E6-62F2ED4D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9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本系统要把 KVCache 从单机缓存升级为集群级虚拟内存底座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D59FA-647E-42CA-BF33-493EEBC2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9050">
            <a:solidFill>
              <a:srgbClr val="F4B183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核心判断：只做“命中率”不够，必须保证每一次命中都能被推理流水线消费，并转化为 TTFT、吞吐和成本收益。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081EA-AF31-459E-858F-194087B1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B8CC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6FC33-5255-4B8D-805F-8A408932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4E79"/>
                </a:solidFill>
                <a:latin typeface="等线"/>
                <a:ea typeface="等线"/>
                <a:cs typeface="等线"/>
              </a:defRPr>
            </a:pPr>
            <a:r>
              <a:rPr sz="1875" b="1">
                <a:solidFill>
                  <a:srgbClr val="1F4E79"/>
                </a:solidFill>
                <a:latin typeface="等线"/>
                <a:ea typeface="等线"/>
                <a:cs typeface="等线"/>
              </a:rPr>
              <a:t>最高 40%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AC21D-C1F7-4A2C-A194-F4631318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冗余 Prefill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9F67B-71E1-4BA4-81D4-434955F8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4F4F4F"/>
                </a:solidFill>
                <a:latin typeface="等线"/>
                <a:ea typeface="等线"/>
                <a:cs typeface="等线"/>
              </a:defRPr>
            </a:pPr>
            <a:r>
              <a:rPr sz="863">
                <a:solidFill>
                  <a:srgbClr val="4F4F4F"/>
                </a:solidFill>
                <a:latin typeface="等线"/>
                <a:ea typeface="等线"/>
                <a:cs typeface="等线"/>
              </a:rPr>
              <a:t>通过共享前缀与代偿准入消除重复计算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47A92-CFDF-437F-A36B-8D0054F8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241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B8CC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623A8-EE8C-4D00-B387-5C199AAD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4E79"/>
                </a:solidFill>
                <a:latin typeface="等线"/>
                <a:ea typeface="等线"/>
                <a:cs typeface="等线"/>
              </a:defRPr>
            </a:pPr>
            <a:r>
              <a:rPr sz="1875" b="1">
                <a:solidFill>
                  <a:srgbClr val="1F4E79"/>
                </a:solidFill>
                <a:latin typeface="等线"/>
                <a:ea typeface="等线"/>
                <a:cs typeface="等线"/>
              </a:rPr>
              <a:t>1.5x-3.0x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A41A5-1E3E-4CE1-BC9F-7CF126F1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384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吞吐提升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4BD64-8D5B-4AB7-8ADF-BF71BE55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861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4F4F4F"/>
                </a:solidFill>
                <a:latin typeface="等线"/>
                <a:ea typeface="等线"/>
                <a:cs typeface="等线"/>
              </a:defRPr>
            </a:pPr>
            <a:r>
              <a:rPr sz="863">
                <a:solidFill>
                  <a:srgbClr val="4F4F4F"/>
                </a:solidFill>
                <a:latin typeface="等线"/>
                <a:ea typeface="等线"/>
                <a:cs typeface="等线"/>
              </a:rPr>
              <a:t>长上下文场景释放 Batch 与显存空间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7349F-1673-43E4-A278-DD5AEF32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241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B8CC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ADD91-E976-4933-9132-CF0CC25B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4E79"/>
                </a:solidFill>
                <a:latin typeface="等线"/>
                <a:ea typeface="等线"/>
                <a:cs typeface="等线"/>
              </a:defRPr>
            </a:pPr>
            <a:r>
              <a:rPr sz="1875" b="1">
                <a:solidFill>
                  <a:srgbClr val="1F4E79"/>
                </a:solidFill>
                <a:latin typeface="等线"/>
                <a:ea typeface="等线"/>
                <a:cs typeface="等线"/>
              </a:rPr>
              <a:t>2x-5x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DFC2F-FF27-4200-A584-A24EE78F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TTFT 改善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75990-4A2B-4A38-A09D-5E873CE8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4F4F4F"/>
                </a:solidFill>
                <a:latin typeface="等线"/>
                <a:ea typeface="等线"/>
                <a:cs typeface="等线"/>
              </a:defRPr>
            </a:pPr>
            <a:r>
              <a:rPr sz="863">
                <a:solidFill>
                  <a:srgbClr val="4F4F4F"/>
                </a:solidFill>
                <a:latin typeface="等线"/>
                <a:ea typeface="等线"/>
                <a:cs typeface="等线"/>
              </a:rPr>
              <a:t>微秒级前缀快判与高质命中返回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721FE-4A93-4DF2-8B3B-77C2AFD9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241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B8CC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67B17-FF84-4DB7-95BB-4205C118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5745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4E79"/>
                </a:solidFill>
                <a:latin typeface="等线"/>
                <a:ea typeface="等线"/>
                <a:cs typeface="等线"/>
              </a:defRPr>
            </a:pPr>
            <a:r>
              <a:rPr sz="1875" b="1">
                <a:solidFill>
                  <a:srgbClr val="1F4E79"/>
                </a:solidFill>
                <a:latin typeface="等线"/>
                <a:ea typeface="等线"/>
                <a:cs typeface="等线"/>
              </a:rPr>
              <a:t>-40%-70%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BF418-DB57-46C4-88ED-8E8ADA3C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384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单位成本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737DF3-4A5C-4ADD-89A9-E2D50709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861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4F4F4F"/>
                </a:solidFill>
                <a:latin typeface="等线"/>
                <a:ea typeface="等线"/>
                <a:cs typeface="等线"/>
              </a:defRPr>
            </a:pPr>
            <a:r>
              <a:rPr sz="863">
                <a:solidFill>
                  <a:srgbClr val="4F4F4F"/>
                </a:solidFill>
                <a:latin typeface="等线"/>
                <a:ea typeface="等线"/>
                <a:cs typeface="等线"/>
              </a:rPr>
              <a:t>计算密集转向低成本传输与复用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9A642D-DFF0-4167-88EA-32B85384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981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面向 RAG、Agent 模板、多轮长对话等长前缀高复用场景。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把 HBM、DDR、SSD、远端节点显存统一纳管，形成算力与存储解耦底座。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所有设计围绕一个约束：容量收益不能以推理 SLA 退化为代价。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7BA79C-603B-4311-B3F7-8DED9FD1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E02A2-BA0D-4367-A40A-A1CDA7E9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02</a:t>
            </a:r>
          </a:p>
        </p:txBody>
      </p:sp>
    </p:spTree>
    <p:extLst>
      <p:ext uri="{BB962C8B-B14F-4D97-AF65-F5344CB8AC3E}">
        <p14:creationId xmlns:p14="http://schemas.microsoft.com/office/powerpoint/2010/main" val="19869407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12F2DE-C543-4EE5-87BC-C82ACEC7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9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当前业务痛点集中在重算、显存墙和集群资源碎片化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123950"/>
          <a:ext xmlns:a="http://schemas.openxmlformats.org/drawingml/2006/main" cx="1057275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29798"/>
                <a:gridCol w="3694093"/>
                <a:gridCol w="3948858"/>
              </a:tblGrid>
              <a:tr h="80010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业务痛点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直接后果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系统级设计响应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长前缀重算黑洞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System Prompt、RAG 文档、多轮上下文反复 Prefill，TTFT 与算力成本双高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本地 BloomFilter 快判 + 全局目录 + 高质命中准入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HBM 物理显存墙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长 Context 迅速压低 Batch Size，甚至 OOM 拒绝请求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HBM/DDR/SSD 分层池化 + 水位迁移 + 生命周期状态机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集群资源闲置和碎片化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部分节点 OOM，其他节点 DDR/SSD/显存空闲但无法跨界流动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跨节点零拷贝拉取 + 多副本路径解析 + 组播分发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后台搬运挤兑前台推理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Compaction、冷热下沉导致 TPOT P99 抖动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RCU 无锁迁移 + RNIC QoS QP + 引用计数保护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EC490-5C41-420A-ACD1-4686026C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6735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9050">
            <a:solidFill>
              <a:srgbClr val="F4B183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20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领导视角：系统价值不在“多做一个缓存”，而在把推理服务的成本、时延和容量约束同时拉回可控区间。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B2C64-3308-4A69-A1FD-73A1F572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6966E-9EA2-4DAD-A772-73521D46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03</a:t>
            </a:r>
          </a:p>
        </p:txBody>
      </p:sp>
    </p:spTree>
    <p:extLst>
      <p:ext uri="{BB962C8B-B14F-4D97-AF65-F5344CB8AC3E}">
        <p14:creationId xmlns:p14="http://schemas.microsoft.com/office/powerpoint/2010/main" val="7372589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DE6873-D73C-496F-A6CC-C45BC209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9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轴心冲突是异构介质延迟阶梯与在线推理 SLA 的硬碰撞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81050" y="1257300"/>
          <a:ext xmlns:a="http://schemas.openxmlformats.org/drawingml/2006/main" cx="9886950" cy="28003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75129"/>
                <a:gridCol w="1977390"/>
                <a:gridCol w="2867216"/>
                <a:gridCol w="2867216"/>
              </a:tblGrid>
              <a:tr h="56007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介质/路径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典型延迟量级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风险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必须引入的控制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NPU HBM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ns 级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容量小、长上下文下最先触顶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热数据常驻与水位保护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Host DDR / C2C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十 ns 到百 ns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跨 NUMA 和地址保护复杂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统一地址空间与租约句柄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远端 RDMA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μs 级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网络拥塞时可能慢于重算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代价感知准入与单边 RDMA 目录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本地 SSD / 对象存储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十 μs 到 ms 级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不可直接进入前台关键路径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异步预热、冷数据下沉与 QoS 隔离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00593-CF97-47A0-BB7C-43F35927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76750"/>
            <a:ext cx="895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9050">
            <a:solidFill>
              <a:srgbClr val="F4B183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设计牵引：把元数据检索、物理搬运、空间整理全部隐藏到推理计算与调度流水线后台。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F8864-6AF5-4E1C-91C2-8CBC2486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3400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125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TTFT 通常被约束在 100-200ms 内，TPOT 常被约束在 20-30ms 内。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125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125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一旦拉取时延超过本地重算收益，存储池必须返回逻辑 Miss，而不是强制远端搬运。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125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125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因此系统目标是“零额外开销感知”的虚拟化流动，而不是盲目扩大缓存层级。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59D10-212D-4BB5-BEA0-EF3DBFF9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07B7E-84BB-4952-93AA-C3497EC1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04</a:t>
            </a:r>
          </a:p>
        </p:txBody>
      </p:sp>
    </p:spTree>
    <p:extLst>
      <p:ext uri="{BB962C8B-B14F-4D97-AF65-F5344CB8AC3E}">
        <p14:creationId xmlns:p14="http://schemas.microsoft.com/office/powerpoint/2010/main" val="13693156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8FFA0E-B591-4ACB-A1E1-A5DF9C19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9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终局架构由六个目标共同定义，而不是单点缓存能力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95300" y="1123950"/>
          <a:ext xmlns:a="http://schemas.openxmlformats.org/drawingml/2006/main" cx="11049000" cy="4686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98012"/>
                <a:gridCol w="3982779"/>
                <a:gridCol w="4368209"/>
              </a:tblGrid>
              <a:tr h="669471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目标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含义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关键技术抓手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</a:tr>
              <a:tr h="669471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算力成本红利化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消除无效 Prefill，把共享前缀变成真实 TCO 收益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Cost-Aware Return、强反压、水位规避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669471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长文本推理使能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突破单机 HBM 限制，支撑百万 Token 级上下文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冷热状态机、水位迁移、异构分层池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669471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NPU 饱和输出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让算力从等待/搬运/整理中解放出来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RCU 无锁迁移、后台 Compaction、Pull-to-Pointer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669471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微秒级前缀匹配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避免元数据查询 RTT 风暴拖垮 TTFT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BloomFilter、SIMD RadixTree、单边 RDMA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669471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零拷贝物理流转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绕过 Host CPU 软件栈，逼近硬件带宽上限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Scatter-Gather、NPUDirect RDMA、DPU/组播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669471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工业级稳态与自愈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在多租户和硬件故障常态下保持 P99 稳定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ViewLease、QoS QP、RAS 映射与 Fallback Trace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C3F08-8C4F-4612-B760-4095805B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ED5EE-C141-451C-8D41-6AEB86CC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05</a:t>
            </a:r>
          </a:p>
        </p:txBody>
      </p:sp>
    </p:spTree>
    <p:extLst>
      <p:ext uri="{BB962C8B-B14F-4D97-AF65-F5344CB8AC3E}">
        <p14:creationId xmlns:p14="http://schemas.microsoft.com/office/powerpoint/2010/main" val="47062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76DB6A-E391-4F3C-9956-9C8C0F80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85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285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一、六大子系统把离散 SRS 收拢为可交付的系统底座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FDE2E-5799-4AC0-AC3C-0D69573E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4F4F4F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4F4F4F"/>
                </a:solidFill>
                <a:latin typeface="等线"/>
                <a:ea typeface="等线"/>
                <a:cs typeface="等线"/>
              </a:rPr>
              <a:t>从网关准入、元数据检索、分层存储、零拷贝传输，到租约隔离与遥测自愈，形成完整闭环。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90DB2-B95A-4815-82A4-BBAF52A5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3CCE0-F51E-4635-BE34-8C1F3009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06</a:t>
            </a:r>
          </a:p>
        </p:txBody>
      </p:sp>
    </p:spTree>
    <p:extLst>
      <p:ext uri="{BB962C8B-B14F-4D97-AF65-F5344CB8AC3E}">
        <p14:creationId xmlns:p14="http://schemas.microsoft.com/office/powerpoint/2010/main" val="596540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95B34B-C493-4C60-A0D2-333887E8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9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六大技术子系统分别闭合一类不可绕开的系统瓶颈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52450" y="1066800"/>
          <a:ext xmlns:a="http://schemas.openxmlformats.org/drawingml/2006/main" cx="10934700" cy="4762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90550"/>
                <a:gridCol w="2742943"/>
                <a:gridCol w="3765736"/>
                <a:gridCol w="3835471"/>
              </a:tblGrid>
              <a:tr h="680357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编号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子系统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核心责任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不可替代性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TM1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推理网关与标准适配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统一 KVConnector、路由准入、Pull-to-Pointer 契约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防止拥塞链路上的盲目拉取让 NPU 空转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TM2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分布式元数据与检索网络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前缀快判、目录分片、原子可见发布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把分布式查询从 ms 级 RTT 压到 μs 级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TM3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异构分层存储池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全局容量、水位迁移、生命周期状态机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突破 HBM Wall 并平抑碎片率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TM4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零拷贝通道与组播编排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SG 描述符、NPUDirect RDMA、DPU 卸载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消除 Host CPU 拷贝和网络发送端瓶颈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TM5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共识、租约与 QoS 隔离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Rank 共识、ViewLease、RCU 迁移、硬件限速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保证多租户与后台整理不破坏前台 P99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TM6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遥测与容错自愈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Path Trace、Fallback Trace、RAS 映射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回答“命中了为什么慢”，并隔离故障副本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B8C82-4C00-4C75-B965-190C6546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B4CA6-CF49-4DAA-9462-F70B6F74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07</a:t>
            </a:r>
          </a:p>
        </p:txBody>
      </p:sp>
    </p:spTree>
    <p:extLst>
      <p:ext uri="{BB962C8B-B14F-4D97-AF65-F5344CB8AC3E}">
        <p14:creationId xmlns:p14="http://schemas.microsoft.com/office/powerpoint/2010/main" val="15464529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55169B-158F-4D66-ABF3-A6098BED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9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TM1 网关与适配层负责把“可命中”变成“可消费命中”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E3C63-39D7-4269-965B-DA08C0DE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09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统一北向接口：put/get/prefetch/evict/get_status，并标准化 KVMeta 与 KVPage。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推行 Pull-to-Pointer 契约：存储池只负责写入框架提供的 device_ptr，算力调度与存储拓扑解耦。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100ms 周期探测路径带宽与延迟，若搬运耗时大于 recompute_saved_time，直接返回 RECOMPUTE。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结合底层水位告警给高风险节点增加 Cost 权重，实现动态流量规避与强反压。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096125" y="1200150"/>
          <a:ext xmlns:a="http://schemas.openxmlformats.org/drawingml/2006/main" cx="4095750" cy="2266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38908"/>
                <a:gridCol w="2256842"/>
              </a:tblGrid>
              <a:tr h="45339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关键 SRS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作用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L2-CONN-API-STD-001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统一协议与接口标准化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L2-CONN-BufferContract-040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算力内存与存储责任解耦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L2-CONN-CostAwareReturn-039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低质命中自动转逻辑 Miss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L2-CONN-WatermarkQuery-032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高水位路径规避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CEAD8-CB73-4C32-8905-9F02D459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3860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9050">
            <a:solidFill>
              <a:srgbClr val="F4B183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42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TM1 的本质是 SLA 守门员：宁可重算，也不让远端低质命中拖慢前台。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95E19-08BA-4AF9-92E1-B2D1D1E8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F1E41-4700-4A29-8A7A-BE731F80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08</a:t>
            </a:r>
          </a:p>
        </p:txBody>
      </p:sp>
    </p:spTree>
    <p:extLst>
      <p:ext uri="{BB962C8B-B14F-4D97-AF65-F5344CB8AC3E}">
        <p14:creationId xmlns:p14="http://schemas.microsoft.com/office/powerpoint/2010/main" val="10221590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CEB997-3823-43B9-B331-7656E5B0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9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TM2 元数据网络把前缀查询从分布式 RTT 风暴中剥离出来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34FCA-29D7-49E5-BD56-3604A161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本地 BloomFilter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5μs 快判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35338-FE0D-400C-B2F7-E4B7084A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295" y="1428750"/>
            <a:ext cx="171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90CCD-9CB5-4FC8-BB74-F92D0687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12001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进程内 Meta Cache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100K 默认规格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D4209-914F-4B25-855F-D98E9F9C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615" y="1428750"/>
            <a:ext cx="171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9C306-414E-45CE-B8FB-59E850E0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2001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SIMD RadixTree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非交换内存常驻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336F7-7C0D-4E59-9006-8E234EFD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935" y="1428750"/>
            <a:ext cx="171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89704-074F-4669-9FFD-8476959E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12001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一致性哈希目录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单边 RDMA 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986AC-13E0-48A8-9E72-5A79D1F3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9255" y="1428750"/>
            <a:ext cx="171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2A1F1-CC89-4094-A83C-36BD5C36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12001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原子发布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Masked -&gt; Visible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85800" y="2762250"/>
          <a:ext xmlns:a="http://schemas.openxmlformats.org/drawingml/2006/main" cx="102870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01462"/>
                <a:gridCol w="4352192"/>
                <a:gridCol w="3033346"/>
              </a:tblGrid>
              <a:tr h="4762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机制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性能/一致性目标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SRS 示例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两级快速过滤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确定 Miss 本地短路，避免网络查询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L2-CONN-PFX-IDX-005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硬件级 LPM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Token 数组与哈希键 SIMD 比对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L3-MS-TTFTIndexLayout-088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GPU 端分层哈希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把 Python 前缀计算压缩到 0.5ms 量级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L1-VLLM-PFX-IDX-005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目录分片与双副本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全局前缀目录高可用，P50 查询百微秒内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L3-MC-PFX-IDX-003 / 004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原子可见性发布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校验完成前对外不可见，防空地址引用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L3-MS-AtomicPublishVisibility-087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59705-914B-4516-B255-651BA2A1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EF9CA-704A-45E8-BD71-B9275603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09</a:t>
            </a:r>
          </a:p>
        </p:txBody>
      </p:sp>
    </p:spTree>
    <p:extLst>
      <p:ext uri="{BB962C8B-B14F-4D97-AF65-F5344CB8AC3E}">
        <p14:creationId xmlns:p14="http://schemas.microsoft.com/office/powerpoint/2010/main" val="5383793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015580-CE6A-4B1C-A4B1-12204FC4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9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TM3 分层存储池把 HBM、DDR、SSD 组织成可调度容量平面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143000"/>
          <a:ext xmlns:a="http://schemas.openxmlformats.org/drawingml/2006/main" cx="10572750" cy="3543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7655"/>
                <a:gridCol w="4383823"/>
                <a:gridCol w="3481271"/>
              </a:tblGrid>
              <a:tr h="5905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能力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设计要点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领导应关注的收益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全局注册与 NUMA 亲和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节点动态插拔，KV Block 优先分配到 NPU 亲和 CPU 内存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降低跨 NUMA 访问成本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统一地址空间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CPU-DDR + NPU-HBM + SSD/GAP 寻址统一管理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屏蔽介质差异，给上层稳定抽象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生命周期状态机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ALLOCATED/LOADING/READY/ACTIVE/OFFLOADING/EVICTABLE/RELEASED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降低并发迁移和释放风险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后台 Compaction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碎片率超过阈值时异步迁移物理页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不暂停 Attention 计算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三级水位迁移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Low/High/Critical 水位驱动 Warm/Cold KV 下沉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避免 HBM OOM 并释放 Batch 空间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A4F2E-F628-4425-8B67-C8AC9B4F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86350"/>
            <a:ext cx="962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9050">
            <a:solidFill>
              <a:srgbClr val="F4B183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2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TM3 不是“存哪里”的问题，而是把容量、水位、状态和碎片治理编成一个一致的空间操作系统。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1121C-A840-447D-8E1E-1595A82C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C611C-2847-45AB-BCDF-E1F0B52E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10</a:t>
            </a:r>
          </a:p>
        </p:txBody>
      </p:sp>
    </p:spTree>
    <p:extLst>
      <p:ext uri="{BB962C8B-B14F-4D97-AF65-F5344CB8AC3E}">
        <p14:creationId xmlns:p14="http://schemas.microsoft.com/office/powerpoint/2010/main" val="137490703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4FCB01-7D5D-4408-B7E8-A6634586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9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TM4 零拷贝数据面把 KVCache 搬运逼近硬件极限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02ABB-B4C3-40A0-AB6C-AE966F43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239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离散 KV Block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收束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86843-F9C2-4FC4-972D-B533D016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295" y="1352550"/>
            <a:ext cx="171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C3048-0B12-481F-A26C-E11670C8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11239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Scatter-Gather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聚合描述符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EACC3-AB90-4C43-BEF5-2776B00A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615" y="1352550"/>
            <a:ext cx="171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2BA25-0EF0-4DFC-BD05-33EBCA01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239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多副本路径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5μs 解析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63E7C-E161-4633-87FC-451FA32D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935" y="1352550"/>
            <a:ext cx="171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F3DC6-2250-43DC-858F-DA7ED503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11239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NPUDirect RDMA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绕过 CPU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FCCC4-636D-43EB-B67B-7FD2007B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9255" y="1352550"/>
            <a:ext cx="171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B6219C-30B9-43A4-9F1C-067C38E5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11239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DPU/组播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卸载与 1→N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373F5-05DE-4AE0-97C7-F68FDCE5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Connector 层把多个非连续物理 Block 聚合为批量描述符，降低 PCIe 小块 Setup 频次。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跨节点时将 NPU 显存注册为 RDMA Memory Region，实现端到端零 CPU 拷贝。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DPU 负责 CQ 轮询、路由表、压缩/解压与校验，减少 Host CPU 控制面开销。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热点 System Prompt 多节点分发时启用 1→N 组播，使源端带宽开销保持 O(1)。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8020050" y="2781300"/>
          <a:ext xmlns:a="http://schemas.openxmlformats.org/drawingml/2006/main" cx="3219450" cy="2019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49471"/>
                <a:gridCol w="1369979"/>
              </a:tblGrid>
              <a:tr h="40386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SRS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作用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L2-OL-BulkDescriptor-025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离散块收束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L4-OL-RegisteredPool-053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长期预注册内存池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L4-RDMA-P2P-NPU-001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NPUDirect RDMA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L3-TRANS-MUL-ENGINE-003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1→N 硬件组播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4D851-0CF8-4047-8B01-03DEA177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FC3A7-6357-45C2-A46F-5CCC7B5B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11</a:t>
            </a:r>
          </a:p>
        </p:txBody>
      </p:sp>
    </p:spTree>
    <p:extLst>
      <p:ext uri="{BB962C8B-B14F-4D97-AF65-F5344CB8AC3E}">
        <p14:creationId xmlns:p14="http://schemas.microsoft.com/office/powerpoint/2010/main" val="11148081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5B441F-632A-4E9C-B0A7-8F811288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9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TM5 用租约、共识和硬件 QoS 保证多租户下的 P99 稳定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162050"/>
          <a:ext xmlns:a="http://schemas.openxmlformats.org/drawingml/2006/main" cx="1057275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23043"/>
                <a:gridCol w="4325216"/>
                <a:gridCol w="3724491"/>
              </a:tblGrid>
              <a:tr h="6667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风险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控制机制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关键要求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卡间前缀不一致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TP/PP Rank Consensus 对 usable length 与 Layout 版本达成一致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不一致时回滚到 min-safe 前缀或重算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共享视图越权访问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ViewLease 携带 Epoch、Version、Refcount、Expiry、Revocation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过期或撤销时由 IOMMU/SMMU 切断映射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活跃块被后台覆盖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Active Refcount Guard 锁住 refcount &gt; 0 的物理块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禁止释放、覆盖或下沉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后台迁移阻塞前台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RCU 无锁迁移 + Safe Retirement Epoch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前台仍读旧地址，拷贝完成后原子替换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迁移流挤兑网络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SR-IOV RNIC 划分 QoS QP 并限速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控制/前台/后台/预热通道物理隔离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343B5-5DA5-44AC-B5B4-A120B64B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24500"/>
            <a:ext cx="828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9050">
            <a:solidFill>
              <a:srgbClr val="F4B183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TM5 解决的是“系统越忙越不能互相伤害”的生产级稳定性问题。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41F7E-CBAB-40CA-86C0-49877D2A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D3A4A-2984-4E31-8F31-599E4EEA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12</a:t>
            </a:r>
          </a:p>
        </p:txBody>
      </p:sp>
    </p:spTree>
    <p:extLst>
      <p:ext uri="{BB962C8B-B14F-4D97-AF65-F5344CB8AC3E}">
        <p14:creationId xmlns:p14="http://schemas.microsoft.com/office/powerpoint/2010/main" val="14910528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BC4C84-B783-4413-AD85-87DAE40B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9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TM6 让命中收益、降级原因和硬件故障全链路可解释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1181100"/>
          <a:ext xmlns:a="http://schemas.openxmlformats.org/drawingml/2006/main" cx="103632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26080"/>
                <a:gridCol w="4389120"/>
                <a:gridCol w="3048000"/>
              </a:tblGrid>
              <a:tr h="6286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观测/容错能力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输出内容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管理价值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语义化命中率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raw hit、usable hit、local/view/bulk/stream hit、abandoned hit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避免只看命中率而误判收益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Path Decision Trace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后端选择、介质位置、时延拆解、QoS 等级、Fallback 原因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定位“命中了为什么慢”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Fallback Causality Trace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UBLINK -&gt; RDMA -&gt; TCP/重算等降级链路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把灰度性能问题显性化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RAS 错误映射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网卡、UBLINK、IOMMU 错误映射为标准状态码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隔离受损副本并自动切到备用路径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05E84-19AE-49F2-99F3-96014FEC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24400"/>
            <a:ext cx="885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9050">
            <a:solidFill>
              <a:srgbClr val="F4B183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可靠性目标：硬件故障是常态，推理链路不能因为底层物理错误而挂死。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B0765-1463-44CC-8465-B02A4079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5435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L1-OB-SemanticMetrics-016 负责收益指标拆解。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L2-OB-PathTrace-030 与 L3-FT-FallbackTrace-046 负责路径追踪。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05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L4-FT-RASErrorMap-061 将底层 RAS 事件收敛为软件可处理状态。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8B7BD-94EF-4329-BE8E-C0EA1D40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03DAD-094C-410C-9C0F-6A23F5DE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13</a:t>
            </a:r>
          </a:p>
        </p:txBody>
      </p:sp>
    </p:spTree>
    <p:extLst>
      <p:ext uri="{BB962C8B-B14F-4D97-AF65-F5344CB8AC3E}">
        <p14:creationId xmlns:p14="http://schemas.microsoft.com/office/powerpoint/2010/main" val="3947777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5E1C20-995F-4E92-B5E7-EEA8311F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85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285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二、系统运行时采用控制面与数据面双轨互锁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AB3A9-BB18-49A6-820B-B106FA9A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4F4F4F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4F4F4F"/>
                </a:solidFill>
                <a:latin typeface="等线"/>
                <a:ea typeface="等线"/>
                <a:cs typeface="等线"/>
              </a:rPr>
              <a:t>控制面只做极速决策和一致性保护，数据面只做高带宽物理搬运；二者通过预算、租约、RCU 和 QoS 栅栏互锁。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2223B-F2D9-4405-9BB5-975FF56D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F6F37-21D0-4B75-8783-B6322D5D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14</a:t>
            </a:r>
          </a:p>
        </p:txBody>
      </p:sp>
    </p:spTree>
    <p:extLst>
      <p:ext uri="{BB962C8B-B14F-4D97-AF65-F5344CB8AC3E}">
        <p14:creationId xmlns:p14="http://schemas.microsoft.com/office/powerpoint/2010/main" val="195115096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362A3D-E897-4313-9145-007FEA33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9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控制轨决定能不能拉、从哪里拉；数据轨决定怎么无感拉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104900"/>
          <a:ext xmlns:a="http://schemas.openxmlformats.org/drawingml/2006/main" cx="5048250" cy="3352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41940"/>
                <a:gridCol w="1853155"/>
                <a:gridCol w="1853155"/>
              </a:tblGrid>
              <a:tr h="67056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控制面事务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职责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输出给数据面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意图解析与快判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解析框架查询，BloomFilter/Cache 本地短路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MISS / 可能命中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目录与路径选择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一致性哈希分片查询，多副本路径成本评估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物理 Extent 与路径预算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租约与状态保护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ViewLease、Refcount、水位、原子可见性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安全可消费的搬运授权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QoS 与降级决策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判断是否重算、限速、降级或隔离副本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RECOMPUTE / RDMA / UBLINK / SSD 预热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"/>
          <p:cNvGraphicFramePr/>
          <p:nvPr/>
        </p:nvGraphicFramePr>
        <p:xfrm>
          <a:off xmlns:a="http://schemas.openxmlformats.org/drawingml/2006/main" x="6229350" y="1104900"/>
          <a:ext xmlns:a="http://schemas.openxmlformats.org/drawingml/2006/main" cx="5048250" cy="3352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41940"/>
                <a:gridCol w="1853155"/>
                <a:gridCol w="1853155"/>
              </a:tblGrid>
              <a:tr h="67056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数据面事务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职责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硬件路径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描述符聚合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离散 KV Block 组织成批量 Scatter-Gather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PCIe / DMA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物理搬运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触发 RDMA、组播、本地页拷贝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NPUDirect RDMA / UBLINK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硬件协处理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DPU 执行路由、CQ、压缩、解压、校验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DPU / RNIC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后台整理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Compaction 与冷热下沉在限速队列中执行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QoS QP / Safe Epoch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6BBE5-455D-42DA-9458-1EE783CD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866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9050">
            <a:solidFill>
              <a:srgbClr val="F4B183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2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互锁栅栏：Cost 预算、Masked 可见性、ViewLease、RCU 指针替换、硬件 QoS QP。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C1441-76A2-47EA-907E-687E3913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19336-439C-41F2-B8B9-D3C1CEAA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15</a:t>
            </a:r>
          </a:p>
        </p:txBody>
      </p:sp>
    </p:spTree>
    <p:extLst>
      <p:ext uri="{BB962C8B-B14F-4D97-AF65-F5344CB8AC3E}">
        <p14:creationId xmlns:p14="http://schemas.microsoft.com/office/powerpoint/2010/main" val="192072169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49DDD2-9F57-4EB3-A861-FACCEADB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9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TTFT 主路径先做微秒级快判，再决定高质命中还是重算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3F73C-FA3D-4CA9-A9E5-BF5ABA04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提交前缀查询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L1/L2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9CA24-360A-4683-BF36-83C5293E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295" y="1428750"/>
            <a:ext cx="171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C0E28-8BED-4408-AE14-3987919A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12001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本地 Filter/Cache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5μs 快判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EE51B-6964-4C0C-AD91-2501ABCC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615" y="1428750"/>
            <a:ext cx="171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AAD8D-BFCB-45CA-B5C0-7623B382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2001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单边 RDMA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读全局目录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AADDA-5DC4-4CD4-9B26-D5C0B0CC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935" y="1428750"/>
            <a:ext cx="171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52001-E245-49A2-AA85-FF6CF810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12001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成本评估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搬运 vs 重算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25A97-1419-46B2-961D-F0538EB9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9255" y="1428750"/>
            <a:ext cx="171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367B5-138A-4866-A1FF-B4261F89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12001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租约锁定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交付指针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1200150" y="2952750"/>
          <a:ext xmlns:a="http://schemas.openxmlformats.org/drawingml/2006/main" cx="885825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09107"/>
                <a:gridCol w="3796393"/>
                <a:gridCol w="2952750"/>
              </a:tblGrid>
              <a:tr h="4762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分支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处理策略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SLA 保护点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确定 Miss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本地直接返回 MISS，不访问网络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不引入分布式 RTT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可能命中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目录查询后读取物理 Extent 与副本介质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路径选择前不搬运数据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搬运不划算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返回 RECOMPUTE 逻辑 Miss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保护 TTFT，不让 NPU Stall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高质命中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申请租约、锁引用计数，RDMA 写入 device_ptr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命中必须可被框架立即消费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E3972-6525-41FD-A1BD-C0EA8681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C2365-6797-440B-811A-05480FF6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16</a:t>
            </a:r>
          </a:p>
        </p:txBody>
      </p:sp>
    </p:spTree>
    <p:extLst>
      <p:ext uri="{BB962C8B-B14F-4D97-AF65-F5344CB8AC3E}">
        <p14:creationId xmlns:p14="http://schemas.microsoft.com/office/powerpoint/2010/main" val="192020686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4BDAD8-0A00-4B4F-8701-67770A29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9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高水位迁移必须后台无锁完成，前台 Attention 继续读旧地址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DE57F-3BE7-419D-8EEE-3727A6FE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水位越过 High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选择 Cold KV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7A7A8-62D5-45B6-91FD-36D70B1D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295" y="1390650"/>
            <a:ext cx="171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FB551-E49D-4955-B977-200C60BF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11620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检查 refcount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锁定安全块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7E9E5-1E2B-4480-A5C5-2371748B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615" y="1390650"/>
            <a:ext cx="171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A1490-5ADB-4569-91DE-598B3A5F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620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后台拷贝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限速 QoS QP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BB25A-48B5-40C5-89E2-BDF3ABC5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935" y="1390650"/>
            <a:ext cx="171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E4EA0-7C05-4820-89AE-85D5BB72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11620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CRC 校验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Memory Fence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C9159-4E66-4305-8BF2-BF9A0531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9255" y="1390650"/>
            <a:ext cx="171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FA36E-A180-4B28-AF78-4EFE8A0C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1162050"/>
            <a:ext cx="1950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9FB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原子换指针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9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回收旧页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768E7-4FA2-4F79-92A1-5985F423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9372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refcount &gt; 0 的活动块不得释放、覆盖或下沉，避免在跑 Batch 读到悬空地址。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拷贝期间，前台算子仍通过旧物理 Extent 完成 Attention 计算，不等待后台整理。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拷贝和 CRC 校验完成后，通过 Atomic Page Remap 一次性更替元数据指针。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200">
                <a:solidFill>
                  <a:srgbClr val="111111"/>
                </a:solidFill>
                <a:latin typeface="等线"/>
                <a:ea typeface="等线"/>
                <a:cs typeface="等线"/>
              </a:rPr>
              <a:t>• 旧页经过 Safe Retirement Epoch 后才回收，保证并发读路径完全退出。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2609850" y="4762500"/>
          <a:ext xmlns:a="http://schemas.openxmlformats.org/drawingml/2006/main" cx="6667500" cy="1257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14706"/>
                <a:gridCol w="4052794"/>
              </a:tblGrid>
              <a:tr h="25146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互锁机制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防护对象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Refcount Guard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活动推理块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RCU Migration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前台读路径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QoS QP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PCIe/RNIC 物理带宽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Safe Epoch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旧地址空间回收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91717-EE3F-458A-ABF6-C853A2AE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80F51-8F54-47AD-AB7B-3C872220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17</a:t>
            </a:r>
          </a:p>
        </p:txBody>
      </p:sp>
    </p:spTree>
    <p:extLst>
      <p:ext uri="{BB962C8B-B14F-4D97-AF65-F5344CB8AC3E}">
        <p14:creationId xmlns:p14="http://schemas.microsoft.com/office/powerpoint/2010/main" val="167968101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D7B6E9-12A0-4166-A4E7-9A442D80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9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三条互锁链条说明 140+ SRS 是系统充分必要条件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90550" y="1200150"/>
          <a:ext xmlns:a="http://schemas.openxmlformats.org/drawingml/2006/main" cx="10820400" cy="25336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87487"/>
                <a:gridCol w="4469296"/>
                <a:gridCol w="3763617"/>
              </a:tblGrid>
              <a:tr h="633413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互锁链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关键需求组合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缺失后的直接后果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</a:tr>
              <a:tr h="633413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TTFT SLA 保障链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PrefixBudget、BloomFilter、SIMD RadixTree、CostAwareReturn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网络 RTT 或低质命中拖垮首字延迟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633413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Zero-Copy 数据链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BulkDescriptor、RegisteredPool、NPUDirect RDMA、DPU Offload、Multicast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Host CPU socket 拷贝导致搬运延迟从 ms 级恶化到数十 ms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633413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QoS &amp; Isolation 链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RefCountLifecycle、MigrationRCULock、NICSpecConstraint、MigrationQoS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后台整理和冷热迁移挤占前台 PCIe/RNIC，TPOT P99 抖动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9DB4B-B6E2-471E-B0D7-B65EB1A2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9050">
            <a:solidFill>
              <a:srgbClr val="F4B183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275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必要性：删任一核心链条都会破坏 SLA、吞吐或一致性。充分性：四层 L1-L4 已覆盖准入、检索、搬运、迁移、隔离和自愈全生命周期。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9400E-81F4-4682-B45C-C6D3EB59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17F22-1C6B-4DCB-9113-C8D9E4E4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18</a:t>
            </a:r>
          </a:p>
        </p:txBody>
      </p:sp>
    </p:spTree>
    <p:extLst>
      <p:ext uri="{BB962C8B-B14F-4D97-AF65-F5344CB8AC3E}">
        <p14:creationId xmlns:p14="http://schemas.microsoft.com/office/powerpoint/2010/main" val="157937089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04127C-CF7B-498A-BA0F-DC8F9A81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9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需求覆盖矩阵把六大子系统与 SRS 基线对齐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14350" y="1123950"/>
          <a:ext xmlns:a="http://schemas.openxmlformats.org/drawingml/2006/main" cx="11049000" cy="43624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75021"/>
                <a:gridCol w="3372853"/>
                <a:gridCol w="5001126"/>
              </a:tblGrid>
              <a:tr h="623207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子系统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主要覆盖层级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代表性需求 ID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TM1 网关与标准适配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L1 推理层、L2 Connector、L3 管理、L4 路由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L2-CONN-API-STD-001, L2-CONN-CostAwareReturn-039, L2-CONN-BufferContract-040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TM2 元数据检索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L1 前缀哈希、L2 本地快判、L3 目录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L2-CONN-PFX-IDX-005, L3-MC-PFX-IDX-003, L3-MS-AtomicPublishVisibility-087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TM3 分层存储池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L1 生命周期、L3 存储池、L4 C2C/UB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L1-MM-Lifecycle-009, L3-MC-CompactionEngine-056, L3-MC-IntelligentMigration-057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TM4 零拷贝通道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L1 预取/换入、L2 描述符、L4 RDMA/DPU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L2-OL-BulkDescriptor-025, L4-RDMA-P2P-NPU-001, L4-NET-OFFLOAD-DPU-001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TM5 租约与 QoS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L1 多卡共识、L2 租约、L3 并发控制、L4 QoS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L1-PD-RankConsensus-013, L3-CO-MigrationRCULock-090, L4-QO-MigrationQoS-064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TM6 遥测与自愈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L1 语义指标、L2 Path Trace、L3 Fallback、L4 RAS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L1-OB-SemanticMetrics-016, L2-OB-PathTrace-030, L4-FT-RASErrorMap-061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F3C98-092C-4674-A692-4C48A2C5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00510-9385-4EE5-AB1E-D2020DCD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19</a:t>
            </a:r>
          </a:p>
        </p:txBody>
      </p:sp>
    </p:spTree>
    <p:extLst>
      <p:ext uri="{BB962C8B-B14F-4D97-AF65-F5344CB8AC3E}">
        <p14:creationId xmlns:p14="http://schemas.microsoft.com/office/powerpoint/2010/main" val="171507525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95F215-96E4-48DF-8B50-8606CD31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9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建议以“准入收益、数据面硬通道、稳态隔离”三条主线推进落地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838200" y="1219200"/>
          <a:ext xmlns:a="http://schemas.openxmlformats.org/drawingml/2006/main" cx="10001250" cy="28003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73011"/>
                <a:gridCol w="4318722"/>
                <a:gridCol w="3409517"/>
              </a:tblGrid>
              <a:tr h="56007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阶段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优先交付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</a:rPr>
                        <a:t>验收指标</a:t>
                      </a:r>
                    </a:p>
                  </a:txBody>
                  <a:tcPr marL="76200" marR="76200" marT="47625" marB="47625">
                    <a:solidFill>
                      <a:srgbClr val="17365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P0 架构闭环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KVConnector、CostAwareReturn、Path Trace、基础目录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低质命中可自动转重算，关键路径可追踪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P1 性能闭环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BloomFilter、SIMD RadixTree、BulkDescriptor、RDMA 直传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TTFT 有明确收益，CPU 拷贝不在主路径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P2 容量闭环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分层池、水位迁移、生命周期状态机、Compaction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长上下文不触发 HBM OOM，碎片率可控</a:t>
                      </a:r>
                    </a:p>
                  </a:txBody>
                  <a:tcPr marL="66675" marR="66675" marT="38100" marB="38100">
                    <a:solidFill>
                      <a:srgbClr val="EAF2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P3 生产闭环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ViewLease、RCU 迁移、QoS QP、RAS 自愈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111111"/>
                          </a:solidFill>
                          <a:latin typeface="等线"/>
                          <a:ea typeface="等线"/>
                          <a:cs typeface="等线"/>
                        </a:rPr>
                        <a:t>多租户下 TPOT P99 稳定，故障副本可隔离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A5F71-C0E9-4954-9C01-82F7229D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9050">
            <a:solidFill>
              <a:srgbClr val="F4B183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111111"/>
                </a:solidFill>
                <a:latin typeface="等线"/>
                <a:ea typeface="等线"/>
                <a:cs typeface="等线"/>
              </a:rPr>
              <a:t>最终验收口径：不是缓存命中率，而是 usable hit、TTFT/TPOT P99、NPU Duty Cycle、每百万 Token 成本和故障自愈时间。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07D70-F8C1-4AE0-B234-5B545275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722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4D1FB-3C6E-4144-A782-B7D98DBB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等线"/>
                <a:ea typeface="等线"/>
                <a:cs typeface="等线"/>
              </a:defRPr>
            </a:pPr>
            <a:r>
              <a:rPr sz="750">
                <a:solidFill>
                  <a:srgbClr val="6B7280"/>
                </a:solidFill>
                <a:latin typeface="等线"/>
                <a:ea typeface="等线"/>
                <a:cs typeface="等线"/>
              </a:rPr>
              <a:t>Unified KVCache | 20</a:t>
            </a:r>
          </a:p>
        </p:txBody>
      </p:sp>
    </p:spTree>
    <p:extLst>
      <p:ext uri="{BB962C8B-B14F-4D97-AF65-F5344CB8AC3E}">
        <p14:creationId xmlns:p14="http://schemas.microsoft.com/office/powerpoint/2010/main" val="1644526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2026-07-06T03:54:37.3400000Z</dcterms:created>
  <dcterms:modified xsi:type="dcterms:W3CDTF">2026-07-06T03:54:37.3400000Z</dcterms:modified>
</coreProperties>
</file>