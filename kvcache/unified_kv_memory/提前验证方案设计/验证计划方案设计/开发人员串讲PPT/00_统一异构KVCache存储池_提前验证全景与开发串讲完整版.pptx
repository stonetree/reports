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【串讲讲稿 - 封面页】</a:t>
            </a:r>
          </a:p>
          <a:p>
            <a:r>
              <a:t>各位技术评审专家与一线研发同学，今天向大家串讲《统一异构 KVCache 存储池关键技术提前验证方案设计》。</a:t>
            </a:r>
          </a:p>
          <a:p>
            <a:r>
              <a:t>根据立项评审意见，本项目明确采用基于开源生态底座（Mooncake 与 vLLM）深度重构与架构增强的路线，演进为面向国产 AI 硬件生态的 Mooncake 高性能原厂扩展版 (Unified KV)。</a:t>
            </a:r>
          </a:p>
          <a:p>
            <a:r>
              <a:t>前期借用 Mooncake 外壳接口与集群接入生态，内部深度注入原厂软硬件协同核心创新，范围绝不框在 Mooncake 既有框架内。</a:t>
            </a:r>
          </a:p>
          <a:p>
            <a:r>
              <a:t>我们梳理了 11 项必做原型验证（PVT-00 到 PVT-10）与 1 项可行性证伪（CVT-01），全面贯穿 P0/P1/P2 优先级管理，通过真实集群部署与在线打流消融，在立项前摸清技术边界与性能上限。</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【串讲讲稿 - 全景页】</a:t>
            </a:r>
          </a:p>
          <a:p>
            <a:r>
              <a:t>这一页展示的是整体技术方案的 11 PVT + 1 CVT 全景结构。</a:t>
            </a:r>
          </a:p>
          <a:p>
            <a:r>
              <a:t>我们将验证清晰划分为四个阶段与三级穿刺优先级：</a:t>
            </a:r>
          </a:p>
          <a:p>
            <a:r>
              <a:t>E0 验证收益前提（PVT-00），确认外接 KV 缓存相比本地重算有确定性净收益；</a:t>
            </a:r>
          </a:p>
          <a:p>
            <a:r>
              <a:t>E1 打通数据通路与多卡同步（PVT-01/02/06/08/09/10），实现 Host CPU 零数据拷贝、C++ 描述符编译、6 维语义校验、Incast 动力学与 TP=8 Coflow 偏斜压制及 DPU 双轨；</a:t>
            </a:r>
          </a:p>
          <a:p>
            <a:r>
              <a:t>E2 验证调度大脑与分层扩容（PVT-03/04/05），实现微秒级 QueryPlan 选路与 io_uring 裸盘直达扩容；</a:t>
            </a:r>
          </a:p>
          <a:p>
            <a:r>
              <a:t>E3 则是全链路端到端混压总门禁（PVT-07），在真实 2 节点集群上通过在线打流对账；</a:t>
            </a:r>
          </a:p>
          <a:p>
            <a:r>
              <a:t>同时通过 CVT-01 证伪专用硬件 AtomicRemap 芯片依赖。全量验证基于开源底座，确保客观可复现。</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【串讲讲稿 - PVT-00】</a:t>
            </a:r>
          </a:p>
          <a:p>
            <a:r>
              <a:t>PVT-00 是整个统一异构 KVCache 存储池的收益立足点（阶段 E0）。核心目标是用客观实测数据验证：外接 KVCache 存储池相比本地算力重新计算（Recompute）确实能省下可观的时间。我们在 2 台物理机 800G 网络环境下，测试 4KB~64MB 下 UBMEM 与 URMA 的带宽时延，同时使用 make_workload.py 构造覆盖 DeepSeek MLA (~35KB/tok) 与 Qwen MHA (320KB/tok) 的测试集，通过 vLLM 官方 benchmark_serving.py 发起在线打流。判定标准：净收益必须达到查询与传输总开销的 2.0 倍以上，且 UBMEM 相比 URMA 加速比 ≥1.3 倍。</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【串讲讲稿 - PVT-01】</a:t>
            </a:r>
          </a:p>
          <a:p>
            <a:r>
              <a:t>PVT-01 是数据传输底座的验证（阶段 E1）。在 800G 网络与 PCIe Gen5 SSD 环境下，CPU 绝对不能参与数据搬运！我们将使用 CANN 的 P2P 显存分配接口直接向网卡注册显存，使用 io_uring 裸盘读写。同时运行 eBPF 探针监控整个系统。达标要求：Host CPU 数据拷贝字节数严格为 0，网络有效带宽达到 800G 的 80%（≥640Gbps），SSD 顺序读达到标称峰值的 80%。</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【串讲讲稿 - PVT-02】</a:t>
            </a:r>
          </a:p>
          <a:p>
            <a:r>
              <a:t>PVT-02 是 P0 级核心决胜项。开源 vLLM-Ascend 在跨节点传输时依赖 Python 层的 ZMQ 连接器，存在显著的序列化开销与小 I/O 碎片。我们设计了 C++ 描述符编译器，将离散物理块贪心合并为 64B POD 描述符，并在 2 节点下打通 Chunked Prefill 逐层边算边传（Layerwise KV Streaming）。达标要求：描述符压缩率 ≥50%，单次编译耗时 &lt;5µs，流水重叠率 ≥60%，CPU 提交开销降低 ≥40%。</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【串讲讲稿 - PVT-03】</a:t>
            </a:r>
          </a:p>
          <a:p>
            <a:r>
              <a:t>PVT-03 是关于远端直读边界与安全容错的验证（阶段 E1/E2）。我们通过实验测定：当数据仅读取 1~2 次时，远端直读具有时延优势；但当重读次数超过 2 次时，必须搬运到本地 HBM，否则总线争用会导致严重降速。同时我们实测证实 Decode 活跃 KV 绝不能跨节点直读。更重要的是，ViewGuard 机制通过捕获 SIGBUS 信号，在远端崩溃时自动回退到本地重算，确保服务 100% 不死机。</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【串讲讲稿 - PVT-04】</a:t>
            </a:r>
          </a:p>
          <a:p>
            <a:r>
              <a:t>PVT-04 是调度决策的大脑验证（P0 级）。在 DeepSeek MLA 压缩架构下，单 Token KV 显存占用仅约 35KB（计算密集而通信量相对小），如果调度器花了 100µs 去查目录、算开销，或者在网络拥塞时盲目拉取，反而会比本地直接重算更慢！QueryPlan 引擎通过微秒级纯内存算法与位运算，在 5µs 内完成 5 维路径成本评估。达标要求：决策 P99 &lt; 5µs，准确率 ≥90%，负收益拦截率 100%，错误决策率 &lt; 1%。</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【串讲讲稿 - PVT-05】</a:t>
            </a:r>
          </a:p>
          <a:p>
            <a:r>
              <a:t>PVT-05 是分层存储容量主路径的验证（P0 级）。为了解决长上下文推理的显存墙问题，我们对标 Mooncake 原生文件级 offload，开发了基于 Linux 6.6+ io_uring FIXED I/O 的裸盘直达技术。数据直接在 NVMe SSD 与 NPU HBM 之间流转，严格绕过主机 DDR。在 150% 显存超载测试下，系统可服务容量提升 ≥30%，OOM 降低 ≥50%，SSD 读写达到标称线速的 80% 以上。</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【串讲讲稿 - PVT-06】</a:t>
            </a:r>
          </a:p>
          <a:p>
            <a:r>
              <a:t>PVT-06 是生产级正确性与多卡协同的决胜验证（P0 级）。如果外接缓存读取了错误模型或过期的数据，模型就会产生严重幻觉（胡言乱语）；而在 8 卡张量并行时，只要有一张卡读了缓存而另一张卡去重算，集合通信就会瞬间死锁！我们设计了 xxHash64 6 维语义强校验引擎，并通过共享内存实现多卡原子共识。达标要求：8 类冲突 100% 拦截、错误消费严格为 0，多卡同步耗时 P99 &lt; 100µs。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【串讲讲稿 - PVT-07】</a:t>
            </a:r>
          </a:p>
          <a:p>
            <a:r>
              <a:t>PVT-07 是整个提前验证阶段的终极总门禁（阶段 E3）。我们在 2 台服务器上拉起完整的推理集群，前台运行真实 ShareGPT 在线打流，后台同时施加 400Gbps 满载数据搬运混压。通过硬件 QoS 队列与自适应退避流控，系统实现了三项硬核指标：相比官方原生 Mooncake，全链路 P99 TTFT 降低 ≥20%、QPS 提升 ≥10%、前台 P99 TPOT 干扰率严格小于 3%。这是立项决策的最核心依据！</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【串讲讲稿 - PVT-08】</a:t>
            </a:r>
          </a:p>
          <a:p>
            <a:r>
              <a:t>PVT-08 是 1-to-N 组播式分发的验证（原 CVT-01 升级）。针对超长系统提示词广播、Multi-Agent 共享上下文以及 1-Prefill 对多 Decode 场景，单播拉取会打爆源端带宽。我们验证了软件分层中继转发（Staging Fanout）机制，利用接收节点接力广播。实测表明：在 1-to-8 规模下，源端带宽节省超过 60%，完成时间降低 ≥40%，无需依赖脆弱且配置复杂的交换机硬件多播功能。</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【串讲讲稿 - PVT-09】</a:t>
            </a:r>
          </a:p>
          <a:p>
            <a:r>
              <a:t>PVT-09 是 DPU 硬件安全卸载与双轨协同的验证（原 CVT-03 升级）。企业级专线需要 AES-256 加解密与全量 CRC 校验，如果由 CPU 承担，CPU 就会被严重拖垮。DPU 可以在硬件线速下卸载这些计算，降低 CPU 占用 ≥30%。更关键的是，我们设计了软硬双轨协同机制：一旦 DPU 故障，系统在 500µs 内无缝降级到纯软 Raw Direct 路径，且提前布局了未来在途量化反量化的双轨技术手段。</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【串讲讲稿 - PVT-10】</a:t>
            </a:r>
          </a:p>
          <a:p>
            <a:r>
              <a:t>PVT-10 是关于网络排队动力学与多卡协同短板的实测验证（P0 级）。在多对一（N-to-1）并发汇聚时，交换机缓冲区膨胀（Buffer Bloat）会导致尾部时延呈非线性恶化；而在 TP=8 张量并行下，大模型每层计算必须等 8 张卡的数据全部就绪，整体完成时间 CCT 由最慢的子流决定，平均时延完全掩盖了长尾瓶颈。我们通过三组实验：扫描 N=1..16 测定 Incast 尾部放大，测量 TP=8 Coflow 偏斜，并验证 Layer 0 硬件最高优先级（TC0）提前点火机制。达标要求：捕获 Incast 尾部放大趋势，QoS 调度下 Coflow 偏斜系数 Skew_P99 &lt; 1.15，Layer 0 传输时延降低 ≥50% 并显著消除首层计算气泡。</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【串讲讲稿 - CVT-01】</a:t>
            </a:r>
          </a:p>
          <a:p>
            <a:r>
              <a:t>CVT-01 是关于显存整理与动态页迁移的条件证伪项（原 CVT-02 重新编号）。为了清理显存碎片，业界有人提出使用专用硬件 Atomic Remap 芯片。我们通过软件 RCU（读-拷贝-更新）无锁机制，在后台搬移显存页的同时允许前台 Reader 零停顿并发读取旧页，并在宽限期后安全回收。实测数据证明：在 32 线程高并发下，读停顿 P99 &lt; 1ms，前台 TPOT 抖动小于 3%，完全无需昂贵复杂的专用硬件芯片！</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【串讲讲稿 - 总结页】</a:t>
            </a:r>
          </a:p>
          <a:p>
            <a:r>
              <a:t>总结全文：</a:t>
            </a:r>
          </a:p>
          <a:p>
            <a:r>
              <a:t>我们通过 11 项必做验证包与 1 项条件证伪项的设计，全面覆盖了从基础收益评估、零拷贝数据传输、微秒调度策略到端到端混压测试的完整技术链路。</a:t>
            </a:r>
          </a:p>
          <a:p>
            <a:r>
              <a:t>方案坚持以开源基线部署、在线打流与客观实测数据说话，在充分发挥软硬件协同潜力的同时，对复杂的硬件特性进行科学剪枝。</a:t>
            </a:r>
          </a:p>
          <a:p>
            <a:r>
              <a:t>接下来研发团队将按照各个验证项的技术方案与 SOP 规程展开具体的打流测试与数据采集工作，为整体系统顺利落地提供扎实的技术支撑！</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48640" y="731520"/>
            <a:ext cx="182880" cy="539496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60120" y="914400"/>
            <a:ext cx="10058400" cy="365760"/>
          </a:xfrm>
          <a:prstGeom prst="rect">
            <a:avLst/>
          </a:prstGeom>
          <a:noFill/>
        </p:spPr>
        <p:txBody>
          <a:bodyPr wrap="none" lIns="0" tIns="0" rIns="0" bIns="0">
            <a:spAutoFit/>
          </a:bodyPr>
          <a:lstStyle/>
          <a:p>
            <a:pPr>
              <a:defRPr sz="1100" b="1">
                <a:solidFill>
                  <a:srgbClr val="2563EB"/>
                </a:solidFill>
                <a:latin typeface="Consolas"/>
              </a:defRPr>
            </a:pPr>
            <a:r>
              <a:t>UNIFIED HETEROGENEOUS KVCACHE MEMORY POOL · MOONCAKE EXTENDED TECHNICAL BRIEFING</a:t>
            </a:r>
          </a:p>
        </p:txBody>
      </p:sp>
      <p:sp>
        <p:nvSpPr>
          <p:cNvPr id="4" name="TextBox 3"/>
          <p:cNvSpPr txBox="1"/>
          <p:nvPr/>
        </p:nvSpPr>
        <p:spPr>
          <a:xfrm>
            <a:off x="960120" y="1325880"/>
            <a:ext cx="10058400" cy="1097280"/>
          </a:xfrm>
          <a:prstGeom prst="rect">
            <a:avLst/>
          </a:prstGeom>
          <a:noFill/>
        </p:spPr>
        <p:txBody>
          <a:bodyPr wrap="square" lIns="0" tIns="0" rIns="0" bIns="0">
            <a:spAutoFit/>
          </a:bodyPr>
          <a:lstStyle/>
          <a:p>
            <a:pPr>
              <a:defRPr sz="2600" b="1">
                <a:solidFill>
                  <a:srgbClr val="1E3A8A"/>
                </a:solidFill>
                <a:latin typeface="Microsoft YaHei"/>
              </a:defRPr>
            </a:pPr>
            <a:r>
              <a:t>统一异构 KVCache 存储池</a:t>
            </a:r>
          </a:p>
          <a:p>
            <a:pPr>
              <a:spcBef>
                <a:spcPts val="400"/>
              </a:spcBef>
              <a:defRPr sz="2200" b="1">
                <a:solidFill>
                  <a:srgbClr val="1E3A8A"/>
                </a:solidFill>
                <a:latin typeface="Microsoft YaHei"/>
              </a:defRPr>
            </a:pPr>
            <a:r>
              <a:t>关键技术提前验证方案串讲 (Mooncake 高性能原厂扩展版)</a:t>
            </a:r>
          </a:p>
        </p:txBody>
      </p:sp>
      <p:sp>
        <p:nvSpPr>
          <p:cNvPr id="5" name="TextBox 4"/>
          <p:cNvSpPr txBox="1"/>
          <p:nvPr/>
        </p:nvSpPr>
        <p:spPr>
          <a:xfrm>
            <a:off x="960120" y="2560320"/>
            <a:ext cx="10058400" cy="365760"/>
          </a:xfrm>
          <a:prstGeom prst="rect">
            <a:avLst/>
          </a:prstGeom>
          <a:noFill/>
        </p:spPr>
        <p:txBody>
          <a:bodyPr wrap="square" lIns="0" tIns="0" rIns="0" bIns="0">
            <a:spAutoFit/>
          </a:bodyPr>
          <a:lstStyle/>
          <a:p>
            <a:pPr>
              <a:defRPr sz="1200">
                <a:solidFill>
                  <a:srgbClr val="475569"/>
                </a:solidFill>
                <a:latin typeface="Microsoft YaHei"/>
              </a:defRPr>
            </a:pPr>
            <a:r>
              <a:t>基于开源生态底座深度重构 · 11 项必做验证包 (PVT) 与 1 项可行性证伪 (CVT) · 贯穿 P0/P1/P2 优先级</a:t>
            </a:r>
          </a:p>
        </p:txBody>
      </p:sp>
      <p:sp>
        <p:nvSpPr>
          <p:cNvPr id="6" name="Rectangle 5"/>
          <p:cNvSpPr/>
          <p:nvPr/>
        </p:nvSpPr>
        <p:spPr>
          <a:xfrm>
            <a:off x="960120" y="3154680"/>
            <a:ext cx="3383280" cy="2011680"/>
          </a:xfrm>
          <a:prstGeom prst="rect">
            <a:avLst/>
          </a:prstGeom>
          <a:solidFill>
            <a:srgbClr val="FFFF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60120" y="3154680"/>
            <a:ext cx="3383280" cy="310896"/>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69848" y="3191256"/>
            <a:ext cx="3163824" cy="237744"/>
          </a:xfrm>
          <a:prstGeom prst="rect">
            <a:avLst/>
          </a:prstGeom>
          <a:noFill/>
        </p:spPr>
        <p:txBody>
          <a:bodyPr wrap="none" lIns="0" tIns="0" rIns="0" bIns="0">
            <a:spAutoFit/>
          </a:bodyPr>
          <a:lstStyle/>
          <a:p>
            <a:pPr>
              <a:defRPr sz="1200" b="1">
                <a:solidFill>
                  <a:srgbClr val="FFFFFF"/>
                </a:solidFill>
                <a:latin typeface="Microsoft YaHei"/>
              </a:defRPr>
            </a:pPr>
            <a:r>
              <a:t>研发定位与演进策略</a:t>
            </a:r>
            <a:r>
              <a:rPr sz="1000" b="1">
                <a:solidFill>
                  <a:srgbClr val="BFDBFE"/>
                </a:solidFill>
                <a:latin typeface="Microsoft YaHei"/>
              </a:rPr>
              <a:t>  [原厂软硬件协同]</a:t>
            </a:r>
          </a:p>
        </p:txBody>
      </p:sp>
      <p:sp>
        <p:nvSpPr>
          <p:cNvPr id="9" name="TextBox 8"/>
          <p:cNvSpPr txBox="1"/>
          <p:nvPr/>
        </p:nvSpPr>
        <p:spPr>
          <a:xfrm>
            <a:off x="1088136" y="3538728"/>
            <a:ext cx="3127248" cy="1554480"/>
          </a:xfrm>
          <a:prstGeom prst="rect">
            <a:avLst/>
          </a:prstGeom>
          <a:noFill/>
        </p:spPr>
        <p:txBody>
          <a:bodyPr wrap="square" lIns="0" tIns="0" rIns="0" bIns="0">
            <a:spAutoFit/>
          </a:bodyPr>
          <a:lstStyle/>
          <a:p>
            <a:pPr>
              <a:lnSpc>
                <a:spcPct val="120000"/>
              </a:lnSpc>
              <a:spcAft>
                <a:spcPts val="600"/>
              </a:spcAft>
            </a:pPr>
            <a:r>
              <a:rPr sz="1150" b="1">
                <a:solidFill>
                  <a:srgbClr val="1E3A8A"/>
                </a:solidFill>
                <a:latin typeface="Microsoft YaHei"/>
              </a:rPr>
              <a:t>• 基于开源生态底座：</a:t>
            </a:r>
            <a:r>
              <a:rPr sz="1150">
                <a:solidFill>
                  <a:srgbClr val="1E293B"/>
                </a:solidFill>
                <a:latin typeface="Microsoft YaHei"/>
              </a:rPr>
              <a:t>前期借用 Mooncake 外壳接口与集群接入生态，内部深度注入原厂软硬件协同核心创新机制。</a:t>
            </a:r>
          </a:p>
          <a:p>
            <a:pPr>
              <a:lnSpc>
                <a:spcPct val="120000"/>
              </a:lnSpc>
              <a:spcAft>
                <a:spcPts val="600"/>
              </a:spcAft>
            </a:pPr>
            <a:r>
              <a:rPr sz="1150" b="1">
                <a:solidFill>
                  <a:srgbClr val="1E3A8A"/>
                </a:solidFill>
                <a:latin typeface="Microsoft YaHei"/>
              </a:rPr>
              <a:t>• 突破开源既有边界：</a:t>
            </a:r>
            <a:r>
              <a:rPr sz="1150">
                <a:solidFill>
                  <a:srgbClr val="1E293B"/>
                </a:solidFill>
                <a:latin typeface="Microsoft YaHei"/>
              </a:rPr>
              <a:t>随着原厂传输底座、微秒调度与 SSD 直达容量主路径全面重构，演进为原厂高性能扩展版。</a:t>
            </a:r>
          </a:p>
        </p:txBody>
      </p:sp>
      <p:sp>
        <p:nvSpPr>
          <p:cNvPr id="10" name="Rectangle 9"/>
          <p:cNvSpPr/>
          <p:nvPr/>
        </p:nvSpPr>
        <p:spPr>
          <a:xfrm>
            <a:off x="4663440" y="3154680"/>
            <a:ext cx="3383280" cy="2011680"/>
          </a:xfrm>
          <a:prstGeom prst="rect">
            <a:avLst/>
          </a:prstGeom>
          <a:solidFill>
            <a:srgbClr val="FFFF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663440" y="3154680"/>
            <a:ext cx="3383280" cy="310896"/>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73168" y="3191256"/>
            <a:ext cx="3163824" cy="237744"/>
          </a:xfrm>
          <a:prstGeom prst="rect">
            <a:avLst/>
          </a:prstGeom>
          <a:noFill/>
        </p:spPr>
        <p:txBody>
          <a:bodyPr wrap="none" lIns="0" tIns="0" rIns="0" bIns="0">
            <a:spAutoFit/>
          </a:bodyPr>
          <a:lstStyle/>
          <a:p>
            <a:pPr>
              <a:defRPr sz="1200" b="1">
                <a:solidFill>
                  <a:srgbClr val="FFFFFF"/>
                </a:solidFill>
                <a:latin typeface="Microsoft YaHei"/>
              </a:defRPr>
            </a:pPr>
            <a:r>
              <a:t>四个核心验证阶段</a:t>
            </a:r>
            <a:r>
              <a:rPr sz="1000" b="1">
                <a:solidFill>
                  <a:srgbClr val="BFDBFE"/>
                </a:solidFill>
                <a:latin typeface="Microsoft YaHei"/>
              </a:rPr>
              <a:t>  [E0 ~ E3 阶段]</a:t>
            </a:r>
          </a:p>
        </p:txBody>
      </p:sp>
      <p:sp>
        <p:nvSpPr>
          <p:cNvPr id="13" name="TextBox 12"/>
          <p:cNvSpPr txBox="1"/>
          <p:nvPr/>
        </p:nvSpPr>
        <p:spPr>
          <a:xfrm>
            <a:off x="4791456" y="3538728"/>
            <a:ext cx="3127248" cy="1554480"/>
          </a:xfrm>
          <a:prstGeom prst="rect">
            <a:avLst/>
          </a:prstGeom>
          <a:noFill/>
        </p:spPr>
        <p:txBody>
          <a:bodyPr wrap="square" lIns="0" tIns="0" rIns="0" bIns="0">
            <a:spAutoFit/>
          </a:bodyPr>
          <a:lstStyle/>
          <a:p>
            <a:pPr>
              <a:lnSpc>
                <a:spcPct val="120000"/>
              </a:lnSpc>
              <a:spcAft>
                <a:spcPts val="600"/>
              </a:spcAft>
            </a:pPr>
            <a:r>
              <a:rPr sz="1150" b="1">
                <a:solidFill>
                  <a:srgbClr val="1E3A8A"/>
                </a:solidFill>
                <a:latin typeface="Microsoft YaHei"/>
              </a:rPr>
              <a:t>• 收益与传输底座：</a:t>
            </a:r>
            <a:r>
              <a:rPr sz="1150">
                <a:solidFill>
                  <a:srgbClr val="1E293B"/>
                </a:solidFill>
                <a:latin typeface="Microsoft YaHei"/>
              </a:rPr>
              <a:t>E0 收益上限评估 + E1 Host CPU 零数据拷贝底座与跨框架描述符编译。</a:t>
            </a:r>
          </a:p>
          <a:p>
            <a:pPr>
              <a:lnSpc>
                <a:spcPct val="120000"/>
              </a:lnSpc>
              <a:spcAft>
                <a:spcPts val="600"/>
              </a:spcAft>
            </a:pPr>
            <a:r>
              <a:rPr sz="1150" b="1">
                <a:solidFill>
                  <a:srgbClr val="1E3A8A"/>
                </a:solidFill>
                <a:latin typeface="Microsoft YaHei"/>
              </a:rPr>
              <a:t>• 调度与端到端混压：</a:t>
            </a:r>
            <a:r>
              <a:rPr sz="1150">
                <a:solidFill>
                  <a:srgbClr val="1E293B"/>
                </a:solidFill>
                <a:latin typeface="Microsoft YaHei"/>
              </a:rPr>
              <a:t>E2 微秒级调度决策与 SSD 分层扩容 + E3 真实集群前后台混压总门禁。</a:t>
            </a:r>
          </a:p>
        </p:txBody>
      </p:sp>
      <p:sp>
        <p:nvSpPr>
          <p:cNvPr id="14" name="Rectangle 13"/>
          <p:cNvSpPr/>
          <p:nvPr/>
        </p:nvSpPr>
        <p:spPr>
          <a:xfrm>
            <a:off x="8366760" y="3154680"/>
            <a:ext cx="3383280" cy="2011680"/>
          </a:xfrm>
          <a:prstGeom prst="rect">
            <a:avLst/>
          </a:prstGeom>
          <a:solidFill>
            <a:srgbClr val="FFFF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366760" y="3154680"/>
            <a:ext cx="3383280" cy="310896"/>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76488" y="3191256"/>
            <a:ext cx="3163824" cy="237744"/>
          </a:xfrm>
          <a:prstGeom prst="rect">
            <a:avLst/>
          </a:prstGeom>
          <a:noFill/>
        </p:spPr>
        <p:txBody>
          <a:bodyPr wrap="none" lIns="0" tIns="0" rIns="0" bIns="0">
            <a:spAutoFit/>
          </a:bodyPr>
          <a:lstStyle/>
          <a:p>
            <a:pPr>
              <a:defRPr sz="1200" b="1">
                <a:solidFill>
                  <a:srgbClr val="FFFFFF"/>
                </a:solidFill>
                <a:latin typeface="Microsoft YaHei"/>
              </a:defRPr>
            </a:pPr>
            <a:r>
              <a:t>穿刺优先级与量化门禁</a:t>
            </a:r>
            <a:r>
              <a:rPr sz="1000" b="1">
                <a:solidFill>
                  <a:srgbClr val="BFDBFE"/>
                </a:solidFill>
                <a:latin typeface="Microsoft YaHei"/>
              </a:rPr>
              <a:t>  [P0 / P1 / P2]</a:t>
            </a:r>
          </a:p>
        </p:txBody>
      </p:sp>
      <p:sp>
        <p:nvSpPr>
          <p:cNvPr id="17" name="TextBox 16"/>
          <p:cNvSpPr txBox="1"/>
          <p:nvPr/>
        </p:nvSpPr>
        <p:spPr>
          <a:xfrm>
            <a:off x="8494776" y="3538728"/>
            <a:ext cx="3127248" cy="1554480"/>
          </a:xfrm>
          <a:prstGeom prst="rect">
            <a:avLst/>
          </a:prstGeom>
          <a:noFill/>
        </p:spPr>
        <p:txBody>
          <a:bodyPr wrap="square" lIns="0" tIns="0" rIns="0" bIns="0">
            <a:spAutoFit/>
          </a:bodyPr>
          <a:lstStyle/>
          <a:p>
            <a:pPr>
              <a:lnSpc>
                <a:spcPct val="120000"/>
              </a:lnSpc>
              <a:spcAft>
                <a:spcPts val="600"/>
              </a:spcAft>
            </a:pPr>
            <a:r>
              <a:rPr sz="1150" b="1">
                <a:solidFill>
                  <a:srgbClr val="1E3A8A"/>
                </a:solidFill>
                <a:latin typeface="Microsoft YaHei"/>
              </a:rPr>
              <a:t>• 11 PVT + 1 CVT 矩阵：</a:t>
            </a:r>
            <a:r>
              <a:rPr sz="1150">
                <a:solidFill>
                  <a:srgbClr val="1E293B"/>
                </a:solidFill>
                <a:latin typeface="Microsoft YaHei"/>
              </a:rPr>
              <a:t>6 项 P0 核心决胜项 + 4 项 P1 底座支撑项 + 2 项 P2 拓展证伪项。</a:t>
            </a:r>
          </a:p>
          <a:p>
            <a:pPr>
              <a:lnSpc>
                <a:spcPct val="120000"/>
              </a:lnSpc>
              <a:spcAft>
                <a:spcPts val="600"/>
              </a:spcAft>
            </a:pPr>
            <a:r>
              <a:rPr sz="1150" b="1">
                <a:solidFill>
                  <a:srgbClr val="1E3A8A"/>
                </a:solidFill>
                <a:latin typeface="Microsoft YaHei"/>
              </a:rPr>
              <a:t>• 在线打流消融对账：</a:t>
            </a:r>
            <a:r>
              <a:rPr sz="1150">
                <a:solidFill>
                  <a:srgbClr val="1E293B"/>
                </a:solidFill>
                <a:latin typeface="Microsoft YaHei"/>
              </a:rPr>
              <a:t>基于 vLLM 官方 benchmark_serving 在线打流，通过客观实测数据关闭全部验证门禁。</a:t>
            </a:r>
          </a:p>
        </p:txBody>
      </p:sp>
      <p:sp>
        <p:nvSpPr>
          <p:cNvPr id="18" name="TextBox 17"/>
          <p:cNvSpPr txBox="1"/>
          <p:nvPr/>
        </p:nvSpPr>
        <p:spPr>
          <a:xfrm>
            <a:off x="960120" y="5760720"/>
            <a:ext cx="10058400" cy="365760"/>
          </a:xfrm>
          <a:prstGeom prst="rect">
            <a:avLst/>
          </a:prstGeom>
          <a:noFill/>
        </p:spPr>
        <p:txBody>
          <a:bodyPr wrap="none" lIns="0" tIns="0" rIns="0" bIns="0">
            <a:spAutoFit/>
          </a:bodyPr>
          <a:lstStyle/>
          <a:p>
            <a:pPr>
              <a:defRPr sz="1100" b="1">
                <a:solidFill>
                  <a:srgbClr val="475569"/>
                </a:solidFill>
                <a:latin typeface="Microsoft YaHei"/>
              </a:defRPr>
            </a:pPr>
            <a:r>
              <a:t>统一异构 KVCache 存储池研发攻坚组 · 2026-08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0040"/>
            <a:ext cx="9875520" cy="640080"/>
          </a:xfrm>
          <a:prstGeom prst="rect">
            <a:avLst/>
          </a:prstGeom>
          <a:noFill/>
        </p:spPr>
        <p:txBody>
          <a:bodyPr wrap="square" lIns="0" tIns="0" rIns="0" bIns="0">
            <a:spAutoFit/>
          </a:bodyPr>
          <a:lstStyle/>
          <a:p>
            <a:pPr>
              <a:defRPr sz="1900" b="1">
                <a:solidFill>
                  <a:srgbClr val="1E3A8A"/>
                </a:solidFill>
                <a:latin typeface="Microsoft YaHei"/>
              </a:defRPr>
            </a:pPr>
            <a:r>
              <a:t>提前验证总体目标、11 PVT + 1 CVT 体系与验证准则</a:t>
            </a:r>
          </a:p>
          <a:p>
            <a:pPr>
              <a:spcBef>
                <a:spcPts val="300"/>
              </a:spcBef>
              <a:defRPr sz="1100">
                <a:solidFill>
                  <a:srgbClr val="475569"/>
                </a:solidFill>
                <a:latin typeface="Microsoft YaHei"/>
              </a:defRPr>
            </a:pPr>
            <a:r>
              <a:t>从单机算法原型、底层驱动调优到两节点集群端到端在线打流混压测试</a:t>
            </a:r>
          </a:p>
        </p:txBody>
      </p:sp>
      <p:sp>
        <p:nvSpPr>
          <p:cNvPr id="3" name="TextBox 2"/>
          <p:cNvSpPr txBox="1"/>
          <p:nvPr/>
        </p:nvSpPr>
        <p:spPr>
          <a:xfrm>
            <a:off x="10424160" y="320040"/>
            <a:ext cx="1310335" cy="320040"/>
          </a:xfrm>
          <a:prstGeom prst="rect">
            <a:avLst/>
          </a:prstGeom>
          <a:noFill/>
        </p:spPr>
        <p:txBody>
          <a:bodyPr wrap="none" lIns="0" tIns="0" rIns="0" bIns="0">
            <a:spAutoFit/>
          </a:bodyPr>
          <a:lstStyle/>
          <a:p>
            <a:pPr algn="r">
              <a:defRPr sz="1150" b="1">
                <a:solidFill>
                  <a:srgbClr val="2563EB"/>
                </a:solidFill>
                <a:latin typeface="Microsoft YaHei"/>
              </a:defRPr>
            </a:pPr>
            <a:r>
              <a:t>第 02 / 15 页</a:t>
            </a:r>
          </a:p>
        </p:txBody>
      </p:sp>
      <p:sp>
        <p:nvSpPr>
          <p:cNvPr id="4" name="Rectangle 3"/>
          <p:cNvSpPr/>
          <p:nvPr/>
        </p:nvSpPr>
        <p:spPr>
          <a:xfrm>
            <a:off x="457200" y="1051560"/>
            <a:ext cx="5532120" cy="4690872"/>
          </a:xfrm>
          <a:prstGeom prst="rect">
            <a:avLst/>
          </a:prstGeom>
          <a:solidFill>
            <a:srgbClr val="FFFF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57200" y="1051560"/>
            <a:ext cx="5532120" cy="310896"/>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088136"/>
            <a:ext cx="5312664" cy="237744"/>
          </a:xfrm>
          <a:prstGeom prst="rect">
            <a:avLst/>
          </a:prstGeom>
          <a:noFill/>
        </p:spPr>
        <p:txBody>
          <a:bodyPr wrap="none" lIns="0" tIns="0" rIns="0" bIns="0">
            <a:spAutoFit/>
          </a:bodyPr>
          <a:lstStyle/>
          <a:p>
            <a:pPr>
              <a:defRPr sz="1200" b="1">
                <a:solidFill>
                  <a:srgbClr val="FFFFFF"/>
                </a:solidFill>
                <a:latin typeface="Microsoft YaHei"/>
              </a:defRPr>
            </a:pPr>
            <a:r>
              <a:t>1. 四个核心验证阶段与优先级全景 (E0~E3)</a:t>
            </a:r>
            <a:r>
              <a:rPr sz="1000" b="1">
                <a:solidFill>
                  <a:srgbClr val="BFDBFE"/>
                </a:solidFill>
                <a:latin typeface="Microsoft YaHei"/>
              </a:rPr>
              <a:t>  [11 PVT + 1 CVT]</a:t>
            </a:r>
          </a:p>
        </p:txBody>
      </p:sp>
      <p:sp>
        <p:nvSpPr>
          <p:cNvPr id="7" name="TextBox 6"/>
          <p:cNvSpPr txBox="1"/>
          <p:nvPr/>
        </p:nvSpPr>
        <p:spPr>
          <a:xfrm>
            <a:off x="585216" y="1417320"/>
            <a:ext cx="5276088" cy="4270248"/>
          </a:xfrm>
          <a:prstGeom prst="rect">
            <a:avLst/>
          </a:prstGeom>
          <a:noFill/>
        </p:spPr>
        <p:txBody>
          <a:bodyPr wrap="square" lIns="0" tIns="0" rIns="0" bIns="0">
            <a:spAutoFit/>
          </a:bodyPr>
          <a:lstStyle/>
          <a:p>
            <a:pPr>
              <a:lnSpc>
                <a:spcPct val="120000"/>
              </a:lnSpc>
              <a:spcAft>
                <a:spcPts val="500"/>
              </a:spcAft>
            </a:pPr>
            <a:r>
              <a:rPr sz="1100" b="1">
                <a:solidFill>
                  <a:srgbClr val="1E3A8A"/>
                </a:solidFill>
                <a:latin typeface="Microsoft YaHei"/>
              </a:rPr>
              <a:t>【阶段 E0 收益确认】 P1 级 PVT-00：</a:t>
            </a:r>
            <a:r>
              <a:rPr sz="1100">
                <a:solidFill>
                  <a:srgbClr val="1E293B"/>
                </a:solidFill>
                <a:latin typeface="Microsoft YaHei"/>
              </a:rPr>
              <a:t>测定 MLA 与 MHA 在各复用率下的 Saved-Prefill 净收益（</a:t>
            </a:r>
            <a:r>
              <a:rPr sz="1100" b="1">
                <a:solidFill>
                  <a:srgbClr val="DC2626"/>
                </a:solidFill>
                <a:latin typeface="Microsoft YaHei"/>
              </a:rPr>
              <a:t>净收益 ≥ 2.0× 总开销</a:t>
            </a:r>
            <a:r>
              <a:rPr sz="1100">
                <a:solidFill>
                  <a:srgbClr val="1E293B"/>
                </a:solidFill>
                <a:latin typeface="Microsoft YaHei"/>
              </a:rPr>
              <a:t>），UBMEM 加速比 </a:t>
            </a:r>
            <a:r>
              <a:rPr sz="1100" b="1">
                <a:solidFill>
                  <a:srgbClr val="2563EB"/>
                </a:solidFill>
                <a:latin typeface="Microsoft YaHei"/>
              </a:rPr>
              <a:t>≥ 1.30×</a:t>
            </a:r>
            <a:r>
              <a:rPr sz="1100">
                <a:solidFill>
                  <a:srgbClr val="1E293B"/>
                </a:solidFill>
                <a:latin typeface="Microsoft YaHei"/>
              </a:rPr>
              <a:t>。</a:t>
            </a:r>
          </a:p>
          <a:p>
            <a:pPr>
              <a:lnSpc>
                <a:spcPct val="120000"/>
              </a:lnSpc>
              <a:spcAft>
                <a:spcPts val="500"/>
              </a:spcAft>
            </a:pPr>
            <a:r>
              <a:rPr sz="1100" b="1">
                <a:solidFill>
                  <a:srgbClr val="1E3A8A"/>
                </a:solidFill>
                <a:latin typeface="Microsoft YaHei"/>
              </a:rPr>
              <a:t>【阶段 E1 通路与多卡同步】 P0 PVT-02/06/10 | P1 PVT-01/09 | P2 PVT-08：</a:t>
            </a:r>
            <a:r>
              <a:rPr sz="1100">
                <a:solidFill>
                  <a:srgbClr val="1E293B"/>
                </a:solidFill>
                <a:latin typeface="Microsoft YaHei"/>
              </a:rPr>
              <a:t>验证 </a:t>
            </a:r>
            <a:r>
              <a:rPr sz="1100" b="1">
                <a:solidFill>
                  <a:srgbClr val="DC2626"/>
                </a:solidFill>
                <a:latin typeface="Microsoft YaHei"/>
              </a:rPr>
              <a:t>Host CPU 零数据拷贝</a:t>
            </a:r>
            <a:r>
              <a:rPr sz="1100">
                <a:solidFill>
                  <a:srgbClr val="1E293B"/>
                </a:solidFill>
                <a:latin typeface="Microsoft YaHei"/>
              </a:rPr>
              <a:t>；C++ 描述符开销降 ≥40%；6 维语义 0 错误消费；TP=8 多卡同步 P99&lt;100µs；Incast 动力学与 Coflow 偏斜 &lt;1.15；DPU 500µs 降级；软件组播节省 ≥60%。</a:t>
            </a:r>
          </a:p>
          <a:p>
            <a:pPr>
              <a:lnSpc>
                <a:spcPct val="120000"/>
              </a:lnSpc>
              <a:spcAft>
                <a:spcPts val="500"/>
              </a:spcAft>
            </a:pPr>
            <a:r>
              <a:rPr sz="1100" b="1">
                <a:solidFill>
                  <a:srgbClr val="1E3A8A"/>
                </a:solidFill>
                <a:latin typeface="Microsoft YaHei"/>
              </a:rPr>
              <a:t>【阶段 E2 调度决策与分层扩容】 P0 PVT-04/05 | P1 PVT-03：</a:t>
            </a:r>
            <a:r>
              <a:rPr sz="1100">
                <a:solidFill>
                  <a:srgbClr val="1E293B"/>
                </a:solidFill>
                <a:latin typeface="Microsoft YaHei"/>
              </a:rPr>
              <a:t>测定直读边界；</a:t>
            </a:r>
            <a:r>
              <a:rPr sz="1100" b="1">
                <a:solidFill>
                  <a:srgbClr val="DC2626"/>
                </a:solidFill>
                <a:latin typeface="Microsoft YaHei"/>
              </a:rPr>
              <a:t>QueryPlan 决策 P99&lt;5µs 且负收益拦截率 100%</a:t>
            </a:r>
            <a:r>
              <a:rPr sz="1100">
                <a:solidFill>
                  <a:srgbClr val="1E293B"/>
                </a:solidFill>
                <a:latin typeface="Microsoft YaHei"/>
              </a:rPr>
              <a:t>；io_uring 裸盘直达在 150% 超载下容量提升 ≥30%、OOM 降低 ≥50%。</a:t>
            </a:r>
          </a:p>
          <a:p>
            <a:pPr>
              <a:lnSpc>
                <a:spcPct val="120000"/>
              </a:lnSpc>
              <a:spcAft>
                <a:spcPts val="500"/>
              </a:spcAft>
            </a:pPr>
            <a:r>
              <a:rPr sz="1100" b="1">
                <a:solidFill>
                  <a:srgbClr val="1E3A8A"/>
                </a:solidFill>
                <a:latin typeface="Microsoft YaHei"/>
              </a:rPr>
              <a:t>【阶段 E3 前后台混压总门禁】 P0 级 PVT-07：</a:t>
            </a:r>
            <a:r>
              <a:rPr sz="1100">
                <a:solidFill>
                  <a:srgbClr val="1E293B"/>
                </a:solidFill>
                <a:latin typeface="Microsoft YaHei"/>
              </a:rPr>
              <a:t>2 节点集群在线打流混压，</a:t>
            </a:r>
            <a:r>
              <a:rPr sz="1100" b="1">
                <a:solidFill>
                  <a:srgbClr val="DC2626"/>
                </a:solidFill>
                <a:latin typeface="Microsoft YaHei"/>
              </a:rPr>
              <a:t>P99 TTFT 降 ≥20%</a:t>
            </a:r>
            <a:r>
              <a:rPr sz="1100">
                <a:solidFill>
                  <a:srgbClr val="1E293B"/>
                </a:solidFill>
                <a:latin typeface="Microsoft YaHei"/>
              </a:rPr>
              <a:t>，</a:t>
            </a:r>
            <a:r>
              <a:rPr sz="1100" b="1">
                <a:solidFill>
                  <a:srgbClr val="DC2626"/>
                </a:solidFill>
                <a:latin typeface="Microsoft YaHei"/>
              </a:rPr>
              <a:t>QPS 提升 ≥10%</a:t>
            </a:r>
            <a:r>
              <a:rPr sz="1100">
                <a:solidFill>
                  <a:srgbClr val="1E293B"/>
                </a:solidFill>
                <a:latin typeface="Microsoft YaHei"/>
              </a:rPr>
              <a:t>，前台 TPOT 干扰率严格 &lt; 3%。</a:t>
            </a:r>
          </a:p>
          <a:p>
            <a:pPr>
              <a:lnSpc>
                <a:spcPct val="120000"/>
              </a:lnSpc>
              <a:spcAft>
                <a:spcPts val="500"/>
              </a:spcAft>
            </a:pPr>
            <a:r>
              <a:rPr sz="1100" b="1">
                <a:solidFill>
                  <a:srgbClr val="1E3A8A"/>
                </a:solidFill>
                <a:latin typeface="Microsoft YaHei"/>
              </a:rPr>
              <a:t>【技术可行性证伪项】 P2 级 CVT-01：</a:t>
            </a:r>
            <a:r>
              <a:rPr sz="1100">
                <a:solidFill>
                  <a:srgbClr val="1E293B"/>
                </a:solidFill>
                <a:latin typeface="Microsoft YaHei"/>
              </a:rPr>
              <a:t>验证软件 RCU 显存整理读停顿 &lt; 1ms (TPOT 抖动 &lt; 3%)，证伪硬件 AtomicRemap 依赖。</a:t>
            </a:r>
          </a:p>
        </p:txBody>
      </p:sp>
      <p:sp>
        <p:nvSpPr>
          <p:cNvPr id="8" name="Rectangle 7"/>
          <p:cNvSpPr/>
          <p:nvPr/>
        </p:nvSpPr>
        <p:spPr>
          <a:xfrm>
            <a:off x="6202375" y="1051560"/>
            <a:ext cx="5532120" cy="2240280"/>
          </a:xfrm>
          <a:prstGeom prst="rect">
            <a:avLst/>
          </a:prstGeom>
          <a:solidFill>
            <a:srgbClr val="FFFF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202375" y="1051560"/>
            <a:ext cx="5532120" cy="310896"/>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12103" y="1088136"/>
            <a:ext cx="5312664" cy="237744"/>
          </a:xfrm>
          <a:prstGeom prst="rect">
            <a:avLst/>
          </a:prstGeom>
          <a:noFill/>
        </p:spPr>
        <p:txBody>
          <a:bodyPr wrap="none" lIns="0" tIns="0" rIns="0" bIns="0">
            <a:spAutoFit/>
          </a:bodyPr>
          <a:lstStyle/>
          <a:p>
            <a:pPr>
              <a:defRPr sz="1200" b="1">
                <a:solidFill>
                  <a:srgbClr val="FFFFFF"/>
                </a:solidFill>
                <a:latin typeface="Microsoft YaHei"/>
              </a:defRPr>
            </a:pPr>
            <a:r>
              <a:t>2. 涉及的核心技术组件与分层</a:t>
            </a:r>
            <a:r>
              <a:rPr sz="1000" b="1">
                <a:solidFill>
                  <a:srgbClr val="BFDBFE"/>
                </a:solidFill>
                <a:latin typeface="Microsoft YaHei"/>
              </a:rPr>
              <a:t>  [组件分层]</a:t>
            </a:r>
          </a:p>
        </p:txBody>
      </p:sp>
      <p:sp>
        <p:nvSpPr>
          <p:cNvPr id="11" name="TextBox 10"/>
          <p:cNvSpPr txBox="1"/>
          <p:nvPr/>
        </p:nvSpPr>
        <p:spPr>
          <a:xfrm>
            <a:off x="6330391" y="1417320"/>
            <a:ext cx="5276088" cy="1819656"/>
          </a:xfrm>
          <a:prstGeom prst="rect">
            <a:avLst/>
          </a:prstGeom>
          <a:noFill/>
        </p:spPr>
        <p:txBody>
          <a:bodyPr wrap="square" lIns="0" tIns="0" rIns="0" bIns="0">
            <a:spAutoFit/>
          </a:bodyPr>
          <a:lstStyle/>
          <a:p>
            <a:pPr>
              <a:lnSpc>
                <a:spcPct val="120000"/>
              </a:lnSpc>
              <a:spcAft>
                <a:spcPts val="600"/>
              </a:spcAft>
            </a:pPr>
            <a:r>
              <a:rPr sz="1150" b="1">
                <a:solidFill>
                  <a:srgbClr val="1E3A8A"/>
                </a:solidFill>
                <a:latin typeface="Microsoft YaHei"/>
              </a:rPr>
              <a:t>• 调度大脑与控制面：</a:t>
            </a:r>
            <a:r>
              <a:rPr sz="1150">
                <a:solidFill>
                  <a:srgbClr val="1E293B"/>
                </a:solidFill>
                <a:latin typeface="Microsoft YaHei"/>
              </a:rPr>
              <a:t>QueryPlan 动态决策引擎、MLA/MHA 成本预估模型、ConsumeEligibility 6 维强校验、多卡 POSIX 共享内存同步。</a:t>
            </a:r>
          </a:p>
          <a:p>
            <a:pPr>
              <a:lnSpc>
                <a:spcPct val="120000"/>
              </a:lnSpc>
              <a:spcAft>
                <a:spcPts val="600"/>
              </a:spcAft>
            </a:pPr>
            <a:r>
              <a:rPr sz="1150" b="1">
                <a:solidFill>
                  <a:srgbClr val="1E3A8A"/>
                </a:solidFill>
                <a:latin typeface="Microsoft YaHei"/>
              </a:rPr>
              <a:t>• 描述符与内存管理：</a:t>
            </a:r>
            <a:r>
              <a:rPr sz="1150">
                <a:solidFill>
                  <a:srgbClr val="1E293B"/>
                </a:solidFill>
                <a:latin typeface="Microsoft YaHei"/>
              </a:rPr>
              <a:t>跨框架 Layout 描述符编译器、Layerwise 边算边传异步 DAG 流水、ViewGuard 租约守卫与 SIGBUS 异常回滚。</a:t>
            </a:r>
          </a:p>
          <a:p>
            <a:pPr>
              <a:lnSpc>
                <a:spcPct val="120000"/>
              </a:lnSpc>
              <a:spcAft>
                <a:spcPts val="600"/>
              </a:spcAft>
            </a:pPr>
            <a:r>
              <a:rPr sz="1150" b="1">
                <a:solidFill>
                  <a:srgbClr val="1E3A8A"/>
                </a:solidFill>
                <a:latin typeface="Microsoft YaHei"/>
              </a:rPr>
              <a:t>• 底层传输与分层存储：</a:t>
            </a:r>
            <a:r>
              <a:rPr sz="1150">
                <a:solidFill>
                  <a:srgbClr val="1E293B"/>
                </a:solidFill>
                <a:latin typeface="Microsoft YaHei"/>
              </a:rPr>
              <a:t>UBMEM 共享内存、URMA 用户态网络、CANN P2P 显存锁定、io_uring FIXED 裸盘直达主路径、DPU 安全双轨。</a:t>
            </a:r>
          </a:p>
        </p:txBody>
      </p:sp>
      <p:sp>
        <p:nvSpPr>
          <p:cNvPr id="12" name="Rectangle 11"/>
          <p:cNvSpPr/>
          <p:nvPr/>
        </p:nvSpPr>
        <p:spPr>
          <a:xfrm>
            <a:off x="6202375" y="3410712"/>
            <a:ext cx="5532120" cy="2331720"/>
          </a:xfrm>
          <a:prstGeom prst="rect">
            <a:avLst/>
          </a:prstGeom>
          <a:solidFill>
            <a:srgbClr val="FFFF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02375" y="3410712"/>
            <a:ext cx="5532120" cy="310896"/>
          </a:xfrm>
          <a:prstGeom prst="rect">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12103" y="3447288"/>
            <a:ext cx="5312664" cy="237744"/>
          </a:xfrm>
          <a:prstGeom prst="rect">
            <a:avLst/>
          </a:prstGeom>
          <a:noFill/>
        </p:spPr>
        <p:txBody>
          <a:bodyPr wrap="none" lIns="0" tIns="0" rIns="0" bIns="0">
            <a:spAutoFit/>
          </a:bodyPr>
          <a:lstStyle/>
          <a:p>
            <a:pPr>
              <a:defRPr sz="1200" b="1">
                <a:solidFill>
                  <a:srgbClr val="FFFFFF"/>
                </a:solidFill>
                <a:latin typeface="Microsoft YaHei"/>
              </a:defRPr>
            </a:pPr>
            <a:r>
              <a:t>3. 开源基线对标与在线打流实施原则</a:t>
            </a:r>
            <a:r>
              <a:rPr sz="1000" b="1">
                <a:solidFill>
                  <a:srgbClr val="BFDBFE"/>
                </a:solidFill>
                <a:latin typeface="Microsoft YaHei"/>
              </a:rPr>
              <a:t>  [实施准则]</a:t>
            </a:r>
          </a:p>
        </p:txBody>
      </p:sp>
      <p:sp>
        <p:nvSpPr>
          <p:cNvPr id="15" name="TextBox 14"/>
          <p:cNvSpPr txBox="1"/>
          <p:nvPr/>
        </p:nvSpPr>
        <p:spPr>
          <a:xfrm>
            <a:off x="6330391" y="3776472"/>
            <a:ext cx="5276088" cy="1911096"/>
          </a:xfrm>
          <a:prstGeom prst="rect">
            <a:avLst/>
          </a:prstGeom>
          <a:noFill/>
        </p:spPr>
        <p:txBody>
          <a:bodyPr wrap="square" lIns="0" tIns="0" rIns="0" bIns="0">
            <a:spAutoFit/>
          </a:bodyPr>
          <a:lstStyle/>
          <a:p>
            <a:pPr>
              <a:lnSpc>
                <a:spcPct val="120000"/>
              </a:lnSpc>
              <a:spcAft>
                <a:spcPts val="600"/>
              </a:spcAft>
            </a:pPr>
            <a:r>
              <a:rPr sz="1150" b="1">
                <a:solidFill>
                  <a:srgbClr val="1E3A8A"/>
                </a:solidFill>
                <a:latin typeface="Microsoft YaHei"/>
              </a:rPr>
              <a:t>• 真实集群在线打流：</a:t>
            </a:r>
            <a:r>
              <a:rPr sz="1150">
                <a:solidFill>
                  <a:srgbClr val="1E293B"/>
                </a:solidFill>
                <a:latin typeface="Microsoft YaHei"/>
              </a:rPr>
              <a:t>在 Mooncake+vLLM 2 节点集群上运行 benchmark_serving 发送在线多并发流量。</a:t>
            </a:r>
          </a:p>
          <a:p>
            <a:pPr>
              <a:lnSpc>
                <a:spcPct val="120000"/>
              </a:lnSpc>
              <a:spcAft>
                <a:spcPts val="600"/>
              </a:spcAft>
            </a:pPr>
            <a:r>
              <a:rPr sz="1150" b="1">
                <a:solidFill>
                  <a:srgbClr val="1E3A8A"/>
                </a:solidFill>
                <a:latin typeface="Microsoft YaHei"/>
              </a:rPr>
              <a:t>• 同条件严格消融对账：</a:t>
            </a:r>
            <a:r>
              <a:rPr sz="1150">
                <a:solidFill>
                  <a:srgbClr val="1E293B"/>
                </a:solidFill>
                <a:latin typeface="Microsoft YaHei"/>
              </a:rPr>
              <a:t>在纯重算基线、官方原生 Mooncake 混压与 Unified KV 扩展版之间开展严格同条件消融对比。</a:t>
            </a:r>
          </a:p>
          <a:p>
            <a:pPr>
              <a:lnSpc>
                <a:spcPct val="120000"/>
              </a:lnSpc>
              <a:spcAft>
                <a:spcPts val="600"/>
              </a:spcAft>
            </a:pPr>
            <a:r>
              <a:rPr sz="1150" b="1">
                <a:solidFill>
                  <a:srgbClr val="1E3A8A"/>
                </a:solidFill>
                <a:latin typeface="Microsoft YaHei"/>
              </a:rPr>
              <a:t>• 兵力压强集中决胜：</a:t>
            </a:r>
            <a:r>
              <a:rPr sz="1150">
                <a:solidFill>
                  <a:srgbClr val="1E293B"/>
                </a:solidFill>
                <a:latin typeface="Microsoft YaHei"/>
              </a:rPr>
              <a:t>聚焦 6 大 P0 核心决胜项（描述符编译、微秒决策、裸盘直达、多卡同步、混压门禁、Incast/Coflow），彻底攻克技术瓶颈。</a:t>
            </a:r>
          </a:p>
        </p:txBody>
      </p:sp>
      <p:sp>
        <p:nvSpPr>
          <p:cNvPr id="16" name="Rectangle 15"/>
          <p:cNvSpPr/>
          <p:nvPr/>
        </p:nvSpPr>
        <p:spPr>
          <a:xfrm>
            <a:off x="457200" y="5833872"/>
            <a:ext cx="11277295" cy="694944"/>
          </a:xfrm>
          <a:prstGeom prst="rect">
            <a:avLst/>
          </a:prstGeom>
          <a:solidFill>
            <a:srgbClr val="FFFFFF"/>
          </a:solidFill>
          <a:ln w="1524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57200" y="5833872"/>
            <a:ext cx="73152" cy="694944"/>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21792" y="5907024"/>
            <a:ext cx="11002975" cy="566928"/>
          </a:xfrm>
          <a:prstGeom prst="rect">
            <a:avLst/>
          </a:prstGeom>
          <a:noFill/>
        </p:spPr>
        <p:txBody>
          <a:bodyPr wrap="square" lIns="0" tIns="0" rIns="0" bIns="0">
            <a:spAutoFit/>
          </a:bodyPr>
          <a:lstStyle/>
          <a:p>
            <a:pPr>
              <a:lnSpc>
                <a:spcPct val="122000"/>
              </a:lnSpc>
            </a:pPr>
            <a:r>
              <a:rPr sz="1200" b="1">
                <a:solidFill>
                  <a:srgbClr val="2563EB"/>
                </a:solidFill>
                <a:latin typeface="Microsoft YaHei"/>
              </a:rPr>
              <a:t>【方案核心结论】 </a:t>
            </a:r>
            <a:r>
              <a:rPr sz="1200" b="1">
                <a:solidFill>
                  <a:srgbClr val="0F172A"/>
                </a:solidFill>
                <a:latin typeface="Microsoft YaHei"/>
              </a:rPr>
              <a:t>总体技术路线与验证目标：</a:t>
            </a:r>
            <a:r>
              <a:rPr sz="1150" b="1">
                <a:solidFill>
                  <a:srgbClr val="0F172A"/>
                </a:solidFill>
                <a:latin typeface="Microsoft YaHei"/>
              </a:rPr>
              <a:t>围绕四个核心验证阶段，通过 11 PVT + 1 CVT 摸清软硬件性能边界，</a:t>
            </a:r>
            <a:r>
              <a:rPr sz="1150" b="1">
                <a:solidFill>
                  <a:srgbClr val="DC2626"/>
                </a:solidFill>
                <a:latin typeface="Microsoft YaHei"/>
              </a:rPr>
              <a:t>为后续系统落地提供扎实的技术依据</a:t>
            </a:r>
            <a:r>
              <a:rPr sz="1150" b="1">
                <a:solidFill>
                  <a:srgbClr val="0F172A"/>
                </a:solidFill>
                <a:latin typeface="Microsoft YaHei"/>
              </a:rPr>
              <a: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0040"/>
            <a:ext cx="9875520" cy="640080"/>
          </a:xfrm>
          <a:prstGeom prst="rect">
            <a:avLst/>
          </a:prstGeom>
          <a:noFill/>
        </p:spPr>
        <p:txBody>
          <a:bodyPr wrap="square" lIns="0" tIns="0" rIns="0" bIns="0">
            <a:spAutoFit/>
          </a:bodyPr>
          <a:lstStyle/>
          <a:p>
            <a:pPr>
              <a:defRPr sz="1900" b="1">
                <a:solidFill>
                  <a:srgbClr val="1E3A8A"/>
                </a:solidFill>
                <a:latin typeface="Microsoft YaHei"/>
              </a:defRPr>
            </a:pPr>
            <a:r>
              <a:t>PVT-00：业务流量 Saved-Prefill 收益上限与通信加速边界评估</a:t>
            </a:r>
          </a:p>
          <a:p>
            <a:pPr>
              <a:spcBef>
                <a:spcPts val="300"/>
              </a:spcBef>
              <a:defRPr sz="1100">
                <a:solidFill>
                  <a:srgbClr val="475569"/>
                </a:solidFill>
                <a:latin typeface="Microsoft YaHei"/>
              </a:defRPr>
            </a:pPr>
            <a:r>
              <a:t>评估 DeepSeek MLA (~35KB/tok) 与 Qwen MHA (320KB/tok) 在不同复用率下，外接 KV 池相比本地直接重算的时间节省与通信协议加速边界</a:t>
            </a:r>
          </a:p>
        </p:txBody>
      </p:sp>
      <p:sp>
        <p:nvSpPr>
          <p:cNvPr id="3" name="TextBox 2"/>
          <p:cNvSpPr txBox="1"/>
          <p:nvPr/>
        </p:nvSpPr>
        <p:spPr>
          <a:xfrm>
            <a:off x="10424160" y="320040"/>
            <a:ext cx="1310335" cy="320040"/>
          </a:xfrm>
          <a:prstGeom prst="rect">
            <a:avLst/>
          </a:prstGeom>
          <a:noFill/>
        </p:spPr>
        <p:txBody>
          <a:bodyPr wrap="none" lIns="0" tIns="0" rIns="0" bIns="0">
            <a:spAutoFit/>
          </a:bodyPr>
          <a:lstStyle/>
          <a:p>
            <a:pPr algn="r">
              <a:defRPr sz="1150" b="1">
                <a:solidFill>
                  <a:srgbClr val="2563EB"/>
                </a:solidFill>
                <a:latin typeface="Microsoft YaHei"/>
              </a:defRPr>
            </a:pPr>
            <a:r>
              <a:t>第 03 / 15 页</a:t>
            </a:r>
          </a:p>
        </p:txBody>
      </p:sp>
      <p:sp>
        <p:nvSpPr>
          <p:cNvPr id="4" name="Rectangle 3"/>
          <p:cNvSpPr/>
          <p:nvPr/>
        </p:nvSpPr>
        <p:spPr>
          <a:xfrm>
            <a:off x="457200" y="1051560"/>
            <a:ext cx="5532120" cy="2240280"/>
          </a:xfrm>
          <a:prstGeom prst="rect">
            <a:avLst/>
          </a:prstGeom>
          <a:solidFill>
            <a:srgbClr val="FFFF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57200" y="1051560"/>
            <a:ext cx="5532120" cy="310896"/>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088136"/>
            <a:ext cx="5312664" cy="237744"/>
          </a:xfrm>
          <a:prstGeom prst="rect">
            <a:avLst/>
          </a:prstGeom>
          <a:noFill/>
        </p:spPr>
        <p:txBody>
          <a:bodyPr wrap="none" lIns="0" tIns="0" rIns="0" bIns="0">
            <a:spAutoFit/>
          </a:bodyPr>
          <a:lstStyle/>
          <a:p>
            <a:pPr>
              <a:defRPr sz="1200" b="1">
                <a:solidFill>
                  <a:srgbClr val="FFFFFF"/>
                </a:solidFill>
                <a:latin typeface="Microsoft YaHei"/>
              </a:defRPr>
            </a:pPr>
            <a:r>
              <a:t>1. 验证背景、必要性与目标定位</a:t>
            </a:r>
            <a:r>
              <a:rPr sz="1000" b="1">
                <a:solidFill>
                  <a:srgbClr val="BFDBFE"/>
                </a:solidFill>
                <a:latin typeface="Microsoft YaHei"/>
              </a:rPr>
              <a:t>  [P1 级 | 阶段 E0 收益评估]</a:t>
            </a:r>
          </a:p>
        </p:txBody>
      </p:sp>
      <p:sp>
        <p:nvSpPr>
          <p:cNvPr id="7" name="TextBox 6"/>
          <p:cNvSpPr txBox="1"/>
          <p:nvPr/>
        </p:nvSpPr>
        <p:spPr>
          <a:xfrm>
            <a:off x="585216" y="1417320"/>
            <a:ext cx="5276088" cy="1819656"/>
          </a:xfrm>
          <a:prstGeom prst="rect">
            <a:avLst/>
          </a:prstGeom>
          <a:noFill/>
        </p:spPr>
        <p:txBody>
          <a:bodyPr wrap="square" lIns="0" tIns="0" rIns="0" bIns="0">
            <a:spAutoFit/>
          </a:bodyPr>
          <a:lstStyle/>
          <a:p>
            <a:pPr>
              <a:lnSpc>
                <a:spcPct val="120000"/>
              </a:lnSpc>
              <a:spcAft>
                <a:spcPts val="600"/>
              </a:spcAft>
            </a:pPr>
            <a:r>
              <a:rPr sz="1150" b="1">
                <a:solidFill>
                  <a:srgbClr val="1E3A8A"/>
                </a:solidFill>
                <a:latin typeface="Microsoft YaHei"/>
              </a:rPr>
              <a:t>• 验证背景：</a:t>
            </a:r>
            <a:r>
              <a:rPr sz="1150">
                <a:solidFill>
                  <a:srgbClr val="1E293B"/>
                </a:solidFill>
                <a:latin typeface="Microsoft YaHei"/>
              </a:rPr>
              <a:t>大模型首字生成（Prefill）算力开销巨大。外接 KV 存储池能否相比本地直接重算产生显著时间节省（Saved-Prefill 净收益），是立项前提基石。</a:t>
            </a:r>
          </a:p>
          <a:p>
            <a:pPr>
              <a:lnSpc>
                <a:spcPct val="120000"/>
              </a:lnSpc>
              <a:spcAft>
                <a:spcPts val="600"/>
              </a:spcAft>
            </a:pPr>
            <a:r>
              <a:rPr sz="1150" b="1">
                <a:solidFill>
                  <a:srgbClr val="1E3A8A"/>
                </a:solidFill>
                <a:latin typeface="Microsoft YaHei"/>
              </a:rPr>
              <a:t>• 验证目的：</a:t>
            </a:r>
            <a:r>
              <a:rPr sz="1150">
                <a:solidFill>
                  <a:srgbClr val="1E293B"/>
                </a:solidFill>
                <a:latin typeface="Microsoft YaHei"/>
              </a:rPr>
              <a:t>实测探明在 </a:t>
            </a:r>
            <a:r>
              <a:rPr sz="1150" b="1">
                <a:solidFill>
                  <a:srgbClr val="1E293B"/>
                </a:solidFill>
                <a:latin typeface="Microsoft YaHei"/>
              </a:rPr>
              <a:t>30%~98% 前缀复用率</a:t>
            </a:r>
            <a:r>
              <a:rPr sz="1150">
                <a:solidFill>
                  <a:srgbClr val="1E293B"/>
                </a:solidFill>
                <a:latin typeface="Microsoft YaHei"/>
              </a:rPr>
              <a:t> 与 8K~128K 上下文下，读取缓存能省多少时间；测定 </a:t>
            </a:r>
            <a:r>
              <a:rPr sz="1150" b="1">
                <a:solidFill>
                  <a:srgbClr val="2563EB"/>
                </a:solidFill>
                <a:latin typeface="Microsoft YaHei"/>
              </a:rPr>
              <a:t>UBMEM 共享内存直通通信</a:t>
            </a:r>
            <a:r>
              <a:rPr sz="1150">
                <a:solidFill>
                  <a:srgbClr val="1E293B"/>
                </a:solidFill>
                <a:latin typeface="Microsoft YaHei"/>
              </a:rPr>
              <a:t> 相比标准 URMA 通信的协议加速上限。</a:t>
            </a:r>
          </a:p>
          <a:p>
            <a:pPr>
              <a:lnSpc>
                <a:spcPct val="120000"/>
              </a:lnSpc>
              <a:spcAft>
                <a:spcPts val="600"/>
              </a:spcAft>
            </a:pPr>
            <a:r>
              <a:rPr sz="1150" b="1">
                <a:solidFill>
                  <a:srgbClr val="1E3A8A"/>
                </a:solidFill>
                <a:latin typeface="Microsoft YaHei"/>
              </a:rPr>
              <a:t>• 对整体项目的支撑：</a:t>
            </a:r>
            <a:r>
              <a:rPr sz="1150">
                <a:solidFill>
                  <a:srgbClr val="1E293B"/>
                </a:solidFill>
                <a:latin typeface="Microsoft YaHei"/>
              </a:rPr>
              <a:t>作为阶段 E0 核心验证，用客观实测数据确认外接缓存方案能带来确定性的首 Token 响应时间 (TTFT) 显著降低。</a:t>
            </a:r>
          </a:p>
        </p:txBody>
      </p:sp>
      <p:sp>
        <p:nvSpPr>
          <p:cNvPr id="8" name="Rectangle 7"/>
          <p:cNvSpPr/>
          <p:nvPr/>
        </p:nvSpPr>
        <p:spPr>
          <a:xfrm>
            <a:off x="6202375" y="1051560"/>
            <a:ext cx="5532120" cy="2240280"/>
          </a:xfrm>
          <a:prstGeom prst="rect">
            <a:avLst/>
          </a:prstGeom>
          <a:solidFill>
            <a:srgbClr val="FFFF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202375" y="1051560"/>
            <a:ext cx="5532120" cy="310896"/>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12103" y="1088136"/>
            <a:ext cx="5312664" cy="237744"/>
          </a:xfrm>
          <a:prstGeom prst="rect">
            <a:avLst/>
          </a:prstGeom>
          <a:noFill/>
        </p:spPr>
        <p:txBody>
          <a:bodyPr wrap="none" lIns="0" tIns="0" rIns="0" bIns="0">
            <a:spAutoFit/>
          </a:bodyPr>
          <a:lstStyle/>
          <a:p>
            <a:pPr>
              <a:defRPr sz="1200" b="1">
                <a:solidFill>
                  <a:srgbClr val="FFFFFF"/>
                </a:solidFill>
                <a:latin typeface="Microsoft YaHei"/>
              </a:defRPr>
            </a:pPr>
            <a:r>
              <a:t>2. 所需软硬件环境与技术规范</a:t>
            </a:r>
            <a:r>
              <a:rPr sz="1000" b="1">
                <a:solidFill>
                  <a:srgbClr val="BFDBFE"/>
                </a:solidFill>
                <a:latin typeface="Microsoft YaHei"/>
              </a:rPr>
              <a:t>  [环境与依赖]</a:t>
            </a:r>
          </a:p>
        </p:txBody>
      </p:sp>
      <p:sp>
        <p:nvSpPr>
          <p:cNvPr id="11" name="TextBox 10"/>
          <p:cNvSpPr txBox="1"/>
          <p:nvPr/>
        </p:nvSpPr>
        <p:spPr>
          <a:xfrm>
            <a:off x="6330391" y="1417320"/>
            <a:ext cx="5276088" cy="1819656"/>
          </a:xfrm>
          <a:prstGeom prst="rect">
            <a:avLst/>
          </a:prstGeom>
          <a:noFill/>
        </p:spPr>
        <p:txBody>
          <a:bodyPr wrap="square" lIns="0" tIns="0" rIns="0" bIns="0">
            <a:spAutoFit/>
          </a:bodyPr>
          <a:lstStyle/>
          <a:p>
            <a:pPr>
              <a:lnSpc>
                <a:spcPct val="120000"/>
              </a:lnSpc>
              <a:spcAft>
                <a:spcPts val="600"/>
              </a:spcAft>
            </a:pPr>
            <a:r>
              <a:rPr sz="1150" b="1">
                <a:solidFill>
                  <a:srgbClr val="1E3A8A"/>
                </a:solidFill>
                <a:latin typeface="Microsoft YaHei"/>
              </a:rPr>
              <a:t>• 硬件环境：</a:t>
            </a:r>
            <a:r>
              <a:rPr sz="1150">
                <a:solidFill>
                  <a:srgbClr val="1E293B"/>
                </a:solidFill>
                <a:latin typeface="Microsoft YaHei"/>
              </a:rPr>
              <a:t>2 台物理服务器（Node-0/1），每台配置 </a:t>
            </a:r>
            <a:r>
              <a:rPr sz="1150" b="1">
                <a:solidFill>
                  <a:srgbClr val="1E293B"/>
                </a:solidFill>
                <a:latin typeface="Microsoft YaHei"/>
              </a:rPr>
              <a:t>8× 华为 NPU (96GB 显存)</a:t>
            </a:r>
            <a:r>
              <a:rPr sz="1150">
                <a:solidFill>
                  <a:srgbClr val="1E293B"/>
                </a:solidFill>
                <a:latin typeface="Microsoft YaHei"/>
              </a:rPr>
              <a:t>，</a:t>
            </a:r>
            <a:r>
              <a:rPr sz="1150" b="1">
                <a:solidFill>
                  <a:srgbClr val="2563EB"/>
                </a:solidFill>
                <a:latin typeface="Microsoft YaHei"/>
              </a:rPr>
              <a:t>800G URMA 双端口网卡</a:t>
            </a:r>
            <a:r>
              <a:rPr sz="1150">
                <a:solidFill>
                  <a:srgbClr val="1E293B"/>
                </a:solidFill>
                <a:latin typeface="Microsoft YaHei"/>
              </a:rPr>
              <a:t>，512GB DDR5 内存。</a:t>
            </a:r>
          </a:p>
          <a:p>
            <a:pPr>
              <a:lnSpc>
                <a:spcPct val="120000"/>
              </a:lnSpc>
              <a:spcAft>
                <a:spcPts val="600"/>
              </a:spcAft>
            </a:pPr>
            <a:r>
              <a:rPr sz="1150" b="1">
                <a:solidFill>
                  <a:srgbClr val="1E3A8A"/>
                </a:solidFill>
                <a:latin typeface="Microsoft YaHei"/>
              </a:rPr>
              <a:t>• 驱动与 SDK 规范：</a:t>
            </a:r>
            <a:r>
              <a:rPr sz="1150">
                <a:solidFill>
                  <a:srgbClr val="1E293B"/>
                </a:solidFill>
                <a:latin typeface="Microsoft YaHei"/>
              </a:rPr>
              <a:t>引入头文件 </a:t>
            </a:r>
            <a:r>
              <a:rPr sz="1150" b="1">
                <a:solidFill>
                  <a:srgbClr val="1E3A8A"/>
                </a:solidFill>
                <a:latin typeface="Consolas"/>
              </a:rPr>
              <a:t>&lt;urma.h&gt;, &lt;ubmem.h&gt;</a:t>
            </a:r>
            <a:r>
              <a:rPr sz="1150">
                <a:solidFill>
                  <a:srgbClr val="1E293B"/>
                </a:solidFill>
                <a:latin typeface="Microsoft YaHei"/>
              </a:rPr>
              <a:t>，动态链接 </a:t>
            </a:r>
            <a:r>
              <a:rPr sz="1150" b="1">
                <a:solidFill>
                  <a:srgbClr val="1E3A8A"/>
                </a:solidFill>
                <a:latin typeface="Consolas"/>
              </a:rPr>
              <a:t>-lurma -lubmem -lpthread</a:t>
            </a:r>
            <a:r>
              <a:rPr sz="1150">
                <a:solidFill>
                  <a:srgbClr val="1E293B"/>
                </a:solidFill>
                <a:latin typeface="Microsoft YaHei"/>
              </a:rPr>
              <a:t>，基于 Linux 6.6+ 内核与 CANN 8.0 驱动。</a:t>
            </a:r>
          </a:p>
          <a:p>
            <a:pPr>
              <a:lnSpc>
                <a:spcPct val="120000"/>
              </a:lnSpc>
              <a:spcAft>
                <a:spcPts val="600"/>
              </a:spcAft>
            </a:pPr>
            <a:r>
              <a:rPr sz="1150" b="1">
                <a:solidFill>
                  <a:srgbClr val="1E3A8A"/>
                </a:solidFill>
                <a:latin typeface="Microsoft YaHei"/>
              </a:rPr>
              <a:t>• 开源软件基线：</a:t>
            </a:r>
            <a:r>
              <a:rPr sz="1150">
                <a:solidFill>
                  <a:srgbClr val="1E293B"/>
                </a:solidFill>
                <a:latin typeface="Microsoft YaHei"/>
              </a:rPr>
              <a:t>Mooncake (v0.3.12+) + vLLM-Ascend 2 节点集群，基于官方 </a:t>
            </a:r>
            <a:r>
              <a:rPr sz="1150" b="1">
                <a:solidFill>
                  <a:srgbClr val="1E3A8A"/>
                </a:solidFill>
                <a:latin typeface="Consolas"/>
              </a:rPr>
              <a:t>benchmark_serving.py</a:t>
            </a:r>
            <a:r>
              <a:rPr sz="1150">
                <a:solidFill>
                  <a:srgbClr val="1E293B"/>
                </a:solidFill>
                <a:latin typeface="Microsoft YaHei"/>
              </a:rPr>
              <a:t> 进行在线打流消融。</a:t>
            </a:r>
          </a:p>
        </p:txBody>
      </p:sp>
      <p:sp>
        <p:nvSpPr>
          <p:cNvPr id="12" name="Rectangle 11"/>
          <p:cNvSpPr/>
          <p:nvPr/>
        </p:nvSpPr>
        <p:spPr>
          <a:xfrm>
            <a:off x="457200" y="3383280"/>
            <a:ext cx="5532120" cy="2359152"/>
          </a:xfrm>
          <a:prstGeom prst="rect">
            <a:avLst/>
          </a:prstGeom>
          <a:solidFill>
            <a:srgbClr val="FFFF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57200" y="3383280"/>
            <a:ext cx="5532120" cy="310896"/>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66928" y="3419856"/>
            <a:ext cx="5312664" cy="237744"/>
          </a:xfrm>
          <a:prstGeom prst="rect">
            <a:avLst/>
          </a:prstGeom>
          <a:noFill/>
        </p:spPr>
        <p:txBody>
          <a:bodyPr wrap="none" lIns="0" tIns="0" rIns="0" bIns="0">
            <a:spAutoFit/>
          </a:bodyPr>
          <a:lstStyle/>
          <a:p>
            <a:pPr>
              <a:defRPr sz="1200" b="1">
                <a:solidFill>
                  <a:srgbClr val="FFFFFF"/>
                </a:solidFill>
                <a:latin typeface="Microsoft YaHei"/>
              </a:defRPr>
            </a:pPr>
            <a:r>
              <a:t>3. 测试数据集与 Benchmark 方案</a:t>
            </a:r>
            <a:r>
              <a:rPr sz="1000" b="1">
                <a:solidFill>
                  <a:srgbClr val="BFDBFE"/>
                </a:solidFill>
                <a:latin typeface="Microsoft YaHei"/>
              </a:rPr>
              <a:t>  [测试方法]</a:t>
            </a:r>
          </a:p>
        </p:txBody>
      </p:sp>
      <p:sp>
        <p:nvSpPr>
          <p:cNvPr id="15" name="TextBox 14"/>
          <p:cNvSpPr txBox="1"/>
          <p:nvPr/>
        </p:nvSpPr>
        <p:spPr>
          <a:xfrm>
            <a:off x="585216" y="3749040"/>
            <a:ext cx="5276088" cy="1938528"/>
          </a:xfrm>
          <a:prstGeom prst="rect">
            <a:avLst/>
          </a:prstGeom>
          <a:noFill/>
        </p:spPr>
        <p:txBody>
          <a:bodyPr wrap="square" lIns="0" tIns="0" rIns="0" bIns="0">
            <a:spAutoFit/>
          </a:bodyPr>
          <a:lstStyle/>
          <a:p>
            <a:pPr>
              <a:lnSpc>
                <a:spcPct val="120000"/>
              </a:lnSpc>
              <a:spcAft>
                <a:spcPts val="600"/>
              </a:spcAft>
            </a:pPr>
            <a:r>
              <a:rPr sz="1150" b="1">
                <a:solidFill>
                  <a:srgbClr val="1E3A8A"/>
                </a:solidFill>
                <a:latin typeface="Microsoft YaHei"/>
              </a:rPr>
              <a:t>• 多模型测试集 (make_workload.py)：</a:t>
            </a:r>
            <a:r>
              <a:rPr sz="1150">
                <a:solidFill>
                  <a:srgbClr val="1E293B"/>
                </a:solidFill>
                <a:latin typeface="Microsoft YaHei"/>
              </a:rPr>
              <a:t>覆盖 </a:t>
            </a:r>
            <a:r>
              <a:rPr sz="1150" b="1">
                <a:solidFill>
                  <a:srgbClr val="DC2626"/>
                </a:solidFill>
                <a:latin typeface="Microsoft YaHei"/>
              </a:rPr>
              <a:t>DeepSeek MLA (~35KB/tok)</a:t>
            </a:r>
            <a:r>
              <a:rPr sz="1150">
                <a:solidFill>
                  <a:srgbClr val="1E293B"/>
                </a:solidFill>
                <a:latin typeface="Microsoft YaHei"/>
              </a:rPr>
              <a:t> 与 </a:t>
            </a:r>
            <a:r>
              <a:rPr sz="1150" b="1">
                <a:solidFill>
                  <a:srgbClr val="2563EB"/>
                </a:solidFill>
                <a:latin typeface="Microsoft YaHei"/>
              </a:rPr>
              <a:t>Qwen MHA (320KB/tok)</a:t>
            </a:r>
            <a:r>
              <a:rPr sz="1150">
                <a:solidFill>
                  <a:srgbClr val="1E293B"/>
                </a:solidFill>
                <a:latin typeface="Microsoft YaHei"/>
              </a:rPr>
              <a:t>，构造 30%~98% 复用率序列。</a:t>
            </a:r>
          </a:p>
          <a:p>
            <a:pPr>
              <a:lnSpc>
                <a:spcPct val="120000"/>
              </a:lnSpc>
              <a:spcAft>
                <a:spcPts val="600"/>
              </a:spcAft>
            </a:pPr>
            <a:r>
              <a:rPr sz="1150" b="1">
                <a:solidFill>
                  <a:srgbClr val="1E3A8A"/>
                </a:solidFill>
                <a:latin typeface="Microsoft YaHei"/>
              </a:rPr>
              <a:t>• 底层协议微基准 (proto_bench.cc)：</a:t>
            </a:r>
            <a:r>
              <a:rPr sz="1150">
                <a:solidFill>
                  <a:srgbClr val="1E293B"/>
                </a:solidFill>
                <a:latin typeface="Microsoft YaHei"/>
              </a:rPr>
              <a:t>扫参 4KB~64MB 块与 1~64 并发，测定 URMA/UBMEM 带宽与 P99 延迟。</a:t>
            </a:r>
          </a:p>
          <a:p>
            <a:pPr>
              <a:lnSpc>
                <a:spcPct val="120000"/>
              </a:lnSpc>
              <a:spcAft>
                <a:spcPts val="600"/>
              </a:spcAft>
            </a:pPr>
            <a:r>
              <a:rPr sz="1150" b="1">
                <a:solidFill>
                  <a:srgbClr val="1E3A8A"/>
                </a:solidFill>
                <a:latin typeface="Microsoft YaHei"/>
              </a:rPr>
              <a:t>• 在线打流消融：</a:t>
            </a:r>
            <a:r>
              <a:rPr sz="1150">
                <a:solidFill>
                  <a:srgbClr val="1E293B"/>
                </a:solidFill>
                <a:latin typeface="Microsoft YaHei"/>
              </a:rPr>
              <a:t>运行 benchmark_serving.py，对比重算、原生 Mooncake 与 UBMEM 版 TTFT。</a:t>
            </a:r>
          </a:p>
        </p:txBody>
      </p:sp>
      <p:sp>
        <p:nvSpPr>
          <p:cNvPr id="16" name="Rectangle 15"/>
          <p:cNvSpPr/>
          <p:nvPr/>
        </p:nvSpPr>
        <p:spPr>
          <a:xfrm>
            <a:off x="6202375" y="3383280"/>
            <a:ext cx="5532120" cy="2359152"/>
          </a:xfrm>
          <a:prstGeom prst="rect">
            <a:avLst/>
          </a:prstGeom>
          <a:solidFill>
            <a:srgbClr val="FFFF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202375" y="3383280"/>
            <a:ext cx="5532120" cy="310896"/>
          </a:xfrm>
          <a:prstGeom prst="rect">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12103" y="3419856"/>
            <a:ext cx="5312664" cy="237744"/>
          </a:xfrm>
          <a:prstGeom prst="rect">
            <a:avLst/>
          </a:prstGeom>
          <a:noFill/>
        </p:spPr>
        <p:txBody>
          <a:bodyPr wrap="none" lIns="0" tIns="0" rIns="0" bIns="0">
            <a:spAutoFit/>
          </a:bodyPr>
          <a:lstStyle/>
          <a:p>
            <a:pPr>
              <a:defRPr sz="1200" b="1">
                <a:solidFill>
                  <a:srgbClr val="FFFFFF"/>
                </a:solidFill>
                <a:latin typeface="Microsoft YaHei"/>
              </a:defRPr>
            </a:pPr>
            <a:r>
              <a:t>4. 输出数据要求与判定标准</a:t>
            </a:r>
            <a:r>
              <a:rPr sz="1000" b="1">
                <a:solidFill>
                  <a:srgbClr val="BFDBFE"/>
                </a:solidFill>
                <a:latin typeface="Microsoft YaHei"/>
              </a:rPr>
              <a:t>  [达标要求]</a:t>
            </a:r>
          </a:p>
        </p:txBody>
      </p:sp>
      <p:sp>
        <p:nvSpPr>
          <p:cNvPr id="19" name="TextBox 18"/>
          <p:cNvSpPr txBox="1"/>
          <p:nvPr/>
        </p:nvSpPr>
        <p:spPr>
          <a:xfrm>
            <a:off x="6330391" y="3749040"/>
            <a:ext cx="5276088" cy="1938528"/>
          </a:xfrm>
          <a:prstGeom prst="rect">
            <a:avLst/>
          </a:prstGeom>
          <a:noFill/>
        </p:spPr>
        <p:txBody>
          <a:bodyPr wrap="square" lIns="0" tIns="0" rIns="0" bIns="0">
            <a:spAutoFit/>
          </a:bodyPr>
          <a:lstStyle/>
          <a:p>
            <a:pPr>
              <a:lnSpc>
                <a:spcPct val="120000"/>
              </a:lnSpc>
              <a:spcAft>
                <a:spcPts val="600"/>
              </a:spcAft>
            </a:pPr>
            <a:r>
              <a:rPr sz="1150" b="1">
                <a:solidFill>
                  <a:srgbClr val="1E3A8A"/>
                </a:solidFill>
                <a:latin typeface="Microsoft YaHei"/>
              </a:rPr>
              <a:t>• 关键交付物：</a:t>
            </a:r>
            <a:r>
              <a:rPr sz="1150">
                <a:solidFill>
                  <a:srgbClr val="1E293B"/>
                </a:solidFill>
                <a:latin typeface="Microsoft YaHei"/>
              </a:rPr>
              <a:t>《通信协议基础性能评测表》、《多模型前缀复用时延实测对比表》、《Saved-Prefill 净收益分析图》。</a:t>
            </a:r>
          </a:p>
          <a:p>
            <a:pPr>
              <a:lnSpc>
                <a:spcPct val="120000"/>
              </a:lnSpc>
              <a:spcAft>
                <a:spcPts val="600"/>
              </a:spcAft>
            </a:pPr>
            <a:r>
              <a:rPr sz="1150" b="1">
                <a:solidFill>
                  <a:srgbClr val="1E3A8A"/>
                </a:solidFill>
                <a:latin typeface="Microsoft YaHei"/>
              </a:rPr>
              <a:t>• 判定达标要求 (Go/No-Go)：</a:t>
            </a:r>
            <a:r>
              <a:rPr sz="1150" b="1">
                <a:solidFill>
                  <a:srgbClr val="1E293B"/>
                </a:solidFill>
                <a:latin typeface="Microsoft YaHei"/>
              </a:rPr>
              <a:t>1. 净收益判定：</a:t>
            </a:r>
            <a:r>
              <a:rPr sz="1150" b="1">
                <a:solidFill>
                  <a:srgbClr val="DC2626"/>
                </a:solidFill>
                <a:latin typeface="Microsoft YaHei"/>
              </a:rPr>
              <a:t>读取与加载总开销 &lt; 本地直接重算耗时</a:t>
            </a:r>
            <a:r>
              <a:rPr sz="1150">
                <a:solidFill>
                  <a:srgbClr val="1E293B"/>
                </a:solidFill>
                <a:latin typeface="Microsoft YaHei"/>
              </a:rPr>
              <a:t>（在 ≥50% 复用率下，净时间节省 ≥ 2.0× 查询与传输总开销）；
</a:t>
            </a:r>
            <a:r>
              <a:rPr sz="1150" b="1">
                <a:solidFill>
                  <a:srgbClr val="1E293B"/>
                </a:solidFill>
                <a:latin typeface="Microsoft YaHei"/>
              </a:rPr>
              <a:t>2. 协议加速比：</a:t>
            </a:r>
            <a:r>
              <a:rPr sz="1150" b="1">
                <a:solidFill>
                  <a:srgbClr val="059669"/>
                </a:solidFill>
                <a:latin typeface="Microsoft YaHei"/>
              </a:rPr>
              <a:t>UBMEM 共享内存协议相比标准 URMA 带宽/时延加速比 ≥ 1.30 倍</a:t>
            </a:r>
            <a:r>
              <a:rPr sz="1150">
                <a:solidFill>
                  <a:srgbClr val="1E293B"/>
                </a:solidFill>
                <a:latin typeface="Microsoft YaHei"/>
              </a:rPr>
              <a:t>。</a:t>
            </a:r>
          </a:p>
        </p:txBody>
      </p:sp>
      <p:sp>
        <p:nvSpPr>
          <p:cNvPr id="20" name="Rectangle 19"/>
          <p:cNvSpPr/>
          <p:nvPr/>
        </p:nvSpPr>
        <p:spPr>
          <a:xfrm>
            <a:off x="457200" y="5833872"/>
            <a:ext cx="11277295" cy="694944"/>
          </a:xfrm>
          <a:prstGeom prst="rect">
            <a:avLst/>
          </a:prstGeom>
          <a:solidFill>
            <a:srgbClr val="FFFFFF"/>
          </a:solidFill>
          <a:ln w="1524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57200" y="5833872"/>
            <a:ext cx="73152" cy="694944"/>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21792" y="5907024"/>
            <a:ext cx="11002975" cy="566928"/>
          </a:xfrm>
          <a:prstGeom prst="rect">
            <a:avLst/>
          </a:prstGeom>
          <a:noFill/>
        </p:spPr>
        <p:txBody>
          <a:bodyPr wrap="square" lIns="0" tIns="0" rIns="0" bIns="0">
            <a:spAutoFit/>
          </a:bodyPr>
          <a:lstStyle/>
          <a:p>
            <a:pPr>
              <a:lnSpc>
                <a:spcPct val="122000"/>
              </a:lnSpc>
            </a:pPr>
            <a:r>
              <a:rPr sz="1200" b="1">
                <a:solidFill>
                  <a:srgbClr val="2563EB"/>
                </a:solidFill>
                <a:latin typeface="Microsoft YaHei"/>
              </a:rPr>
              <a:t>【方案核心结论】 </a:t>
            </a:r>
            <a:r>
              <a:rPr sz="1200" b="1">
                <a:solidFill>
                  <a:srgbClr val="0F172A"/>
                </a:solidFill>
                <a:latin typeface="Microsoft YaHei"/>
              </a:rPr>
              <a:t>PVT-00 收益评估与立项依据：</a:t>
            </a:r>
            <a:r>
              <a:rPr sz="1150" b="1">
                <a:solidFill>
                  <a:srgbClr val="0F172A"/>
                </a:solidFill>
                <a:latin typeface="Microsoft YaHei"/>
              </a:rPr>
              <a:t>实测证明在 ≥50% 复用率下，读取外接缓存节省的时间达到传输总开销的 </a:t>
            </a:r>
            <a:r>
              <a:rPr sz="1150" b="1">
                <a:solidFill>
                  <a:srgbClr val="DC2626"/>
                </a:solidFill>
                <a:latin typeface="Microsoft YaHei"/>
              </a:rPr>
              <a:t>2.0 倍以上</a:t>
            </a:r>
            <a:r>
              <a:rPr sz="1150" b="1">
                <a:solidFill>
                  <a:srgbClr val="0F172A"/>
                </a:solidFill>
                <a:latin typeface="Microsoft YaHei"/>
              </a:rPr>
              <a:t>，UBMEM 通信协议加速比 </a:t>
            </a:r>
            <a:r>
              <a:rPr sz="1150" b="1">
                <a:solidFill>
                  <a:srgbClr val="DC2626"/>
                </a:solidFill>
                <a:latin typeface="Microsoft YaHei"/>
              </a:rPr>
              <a:t>≥1.30×</a:t>
            </a:r>
            <a:r>
              <a:rPr sz="1150" b="1">
                <a:solidFill>
                  <a:srgbClr val="0F172A"/>
                </a:solidFill>
                <a:latin typeface="Microsoft YaHei"/>
              </a:rPr>
              <a:t>，达到阶段 E0 准入门槛。</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0040"/>
            <a:ext cx="9875520" cy="640080"/>
          </a:xfrm>
          <a:prstGeom prst="rect">
            <a:avLst/>
          </a:prstGeom>
          <a:noFill/>
        </p:spPr>
        <p:txBody>
          <a:bodyPr wrap="square" lIns="0" tIns="0" rIns="0" bIns="0">
            <a:spAutoFit/>
          </a:bodyPr>
          <a:lstStyle/>
          <a:p>
            <a:pPr>
              <a:defRPr sz="1900" b="1">
                <a:solidFill>
                  <a:srgbClr val="1E3A8A"/>
                </a:solidFill>
                <a:latin typeface="Microsoft YaHei"/>
              </a:defRPr>
            </a:pPr>
            <a:r>
              <a:t>PVT-01：Host CPU 零数据拷贝传输通路与硬件能力矩阵验证</a:t>
            </a:r>
          </a:p>
          <a:p>
            <a:pPr>
              <a:spcBef>
                <a:spcPts val="300"/>
              </a:spcBef>
              <a:defRPr sz="1100">
                <a:solidFill>
                  <a:srgbClr val="475569"/>
                </a:solidFill>
                <a:latin typeface="Microsoft YaHei"/>
              </a:defRPr>
            </a:pPr>
            <a:r>
              <a:t>验证跨节点 URMA/UBMEM 与本地 NVMe SSD 直达通路中的 CPU 零数据拷贝及硬件线速达成率</a:t>
            </a:r>
          </a:p>
        </p:txBody>
      </p:sp>
      <p:sp>
        <p:nvSpPr>
          <p:cNvPr id="3" name="TextBox 2"/>
          <p:cNvSpPr txBox="1"/>
          <p:nvPr/>
        </p:nvSpPr>
        <p:spPr>
          <a:xfrm>
            <a:off x="10424160" y="320040"/>
            <a:ext cx="1310335" cy="320040"/>
          </a:xfrm>
          <a:prstGeom prst="rect">
            <a:avLst/>
          </a:prstGeom>
          <a:noFill/>
        </p:spPr>
        <p:txBody>
          <a:bodyPr wrap="none" lIns="0" tIns="0" rIns="0" bIns="0">
            <a:spAutoFit/>
          </a:bodyPr>
          <a:lstStyle/>
          <a:p>
            <a:pPr algn="r">
              <a:defRPr sz="1150" b="1">
                <a:solidFill>
                  <a:srgbClr val="2563EB"/>
                </a:solidFill>
                <a:latin typeface="Microsoft YaHei"/>
              </a:defRPr>
            </a:pPr>
            <a:r>
              <a:t>第 04 / 15 页</a:t>
            </a:r>
          </a:p>
        </p:txBody>
      </p:sp>
      <p:sp>
        <p:nvSpPr>
          <p:cNvPr id="4" name="Rectangle 3"/>
          <p:cNvSpPr/>
          <p:nvPr/>
        </p:nvSpPr>
        <p:spPr>
          <a:xfrm>
            <a:off x="457200" y="1051560"/>
            <a:ext cx="5532120" cy="2240280"/>
          </a:xfrm>
          <a:prstGeom prst="rect">
            <a:avLst/>
          </a:prstGeom>
          <a:solidFill>
            <a:srgbClr val="FFFF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57200" y="1051560"/>
            <a:ext cx="5532120" cy="310896"/>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088136"/>
            <a:ext cx="5312664" cy="237744"/>
          </a:xfrm>
          <a:prstGeom prst="rect">
            <a:avLst/>
          </a:prstGeom>
          <a:noFill/>
        </p:spPr>
        <p:txBody>
          <a:bodyPr wrap="none" lIns="0" tIns="0" rIns="0" bIns="0">
            <a:spAutoFit/>
          </a:bodyPr>
          <a:lstStyle/>
          <a:p>
            <a:pPr>
              <a:defRPr sz="1200" b="1">
                <a:solidFill>
                  <a:srgbClr val="FFFFFF"/>
                </a:solidFill>
                <a:latin typeface="Microsoft YaHei"/>
              </a:defRPr>
            </a:pPr>
            <a:r>
              <a:t>1. 验证背景、必要性与目标定位</a:t>
            </a:r>
            <a:r>
              <a:rPr sz="1000" b="1">
                <a:solidFill>
                  <a:srgbClr val="BFDBFE"/>
                </a:solidFill>
                <a:latin typeface="Microsoft YaHei"/>
              </a:rPr>
              <a:t>  [P1 级 | 阶段 E1 传输底座]</a:t>
            </a:r>
          </a:p>
        </p:txBody>
      </p:sp>
      <p:sp>
        <p:nvSpPr>
          <p:cNvPr id="7" name="TextBox 6"/>
          <p:cNvSpPr txBox="1"/>
          <p:nvPr/>
        </p:nvSpPr>
        <p:spPr>
          <a:xfrm>
            <a:off x="585216" y="1417320"/>
            <a:ext cx="5276088" cy="1819656"/>
          </a:xfrm>
          <a:prstGeom prst="rect">
            <a:avLst/>
          </a:prstGeom>
          <a:noFill/>
        </p:spPr>
        <p:txBody>
          <a:bodyPr wrap="square" lIns="0" tIns="0" rIns="0" bIns="0">
            <a:spAutoFit/>
          </a:bodyPr>
          <a:lstStyle/>
          <a:p>
            <a:pPr>
              <a:lnSpc>
                <a:spcPct val="120000"/>
              </a:lnSpc>
              <a:spcAft>
                <a:spcPts val="600"/>
              </a:spcAft>
            </a:pPr>
            <a:r>
              <a:rPr sz="1150" b="1">
                <a:solidFill>
                  <a:srgbClr val="1E3A8A"/>
                </a:solidFill>
                <a:latin typeface="Microsoft YaHei"/>
              </a:rPr>
              <a:t>• 验证背景：</a:t>
            </a:r>
            <a:r>
              <a:rPr sz="1150">
                <a:solidFill>
                  <a:srgbClr val="1E293B"/>
                </a:solidFill>
                <a:latin typeface="Microsoft YaHei"/>
              </a:rPr>
              <a:t>800G 网络与 Gen5 SSD 环境下，若由 Host CPU 参与内存拷贝或拆包，会瞬间占满 CPU 与内存带宽，导致降速与时延抖动。</a:t>
            </a:r>
          </a:p>
          <a:p>
            <a:pPr>
              <a:lnSpc>
                <a:spcPct val="120000"/>
              </a:lnSpc>
              <a:spcAft>
                <a:spcPts val="600"/>
              </a:spcAft>
            </a:pPr>
            <a:r>
              <a:rPr sz="1150" b="1">
                <a:solidFill>
                  <a:srgbClr val="1E3A8A"/>
                </a:solidFill>
                <a:latin typeface="Microsoft YaHei"/>
              </a:rPr>
              <a:t>• 验证目的：</a:t>
            </a:r>
            <a:r>
              <a:rPr sz="1150">
                <a:solidFill>
                  <a:srgbClr val="1E293B"/>
                </a:solidFill>
                <a:latin typeface="Microsoft YaHei"/>
              </a:rPr>
              <a:t>验证传输通路中数据直达显存，</a:t>
            </a:r>
            <a:r>
              <a:rPr sz="1150" b="1">
                <a:solidFill>
                  <a:srgbClr val="DC2626"/>
                </a:solidFill>
                <a:latin typeface="Microsoft YaHei"/>
              </a:rPr>
              <a:t>Host CPU 零数据拷贝（CPU 仅负责下发指令，Host Payload Touch Bytes 严格为 0）</a:t>
            </a:r>
            <a:r>
              <a:rPr sz="1150">
                <a:solidFill>
                  <a:srgbClr val="1E293B"/>
                </a:solidFill>
                <a:latin typeface="Microsoft YaHei"/>
              </a:rPr>
              <a:t>，有效带宽达物理线速 </a:t>
            </a:r>
            <a:r>
              <a:rPr sz="1150" b="1">
                <a:solidFill>
                  <a:srgbClr val="2563EB"/>
                </a:solidFill>
                <a:latin typeface="Microsoft YaHei"/>
              </a:rPr>
              <a:t>≥80%</a:t>
            </a:r>
            <a:r>
              <a:rPr sz="1150">
                <a:solidFill>
                  <a:srgbClr val="1E293B"/>
                </a:solidFill>
                <a:latin typeface="Microsoft YaHei"/>
              </a:rPr>
              <a:t>。</a:t>
            </a:r>
          </a:p>
          <a:p>
            <a:pPr>
              <a:lnSpc>
                <a:spcPct val="120000"/>
              </a:lnSpc>
              <a:spcAft>
                <a:spcPts val="600"/>
              </a:spcAft>
            </a:pPr>
            <a:r>
              <a:rPr sz="1150" b="1">
                <a:solidFill>
                  <a:srgbClr val="1E3A8A"/>
                </a:solidFill>
                <a:latin typeface="Microsoft YaHei"/>
              </a:rPr>
              <a:t>• 对整体项目的支撑：</a:t>
            </a:r>
            <a:r>
              <a:rPr sz="1150">
                <a:solidFill>
                  <a:srgbClr val="1E293B"/>
                </a:solidFill>
                <a:latin typeface="Microsoft YaHei"/>
              </a:rPr>
              <a:t>确立 E1 传输底座，输出</a:t>
            </a:r>
            <a:r>
              <a:rPr sz="1150" b="1">
                <a:solidFill>
                  <a:srgbClr val="2563EB"/>
                </a:solidFill>
                <a:latin typeface="Microsoft YaHei"/>
              </a:rPr>
              <a:t>“硬件能力矩阵 (CapabilityMatrix)”</a:t>
            </a:r>
            <a:r>
              <a:rPr sz="1150">
                <a:solidFill>
                  <a:srgbClr val="1E293B"/>
                </a:solidFill>
                <a:latin typeface="Microsoft YaHei"/>
              </a:rPr>
              <a:t>，供调度算法读取。</a:t>
            </a:r>
          </a:p>
        </p:txBody>
      </p:sp>
      <p:sp>
        <p:nvSpPr>
          <p:cNvPr id="8" name="Rectangle 7"/>
          <p:cNvSpPr/>
          <p:nvPr/>
        </p:nvSpPr>
        <p:spPr>
          <a:xfrm>
            <a:off x="6202375" y="1051560"/>
            <a:ext cx="5532120" cy="2240280"/>
          </a:xfrm>
          <a:prstGeom prst="rect">
            <a:avLst/>
          </a:prstGeom>
          <a:solidFill>
            <a:srgbClr val="FFFF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202375" y="1051560"/>
            <a:ext cx="5532120" cy="310896"/>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12103" y="1088136"/>
            <a:ext cx="5312664" cy="237744"/>
          </a:xfrm>
          <a:prstGeom prst="rect">
            <a:avLst/>
          </a:prstGeom>
          <a:noFill/>
        </p:spPr>
        <p:txBody>
          <a:bodyPr wrap="none" lIns="0" tIns="0" rIns="0" bIns="0">
            <a:spAutoFit/>
          </a:bodyPr>
          <a:lstStyle/>
          <a:p>
            <a:pPr>
              <a:defRPr sz="1200" b="1">
                <a:solidFill>
                  <a:srgbClr val="FFFFFF"/>
                </a:solidFill>
                <a:latin typeface="Microsoft YaHei"/>
              </a:defRPr>
            </a:pPr>
            <a:r>
              <a:t>2. 所需软硬件环境与技术规范</a:t>
            </a:r>
            <a:r>
              <a:rPr sz="1000" b="1">
                <a:solidFill>
                  <a:srgbClr val="BFDBFE"/>
                </a:solidFill>
                <a:latin typeface="Microsoft YaHei"/>
              </a:rPr>
              <a:t>  [环境与依赖]</a:t>
            </a:r>
          </a:p>
        </p:txBody>
      </p:sp>
      <p:sp>
        <p:nvSpPr>
          <p:cNvPr id="11" name="TextBox 10"/>
          <p:cNvSpPr txBox="1"/>
          <p:nvPr/>
        </p:nvSpPr>
        <p:spPr>
          <a:xfrm>
            <a:off x="6330391" y="1417320"/>
            <a:ext cx="5276088" cy="1819656"/>
          </a:xfrm>
          <a:prstGeom prst="rect">
            <a:avLst/>
          </a:prstGeom>
          <a:noFill/>
        </p:spPr>
        <p:txBody>
          <a:bodyPr wrap="square" lIns="0" tIns="0" rIns="0" bIns="0">
            <a:spAutoFit/>
          </a:bodyPr>
          <a:lstStyle/>
          <a:p>
            <a:pPr>
              <a:lnSpc>
                <a:spcPct val="120000"/>
              </a:lnSpc>
              <a:spcAft>
                <a:spcPts val="600"/>
              </a:spcAft>
            </a:pPr>
            <a:r>
              <a:rPr sz="1150" b="1">
                <a:solidFill>
                  <a:srgbClr val="1E3A8A"/>
                </a:solidFill>
                <a:latin typeface="Microsoft YaHei"/>
              </a:rPr>
              <a:t>• 显存直达接口：</a:t>
            </a:r>
            <a:r>
              <a:rPr sz="1150">
                <a:solidFill>
                  <a:srgbClr val="1E293B"/>
                </a:solidFill>
                <a:latin typeface="Microsoft YaHei"/>
              </a:rPr>
              <a:t>CANN 接口 </a:t>
            </a:r>
            <a:r>
              <a:rPr sz="1150" b="1">
                <a:solidFill>
                  <a:srgbClr val="1E3A8A"/>
                </a:solidFill>
                <a:latin typeface="Consolas"/>
              </a:rPr>
              <a:t>aclrtMalloc (P2P 标志)</a:t>
            </a:r>
            <a:r>
              <a:rPr sz="1150">
                <a:solidFill>
                  <a:srgbClr val="1E293B"/>
                </a:solidFill>
                <a:latin typeface="Microsoft YaHei"/>
              </a:rPr>
              <a:t>，通过 </a:t>
            </a:r>
            <a:r>
              <a:rPr sz="1150">
                <a:solidFill>
                  <a:srgbClr val="1E3A8A"/>
                </a:solidFill>
                <a:latin typeface="Consolas"/>
              </a:rPr>
              <a:t>urma_register_dev_mr</a:t>
            </a:r>
            <a:r>
              <a:rPr sz="1150">
                <a:solidFill>
                  <a:srgbClr val="1E293B"/>
                </a:solidFill>
                <a:latin typeface="Microsoft YaHei"/>
              </a:rPr>
              <a:t> 将显存直接注册给网卡实现显存直读传输。</a:t>
            </a:r>
          </a:p>
          <a:p>
            <a:pPr>
              <a:lnSpc>
                <a:spcPct val="120000"/>
              </a:lnSpc>
              <a:spcAft>
                <a:spcPts val="600"/>
              </a:spcAft>
            </a:pPr>
            <a:r>
              <a:rPr sz="1150" b="1">
                <a:solidFill>
                  <a:srgbClr val="1E3A8A"/>
                </a:solidFill>
                <a:latin typeface="Microsoft YaHei"/>
              </a:rPr>
              <a:t>• 本地存储直达：</a:t>
            </a:r>
            <a:r>
              <a:rPr sz="1150">
                <a:solidFill>
                  <a:srgbClr val="1E293B"/>
                </a:solidFill>
                <a:latin typeface="Microsoft YaHei"/>
              </a:rPr>
              <a:t>Linux 6.6+ 内核 </a:t>
            </a:r>
            <a:r>
              <a:rPr sz="1150" b="1">
                <a:solidFill>
                  <a:srgbClr val="1E3A8A"/>
                </a:solidFill>
                <a:latin typeface="Consolas"/>
              </a:rPr>
              <a:t>io_uring 裸盘读写 (FIXED I/O + O_DIRECT)</a:t>
            </a:r>
            <a:r>
              <a:rPr sz="1150">
                <a:solidFill>
                  <a:srgbClr val="1E293B"/>
                </a:solidFill>
                <a:latin typeface="Microsoft YaHei"/>
              </a:rPr>
              <a:t>，严格绕过主机内存 Host DDR，消除 CPU 拷贝。</a:t>
            </a:r>
          </a:p>
          <a:p>
            <a:pPr>
              <a:lnSpc>
                <a:spcPct val="120000"/>
              </a:lnSpc>
              <a:spcAft>
                <a:spcPts val="600"/>
              </a:spcAft>
            </a:pPr>
            <a:r>
              <a:rPr sz="1150" b="1">
                <a:solidFill>
                  <a:srgbClr val="1E3A8A"/>
                </a:solidFill>
                <a:latin typeface="Microsoft YaHei"/>
              </a:rPr>
              <a:t>• 监控手段：</a:t>
            </a:r>
            <a:r>
              <a:rPr sz="1150">
                <a:solidFill>
                  <a:srgbClr val="1E293B"/>
                </a:solidFill>
                <a:latin typeface="Microsoft YaHei"/>
              </a:rPr>
              <a:t>使用 eBPF 内核跟踪探针全量监控是否发生 CPU 内存拷贝，确保零拷贝底座成立。</a:t>
            </a:r>
          </a:p>
        </p:txBody>
      </p:sp>
      <p:sp>
        <p:nvSpPr>
          <p:cNvPr id="12" name="Rectangle 11"/>
          <p:cNvSpPr/>
          <p:nvPr/>
        </p:nvSpPr>
        <p:spPr>
          <a:xfrm>
            <a:off x="457200" y="3383280"/>
            <a:ext cx="5532120" cy="2359152"/>
          </a:xfrm>
          <a:prstGeom prst="rect">
            <a:avLst/>
          </a:prstGeom>
          <a:solidFill>
            <a:srgbClr val="FFFF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57200" y="3383280"/>
            <a:ext cx="5532120" cy="310896"/>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66928" y="3419856"/>
            <a:ext cx="5312664" cy="237744"/>
          </a:xfrm>
          <a:prstGeom prst="rect">
            <a:avLst/>
          </a:prstGeom>
          <a:noFill/>
        </p:spPr>
        <p:txBody>
          <a:bodyPr wrap="none" lIns="0" tIns="0" rIns="0" bIns="0">
            <a:spAutoFit/>
          </a:bodyPr>
          <a:lstStyle/>
          <a:p>
            <a:pPr>
              <a:defRPr sz="1200" b="1">
                <a:solidFill>
                  <a:srgbClr val="FFFFFF"/>
                </a:solidFill>
                <a:latin typeface="Microsoft YaHei"/>
              </a:defRPr>
            </a:pPr>
            <a:r>
              <a:t>3. 测试数据集与 Benchmark 方案</a:t>
            </a:r>
            <a:r>
              <a:rPr sz="1000" b="1">
                <a:solidFill>
                  <a:srgbClr val="BFDBFE"/>
                </a:solidFill>
                <a:latin typeface="Microsoft YaHei"/>
              </a:rPr>
              <a:t>  [测试方法]</a:t>
            </a:r>
          </a:p>
        </p:txBody>
      </p:sp>
      <p:sp>
        <p:nvSpPr>
          <p:cNvPr id="15" name="TextBox 14"/>
          <p:cNvSpPr txBox="1"/>
          <p:nvPr/>
        </p:nvSpPr>
        <p:spPr>
          <a:xfrm>
            <a:off x="585216" y="3749040"/>
            <a:ext cx="5276088" cy="1938528"/>
          </a:xfrm>
          <a:prstGeom prst="rect">
            <a:avLst/>
          </a:prstGeom>
          <a:noFill/>
        </p:spPr>
        <p:txBody>
          <a:bodyPr wrap="square" lIns="0" tIns="0" rIns="0" bIns="0">
            <a:spAutoFit/>
          </a:bodyPr>
          <a:lstStyle/>
          <a:p>
            <a:pPr>
              <a:lnSpc>
                <a:spcPct val="120000"/>
              </a:lnSpc>
              <a:spcAft>
                <a:spcPts val="600"/>
              </a:spcAft>
            </a:pPr>
            <a:r>
              <a:rPr sz="1150" b="1">
                <a:solidFill>
                  <a:srgbClr val="1E3A8A"/>
                </a:solidFill>
                <a:latin typeface="Microsoft YaHei"/>
              </a:rPr>
              <a:t>• 传输测试 (raw_trans_bench.cc)：</a:t>
            </a:r>
            <a:r>
              <a:rPr sz="1150">
                <a:solidFill>
                  <a:srgbClr val="1E293B"/>
                </a:solidFill>
                <a:latin typeface="Microsoft YaHei"/>
              </a:rPr>
              <a:t>测试 4KB~128MB 块大小下，URMA、UBMEM、io_uring 直达传输性能，并与传统 CPU 内存拷贝和 TCP 对照组对比。</a:t>
            </a:r>
          </a:p>
          <a:p>
            <a:pPr>
              <a:lnSpc>
                <a:spcPct val="120000"/>
              </a:lnSpc>
              <a:spcAft>
                <a:spcPts val="600"/>
              </a:spcAft>
            </a:pPr>
            <a:r>
              <a:rPr sz="1150" b="1">
                <a:solidFill>
                  <a:srgbClr val="1E3A8A"/>
                </a:solidFill>
                <a:latin typeface="Microsoft YaHei"/>
              </a:rPr>
              <a:t>• CPU 拷贝监控 (host_touch_monitor.py)：</a:t>
            </a:r>
            <a:r>
              <a:rPr sz="1150">
                <a:solidFill>
                  <a:srgbClr val="1E293B"/>
                </a:solidFill>
                <a:latin typeface="Microsoft YaHei"/>
              </a:rPr>
              <a:t>在长时间高并发大流量传输下，通过 eBPF 统计 CPU 触碰数据的字节数，提供严格的防漏报凭证。</a:t>
            </a:r>
          </a:p>
          <a:p>
            <a:pPr>
              <a:lnSpc>
                <a:spcPct val="120000"/>
              </a:lnSpc>
              <a:spcAft>
                <a:spcPts val="600"/>
              </a:spcAft>
            </a:pPr>
            <a:r>
              <a:rPr sz="1150" b="1">
                <a:solidFill>
                  <a:srgbClr val="1E3A8A"/>
                </a:solidFill>
                <a:latin typeface="Microsoft YaHei"/>
              </a:rPr>
              <a:t>• 硬件矩阵导出 (export_capability_matrix.py)：</a:t>
            </a:r>
            <a:r>
              <a:rPr sz="1150">
                <a:solidFill>
                  <a:srgbClr val="1E293B"/>
                </a:solidFill>
                <a:latin typeface="Microsoft YaHei"/>
              </a:rPr>
              <a:t>自动解析实测吞吐并导出结构化 capability_matrix.json 硬件能力参数文件。</a:t>
            </a:r>
          </a:p>
        </p:txBody>
      </p:sp>
      <p:sp>
        <p:nvSpPr>
          <p:cNvPr id="16" name="Rectangle 15"/>
          <p:cNvSpPr/>
          <p:nvPr/>
        </p:nvSpPr>
        <p:spPr>
          <a:xfrm>
            <a:off x="6202375" y="3383280"/>
            <a:ext cx="5532120" cy="2359152"/>
          </a:xfrm>
          <a:prstGeom prst="rect">
            <a:avLst/>
          </a:prstGeom>
          <a:solidFill>
            <a:srgbClr val="FFFF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202375" y="3383280"/>
            <a:ext cx="5532120" cy="310896"/>
          </a:xfrm>
          <a:prstGeom prst="rect">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12103" y="3419856"/>
            <a:ext cx="5312664" cy="237744"/>
          </a:xfrm>
          <a:prstGeom prst="rect">
            <a:avLst/>
          </a:prstGeom>
          <a:noFill/>
        </p:spPr>
        <p:txBody>
          <a:bodyPr wrap="none" lIns="0" tIns="0" rIns="0" bIns="0">
            <a:spAutoFit/>
          </a:bodyPr>
          <a:lstStyle/>
          <a:p>
            <a:pPr>
              <a:defRPr sz="1200" b="1">
                <a:solidFill>
                  <a:srgbClr val="FFFFFF"/>
                </a:solidFill>
                <a:latin typeface="Microsoft YaHei"/>
              </a:defRPr>
            </a:pPr>
            <a:r>
              <a:t>4. 输出数据要求与判定标准</a:t>
            </a:r>
            <a:r>
              <a:rPr sz="1000" b="1">
                <a:solidFill>
                  <a:srgbClr val="BFDBFE"/>
                </a:solidFill>
                <a:latin typeface="Microsoft YaHei"/>
              </a:rPr>
              <a:t>  [达标要求]</a:t>
            </a:r>
          </a:p>
        </p:txBody>
      </p:sp>
      <p:sp>
        <p:nvSpPr>
          <p:cNvPr id="19" name="TextBox 18"/>
          <p:cNvSpPr txBox="1"/>
          <p:nvPr/>
        </p:nvSpPr>
        <p:spPr>
          <a:xfrm>
            <a:off x="6330391" y="3749040"/>
            <a:ext cx="5276088" cy="1938528"/>
          </a:xfrm>
          <a:prstGeom prst="rect">
            <a:avLst/>
          </a:prstGeom>
          <a:noFill/>
        </p:spPr>
        <p:txBody>
          <a:bodyPr wrap="square" lIns="0" tIns="0" rIns="0" bIns="0">
            <a:spAutoFit/>
          </a:bodyPr>
          <a:lstStyle/>
          <a:p>
            <a:pPr>
              <a:lnSpc>
                <a:spcPct val="120000"/>
              </a:lnSpc>
              <a:spcAft>
                <a:spcPts val="600"/>
              </a:spcAft>
            </a:pPr>
            <a:r>
              <a:rPr sz="1150" b="1">
                <a:solidFill>
                  <a:srgbClr val="1E3A8A"/>
                </a:solidFill>
                <a:latin typeface="Microsoft YaHei"/>
              </a:rPr>
              <a:t>• 关键交付物：</a:t>
            </a:r>
            <a:r>
              <a:rPr sz="1150">
                <a:solidFill>
                  <a:srgbClr val="1E293B"/>
                </a:solidFill>
                <a:latin typeface="Microsoft YaHei"/>
              </a:rPr>
              <a:t>《eBPF CPU 拷贝监控报告》、《各介质裸传输带宽与时延表》、《硬件能力矩阵参数文件 (capability_matrix.json)》。</a:t>
            </a:r>
          </a:p>
          <a:p>
            <a:pPr>
              <a:lnSpc>
                <a:spcPct val="120000"/>
              </a:lnSpc>
              <a:spcAft>
                <a:spcPts val="600"/>
              </a:spcAft>
            </a:pPr>
            <a:r>
              <a:rPr sz="1150" b="1">
                <a:solidFill>
                  <a:srgbClr val="1E3A8A"/>
                </a:solidFill>
                <a:latin typeface="Microsoft YaHei"/>
              </a:rPr>
              <a:t>• 判定达标要求 (Go/No-Go)：</a:t>
            </a:r>
            <a:r>
              <a:rPr sz="1150" b="1">
                <a:solidFill>
                  <a:srgbClr val="1E293B"/>
                </a:solidFill>
                <a:latin typeface="Microsoft YaHei"/>
              </a:rPr>
              <a:t>1. CPU 零数据拷贝：</a:t>
            </a:r>
            <a:r>
              <a:rPr sz="1150" b="1">
                <a:solidFill>
                  <a:srgbClr val="DC2626"/>
                </a:solidFill>
                <a:latin typeface="Microsoft YaHei"/>
              </a:rPr>
              <a:t>Host CPU 正文数据搬运字节数严格 = 0</a:t>
            </a:r>
            <a:r>
              <a:rPr sz="1150">
                <a:solidFill>
                  <a:srgbClr val="1E293B"/>
                </a:solidFill>
                <a:latin typeface="Microsoft YaHei"/>
              </a:rPr>
              <a:t>（CPU 仅负责提交描述符指令）；
</a:t>
            </a:r>
            <a:r>
              <a:rPr sz="1150" b="1">
                <a:solidFill>
                  <a:srgbClr val="1E293B"/>
                </a:solidFill>
                <a:latin typeface="Microsoft YaHei"/>
              </a:rPr>
              <a:t>2. 网络线速达成率：</a:t>
            </a:r>
            <a:r>
              <a:rPr sz="1150" b="1">
                <a:solidFill>
                  <a:srgbClr val="059669"/>
                </a:solidFill>
                <a:latin typeface="Microsoft YaHei"/>
              </a:rPr>
              <a:t>800G URMA/UBMEM 有效传输带宽 ≥ 80% (≥ 640 Gbps)</a:t>
            </a:r>
            <a:r>
              <a:rPr sz="1150">
                <a:solidFill>
                  <a:srgbClr val="1E293B"/>
                </a:solidFill>
                <a:latin typeface="Microsoft YaHei"/>
              </a:rPr>
              <a:t>；
</a:t>
            </a:r>
            <a:r>
              <a:rPr sz="1150" b="1">
                <a:solidFill>
                  <a:srgbClr val="1E293B"/>
                </a:solidFill>
                <a:latin typeface="Microsoft YaHei"/>
              </a:rPr>
              <a:t>3. 本地存储性能：</a:t>
            </a:r>
            <a:r>
              <a:rPr sz="1150" b="1">
                <a:solidFill>
                  <a:srgbClr val="2563EB"/>
                </a:solidFill>
                <a:latin typeface="Microsoft YaHei"/>
              </a:rPr>
              <a:t>NVMe SSD io_uring 顺序读带宽 ≥ 80% 硬件标称峰值</a:t>
            </a:r>
            <a:r>
              <a:rPr sz="1150">
                <a:solidFill>
                  <a:srgbClr val="1E293B"/>
                </a:solidFill>
                <a:latin typeface="Microsoft YaHei"/>
              </a:rPr>
              <a:t>。</a:t>
            </a:r>
          </a:p>
        </p:txBody>
      </p:sp>
      <p:sp>
        <p:nvSpPr>
          <p:cNvPr id="20" name="Rectangle 19"/>
          <p:cNvSpPr/>
          <p:nvPr/>
        </p:nvSpPr>
        <p:spPr>
          <a:xfrm>
            <a:off x="457200" y="5833872"/>
            <a:ext cx="11277295" cy="694944"/>
          </a:xfrm>
          <a:prstGeom prst="rect">
            <a:avLst/>
          </a:prstGeom>
          <a:solidFill>
            <a:srgbClr val="FFFFFF"/>
          </a:solidFill>
          <a:ln w="1524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57200" y="5833872"/>
            <a:ext cx="73152" cy="694944"/>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21792" y="5907024"/>
            <a:ext cx="11002975" cy="566928"/>
          </a:xfrm>
          <a:prstGeom prst="rect">
            <a:avLst/>
          </a:prstGeom>
          <a:noFill/>
        </p:spPr>
        <p:txBody>
          <a:bodyPr wrap="square" lIns="0" tIns="0" rIns="0" bIns="0">
            <a:spAutoFit/>
          </a:bodyPr>
          <a:lstStyle/>
          <a:p>
            <a:pPr>
              <a:lnSpc>
                <a:spcPct val="122000"/>
              </a:lnSpc>
            </a:pPr>
            <a:r>
              <a:rPr sz="1200" b="1">
                <a:solidFill>
                  <a:srgbClr val="2563EB"/>
                </a:solidFill>
                <a:latin typeface="Microsoft YaHei"/>
              </a:rPr>
              <a:t>【方案核心结论】 </a:t>
            </a:r>
            <a:r>
              <a:rPr sz="1200" b="1">
                <a:solidFill>
                  <a:srgbClr val="0F172A"/>
                </a:solidFill>
                <a:latin typeface="Microsoft YaHei"/>
              </a:rPr>
              <a:t>PVT-01 零 CPU 拷贝传输底座：</a:t>
            </a:r>
            <a:r>
              <a:rPr sz="1150" b="1">
                <a:solidFill>
                  <a:srgbClr val="0F172A"/>
                </a:solidFill>
                <a:latin typeface="Microsoft YaHei"/>
              </a:rPr>
              <a:t>确立数据通路 </a:t>
            </a:r>
            <a:r>
              <a:rPr sz="1150" b="1">
                <a:solidFill>
                  <a:srgbClr val="DC2626"/>
                </a:solidFill>
                <a:latin typeface="Microsoft YaHei"/>
              </a:rPr>
              <a:t>Host CPU 零数据拷贝</a:t>
            </a:r>
            <a:r>
              <a:rPr sz="1150" b="1">
                <a:solidFill>
                  <a:srgbClr val="0F172A"/>
                </a:solidFill>
                <a:latin typeface="Microsoft YaHei"/>
              </a:rPr>
              <a:t>，800G 网络与 NVMe SSD 传输均达到 </a:t>
            </a:r>
            <a:r>
              <a:rPr sz="1150" b="1">
                <a:solidFill>
                  <a:srgbClr val="DC2626"/>
                </a:solidFill>
                <a:latin typeface="Microsoft YaHei"/>
              </a:rPr>
              <a:t>物理线速 ≥80%</a:t>
            </a:r>
            <a:r>
              <a:rPr sz="1150" b="1">
                <a:solidFill>
                  <a:srgbClr val="0F172A"/>
                </a:solidFill>
                <a:latin typeface="Microsoft YaHei"/>
              </a:rPr>
              <a:t>，产出准确的硬件能力矩阵参数表供调度使用。</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0040"/>
            <a:ext cx="9875520" cy="640080"/>
          </a:xfrm>
          <a:prstGeom prst="rect">
            <a:avLst/>
          </a:prstGeom>
          <a:noFill/>
        </p:spPr>
        <p:txBody>
          <a:bodyPr wrap="square" lIns="0" tIns="0" rIns="0" bIns="0">
            <a:spAutoFit/>
          </a:bodyPr>
          <a:lstStyle/>
          <a:p>
            <a:pPr>
              <a:defRPr sz="1900" b="1">
                <a:solidFill>
                  <a:srgbClr val="1E3A8A"/>
                </a:solidFill>
                <a:latin typeface="Microsoft YaHei"/>
              </a:defRPr>
            </a:pPr>
            <a:r>
              <a:t>PVT-02：异构框架 Layout 描述符编译器与跨节点异步流水验证</a:t>
            </a:r>
          </a:p>
          <a:p>
            <a:pPr>
              <a:spcBef>
                <a:spcPts val="300"/>
              </a:spcBef>
              <a:defRPr sz="1100">
                <a:solidFill>
                  <a:srgbClr val="475569"/>
                </a:solidFill>
                <a:latin typeface="Microsoft YaHei"/>
              </a:defRPr>
            </a:pPr>
            <a:r>
              <a:t>对标 vLLM-Ascend 原生连接器，验证 64B POD 描述符贪心合并与跨节点 Layerwise 边算边传异步 DAG 重叠流水</a:t>
            </a:r>
          </a:p>
        </p:txBody>
      </p:sp>
      <p:sp>
        <p:nvSpPr>
          <p:cNvPr id="3" name="TextBox 2"/>
          <p:cNvSpPr txBox="1"/>
          <p:nvPr/>
        </p:nvSpPr>
        <p:spPr>
          <a:xfrm>
            <a:off x="10424160" y="320040"/>
            <a:ext cx="1310335" cy="320040"/>
          </a:xfrm>
          <a:prstGeom prst="rect">
            <a:avLst/>
          </a:prstGeom>
          <a:noFill/>
        </p:spPr>
        <p:txBody>
          <a:bodyPr wrap="none" lIns="0" tIns="0" rIns="0" bIns="0">
            <a:spAutoFit/>
          </a:bodyPr>
          <a:lstStyle/>
          <a:p>
            <a:pPr algn="r">
              <a:defRPr sz="1150" b="1">
                <a:solidFill>
                  <a:srgbClr val="2563EB"/>
                </a:solidFill>
                <a:latin typeface="Microsoft YaHei"/>
              </a:defRPr>
            </a:pPr>
            <a:r>
              <a:t>第 05 / 15 页</a:t>
            </a:r>
          </a:p>
        </p:txBody>
      </p:sp>
      <p:sp>
        <p:nvSpPr>
          <p:cNvPr id="4" name="Rectangle 3"/>
          <p:cNvSpPr/>
          <p:nvPr/>
        </p:nvSpPr>
        <p:spPr>
          <a:xfrm>
            <a:off x="457200" y="1051560"/>
            <a:ext cx="5532120" cy="2240280"/>
          </a:xfrm>
          <a:prstGeom prst="rect">
            <a:avLst/>
          </a:prstGeom>
          <a:solidFill>
            <a:srgbClr val="FFFF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57200" y="1051560"/>
            <a:ext cx="5532120" cy="310896"/>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088136"/>
            <a:ext cx="5312664" cy="237744"/>
          </a:xfrm>
          <a:prstGeom prst="rect">
            <a:avLst/>
          </a:prstGeom>
          <a:noFill/>
        </p:spPr>
        <p:txBody>
          <a:bodyPr wrap="none" lIns="0" tIns="0" rIns="0" bIns="0">
            <a:spAutoFit/>
          </a:bodyPr>
          <a:lstStyle/>
          <a:p>
            <a:pPr>
              <a:defRPr sz="1200" b="1">
                <a:solidFill>
                  <a:srgbClr val="FFFFFF"/>
                </a:solidFill>
                <a:latin typeface="Microsoft YaHei"/>
              </a:defRPr>
            </a:pPr>
            <a:r>
              <a:t>1. 验证背景、必要性与目标定位</a:t>
            </a:r>
            <a:r>
              <a:rPr sz="1000" b="1">
                <a:solidFill>
                  <a:srgbClr val="BFDBFE"/>
                </a:solidFill>
                <a:latin typeface="Microsoft YaHei"/>
              </a:rPr>
              <a:t>  [P0 级 | 阶段 E1 核心决胜]</a:t>
            </a:r>
          </a:p>
        </p:txBody>
      </p:sp>
      <p:sp>
        <p:nvSpPr>
          <p:cNvPr id="7" name="TextBox 6"/>
          <p:cNvSpPr txBox="1"/>
          <p:nvPr/>
        </p:nvSpPr>
        <p:spPr>
          <a:xfrm>
            <a:off x="585216" y="1417320"/>
            <a:ext cx="5276088" cy="1819656"/>
          </a:xfrm>
          <a:prstGeom prst="rect">
            <a:avLst/>
          </a:prstGeom>
          <a:noFill/>
        </p:spPr>
        <p:txBody>
          <a:bodyPr wrap="square" lIns="0" tIns="0" rIns="0" bIns="0">
            <a:spAutoFit/>
          </a:bodyPr>
          <a:lstStyle/>
          <a:p>
            <a:pPr>
              <a:lnSpc>
                <a:spcPct val="120000"/>
              </a:lnSpc>
              <a:spcAft>
                <a:spcPts val="600"/>
              </a:spcAft>
            </a:pPr>
            <a:r>
              <a:rPr sz="1150" b="1">
                <a:solidFill>
                  <a:srgbClr val="1E3A8A"/>
                </a:solidFill>
                <a:latin typeface="Microsoft YaHei"/>
              </a:rPr>
              <a:t>• 验证背景：</a:t>
            </a:r>
            <a:r>
              <a:rPr sz="1150">
                <a:solidFill>
                  <a:srgbClr val="1E293B"/>
                </a:solidFill>
                <a:latin typeface="Microsoft YaHei"/>
              </a:rPr>
              <a:t>vLLM 采用分页内存管理（物理块离散），vLLM-Ascend 默认使用 Python-ZMQ 连接器逐块处理，CPU 序列化与小 I/O 抵消了硬件性能。</a:t>
            </a:r>
          </a:p>
          <a:p>
            <a:pPr>
              <a:lnSpc>
                <a:spcPct val="120000"/>
              </a:lnSpc>
              <a:spcAft>
                <a:spcPts val="600"/>
              </a:spcAft>
            </a:pPr>
            <a:r>
              <a:rPr sz="1150" b="1">
                <a:solidFill>
                  <a:srgbClr val="1E3A8A"/>
                </a:solidFill>
                <a:latin typeface="Microsoft YaHei"/>
              </a:rPr>
              <a:t>• 验证目的：</a:t>
            </a:r>
            <a:r>
              <a:rPr sz="1150">
                <a:solidFill>
                  <a:srgbClr val="1E293B"/>
                </a:solidFill>
                <a:latin typeface="Microsoft YaHei"/>
              </a:rPr>
              <a:t>验证 C++ 描述符编译器将离散块零拷贝合并为 Scatter-Gather 描述符；验证 2 节点下 </a:t>
            </a:r>
            <a:r>
              <a:rPr sz="1150" b="1">
                <a:solidFill>
                  <a:srgbClr val="2563EB"/>
                </a:solidFill>
                <a:latin typeface="Microsoft YaHei"/>
              </a:rPr>
              <a:t>Chunked Prefill 逐层边算边传 (Layerwise KV Streaming)</a:t>
            </a:r>
            <a:r>
              <a:rPr sz="1150">
                <a:solidFill>
                  <a:srgbClr val="1E293B"/>
                </a:solidFill>
                <a:latin typeface="Microsoft YaHei"/>
              </a:rPr>
              <a:t> 的计算-传输完全重叠。</a:t>
            </a:r>
          </a:p>
          <a:p>
            <a:pPr>
              <a:lnSpc>
                <a:spcPct val="120000"/>
              </a:lnSpc>
              <a:spcAft>
                <a:spcPts val="600"/>
              </a:spcAft>
            </a:pPr>
            <a:r>
              <a:rPr sz="1150" b="1">
                <a:solidFill>
                  <a:srgbClr val="1E3A8A"/>
                </a:solidFill>
                <a:latin typeface="Microsoft YaHei"/>
              </a:rPr>
              <a:t>• 对整体项目的支撑：</a:t>
            </a:r>
            <a:r>
              <a:rPr sz="1150">
                <a:solidFill>
                  <a:srgbClr val="1E293B"/>
                </a:solidFill>
                <a:latin typeface="Microsoft YaHei"/>
              </a:rPr>
              <a:t>直面开源代码瓶颈，大幅降低 CPU 提交开销，使数据传输时间在线被大模型矩阵计算时间完全掩盖。</a:t>
            </a:r>
          </a:p>
        </p:txBody>
      </p:sp>
      <p:sp>
        <p:nvSpPr>
          <p:cNvPr id="8" name="Rectangle 7"/>
          <p:cNvSpPr/>
          <p:nvPr/>
        </p:nvSpPr>
        <p:spPr>
          <a:xfrm>
            <a:off x="6202375" y="1051560"/>
            <a:ext cx="5532120" cy="2240280"/>
          </a:xfrm>
          <a:prstGeom prst="rect">
            <a:avLst/>
          </a:prstGeom>
          <a:solidFill>
            <a:srgbClr val="FFFF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202375" y="1051560"/>
            <a:ext cx="5532120" cy="310896"/>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12103" y="1088136"/>
            <a:ext cx="5312664" cy="237744"/>
          </a:xfrm>
          <a:prstGeom prst="rect">
            <a:avLst/>
          </a:prstGeom>
          <a:noFill/>
        </p:spPr>
        <p:txBody>
          <a:bodyPr wrap="none" lIns="0" tIns="0" rIns="0" bIns="0">
            <a:spAutoFit/>
          </a:bodyPr>
          <a:lstStyle/>
          <a:p>
            <a:pPr>
              <a:defRPr sz="1200" b="1">
                <a:solidFill>
                  <a:srgbClr val="FFFFFF"/>
                </a:solidFill>
                <a:latin typeface="Microsoft YaHei"/>
              </a:defRPr>
            </a:pPr>
            <a:r>
              <a:t>2. 所需软硬件环境与技术规范</a:t>
            </a:r>
            <a:r>
              <a:rPr sz="1000" b="1">
                <a:solidFill>
                  <a:srgbClr val="BFDBFE"/>
                </a:solidFill>
                <a:latin typeface="Microsoft YaHei"/>
              </a:rPr>
              <a:t>  [环境与依赖]</a:t>
            </a:r>
          </a:p>
        </p:txBody>
      </p:sp>
      <p:sp>
        <p:nvSpPr>
          <p:cNvPr id="11" name="TextBox 10"/>
          <p:cNvSpPr txBox="1"/>
          <p:nvPr/>
        </p:nvSpPr>
        <p:spPr>
          <a:xfrm>
            <a:off x="6330391" y="1417320"/>
            <a:ext cx="5276088" cy="1819656"/>
          </a:xfrm>
          <a:prstGeom prst="rect">
            <a:avLst/>
          </a:prstGeom>
          <a:noFill/>
        </p:spPr>
        <p:txBody>
          <a:bodyPr wrap="square" lIns="0" tIns="0" rIns="0" bIns="0">
            <a:spAutoFit/>
          </a:bodyPr>
          <a:lstStyle/>
          <a:p>
            <a:pPr>
              <a:lnSpc>
                <a:spcPct val="120000"/>
              </a:lnSpc>
              <a:spcAft>
                <a:spcPts val="600"/>
              </a:spcAft>
            </a:pPr>
            <a:r>
              <a:rPr sz="1150" b="1">
                <a:solidFill>
                  <a:srgbClr val="1E3A8A"/>
                </a:solidFill>
                <a:latin typeface="Microsoft YaHei"/>
              </a:rPr>
              <a:t>• 描述符协议：</a:t>
            </a:r>
            <a:r>
              <a:rPr sz="1150">
                <a:solidFill>
                  <a:srgbClr val="1E293B"/>
                </a:solidFill>
                <a:latin typeface="Microsoft YaHei"/>
              </a:rPr>
              <a:t>定义 64B POD 定长结构体 </a:t>
            </a:r>
            <a:r>
              <a:rPr sz="1150" b="1">
                <a:solidFill>
                  <a:srgbClr val="1E3A8A"/>
                </a:solidFill>
                <a:latin typeface="Consolas"/>
              </a:rPr>
              <a:t>BatchDescriptorHeader</a:t>
            </a:r>
            <a:r>
              <a:rPr sz="1150">
                <a:solidFill>
                  <a:srgbClr val="1E293B"/>
                </a:solidFill>
                <a:latin typeface="Microsoft YaHei"/>
              </a:rPr>
              <a:t>，通过共享内存（</a:t>
            </a:r>
            <a:r>
              <a:rPr sz="1150">
                <a:solidFill>
                  <a:srgbClr val="1E3A8A"/>
                </a:solidFill>
                <a:latin typeface="Consolas"/>
              </a:rPr>
              <a:t>/dev/shm</a:t>
            </a:r>
            <a:r>
              <a:rPr sz="1150">
                <a:solidFill>
                  <a:srgbClr val="1E293B"/>
                </a:solidFill>
                <a:latin typeface="Microsoft YaHei"/>
              </a:rPr>
              <a:t>）零拷贝跨进程传递。</a:t>
            </a:r>
          </a:p>
          <a:p>
            <a:pPr>
              <a:lnSpc>
                <a:spcPct val="120000"/>
              </a:lnSpc>
              <a:spcAft>
                <a:spcPts val="600"/>
              </a:spcAft>
            </a:pPr>
            <a:r>
              <a:rPr sz="1150" b="1">
                <a:solidFill>
                  <a:srgbClr val="1E3A8A"/>
                </a:solidFill>
                <a:latin typeface="Microsoft YaHei"/>
              </a:rPr>
              <a:t>• 异步流水引擎：</a:t>
            </a:r>
            <a:r>
              <a:rPr sz="1150">
                <a:solidFill>
                  <a:srgbClr val="1E293B"/>
                </a:solidFill>
                <a:latin typeface="Microsoft YaHei"/>
              </a:rPr>
              <a:t>CANN 双 Stream 架构（计算流与传输流），利用 </a:t>
            </a:r>
            <a:r>
              <a:rPr sz="1150">
                <a:solidFill>
                  <a:srgbClr val="1E3A8A"/>
                </a:solidFill>
                <a:latin typeface="Consolas"/>
              </a:rPr>
              <a:t>aclrtRecordEvent</a:t>
            </a:r>
            <a:r>
              <a:rPr sz="1150">
                <a:solidFill>
                  <a:srgbClr val="1E293B"/>
                </a:solidFill>
                <a:latin typeface="Microsoft YaHei"/>
              </a:rPr>
              <a:t> 与 </a:t>
            </a:r>
            <a:r>
              <a:rPr sz="1150">
                <a:solidFill>
                  <a:srgbClr val="1E3A8A"/>
                </a:solidFill>
                <a:latin typeface="Consolas"/>
              </a:rPr>
              <a:t>aclrtStreamWaitEvent</a:t>
            </a:r>
            <a:r>
              <a:rPr sz="1150">
                <a:solidFill>
                  <a:srgbClr val="1E293B"/>
                </a:solidFill>
                <a:latin typeface="Microsoft YaHei"/>
              </a:rPr>
              <a:t> 构建硬件无锁同步屏障。</a:t>
            </a:r>
          </a:p>
          <a:p>
            <a:pPr>
              <a:lnSpc>
                <a:spcPct val="120000"/>
              </a:lnSpc>
              <a:spcAft>
                <a:spcPts val="600"/>
              </a:spcAft>
            </a:pPr>
            <a:r>
              <a:rPr sz="1150" b="1">
                <a:solidFill>
                  <a:srgbClr val="1E3A8A"/>
                </a:solidFill>
                <a:latin typeface="Microsoft YaHei"/>
              </a:rPr>
              <a:t>• 编译链接参数：</a:t>
            </a:r>
            <a:r>
              <a:rPr sz="1150" b="1">
                <a:solidFill>
                  <a:srgbClr val="1E3A8A"/>
                </a:solidFill>
                <a:latin typeface="Consolas"/>
              </a:rPr>
              <a:t>-lascendcl -lubmem -lpthread -O3 -std=c++17</a:t>
            </a:r>
          </a:p>
        </p:txBody>
      </p:sp>
      <p:sp>
        <p:nvSpPr>
          <p:cNvPr id="12" name="Rectangle 11"/>
          <p:cNvSpPr/>
          <p:nvPr/>
        </p:nvSpPr>
        <p:spPr>
          <a:xfrm>
            <a:off x="457200" y="3383280"/>
            <a:ext cx="5532120" cy="2359152"/>
          </a:xfrm>
          <a:prstGeom prst="rect">
            <a:avLst/>
          </a:prstGeom>
          <a:solidFill>
            <a:srgbClr val="FFFF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57200" y="3383280"/>
            <a:ext cx="5532120" cy="310896"/>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66928" y="3419856"/>
            <a:ext cx="5312664" cy="237744"/>
          </a:xfrm>
          <a:prstGeom prst="rect">
            <a:avLst/>
          </a:prstGeom>
          <a:noFill/>
        </p:spPr>
        <p:txBody>
          <a:bodyPr wrap="none" lIns="0" tIns="0" rIns="0" bIns="0">
            <a:spAutoFit/>
          </a:bodyPr>
          <a:lstStyle/>
          <a:p>
            <a:pPr>
              <a:defRPr sz="1200" b="1">
                <a:solidFill>
                  <a:srgbClr val="FFFFFF"/>
                </a:solidFill>
                <a:latin typeface="Microsoft YaHei"/>
              </a:defRPr>
            </a:pPr>
            <a:r>
              <a:t>3. 测试数据集与 Benchmark 方案</a:t>
            </a:r>
            <a:r>
              <a:rPr sz="1000" b="1">
                <a:solidFill>
                  <a:srgbClr val="BFDBFE"/>
                </a:solidFill>
                <a:latin typeface="Microsoft YaHei"/>
              </a:rPr>
              <a:t>  [测试方法]</a:t>
            </a:r>
          </a:p>
        </p:txBody>
      </p:sp>
      <p:sp>
        <p:nvSpPr>
          <p:cNvPr id="15" name="TextBox 14"/>
          <p:cNvSpPr txBox="1"/>
          <p:nvPr/>
        </p:nvSpPr>
        <p:spPr>
          <a:xfrm>
            <a:off x="585216" y="3749040"/>
            <a:ext cx="5276088" cy="1938528"/>
          </a:xfrm>
          <a:prstGeom prst="rect">
            <a:avLst/>
          </a:prstGeom>
          <a:noFill/>
        </p:spPr>
        <p:txBody>
          <a:bodyPr wrap="square" lIns="0" tIns="0" rIns="0" bIns="0">
            <a:spAutoFit/>
          </a:bodyPr>
          <a:lstStyle/>
          <a:p>
            <a:pPr>
              <a:lnSpc>
                <a:spcPct val="120000"/>
              </a:lnSpc>
              <a:spcAft>
                <a:spcPts val="600"/>
              </a:spcAft>
            </a:pPr>
            <a:r>
              <a:rPr sz="1150" b="1">
                <a:solidFill>
                  <a:srgbClr val="1E3A8A"/>
                </a:solidFill>
                <a:latin typeface="Microsoft YaHei"/>
              </a:rPr>
              <a:t>• 描述符编译基准 (descriptor_compiler.cc)：</a:t>
            </a:r>
            <a:r>
              <a:rPr sz="1150">
                <a:solidFill>
                  <a:srgbClr val="1E293B"/>
                </a:solidFill>
                <a:latin typeface="Microsoft YaHei"/>
              </a:rPr>
              <a:t>模拟 10%~100% 显存碎片率，压测连续物理块的贪心合并算法与编译耗时。</a:t>
            </a:r>
          </a:p>
          <a:p>
            <a:pPr>
              <a:lnSpc>
                <a:spcPct val="120000"/>
              </a:lnSpc>
              <a:spcAft>
                <a:spcPts val="600"/>
              </a:spcAft>
            </a:pPr>
            <a:r>
              <a:rPr sz="1150" b="1">
                <a:solidFill>
                  <a:srgbClr val="1E3A8A"/>
                </a:solidFill>
                <a:latin typeface="Microsoft YaHei"/>
              </a:rPr>
              <a:t>• 跨节点流水重叠压测 (async_dag_bench.cc)：</a:t>
            </a:r>
            <a:r>
              <a:rPr sz="1150">
                <a:solidFill>
                  <a:srgbClr val="1E293B"/>
                </a:solidFill>
                <a:latin typeface="Microsoft YaHei"/>
              </a:rPr>
              <a:t>模拟 16~64 层大模型逐层边算边传流水，测量计算耗时、传输耗时与流水线总耗时。</a:t>
            </a:r>
          </a:p>
          <a:p>
            <a:pPr>
              <a:lnSpc>
                <a:spcPct val="120000"/>
              </a:lnSpc>
              <a:spcAft>
                <a:spcPts val="600"/>
              </a:spcAft>
            </a:pPr>
            <a:r>
              <a:rPr sz="1150" b="1">
                <a:solidFill>
                  <a:srgbClr val="1E3A8A"/>
                </a:solidFill>
                <a:latin typeface="Microsoft YaHei"/>
              </a:rPr>
              <a:t>• 对标 vLLM-Ascend 在线消融：</a:t>
            </a:r>
            <a:r>
              <a:rPr sz="1150">
                <a:solidFill>
                  <a:srgbClr val="1E293B"/>
                </a:solidFill>
                <a:latin typeface="Microsoft YaHei"/>
              </a:rPr>
              <a:t>替换 MooncakeLayerwiseConnector 底层实现，对比原生 Python 序列化与 C++ 描述符加速效果。</a:t>
            </a:r>
          </a:p>
        </p:txBody>
      </p:sp>
      <p:sp>
        <p:nvSpPr>
          <p:cNvPr id="16" name="Rectangle 15"/>
          <p:cNvSpPr/>
          <p:nvPr/>
        </p:nvSpPr>
        <p:spPr>
          <a:xfrm>
            <a:off x="6202375" y="3383280"/>
            <a:ext cx="5532120" cy="2359152"/>
          </a:xfrm>
          <a:prstGeom prst="rect">
            <a:avLst/>
          </a:prstGeom>
          <a:solidFill>
            <a:srgbClr val="FFFF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202375" y="3383280"/>
            <a:ext cx="5532120" cy="310896"/>
          </a:xfrm>
          <a:prstGeom prst="rect">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12103" y="3419856"/>
            <a:ext cx="5312664" cy="237744"/>
          </a:xfrm>
          <a:prstGeom prst="rect">
            <a:avLst/>
          </a:prstGeom>
          <a:noFill/>
        </p:spPr>
        <p:txBody>
          <a:bodyPr wrap="none" lIns="0" tIns="0" rIns="0" bIns="0">
            <a:spAutoFit/>
          </a:bodyPr>
          <a:lstStyle/>
          <a:p>
            <a:pPr>
              <a:defRPr sz="1200" b="1">
                <a:solidFill>
                  <a:srgbClr val="FFFFFF"/>
                </a:solidFill>
                <a:latin typeface="Microsoft YaHei"/>
              </a:defRPr>
            </a:pPr>
            <a:r>
              <a:t>4. 输出数据要求与判定标准</a:t>
            </a:r>
            <a:r>
              <a:rPr sz="1000" b="1">
                <a:solidFill>
                  <a:srgbClr val="BFDBFE"/>
                </a:solidFill>
                <a:latin typeface="Microsoft YaHei"/>
              </a:rPr>
              <a:t>  [达标要求]</a:t>
            </a:r>
          </a:p>
        </p:txBody>
      </p:sp>
      <p:sp>
        <p:nvSpPr>
          <p:cNvPr id="19" name="TextBox 18"/>
          <p:cNvSpPr txBox="1"/>
          <p:nvPr/>
        </p:nvSpPr>
        <p:spPr>
          <a:xfrm>
            <a:off x="6330391" y="3749040"/>
            <a:ext cx="5276088" cy="1938528"/>
          </a:xfrm>
          <a:prstGeom prst="rect">
            <a:avLst/>
          </a:prstGeom>
          <a:noFill/>
        </p:spPr>
        <p:txBody>
          <a:bodyPr wrap="square" lIns="0" tIns="0" rIns="0" bIns="0">
            <a:spAutoFit/>
          </a:bodyPr>
          <a:lstStyle/>
          <a:p>
            <a:pPr>
              <a:lnSpc>
                <a:spcPct val="120000"/>
              </a:lnSpc>
              <a:spcAft>
                <a:spcPts val="600"/>
              </a:spcAft>
            </a:pPr>
            <a:r>
              <a:rPr sz="1150" b="1">
                <a:solidFill>
                  <a:srgbClr val="1E3A8A"/>
                </a:solidFill>
                <a:latin typeface="Microsoft YaHei"/>
              </a:rPr>
              <a:t>• 关键交付物：</a:t>
            </a:r>
            <a:r>
              <a:rPr sz="1150">
                <a:solidFill>
                  <a:srgbClr val="1E293B"/>
                </a:solidFill>
                <a:latin typeface="Microsoft YaHei"/>
              </a:rPr>
              <a:t>《描述符编译性能与压缩比报告》、《Layerwise 异步流水重叠率曲线》、《CPU 提交开销消融对比表》。</a:t>
            </a:r>
          </a:p>
          <a:p>
            <a:pPr>
              <a:lnSpc>
                <a:spcPct val="120000"/>
              </a:lnSpc>
              <a:spcAft>
                <a:spcPts val="600"/>
              </a:spcAft>
            </a:pPr>
            <a:r>
              <a:rPr sz="1150" b="1">
                <a:solidFill>
                  <a:srgbClr val="1E3A8A"/>
                </a:solidFill>
                <a:latin typeface="Microsoft YaHei"/>
              </a:rPr>
              <a:t>• 判定达标要求 (Go/No-Go)：</a:t>
            </a:r>
            <a:r>
              <a:rPr sz="1150" b="1">
                <a:solidFill>
                  <a:srgbClr val="1E293B"/>
                </a:solidFill>
                <a:latin typeface="Microsoft YaHei"/>
              </a:rPr>
              <a:t>1. 描述符压缩率与时延：</a:t>
            </a:r>
            <a:r>
              <a:rPr sz="1150" b="1">
                <a:solidFill>
                  <a:srgbClr val="DC2626"/>
                </a:solidFill>
                <a:latin typeface="Microsoft YaHei"/>
              </a:rPr>
              <a:t>描述符连续块合并压缩率 ≥ 50%，单次编译耗时 &lt; 5µs</a:t>
            </a:r>
            <a:r>
              <a:rPr sz="1150">
                <a:solidFill>
                  <a:srgbClr val="1E293B"/>
                </a:solidFill>
                <a:latin typeface="Microsoft YaHei"/>
              </a:rPr>
              <a:t>；
</a:t>
            </a:r>
            <a:r>
              <a:rPr sz="1150" b="1">
                <a:solidFill>
                  <a:srgbClr val="1E293B"/>
                </a:solidFill>
                <a:latin typeface="Microsoft YaHei"/>
              </a:rPr>
              <a:t>2. 流水重叠率：</a:t>
            </a:r>
            <a:r>
              <a:rPr sz="1150" b="1">
                <a:solidFill>
                  <a:srgbClr val="059669"/>
                </a:solidFill>
                <a:latin typeface="Microsoft YaHei"/>
              </a:rPr>
              <a:t>异步 DAG 流水计算-传输重叠率 ≥ 60%</a:t>
            </a:r>
            <a:r>
              <a:rPr sz="1150">
                <a:solidFill>
                  <a:srgbClr val="1E293B"/>
                </a:solidFill>
                <a:latin typeface="Microsoft YaHei"/>
              </a:rPr>
              <a:t>（传输时间被计算掩盖 ≥ 60%）；
</a:t>
            </a:r>
            <a:r>
              <a:rPr sz="1150" b="1">
                <a:solidFill>
                  <a:srgbClr val="1E293B"/>
                </a:solidFill>
                <a:latin typeface="Microsoft YaHei"/>
              </a:rPr>
              <a:t>3. 控制面加速：</a:t>
            </a:r>
            <a:r>
              <a:rPr sz="1150" b="1">
                <a:solidFill>
                  <a:srgbClr val="2563EB"/>
                </a:solidFill>
                <a:latin typeface="Microsoft YaHei"/>
              </a:rPr>
              <a:t>CPU 描述符提交开销相比原生 Python-ZMQ 降低 ≥ 40%</a:t>
            </a:r>
            <a:r>
              <a:rPr sz="1150">
                <a:solidFill>
                  <a:srgbClr val="1E293B"/>
                </a:solidFill>
                <a:latin typeface="Microsoft YaHei"/>
              </a:rPr>
              <a:t>。</a:t>
            </a:r>
          </a:p>
        </p:txBody>
      </p:sp>
      <p:sp>
        <p:nvSpPr>
          <p:cNvPr id="20" name="Rectangle 19"/>
          <p:cNvSpPr/>
          <p:nvPr/>
        </p:nvSpPr>
        <p:spPr>
          <a:xfrm>
            <a:off x="457200" y="5833872"/>
            <a:ext cx="11277295" cy="694944"/>
          </a:xfrm>
          <a:prstGeom prst="rect">
            <a:avLst/>
          </a:prstGeom>
          <a:solidFill>
            <a:srgbClr val="FFFFFF"/>
          </a:solidFill>
          <a:ln w="1524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57200" y="5833872"/>
            <a:ext cx="73152" cy="694944"/>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21792" y="5907024"/>
            <a:ext cx="11002975" cy="566928"/>
          </a:xfrm>
          <a:prstGeom prst="rect">
            <a:avLst/>
          </a:prstGeom>
          <a:noFill/>
        </p:spPr>
        <p:txBody>
          <a:bodyPr wrap="square" lIns="0" tIns="0" rIns="0" bIns="0">
            <a:spAutoFit/>
          </a:bodyPr>
          <a:lstStyle/>
          <a:p>
            <a:pPr>
              <a:lnSpc>
                <a:spcPct val="122000"/>
              </a:lnSpc>
            </a:pPr>
            <a:r>
              <a:rPr sz="1200" b="1">
                <a:solidFill>
                  <a:srgbClr val="2563EB"/>
                </a:solidFill>
                <a:latin typeface="Microsoft YaHei"/>
              </a:rPr>
              <a:t>【方案核心结论】 </a:t>
            </a:r>
            <a:r>
              <a:rPr sz="1200" b="1">
                <a:solidFill>
                  <a:srgbClr val="0F172A"/>
                </a:solidFill>
                <a:latin typeface="Microsoft YaHei"/>
              </a:rPr>
              <a:t>PVT-02 描述符编译与异步流水：</a:t>
            </a:r>
            <a:r>
              <a:rPr sz="1150" b="1">
                <a:solidFill>
                  <a:srgbClr val="0F172A"/>
                </a:solidFill>
                <a:latin typeface="Microsoft YaHei"/>
              </a:rPr>
              <a:t>描述符合并压缩率达到 </a:t>
            </a:r>
            <a:r>
              <a:rPr sz="1150" b="1">
                <a:solidFill>
                  <a:srgbClr val="DC2626"/>
                </a:solidFill>
                <a:latin typeface="Microsoft YaHei"/>
              </a:rPr>
              <a:t>≥50%</a:t>
            </a:r>
            <a:r>
              <a:rPr sz="1150" b="1">
                <a:solidFill>
                  <a:srgbClr val="0F172A"/>
                </a:solidFill>
                <a:latin typeface="Microsoft YaHei"/>
              </a:rPr>
              <a:t>，计算传输异步流水重叠率达到 </a:t>
            </a:r>
            <a:r>
              <a:rPr sz="1150" b="1">
                <a:solidFill>
                  <a:srgbClr val="DC2626"/>
                </a:solidFill>
                <a:latin typeface="Microsoft YaHei"/>
              </a:rPr>
              <a:t>≥60%</a:t>
            </a:r>
            <a:r>
              <a:rPr sz="1150" b="1">
                <a:solidFill>
                  <a:srgbClr val="0F172A"/>
                </a:solidFill>
                <a:latin typeface="Microsoft YaHei"/>
              </a:rPr>
              <a:t>，CPU 提交开销大幅降低 ≥40%，突破开源控制面瓶颈。</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0040"/>
            <a:ext cx="9875520" cy="640080"/>
          </a:xfrm>
          <a:prstGeom prst="rect">
            <a:avLst/>
          </a:prstGeom>
          <a:noFill/>
        </p:spPr>
        <p:txBody>
          <a:bodyPr wrap="square" lIns="0" tIns="0" rIns="0" bIns="0">
            <a:spAutoFit/>
          </a:bodyPr>
          <a:lstStyle/>
          <a:p>
            <a:pPr>
              <a:defRPr sz="1900" b="1">
                <a:solidFill>
                  <a:srgbClr val="1E3A8A"/>
                </a:solidFill>
                <a:latin typeface="Microsoft YaHei"/>
              </a:defRPr>
            </a:pPr>
            <a:r>
              <a:t>PVT-03：远端直读 vs 显存拷贝适用边界与 ViewGuard 容错验证</a:t>
            </a:r>
          </a:p>
          <a:p>
            <a:pPr>
              <a:spcBef>
                <a:spcPts val="300"/>
              </a:spcBef>
              <a:defRPr sz="1100">
                <a:solidFill>
                  <a:srgbClr val="475569"/>
                </a:solidFill>
                <a:latin typeface="Microsoft YaHei"/>
              </a:defRPr>
            </a:pPr>
            <a:r>
              <a:t>测定 Direct-View 与 Copy-to-HBM 的交叉临界点，实测证伪 Decode 活跃 KV 直读，验证 ViewGuard 租约安全守卫</a:t>
            </a:r>
          </a:p>
        </p:txBody>
      </p:sp>
      <p:sp>
        <p:nvSpPr>
          <p:cNvPr id="3" name="TextBox 2"/>
          <p:cNvSpPr txBox="1"/>
          <p:nvPr/>
        </p:nvSpPr>
        <p:spPr>
          <a:xfrm>
            <a:off x="10424160" y="320040"/>
            <a:ext cx="1310335" cy="320040"/>
          </a:xfrm>
          <a:prstGeom prst="rect">
            <a:avLst/>
          </a:prstGeom>
          <a:noFill/>
        </p:spPr>
        <p:txBody>
          <a:bodyPr wrap="none" lIns="0" tIns="0" rIns="0" bIns="0">
            <a:spAutoFit/>
          </a:bodyPr>
          <a:lstStyle/>
          <a:p>
            <a:pPr algn="r">
              <a:defRPr sz="1150" b="1">
                <a:solidFill>
                  <a:srgbClr val="2563EB"/>
                </a:solidFill>
                <a:latin typeface="Microsoft YaHei"/>
              </a:defRPr>
            </a:pPr>
            <a:r>
              <a:t>第 06 / 15 页</a:t>
            </a:r>
          </a:p>
        </p:txBody>
      </p:sp>
      <p:sp>
        <p:nvSpPr>
          <p:cNvPr id="4" name="Rectangle 3"/>
          <p:cNvSpPr/>
          <p:nvPr/>
        </p:nvSpPr>
        <p:spPr>
          <a:xfrm>
            <a:off x="457200" y="1051560"/>
            <a:ext cx="5532120" cy="2240280"/>
          </a:xfrm>
          <a:prstGeom prst="rect">
            <a:avLst/>
          </a:prstGeom>
          <a:solidFill>
            <a:srgbClr val="FFFF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57200" y="1051560"/>
            <a:ext cx="5532120" cy="310896"/>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088136"/>
            <a:ext cx="5312664" cy="237744"/>
          </a:xfrm>
          <a:prstGeom prst="rect">
            <a:avLst/>
          </a:prstGeom>
          <a:noFill/>
        </p:spPr>
        <p:txBody>
          <a:bodyPr wrap="none" lIns="0" tIns="0" rIns="0" bIns="0">
            <a:spAutoFit/>
          </a:bodyPr>
          <a:lstStyle/>
          <a:p>
            <a:pPr>
              <a:defRPr sz="1200" b="1">
                <a:solidFill>
                  <a:srgbClr val="FFFFFF"/>
                </a:solidFill>
                <a:latin typeface="Microsoft YaHei"/>
              </a:defRPr>
            </a:pPr>
            <a:r>
              <a:t>1. 验证背景、必要性与目标定位</a:t>
            </a:r>
            <a:r>
              <a:rPr sz="1000" b="1">
                <a:solidFill>
                  <a:srgbClr val="BFDBFE"/>
                </a:solidFill>
                <a:latin typeface="Microsoft YaHei"/>
              </a:rPr>
              <a:t>  [P1 级 | 阶段 E1/E2 决策边界]</a:t>
            </a:r>
          </a:p>
        </p:txBody>
      </p:sp>
      <p:sp>
        <p:nvSpPr>
          <p:cNvPr id="7" name="TextBox 6"/>
          <p:cNvSpPr txBox="1"/>
          <p:nvPr/>
        </p:nvSpPr>
        <p:spPr>
          <a:xfrm>
            <a:off x="585216" y="1417320"/>
            <a:ext cx="5276088" cy="1819656"/>
          </a:xfrm>
          <a:prstGeom prst="rect">
            <a:avLst/>
          </a:prstGeom>
          <a:noFill/>
        </p:spPr>
        <p:txBody>
          <a:bodyPr wrap="square" lIns="0" tIns="0" rIns="0" bIns="0">
            <a:spAutoFit/>
          </a:bodyPr>
          <a:lstStyle/>
          <a:p>
            <a:pPr>
              <a:lnSpc>
                <a:spcPct val="120000"/>
              </a:lnSpc>
              <a:spcAft>
                <a:spcPts val="600"/>
              </a:spcAft>
            </a:pPr>
            <a:r>
              <a:rPr sz="1150" b="1">
                <a:solidFill>
                  <a:srgbClr val="1E3A8A"/>
                </a:solidFill>
                <a:latin typeface="Microsoft YaHei"/>
              </a:rPr>
              <a:t>• 验证背景：</a:t>
            </a:r>
            <a:r>
              <a:rPr sz="1150">
                <a:solidFill>
                  <a:srgbClr val="1E293B"/>
                </a:solidFill>
                <a:latin typeface="Microsoft YaHei"/>
              </a:rPr>
              <a:t>业界对于是否应跨节点直接读取远端显存存在争议。必须实测探明远端直读与本地显存拷贝的性能交叉临界点，防止错误选路恶化单字生成耗时（TPOT）。</a:t>
            </a:r>
          </a:p>
          <a:p>
            <a:pPr>
              <a:lnSpc>
                <a:spcPct val="120000"/>
              </a:lnSpc>
              <a:spcAft>
                <a:spcPts val="600"/>
              </a:spcAft>
            </a:pPr>
            <a:r>
              <a:rPr sz="1150" b="1">
                <a:solidFill>
                  <a:srgbClr val="1E3A8A"/>
                </a:solidFill>
                <a:latin typeface="Microsoft YaHei"/>
              </a:rPr>
              <a:t>• 验证目的：</a:t>
            </a:r>
            <a:r>
              <a:rPr sz="1150">
                <a:solidFill>
                  <a:srgbClr val="1E293B"/>
                </a:solidFill>
                <a:latin typeface="Microsoft YaHei"/>
              </a:rPr>
              <a:t>实测不同重读次数下两种路径的耗时曲线；实测证伪 Decode 阶段活跃 KV 直读的可行性；验证 </a:t>
            </a:r>
            <a:r>
              <a:rPr sz="1150" b="1">
                <a:solidFill>
                  <a:srgbClr val="DC2626"/>
                </a:solidFill>
                <a:latin typeface="Microsoft YaHei"/>
              </a:rPr>
              <a:t>ViewGuard 视图租约安全守卫机制（捕获 SIGBUS 异常并安全回滚至本地重算）</a:t>
            </a:r>
            <a:r>
              <a:rPr sz="1150">
                <a:solidFill>
                  <a:srgbClr val="1E293B"/>
                </a:solidFill>
                <a:latin typeface="Microsoft YaHei"/>
              </a:rPr>
              <a:t>。</a:t>
            </a:r>
          </a:p>
          <a:p>
            <a:pPr>
              <a:lnSpc>
                <a:spcPct val="120000"/>
              </a:lnSpc>
              <a:spcAft>
                <a:spcPts val="600"/>
              </a:spcAft>
            </a:pPr>
            <a:r>
              <a:rPr sz="1150" b="1">
                <a:solidFill>
                  <a:srgbClr val="1E3A8A"/>
                </a:solidFill>
                <a:latin typeface="Microsoft YaHei"/>
              </a:rPr>
              <a:t>• 对整体项目的支撑：</a:t>
            </a:r>
            <a:r>
              <a:rPr sz="1150">
                <a:solidFill>
                  <a:srgbClr val="1E293B"/>
                </a:solidFill>
                <a:latin typeface="Microsoft YaHei"/>
              </a:rPr>
              <a:t>确立清晰的访问模式决策边界，保障远端直读在发生节点宕机或租约超时等故障时 100% 安全回滚不崩溃。</a:t>
            </a:r>
          </a:p>
        </p:txBody>
      </p:sp>
      <p:sp>
        <p:nvSpPr>
          <p:cNvPr id="8" name="Rectangle 7"/>
          <p:cNvSpPr/>
          <p:nvPr/>
        </p:nvSpPr>
        <p:spPr>
          <a:xfrm>
            <a:off x="6202375" y="1051560"/>
            <a:ext cx="5532120" cy="2240280"/>
          </a:xfrm>
          <a:prstGeom prst="rect">
            <a:avLst/>
          </a:prstGeom>
          <a:solidFill>
            <a:srgbClr val="FFFF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202375" y="1051560"/>
            <a:ext cx="5532120" cy="310896"/>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12103" y="1088136"/>
            <a:ext cx="5312664" cy="237744"/>
          </a:xfrm>
          <a:prstGeom prst="rect">
            <a:avLst/>
          </a:prstGeom>
          <a:noFill/>
        </p:spPr>
        <p:txBody>
          <a:bodyPr wrap="none" lIns="0" tIns="0" rIns="0" bIns="0">
            <a:spAutoFit/>
          </a:bodyPr>
          <a:lstStyle/>
          <a:p>
            <a:pPr>
              <a:defRPr sz="1200" b="1">
                <a:solidFill>
                  <a:srgbClr val="FFFFFF"/>
                </a:solidFill>
                <a:latin typeface="Microsoft YaHei"/>
              </a:defRPr>
            </a:pPr>
            <a:r>
              <a:t>2. 所需软硬件环境与技术规范</a:t>
            </a:r>
            <a:r>
              <a:rPr sz="1000" b="1">
                <a:solidFill>
                  <a:srgbClr val="BFDBFE"/>
                </a:solidFill>
                <a:latin typeface="Microsoft YaHei"/>
              </a:rPr>
              <a:t>  [环境与依赖]</a:t>
            </a:r>
          </a:p>
        </p:txBody>
      </p:sp>
      <p:sp>
        <p:nvSpPr>
          <p:cNvPr id="11" name="TextBox 10"/>
          <p:cNvSpPr txBox="1"/>
          <p:nvPr/>
        </p:nvSpPr>
        <p:spPr>
          <a:xfrm>
            <a:off x="6330391" y="1417320"/>
            <a:ext cx="5276088" cy="1819656"/>
          </a:xfrm>
          <a:prstGeom prst="rect">
            <a:avLst/>
          </a:prstGeom>
          <a:noFill/>
        </p:spPr>
        <p:txBody>
          <a:bodyPr wrap="square" lIns="0" tIns="0" rIns="0" bIns="0">
            <a:spAutoFit/>
          </a:bodyPr>
          <a:lstStyle/>
          <a:p>
            <a:pPr>
              <a:lnSpc>
                <a:spcPct val="120000"/>
              </a:lnSpc>
              <a:spcAft>
                <a:spcPts val="600"/>
              </a:spcAft>
            </a:pPr>
            <a:r>
              <a:rPr sz="1150" b="1">
                <a:solidFill>
                  <a:srgbClr val="1E3A8A"/>
                </a:solidFill>
                <a:latin typeface="Microsoft YaHei"/>
              </a:rPr>
              <a:t>• 硬件与驱动：</a:t>
            </a:r>
            <a:r>
              <a:rPr sz="1150">
                <a:solidFill>
                  <a:srgbClr val="1E293B"/>
                </a:solidFill>
                <a:latin typeface="Microsoft YaHei"/>
              </a:rPr>
              <a:t>UBMEM 共享内存驱动库、CANN 8.0 运行时环境、Linux 6.6+ 信号处理子系统。</a:t>
            </a:r>
          </a:p>
          <a:p>
            <a:pPr>
              <a:lnSpc>
                <a:spcPct val="120000"/>
              </a:lnSpc>
              <a:spcAft>
                <a:spcPts val="600"/>
              </a:spcAft>
            </a:pPr>
            <a:r>
              <a:rPr sz="1150" b="1">
                <a:solidFill>
                  <a:srgbClr val="1E3A8A"/>
                </a:solidFill>
                <a:latin typeface="Microsoft YaHei"/>
              </a:rPr>
              <a:t>• 核心头文件：</a:t>
            </a:r>
            <a:r>
              <a:rPr sz="1150">
                <a:solidFill>
                  <a:srgbClr val="1E293B"/>
                </a:solidFill>
                <a:latin typeface="Microsoft YaHei"/>
              </a:rPr>
              <a:t>引入 </a:t>
            </a:r>
            <a:r>
              <a:rPr sz="1150" b="1">
                <a:solidFill>
                  <a:srgbClr val="1E3A8A"/>
                </a:solidFill>
                <a:latin typeface="Consolas"/>
              </a:rPr>
              <a:t>view_guard.h</a:t>
            </a:r>
            <a:r>
              <a:rPr sz="1150">
                <a:solidFill>
                  <a:srgbClr val="1E293B"/>
                </a:solidFill>
                <a:latin typeface="Microsoft YaHei"/>
              </a:rPr>
              <a:t>，通过 </a:t>
            </a:r>
            <a:r>
              <a:rPr sz="1150">
                <a:solidFill>
                  <a:srgbClr val="1E3A8A"/>
                </a:solidFill>
                <a:latin typeface="Consolas"/>
              </a:rPr>
              <a:t>sigaction(SIGBUS)</a:t>
            </a:r>
            <a:r>
              <a:rPr sz="1150">
                <a:solidFill>
                  <a:srgbClr val="1E293B"/>
                </a:solidFill>
                <a:latin typeface="Microsoft YaHei"/>
              </a:rPr>
              <a:t> 捕获跨节点总线访问异常，利用 </a:t>
            </a:r>
            <a:r>
              <a:rPr sz="1150">
                <a:solidFill>
                  <a:srgbClr val="1E3A8A"/>
                </a:solidFill>
                <a:latin typeface="Consolas"/>
              </a:rPr>
              <a:t>sigsetjmp/siglongjmp</a:t>
            </a:r>
            <a:r>
              <a:rPr sz="1150">
                <a:solidFill>
                  <a:srgbClr val="1E293B"/>
                </a:solidFill>
                <a:latin typeface="Microsoft YaHei"/>
              </a:rPr>
              <a:t> 实现执行栈安全回滚。</a:t>
            </a:r>
          </a:p>
        </p:txBody>
      </p:sp>
      <p:sp>
        <p:nvSpPr>
          <p:cNvPr id="12" name="Rectangle 11"/>
          <p:cNvSpPr/>
          <p:nvPr/>
        </p:nvSpPr>
        <p:spPr>
          <a:xfrm>
            <a:off x="457200" y="3383280"/>
            <a:ext cx="5532120" cy="2359152"/>
          </a:xfrm>
          <a:prstGeom prst="rect">
            <a:avLst/>
          </a:prstGeom>
          <a:solidFill>
            <a:srgbClr val="FFFF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57200" y="3383280"/>
            <a:ext cx="5532120" cy="310896"/>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66928" y="3419856"/>
            <a:ext cx="5312664" cy="237744"/>
          </a:xfrm>
          <a:prstGeom prst="rect">
            <a:avLst/>
          </a:prstGeom>
          <a:noFill/>
        </p:spPr>
        <p:txBody>
          <a:bodyPr wrap="none" lIns="0" tIns="0" rIns="0" bIns="0">
            <a:spAutoFit/>
          </a:bodyPr>
          <a:lstStyle/>
          <a:p>
            <a:pPr>
              <a:defRPr sz="1200" b="1">
                <a:solidFill>
                  <a:srgbClr val="FFFFFF"/>
                </a:solidFill>
                <a:latin typeface="Microsoft YaHei"/>
              </a:defRPr>
            </a:pPr>
            <a:r>
              <a:t>3. 测试数据集与 Benchmark 方案</a:t>
            </a:r>
            <a:r>
              <a:rPr sz="1000" b="1">
                <a:solidFill>
                  <a:srgbClr val="BFDBFE"/>
                </a:solidFill>
                <a:latin typeface="Microsoft YaHei"/>
              </a:rPr>
              <a:t>  [测试方法]</a:t>
            </a:r>
          </a:p>
        </p:txBody>
      </p:sp>
      <p:sp>
        <p:nvSpPr>
          <p:cNvPr id="15" name="TextBox 14"/>
          <p:cNvSpPr txBox="1"/>
          <p:nvPr/>
        </p:nvSpPr>
        <p:spPr>
          <a:xfrm>
            <a:off x="585216" y="3749040"/>
            <a:ext cx="5276088" cy="1938528"/>
          </a:xfrm>
          <a:prstGeom prst="rect">
            <a:avLst/>
          </a:prstGeom>
          <a:noFill/>
        </p:spPr>
        <p:txBody>
          <a:bodyPr wrap="square" lIns="0" tIns="0" rIns="0" bIns="0">
            <a:spAutoFit/>
          </a:bodyPr>
          <a:lstStyle/>
          <a:p>
            <a:pPr>
              <a:lnSpc>
                <a:spcPct val="120000"/>
              </a:lnSpc>
              <a:spcAft>
                <a:spcPts val="600"/>
              </a:spcAft>
            </a:pPr>
            <a:r>
              <a:rPr sz="1150" b="1">
                <a:solidFill>
                  <a:srgbClr val="1E3A8A"/>
                </a:solidFill>
                <a:latin typeface="Microsoft YaHei"/>
              </a:rPr>
              <a:t>• 交叉曲线测定 (view_vs_copy_bench.cc)：</a:t>
            </a:r>
            <a:r>
              <a:rPr sz="1150">
                <a:solidFill>
                  <a:srgbClr val="1E293B"/>
                </a:solidFill>
                <a:latin typeface="Microsoft YaHei"/>
              </a:rPr>
              <a:t>测试不同数据块大小（16KB~4MB）在 1~10 次重复读取下的累计耗时，绘制 Crossover 临界曲线。</a:t>
            </a:r>
          </a:p>
          <a:p>
            <a:pPr>
              <a:lnSpc>
                <a:spcPct val="120000"/>
              </a:lnSpc>
              <a:spcAft>
                <a:spcPts val="600"/>
              </a:spcAft>
            </a:pPr>
            <a:r>
              <a:rPr sz="1150" b="1">
                <a:solidFill>
                  <a:srgbClr val="1E3A8A"/>
                </a:solidFill>
                <a:latin typeface="Microsoft YaHei"/>
              </a:rPr>
              <a:t>• Decode 直读证伪实验 (benchmark_serving_view.py)：</a:t>
            </a:r>
            <a:r>
              <a:rPr sz="1150">
                <a:solidFill>
                  <a:srgbClr val="1E293B"/>
                </a:solidFill>
                <a:latin typeface="Microsoft YaHei"/>
              </a:rPr>
              <a:t>在推理服务 Decode 阶段强制注入远端直读，对比本地显存读取的 TPOT 尾部延迟恶化程度。</a:t>
            </a:r>
          </a:p>
          <a:p>
            <a:pPr>
              <a:lnSpc>
                <a:spcPct val="120000"/>
              </a:lnSpc>
              <a:spcAft>
                <a:spcPts val="600"/>
              </a:spcAft>
            </a:pPr>
            <a:r>
              <a:rPr sz="1150" b="1">
                <a:solidFill>
                  <a:srgbClr val="1E3A8A"/>
                </a:solidFill>
                <a:latin typeface="Microsoft YaHei"/>
              </a:rPr>
              <a:t>• 故障注入与安全回滚：</a:t>
            </a:r>
            <a:r>
              <a:rPr sz="1150">
                <a:solidFill>
                  <a:srgbClr val="1E293B"/>
                </a:solidFill>
                <a:latin typeface="Microsoft YaHei"/>
              </a:rPr>
              <a:t>在远端直读过程中人为杀掉目标节点进程或制造租约超时，验证 ViewGuard 异常捕获与回滚。</a:t>
            </a:r>
          </a:p>
        </p:txBody>
      </p:sp>
      <p:sp>
        <p:nvSpPr>
          <p:cNvPr id="16" name="Rectangle 15"/>
          <p:cNvSpPr/>
          <p:nvPr/>
        </p:nvSpPr>
        <p:spPr>
          <a:xfrm>
            <a:off x="6202375" y="3383280"/>
            <a:ext cx="5532120" cy="2359152"/>
          </a:xfrm>
          <a:prstGeom prst="rect">
            <a:avLst/>
          </a:prstGeom>
          <a:solidFill>
            <a:srgbClr val="FFFF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202375" y="3383280"/>
            <a:ext cx="5532120" cy="310896"/>
          </a:xfrm>
          <a:prstGeom prst="rect">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12103" y="3419856"/>
            <a:ext cx="5312664" cy="237744"/>
          </a:xfrm>
          <a:prstGeom prst="rect">
            <a:avLst/>
          </a:prstGeom>
          <a:noFill/>
        </p:spPr>
        <p:txBody>
          <a:bodyPr wrap="none" lIns="0" tIns="0" rIns="0" bIns="0">
            <a:spAutoFit/>
          </a:bodyPr>
          <a:lstStyle/>
          <a:p>
            <a:pPr>
              <a:defRPr sz="1200" b="1">
                <a:solidFill>
                  <a:srgbClr val="FFFFFF"/>
                </a:solidFill>
                <a:latin typeface="Microsoft YaHei"/>
              </a:defRPr>
            </a:pPr>
            <a:r>
              <a:t>4. 输出数据要求与判定标准</a:t>
            </a:r>
            <a:r>
              <a:rPr sz="1000" b="1">
                <a:solidFill>
                  <a:srgbClr val="BFDBFE"/>
                </a:solidFill>
                <a:latin typeface="Microsoft YaHei"/>
              </a:rPr>
              <a:t>  [达标要求]</a:t>
            </a:r>
          </a:p>
        </p:txBody>
      </p:sp>
      <p:sp>
        <p:nvSpPr>
          <p:cNvPr id="19" name="TextBox 18"/>
          <p:cNvSpPr txBox="1"/>
          <p:nvPr/>
        </p:nvSpPr>
        <p:spPr>
          <a:xfrm>
            <a:off x="6330391" y="3749040"/>
            <a:ext cx="5276088" cy="1938528"/>
          </a:xfrm>
          <a:prstGeom prst="rect">
            <a:avLst/>
          </a:prstGeom>
          <a:noFill/>
        </p:spPr>
        <p:txBody>
          <a:bodyPr wrap="square" lIns="0" tIns="0" rIns="0" bIns="0">
            <a:spAutoFit/>
          </a:bodyPr>
          <a:lstStyle/>
          <a:p>
            <a:pPr>
              <a:lnSpc>
                <a:spcPct val="120000"/>
              </a:lnSpc>
              <a:spcAft>
                <a:spcPts val="600"/>
              </a:spcAft>
            </a:pPr>
            <a:r>
              <a:rPr sz="1150" b="1">
                <a:solidFill>
                  <a:srgbClr val="1E3A8A"/>
                </a:solidFill>
                <a:latin typeface="Microsoft YaHei"/>
              </a:rPr>
              <a:t>• 关键交付物：</a:t>
            </a:r>
            <a:r>
              <a:rPr sz="1150">
                <a:solidFill>
                  <a:srgbClr val="1E293B"/>
                </a:solidFill>
                <a:latin typeface="Microsoft YaHei"/>
              </a:rPr>
              <a:t>《Direct-View 与 Copy-to-HBM 性能交叉曲线》、《Decode 活跃直读证伪报告》、《ViewGuard 容错日志》。</a:t>
            </a:r>
          </a:p>
          <a:p>
            <a:pPr>
              <a:lnSpc>
                <a:spcPct val="120000"/>
              </a:lnSpc>
              <a:spcAft>
                <a:spcPts val="600"/>
              </a:spcAft>
            </a:pPr>
            <a:r>
              <a:rPr sz="1150" b="1">
                <a:solidFill>
                  <a:srgbClr val="1E3A8A"/>
                </a:solidFill>
                <a:latin typeface="Microsoft YaHei"/>
              </a:rPr>
              <a:t>• 判定达标要求 (Go/No-Go)：</a:t>
            </a:r>
            <a:r>
              <a:rPr sz="1150" b="1">
                <a:solidFill>
                  <a:srgbClr val="1E293B"/>
                </a:solidFill>
                <a:latin typeface="Microsoft YaHei"/>
              </a:rPr>
              <a:t>1. 决策边界明确：</a:t>
            </a:r>
            <a:r>
              <a:rPr sz="1150">
                <a:solidFill>
                  <a:srgbClr val="1E293B"/>
                </a:solidFill>
                <a:latin typeface="Microsoft YaHei"/>
              </a:rPr>
              <a:t>确立重读次数 &gt; 2 时必须走 Copy-to-HBM 路径；证实 Decode 活跃 KV 直读导致 TPOT 恶化（证伪成立）；
</a:t>
            </a:r>
            <a:r>
              <a:rPr sz="1150" b="1">
                <a:solidFill>
                  <a:srgbClr val="1E293B"/>
                </a:solidFill>
                <a:latin typeface="Microsoft YaHei"/>
              </a:rPr>
              <a:t>2. 异常安全回滚：</a:t>
            </a:r>
            <a:r>
              <a:rPr sz="1150" b="1">
                <a:solidFill>
                  <a:srgbClr val="059669"/>
                </a:solidFill>
                <a:latin typeface="Microsoft YaHei"/>
              </a:rPr>
              <a:t>远端异常时 ViewGuard 实现 100% 捕获 SIGBUS 并安全回滚至本地重算</a:t>
            </a:r>
            <a:r>
              <a:rPr sz="1150">
                <a:solidFill>
                  <a:srgbClr val="1E293B"/>
                </a:solidFill>
                <a:latin typeface="Microsoft YaHei"/>
              </a:rPr>
              <a:t>（服务 0 崩溃）。</a:t>
            </a:r>
          </a:p>
        </p:txBody>
      </p:sp>
      <p:sp>
        <p:nvSpPr>
          <p:cNvPr id="20" name="Rectangle 19"/>
          <p:cNvSpPr/>
          <p:nvPr/>
        </p:nvSpPr>
        <p:spPr>
          <a:xfrm>
            <a:off x="457200" y="5833872"/>
            <a:ext cx="11277295" cy="694944"/>
          </a:xfrm>
          <a:prstGeom prst="rect">
            <a:avLst/>
          </a:prstGeom>
          <a:solidFill>
            <a:srgbClr val="FFFFFF"/>
          </a:solidFill>
          <a:ln w="1524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57200" y="5833872"/>
            <a:ext cx="73152" cy="694944"/>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21792" y="5907024"/>
            <a:ext cx="11002975" cy="566928"/>
          </a:xfrm>
          <a:prstGeom prst="rect">
            <a:avLst/>
          </a:prstGeom>
          <a:noFill/>
        </p:spPr>
        <p:txBody>
          <a:bodyPr wrap="square" lIns="0" tIns="0" rIns="0" bIns="0">
            <a:spAutoFit/>
          </a:bodyPr>
          <a:lstStyle/>
          <a:p>
            <a:pPr>
              <a:lnSpc>
                <a:spcPct val="122000"/>
              </a:lnSpc>
            </a:pPr>
            <a:r>
              <a:rPr sz="1200" b="1">
                <a:solidFill>
                  <a:srgbClr val="2563EB"/>
                </a:solidFill>
                <a:latin typeface="Microsoft YaHei"/>
              </a:rPr>
              <a:t>【方案核心结论】 </a:t>
            </a:r>
            <a:r>
              <a:rPr sz="1200" b="1">
                <a:solidFill>
                  <a:srgbClr val="0F172A"/>
                </a:solidFill>
                <a:latin typeface="Microsoft YaHei"/>
              </a:rPr>
              <a:t>PVT-03 访问边界与安全容错：</a:t>
            </a:r>
            <a:r>
              <a:rPr sz="1150" b="1">
                <a:solidFill>
                  <a:srgbClr val="0F172A"/>
                </a:solidFill>
                <a:latin typeface="Microsoft YaHei"/>
              </a:rPr>
              <a:t>明确判定重读次数 &gt; 2 时必须执行显存拷贝，实测证伪 Decode 直读，</a:t>
            </a:r>
            <a:r>
              <a:rPr sz="1150" b="1">
                <a:solidFill>
                  <a:srgbClr val="DC2626"/>
                </a:solidFill>
                <a:latin typeface="Microsoft YaHei"/>
              </a:rPr>
              <a:t>ViewGuard 实现 100% 安全捕获异常并回滚至本地重算</a:t>
            </a:r>
            <a:r>
              <a:rPr sz="1150" b="1">
                <a:solidFill>
                  <a:srgbClr val="0F172A"/>
                </a:solidFill>
                <a:latin typeface="Microsoft YaHei"/>
              </a:rPr>
              <a:t>，保障推理服务连续性。</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0040"/>
            <a:ext cx="9875520" cy="640080"/>
          </a:xfrm>
          <a:prstGeom prst="rect">
            <a:avLst/>
          </a:prstGeom>
          <a:noFill/>
        </p:spPr>
        <p:txBody>
          <a:bodyPr wrap="square" lIns="0" tIns="0" rIns="0" bIns="0">
            <a:spAutoFit/>
          </a:bodyPr>
          <a:lstStyle/>
          <a:p>
            <a:pPr>
              <a:defRPr sz="1900" b="1">
                <a:solidFill>
                  <a:srgbClr val="1E3A8A"/>
                </a:solidFill>
                <a:latin typeface="Microsoft YaHei"/>
              </a:defRPr>
            </a:pPr>
            <a:r>
              <a:t>PVT-04：微秒级动态决策引擎与 CostEvaluator 成本模型验证</a:t>
            </a:r>
          </a:p>
          <a:p>
            <a:pPr>
              <a:spcBef>
                <a:spcPts val="300"/>
              </a:spcBef>
              <a:defRPr sz="1100">
                <a:solidFill>
                  <a:srgbClr val="475569"/>
                </a:solidFill>
                <a:latin typeface="Microsoft YaHei"/>
              </a:defRPr>
            </a:pPr>
            <a:r>
              <a:t>构建微秒调度大脑，在微秒级时间内根据链路状态、算力与上下文长度选择最优加载或重算路径，覆盖 MLA 与 MHA</a:t>
            </a:r>
          </a:p>
        </p:txBody>
      </p:sp>
      <p:sp>
        <p:nvSpPr>
          <p:cNvPr id="3" name="TextBox 2"/>
          <p:cNvSpPr txBox="1"/>
          <p:nvPr/>
        </p:nvSpPr>
        <p:spPr>
          <a:xfrm>
            <a:off x="10424160" y="320040"/>
            <a:ext cx="1310335" cy="320040"/>
          </a:xfrm>
          <a:prstGeom prst="rect">
            <a:avLst/>
          </a:prstGeom>
          <a:noFill/>
        </p:spPr>
        <p:txBody>
          <a:bodyPr wrap="none" lIns="0" tIns="0" rIns="0" bIns="0">
            <a:spAutoFit/>
          </a:bodyPr>
          <a:lstStyle/>
          <a:p>
            <a:pPr algn="r">
              <a:defRPr sz="1150" b="1">
                <a:solidFill>
                  <a:srgbClr val="2563EB"/>
                </a:solidFill>
                <a:latin typeface="Microsoft YaHei"/>
              </a:defRPr>
            </a:pPr>
            <a:r>
              <a:t>第 07 / 15 页</a:t>
            </a:r>
          </a:p>
        </p:txBody>
      </p:sp>
      <p:sp>
        <p:nvSpPr>
          <p:cNvPr id="4" name="Rectangle 3"/>
          <p:cNvSpPr/>
          <p:nvPr/>
        </p:nvSpPr>
        <p:spPr>
          <a:xfrm>
            <a:off x="457200" y="1051560"/>
            <a:ext cx="5532120" cy="2240280"/>
          </a:xfrm>
          <a:prstGeom prst="rect">
            <a:avLst/>
          </a:prstGeom>
          <a:solidFill>
            <a:srgbClr val="FFFF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57200" y="1051560"/>
            <a:ext cx="5532120" cy="310896"/>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088136"/>
            <a:ext cx="5312664" cy="237744"/>
          </a:xfrm>
          <a:prstGeom prst="rect">
            <a:avLst/>
          </a:prstGeom>
          <a:noFill/>
        </p:spPr>
        <p:txBody>
          <a:bodyPr wrap="none" lIns="0" tIns="0" rIns="0" bIns="0">
            <a:spAutoFit/>
          </a:bodyPr>
          <a:lstStyle/>
          <a:p>
            <a:pPr>
              <a:defRPr sz="1200" b="1">
                <a:solidFill>
                  <a:srgbClr val="FFFFFF"/>
                </a:solidFill>
                <a:latin typeface="Microsoft YaHei"/>
              </a:defRPr>
            </a:pPr>
            <a:r>
              <a:t>1. 验证背景、必要性与目标定位</a:t>
            </a:r>
            <a:r>
              <a:rPr sz="1000" b="1">
                <a:solidFill>
                  <a:srgbClr val="BFDBFE"/>
                </a:solidFill>
                <a:latin typeface="Microsoft YaHei"/>
              </a:rPr>
              <a:t>  [P0 级 | 阶段 E2 核心决胜]</a:t>
            </a:r>
          </a:p>
        </p:txBody>
      </p:sp>
      <p:sp>
        <p:nvSpPr>
          <p:cNvPr id="7" name="TextBox 6"/>
          <p:cNvSpPr txBox="1"/>
          <p:nvPr/>
        </p:nvSpPr>
        <p:spPr>
          <a:xfrm>
            <a:off x="585216" y="1417320"/>
            <a:ext cx="5276088" cy="1819656"/>
          </a:xfrm>
          <a:prstGeom prst="rect">
            <a:avLst/>
          </a:prstGeom>
          <a:noFill/>
        </p:spPr>
        <p:txBody>
          <a:bodyPr wrap="square" lIns="0" tIns="0" rIns="0" bIns="0">
            <a:spAutoFit/>
          </a:bodyPr>
          <a:lstStyle/>
          <a:p>
            <a:pPr>
              <a:lnSpc>
                <a:spcPct val="120000"/>
              </a:lnSpc>
              <a:spcAft>
                <a:spcPts val="600"/>
              </a:spcAft>
            </a:pPr>
            <a:r>
              <a:rPr sz="1150" b="1">
                <a:solidFill>
                  <a:srgbClr val="1E3A8A"/>
                </a:solidFill>
                <a:latin typeface="Microsoft YaHei"/>
              </a:rPr>
              <a:t>• 验证背景：</a:t>
            </a:r>
            <a:r>
              <a:rPr sz="1150">
                <a:solidFill>
                  <a:srgbClr val="1E293B"/>
                </a:solidFill>
                <a:latin typeface="Microsoft YaHei"/>
              </a:rPr>
              <a:t>命中缓存并不总能获得加速。对于 DeepSeek MLA 高度压缩模型（单 Token 仅 ~35KB）与高负载网络，若加载开销大于计算耗时，盲目拉取缓存会导致负收益。</a:t>
            </a:r>
          </a:p>
          <a:p>
            <a:pPr>
              <a:lnSpc>
                <a:spcPct val="120000"/>
              </a:lnSpc>
              <a:spcAft>
                <a:spcPts val="600"/>
              </a:spcAft>
            </a:pPr>
            <a:r>
              <a:rPr sz="1150" b="1">
                <a:solidFill>
                  <a:srgbClr val="1E3A8A"/>
                </a:solidFill>
                <a:latin typeface="Microsoft YaHei"/>
              </a:rPr>
              <a:t>• 验证目的：</a:t>
            </a:r>
            <a:r>
              <a:rPr sz="1150">
                <a:solidFill>
                  <a:srgbClr val="1E293B"/>
                </a:solidFill>
                <a:latin typeface="Microsoft YaHei"/>
              </a:rPr>
              <a:t>验证决策引擎在微秒级时间内根据链路状态与上下文长度量化预估成本，执行 </a:t>
            </a:r>
            <a:r>
              <a:rPr sz="1150" b="1">
                <a:solidFill>
                  <a:srgbClr val="DC2626"/>
                </a:solidFill>
                <a:latin typeface="Microsoft YaHei"/>
              </a:rPr>
              <a:t>“拉取与加载总开销 &lt; 本地直接重算耗时”</a:t>
            </a:r>
            <a:r>
              <a:rPr sz="1150">
                <a:solidFill>
                  <a:srgbClr val="1E293B"/>
                </a:solidFill>
                <a:latin typeface="Microsoft YaHei"/>
              </a:rPr>
              <a:t> 的动态前置决策，主动拦截负收益。</a:t>
            </a:r>
          </a:p>
          <a:p>
            <a:pPr>
              <a:lnSpc>
                <a:spcPct val="120000"/>
              </a:lnSpc>
              <a:spcAft>
                <a:spcPts val="600"/>
              </a:spcAft>
            </a:pPr>
            <a:r>
              <a:rPr sz="1150" b="1">
                <a:solidFill>
                  <a:srgbClr val="1E3A8A"/>
                </a:solidFill>
                <a:latin typeface="Microsoft YaHei"/>
              </a:rPr>
              <a:t>• 对整体项目的支撑：</a:t>
            </a:r>
            <a:r>
              <a:rPr sz="1150">
                <a:solidFill>
                  <a:srgbClr val="1E293B"/>
                </a:solidFill>
                <a:latin typeface="Microsoft YaHei"/>
              </a:rPr>
              <a:t>直面调度大脑核心挑战，确保系统在复杂网络拥塞与高并发下始终做出全局最优调度选择。</a:t>
            </a:r>
          </a:p>
        </p:txBody>
      </p:sp>
      <p:sp>
        <p:nvSpPr>
          <p:cNvPr id="8" name="Rectangle 7"/>
          <p:cNvSpPr/>
          <p:nvPr/>
        </p:nvSpPr>
        <p:spPr>
          <a:xfrm>
            <a:off x="6202375" y="1051560"/>
            <a:ext cx="5532120" cy="2240280"/>
          </a:xfrm>
          <a:prstGeom prst="rect">
            <a:avLst/>
          </a:prstGeom>
          <a:solidFill>
            <a:srgbClr val="FFFF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202375" y="1051560"/>
            <a:ext cx="5532120" cy="310896"/>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12103" y="1088136"/>
            <a:ext cx="5312664" cy="237744"/>
          </a:xfrm>
          <a:prstGeom prst="rect">
            <a:avLst/>
          </a:prstGeom>
          <a:noFill/>
        </p:spPr>
        <p:txBody>
          <a:bodyPr wrap="none" lIns="0" tIns="0" rIns="0" bIns="0">
            <a:spAutoFit/>
          </a:bodyPr>
          <a:lstStyle/>
          <a:p>
            <a:pPr>
              <a:defRPr sz="1200" b="1">
                <a:solidFill>
                  <a:srgbClr val="FFFFFF"/>
                </a:solidFill>
                <a:latin typeface="Microsoft YaHei"/>
              </a:defRPr>
            </a:pPr>
            <a:r>
              <a:t>2. 所需软硬件环境与技术规范</a:t>
            </a:r>
            <a:r>
              <a:rPr sz="1000" b="1">
                <a:solidFill>
                  <a:srgbClr val="BFDBFE"/>
                </a:solidFill>
                <a:latin typeface="Microsoft YaHei"/>
              </a:rPr>
              <a:t>  [环境与依赖]</a:t>
            </a:r>
          </a:p>
        </p:txBody>
      </p:sp>
      <p:sp>
        <p:nvSpPr>
          <p:cNvPr id="11" name="TextBox 10"/>
          <p:cNvSpPr txBox="1"/>
          <p:nvPr/>
        </p:nvSpPr>
        <p:spPr>
          <a:xfrm>
            <a:off x="6330391" y="1417320"/>
            <a:ext cx="5276088" cy="1819656"/>
          </a:xfrm>
          <a:prstGeom prst="rect">
            <a:avLst/>
          </a:prstGeom>
          <a:noFill/>
        </p:spPr>
        <p:txBody>
          <a:bodyPr wrap="square" lIns="0" tIns="0" rIns="0" bIns="0">
            <a:spAutoFit/>
          </a:bodyPr>
          <a:lstStyle/>
          <a:p>
            <a:pPr>
              <a:lnSpc>
                <a:spcPct val="120000"/>
              </a:lnSpc>
              <a:spcAft>
                <a:spcPts val="600"/>
              </a:spcAft>
            </a:pPr>
            <a:r>
              <a:rPr sz="1150" b="1">
                <a:solidFill>
                  <a:srgbClr val="1E3A8A"/>
                </a:solidFill>
                <a:latin typeface="Microsoft YaHei"/>
              </a:rPr>
              <a:t>• 算法引擎：</a:t>
            </a:r>
            <a:r>
              <a:rPr sz="1150">
                <a:solidFill>
                  <a:srgbClr val="1E293B"/>
                </a:solidFill>
                <a:latin typeface="Microsoft YaHei"/>
              </a:rPr>
              <a:t>引入头文件 </a:t>
            </a:r>
            <a:r>
              <a:rPr sz="1150" b="1">
                <a:solidFill>
                  <a:srgbClr val="1E3A8A"/>
                </a:solidFill>
                <a:latin typeface="Consolas"/>
              </a:rPr>
              <a:t>query_plan_fastpath.h</a:t>
            </a:r>
            <a:r>
              <a:rPr sz="1150">
                <a:solidFill>
                  <a:srgbClr val="1E293B"/>
                </a:solidFill>
                <a:latin typeface="Microsoft YaHei"/>
              </a:rPr>
              <a:t>，实现基于位运算与查表的微秒级成本预估模型（CostEvaluator）。</a:t>
            </a:r>
          </a:p>
          <a:p>
            <a:pPr>
              <a:lnSpc>
                <a:spcPct val="120000"/>
              </a:lnSpc>
              <a:spcAft>
                <a:spcPts val="600"/>
              </a:spcAft>
            </a:pPr>
            <a:r>
              <a:rPr sz="1150" b="1">
                <a:solidFill>
                  <a:srgbClr val="1E3A8A"/>
                </a:solidFill>
                <a:latin typeface="Microsoft YaHei"/>
              </a:rPr>
              <a:t>• 性能优化：</a:t>
            </a:r>
            <a:r>
              <a:rPr sz="1150">
                <a:solidFill>
                  <a:srgbClr val="1E293B"/>
                </a:solidFill>
                <a:latin typeface="Microsoft YaHei"/>
              </a:rPr>
              <a:t>无锁环形队列传递请求意图，单次决策全内存纯算，消除任何动态内存分配与跨线程锁争用。</a:t>
            </a:r>
          </a:p>
          <a:p>
            <a:pPr>
              <a:lnSpc>
                <a:spcPct val="120000"/>
              </a:lnSpc>
              <a:spcAft>
                <a:spcPts val="600"/>
              </a:spcAft>
            </a:pPr>
            <a:r>
              <a:rPr sz="1150" b="1">
                <a:solidFill>
                  <a:srgbClr val="1E3A8A"/>
                </a:solidFill>
                <a:latin typeface="Microsoft YaHei"/>
              </a:rPr>
              <a:t>• 多模型覆盖：</a:t>
            </a:r>
            <a:r>
              <a:rPr sz="1150">
                <a:solidFill>
                  <a:srgbClr val="1E293B"/>
                </a:solidFill>
                <a:latin typeface="Microsoft YaHei"/>
              </a:rPr>
              <a:t>内置 DeepSeek MLA (~35KB/tok) 与 Qwen MHA (320KB/tok) 双轨成本系数表。</a:t>
            </a:r>
          </a:p>
        </p:txBody>
      </p:sp>
      <p:sp>
        <p:nvSpPr>
          <p:cNvPr id="12" name="Rectangle 11"/>
          <p:cNvSpPr/>
          <p:nvPr/>
        </p:nvSpPr>
        <p:spPr>
          <a:xfrm>
            <a:off x="457200" y="3383280"/>
            <a:ext cx="5532120" cy="2359152"/>
          </a:xfrm>
          <a:prstGeom prst="rect">
            <a:avLst/>
          </a:prstGeom>
          <a:solidFill>
            <a:srgbClr val="FFFF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57200" y="3383280"/>
            <a:ext cx="5532120" cy="310896"/>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66928" y="3419856"/>
            <a:ext cx="5312664" cy="237744"/>
          </a:xfrm>
          <a:prstGeom prst="rect">
            <a:avLst/>
          </a:prstGeom>
          <a:noFill/>
        </p:spPr>
        <p:txBody>
          <a:bodyPr wrap="none" lIns="0" tIns="0" rIns="0" bIns="0">
            <a:spAutoFit/>
          </a:bodyPr>
          <a:lstStyle/>
          <a:p>
            <a:pPr>
              <a:defRPr sz="1200" b="1">
                <a:solidFill>
                  <a:srgbClr val="FFFFFF"/>
                </a:solidFill>
                <a:latin typeface="Microsoft YaHei"/>
              </a:defRPr>
            </a:pPr>
            <a:r>
              <a:t>3. 测试数据集与 Benchmark 方案</a:t>
            </a:r>
            <a:r>
              <a:rPr sz="1000" b="1">
                <a:solidFill>
                  <a:srgbClr val="BFDBFE"/>
                </a:solidFill>
                <a:latin typeface="Microsoft YaHei"/>
              </a:rPr>
              <a:t>  [测试方法]</a:t>
            </a:r>
          </a:p>
        </p:txBody>
      </p:sp>
      <p:sp>
        <p:nvSpPr>
          <p:cNvPr id="15" name="TextBox 14"/>
          <p:cNvSpPr txBox="1"/>
          <p:nvPr/>
        </p:nvSpPr>
        <p:spPr>
          <a:xfrm>
            <a:off x="585216" y="3749040"/>
            <a:ext cx="5276088" cy="1938528"/>
          </a:xfrm>
          <a:prstGeom prst="rect">
            <a:avLst/>
          </a:prstGeom>
          <a:noFill/>
        </p:spPr>
        <p:txBody>
          <a:bodyPr wrap="square" lIns="0" tIns="0" rIns="0" bIns="0">
            <a:spAutoFit/>
          </a:bodyPr>
          <a:lstStyle/>
          <a:p>
            <a:pPr>
              <a:lnSpc>
                <a:spcPct val="120000"/>
              </a:lnSpc>
              <a:spcAft>
                <a:spcPts val="600"/>
              </a:spcAft>
            </a:pPr>
            <a:r>
              <a:rPr sz="1150" b="1">
                <a:solidFill>
                  <a:srgbClr val="1E3A8A"/>
                </a:solidFill>
                <a:latin typeface="Microsoft YaHei"/>
              </a:rPr>
              <a:t>• 决策吞吐压测 (query_plan_bench.cc)：</a:t>
            </a:r>
            <a:r>
              <a:rPr sz="1150">
                <a:solidFill>
                  <a:srgbClr val="1E293B"/>
                </a:solidFill>
                <a:latin typeface="Microsoft YaHei"/>
              </a:rPr>
              <a:t>在单核与多核下压测 100K QPS 高并发决策吞吐，测量 P50/P99 决策时延。</a:t>
            </a:r>
          </a:p>
          <a:p>
            <a:pPr>
              <a:lnSpc>
                <a:spcPct val="120000"/>
              </a:lnSpc>
              <a:spcAft>
                <a:spcPts val="600"/>
              </a:spcAft>
            </a:pPr>
            <a:r>
              <a:rPr sz="1150" b="1">
                <a:solidFill>
                  <a:srgbClr val="1E3A8A"/>
                </a:solidFill>
                <a:latin typeface="Microsoft YaHei"/>
              </a:rPr>
              <a:t>• 反事实对账测试：</a:t>
            </a:r>
            <a:r>
              <a:rPr sz="1150">
                <a:solidFill>
                  <a:srgbClr val="1E293B"/>
                </a:solidFill>
                <a:latin typeface="Microsoft YaHei"/>
              </a:rPr>
              <a:t>采集 10 万条真实推理轨迹，将决策引擎给出的选择与事后实测耗时进行离线反事实交叉对比。</a:t>
            </a:r>
          </a:p>
          <a:p>
            <a:pPr>
              <a:lnSpc>
                <a:spcPct val="120000"/>
              </a:lnSpc>
              <a:spcAft>
                <a:spcPts val="600"/>
              </a:spcAft>
            </a:pPr>
            <a:r>
              <a:rPr sz="1150" b="1">
                <a:solidFill>
                  <a:srgbClr val="1E3A8A"/>
                </a:solidFill>
                <a:latin typeface="Microsoft YaHei"/>
              </a:rPr>
              <a:t>• 负收益拦截率验证：</a:t>
            </a:r>
            <a:r>
              <a:rPr sz="1150">
                <a:solidFill>
                  <a:srgbClr val="1E293B"/>
                </a:solidFill>
                <a:latin typeface="Microsoft YaHei"/>
              </a:rPr>
              <a:t>在网络拥塞与高负载扰动下，验证系统是否准确放弃拉取、主动回退至本地直接重算。</a:t>
            </a:r>
          </a:p>
        </p:txBody>
      </p:sp>
      <p:sp>
        <p:nvSpPr>
          <p:cNvPr id="16" name="Rectangle 15"/>
          <p:cNvSpPr/>
          <p:nvPr/>
        </p:nvSpPr>
        <p:spPr>
          <a:xfrm>
            <a:off x="6202375" y="3383280"/>
            <a:ext cx="5532120" cy="2359152"/>
          </a:xfrm>
          <a:prstGeom prst="rect">
            <a:avLst/>
          </a:prstGeom>
          <a:solidFill>
            <a:srgbClr val="FFFF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202375" y="3383280"/>
            <a:ext cx="5532120" cy="310896"/>
          </a:xfrm>
          <a:prstGeom prst="rect">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12103" y="3419856"/>
            <a:ext cx="5312664" cy="237744"/>
          </a:xfrm>
          <a:prstGeom prst="rect">
            <a:avLst/>
          </a:prstGeom>
          <a:noFill/>
        </p:spPr>
        <p:txBody>
          <a:bodyPr wrap="none" lIns="0" tIns="0" rIns="0" bIns="0">
            <a:spAutoFit/>
          </a:bodyPr>
          <a:lstStyle/>
          <a:p>
            <a:pPr>
              <a:defRPr sz="1200" b="1">
                <a:solidFill>
                  <a:srgbClr val="FFFFFF"/>
                </a:solidFill>
                <a:latin typeface="Microsoft YaHei"/>
              </a:defRPr>
            </a:pPr>
            <a:r>
              <a:t>4. 输出数据要求与判定标准</a:t>
            </a:r>
            <a:r>
              <a:rPr sz="1000" b="1">
                <a:solidFill>
                  <a:srgbClr val="BFDBFE"/>
                </a:solidFill>
                <a:latin typeface="Microsoft YaHei"/>
              </a:rPr>
              <a:t>  [达标要求]</a:t>
            </a:r>
          </a:p>
        </p:txBody>
      </p:sp>
      <p:sp>
        <p:nvSpPr>
          <p:cNvPr id="19" name="TextBox 18"/>
          <p:cNvSpPr txBox="1"/>
          <p:nvPr/>
        </p:nvSpPr>
        <p:spPr>
          <a:xfrm>
            <a:off x="6330391" y="3749040"/>
            <a:ext cx="5276088" cy="1938528"/>
          </a:xfrm>
          <a:prstGeom prst="rect">
            <a:avLst/>
          </a:prstGeom>
          <a:noFill/>
        </p:spPr>
        <p:txBody>
          <a:bodyPr wrap="square" lIns="0" tIns="0" rIns="0" bIns="0">
            <a:spAutoFit/>
          </a:bodyPr>
          <a:lstStyle/>
          <a:p>
            <a:pPr>
              <a:lnSpc>
                <a:spcPct val="120000"/>
              </a:lnSpc>
              <a:spcAft>
                <a:spcPts val="600"/>
              </a:spcAft>
            </a:pPr>
            <a:r>
              <a:rPr sz="1150" b="1">
                <a:solidFill>
                  <a:srgbClr val="1E3A8A"/>
                </a:solidFill>
                <a:latin typeface="Microsoft YaHei"/>
              </a:rPr>
              <a:t>• 关键交付物：</a:t>
            </a:r>
            <a:r>
              <a:rPr sz="1150">
                <a:solidFill>
                  <a:srgbClr val="1E293B"/>
                </a:solidFill>
                <a:latin typeface="Microsoft YaHei"/>
              </a:rPr>
              <a:t>《微秒级决策时延分布表》、《MLA/MHA 决策准确率矩阵》、《负收益主动拦截率报告》。</a:t>
            </a:r>
          </a:p>
          <a:p>
            <a:pPr>
              <a:lnSpc>
                <a:spcPct val="120000"/>
              </a:lnSpc>
              <a:spcAft>
                <a:spcPts val="600"/>
              </a:spcAft>
            </a:pPr>
            <a:r>
              <a:rPr sz="1150" b="1">
                <a:solidFill>
                  <a:srgbClr val="1E3A8A"/>
                </a:solidFill>
                <a:latin typeface="Microsoft YaHei"/>
              </a:rPr>
              <a:t>• 判定达标要求 (Go/No-Go)：</a:t>
            </a:r>
            <a:r>
              <a:rPr sz="1150" b="1">
                <a:solidFill>
                  <a:srgbClr val="1E293B"/>
                </a:solidFill>
                <a:latin typeface="Microsoft YaHei"/>
              </a:rPr>
              <a:t>1. 极低决策开销：</a:t>
            </a:r>
            <a:r>
              <a:rPr sz="1150" b="1">
                <a:solidFill>
                  <a:srgbClr val="DC2626"/>
                </a:solidFill>
                <a:latin typeface="Microsoft YaHei"/>
              </a:rPr>
              <a:t>单次选路决策耗时 P99 &lt; 5µs，决策吞吐 ≥ 50,000 QPS</a:t>
            </a:r>
            <a:r>
              <a:rPr sz="1150">
                <a:solidFill>
                  <a:srgbClr val="1E293B"/>
                </a:solidFill>
                <a:latin typeface="Microsoft YaHei"/>
              </a:rPr>
              <a:t>；
</a:t>
            </a:r>
            <a:r>
              <a:rPr sz="1150" b="1">
                <a:solidFill>
                  <a:srgbClr val="1E293B"/>
                </a:solidFill>
                <a:latin typeface="Microsoft YaHei"/>
              </a:rPr>
              <a:t>2. 决策准确率：</a:t>
            </a:r>
            <a:r>
              <a:rPr sz="1150" b="1">
                <a:solidFill>
                  <a:srgbClr val="059669"/>
                </a:solidFill>
                <a:latin typeface="Microsoft YaHei"/>
              </a:rPr>
              <a:t>决策命中推荐与最优路径对齐率 ≥ 90%</a:t>
            </a:r>
            <a:r>
              <a:rPr sz="1150">
                <a:solidFill>
                  <a:srgbClr val="1E293B"/>
                </a:solidFill>
                <a:latin typeface="Microsoft YaHei"/>
              </a:rPr>
              <a:t>；
</a:t>
            </a:r>
            <a:r>
              <a:rPr sz="1150" b="1">
                <a:solidFill>
                  <a:srgbClr val="1E293B"/>
                </a:solidFill>
                <a:latin typeface="Microsoft YaHei"/>
              </a:rPr>
              <a:t>3. 负收益拦截：</a:t>
            </a:r>
            <a:r>
              <a:rPr sz="1150" b="1">
                <a:solidFill>
                  <a:srgbClr val="2563EB"/>
                </a:solidFill>
                <a:latin typeface="Microsoft YaHei"/>
              </a:rPr>
              <a:t>在负收益场景下主动回退率 100%，错误决策率 &lt; 1%</a:t>
            </a:r>
            <a:r>
              <a:rPr sz="1150">
                <a:solidFill>
                  <a:srgbClr val="1E293B"/>
                </a:solidFill>
                <a:latin typeface="Microsoft YaHei"/>
              </a:rPr>
              <a:t>。</a:t>
            </a:r>
          </a:p>
        </p:txBody>
      </p:sp>
      <p:sp>
        <p:nvSpPr>
          <p:cNvPr id="20" name="Rectangle 19"/>
          <p:cNvSpPr/>
          <p:nvPr/>
        </p:nvSpPr>
        <p:spPr>
          <a:xfrm>
            <a:off x="457200" y="5833872"/>
            <a:ext cx="11277295" cy="694944"/>
          </a:xfrm>
          <a:prstGeom prst="rect">
            <a:avLst/>
          </a:prstGeom>
          <a:solidFill>
            <a:srgbClr val="FFFFFF"/>
          </a:solidFill>
          <a:ln w="1524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57200" y="5833872"/>
            <a:ext cx="73152" cy="694944"/>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21792" y="5907024"/>
            <a:ext cx="11002975" cy="566928"/>
          </a:xfrm>
          <a:prstGeom prst="rect">
            <a:avLst/>
          </a:prstGeom>
          <a:noFill/>
        </p:spPr>
        <p:txBody>
          <a:bodyPr wrap="square" lIns="0" tIns="0" rIns="0" bIns="0">
            <a:spAutoFit/>
          </a:bodyPr>
          <a:lstStyle/>
          <a:p>
            <a:pPr>
              <a:lnSpc>
                <a:spcPct val="122000"/>
              </a:lnSpc>
            </a:pPr>
            <a:r>
              <a:rPr sz="1200" b="1">
                <a:solidFill>
                  <a:srgbClr val="2563EB"/>
                </a:solidFill>
                <a:latin typeface="Microsoft YaHei"/>
              </a:rPr>
              <a:t>【方案核心结论】 </a:t>
            </a:r>
            <a:r>
              <a:rPr sz="1200" b="1">
                <a:solidFill>
                  <a:srgbClr val="0F172A"/>
                </a:solidFill>
                <a:latin typeface="Microsoft YaHei"/>
              </a:rPr>
              <a:t>PVT-04 微秒动态调度大脑：</a:t>
            </a:r>
            <a:r>
              <a:rPr sz="1150" b="1">
                <a:solidFill>
                  <a:srgbClr val="0F172A"/>
                </a:solidFill>
                <a:latin typeface="Microsoft YaHei"/>
              </a:rPr>
              <a:t>单次选路决策耗时 </a:t>
            </a:r>
            <a:r>
              <a:rPr sz="1150" b="1">
                <a:solidFill>
                  <a:srgbClr val="DC2626"/>
                </a:solidFill>
                <a:latin typeface="Microsoft YaHei"/>
              </a:rPr>
              <a:t>P99 &lt; 5µs</a:t>
            </a:r>
            <a:r>
              <a:rPr sz="1150" b="1">
                <a:solidFill>
                  <a:srgbClr val="0F172A"/>
                </a:solidFill>
                <a:latin typeface="Microsoft YaHei"/>
              </a:rPr>
              <a:t>，决策准确率达到 </a:t>
            </a:r>
            <a:r>
              <a:rPr sz="1150" b="1">
                <a:solidFill>
                  <a:srgbClr val="DC2626"/>
                </a:solidFill>
                <a:latin typeface="Microsoft YaHei"/>
              </a:rPr>
              <a:t>≥90%</a:t>
            </a:r>
            <a:r>
              <a:rPr sz="1150" b="1">
                <a:solidFill>
                  <a:srgbClr val="0F172A"/>
                </a:solidFill>
                <a:latin typeface="Microsoft YaHei"/>
              </a:rPr>
              <a:t>，负收益加载拦截率 100%，确保任意网络状态下系统收益为正。</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0040"/>
            <a:ext cx="9875520" cy="640080"/>
          </a:xfrm>
          <a:prstGeom prst="rect">
            <a:avLst/>
          </a:prstGeom>
          <a:noFill/>
        </p:spPr>
        <p:txBody>
          <a:bodyPr wrap="square" lIns="0" tIns="0" rIns="0" bIns="0">
            <a:spAutoFit/>
          </a:bodyPr>
          <a:lstStyle/>
          <a:p>
            <a:pPr>
              <a:defRPr sz="1900" b="1">
                <a:solidFill>
                  <a:srgbClr val="1E3A8A"/>
                </a:solidFill>
                <a:latin typeface="Microsoft YaHei"/>
              </a:defRPr>
            </a:pPr>
            <a:r>
              <a:t>PVT-05：HBM-SSD 直达容量主路径与分层存储扩容验证</a:t>
            </a:r>
          </a:p>
          <a:p>
            <a:pPr>
              <a:spcBef>
                <a:spcPts val="300"/>
              </a:spcBef>
              <a:defRPr sz="1100">
                <a:solidFill>
                  <a:srgbClr val="475569"/>
                </a:solidFill>
                <a:latin typeface="Microsoft YaHei"/>
              </a:defRPr>
            </a:pPr>
            <a:r>
              <a:t>对标 Mooncake 原生文件级 SSD Offload，验证 Linux 6.6+ io_uring 裸盘直达容量主路径与显存超载分层扩容</a:t>
            </a:r>
          </a:p>
        </p:txBody>
      </p:sp>
      <p:sp>
        <p:nvSpPr>
          <p:cNvPr id="3" name="TextBox 2"/>
          <p:cNvSpPr txBox="1"/>
          <p:nvPr/>
        </p:nvSpPr>
        <p:spPr>
          <a:xfrm>
            <a:off x="10424160" y="320040"/>
            <a:ext cx="1310335" cy="320040"/>
          </a:xfrm>
          <a:prstGeom prst="rect">
            <a:avLst/>
          </a:prstGeom>
          <a:noFill/>
        </p:spPr>
        <p:txBody>
          <a:bodyPr wrap="none" lIns="0" tIns="0" rIns="0" bIns="0">
            <a:spAutoFit/>
          </a:bodyPr>
          <a:lstStyle/>
          <a:p>
            <a:pPr algn="r">
              <a:defRPr sz="1150" b="1">
                <a:solidFill>
                  <a:srgbClr val="2563EB"/>
                </a:solidFill>
                <a:latin typeface="Microsoft YaHei"/>
              </a:defRPr>
            </a:pPr>
            <a:r>
              <a:t>第 08 / 15 页</a:t>
            </a:r>
          </a:p>
        </p:txBody>
      </p:sp>
      <p:sp>
        <p:nvSpPr>
          <p:cNvPr id="4" name="Rectangle 3"/>
          <p:cNvSpPr/>
          <p:nvPr/>
        </p:nvSpPr>
        <p:spPr>
          <a:xfrm>
            <a:off x="457200" y="1051560"/>
            <a:ext cx="5532120" cy="2240280"/>
          </a:xfrm>
          <a:prstGeom prst="rect">
            <a:avLst/>
          </a:prstGeom>
          <a:solidFill>
            <a:srgbClr val="FFFF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57200" y="1051560"/>
            <a:ext cx="5532120" cy="310896"/>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088136"/>
            <a:ext cx="5312664" cy="237744"/>
          </a:xfrm>
          <a:prstGeom prst="rect">
            <a:avLst/>
          </a:prstGeom>
          <a:noFill/>
        </p:spPr>
        <p:txBody>
          <a:bodyPr wrap="none" lIns="0" tIns="0" rIns="0" bIns="0">
            <a:spAutoFit/>
          </a:bodyPr>
          <a:lstStyle/>
          <a:p>
            <a:pPr>
              <a:defRPr sz="1200" b="1">
                <a:solidFill>
                  <a:srgbClr val="FFFFFF"/>
                </a:solidFill>
                <a:latin typeface="Microsoft YaHei"/>
              </a:defRPr>
            </a:pPr>
            <a:r>
              <a:t>1. 验证背景、必要性与目标定位</a:t>
            </a:r>
            <a:r>
              <a:rPr sz="1000" b="1">
                <a:solidFill>
                  <a:srgbClr val="BFDBFE"/>
                </a:solidFill>
                <a:latin typeface="Microsoft YaHei"/>
              </a:rPr>
              <a:t>  [P0 级 | 阶段 E2 核心决胜]</a:t>
            </a:r>
          </a:p>
        </p:txBody>
      </p:sp>
      <p:sp>
        <p:nvSpPr>
          <p:cNvPr id="7" name="TextBox 6"/>
          <p:cNvSpPr txBox="1"/>
          <p:nvPr/>
        </p:nvSpPr>
        <p:spPr>
          <a:xfrm>
            <a:off x="585216" y="1417320"/>
            <a:ext cx="5276088" cy="1819656"/>
          </a:xfrm>
          <a:prstGeom prst="rect">
            <a:avLst/>
          </a:prstGeom>
          <a:noFill/>
        </p:spPr>
        <p:txBody>
          <a:bodyPr wrap="square" lIns="0" tIns="0" rIns="0" bIns="0">
            <a:spAutoFit/>
          </a:bodyPr>
          <a:lstStyle/>
          <a:p>
            <a:pPr>
              <a:lnSpc>
                <a:spcPct val="120000"/>
              </a:lnSpc>
              <a:spcAft>
                <a:spcPts val="600"/>
              </a:spcAft>
            </a:pPr>
            <a:r>
              <a:rPr sz="1150" b="1">
                <a:solidFill>
                  <a:srgbClr val="1E3A8A"/>
                </a:solidFill>
                <a:latin typeface="Microsoft YaHei"/>
              </a:rPr>
              <a:t>• 验证背景：</a:t>
            </a:r>
            <a:r>
              <a:rPr sz="1150">
                <a:solidFill>
                  <a:srgbClr val="1E293B"/>
                </a:solidFill>
                <a:latin typeface="Microsoft YaHei"/>
              </a:rPr>
              <a:t>大模型长文本推理极易引发显存不足（OOM）。Mooncake 原生采用文件系统级 SSD Offload，存在 OS 页缓存与内核拷贝开销，无法充分发挥 Gen5 SSD 性能。</a:t>
            </a:r>
          </a:p>
          <a:p>
            <a:pPr>
              <a:lnSpc>
                <a:spcPct val="120000"/>
              </a:lnSpc>
              <a:spcAft>
                <a:spcPts val="600"/>
              </a:spcAft>
            </a:pPr>
            <a:r>
              <a:rPr sz="1150" b="1">
                <a:solidFill>
                  <a:srgbClr val="1E3A8A"/>
                </a:solidFill>
                <a:latin typeface="Microsoft YaHei"/>
              </a:rPr>
              <a:t>• 验证目的：</a:t>
            </a:r>
            <a:r>
              <a:rPr sz="1150">
                <a:solidFill>
                  <a:srgbClr val="1E293B"/>
                </a:solidFill>
                <a:latin typeface="Microsoft YaHei"/>
              </a:rPr>
              <a:t>验证分层块分配器（TierBlockAllocator）管理 4KB 对齐裸盘扇区，通过 io_uring FIXED I/O 实现 </a:t>
            </a:r>
            <a:r>
              <a:rPr sz="1150" b="1">
                <a:solidFill>
                  <a:srgbClr val="DC2626"/>
                </a:solidFill>
                <a:latin typeface="Microsoft YaHei"/>
              </a:rPr>
              <a:t>数据在 NVMe SSD 与显存间流转（严格绕过主机内存 Host DDR）</a:t>
            </a:r>
            <a:r>
              <a:rPr sz="1150">
                <a:solidFill>
                  <a:srgbClr val="1E293B"/>
                </a:solidFill>
                <a:latin typeface="Microsoft YaHei"/>
              </a:rPr>
              <a:t>；验证显存超载下的平滑扩容能力。</a:t>
            </a:r>
          </a:p>
          <a:p>
            <a:pPr>
              <a:lnSpc>
                <a:spcPct val="120000"/>
              </a:lnSpc>
              <a:spcAft>
                <a:spcPts val="600"/>
              </a:spcAft>
            </a:pPr>
            <a:r>
              <a:rPr sz="1150" b="1">
                <a:solidFill>
                  <a:srgbClr val="1E3A8A"/>
                </a:solidFill>
                <a:latin typeface="Microsoft YaHei"/>
              </a:rPr>
              <a:t>• 对整体项目的支撑：</a:t>
            </a:r>
            <a:r>
              <a:rPr sz="1150">
                <a:solidFill>
                  <a:srgbClr val="1E293B"/>
                </a:solidFill>
                <a:latin typeface="Microsoft YaHei"/>
              </a:rPr>
              <a:t>确立廉价大容量 SSD 作为容量扩展主路径，大幅降低服务器采购能耗与 TCO 成本。</a:t>
            </a:r>
          </a:p>
        </p:txBody>
      </p:sp>
      <p:sp>
        <p:nvSpPr>
          <p:cNvPr id="8" name="Rectangle 7"/>
          <p:cNvSpPr/>
          <p:nvPr/>
        </p:nvSpPr>
        <p:spPr>
          <a:xfrm>
            <a:off x="6202375" y="1051560"/>
            <a:ext cx="5532120" cy="2240280"/>
          </a:xfrm>
          <a:prstGeom prst="rect">
            <a:avLst/>
          </a:prstGeom>
          <a:solidFill>
            <a:srgbClr val="FFFF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202375" y="1051560"/>
            <a:ext cx="5532120" cy="310896"/>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12103" y="1088136"/>
            <a:ext cx="5312664" cy="237744"/>
          </a:xfrm>
          <a:prstGeom prst="rect">
            <a:avLst/>
          </a:prstGeom>
          <a:noFill/>
        </p:spPr>
        <p:txBody>
          <a:bodyPr wrap="none" lIns="0" tIns="0" rIns="0" bIns="0">
            <a:spAutoFit/>
          </a:bodyPr>
          <a:lstStyle/>
          <a:p>
            <a:pPr>
              <a:defRPr sz="1200" b="1">
                <a:solidFill>
                  <a:srgbClr val="FFFFFF"/>
                </a:solidFill>
                <a:latin typeface="Microsoft YaHei"/>
              </a:defRPr>
            </a:pPr>
            <a:r>
              <a:t>2. 所需软硬件环境与技术规范</a:t>
            </a:r>
            <a:r>
              <a:rPr sz="1000" b="1">
                <a:solidFill>
                  <a:srgbClr val="BFDBFE"/>
                </a:solidFill>
                <a:latin typeface="Microsoft YaHei"/>
              </a:rPr>
              <a:t>  [环境与依赖]</a:t>
            </a:r>
          </a:p>
        </p:txBody>
      </p:sp>
      <p:sp>
        <p:nvSpPr>
          <p:cNvPr id="11" name="TextBox 10"/>
          <p:cNvSpPr txBox="1"/>
          <p:nvPr/>
        </p:nvSpPr>
        <p:spPr>
          <a:xfrm>
            <a:off x="6330391" y="1417320"/>
            <a:ext cx="5276088" cy="1819656"/>
          </a:xfrm>
          <a:prstGeom prst="rect">
            <a:avLst/>
          </a:prstGeom>
          <a:noFill/>
        </p:spPr>
        <p:txBody>
          <a:bodyPr wrap="square" lIns="0" tIns="0" rIns="0" bIns="0">
            <a:spAutoFit/>
          </a:bodyPr>
          <a:lstStyle/>
          <a:p>
            <a:pPr>
              <a:lnSpc>
                <a:spcPct val="120000"/>
              </a:lnSpc>
              <a:spcAft>
                <a:spcPts val="600"/>
              </a:spcAft>
            </a:pPr>
            <a:r>
              <a:rPr sz="1150" b="1">
                <a:solidFill>
                  <a:srgbClr val="1E3A8A"/>
                </a:solidFill>
                <a:latin typeface="Microsoft YaHei"/>
              </a:rPr>
              <a:t>• 存储介质：</a:t>
            </a:r>
            <a:r>
              <a:rPr sz="1150">
                <a:solidFill>
                  <a:srgbClr val="1E293B"/>
                </a:solidFill>
                <a:latin typeface="Microsoft YaHei"/>
              </a:rPr>
              <a:t>4× NVMe PCIe Gen5 SSD 阵列，格式化为裸块设备（/dev/nvme0n1），顺序读标称 28 GB/s。</a:t>
            </a:r>
          </a:p>
          <a:p>
            <a:pPr>
              <a:lnSpc>
                <a:spcPct val="120000"/>
              </a:lnSpc>
              <a:spcAft>
                <a:spcPts val="600"/>
              </a:spcAft>
            </a:pPr>
            <a:r>
              <a:rPr sz="1150" b="1">
                <a:solidFill>
                  <a:srgbClr val="1E3A8A"/>
                </a:solidFill>
                <a:latin typeface="Microsoft YaHei"/>
              </a:rPr>
              <a:t>• 驱动与内核规范：</a:t>
            </a:r>
            <a:r>
              <a:rPr sz="1150">
                <a:solidFill>
                  <a:srgbClr val="1E293B"/>
                </a:solidFill>
                <a:latin typeface="Microsoft YaHei"/>
              </a:rPr>
              <a:t>Linux 6.6+ 内核，引入头文件 </a:t>
            </a:r>
            <a:r>
              <a:rPr sz="1150" b="1">
                <a:solidFill>
                  <a:srgbClr val="1E3A8A"/>
                </a:solidFill>
                <a:latin typeface="Consolas"/>
              </a:rPr>
              <a:t>&lt;liburing.h&gt;</a:t>
            </a:r>
            <a:r>
              <a:rPr sz="1150">
                <a:solidFill>
                  <a:srgbClr val="1E293B"/>
                </a:solidFill>
                <a:latin typeface="Microsoft YaHei"/>
              </a:rPr>
              <a:t>，启用 </a:t>
            </a:r>
            <a:r>
              <a:rPr sz="1150" b="1">
                <a:solidFill>
                  <a:srgbClr val="1E3A8A"/>
                </a:solidFill>
                <a:latin typeface="Consolas"/>
              </a:rPr>
              <a:t>IORING_OP_READ_FIXED / WRITE_FIXED</a:t>
            </a:r>
            <a:r>
              <a:rPr sz="1150">
                <a:solidFill>
                  <a:srgbClr val="1E293B"/>
                </a:solidFill>
                <a:latin typeface="Microsoft YaHei"/>
              </a:rPr>
              <a:t> 与 O_DIRECT。</a:t>
            </a:r>
          </a:p>
          <a:p>
            <a:pPr>
              <a:lnSpc>
                <a:spcPct val="120000"/>
              </a:lnSpc>
              <a:spcAft>
                <a:spcPts val="600"/>
              </a:spcAft>
            </a:pPr>
            <a:r>
              <a:rPr sz="1150" b="1">
                <a:solidFill>
                  <a:srgbClr val="1E3A8A"/>
                </a:solidFill>
                <a:latin typeface="Microsoft YaHei"/>
              </a:rPr>
              <a:t>• 编译链接参数：</a:t>
            </a:r>
            <a:r>
              <a:rPr sz="1150" b="1">
                <a:solidFill>
                  <a:srgbClr val="1E3A8A"/>
                </a:solidFill>
                <a:latin typeface="Consolas"/>
              </a:rPr>
              <a:t>-luring -lpthread -O3</a:t>
            </a:r>
          </a:p>
        </p:txBody>
      </p:sp>
      <p:sp>
        <p:nvSpPr>
          <p:cNvPr id="12" name="Rectangle 11"/>
          <p:cNvSpPr/>
          <p:nvPr/>
        </p:nvSpPr>
        <p:spPr>
          <a:xfrm>
            <a:off x="457200" y="3383280"/>
            <a:ext cx="5532120" cy="2359152"/>
          </a:xfrm>
          <a:prstGeom prst="rect">
            <a:avLst/>
          </a:prstGeom>
          <a:solidFill>
            <a:srgbClr val="FFFF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57200" y="3383280"/>
            <a:ext cx="5532120" cy="310896"/>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66928" y="3419856"/>
            <a:ext cx="5312664" cy="237744"/>
          </a:xfrm>
          <a:prstGeom prst="rect">
            <a:avLst/>
          </a:prstGeom>
          <a:noFill/>
        </p:spPr>
        <p:txBody>
          <a:bodyPr wrap="none" lIns="0" tIns="0" rIns="0" bIns="0">
            <a:spAutoFit/>
          </a:bodyPr>
          <a:lstStyle/>
          <a:p>
            <a:pPr>
              <a:defRPr sz="1200" b="1">
                <a:solidFill>
                  <a:srgbClr val="FFFFFF"/>
                </a:solidFill>
                <a:latin typeface="Microsoft YaHei"/>
              </a:defRPr>
            </a:pPr>
            <a:r>
              <a:t>3. 测试数据集与 Benchmark 方案</a:t>
            </a:r>
            <a:r>
              <a:rPr sz="1000" b="1">
                <a:solidFill>
                  <a:srgbClr val="BFDBFE"/>
                </a:solidFill>
                <a:latin typeface="Microsoft YaHei"/>
              </a:rPr>
              <a:t>  [测试方法]</a:t>
            </a:r>
          </a:p>
        </p:txBody>
      </p:sp>
      <p:sp>
        <p:nvSpPr>
          <p:cNvPr id="15" name="TextBox 14"/>
          <p:cNvSpPr txBox="1"/>
          <p:nvPr/>
        </p:nvSpPr>
        <p:spPr>
          <a:xfrm>
            <a:off x="585216" y="3749040"/>
            <a:ext cx="5276088" cy="1938528"/>
          </a:xfrm>
          <a:prstGeom prst="rect">
            <a:avLst/>
          </a:prstGeom>
          <a:noFill/>
        </p:spPr>
        <p:txBody>
          <a:bodyPr wrap="square" lIns="0" tIns="0" rIns="0" bIns="0">
            <a:spAutoFit/>
          </a:bodyPr>
          <a:lstStyle/>
          <a:p>
            <a:pPr>
              <a:lnSpc>
                <a:spcPct val="120000"/>
              </a:lnSpc>
              <a:spcAft>
                <a:spcPts val="600"/>
              </a:spcAft>
            </a:pPr>
            <a:r>
              <a:rPr sz="1150" b="1">
                <a:solidFill>
                  <a:srgbClr val="1E3A8A"/>
                </a:solidFill>
                <a:latin typeface="Microsoft YaHei"/>
              </a:rPr>
              <a:t>• 裸盘存储基准 (tier_storage_bench.cc)：</a:t>
            </a:r>
            <a:r>
              <a:rPr sz="1150">
                <a:solidFill>
                  <a:srgbClr val="1E293B"/>
                </a:solidFill>
                <a:latin typeface="Microsoft YaHei"/>
              </a:rPr>
              <a:t>压测 16MB/64MB 连续扇区读写，对比 io_uring Direct I/O、Host DDR 中转与 Mooncake 原生文件 offload 吞吐。</a:t>
            </a:r>
          </a:p>
          <a:p>
            <a:pPr>
              <a:lnSpc>
                <a:spcPct val="120000"/>
              </a:lnSpc>
              <a:spcAft>
                <a:spcPts val="600"/>
              </a:spcAft>
            </a:pPr>
            <a:r>
              <a:rPr sz="1150" b="1">
                <a:solidFill>
                  <a:srgbClr val="1E3A8A"/>
                </a:solidFill>
                <a:latin typeface="Microsoft YaHei"/>
              </a:rPr>
              <a:t>• 显存超载打流压测 (benchmark_tiering.py)：</a:t>
            </a:r>
            <a:r>
              <a:rPr sz="1150">
                <a:solidFill>
                  <a:srgbClr val="1E293B"/>
                </a:solidFill>
                <a:latin typeface="Microsoft YaHei"/>
              </a:rPr>
              <a:t>在 150%~200% HBM 显存超载压力下，验证高低水位线 (85%/65%) 驱动的冷数据异步换出与热数据换入。</a:t>
            </a:r>
          </a:p>
          <a:p>
            <a:pPr>
              <a:lnSpc>
                <a:spcPct val="120000"/>
              </a:lnSpc>
              <a:spcAft>
                <a:spcPts val="600"/>
              </a:spcAft>
            </a:pPr>
            <a:r>
              <a:rPr sz="1150" b="1">
                <a:solidFill>
                  <a:srgbClr val="1E3A8A"/>
                </a:solidFill>
                <a:latin typeface="Microsoft YaHei"/>
              </a:rPr>
              <a:t>• OOM 与请求驱逐统计：</a:t>
            </a:r>
            <a:r>
              <a:rPr sz="1150">
                <a:solidFill>
                  <a:srgbClr val="1E293B"/>
                </a:solidFill>
                <a:latin typeface="Microsoft YaHei"/>
              </a:rPr>
              <a:t>记录超载场景下的请求成功率、OOM 发生次数与并发服务请求数。</a:t>
            </a:r>
          </a:p>
        </p:txBody>
      </p:sp>
      <p:sp>
        <p:nvSpPr>
          <p:cNvPr id="16" name="Rectangle 15"/>
          <p:cNvSpPr/>
          <p:nvPr/>
        </p:nvSpPr>
        <p:spPr>
          <a:xfrm>
            <a:off x="6202375" y="3383280"/>
            <a:ext cx="5532120" cy="2359152"/>
          </a:xfrm>
          <a:prstGeom prst="rect">
            <a:avLst/>
          </a:prstGeom>
          <a:solidFill>
            <a:srgbClr val="FFFF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202375" y="3383280"/>
            <a:ext cx="5532120" cy="310896"/>
          </a:xfrm>
          <a:prstGeom prst="rect">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12103" y="3419856"/>
            <a:ext cx="5312664" cy="237744"/>
          </a:xfrm>
          <a:prstGeom prst="rect">
            <a:avLst/>
          </a:prstGeom>
          <a:noFill/>
        </p:spPr>
        <p:txBody>
          <a:bodyPr wrap="none" lIns="0" tIns="0" rIns="0" bIns="0">
            <a:spAutoFit/>
          </a:bodyPr>
          <a:lstStyle/>
          <a:p>
            <a:pPr>
              <a:defRPr sz="1200" b="1">
                <a:solidFill>
                  <a:srgbClr val="FFFFFF"/>
                </a:solidFill>
                <a:latin typeface="Microsoft YaHei"/>
              </a:defRPr>
            </a:pPr>
            <a:r>
              <a:t>4. 输出数据要求与判定标准</a:t>
            </a:r>
            <a:r>
              <a:rPr sz="1000" b="1">
                <a:solidFill>
                  <a:srgbClr val="BFDBFE"/>
                </a:solidFill>
                <a:latin typeface="Microsoft YaHei"/>
              </a:rPr>
              <a:t>  [达标要求]</a:t>
            </a:r>
          </a:p>
        </p:txBody>
      </p:sp>
      <p:sp>
        <p:nvSpPr>
          <p:cNvPr id="19" name="TextBox 18"/>
          <p:cNvSpPr txBox="1"/>
          <p:nvPr/>
        </p:nvSpPr>
        <p:spPr>
          <a:xfrm>
            <a:off x="6330391" y="3749040"/>
            <a:ext cx="5276088" cy="1938528"/>
          </a:xfrm>
          <a:prstGeom prst="rect">
            <a:avLst/>
          </a:prstGeom>
          <a:noFill/>
        </p:spPr>
        <p:txBody>
          <a:bodyPr wrap="square" lIns="0" tIns="0" rIns="0" bIns="0">
            <a:spAutoFit/>
          </a:bodyPr>
          <a:lstStyle/>
          <a:p>
            <a:pPr>
              <a:lnSpc>
                <a:spcPct val="120000"/>
              </a:lnSpc>
              <a:spcAft>
                <a:spcPts val="600"/>
              </a:spcAft>
            </a:pPr>
            <a:r>
              <a:rPr sz="1150" b="1">
                <a:solidFill>
                  <a:srgbClr val="1E3A8A"/>
                </a:solidFill>
                <a:latin typeface="Microsoft YaHei"/>
              </a:rPr>
              <a:t>• 关键交付物：</a:t>
            </a:r>
            <a:r>
              <a:rPr sz="1150">
                <a:solidFill>
                  <a:srgbClr val="1E293B"/>
                </a:solidFill>
                <a:latin typeface="Microsoft YaHei"/>
              </a:rPr>
              <a:t>《SSD 裸盘直达读写带宽表》、《150% 显存超载扩容评测报告》、《OOM 与驱逐率消融对比图》。</a:t>
            </a:r>
          </a:p>
          <a:p>
            <a:pPr>
              <a:lnSpc>
                <a:spcPct val="120000"/>
              </a:lnSpc>
              <a:spcAft>
                <a:spcPts val="600"/>
              </a:spcAft>
            </a:pPr>
            <a:r>
              <a:rPr sz="1150" b="1">
                <a:solidFill>
                  <a:srgbClr val="1E3A8A"/>
                </a:solidFill>
                <a:latin typeface="Microsoft YaHei"/>
              </a:rPr>
              <a:t>• 判定达标要求 (Go/No-Go)：</a:t>
            </a:r>
            <a:r>
              <a:rPr sz="1150" b="1">
                <a:solidFill>
                  <a:srgbClr val="1E293B"/>
                </a:solidFill>
                <a:latin typeface="Microsoft YaHei"/>
              </a:rPr>
              <a:t>1. 容量扩展能力：</a:t>
            </a:r>
            <a:r>
              <a:rPr sz="1150" b="1">
                <a:solidFill>
                  <a:srgbClr val="DC2626"/>
                </a:solidFill>
                <a:latin typeface="Microsoft YaHei"/>
              </a:rPr>
              <a:t>在 150% 显存超载下，系统支持的可服务 Token 容量提升 ≥ 30%</a:t>
            </a:r>
            <a:r>
              <a:rPr sz="1150">
                <a:solidFill>
                  <a:srgbClr val="1E293B"/>
                </a:solidFill>
                <a:latin typeface="Microsoft YaHei"/>
              </a:rPr>
              <a:t>；
</a:t>
            </a:r>
            <a:r>
              <a:rPr sz="1150" b="1">
                <a:solidFill>
                  <a:srgbClr val="1E293B"/>
                </a:solidFill>
                <a:latin typeface="Microsoft YaHei"/>
              </a:rPr>
              <a:t>2. OOM 发生率：</a:t>
            </a:r>
            <a:r>
              <a:rPr sz="1150" b="1">
                <a:solidFill>
                  <a:srgbClr val="059669"/>
                </a:solidFill>
                <a:latin typeface="Microsoft YaHei"/>
              </a:rPr>
              <a:t>显存超载下请求因显存不足导致的 OOM 发生率降低 ≥ 50%</a:t>
            </a:r>
            <a:r>
              <a:rPr sz="1150">
                <a:solidFill>
                  <a:srgbClr val="1E293B"/>
                </a:solidFill>
                <a:latin typeface="Microsoft YaHei"/>
              </a:rPr>
              <a:t>；
</a:t>
            </a:r>
            <a:r>
              <a:rPr sz="1150" b="1">
                <a:solidFill>
                  <a:srgbClr val="1E293B"/>
                </a:solidFill>
                <a:latin typeface="Microsoft YaHei"/>
              </a:rPr>
              <a:t>3. 硬件线速与零 DDR 拷贝：</a:t>
            </a:r>
            <a:r>
              <a:rPr sz="1150" b="1">
                <a:solidFill>
                  <a:srgbClr val="2563EB"/>
                </a:solidFill>
                <a:latin typeface="Microsoft YaHei"/>
              </a:rPr>
              <a:t>SSD 顺序读吞吐达到硬件物理线速 ≥ 80%，全程绕过 Host DDR</a:t>
            </a:r>
            <a:r>
              <a:rPr sz="1150">
                <a:solidFill>
                  <a:srgbClr val="1E293B"/>
                </a:solidFill>
                <a:latin typeface="Microsoft YaHei"/>
              </a:rPr>
              <a:t>。</a:t>
            </a:r>
          </a:p>
        </p:txBody>
      </p:sp>
      <p:sp>
        <p:nvSpPr>
          <p:cNvPr id="20" name="Rectangle 19"/>
          <p:cNvSpPr/>
          <p:nvPr/>
        </p:nvSpPr>
        <p:spPr>
          <a:xfrm>
            <a:off x="457200" y="5833872"/>
            <a:ext cx="11277295" cy="694944"/>
          </a:xfrm>
          <a:prstGeom prst="rect">
            <a:avLst/>
          </a:prstGeom>
          <a:solidFill>
            <a:srgbClr val="FFFFFF"/>
          </a:solidFill>
          <a:ln w="1524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57200" y="5833872"/>
            <a:ext cx="73152" cy="694944"/>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21792" y="5907024"/>
            <a:ext cx="11002975" cy="566928"/>
          </a:xfrm>
          <a:prstGeom prst="rect">
            <a:avLst/>
          </a:prstGeom>
          <a:noFill/>
        </p:spPr>
        <p:txBody>
          <a:bodyPr wrap="square" lIns="0" tIns="0" rIns="0" bIns="0">
            <a:spAutoFit/>
          </a:bodyPr>
          <a:lstStyle/>
          <a:p>
            <a:pPr>
              <a:lnSpc>
                <a:spcPct val="122000"/>
              </a:lnSpc>
            </a:pPr>
            <a:r>
              <a:rPr sz="1200" b="1">
                <a:solidFill>
                  <a:srgbClr val="2563EB"/>
                </a:solidFill>
                <a:latin typeface="Microsoft YaHei"/>
              </a:rPr>
              <a:t>【方案核心结论】 </a:t>
            </a:r>
            <a:r>
              <a:rPr sz="1200" b="1">
                <a:solidFill>
                  <a:srgbClr val="0F172A"/>
                </a:solidFill>
                <a:latin typeface="Microsoft YaHei"/>
              </a:rPr>
              <a:t>PVT-05 裸盘直达与容量扩容：</a:t>
            </a:r>
            <a:r>
              <a:rPr sz="1150" b="1">
                <a:solidFill>
                  <a:srgbClr val="0F172A"/>
                </a:solidFill>
                <a:latin typeface="Microsoft YaHei"/>
              </a:rPr>
              <a:t>在 150% 显存超载下可服务容量提升 </a:t>
            </a:r>
            <a:r>
              <a:rPr sz="1150" b="1">
                <a:solidFill>
                  <a:srgbClr val="DC2626"/>
                </a:solidFill>
                <a:latin typeface="Microsoft YaHei"/>
              </a:rPr>
              <a:t>≥30%</a:t>
            </a:r>
            <a:r>
              <a:rPr sz="1150" b="1">
                <a:solidFill>
                  <a:srgbClr val="0F172A"/>
                </a:solidFill>
                <a:latin typeface="Microsoft YaHei"/>
              </a:rPr>
              <a:t>，OOM 错误降低 </a:t>
            </a:r>
            <a:r>
              <a:rPr sz="1150" b="1">
                <a:solidFill>
                  <a:srgbClr val="DC2626"/>
                </a:solidFill>
                <a:latin typeface="Microsoft YaHei"/>
              </a:rPr>
              <a:t>≥50%</a:t>
            </a:r>
            <a:r>
              <a:rPr sz="1150" b="1">
                <a:solidFill>
                  <a:srgbClr val="0F172A"/>
                </a:solidFill>
                <a:latin typeface="Microsoft YaHei"/>
              </a:rPr>
              <a:t>，SSD 读写达到物理线速 ≥80% 且全程绕过 Host DDR，确立容量主路径。</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0040"/>
            <a:ext cx="9875520" cy="640080"/>
          </a:xfrm>
          <a:prstGeom prst="rect">
            <a:avLst/>
          </a:prstGeom>
          <a:noFill/>
        </p:spPr>
        <p:txBody>
          <a:bodyPr wrap="square" lIns="0" tIns="0" rIns="0" bIns="0">
            <a:spAutoFit/>
          </a:bodyPr>
          <a:lstStyle/>
          <a:p>
            <a:pPr>
              <a:defRPr sz="1900" b="1">
                <a:solidFill>
                  <a:srgbClr val="1E3A8A"/>
                </a:solidFill>
                <a:latin typeface="Microsoft YaHei"/>
              </a:defRPr>
            </a:pPr>
            <a:r>
              <a:t>PVT-06：多维度语义一致性强校验与 TP=8 多卡状态同步验证</a:t>
            </a:r>
          </a:p>
          <a:p>
            <a:pPr>
              <a:spcBef>
                <a:spcPts val="300"/>
              </a:spcBef>
              <a:defRPr sz="1100">
                <a:solidFill>
                  <a:srgbClr val="475569"/>
                </a:solidFill>
                <a:latin typeface="Microsoft YaHei"/>
              </a:defRPr>
            </a:pPr>
            <a:r>
              <a:t>验证 6 维语义微秒级合法性强校验（杜绝陈旧失效读取）与张量并行多卡共享内存状态同步 (P99 &lt; 100µs)</a:t>
            </a:r>
          </a:p>
        </p:txBody>
      </p:sp>
      <p:sp>
        <p:nvSpPr>
          <p:cNvPr id="3" name="TextBox 2"/>
          <p:cNvSpPr txBox="1"/>
          <p:nvPr/>
        </p:nvSpPr>
        <p:spPr>
          <a:xfrm>
            <a:off x="10424160" y="320040"/>
            <a:ext cx="1310335" cy="320040"/>
          </a:xfrm>
          <a:prstGeom prst="rect">
            <a:avLst/>
          </a:prstGeom>
          <a:noFill/>
        </p:spPr>
        <p:txBody>
          <a:bodyPr wrap="none" lIns="0" tIns="0" rIns="0" bIns="0">
            <a:spAutoFit/>
          </a:bodyPr>
          <a:lstStyle/>
          <a:p>
            <a:pPr algn="r">
              <a:defRPr sz="1150" b="1">
                <a:solidFill>
                  <a:srgbClr val="2563EB"/>
                </a:solidFill>
                <a:latin typeface="Microsoft YaHei"/>
              </a:defRPr>
            </a:pPr>
            <a:r>
              <a:t>第 09 / 15 页</a:t>
            </a:r>
          </a:p>
        </p:txBody>
      </p:sp>
      <p:sp>
        <p:nvSpPr>
          <p:cNvPr id="4" name="Rectangle 3"/>
          <p:cNvSpPr/>
          <p:nvPr/>
        </p:nvSpPr>
        <p:spPr>
          <a:xfrm>
            <a:off x="457200" y="1051560"/>
            <a:ext cx="5532120" cy="2240280"/>
          </a:xfrm>
          <a:prstGeom prst="rect">
            <a:avLst/>
          </a:prstGeom>
          <a:solidFill>
            <a:srgbClr val="FFFF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57200" y="1051560"/>
            <a:ext cx="5532120" cy="310896"/>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088136"/>
            <a:ext cx="5312664" cy="237744"/>
          </a:xfrm>
          <a:prstGeom prst="rect">
            <a:avLst/>
          </a:prstGeom>
          <a:noFill/>
        </p:spPr>
        <p:txBody>
          <a:bodyPr wrap="none" lIns="0" tIns="0" rIns="0" bIns="0">
            <a:spAutoFit/>
          </a:bodyPr>
          <a:lstStyle/>
          <a:p>
            <a:pPr>
              <a:defRPr sz="1200" b="1">
                <a:solidFill>
                  <a:srgbClr val="FFFFFF"/>
                </a:solidFill>
                <a:latin typeface="Microsoft YaHei"/>
              </a:defRPr>
            </a:pPr>
            <a:r>
              <a:t>1. 验证背景、必要性与目标定位</a:t>
            </a:r>
            <a:r>
              <a:rPr sz="1000" b="1">
                <a:solidFill>
                  <a:srgbClr val="BFDBFE"/>
                </a:solidFill>
                <a:latin typeface="Microsoft YaHei"/>
              </a:rPr>
              <a:t>  [P0 级 | 阶段 E1 核心决胜]</a:t>
            </a:r>
          </a:p>
        </p:txBody>
      </p:sp>
      <p:sp>
        <p:nvSpPr>
          <p:cNvPr id="7" name="TextBox 6"/>
          <p:cNvSpPr txBox="1"/>
          <p:nvPr/>
        </p:nvSpPr>
        <p:spPr>
          <a:xfrm>
            <a:off x="585216" y="1417320"/>
            <a:ext cx="5276088" cy="1819656"/>
          </a:xfrm>
          <a:prstGeom prst="rect">
            <a:avLst/>
          </a:prstGeom>
          <a:noFill/>
        </p:spPr>
        <p:txBody>
          <a:bodyPr wrap="square" lIns="0" tIns="0" rIns="0" bIns="0">
            <a:spAutoFit/>
          </a:bodyPr>
          <a:lstStyle/>
          <a:p>
            <a:pPr>
              <a:lnSpc>
                <a:spcPct val="120000"/>
              </a:lnSpc>
              <a:spcAft>
                <a:spcPts val="600"/>
              </a:spcAft>
            </a:pPr>
            <a:r>
              <a:rPr sz="1150" b="1">
                <a:solidFill>
                  <a:srgbClr val="1E3A8A"/>
                </a:solidFill>
                <a:latin typeface="Microsoft YaHei"/>
              </a:rPr>
              <a:t>• 验证背景：</a:t>
            </a:r>
            <a:r>
              <a:rPr sz="1150">
                <a:solidFill>
                  <a:srgbClr val="1E293B"/>
                </a:solidFill>
                <a:latin typeface="Microsoft YaHei"/>
              </a:rPr>
              <a:t>跨节点共享 KV 极易因模型版本、词表、提示词模板漂移或半写脏块导致错误消费；在 TP=8 多卡并行下，各卡状态不一致会触发集合通信死锁。</a:t>
            </a:r>
          </a:p>
          <a:p>
            <a:pPr>
              <a:lnSpc>
                <a:spcPct val="120000"/>
              </a:lnSpc>
              <a:spcAft>
                <a:spcPts val="600"/>
              </a:spcAft>
            </a:pPr>
            <a:r>
              <a:rPr sz="1150" b="1">
                <a:solidFill>
                  <a:srgbClr val="1E3A8A"/>
                </a:solidFill>
                <a:latin typeface="Microsoft YaHei"/>
              </a:rPr>
              <a:t>• 验证目的：</a:t>
            </a:r>
            <a:r>
              <a:rPr sz="1150">
                <a:solidFill>
                  <a:srgbClr val="1E293B"/>
                </a:solidFill>
                <a:latin typeface="Microsoft YaHei"/>
              </a:rPr>
              <a:t>验证消费资格校验引擎（ConsumeEligibility）执行 6 维语义微秒级检查；验证基于 POSIX 共享内存的 </a:t>
            </a:r>
            <a:r>
              <a:rPr sz="1150" b="1">
                <a:solidFill>
                  <a:srgbClr val="DC2626"/>
                </a:solidFill>
                <a:latin typeface="Microsoft YaHei"/>
              </a:rPr>
              <a:t>张量并行多卡状态同步机制（TP=8 多卡状态同步耗时 P99 &lt; 100µs）</a:t>
            </a:r>
            <a:r>
              <a:rPr sz="1150">
                <a:solidFill>
                  <a:srgbClr val="1E293B"/>
                </a:solidFill>
                <a:latin typeface="Microsoft YaHei"/>
              </a:rPr>
              <a:t>。</a:t>
            </a:r>
          </a:p>
          <a:p>
            <a:pPr>
              <a:lnSpc>
                <a:spcPct val="120000"/>
              </a:lnSpc>
              <a:spcAft>
                <a:spcPts val="600"/>
              </a:spcAft>
            </a:pPr>
            <a:r>
              <a:rPr sz="1150" b="1">
                <a:solidFill>
                  <a:srgbClr val="1E3A8A"/>
                </a:solidFill>
                <a:latin typeface="Microsoft YaHei"/>
              </a:rPr>
              <a:t>• 对整体项目的支撑：</a:t>
            </a:r>
            <a:r>
              <a:rPr sz="1150">
                <a:solidFill>
                  <a:srgbClr val="1E293B"/>
                </a:solidFill>
                <a:latin typeface="Microsoft YaHei"/>
              </a:rPr>
              <a:t>筑牢生产级系统正确性底线，彻底杜绝脏读，杜绝多卡集合通信死锁。</a:t>
            </a:r>
          </a:p>
        </p:txBody>
      </p:sp>
      <p:sp>
        <p:nvSpPr>
          <p:cNvPr id="8" name="Rectangle 7"/>
          <p:cNvSpPr/>
          <p:nvPr/>
        </p:nvSpPr>
        <p:spPr>
          <a:xfrm>
            <a:off x="6202375" y="1051560"/>
            <a:ext cx="5532120" cy="2240280"/>
          </a:xfrm>
          <a:prstGeom prst="rect">
            <a:avLst/>
          </a:prstGeom>
          <a:solidFill>
            <a:srgbClr val="FFFF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202375" y="1051560"/>
            <a:ext cx="5532120" cy="310896"/>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12103" y="1088136"/>
            <a:ext cx="5312664" cy="237744"/>
          </a:xfrm>
          <a:prstGeom prst="rect">
            <a:avLst/>
          </a:prstGeom>
          <a:noFill/>
        </p:spPr>
        <p:txBody>
          <a:bodyPr wrap="none" lIns="0" tIns="0" rIns="0" bIns="0">
            <a:spAutoFit/>
          </a:bodyPr>
          <a:lstStyle/>
          <a:p>
            <a:pPr>
              <a:defRPr sz="1200" b="1">
                <a:solidFill>
                  <a:srgbClr val="FFFFFF"/>
                </a:solidFill>
                <a:latin typeface="Microsoft YaHei"/>
              </a:defRPr>
            </a:pPr>
            <a:r>
              <a:t>2. 所需软硬件环境与技术规范</a:t>
            </a:r>
            <a:r>
              <a:rPr sz="1000" b="1">
                <a:solidFill>
                  <a:srgbClr val="BFDBFE"/>
                </a:solidFill>
                <a:latin typeface="Microsoft YaHei"/>
              </a:rPr>
              <a:t>  [环境与依赖]</a:t>
            </a:r>
          </a:p>
        </p:txBody>
      </p:sp>
      <p:sp>
        <p:nvSpPr>
          <p:cNvPr id="11" name="TextBox 10"/>
          <p:cNvSpPr txBox="1"/>
          <p:nvPr/>
        </p:nvSpPr>
        <p:spPr>
          <a:xfrm>
            <a:off x="6330391" y="1417320"/>
            <a:ext cx="5276088" cy="1819656"/>
          </a:xfrm>
          <a:prstGeom prst="rect">
            <a:avLst/>
          </a:prstGeom>
          <a:noFill/>
        </p:spPr>
        <p:txBody>
          <a:bodyPr wrap="square" lIns="0" tIns="0" rIns="0" bIns="0">
            <a:spAutoFit/>
          </a:bodyPr>
          <a:lstStyle/>
          <a:p>
            <a:pPr>
              <a:lnSpc>
                <a:spcPct val="120000"/>
              </a:lnSpc>
              <a:spcAft>
                <a:spcPts val="600"/>
              </a:spcAft>
            </a:pPr>
            <a:r>
              <a:rPr sz="1150" b="1">
                <a:solidFill>
                  <a:srgbClr val="1E3A8A"/>
                </a:solidFill>
                <a:latin typeface="Microsoft YaHei"/>
              </a:rPr>
              <a:t>• 语义校验引擎：</a:t>
            </a:r>
            <a:r>
              <a:rPr sz="1150">
                <a:solidFill>
                  <a:srgbClr val="1E293B"/>
                </a:solidFill>
                <a:latin typeface="Microsoft YaHei"/>
              </a:rPr>
              <a:t>引入头文件 </a:t>
            </a:r>
            <a:r>
              <a:rPr sz="1150" b="1">
                <a:solidFill>
                  <a:srgbClr val="1E3A8A"/>
                </a:solidFill>
                <a:latin typeface="Consolas"/>
              </a:rPr>
              <a:t>consume_eligibility.h</a:t>
            </a:r>
            <a:r>
              <a:rPr sz="1150">
                <a:solidFill>
                  <a:srgbClr val="1E293B"/>
                </a:solidFill>
                <a:latin typeface="Microsoft YaHei"/>
              </a:rPr>
              <a:t>，采用 </a:t>
            </a:r>
            <a:r>
              <a:rPr sz="1150" b="1">
                <a:solidFill>
                  <a:srgbClr val="1E3A8A"/>
                </a:solidFill>
                <a:latin typeface="Consolas"/>
              </a:rPr>
              <a:t>xxHash64</a:t>
            </a:r>
            <a:r>
              <a:rPr sz="1150">
                <a:solidFill>
                  <a:srgbClr val="1E293B"/>
                </a:solidFill>
                <a:latin typeface="Microsoft YaHei"/>
              </a:rPr>
              <a:t> 对模型架构、Tokenizer 词表、Prompt 模板、LoRA 适配器及租约执行微秒级校验。</a:t>
            </a:r>
          </a:p>
          <a:p>
            <a:pPr>
              <a:lnSpc>
                <a:spcPct val="120000"/>
              </a:lnSpc>
              <a:spcAft>
                <a:spcPts val="600"/>
              </a:spcAft>
            </a:pPr>
            <a:r>
              <a:rPr sz="1150" b="1">
                <a:solidFill>
                  <a:srgbClr val="1E3A8A"/>
                </a:solidFill>
                <a:latin typeface="Microsoft YaHei"/>
              </a:rPr>
              <a:t>• 多卡共享内存：</a:t>
            </a:r>
            <a:r>
              <a:rPr sz="1150">
                <a:solidFill>
                  <a:srgbClr val="1E293B"/>
                </a:solidFill>
                <a:latin typeface="Microsoft YaHei"/>
              </a:rPr>
              <a:t>利用 Linux </a:t>
            </a:r>
            <a:r>
              <a:rPr sz="1150" b="1">
                <a:solidFill>
                  <a:srgbClr val="1E3A8A"/>
                </a:solidFill>
                <a:latin typeface="Consolas"/>
              </a:rPr>
              <a:t>/dev/shm</a:t>
            </a:r>
            <a:r>
              <a:rPr sz="1150">
                <a:solidFill>
                  <a:srgbClr val="1E293B"/>
                </a:solidFill>
                <a:latin typeface="Microsoft YaHei"/>
              </a:rPr>
              <a:t> POSIX 共享内存与原子位图同步 TP=8 各卡就绪状态，替代高开销 NCCL 集合通信。</a:t>
            </a:r>
          </a:p>
          <a:p>
            <a:pPr>
              <a:lnSpc>
                <a:spcPct val="120000"/>
              </a:lnSpc>
              <a:spcAft>
                <a:spcPts val="600"/>
              </a:spcAft>
            </a:pPr>
            <a:r>
              <a:rPr sz="1150" b="1">
                <a:solidFill>
                  <a:srgbClr val="1E3A8A"/>
                </a:solidFill>
                <a:latin typeface="Microsoft YaHei"/>
              </a:rPr>
              <a:t>• 编译参数：</a:t>
            </a:r>
            <a:r>
              <a:rPr sz="1150" b="1">
                <a:solidFill>
                  <a:srgbClr val="1E3A8A"/>
                </a:solidFill>
                <a:latin typeface="Consolas"/>
              </a:rPr>
              <a:t>-lxxhash -lrt -lpthread -O3</a:t>
            </a:r>
          </a:p>
        </p:txBody>
      </p:sp>
      <p:sp>
        <p:nvSpPr>
          <p:cNvPr id="12" name="Rectangle 11"/>
          <p:cNvSpPr/>
          <p:nvPr/>
        </p:nvSpPr>
        <p:spPr>
          <a:xfrm>
            <a:off x="457200" y="3383280"/>
            <a:ext cx="5532120" cy="2359152"/>
          </a:xfrm>
          <a:prstGeom prst="rect">
            <a:avLst/>
          </a:prstGeom>
          <a:solidFill>
            <a:srgbClr val="FFFF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57200" y="3383280"/>
            <a:ext cx="5532120" cy="310896"/>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66928" y="3419856"/>
            <a:ext cx="5312664" cy="237744"/>
          </a:xfrm>
          <a:prstGeom prst="rect">
            <a:avLst/>
          </a:prstGeom>
          <a:noFill/>
        </p:spPr>
        <p:txBody>
          <a:bodyPr wrap="none" lIns="0" tIns="0" rIns="0" bIns="0">
            <a:spAutoFit/>
          </a:bodyPr>
          <a:lstStyle/>
          <a:p>
            <a:pPr>
              <a:defRPr sz="1200" b="1">
                <a:solidFill>
                  <a:srgbClr val="FFFFFF"/>
                </a:solidFill>
                <a:latin typeface="Microsoft YaHei"/>
              </a:defRPr>
            </a:pPr>
            <a:r>
              <a:t>3. 测试数据集与 Benchmark 方案</a:t>
            </a:r>
            <a:r>
              <a:rPr sz="1000" b="1">
                <a:solidFill>
                  <a:srgbClr val="BFDBFE"/>
                </a:solidFill>
                <a:latin typeface="Microsoft YaHei"/>
              </a:rPr>
              <a:t>  [测试方法]</a:t>
            </a:r>
          </a:p>
        </p:txBody>
      </p:sp>
      <p:sp>
        <p:nvSpPr>
          <p:cNvPr id="15" name="TextBox 14"/>
          <p:cNvSpPr txBox="1"/>
          <p:nvPr/>
        </p:nvSpPr>
        <p:spPr>
          <a:xfrm>
            <a:off x="585216" y="3749040"/>
            <a:ext cx="5276088" cy="1938528"/>
          </a:xfrm>
          <a:prstGeom prst="rect">
            <a:avLst/>
          </a:prstGeom>
          <a:noFill/>
        </p:spPr>
        <p:txBody>
          <a:bodyPr wrap="square" lIns="0" tIns="0" rIns="0" bIns="0">
            <a:spAutoFit/>
          </a:bodyPr>
          <a:lstStyle/>
          <a:p>
            <a:pPr>
              <a:lnSpc>
                <a:spcPct val="120000"/>
              </a:lnSpc>
              <a:spcAft>
                <a:spcPts val="600"/>
              </a:spcAft>
            </a:pPr>
            <a:r>
              <a:rPr sz="1150" b="1">
                <a:solidFill>
                  <a:srgbClr val="1E3A8A"/>
                </a:solidFill>
                <a:latin typeface="Microsoft YaHei"/>
              </a:rPr>
              <a:t>• 8 类语义冲突注入测试 (test_correctness.py)：</a:t>
            </a:r>
            <a:r>
              <a:rPr sz="1150">
                <a:solidFill>
                  <a:srgbClr val="1E293B"/>
                </a:solidFill>
                <a:latin typeface="Microsoft YaHei"/>
              </a:rPr>
              <a:t>主动注入模型架构不匹配、词表版本漂移、LoRA 权重失效、半写脏块、租约过期等 8 类冲突，检验拦截率与回滚。</a:t>
            </a:r>
          </a:p>
          <a:p>
            <a:pPr>
              <a:lnSpc>
                <a:spcPct val="120000"/>
              </a:lnSpc>
              <a:spcAft>
                <a:spcPts val="600"/>
              </a:spcAft>
            </a:pPr>
            <a:r>
              <a:rPr sz="1150" b="1">
                <a:solidFill>
                  <a:srgbClr val="1E3A8A"/>
                </a:solidFill>
                <a:latin typeface="Microsoft YaHei"/>
              </a:rPr>
              <a:t>• 多卡状态同步压测 (rank_consensus_bench.cc)：</a:t>
            </a:r>
            <a:r>
              <a:rPr sz="1150">
                <a:solidFill>
                  <a:srgbClr val="1E293B"/>
                </a:solidFill>
                <a:latin typeface="Microsoft YaHei"/>
              </a:rPr>
              <a:t>在 TP=8 模式下连续执行 100 万次状态同步，测量各卡一致性决策的 P50/P99 耗时与抖动。</a:t>
            </a:r>
          </a:p>
          <a:p>
            <a:pPr>
              <a:lnSpc>
                <a:spcPct val="120000"/>
              </a:lnSpc>
              <a:spcAft>
                <a:spcPts val="600"/>
              </a:spcAft>
            </a:pPr>
            <a:r>
              <a:rPr sz="1150" b="1">
                <a:solidFill>
                  <a:srgbClr val="1E3A8A"/>
                </a:solidFill>
                <a:latin typeface="Microsoft YaHei"/>
              </a:rPr>
              <a:t>• 部分命中拼接验证：</a:t>
            </a:r>
            <a:r>
              <a:rPr sz="1150">
                <a:solidFill>
                  <a:srgbClr val="1E293B"/>
                </a:solidFill>
                <a:latin typeface="Microsoft YaHei"/>
              </a:rPr>
              <a:t>验证 30%~70% 部分前缀命中时，各卡正确完成已命中部分加载与未命中部分本地重算的协同执行。</a:t>
            </a:r>
          </a:p>
        </p:txBody>
      </p:sp>
      <p:sp>
        <p:nvSpPr>
          <p:cNvPr id="16" name="Rectangle 15"/>
          <p:cNvSpPr/>
          <p:nvPr/>
        </p:nvSpPr>
        <p:spPr>
          <a:xfrm>
            <a:off x="6202375" y="3383280"/>
            <a:ext cx="5532120" cy="2359152"/>
          </a:xfrm>
          <a:prstGeom prst="rect">
            <a:avLst/>
          </a:prstGeom>
          <a:solidFill>
            <a:srgbClr val="FFFF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202375" y="3383280"/>
            <a:ext cx="5532120" cy="310896"/>
          </a:xfrm>
          <a:prstGeom prst="rect">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12103" y="3419856"/>
            <a:ext cx="5312664" cy="237744"/>
          </a:xfrm>
          <a:prstGeom prst="rect">
            <a:avLst/>
          </a:prstGeom>
          <a:noFill/>
        </p:spPr>
        <p:txBody>
          <a:bodyPr wrap="none" lIns="0" tIns="0" rIns="0" bIns="0">
            <a:spAutoFit/>
          </a:bodyPr>
          <a:lstStyle/>
          <a:p>
            <a:pPr>
              <a:defRPr sz="1200" b="1">
                <a:solidFill>
                  <a:srgbClr val="FFFFFF"/>
                </a:solidFill>
                <a:latin typeface="Microsoft YaHei"/>
              </a:defRPr>
            </a:pPr>
            <a:r>
              <a:t>4. 输出数据要求与判定标准</a:t>
            </a:r>
            <a:r>
              <a:rPr sz="1000" b="1">
                <a:solidFill>
                  <a:srgbClr val="BFDBFE"/>
                </a:solidFill>
                <a:latin typeface="Microsoft YaHei"/>
              </a:rPr>
              <a:t>  [达标要求]</a:t>
            </a:r>
          </a:p>
        </p:txBody>
      </p:sp>
      <p:sp>
        <p:nvSpPr>
          <p:cNvPr id="19" name="TextBox 18"/>
          <p:cNvSpPr txBox="1"/>
          <p:nvPr/>
        </p:nvSpPr>
        <p:spPr>
          <a:xfrm>
            <a:off x="6330391" y="3749040"/>
            <a:ext cx="5276088" cy="1938528"/>
          </a:xfrm>
          <a:prstGeom prst="rect">
            <a:avLst/>
          </a:prstGeom>
          <a:noFill/>
        </p:spPr>
        <p:txBody>
          <a:bodyPr wrap="square" lIns="0" tIns="0" rIns="0" bIns="0">
            <a:spAutoFit/>
          </a:bodyPr>
          <a:lstStyle/>
          <a:p>
            <a:pPr>
              <a:lnSpc>
                <a:spcPct val="120000"/>
              </a:lnSpc>
              <a:spcAft>
                <a:spcPts val="600"/>
              </a:spcAft>
            </a:pPr>
            <a:r>
              <a:rPr sz="1150" b="1">
                <a:solidFill>
                  <a:srgbClr val="1E3A8A"/>
                </a:solidFill>
                <a:latin typeface="Microsoft YaHei"/>
              </a:rPr>
              <a:t>• 关键交付物：</a:t>
            </a:r>
            <a:r>
              <a:rPr sz="1150">
                <a:solidFill>
                  <a:srgbClr val="1E293B"/>
                </a:solidFill>
                <a:latin typeface="Microsoft YaHei"/>
              </a:rPr>
              <a:t>《6 维语义冲突拦截与正确性报告》、《TP=8 多卡状态同步时延分布表》、《输出 Token 逐字对齐验证报告》。</a:t>
            </a:r>
          </a:p>
          <a:p>
            <a:pPr>
              <a:lnSpc>
                <a:spcPct val="120000"/>
              </a:lnSpc>
              <a:spcAft>
                <a:spcPts val="600"/>
              </a:spcAft>
            </a:pPr>
            <a:r>
              <a:rPr sz="1150" b="1">
                <a:solidFill>
                  <a:srgbClr val="1E3A8A"/>
                </a:solidFill>
                <a:latin typeface="Microsoft YaHei"/>
              </a:rPr>
              <a:t>• 判定达标要求 (Go/No-Go)：</a:t>
            </a:r>
            <a:r>
              <a:rPr sz="1150" b="1">
                <a:solidFill>
                  <a:srgbClr val="1E293B"/>
                </a:solidFill>
                <a:latin typeface="Microsoft YaHei"/>
              </a:rPr>
              <a:t>1. 语义一致性保障：</a:t>
            </a:r>
            <a:r>
              <a:rPr sz="1150" b="1">
                <a:solidFill>
                  <a:srgbClr val="DC2626"/>
                </a:solidFill>
                <a:latin typeface="Microsoft YaHei"/>
              </a:rPr>
              <a:t>8 类语义冲突用例 100% 主动拦截，错误消费严格 = 0</a:t>
            </a:r>
            <a:r>
              <a:rPr sz="1150">
                <a:solidFill>
                  <a:srgbClr val="1E293B"/>
                </a:solidFill>
                <a:latin typeface="Microsoft YaHei"/>
              </a:rPr>
              <a:t>；
</a:t>
            </a:r>
            <a:r>
              <a:rPr sz="1150" b="1">
                <a:solidFill>
                  <a:srgbClr val="1E293B"/>
                </a:solidFill>
                <a:latin typeface="Microsoft YaHei"/>
              </a:rPr>
              <a:t>2. 多卡状态同步时延：</a:t>
            </a:r>
            <a:r>
              <a:rPr sz="1150" b="1">
                <a:solidFill>
                  <a:srgbClr val="059669"/>
                </a:solidFill>
                <a:latin typeface="Microsoft YaHei"/>
              </a:rPr>
              <a:t>TP=8 张量并行多卡状态同步耗时 P99 &lt; 100µs</a:t>
            </a:r>
            <a:r>
              <a:rPr sz="1150">
                <a:solidFill>
                  <a:srgbClr val="1E293B"/>
                </a:solidFill>
                <a:latin typeface="Microsoft YaHei"/>
              </a:rPr>
              <a:t>；
</a:t>
            </a:r>
            <a:r>
              <a:rPr sz="1150" b="1">
                <a:solidFill>
                  <a:srgbClr val="1E293B"/>
                </a:solidFill>
                <a:latin typeface="Microsoft YaHei"/>
              </a:rPr>
              <a:t>3. 协同无死锁：</a:t>
            </a:r>
            <a:r>
              <a:rPr sz="1150" b="1">
                <a:solidFill>
                  <a:srgbClr val="2563EB"/>
                </a:solidFill>
                <a:latin typeface="Microsoft YaHei"/>
              </a:rPr>
              <a:t>部分命中与单卡异常时，全卡协同回退本地重算，死锁发生次数 = 0</a:t>
            </a:r>
            <a:r>
              <a:rPr sz="1150">
                <a:solidFill>
                  <a:srgbClr val="1E293B"/>
                </a:solidFill>
                <a:latin typeface="Microsoft YaHei"/>
              </a:rPr>
              <a:t>。</a:t>
            </a:r>
          </a:p>
        </p:txBody>
      </p:sp>
      <p:sp>
        <p:nvSpPr>
          <p:cNvPr id="20" name="Rectangle 19"/>
          <p:cNvSpPr/>
          <p:nvPr/>
        </p:nvSpPr>
        <p:spPr>
          <a:xfrm>
            <a:off x="457200" y="5833872"/>
            <a:ext cx="11277295" cy="694944"/>
          </a:xfrm>
          <a:prstGeom prst="rect">
            <a:avLst/>
          </a:prstGeom>
          <a:solidFill>
            <a:srgbClr val="FFFFFF"/>
          </a:solidFill>
          <a:ln w="1524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57200" y="5833872"/>
            <a:ext cx="73152" cy="694944"/>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21792" y="5907024"/>
            <a:ext cx="11002975" cy="566928"/>
          </a:xfrm>
          <a:prstGeom prst="rect">
            <a:avLst/>
          </a:prstGeom>
          <a:noFill/>
        </p:spPr>
        <p:txBody>
          <a:bodyPr wrap="square" lIns="0" tIns="0" rIns="0" bIns="0">
            <a:spAutoFit/>
          </a:bodyPr>
          <a:lstStyle/>
          <a:p>
            <a:pPr>
              <a:lnSpc>
                <a:spcPct val="122000"/>
              </a:lnSpc>
            </a:pPr>
            <a:r>
              <a:rPr sz="1200" b="1">
                <a:solidFill>
                  <a:srgbClr val="2563EB"/>
                </a:solidFill>
                <a:latin typeface="Microsoft YaHei"/>
              </a:rPr>
              <a:t>【方案核心结论】 </a:t>
            </a:r>
            <a:r>
              <a:rPr sz="1200" b="1">
                <a:solidFill>
                  <a:srgbClr val="0F172A"/>
                </a:solidFill>
                <a:latin typeface="Microsoft YaHei"/>
              </a:rPr>
              <a:t>PVT-06 语义强校验与多卡共识：</a:t>
            </a:r>
            <a:r>
              <a:rPr sz="1150" b="1">
                <a:solidFill>
                  <a:srgbClr val="0F172A"/>
                </a:solidFill>
                <a:latin typeface="Microsoft YaHei"/>
              </a:rPr>
              <a:t>6 维语义强校验实现 </a:t>
            </a:r>
            <a:r>
              <a:rPr sz="1150" b="1">
                <a:solidFill>
                  <a:srgbClr val="DC2626"/>
                </a:solidFill>
                <a:latin typeface="Microsoft YaHei"/>
              </a:rPr>
              <a:t>错误数据消费严格为 0</a:t>
            </a:r>
            <a:r>
              <a:rPr sz="1150" b="1">
                <a:solidFill>
                  <a:srgbClr val="0F172A"/>
                </a:solidFill>
                <a:latin typeface="Microsoft YaHei"/>
              </a:rPr>
              <a:t>，TP=8 多卡状态同步耗时达到 </a:t>
            </a:r>
            <a:r>
              <a:rPr sz="1150" b="1">
                <a:solidFill>
                  <a:srgbClr val="DC2626"/>
                </a:solidFill>
                <a:latin typeface="Microsoft YaHei"/>
              </a:rPr>
              <a:t>P99 &lt; 100µs</a:t>
            </a:r>
            <a:r>
              <a:rPr sz="1150" b="1">
                <a:solidFill>
                  <a:srgbClr val="0F172A"/>
                </a:solidFill>
                <a:latin typeface="Microsoft YaHei"/>
              </a:rPr>
              <a:t>，彻底杜绝集合通信死锁与模型胡言乱语。</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0040"/>
            <a:ext cx="9875520" cy="640080"/>
          </a:xfrm>
          <a:prstGeom prst="rect">
            <a:avLst/>
          </a:prstGeom>
          <a:noFill/>
        </p:spPr>
        <p:txBody>
          <a:bodyPr wrap="square" lIns="0" tIns="0" rIns="0" bIns="0">
            <a:spAutoFit/>
          </a:bodyPr>
          <a:lstStyle/>
          <a:p>
            <a:pPr>
              <a:defRPr sz="1900" b="1">
                <a:solidFill>
                  <a:srgbClr val="1E3A8A"/>
                </a:solidFill>
                <a:latin typeface="Microsoft YaHei"/>
              </a:defRPr>
            </a:pPr>
            <a:r>
              <a:t>PVT-07：前后台混压全链路端到端总门禁与 SemanticQoS 验证</a:t>
            </a:r>
          </a:p>
          <a:p>
            <a:pPr>
              <a:spcBef>
                <a:spcPts val="300"/>
              </a:spcBef>
              <a:defRPr sz="1100">
                <a:solidFill>
                  <a:srgbClr val="475569"/>
                </a:solidFill>
                <a:latin typeface="Microsoft YaHei"/>
              </a:defRPr>
            </a:pPr>
            <a:r>
              <a:t>在 2 节点真实集群、前台在线推理与后台满载 I/O 混压下，串联全流程，实施三重消融对账，确立立项总门禁</a:t>
            </a:r>
          </a:p>
        </p:txBody>
      </p:sp>
      <p:sp>
        <p:nvSpPr>
          <p:cNvPr id="3" name="TextBox 2"/>
          <p:cNvSpPr txBox="1"/>
          <p:nvPr/>
        </p:nvSpPr>
        <p:spPr>
          <a:xfrm>
            <a:off x="10424160" y="320040"/>
            <a:ext cx="1310335" cy="320040"/>
          </a:xfrm>
          <a:prstGeom prst="rect">
            <a:avLst/>
          </a:prstGeom>
          <a:noFill/>
        </p:spPr>
        <p:txBody>
          <a:bodyPr wrap="none" lIns="0" tIns="0" rIns="0" bIns="0">
            <a:spAutoFit/>
          </a:bodyPr>
          <a:lstStyle/>
          <a:p>
            <a:pPr algn="r">
              <a:defRPr sz="1150" b="1">
                <a:solidFill>
                  <a:srgbClr val="2563EB"/>
                </a:solidFill>
                <a:latin typeface="Microsoft YaHei"/>
              </a:defRPr>
            </a:pPr>
            <a:r>
              <a:t>第 10 / 15 页</a:t>
            </a:r>
          </a:p>
        </p:txBody>
      </p:sp>
      <p:sp>
        <p:nvSpPr>
          <p:cNvPr id="4" name="Rectangle 3"/>
          <p:cNvSpPr/>
          <p:nvPr/>
        </p:nvSpPr>
        <p:spPr>
          <a:xfrm>
            <a:off x="457200" y="1051560"/>
            <a:ext cx="5532120" cy="2240280"/>
          </a:xfrm>
          <a:prstGeom prst="rect">
            <a:avLst/>
          </a:prstGeom>
          <a:solidFill>
            <a:srgbClr val="FFFF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57200" y="1051560"/>
            <a:ext cx="5532120" cy="310896"/>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088136"/>
            <a:ext cx="5312664" cy="237744"/>
          </a:xfrm>
          <a:prstGeom prst="rect">
            <a:avLst/>
          </a:prstGeom>
          <a:noFill/>
        </p:spPr>
        <p:txBody>
          <a:bodyPr wrap="none" lIns="0" tIns="0" rIns="0" bIns="0">
            <a:spAutoFit/>
          </a:bodyPr>
          <a:lstStyle/>
          <a:p>
            <a:pPr>
              <a:defRPr sz="1200" b="1">
                <a:solidFill>
                  <a:srgbClr val="FFFFFF"/>
                </a:solidFill>
                <a:latin typeface="Microsoft YaHei"/>
              </a:defRPr>
            </a:pPr>
            <a:r>
              <a:t>1. 验证背景、必要性与目标定位</a:t>
            </a:r>
            <a:r>
              <a:rPr sz="1000" b="1">
                <a:solidFill>
                  <a:srgbClr val="BFDBFE"/>
                </a:solidFill>
                <a:latin typeface="Microsoft YaHei"/>
              </a:rPr>
              <a:t>  [P0 级 | 阶段 E3 混压总门禁]</a:t>
            </a:r>
          </a:p>
        </p:txBody>
      </p:sp>
      <p:sp>
        <p:nvSpPr>
          <p:cNvPr id="7" name="TextBox 6"/>
          <p:cNvSpPr txBox="1"/>
          <p:nvPr/>
        </p:nvSpPr>
        <p:spPr>
          <a:xfrm>
            <a:off x="585216" y="1417320"/>
            <a:ext cx="5276088" cy="1819656"/>
          </a:xfrm>
          <a:prstGeom prst="rect">
            <a:avLst/>
          </a:prstGeom>
          <a:noFill/>
        </p:spPr>
        <p:txBody>
          <a:bodyPr wrap="square" lIns="0" tIns="0" rIns="0" bIns="0">
            <a:spAutoFit/>
          </a:bodyPr>
          <a:lstStyle/>
          <a:p>
            <a:pPr>
              <a:lnSpc>
                <a:spcPct val="120000"/>
              </a:lnSpc>
              <a:spcAft>
                <a:spcPts val="600"/>
              </a:spcAft>
            </a:pPr>
            <a:r>
              <a:rPr sz="1150" b="1">
                <a:solidFill>
                  <a:srgbClr val="1E3A8A"/>
                </a:solidFill>
                <a:latin typeface="Microsoft YaHei"/>
              </a:rPr>
              <a:t>• 验证背景：</a:t>
            </a:r>
            <a:r>
              <a:rPr sz="1150">
                <a:solidFill>
                  <a:srgbClr val="1E293B"/>
                </a:solidFill>
                <a:latin typeface="Microsoft YaHei"/>
              </a:rPr>
              <a:t>单项传输达标不代表在线业务可用。在真实业务中，前台在线推理与后台大流量数据换出/预取混压，极易导致总线拥塞与 TPOT 尾部严重抖动。</a:t>
            </a:r>
          </a:p>
          <a:p>
            <a:pPr>
              <a:lnSpc>
                <a:spcPct val="120000"/>
              </a:lnSpc>
              <a:spcAft>
                <a:spcPts val="600"/>
              </a:spcAft>
            </a:pPr>
            <a:r>
              <a:rPr sz="1150" b="1">
                <a:solidFill>
                  <a:srgbClr val="1E3A8A"/>
                </a:solidFill>
                <a:latin typeface="Microsoft YaHei"/>
              </a:rPr>
              <a:t>• 验证目的：</a:t>
            </a:r>
            <a:r>
              <a:rPr sz="1150">
                <a:solidFill>
                  <a:srgbClr val="1E293B"/>
                </a:solidFill>
                <a:latin typeface="Microsoft YaHei"/>
              </a:rPr>
              <a:t>在 2 节点集群全流程串联下，验证前后台服务质量保障策略（SemanticQoS），实现 </a:t>
            </a:r>
            <a:r>
              <a:rPr sz="1150" b="1">
                <a:solidFill>
                  <a:srgbClr val="DC2626"/>
                </a:solidFill>
                <a:latin typeface="Microsoft YaHei"/>
              </a:rPr>
              <a:t>全链路 TTFT 显著降低、系统吞吐提升且前台 TPOT 尾部时延严格稳定</a:t>
            </a:r>
            <a:r>
              <a:rPr sz="1150">
                <a:solidFill>
                  <a:srgbClr val="1E293B"/>
                </a:solidFill>
                <a:latin typeface="Microsoft YaHei"/>
              </a:rPr>
              <a:t>。</a:t>
            </a:r>
          </a:p>
          <a:p>
            <a:pPr>
              <a:lnSpc>
                <a:spcPct val="120000"/>
              </a:lnSpc>
              <a:spcAft>
                <a:spcPts val="600"/>
              </a:spcAft>
            </a:pPr>
            <a:r>
              <a:rPr sz="1150" b="1">
                <a:solidFill>
                  <a:srgbClr val="1E3A8A"/>
                </a:solidFill>
                <a:latin typeface="Microsoft YaHei"/>
              </a:rPr>
              <a:t>• 对整体项目的支撑：</a:t>
            </a:r>
            <a:r>
              <a:rPr sz="1150">
                <a:solidFill>
                  <a:srgbClr val="1E293B"/>
                </a:solidFill>
                <a:latin typeface="Microsoft YaHei"/>
              </a:rPr>
              <a:t>作为阶段 E3 终极验收总门禁，提供无懈可击的三重消融对账证据，直接支撑正式立项决策。</a:t>
            </a:r>
          </a:p>
        </p:txBody>
      </p:sp>
      <p:sp>
        <p:nvSpPr>
          <p:cNvPr id="8" name="Rectangle 7"/>
          <p:cNvSpPr/>
          <p:nvPr/>
        </p:nvSpPr>
        <p:spPr>
          <a:xfrm>
            <a:off x="6202375" y="1051560"/>
            <a:ext cx="5532120" cy="2240280"/>
          </a:xfrm>
          <a:prstGeom prst="rect">
            <a:avLst/>
          </a:prstGeom>
          <a:solidFill>
            <a:srgbClr val="FFFF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202375" y="1051560"/>
            <a:ext cx="5532120" cy="310896"/>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12103" y="1088136"/>
            <a:ext cx="5312664" cy="237744"/>
          </a:xfrm>
          <a:prstGeom prst="rect">
            <a:avLst/>
          </a:prstGeom>
          <a:noFill/>
        </p:spPr>
        <p:txBody>
          <a:bodyPr wrap="none" lIns="0" tIns="0" rIns="0" bIns="0">
            <a:spAutoFit/>
          </a:bodyPr>
          <a:lstStyle/>
          <a:p>
            <a:pPr>
              <a:defRPr sz="1200" b="1">
                <a:solidFill>
                  <a:srgbClr val="FFFFFF"/>
                </a:solidFill>
                <a:latin typeface="Microsoft YaHei"/>
              </a:defRPr>
            </a:pPr>
            <a:r>
              <a:t>2. 所需软硬件环境与技术规范</a:t>
            </a:r>
            <a:r>
              <a:rPr sz="1000" b="1">
                <a:solidFill>
                  <a:srgbClr val="BFDBFE"/>
                </a:solidFill>
                <a:latin typeface="Microsoft YaHei"/>
              </a:rPr>
              <a:t>  [环境与依赖]</a:t>
            </a:r>
          </a:p>
        </p:txBody>
      </p:sp>
      <p:sp>
        <p:nvSpPr>
          <p:cNvPr id="11" name="TextBox 10"/>
          <p:cNvSpPr txBox="1"/>
          <p:nvPr/>
        </p:nvSpPr>
        <p:spPr>
          <a:xfrm>
            <a:off x="6330391" y="1417320"/>
            <a:ext cx="5276088" cy="1819656"/>
          </a:xfrm>
          <a:prstGeom prst="rect">
            <a:avLst/>
          </a:prstGeom>
          <a:noFill/>
        </p:spPr>
        <p:txBody>
          <a:bodyPr wrap="square" lIns="0" tIns="0" rIns="0" bIns="0">
            <a:spAutoFit/>
          </a:bodyPr>
          <a:lstStyle/>
          <a:p>
            <a:pPr>
              <a:lnSpc>
                <a:spcPct val="120000"/>
              </a:lnSpc>
              <a:spcAft>
                <a:spcPts val="600"/>
              </a:spcAft>
            </a:pPr>
            <a:r>
              <a:rPr sz="1150" b="1">
                <a:solidFill>
                  <a:srgbClr val="1E3A8A"/>
                </a:solidFill>
                <a:latin typeface="Microsoft YaHei"/>
              </a:rPr>
              <a:t>• 集群物理拓扑：</a:t>
            </a:r>
            <a:r>
              <a:rPr sz="1150">
                <a:solidFill>
                  <a:srgbClr val="1E293B"/>
                </a:solidFill>
                <a:latin typeface="Microsoft YaHei"/>
              </a:rPr>
              <a:t>2 节点（Node-0 Prefill 节点，Node-1 Decode 节点），800G URMA 直连，4× NVMe Gen5 SSD 阵列。</a:t>
            </a:r>
          </a:p>
          <a:p>
            <a:pPr>
              <a:lnSpc>
                <a:spcPct val="120000"/>
              </a:lnSpc>
              <a:spcAft>
                <a:spcPts val="600"/>
              </a:spcAft>
            </a:pPr>
            <a:r>
              <a:rPr sz="1150" b="1">
                <a:solidFill>
                  <a:srgbClr val="1E3A8A"/>
                </a:solidFill>
                <a:latin typeface="Microsoft YaHei"/>
              </a:rPr>
              <a:t>• 流控与 QoS 规范：</a:t>
            </a:r>
            <a:r>
              <a:rPr sz="1150">
                <a:solidFill>
                  <a:srgbClr val="1E293B"/>
                </a:solidFill>
                <a:latin typeface="Microsoft YaHei"/>
              </a:rPr>
              <a:t>网络硬件优先级队列（RoCE TC0 前台 / TC1 后台），配合应用层微秒级自适应退避流控算法。</a:t>
            </a:r>
          </a:p>
          <a:p>
            <a:pPr>
              <a:lnSpc>
                <a:spcPct val="120000"/>
              </a:lnSpc>
              <a:spcAft>
                <a:spcPts val="600"/>
              </a:spcAft>
            </a:pPr>
            <a:r>
              <a:rPr sz="1150" b="1">
                <a:solidFill>
                  <a:srgbClr val="1E3A8A"/>
                </a:solidFill>
                <a:latin typeface="Microsoft YaHei"/>
              </a:rPr>
              <a:t>• 开源全流程集成：</a:t>
            </a:r>
            <a:r>
              <a:rPr sz="1150">
                <a:solidFill>
                  <a:srgbClr val="1E293B"/>
                </a:solidFill>
                <a:latin typeface="Microsoft YaHei"/>
              </a:rPr>
              <a:t>vLLM-Ascend + Mooncake 集群，基于 </a:t>
            </a:r>
            <a:r>
              <a:rPr sz="1150" b="1">
                <a:solidFill>
                  <a:srgbClr val="1E3A8A"/>
                </a:solidFill>
                <a:latin typeface="Consolas"/>
              </a:rPr>
              <a:t>deploy_cluster.sh</a:t>
            </a:r>
            <a:r>
              <a:rPr sz="1150">
                <a:solidFill>
                  <a:srgbClr val="1E293B"/>
                </a:solidFill>
                <a:latin typeface="Microsoft YaHei"/>
              </a:rPr>
              <a:t> 与 </a:t>
            </a:r>
            <a:r>
              <a:rPr sz="1150" b="1">
                <a:solidFill>
                  <a:srgbClr val="1E3A8A"/>
                </a:solidFill>
                <a:latin typeface="Consolas"/>
              </a:rPr>
              <a:t>benchmark_serving.py</a:t>
            </a:r>
            <a:r>
              <a:rPr sz="1150">
                <a:solidFill>
                  <a:srgbClr val="1E293B"/>
                </a:solidFill>
                <a:latin typeface="Microsoft YaHei"/>
              </a:rPr>
              <a:t> 进行在线打流。</a:t>
            </a:r>
          </a:p>
        </p:txBody>
      </p:sp>
      <p:sp>
        <p:nvSpPr>
          <p:cNvPr id="12" name="Rectangle 11"/>
          <p:cNvSpPr/>
          <p:nvPr/>
        </p:nvSpPr>
        <p:spPr>
          <a:xfrm>
            <a:off x="457200" y="3383280"/>
            <a:ext cx="5532120" cy="2359152"/>
          </a:xfrm>
          <a:prstGeom prst="rect">
            <a:avLst/>
          </a:prstGeom>
          <a:solidFill>
            <a:srgbClr val="FFFF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57200" y="3383280"/>
            <a:ext cx="5532120" cy="310896"/>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66928" y="3419856"/>
            <a:ext cx="5312664" cy="237744"/>
          </a:xfrm>
          <a:prstGeom prst="rect">
            <a:avLst/>
          </a:prstGeom>
          <a:noFill/>
        </p:spPr>
        <p:txBody>
          <a:bodyPr wrap="none" lIns="0" tIns="0" rIns="0" bIns="0">
            <a:spAutoFit/>
          </a:bodyPr>
          <a:lstStyle/>
          <a:p>
            <a:pPr>
              <a:defRPr sz="1200" b="1">
                <a:solidFill>
                  <a:srgbClr val="FFFFFF"/>
                </a:solidFill>
                <a:latin typeface="Microsoft YaHei"/>
              </a:defRPr>
            </a:pPr>
            <a:r>
              <a:t>3. 测试数据集与 Benchmark 方案</a:t>
            </a:r>
            <a:r>
              <a:rPr sz="1000" b="1">
                <a:solidFill>
                  <a:srgbClr val="BFDBFE"/>
                </a:solidFill>
                <a:latin typeface="Microsoft YaHei"/>
              </a:rPr>
              <a:t>  [测试方法]</a:t>
            </a:r>
          </a:p>
        </p:txBody>
      </p:sp>
      <p:sp>
        <p:nvSpPr>
          <p:cNvPr id="15" name="TextBox 14"/>
          <p:cNvSpPr txBox="1"/>
          <p:nvPr/>
        </p:nvSpPr>
        <p:spPr>
          <a:xfrm>
            <a:off x="585216" y="3749040"/>
            <a:ext cx="5276088" cy="1938528"/>
          </a:xfrm>
          <a:prstGeom prst="rect">
            <a:avLst/>
          </a:prstGeom>
          <a:noFill/>
        </p:spPr>
        <p:txBody>
          <a:bodyPr wrap="square" lIns="0" tIns="0" rIns="0" bIns="0">
            <a:spAutoFit/>
          </a:bodyPr>
          <a:lstStyle/>
          <a:p>
            <a:pPr>
              <a:lnSpc>
                <a:spcPct val="120000"/>
              </a:lnSpc>
              <a:spcAft>
                <a:spcPts val="600"/>
              </a:spcAft>
            </a:pPr>
            <a:r>
              <a:rPr sz="1150" b="1">
                <a:solidFill>
                  <a:srgbClr val="1E3A8A"/>
                </a:solidFill>
                <a:latin typeface="Microsoft YaHei"/>
              </a:rPr>
              <a:t>• 真实前后台混压负载：</a:t>
            </a:r>
            <a:r>
              <a:rPr sz="1150">
                <a:solidFill>
                  <a:srgbClr val="1E293B"/>
                </a:solidFill>
                <a:latin typeface="Microsoft YaHei"/>
              </a:rPr>
              <a:t>前台以 20~50 req/s 发送 ShareGPT 真实在线请求；后台同时发起 400 Gbps 满载 KV 数据换出与 SSD 回源。</a:t>
            </a:r>
          </a:p>
          <a:p>
            <a:pPr>
              <a:lnSpc>
                <a:spcPct val="120000"/>
              </a:lnSpc>
              <a:spcAft>
                <a:spcPts val="600"/>
              </a:spcAft>
            </a:pPr>
            <a:r>
              <a:rPr sz="1150" b="1">
                <a:solidFill>
                  <a:srgbClr val="1E3A8A"/>
                </a:solidFill>
                <a:latin typeface="Microsoft YaHei"/>
              </a:rPr>
              <a:t>• 三重消融对比实验 (run_mixed_bench.py)：</a:t>
            </a:r>
            <a:r>
              <a:rPr sz="1150">
                <a:solidFill>
                  <a:srgbClr val="1E293B"/>
                </a:solidFill>
                <a:latin typeface="Microsoft YaHei"/>
              </a:rPr>
              <a:t>严格在 ① 纯重算基线、② 原生 Mooncake 混压、③ Unified KV 深度重构扩展版混压之间开展同条件消融对比。</a:t>
            </a:r>
          </a:p>
          <a:p>
            <a:pPr>
              <a:lnSpc>
                <a:spcPct val="120000"/>
              </a:lnSpc>
              <a:spcAft>
                <a:spcPts val="600"/>
              </a:spcAft>
            </a:pPr>
            <a:r>
              <a:rPr sz="1150" b="1">
                <a:solidFill>
                  <a:srgbClr val="1E3A8A"/>
                </a:solidFill>
                <a:latin typeface="Microsoft YaHei"/>
              </a:rPr>
              <a:t>• 全链路指标采集：</a:t>
            </a:r>
            <a:r>
              <a:rPr sz="1150">
                <a:solidFill>
                  <a:srgbClr val="1E293B"/>
                </a:solidFill>
                <a:latin typeface="Microsoft YaHei"/>
              </a:rPr>
              <a:t>自动抓取端到端 TTFT (P50/P99)、TPOT (P50/P99/Jitter)、系统 QPS 与 NPU 算力利用率。</a:t>
            </a:r>
          </a:p>
        </p:txBody>
      </p:sp>
      <p:sp>
        <p:nvSpPr>
          <p:cNvPr id="16" name="Rectangle 15"/>
          <p:cNvSpPr/>
          <p:nvPr/>
        </p:nvSpPr>
        <p:spPr>
          <a:xfrm>
            <a:off x="6202375" y="3383280"/>
            <a:ext cx="5532120" cy="2359152"/>
          </a:xfrm>
          <a:prstGeom prst="rect">
            <a:avLst/>
          </a:prstGeom>
          <a:solidFill>
            <a:srgbClr val="FFFF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202375" y="3383280"/>
            <a:ext cx="5532120" cy="310896"/>
          </a:xfrm>
          <a:prstGeom prst="rect">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12103" y="3419856"/>
            <a:ext cx="5312664" cy="237744"/>
          </a:xfrm>
          <a:prstGeom prst="rect">
            <a:avLst/>
          </a:prstGeom>
          <a:noFill/>
        </p:spPr>
        <p:txBody>
          <a:bodyPr wrap="none" lIns="0" tIns="0" rIns="0" bIns="0">
            <a:spAutoFit/>
          </a:bodyPr>
          <a:lstStyle/>
          <a:p>
            <a:pPr>
              <a:defRPr sz="1200" b="1">
                <a:solidFill>
                  <a:srgbClr val="FFFFFF"/>
                </a:solidFill>
                <a:latin typeface="Microsoft YaHei"/>
              </a:defRPr>
            </a:pPr>
            <a:r>
              <a:t>4. 输出数据要求与判定标准</a:t>
            </a:r>
            <a:r>
              <a:rPr sz="1000" b="1">
                <a:solidFill>
                  <a:srgbClr val="BFDBFE"/>
                </a:solidFill>
                <a:latin typeface="Microsoft YaHei"/>
              </a:rPr>
              <a:t>  [达标要求]</a:t>
            </a:r>
          </a:p>
        </p:txBody>
      </p:sp>
      <p:sp>
        <p:nvSpPr>
          <p:cNvPr id="19" name="TextBox 18"/>
          <p:cNvSpPr txBox="1"/>
          <p:nvPr/>
        </p:nvSpPr>
        <p:spPr>
          <a:xfrm>
            <a:off x="6330391" y="3749040"/>
            <a:ext cx="5276088" cy="1938528"/>
          </a:xfrm>
          <a:prstGeom prst="rect">
            <a:avLst/>
          </a:prstGeom>
          <a:noFill/>
        </p:spPr>
        <p:txBody>
          <a:bodyPr wrap="square" lIns="0" tIns="0" rIns="0" bIns="0">
            <a:spAutoFit/>
          </a:bodyPr>
          <a:lstStyle/>
          <a:p>
            <a:pPr>
              <a:lnSpc>
                <a:spcPct val="120000"/>
              </a:lnSpc>
              <a:spcAft>
                <a:spcPts val="600"/>
              </a:spcAft>
            </a:pPr>
            <a:r>
              <a:rPr sz="1150" b="1">
                <a:solidFill>
                  <a:srgbClr val="1E3A8A"/>
                </a:solidFill>
                <a:latin typeface="Microsoft YaHei"/>
              </a:rPr>
              <a:t>• 关键交付物：</a:t>
            </a:r>
            <a:r>
              <a:rPr sz="1150">
                <a:solidFill>
                  <a:srgbClr val="1E293B"/>
                </a:solidFill>
                <a:latin typeface="Microsoft YaHei"/>
              </a:rPr>
              <a:t>《全链路前后台混压测试报告》、《三重消融对比汇总表》、《P99 TPOT 干扰率分布曲线》。</a:t>
            </a:r>
          </a:p>
          <a:p>
            <a:pPr>
              <a:lnSpc>
                <a:spcPct val="120000"/>
              </a:lnSpc>
              <a:spcAft>
                <a:spcPts val="600"/>
              </a:spcAft>
            </a:pPr>
            <a:r>
              <a:rPr sz="1150" b="1">
                <a:solidFill>
                  <a:srgbClr val="1E3A8A"/>
                </a:solidFill>
                <a:latin typeface="Microsoft YaHei"/>
              </a:rPr>
              <a:t>• 判定达标要求 (Go/No-Go)：</a:t>
            </a:r>
            <a:r>
              <a:rPr sz="1150" b="1">
                <a:solidFill>
                  <a:srgbClr val="1E293B"/>
                </a:solidFill>
                <a:latin typeface="Microsoft YaHei"/>
              </a:rPr>
              <a:t>1. 首字延迟降低：</a:t>
            </a:r>
            <a:r>
              <a:rPr sz="1150" b="1">
                <a:solidFill>
                  <a:srgbClr val="DC2626"/>
                </a:solidFill>
                <a:latin typeface="Microsoft YaHei"/>
              </a:rPr>
              <a:t>深度重构扩展版相比原生 Mooncake，全链路 P99 TTFT 降低 ≥ 20%</a:t>
            </a:r>
            <a:r>
              <a:rPr sz="1150">
                <a:solidFill>
                  <a:srgbClr val="1E293B"/>
                </a:solidFill>
                <a:latin typeface="Microsoft YaHei"/>
              </a:rPr>
              <a:t>；
</a:t>
            </a:r>
            <a:r>
              <a:rPr sz="1150" b="1">
                <a:solidFill>
                  <a:srgbClr val="1E293B"/>
                </a:solidFill>
                <a:latin typeface="Microsoft YaHei"/>
              </a:rPr>
              <a:t>2. 系统吞吐提升：</a:t>
            </a:r>
            <a:r>
              <a:rPr sz="1150" b="1">
                <a:solidFill>
                  <a:srgbClr val="059669"/>
                </a:solidFill>
                <a:latin typeface="Microsoft YaHei"/>
              </a:rPr>
              <a:t>双节点整体推理吞吐 QPS 提升 ≥ 10%</a:t>
            </a:r>
            <a:r>
              <a:rPr sz="1150">
                <a:solidFill>
                  <a:srgbClr val="1E293B"/>
                </a:solidFill>
                <a:latin typeface="Microsoft YaHei"/>
              </a:rPr>
              <a:t>；
</a:t>
            </a:r>
            <a:r>
              <a:rPr sz="1150" b="1">
                <a:solidFill>
                  <a:srgbClr val="1E293B"/>
                </a:solidFill>
                <a:latin typeface="Microsoft YaHei"/>
              </a:rPr>
              <a:t>3. 前台时延保护：</a:t>
            </a:r>
            <a:r>
              <a:rPr sz="1150" b="1">
                <a:solidFill>
                  <a:srgbClr val="2563EB"/>
                </a:solidFill>
                <a:latin typeface="Microsoft YaHei"/>
              </a:rPr>
              <a:t>后台 400G 满载混压下，前台 P99 TPOT 抖动干扰率严格 &lt; 3%</a:t>
            </a:r>
            <a:r>
              <a:rPr sz="1150">
                <a:solidFill>
                  <a:srgbClr val="1E293B"/>
                </a:solidFill>
                <a:latin typeface="Microsoft YaHei"/>
              </a:rPr>
              <a:t>。</a:t>
            </a:r>
          </a:p>
        </p:txBody>
      </p:sp>
      <p:sp>
        <p:nvSpPr>
          <p:cNvPr id="20" name="Rectangle 19"/>
          <p:cNvSpPr/>
          <p:nvPr/>
        </p:nvSpPr>
        <p:spPr>
          <a:xfrm>
            <a:off x="457200" y="5833872"/>
            <a:ext cx="11277295" cy="694944"/>
          </a:xfrm>
          <a:prstGeom prst="rect">
            <a:avLst/>
          </a:prstGeom>
          <a:solidFill>
            <a:srgbClr val="FFFFFF"/>
          </a:solidFill>
          <a:ln w="1524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57200" y="5833872"/>
            <a:ext cx="73152" cy="694944"/>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21792" y="5907024"/>
            <a:ext cx="11002975" cy="566928"/>
          </a:xfrm>
          <a:prstGeom prst="rect">
            <a:avLst/>
          </a:prstGeom>
          <a:noFill/>
        </p:spPr>
        <p:txBody>
          <a:bodyPr wrap="square" lIns="0" tIns="0" rIns="0" bIns="0">
            <a:spAutoFit/>
          </a:bodyPr>
          <a:lstStyle/>
          <a:p>
            <a:pPr>
              <a:lnSpc>
                <a:spcPct val="122000"/>
              </a:lnSpc>
            </a:pPr>
            <a:r>
              <a:rPr sz="1200" b="1">
                <a:solidFill>
                  <a:srgbClr val="2563EB"/>
                </a:solidFill>
                <a:latin typeface="Microsoft YaHei"/>
              </a:rPr>
              <a:t>【方案核心结论】 </a:t>
            </a:r>
            <a:r>
              <a:rPr sz="1200" b="1">
                <a:solidFill>
                  <a:srgbClr val="0F172A"/>
                </a:solidFill>
                <a:latin typeface="Microsoft YaHei"/>
              </a:rPr>
              <a:t>PVT-07 混压全链路总门禁：</a:t>
            </a:r>
            <a:r>
              <a:rPr sz="1150" b="1">
                <a:solidFill>
                  <a:srgbClr val="0F172A"/>
                </a:solidFill>
                <a:latin typeface="Microsoft YaHei"/>
              </a:rPr>
              <a:t>在 400G 满载混压下，全链路 </a:t>
            </a:r>
            <a:r>
              <a:rPr sz="1150" b="1">
                <a:solidFill>
                  <a:srgbClr val="DC2626"/>
                </a:solidFill>
                <a:latin typeface="Microsoft YaHei"/>
              </a:rPr>
              <a:t>P99 TTFT 降低 ≥20%</a:t>
            </a:r>
            <a:r>
              <a:rPr sz="1150" b="1">
                <a:solidFill>
                  <a:srgbClr val="0F172A"/>
                </a:solidFill>
                <a:latin typeface="Microsoft YaHei"/>
              </a:rPr>
              <a:t>，系统吞吐提升 </a:t>
            </a:r>
            <a:r>
              <a:rPr sz="1150" b="1">
                <a:solidFill>
                  <a:srgbClr val="DC2626"/>
                </a:solidFill>
                <a:latin typeface="Microsoft YaHei"/>
              </a:rPr>
              <a:t>≥10%</a:t>
            </a:r>
            <a:r>
              <a:rPr sz="1150" b="1">
                <a:solidFill>
                  <a:srgbClr val="0F172A"/>
                </a:solidFill>
                <a:latin typeface="Microsoft YaHei"/>
              </a:rPr>
              <a:t>，前台 TPOT 干扰率 </a:t>
            </a:r>
            <a:r>
              <a:rPr sz="1150" b="1">
                <a:solidFill>
                  <a:srgbClr val="DC2626"/>
                </a:solidFill>
                <a:latin typeface="Microsoft YaHei"/>
              </a:rPr>
              <a:t>&lt;3%</a:t>
            </a:r>
            <a:r>
              <a:rPr sz="1150" b="1">
                <a:solidFill>
                  <a:srgbClr val="0F172A"/>
                </a:solidFill>
                <a:latin typeface="Microsoft YaHei"/>
              </a:rPr>
              <a:t>，全量通过阶段 E3 终极立项总门禁。</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0040"/>
            <a:ext cx="9875520" cy="640080"/>
          </a:xfrm>
          <a:prstGeom prst="rect">
            <a:avLst/>
          </a:prstGeom>
          <a:noFill/>
        </p:spPr>
        <p:txBody>
          <a:bodyPr wrap="square" lIns="0" tIns="0" rIns="0" bIns="0">
            <a:spAutoFit/>
          </a:bodyPr>
          <a:lstStyle/>
          <a:p>
            <a:pPr>
              <a:defRPr sz="1900" b="1">
                <a:solidFill>
                  <a:srgbClr val="1E3A8A"/>
                </a:solidFill>
                <a:latin typeface="Microsoft YaHei"/>
              </a:defRPr>
            </a:pPr>
            <a:r>
              <a:t>PVT-08：1-to-N 组播式 KV 分发：硬件多播 vs 软件分层中继验证</a:t>
            </a:r>
          </a:p>
          <a:p>
            <a:pPr>
              <a:spcBef>
                <a:spcPts val="300"/>
              </a:spcBef>
              <a:defRPr sz="1100">
                <a:solidFill>
                  <a:srgbClr val="475569"/>
                </a:solidFill>
                <a:latin typeface="Microsoft YaHei"/>
              </a:defRPr>
            </a:pPr>
            <a:r>
              <a:t>覆盖公共提示词广播、Multi-Agent 共享上下文与 1P-to-ND 分发场景，验证软件分层中继相比单播节省 ≥60% 带宽</a:t>
            </a:r>
          </a:p>
        </p:txBody>
      </p:sp>
      <p:sp>
        <p:nvSpPr>
          <p:cNvPr id="3" name="TextBox 2"/>
          <p:cNvSpPr txBox="1"/>
          <p:nvPr/>
        </p:nvSpPr>
        <p:spPr>
          <a:xfrm>
            <a:off x="10424160" y="320040"/>
            <a:ext cx="1310335" cy="320040"/>
          </a:xfrm>
          <a:prstGeom prst="rect">
            <a:avLst/>
          </a:prstGeom>
          <a:noFill/>
        </p:spPr>
        <p:txBody>
          <a:bodyPr wrap="none" lIns="0" tIns="0" rIns="0" bIns="0">
            <a:spAutoFit/>
          </a:bodyPr>
          <a:lstStyle/>
          <a:p>
            <a:pPr algn="r">
              <a:defRPr sz="1150" b="1">
                <a:solidFill>
                  <a:srgbClr val="2563EB"/>
                </a:solidFill>
                <a:latin typeface="Microsoft YaHei"/>
              </a:defRPr>
            </a:pPr>
            <a:r>
              <a:t>第 11 / 15 页</a:t>
            </a:r>
          </a:p>
        </p:txBody>
      </p:sp>
      <p:sp>
        <p:nvSpPr>
          <p:cNvPr id="4" name="Rectangle 3"/>
          <p:cNvSpPr/>
          <p:nvPr/>
        </p:nvSpPr>
        <p:spPr>
          <a:xfrm>
            <a:off x="457200" y="1051560"/>
            <a:ext cx="5532120" cy="2240280"/>
          </a:xfrm>
          <a:prstGeom prst="rect">
            <a:avLst/>
          </a:prstGeom>
          <a:solidFill>
            <a:srgbClr val="FFFF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57200" y="1051560"/>
            <a:ext cx="5532120" cy="310896"/>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088136"/>
            <a:ext cx="5312664" cy="237744"/>
          </a:xfrm>
          <a:prstGeom prst="rect">
            <a:avLst/>
          </a:prstGeom>
          <a:noFill/>
        </p:spPr>
        <p:txBody>
          <a:bodyPr wrap="none" lIns="0" tIns="0" rIns="0" bIns="0">
            <a:spAutoFit/>
          </a:bodyPr>
          <a:lstStyle/>
          <a:p>
            <a:pPr>
              <a:defRPr sz="1200" b="1">
                <a:solidFill>
                  <a:srgbClr val="FFFFFF"/>
                </a:solidFill>
                <a:latin typeface="Microsoft YaHei"/>
              </a:defRPr>
            </a:pPr>
            <a:r>
              <a:t>1. 验证背景、必要性与目标定位</a:t>
            </a:r>
            <a:r>
              <a:rPr sz="1000" b="1">
                <a:solidFill>
                  <a:srgbClr val="BFDBFE"/>
                </a:solidFill>
                <a:latin typeface="Microsoft YaHei"/>
              </a:rPr>
              <a:t>  [P2 级 | 阶段 E1 拓展组播]</a:t>
            </a:r>
          </a:p>
        </p:txBody>
      </p:sp>
      <p:sp>
        <p:nvSpPr>
          <p:cNvPr id="7" name="TextBox 6"/>
          <p:cNvSpPr txBox="1"/>
          <p:nvPr/>
        </p:nvSpPr>
        <p:spPr>
          <a:xfrm>
            <a:off x="585216" y="1417320"/>
            <a:ext cx="5276088" cy="1819656"/>
          </a:xfrm>
          <a:prstGeom prst="rect">
            <a:avLst/>
          </a:prstGeom>
          <a:noFill/>
        </p:spPr>
        <p:txBody>
          <a:bodyPr wrap="square" lIns="0" tIns="0" rIns="0" bIns="0">
            <a:spAutoFit/>
          </a:bodyPr>
          <a:lstStyle/>
          <a:p>
            <a:pPr>
              <a:lnSpc>
                <a:spcPct val="120000"/>
              </a:lnSpc>
              <a:spcAft>
                <a:spcPts val="600"/>
              </a:spcAft>
            </a:pPr>
            <a:r>
              <a:rPr sz="1150" b="1">
                <a:solidFill>
                  <a:srgbClr val="1E3A8A"/>
                </a:solidFill>
                <a:latin typeface="Microsoft YaHei"/>
              </a:rPr>
              <a:t>• 验证背景：</a:t>
            </a:r>
            <a:r>
              <a:rPr sz="1150">
                <a:solidFill>
                  <a:srgbClr val="1E293B"/>
                </a:solidFill>
                <a:latin typeface="Microsoft YaHei"/>
              </a:rPr>
              <a:t>大模型存在大量 1-to-N 同一份 KV 分发给多个接收端的现实场景需求。传统逐个单播拉取会导致发送端网卡带宽瞬间被打满，引发拥塞。</a:t>
            </a:r>
          </a:p>
          <a:p>
            <a:pPr>
              <a:lnSpc>
                <a:spcPct val="120000"/>
              </a:lnSpc>
              <a:spcAft>
                <a:spcPts val="600"/>
              </a:spcAft>
            </a:pPr>
            <a:r>
              <a:rPr sz="1150" b="1">
                <a:solidFill>
                  <a:srgbClr val="1E3A8A"/>
                </a:solidFill>
                <a:latin typeface="Microsoft YaHei"/>
              </a:rPr>
              <a:t>• 验证目的：</a:t>
            </a:r>
            <a:r>
              <a:rPr sz="1150">
                <a:solidFill>
                  <a:srgbClr val="1E293B"/>
                </a:solidFill>
                <a:latin typeface="Microsoft YaHei"/>
              </a:rPr>
              <a:t>覆盖三大典型业务场景，测定单播、</a:t>
            </a:r>
            <a:r>
              <a:rPr sz="1150" b="1">
                <a:solidFill>
                  <a:srgbClr val="2563EB"/>
                </a:solidFill>
                <a:latin typeface="Microsoft YaHei"/>
              </a:rPr>
              <a:t>软件分层中继转发（Staging Fanout）</a:t>
            </a:r>
            <a:r>
              <a:rPr sz="1150">
                <a:solidFill>
                  <a:srgbClr val="1E293B"/>
                </a:solidFill>
                <a:latin typeface="Microsoft YaHei"/>
              </a:rPr>
              <a:t> 与硬件网络多播的性能，验证软件树状中继转发相比单播的带宽节省与时延加速收益。</a:t>
            </a:r>
          </a:p>
          <a:p>
            <a:pPr>
              <a:lnSpc>
                <a:spcPct val="120000"/>
              </a:lnSpc>
              <a:spcAft>
                <a:spcPts val="600"/>
              </a:spcAft>
            </a:pPr>
            <a:r>
              <a:rPr sz="1150" b="1">
                <a:solidFill>
                  <a:srgbClr val="1E3A8A"/>
                </a:solidFill>
                <a:latin typeface="Microsoft YaHei"/>
              </a:rPr>
              <a:t>• 对整体项目的支撑：</a:t>
            </a:r>
            <a:r>
              <a:rPr sz="1150">
                <a:solidFill>
                  <a:srgbClr val="1E293B"/>
                </a:solidFill>
                <a:latin typeface="Microsoft YaHei"/>
              </a:rPr>
              <a:t>证明利用集群计算节点建立树状中继即可实现高效分发，在硬件多播不可用时确立高可用、低依赖的纯软主力分发路径。</a:t>
            </a:r>
          </a:p>
        </p:txBody>
      </p:sp>
      <p:sp>
        <p:nvSpPr>
          <p:cNvPr id="8" name="Rectangle 7"/>
          <p:cNvSpPr/>
          <p:nvPr/>
        </p:nvSpPr>
        <p:spPr>
          <a:xfrm>
            <a:off x="6202375" y="1051560"/>
            <a:ext cx="5532120" cy="2240280"/>
          </a:xfrm>
          <a:prstGeom prst="rect">
            <a:avLst/>
          </a:prstGeom>
          <a:solidFill>
            <a:srgbClr val="FFFF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202375" y="1051560"/>
            <a:ext cx="5532120" cy="310896"/>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12103" y="1088136"/>
            <a:ext cx="5312664" cy="237744"/>
          </a:xfrm>
          <a:prstGeom prst="rect">
            <a:avLst/>
          </a:prstGeom>
          <a:noFill/>
        </p:spPr>
        <p:txBody>
          <a:bodyPr wrap="none" lIns="0" tIns="0" rIns="0" bIns="0">
            <a:spAutoFit/>
          </a:bodyPr>
          <a:lstStyle/>
          <a:p>
            <a:pPr>
              <a:defRPr sz="1200" b="1">
                <a:solidFill>
                  <a:srgbClr val="FFFFFF"/>
                </a:solidFill>
                <a:latin typeface="Microsoft YaHei"/>
              </a:defRPr>
            </a:pPr>
            <a:r>
              <a:t>2. 所需软硬件环境与技术规范</a:t>
            </a:r>
            <a:r>
              <a:rPr sz="1000" b="1">
                <a:solidFill>
                  <a:srgbClr val="BFDBFE"/>
                </a:solidFill>
                <a:latin typeface="Microsoft YaHei"/>
              </a:rPr>
              <a:t>  [环境与依赖]</a:t>
            </a:r>
          </a:p>
        </p:txBody>
      </p:sp>
      <p:sp>
        <p:nvSpPr>
          <p:cNvPr id="11" name="TextBox 10"/>
          <p:cNvSpPr txBox="1"/>
          <p:nvPr/>
        </p:nvSpPr>
        <p:spPr>
          <a:xfrm>
            <a:off x="6330391" y="1417320"/>
            <a:ext cx="5276088" cy="1819656"/>
          </a:xfrm>
          <a:prstGeom prst="rect">
            <a:avLst/>
          </a:prstGeom>
          <a:noFill/>
        </p:spPr>
        <p:txBody>
          <a:bodyPr wrap="square" lIns="0" tIns="0" rIns="0" bIns="0">
            <a:spAutoFit/>
          </a:bodyPr>
          <a:lstStyle/>
          <a:p>
            <a:pPr>
              <a:lnSpc>
                <a:spcPct val="120000"/>
              </a:lnSpc>
              <a:spcAft>
                <a:spcPts val="600"/>
              </a:spcAft>
            </a:pPr>
            <a:r>
              <a:rPr sz="1150" b="1">
                <a:solidFill>
                  <a:srgbClr val="1E3A8A"/>
                </a:solidFill>
                <a:latin typeface="Microsoft YaHei"/>
              </a:rPr>
              <a:t>• 集群拓扑：</a:t>
            </a:r>
            <a:r>
              <a:rPr sz="1150">
                <a:solidFill>
                  <a:srgbClr val="1E293B"/>
                </a:solidFill>
                <a:latin typeface="Microsoft YaHei"/>
              </a:rPr>
              <a:t>1 个源 Prefill 节点，2/4/8 个目的 Decode 节点，800G URMA 网络互联。</a:t>
            </a:r>
          </a:p>
          <a:p>
            <a:pPr>
              <a:lnSpc>
                <a:spcPct val="120000"/>
              </a:lnSpc>
              <a:spcAft>
                <a:spcPts val="600"/>
              </a:spcAft>
            </a:pPr>
            <a:r>
              <a:rPr sz="1150" b="1">
                <a:solidFill>
                  <a:srgbClr val="1E3A8A"/>
                </a:solidFill>
                <a:latin typeface="Microsoft YaHei"/>
              </a:rPr>
              <a:t>• 分发协议：</a:t>
            </a:r>
            <a:r>
              <a:rPr sz="1150">
                <a:solidFill>
                  <a:srgbClr val="1E293B"/>
                </a:solidFill>
                <a:latin typeface="Microsoft YaHei"/>
              </a:rPr>
              <a:t>基于 UBMEM 共享内存与 URMA 的树状 Staging 分发拓扑算法，支持节点级内存缓存与二阶段接力分发。</a:t>
            </a:r>
          </a:p>
          <a:p>
            <a:pPr>
              <a:lnSpc>
                <a:spcPct val="120000"/>
              </a:lnSpc>
              <a:spcAft>
                <a:spcPts val="600"/>
              </a:spcAft>
            </a:pPr>
            <a:r>
              <a:rPr sz="1150" b="1">
                <a:solidFill>
                  <a:srgbClr val="1E3A8A"/>
                </a:solidFill>
                <a:latin typeface="Microsoft YaHei"/>
              </a:rPr>
              <a:t>• 编译参数：</a:t>
            </a:r>
            <a:r>
              <a:rPr sz="1150" b="1">
                <a:solidFill>
                  <a:srgbClr val="1E3A8A"/>
                </a:solidFill>
                <a:latin typeface="Consolas"/>
              </a:rPr>
              <a:t>g++ -O3 -std=c++17 -Wall multicast_fanout_bench.cc -lurma -lubmem -lpthread</a:t>
            </a:r>
          </a:p>
        </p:txBody>
      </p:sp>
      <p:sp>
        <p:nvSpPr>
          <p:cNvPr id="12" name="Rectangle 11"/>
          <p:cNvSpPr/>
          <p:nvPr/>
        </p:nvSpPr>
        <p:spPr>
          <a:xfrm>
            <a:off x="457200" y="3383280"/>
            <a:ext cx="5532120" cy="2359152"/>
          </a:xfrm>
          <a:prstGeom prst="rect">
            <a:avLst/>
          </a:prstGeom>
          <a:solidFill>
            <a:srgbClr val="FFFF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57200" y="3383280"/>
            <a:ext cx="5532120" cy="310896"/>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66928" y="3419856"/>
            <a:ext cx="5312664" cy="237744"/>
          </a:xfrm>
          <a:prstGeom prst="rect">
            <a:avLst/>
          </a:prstGeom>
          <a:noFill/>
        </p:spPr>
        <p:txBody>
          <a:bodyPr wrap="none" lIns="0" tIns="0" rIns="0" bIns="0">
            <a:spAutoFit/>
          </a:bodyPr>
          <a:lstStyle/>
          <a:p>
            <a:pPr>
              <a:defRPr sz="1200" b="1">
                <a:solidFill>
                  <a:srgbClr val="FFFFFF"/>
                </a:solidFill>
                <a:latin typeface="Microsoft YaHei"/>
              </a:defRPr>
            </a:pPr>
            <a:r>
              <a:t>3. 测试数据集与 Benchmark 方案</a:t>
            </a:r>
            <a:r>
              <a:rPr sz="1000" b="1">
                <a:solidFill>
                  <a:srgbClr val="BFDBFE"/>
                </a:solidFill>
                <a:latin typeface="Microsoft YaHei"/>
              </a:rPr>
              <a:t>  [测试方法]</a:t>
            </a:r>
          </a:p>
        </p:txBody>
      </p:sp>
      <p:sp>
        <p:nvSpPr>
          <p:cNvPr id="15" name="TextBox 14"/>
          <p:cNvSpPr txBox="1"/>
          <p:nvPr/>
        </p:nvSpPr>
        <p:spPr>
          <a:xfrm>
            <a:off x="585216" y="3749040"/>
            <a:ext cx="5276088" cy="1938528"/>
          </a:xfrm>
          <a:prstGeom prst="rect">
            <a:avLst/>
          </a:prstGeom>
          <a:noFill/>
        </p:spPr>
        <p:txBody>
          <a:bodyPr wrap="square" lIns="0" tIns="0" rIns="0" bIns="0">
            <a:spAutoFit/>
          </a:bodyPr>
          <a:lstStyle/>
          <a:p>
            <a:pPr>
              <a:lnSpc>
                <a:spcPct val="120000"/>
              </a:lnSpc>
              <a:spcAft>
                <a:spcPts val="600"/>
              </a:spcAft>
            </a:pPr>
            <a:r>
              <a:rPr sz="1150" b="1">
                <a:solidFill>
                  <a:srgbClr val="1E3A8A"/>
                </a:solidFill>
                <a:latin typeface="Microsoft YaHei"/>
              </a:rPr>
              <a:t>• 三大业务场景编排 (test_fanout_scenarios.py)：</a:t>
            </a:r>
            <a:r>
              <a:rPr sz="1150">
                <a:solidFill>
                  <a:srgbClr val="1E293B"/>
                </a:solidFill>
                <a:latin typeface="Microsoft YaHei"/>
              </a:rPr>
              <a:t>• 热点系统提示词广播：32K~64K System Prompt 向 16 节点广播；
</a:t>
            </a:r>
            <a:r>
              <a:rPr sz="1150">
                <a:solidFill>
                  <a:srgbClr val="1E293B"/>
                </a:solidFill>
                <a:latin typeface="Microsoft YaHei"/>
              </a:rPr>
              <a:t>• Multi-Agent 上下文分发：主 Agent 生成 100K 上下文分发给 8 个子 Agent；
</a:t>
            </a:r>
            <a:r>
              <a:rPr sz="1150">
                <a:solidFill>
                  <a:srgbClr val="1E293B"/>
                </a:solidFill>
                <a:latin typeface="Microsoft YaHei"/>
              </a:rPr>
              <a:t>• PD 分离 1P-to-ND 分叉：单个 Prefill 向多个 Decode 副本并发推送。</a:t>
            </a:r>
          </a:p>
          <a:p>
            <a:pPr>
              <a:lnSpc>
                <a:spcPct val="120000"/>
              </a:lnSpc>
              <a:spcAft>
                <a:spcPts val="600"/>
              </a:spcAft>
            </a:pPr>
            <a:r>
              <a:rPr sz="1150" b="1">
                <a:solidFill>
                  <a:srgbClr val="1E3A8A"/>
                </a:solidFill>
                <a:latin typeface="Microsoft YaHei"/>
              </a:rPr>
              <a:t>• 拓扑对比压测 (multicast_fanout_bench.cc)：</a:t>
            </a:r>
            <a:r>
              <a:rPr sz="1150">
                <a:solidFill>
                  <a:srgbClr val="1E293B"/>
                </a:solidFill>
                <a:latin typeface="Microsoft YaHei"/>
              </a:rPr>
              <a:t>测试 16MB~128MB 数据在 1→2、1→4、1→8 规模下，单播、软件树状中继与硬件多播的带宽和耗时。</a:t>
            </a:r>
          </a:p>
        </p:txBody>
      </p:sp>
      <p:sp>
        <p:nvSpPr>
          <p:cNvPr id="16" name="Rectangle 15"/>
          <p:cNvSpPr/>
          <p:nvPr/>
        </p:nvSpPr>
        <p:spPr>
          <a:xfrm>
            <a:off x="6202375" y="3383280"/>
            <a:ext cx="5532120" cy="2359152"/>
          </a:xfrm>
          <a:prstGeom prst="rect">
            <a:avLst/>
          </a:prstGeom>
          <a:solidFill>
            <a:srgbClr val="FFFF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202375" y="3383280"/>
            <a:ext cx="5532120" cy="310896"/>
          </a:xfrm>
          <a:prstGeom prst="rect">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12103" y="3419856"/>
            <a:ext cx="5312664" cy="237744"/>
          </a:xfrm>
          <a:prstGeom prst="rect">
            <a:avLst/>
          </a:prstGeom>
          <a:noFill/>
        </p:spPr>
        <p:txBody>
          <a:bodyPr wrap="none" lIns="0" tIns="0" rIns="0" bIns="0">
            <a:spAutoFit/>
          </a:bodyPr>
          <a:lstStyle/>
          <a:p>
            <a:pPr>
              <a:defRPr sz="1200" b="1">
                <a:solidFill>
                  <a:srgbClr val="FFFFFF"/>
                </a:solidFill>
                <a:latin typeface="Microsoft YaHei"/>
              </a:defRPr>
            </a:pPr>
            <a:r>
              <a:t>4. 输出数据要求与判定标准</a:t>
            </a:r>
            <a:r>
              <a:rPr sz="1000" b="1">
                <a:solidFill>
                  <a:srgbClr val="BFDBFE"/>
                </a:solidFill>
                <a:latin typeface="Microsoft YaHei"/>
              </a:rPr>
              <a:t>  [达标要求]</a:t>
            </a:r>
          </a:p>
        </p:txBody>
      </p:sp>
      <p:sp>
        <p:nvSpPr>
          <p:cNvPr id="19" name="TextBox 18"/>
          <p:cNvSpPr txBox="1"/>
          <p:nvPr/>
        </p:nvSpPr>
        <p:spPr>
          <a:xfrm>
            <a:off x="6330391" y="3749040"/>
            <a:ext cx="5276088" cy="1938528"/>
          </a:xfrm>
          <a:prstGeom prst="rect">
            <a:avLst/>
          </a:prstGeom>
          <a:noFill/>
        </p:spPr>
        <p:txBody>
          <a:bodyPr wrap="square" lIns="0" tIns="0" rIns="0" bIns="0">
            <a:spAutoFit/>
          </a:bodyPr>
          <a:lstStyle/>
          <a:p>
            <a:pPr>
              <a:lnSpc>
                <a:spcPct val="120000"/>
              </a:lnSpc>
              <a:spcAft>
                <a:spcPts val="600"/>
              </a:spcAft>
            </a:pPr>
            <a:r>
              <a:rPr sz="1150" b="1">
                <a:solidFill>
                  <a:srgbClr val="1E3A8A"/>
                </a:solidFill>
                <a:latin typeface="Microsoft YaHei"/>
              </a:rPr>
              <a:t>• 关键交付物：</a:t>
            </a:r>
            <a:r>
              <a:rPr sz="1150">
                <a:solidFill>
                  <a:srgbClr val="1E293B"/>
                </a:solidFill>
                <a:latin typeface="Microsoft YaHei"/>
              </a:rPr>
              <a:t>《1-to-N 组播分发时延与带宽对比表》、《三大业务场景分发收益曲线》、《硬件多播必要性评估报告》。</a:t>
            </a:r>
          </a:p>
          <a:p>
            <a:pPr>
              <a:lnSpc>
                <a:spcPct val="120000"/>
              </a:lnSpc>
              <a:spcAft>
                <a:spcPts val="600"/>
              </a:spcAft>
            </a:pPr>
            <a:r>
              <a:rPr sz="1150" b="1">
                <a:solidFill>
                  <a:srgbClr val="1E3A8A"/>
                </a:solidFill>
                <a:latin typeface="Microsoft YaHei"/>
              </a:rPr>
              <a:t>• 判定达标要求 (Go/No-Go)：</a:t>
            </a:r>
            <a:r>
              <a:rPr sz="1150" b="1">
                <a:solidFill>
                  <a:srgbClr val="1E293B"/>
                </a:solidFill>
                <a:latin typeface="Microsoft YaHei"/>
              </a:rPr>
              <a:t>1. 源端带宽节省：</a:t>
            </a:r>
            <a:r>
              <a:rPr sz="1150" b="1">
                <a:solidFill>
                  <a:srgbClr val="DC2626"/>
                </a:solidFill>
                <a:latin typeface="Microsoft YaHei"/>
              </a:rPr>
              <a:t>在 1-to-8 分发下，软件 Staging 组播相比单播源端带宽占用降低 ≥ 60%</a:t>
            </a:r>
            <a:r>
              <a:rPr sz="1150">
                <a:solidFill>
                  <a:srgbClr val="1E293B"/>
                </a:solidFill>
                <a:latin typeface="Microsoft YaHei"/>
              </a:rPr>
              <a:t>；
</a:t>
            </a:r>
            <a:r>
              <a:rPr sz="1150" b="1">
                <a:solidFill>
                  <a:srgbClr val="1E293B"/>
                </a:solidFill>
                <a:latin typeface="Microsoft YaHei"/>
              </a:rPr>
              <a:t>2. 完成时延优化：</a:t>
            </a:r>
            <a:r>
              <a:rPr sz="1150" b="1">
                <a:solidFill>
                  <a:srgbClr val="059669"/>
                </a:solidFill>
                <a:latin typeface="Microsoft YaHei"/>
              </a:rPr>
              <a:t>各目的端数据接收完成时间 P99 降低 ≥ 40%</a:t>
            </a:r>
            <a:r>
              <a:rPr sz="1150">
                <a:solidFill>
                  <a:srgbClr val="1E293B"/>
                </a:solidFill>
                <a:latin typeface="Microsoft YaHei"/>
              </a:rPr>
              <a:t>；
</a:t>
            </a:r>
            <a:r>
              <a:rPr sz="1150" b="1">
                <a:solidFill>
                  <a:srgbClr val="1E293B"/>
                </a:solidFill>
                <a:latin typeface="Microsoft YaHei"/>
              </a:rPr>
              <a:t>3. 去硬件依赖：</a:t>
            </a:r>
            <a:r>
              <a:rPr sz="1150" b="1">
                <a:solidFill>
                  <a:srgbClr val="2563EB"/>
                </a:solidFill>
                <a:latin typeface="Microsoft YaHei"/>
              </a:rPr>
              <a:t>软件方案作为默认高可用主力路径，消除对特定网卡硬件多播的硬依赖</a:t>
            </a:r>
            <a:r>
              <a:rPr sz="1150">
                <a:solidFill>
                  <a:srgbClr val="1E293B"/>
                </a:solidFill>
                <a:latin typeface="Microsoft YaHei"/>
              </a:rPr>
              <a:t>。</a:t>
            </a:r>
          </a:p>
        </p:txBody>
      </p:sp>
      <p:sp>
        <p:nvSpPr>
          <p:cNvPr id="20" name="Rectangle 19"/>
          <p:cNvSpPr/>
          <p:nvPr/>
        </p:nvSpPr>
        <p:spPr>
          <a:xfrm>
            <a:off x="457200" y="5833872"/>
            <a:ext cx="11277295" cy="694944"/>
          </a:xfrm>
          <a:prstGeom prst="rect">
            <a:avLst/>
          </a:prstGeom>
          <a:solidFill>
            <a:srgbClr val="FFFFFF"/>
          </a:solidFill>
          <a:ln w="1524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57200" y="5833872"/>
            <a:ext cx="73152" cy="694944"/>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21792" y="5907024"/>
            <a:ext cx="11002975" cy="566928"/>
          </a:xfrm>
          <a:prstGeom prst="rect">
            <a:avLst/>
          </a:prstGeom>
          <a:noFill/>
        </p:spPr>
        <p:txBody>
          <a:bodyPr wrap="square" lIns="0" tIns="0" rIns="0" bIns="0">
            <a:spAutoFit/>
          </a:bodyPr>
          <a:lstStyle/>
          <a:p>
            <a:pPr>
              <a:lnSpc>
                <a:spcPct val="122000"/>
              </a:lnSpc>
            </a:pPr>
            <a:r>
              <a:rPr sz="1200" b="1">
                <a:solidFill>
                  <a:srgbClr val="2563EB"/>
                </a:solidFill>
                <a:latin typeface="Microsoft YaHei"/>
              </a:rPr>
              <a:t>【方案核心结论】 </a:t>
            </a:r>
            <a:r>
              <a:rPr sz="1200" b="1">
                <a:solidFill>
                  <a:srgbClr val="0F172A"/>
                </a:solidFill>
                <a:latin typeface="Microsoft YaHei"/>
              </a:rPr>
              <a:t>PVT-08 1-to-N 组播分发效能：</a:t>
            </a:r>
            <a:r>
              <a:rPr sz="1150" b="1">
                <a:solidFill>
                  <a:srgbClr val="0F172A"/>
                </a:solidFill>
                <a:latin typeface="Microsoft YaHei"/>
              </a:rPr>
              <a:t>软件分层中继组播在 1-to-8 分发下 </a:t>
            </a:r>
            <a:r>
              <a:rPr sz="1150" b="1">
                <a:solidFill>
                  <a:srgbClr val="DC2626"/>
                </a:solidFill>
                <a:latin typeface="Microsoft YaHei"/>
              </a:rPr>
              <a:t>源端带宽占用降低 ≥60%</a:t>
            </a:r>
            <a:r>
              <a:rPr sz="1150" b="1">
                <a:solidFill>
                  <a:srgbClr val="0F172A"/>
                </a:solidFill>
                <a:latin typeface="Microsoft YaHei"/>
              </a:rPr>
              <a:t>，接收完成耗时降低 </a:t>
            </a:r>
            <a:r>
              <a:rPr sz="1150" b="1">
                <a:solidFill>
                  <a:srgbClr val="DC2626"/>
                </a:solidFill>
                <a:latin typeface="Microsoft YaHei"/>
              </a:rPr>
              <a:t>≥40%</a:t>
            </a:r>
            <a:r>
              <a:rPr sz="1150" b="1">
                <a:solidFill>
                  <a:srgbClr val="0F172A"/>
                </a:solidFill>
                <a:latin typeface="Microsoft YaHei"/>
              </a:rPr>
              <a:t>，确立纯软件高效分发主路径，免除外部硬件多播强依赖。</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0040"/>
            <a:ext cx="9875520" cy="640080"/>
          </a:xfrm>
          <a:prstGeom prst="rect">
            <a:avLst/>
          </a:prstGeom>
          <a:noFill/>
        </p:spPr>
        <p:txBody>
          <a:bodyPr wrap="square" lIns="0" tIns="0" rIns="0" bIns="0">
            <a:spAutoFit/>
          </a:bodyPr>
          <a:lstStyle/>
          <a:p>
            <a:pPr>
              <a:defRPr sz="1900" b="1">
                <a:solidFill>
                  <a:srgbClr val="1E3A8A"/>
                </a:solidFill>
                <a:latin typeface="Microsoft YaHei"/>
              </a:defRPr>
            </a:pPr>
            <a:r>
              <a:t>PVT-09：DPU 硬件安全与算力卸载加速 vs Raw Direct 双轨验证</a:t>
            </a:r>
          </a:p>
          <a:p>
            <a:pPr>
              <a:spcBef>
                <a:spcPts val="300"/>
              </a:spcBef>
              <a:defRPr sz="1100">
                <a:solidFill>
                  <a:srgbClr val="475569"/>
                </a:solidFill>
                <a:latin typeface="Microsoft YaHei"/>
              </a:defRPr>
            </a:pPr>
            <a:r>
              <a:t>测定 DPU 线速 AES/CRC 卸载增益与 500µs 无缝降级，提前布局 Fly-in-line 流式在途量化/压缩双轨手段</a:t>
            </a:r>
          </a:p>
        </p:txBody>
      </p:sp>
      <p:sp>
        <p:nvSpPr>
          <p:cNvPr id="3" name="TextBox 2"/>
          <p:cNvSpPr txBox="1"/>
          <p:nvPr/>
        </p:nvSpPr>
        <p:spPr>
          <a:xfrm>
            <a:off x="10424160" y="320040"/>
            <a:ext cx="1310335" cy="320040"/>
          </a:xfrm>
          <a:prstGeom prst="rect">
            <a:avLst/>
          </a:prstGeom>
          <a:noFill/>
        </p:spPr>
        <p:txBody>
          <a:bodyPr wrap="none" lIns="0" tIns="0" rIns="0" bIns="0">
            <a:spAutoFit/>
          </a:bodyPr>
          <a:lstStyle/>
          <a:p>
            <a:pPr algn="r">
              <a:defRPr sz="1150" b="1">
                <a:solidFill>
                  <a:srgbClr val="2563EB"/>
                </a:solidFill>
                <a:latin typeface="Microsoft YaHei"/>
              </a:defRPr>
            </a:pPr>
            <a:r>
              <a:t>第 12 / 15 页</a:t>
            </a:r>
          </a:p>
        </p:txBody>
      </p:sp>
      <p:sp>
        <p:nvSpPr>
          <p:cNvPr id="4" name="Rectangle 3"/>
          <p:cNvSpPr/>
          <p:nvPr/>
        </p:nvSpPr>
        <p:spPr>
          <a:xfrm>
            <a:off x="457200" y="1051560"/>
            <a:ext cx="5532120" cy="2240280"/>
          </a:xfrm>
          <a:prstGeom prst="rect">
            <a:avLst/>
          </a:prstGeom>
          <a:solidFill>
            <a:srgbClr val="FFFF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57200" y="1051560"/>
            <a:ext cx="5532120" cy="310896"/>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088136"/>
            <a:ext cx="5312664" cy="237744"/>
          </a:xfrm>
          <a:prstGeom prst="rect">
            <a:avLst/>
          </a:prstGeom>
          <a:noFill/>
        </p:spPr>
        <p:txBody>
          <a:bodyPr wrap="none" lIns="0" tIns="0" rIns="0" bIns="0">
            <a:spAutoFit/>
          </a:bodyPr>
          <a:lstStyle/>
          <a:p>
            <a:pPr>
              <a:defRPr sz="1200" b="1">
                <a:solidFill>
                  <a:srgbClr val="FFFFFF"/>
                </a:solidFill>
                <a:latin typeface="Microsoft YaHei"/>
              </a:defRPr>
            </a:pPr>
            <a:r>
              <a:t>1. 验证背景、必要性与目标定位</a:t>
            </a:r>
            <a:r>
              <a:rPr sz="1000" b="1">
                <a:solidFill>
                  <a:srgbClr val="BFDBFE"/>
                </a:solidFill>
                <a:latin typeface="Microsoft YaHei"/>
              </a:rPr>
              <a:t>  [P1 级 | 阶段 E1 双轨协同]</a:t>
            </a:r>
          </a:p>
        </p:txBody>
      </p:sp>
      <p:sp>
        <p:nvSpPr>
          <p:cNvPr id="7" name="TextBox 6"/>
          <p:cNvSpPr txBox="1"/>
          <p:nvPr/>
        </p:nvSpPr>
        <p:spPr>
          <a:xfrm>
            <a:off x="585216" y="1417320"/>
            <a:ext cx="5276088" cy="1819656"/>
          </a:xfrm>
          <a:prstGeom prst="rect">
            <a:avLst/>
          </a:prstGeom>
          <a:noFill/>
        </p:spPr>
        <p:txBody>
          <a:bodyPr wrap="square" lIns="0" tIns="0" rIns="0" bIns="0">
            <a:spAutoFit/>
          </a:bodyPr>
          <a:lstStyle/>
          <a:p>
            <a:pPr>
              <a:lnSpc>
                <a:spcPct val="120000"/>
              </a:lnSpc>
              <a:spcAft>
                <a:spcPts val="600"/>
              </a:spcAft>
            </a:pPr>
            <a:r>
              <a:rPr sz="1150" b="1">
                <a:solidFill>
                  <a:srgbClr val="1E3A8A"/>
                </a:solidFill>
                <a:latin typeface="Microsoft YaHei"/>
              </a:rPr>
              <a:t>• 验证背景：</a:t>
            </a:r>
            <a:r>
              <a:rPr sz="1150">
                <a:solidFill>
                  <a:srgbClr val="1E293B"/>
                </a:solidFill>
                <a:latin typeface="Microsoft YaHei"/>
              </a:rPr>
              <a:t>企业级客户对数据传输加解密（AES-256）与 CRC 校验有刚性要求，CPU 软算会吞噬算力；同时必须确保无 DPU 时系统仍能依托 Raw Direct 路径高效运行。</a:t>
            </a:r>
          </a:p>
          <a:p>
            <a:pPr>
              <a:lnSpc>
                <a:spcPct val="120000"/>
              </a:lnSpc>
              <a:spcAft>
                <a:spcPts val="600"/>
              </a:spcAft>
            </a:pPr>
            <a:r>
              <a:rPr sz="1150" b="1">
                <a:solidFill>
                  <a:srgbClr val="1E3A8A"/>
                </a:solidFill>
                <a:latin typeface="Microsoft YaHei"/>
              </a:rPr>
              <a:t>• 验证目的：</a:t>
            </a:r>
            <a:r>
              <a:rPr sz="1150">
                <a:solidFill>
                  <a:srgbClr val="1E293B"/>
                </a:solidFill>
                <a:latin typeface="Microsoft YaHei"/>
              </a:rPr>
              <a:t>验证 DPU 硬件线速安全卸载收益；验证发生故障时 </a:t>
            </a:r>
            <a:r>
              <a:rPr sz="1150" b="1">
                <a:solidFill>
                  <a:srgbClr val="DC2626"/>
                </a:solidFill>
                <a:latin typeface="Microsoft YaHei"/>
              </a:rPr>
              <a:t>在 &lt; 500µs 内无缝降级至 Raw Direct 裸机直达路径</a:t>
            </a:r>
            <a:r>
              <a:rPr sz="1150">
                <a:solidFill>
                  <a:srgbClr val="1E293B"/>
                </a:solidFill>
                <a:latin typeface="Microsoft YaHei"/>
              </a:rPr>
              <a:t>；提前布局未来在途 FP8/INT4 量化与压缩双轨技术手段。</a:t>
            </a:r>
          </a:p>
          <a:p>
            <a:pPr>
              <a:lnSpc>
                <a:spcPct val="120000"/>
              </a:lnSpc>
              <a:spcAft>
                <a:spcPts val="600"/>
              </a:spcAft>
            </a:pPr>
            <a:r>
              <a:rPr sz="1150" b="1">
                <a:solidFill>
                  <a:srgbClr val="1E3A8A"/>
                </a:solidFill>
                <a:latin typeface="Microsoft YaHei"/>
              </a:rPr>
              <a:t>• 对整体项目的支撑：</a:t>
            </a:r>
            <a:r>
              <a:rPr sz="1150">
                <a:solidFill>
                  <a:srgbClr val="1E293B"/>
                </a:solidFill>
                <a:latin typeface="Microsoft YaHei"/>
              </a:rPr>
              <a:t>确立公有云可信 VPC 纯软主路径与企业级高安全 DPU 加速路径的双轨协同体系，降低硬件强依赖风险。</a:t>
            </a:r>
          </a:p>
        </p:txBody>
      </p:sp>
      <p:sp>
        <p:nvSpPr>
          <p:cNvPr id="8" name="Rectangle 7"/>
          <p:cNvSpPr/>
          <p:nvPr/>
        </p:nvSpPr>
        <p:spPr>
          <a:xfrm>
            <a:off x="6202375" y="1051560"/>
            <a:ext cx="5532120" cy="2240280"/>
          </a:xfrm>
          <a:prstGeom prst="rect">
            <a:avLst/>
          </a:prstGeom>
          <a:solidFill>
            <a:srgbClr val="FFFF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202375" y="1051560"/>
            <a:ext cx="5532120" cy="310896"/>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12103" y="1088136"/>
            <a:ext cx="5312664" cy="237744"/>
          </a:xfrm>
          <a:prstGeom prst="rect">
            <a:avLst/>
          </a:prstGeom>
          <a:noFill/>
        </p:spPr>
        <p:txBody>
          <a:bodyPr wrap="none" lIns="0" tIns="0" rIns="0" bIns="0">
            <a:spAutoFit/>
          </a:bodyPr>
          <a:lstStyle/>
          <a:p>
            <a:pPr>
              <a:defRPr sz="1200" b="1">
                <a:solidFill>
                  <a:srgbClr val="FFFFFF"/>
                </a:solidFill>
                <a:latin typeface="Microsoft YaHei"/>
              </a:defRPr>
            </a:pPr>
            <a:r>
              <a:t>2. 所需软硬件环境与技术规范</a:t>
            </a:r>
            <a:r>
              <a:rPr sz="1000" b="1">
                <a:solidFill>
                  <a:srgbClr val="BFDBFE"/>
                </a:solidFill>
                <a:latin typeface="Microsoft YaHei"/>
              </a:rPr>
              <a:t>  [环境与依赖]</a:t>
            </a:r>
          </a:p>
        </p:txBody>
      </p:sp>
      <p:sp>
        <p:nvSpPr>
          <p:cNvPr id="11" name="TextBox 10"/>
          <p:cNvSpPr txBox="1"/>
          <p:nvPr/>
        </p:nvSpPr>
        <p:spPr>
          <a:xfrm>
            <a:off x="6330391" y="1417320"/>
            <a:ext cx="5276088" cy="1819656"/>
          </a:xfrm>
          <a:prstGeom prst="rect">
            <a:avLst/>
          </a:prstGeom>
          <a:noFill/>
        </p:spPr>
        <p:txBody>
          <a:bodyPr wrap="square" lIns="0" tIns="0" rIns="0" bIns="0">
            <a:spAutoFit/>
          </a:bodyPr>
          <a:lstStyle/>
          <a:p>
            <a:pPr>
              <a:lnSpc>
                <a:spcPct val="120000"/>
              </a:lnSpc>
              <a:spcAft>
                <a:spcPts val="600"/>
              </a:spcAft>
            </a:pPr>
            <a:r>
              <a:rPr sz="1150" b="1">
                <a:solidFill>
                  <a:srgbClr val="1E3A8A"/>
                </a:solidFill>
                <a:latin typeface="Microsoft YaHei"/>
              </a:rPr>
              <a:t>• 硬件配置：</a:t>
            </a:r>
            <a:r>
              <a:rPr sz="1150">
                <a:solidFill>
                  <a:srgbClr val="1E293B"/>
                </a:solidFill>
                <a:latin typeface="Microsoft YaHei"/>
              </a:rPr>
              <a:t>可选配置企业级 800G DPU 智能网卡（集成硬件 AES-256-GCM / SM4 加密与 CRC64 引擎），对比无 DPU 标准网卡。</a:t>
            </a:r>
          </a:p>
          <a:p>
            <a:pPr>
              <a:lnSpc>
                <a:spcPct val="120000"/>
              </a:lnSpc>
              <a:spcAft>
                <a:spcPts val="600"/>
              </a:spcAft>
            </a:pPr>
            <a:r>
              <a:rPr sz="1150" b="1">
                <a:solidFill>
                  <a:srgbClr val="1E3A8A"/>
                </a:solidFill>
                <a:latin typeface="Microsoft YaHei"/>
              </a:rPr>
              <a:t>• 驱动与接口：</a:t>
            </a:r>
            <a:r>
              <a:rPr sz="1150">
                <a:solidFill>
                  <a:srgbClr val="1E293B"/>
                </a:solidFill>
                <a:latin typeface="Microsoft YaHei"/>
              </a:rPr>
              <a:t>DPU 用户态安全驱动接口；故障检测与无缝降级切换通道。</a:t>
            </a:r>
          </a:p>
          <a:p>
            <a:pPr>
              <a:lnSpc>
                <a:spcPct val="120000"/>
              </a:lnSpc>
              <a:spcAft>
                <a:spcPts val="600"/>
              </a:spcAft>
            </a:pPr>
            <a:r>
              <a:rPr sz="1150" b="1">
                <a:solidFill>
                  <a:srgbClr val="1E3A8A"/>
                </a:solidFill>
                <a:latin typeface="Microsoft YaHei"/>
              </a:rPr>
              <a:t>• 编译链接参数：</a:t>
            </a:r>
            <a:r>
              <a:rPr sz="1150" b="1">
                <a:solidFill>
                  <a:srgbClr val="1E3A8A"/>
                </a:solidFill>
                <a:latin typeface="Consolas"/>
              </a:rPr>
              <a:t>-ldpu_sec -lurma -lpthread -O3</a:t>
            </a:r>
          </a:p>
        </p:txBody>
      </p:sp>
      <p:sp>
        <p:nvSpPr>
          <p:cNvPr id="12" name="Rectangle 11"/>
          <p:cNvSpPr/>
          <p:nvPr/>
        </p:nvSpPr>
        <p:spPr>
          <a:xfrm>
            <a:off x="457200" y="3383280"/>
            <a:ext cx="5532120" cy="2359152"/>
          </a:xfrm>
          <a:prstGeom prst="rect">
            <a:avLst/>
          </a:prstGeom>
          <a:solidFill>
            <a:srgbClr val="FFFF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57200" y="3383280"/>
            <a:ext cx="5532120" cy="310896"/>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66928" y="3419856"/>
            <a:ext cx="5312664" cy="237744"/>
          </a:xfrm>
          <a:prstGeom prst="rect">
            <a:avLst/>
          </a:prstGeom>
          <a:noFill/>
        </p:spPr>
        <p:txBody>
          <a:bodyPr wrap="none" lIns="0" tIns="0" rIns="0" bIns="0">
            <a:spAutoFit/>
          </a:bodyPr>
          <a:lstStyle/>
          <a:p>
            <a:pPr>
              <a:defRPr sz="1200" b="1">
                <a:solidFill>
                  <a:srgbClr val="FFFFFF"/>
                </a:solidFill>
                <a:latin typeface="Microsoft YaHei"/>
              </a:defRPr>
            </a:pPr>
            <a:r>
              <a:t>3. 测试数据集与 Benchmark 方案</a:t>
            </a:r>
            <a:r>
              <a:rPr sz="1000" b="1">
                <a:solidFill>
                  <a:srgbClr val="BFDBFE"/>
                </a:solidFill>
                <a:latin typeface="Microsoft YaHei"/>
              </a:rPr>
              <a:t>  [测试方法]</a:t>
            </a:r>
          </a:p>
        </p:txBody>
      </p:sp>
      <p:sp>
        <p:nvSpPr>
          <p:cNvPr id="15" name="TextBox 14"/>
          <p:cNvSpPr txBox="1"/>
          <p:nvPr/>
        </p:nvSpPr>
        <p:spPr>
          <a:xfrm>
            <a:off x="585216" y="3749040"/>
            <a:ext cx="5276088" cy="1938528"/>
          </a:xfrm>
          <a:prstGeom prst="rect">
            <a:avLst/>
          </a:prstGeom>
          <a:noFill/>
        </p:spPr>
        <p:txBody>
          <a:bodyPr wrap="square" lIns="0" tIns="0" rIns="0" bIns="0">
            <a:spAutoFit/>
          </a:bodyPr>
          <a:lstStyle/>
          <a:p>
            <a:pPr>
              <a:lnSpc>
                <a:spcPct val="120000"/>
              </a:lnSpc>
              <a:spcAft>
                <a:spcPts val="600"/>
              </a:spcAft>
            </a:pPr>
            <a:r>
              <a:rPr sz="1150" b="1">
                <a:solidFill>
                  <a:srgbClr val="1E3A8A"/>
                </a:solidFill>
                <a:latin typeface="Microsoft YaHei"/>
              </a:rPr>
              <a:t>• 硬件安全卸载压测 (offload_fallback_bench.cc)：</a:t>
            </a:r>
            <a:r>
              <a:rPr sz="1150">
                <a:solidFill>
                  <a:srgbClr val="1E293B"/>
                </a:solidFill>
                <a:latin typeface="Microsoft YaHei"/>
              </a:rPr>
              <a:t>对比 Host CPU 软件 AES/CRC 软算与 DPU 硬件线速卸载的吞吐与 CPU 占用率。</a:t>
            </a:r>
          </a:p>
          <a:p>
            <a:pPr>
              <a:lnSpc>
                <a:spcPct val="120000"/>
              </a:lnSpc>
              <a:spcAft>
                <a:spcPts val="600"/>
              </a:spcAft>
            </a:pPr>
            <a:r>
              <a:rPr sz="1150" b="1">
                <a:solidFill>
                  <a:srgbClr val="1E3A8A"/>
                </a:solidFill>
                <a:latin typeface="Microsoft YaHei"/>
              </a:rPr>
              <a:t>• 500µs 无缝降级演练 (inject_dpu_fault.py)：</a:t>
            </a:r>
            <a:r>
              <a:rPr sz="1150">
                <a:solidFill>
                  <a:srgbClr val="1E293B"/>
                </a:solidFill>
                <a:latin typeface="Microsoft YaHei"/>
              </a:rPr>
              <a:t>在传输过程中注入 DPU 驱动挂死或控制超时故障，测量系统自动回退至 Raw Direct 裸机路径的耗时与数据完整性。</a:t>
            </a:r>
          </a:p>
          <a:p>
            <a:pPr>
              <a:lnSpc>
                <a:spcPct val="120000"/>
              </a:lnSpc>
              <a:spcAft>
                <a:spcPts val="600"/>
              </a:spcAft>
            </a:pPr>
            <a:r>
              <a:rPr sz="1150" b="1">
                <a:solidFill>
                  <a:srgbClr val="1E3A8A"/>
                </a:solidFill>
                <a:latin typeface="Microsoft YaHei"/>
              </a:rPr>
              <a:t>• Fly-in-line 双轨场景扩展布局：</a:t>
            </a:r>
            <a:r>
              <a:rPr sz="1150">
                <a:solidFill>
                  <a:srgbClr val="1E293B"/>
                </a:solidFill>
                <a:latin typeface="Microsoft YaHei"/>
              </a:rPr>
              <a:t>界定【有 DPU】走片上硬件管线 vs 【无 DPU】走 NPU 算子融合 (Fused Dequant-Attention Kernel) 的技术方案。</a:t>
            </a:r>
          </a:p>
        </p:txBody>
      </p:sp>
      <p:sp>
        <p:nvSpPr>
          <p:cNvPr id="16" name="Rectangle 15"/>
          <p:cNvSpPr/>
          <p:nvPr/>
        </p:nvSpPr>
        <p:spPr>
          <a:xfrm>
            <a:off x="6202375" y="3383280"/>
            <a:ext cx="5532120" cy="2359152"/>
          </a:xfrm>
          <a:prstGeom prst="rect">
            <a:avLst/>
          </a:prstGeom>
          <a:solidFill>
            <a:srgbClr val="FFFF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202375" y="3383280"/>
            <a:ext cx="5532120" cy="310896"/>
          </a:xfrm>
          <a:prstGeom prst="rect">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12103" y="3419856"/>
            <a:ext cx="5312664" cy="237744"/>
          </a:xfrm>
          <a:prstGeom prst="rect">
            <a:avLst/>
          </a:prstGeom>
          <a:noFill/>
        </p:spPr>
        <p:txBody>
          <a:bodyPr wrap="none" lIns="0" tIns="0" rIns="0" bIns="0">
            <a:spAutoFit/>
          </a:bodyPr>
          <a:lstStyle/>
          <a:p>
            <a:pPr>
              <a:defRPr sz="1200" b="1">
                <a:solidFill>
                  <a:srgbClr val="FFFFFF"/>
                </a:solidFill>
                <a:latin typeface="Microsoft YaHei"/>
              </a:defRPr>
            </a:pPr>
            <a:r>
              <a:t>4. 输出数据要求与判定标准</a:t>
            </a:r>
            <a:r>
              <a:rPr sz="1000" b="1">
                <a:solidFill>
                  <a:srgbClr val="BFDBFE"/>
                </a:solidFill>
                <a:latin typeface="Microsoft YaHei"/>
              </a:rPr>
              <a:t>  [达标要求]</a:t>
            </a:r>
          </a:p>
        </p:txBody>
      </p:sp>
      <p:sp>
        <p:nvSpPr>
          <p:cNvPr id="19" name="TextBox 18"/>
          <p:cNvSpPr txBox="1"/>
          <p:nvPr/>
        </p:nvSpPr>
        <p:spPr>
          <a:xfrm>
            <a:off x="6330391" y="3749040"/>
            <a:ext cx="5276088" cy="1938528"/>
          </a:xfrm>
          <a:prstGeom prst="rect">
            <a:avLst/>
          </a:prstGeom>
          <a:noFill/>
        </p:spPr>
        <p:txBody>
          <a:bodyPr wrap="square" lIns="0" tIns="0" rIns="0" bIns="0">
            <a:spAutoFit/>
          </a:bodyPr>
          <a:lstStyle/>
          <a:p>
            <a:pPr>
              <a:lnSpc>
                <a:spcPct val="120000"/>
              </a:lnSpc>
              <a:spcAft>
                <a:spcPts val="600"/>
              </a:spcAft>
            </a:pPr>
            <a:r>
              <a:rPr sz="1150" b="1">
                <a:solidFill>
                  <a:srgbClr val="1E3A8A"/>
                </a:solidFill>
                <a:latin typeface="Microsoft YaHei"/>
              </a:rPr>
              <a:t>• 关键交付物：</a:t>
            </a:r>
            <a:r>
              <a:rPr sz="1150">
                <a:solidFill>
                  <a:srgbClr val="1E293B"/>
                </a:solidFill>
                <a:latin typeface="Microsoft YaHei"/>
              </a:rPr>
              <a:t>《DPU 硬件安全卸载性能对比表》、《500µs 故障无缝降级切换日志》、《Fly-in-line 双轨技术设计规范》。</a:t>
            </a:r>
          </a:p>
          <a:p>
            <a:pPr>
              <a:lnSpc>
                <a:spcPct val="120000"/>
              </a:lnSpc>
              <a:spcAft>
                <a:spcPts val="600"/>
              </a:spcAft>
            </a:pPr>
            <a:r>
              <a:rPr sz="1150" b="1">
                <a:solidFill>
                  <a:srgbClr val="1E3A8A"/>
                </a:solidFill>
                <a:latin typeface="Microsoft YaHei"/>
              </a:rPr>
              <a:t>• 判定达标要求 (Go/No-Go)：</a:t>
            </a:r>
            <a:r>
              <a:rPr sz="1150" b="1">
                <a:solidFill>
                  <a:srgbClr val="1E293B"/>
                </a:solidFill>
                <a:latin typeface="Microsoft YaHei"/>
              </a:rPr>
              <a:t>1. 硬件卸载收益：</a:t>
            </a:r>
            <a:r>
              <a:rPr sz="1150" b="1">
                <a:solidFill>
                  <a:srgbClr val="DC2626"/>
                </a:solidFill>
                <a:latin typeface="Microsoft YaHei"/>
              </a:rPr>
              <a:t>DPU 硬件线速完成 AES/CRC 卸载，Host CPU 占用率降低 ≥ 30%</a:t>
            </a:r>
            <a:r>
              <a:rPr sz="1150">
                <a:solidFill>
                  <a:srgbClr val="1E293B"/>
                </a:solidFill>
                <a:latin typeface="Microsoft YaHei"/>
              </a:rPr>
              <a:t>；
</a:t>
            </a:r>
            <a:r>
              <a:rPr sz="1150" b="1">
                <a:solidFill>
                  <a:srgbClr val="1E293B"/>
                </a:solidFill>
                <a:latin typeface="Microsoft YaHei"/>
              </a:rPr>
              <a:t>2. 无缝降级切换：</a:t>
            </a:r>
            <a:r>
              <a:rPr sz="1150" b="1">
                <a:solidFill>
                  <a:srgbClr val="059669"/>
                </a:solidFill>
                <a:latin typeface="Microsoft YaHei"/>
              </a:rPr>
              <a:t>DPU 故障时系统在 &lt; 500µs 内无缝降级至 Raw Direct 裸机直达路径</a:t>
            </a:r>
            <a:r>
              <a:rPr sz="1150">
                <a:solidFill>
                  <a:srgbClr val="1E293B"/>
                </a:solidFill>
                <a:latin typeface="Microsoft YaHei"/>
              </a:rPr>
              <a:t>（请求 0 失败）；
</a:t>
            </a:r>
            <a:r>
              <a:rPr sz="1150" b="1">
                <a:solidFill>
                  <a:srgbClr val="1E293B"/>
                </a:solidFill>
                <a:latin typeface="Microsoft YaHei"/>
              </a:rPr>
              <a:t>3. 主路径去依赖：</a:t>
            </a:r>
            <a:r>
              <a:rPr sz="1150" b="1">
                <a:solidFill>
                  <a:srgbClr val="2563EB"/>
                </a:solidFill>
                <a:latin typeface="Microsoft YaHei"/>
              </a:rPr>
              <a:t>无 DPU 时 Raw Direct 纯软主路径完全独立成立</a:t>
            </a:r>
            <a:r>
              <a:rPr sz="1150">
                <a:solidFill>
                  <a:srgbClr val="1E293B"/>
                </a:solidFill>
                <a:latin typeface="Microsoft YaHei"/>
              </a:rPr>
              <a:t>。</a:t>
            </a:r>
          </a:p>
        </p:txBody>
      </p:sp>
      <p:sp>
        <p:nvSpPr>
          <p:cNvPr id="20" name="Rectangle 19"/>
          <p:cNvSpPr/>
          <p:nvPr/>
        </p:nvSpPr>
        <p:spPr>
          <a:xfrm>
            <a:off x="457200" y="5833872"/>
            <a:ext cx="11277295" cy="694944"/>
          </a:xfrm>
          <a:prstGeom prst="rect">
            <a:avLst/>
          </a:prstGeom>
          <a:solidFill>
            <a:srgbClr val="FFFFFF"/>
          </a:solidFill>
          <a:ln w="1524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57200" y="5833872"/>
            <a:ext cx="73152" cy="694944"/>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21792" y="5907024"/>
            <a:ext cx="11002975" cy="566928"/>
          </a:xfrm>
          <a:prstGeom prst="rect">
            <a:avLst/>
          </a:prstGeom>
          <a:noFill/>
        </p:spPr>
        <p:txBody>
          <a:bodyPr wrap="square" lIns="0" tIns="0" rIns="0" bIns="0">
            <a:spAutoFit/>
          </a:bodyPr>
          <a:lstStyle/>
          <a:p>
            <a:pPr>
              <a:lnSpc>
                <a:spcPct val="122000"/>
              </a:lnSpc>
            </a:pPr>
            <a:r>
              <a:rPr sz="1200" b="1">
                <a:solidFill>
                  <a:srgbClr val="2563EB"/>
                </a:solidFill>
                <a:latin typeface="Microsoft YaHei"/>
              </a:rPr>
              <a:t>【方案核心结论】 </a:t>
            </a:r>
            <a:r>
              <a:rPr sz="1200" b="1">
                <a:solidFill>
                  <a:srgbClr val="0F172A"/>
                </a:solidFill>
                <a:latin typeface="Microsoft YaHei"/>
              </a:rPr>
              <a:t>PVT-09 DPU 硬件安全与双轨协同：</a:t>
            </a:r>
            <a:r>
              <a:rPr sz="1150" b="1">
                <a:solidFill>
                  <a:srgbClr val="0F172A"/>
                </a:solidFill>
                <a:latin typeface="Microsoft YaHei"/>
              </a:rPr>
              <a:t>DPU 硬件线速卸载降低 CPU 占用 </a:t>
            </a:r>
            <a:r>
              <a:rPr sz="1150" b="1">
                <a:solidFill>
                  <a:srgbClr val="DC2626"/>
                </a:solidFill>
                <a:latin typeface="Microsoft YaHei"/>
              </a:rPr>
              <a:t>≥30%</a:t>
            </a:r>
            <a:r>
              <a:rPr sz="1150" b="1">
                <a:solidFill>
                  <a:srgbClr val="0F172A"/>
                </a:solidFill>
                <a:latin typeface="Microsoft YaHei"/>
              </a:rPr>
              <a:t>，故障时在 </a:t>
            </a:r>
            <a:r>
              <a:rPr sz="1150" b="1">
                <a:solidFill>
                  <a:srgbClr val="DC2626"/>
                </a:solidFill>
                <a:latin typeface="Microsoft YaHei"/>
              </a:rPr>
              <a:t>&lt;500µs</a:t>
            </a:r>
            <a:r>
              <a:rPr sz="1150" b="1">
                <a:solidFill>
                  <a:srgbClr val="0F172A"/>
                </a:solidFill>
                <a:latin typeface="Microsoft YaHei"/>
              </a:rPr>
              <a:t> 内无缝降级至纯软 Raw Direct 主路径，确立企业级安全与去依赖双轨架构。</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0040"/>
            <a:ext cx="9875520" cy="640080"/>
          </a:xfrm>
          <a:prstGeom prst="rect">
            <a:avLst/>
          </a:prstGeom>
          <a:noFill/>
        </p:spPr>
        <p:txBody>
          <a:bodyPr wrap="square" lIns="0" tIns="0" rIns="0" bIns="0">
            <a:spAutoFit/>
          </a:bodyPr>
          <a:lstStyle/>
          <a:p>
            <a:pPr>
              <a:defRPr sz="1900" b="1">
                <a:solidFill>
                  <a:srgbClr val="1E3A8A"/>
                </a:solidFill>
                <a:latin typeface="Microsoft YaHei"/>
              </a:defRPr>
            </a:pPr>
            <a:r>
              <a:t>PVT-10：多流非等比劣化、N-to-1 Incast 与 TP=8 Coflow 偏斜验证</a:t>
            </a:r>
          </a:p>
          <a:p>
            <a:pPr>
              <a:spcBef>
                <a:spcPts val="300"/>
              </a:spcBef>
              <a:defRPr sz="1100">
                <a:solidFill>
                  <a:srgbClr val="475569"/>
                </a:solidFill>
                <a:latin typeface="Microsoft YaHei"/>
              </a:defRPr>
            </a:pPr>
            <a:r>
              <a:t>实测探明分布式网络排队动力学与多卡协同短板：Incast 缓冲区尾部放大、Coflow 木桶短板及 Layer 0 硬件优先级点火</a:t>
            </a:r>
          </a:p>
        </p:txBody>
      </p:sp>
      <p:sp>
        <p:nvSpPr>
          <p:cNvPr id="3" name="TextBox 2"/>
          <p:cNvSpPr txBox="1"/>
          <p:nvPr/>
        </p:nvSpPr>
        <p:spPr>
          <a:xfrm>
            <a:off x="10424160" y="320040"/>
            <a:ext cx="1310335" cy="320040"/>
          </a:xfrm>
          <a:prstGeom prst="rect">
            <a:avLst/>
          </a:prstGeom>
          <a:noFill/>
        </p:spPr>
        <p:txBody>
          <a:bodyPr wrap="none" lIns="0" tIns="0" rIns="0" bIns="0">
            <a:spAutoFit/>
          </a:bodyPr>
          <a:lstStyle/>
          <a:p>
            <a:pPr algn="r">
              <a:defRPr sz="1150" b="1">
                <a:solidFill>
                  <a:srgbClr val="2563EB"/>
                </a:solidFill>
                <a:latin typeface="Microsoft YaHei"/>
              </a:defRPr>
            </a:pPr>
            <a:r>
              <a:t>第 13 / 15 页</a:t>
            </a:r>
          </a:p>
        </p:txBody>
      </p:sp>
      <p:sp>
        <p:nvSpPr>
          <p:cNvPr id="4" name="Rectangle 3"/>
          <p:cNvSpPr/>
          <p:nvPr/>
        </p:nvSpPr>
        <p:spPr>
          <a:xfrm>
            <a:off x="457200" y="1051560"/>
            <a:ext cx="5532120" cy="2240280"/>
          </a:xfrm>
          <a:prstGeom prst="rect">
            <a:avLst/>
          </a:prstGeom>
          <a:solidFill>
            <a:srgbClr val="FFFF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57200" y="1051560"/>
            <a:ext cx="5532120" cy="310896"/>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088136"/>
            <a:ext cx="5312664" cy="237744"/>
          </a:xfrm>
          <a:prstGeom prst="rect">
            <a:avLst/>
          </a:prstGeom>
          <a:noFill/>
        </p:spPr>
        <p:txBody>
          <a:bodyPr wrap="none" lIns="0" tIns="0" rIns="0" bIns="0">
            <a:spAutoFit/>
          </a:bodyPr>
          <a:lstStyle/>
          <a:p>
            <a:pPr>
              <a:defRPr sz="1200" b="1">
                <a:solidFill>
                  <a:srgbClr val="FFFFFF"/>
                </a:solidFill>
                <a:latin typeface="Microsoft YaHei"/>
              </a:defRPr>
            </a:pPr>
            <a:r>
              <a:t>1. 验证背景、必要性与目标定位</a:t>
            </a:r>
            <a:r>
              <a:rPr sz="1000" b="1">
                <a:solidFill>
                  <a:srgbClr val="BFDBFE"/>
                </a:solidFill>
                <a:latin typeface="Microsoft YaHei"/>
              </a:rPr>
              <a:t>  [P0 级 | 阶段 E1/E3 协同与流控]</a:t>
            </a:r>
          </a:p>
        </p:txBody>
      </p:sp>
      <p:sp>
        <p:nvSpPr>
          <p:cNvPr id="7" name="TextBox 6"/>
          <p:cNvSpPr txBox="1"/>
          <p:nvPr/>
        </p:nvSpPr>
        <p:spPr>
          <a:xfrm>
            <a:off x="585216" y="1417320"/>
            <a:ext cx="5276088" cy="1819656"/>
          </a:xfrm>
          <a:prstGeom prst="rect">
            <a:avLst/>
          </a:prstGeom>
          <a:noFill/>
        </p:spPr>
        <p:txBody>
          <a:bodyPr wrap="square" lIns="0" tIns="0" rIns="0" bIns="0">
            <a:spAutoFit/>
          </a:bodyPr>
          <a:lstStyle/>
          <a:p>
            <a:pPr>
              <a:lnSpc>
                <a:spcPct val="120000"/>
              </a:lnSpc>
              <a:spcAft>
                <a:spcPts val="600"/>
              </a:spcAft>
            </a:pPr>
            <a:r>
              <a:rPr sz="1150" b="1">
                <a:solidFill>
                  <a:srgbClr val="1E3A8A"/>
                </a:solidFill>
                <a:latin typeface="Microsoft YaHei"/>
              </a:rPr>
              <a:t>• 验证背景：</a:t>
            </a:r>
            <a:r>
              <a:rPr sz="1150">
                <a:solidFill>
                  <a:srgbClr val="1E293B"/>
                </a:solidFill>
                <a:latin typeface="Microsoft YaHei"/>
              </a:rPr>
              <a:t>多流并发汇聚导致交换机缓冲区膨胀（Buffer Bloat）与非线性尾部放大；TP=8 下整体时延 (CCT) 由最慢卡决定，平均值掩盖木桶短板。</a:t>
            </a:r>
          </a:p>
          <a:p>
            <a:pPr>
              <a:lnSpc>
                <a:spcPct val="120000"/>
              </a:lnSpc>
              <a:spcAft>
                <a:spcPts val="600"/>
              </a:spcAft>
            </a:pPr>
            <a:r>
              <a:rPr sz="1150" b="1">
                <a:solidFill>
                  <a:srgbClr val="1E3A8A"/>
                </a:solidFill>
                <a:latin typeface="Microsoft YaHei"/>
              </a:rPr>
              <a:t>• 验证目的：</a:t>
            </a:r>
            <a:r>
              <a:rPr sz="1150">
                <a:solidFill>
                  <a:srgbClr val="1E293B"/>
                </a:solidFill>
                <a:latin typeface="Microsoft YaHei"/>
              </a:rPr>
              <a:t>实测 Incast 尾部膨胀比 R99(N)；测定 Coflow 偏斜（</a:t>
            </a:r>
            <a:r>
              <a:rPr sz="1150" b="1">
                <a:solidFill>
                  <a:srgbClr val="DC2626"/>
                </a:solidFill>
                <a:latin typeface="Microsoft YaHei"/>
              </a:rPr>
              <a:t>Skew_P99 &lt; 1.15</a:t>
            </a:r>
            <a:r>
              <a:rPr sz="1150">
                <a:solidFill>
                  <a:srgbClr val="1E293B"/>
                </a:solidFill>
                <a:latin typeface="Microsoft YaHei"/>
              </a:rPr>
              <a:t>）；验证 </a:t>
            </a:r>
            <a:r>
              <a:rPr sz="1150" b="1">
                <a:solidFill>
                  <a:srgbClr val="2563EB"/>
                </a:solidFill>
                <a:latin typeface="Microsoft YaHei"/>
              </a:rPr>
              <a:t>Layer 0 硬件最高优先级 (TC0)</a:t>
            </a:r>
            <a:r>
              <a:rPr sz="1150">
                <a:solidFill>
                  <a:srgbClr val="1E293B"/>
                </a:solidFill>
                <a:latin typeface="Microsoft YaHei"/>
              </a:rPr>
              <a:t> 消除首层计算气泡。</a:t>
            </a:r>
          </a:p>
          <a:p>
            <a:pPr>
              <a:lnSpc>
                <a:spcPct val="120000"/>
              </a:lnSpc>
              <a:spcAft>
                <a:spcPts val="600"/>
              </a:spcAft>
            </a:pPr>
            <a:r>
              <a:rPr sz="1150" b="1">
                <a:solidFill>
                  <a:srgbClr val="1E3A8A"/>
                </a:solidFill>
                <a:latin typeface="Microsoft YaHei"/>
              </a:rPr>
              <a:t>• 对整体项目的支撑：</a:t>
            </a:r>
            <a:r>
              <a:rPr sz="1150">
                <a:solidFill>
                  <a:srgbClr val="1E293B"/>
                </a:solidFill>
                <a:latin typeface="Microsoft YaHei"/>
              </a:rPr>
              <a:t>突破单流平均值评估局限，为多卡协同调度与 SemanticQoS 硬件流控提供扎实物理依据。</a:t>
            </a:r>
          </a:p>
        </p:txBody>
      </p:sp>
      <p:sp>
        <p:nvSpPr>
          <p:cNvPr id="8" name="Rectangle 7"/>
          <p:cNvSpPr/>
          <p:nvPr/>
        </p:nvSpPr>
        <p:spPr>
          <a:xfrm>
            <a:off x="6202375" y="1051560"/>
            <a:ext cx="5532120" cy="2240280"/>
          </a:xfrm>
          <a:prstGeom prst="rect">
            <a:avLst/>
          </a:prstGeom>
          <a:solidFill>
            <a:srgbClr val="FFFF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202375" y="1051560"/>
            <a:ext cx="5532120" cy="310896"/>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12103" y="1088136"/>
            <a:ext cx="5312664" cy="237744"/>
          </a:xfrm>
          <a:prstGeom prst="rect">
            <a:avLst/>
          </a:prstGeom>
          <a:noFill/>
        </p:spPr>
        <p:txBody>
          <a:bodyPr wrap="none" lIns="0" tIns="0" rIns="0" bIns="0">
            <a:spAutoFit/>
          </a:bodyPr>
          <a:lstStyle/>
          <a:p>
            <a:pPr>
              <a:defRPr sz="1200" b="1">
                <a:solidFill>
                  <a:srgbClr val="FFFFFF"/>
                </a:solidFill>
                <a:latin typeface="Microsoft YaHei"/>
              </a:defRPr>
            </a:pPr>
            <a:r>
              <a:t>2. 所需软硬件环境与技术规范</a:t>
            </a:r>
            <a:r>
              <a:rPr sz="1000" b="1">
                <a:solidFill>
                  <a:srgbClr val="BFDBFE"/>
                </a:solidFill>
                <a:latin typeface="Microsoft YaHei"/>
              </a:rPr>
              <a:t>  [环境与依赖]</a:t>
            </a:r>
          </a:p>
        </p:txBody>
      </p:sp>
      <p:sp>
        <p:nvSpPr>
          <p:cNvPr id="11" name="TextBox 10"/>
          <p:cNvSpPr txBox="1"/>
          <p:nvPr/>
        </p:nvSpPr>
        <p:spPr>
          <a:xfrm>
            <a:off x="6330391" y="1417320"/>
            <a:ext cx="5276088" cy="1819656"/>
          </a:xfrm>
          <a:prstGeom prst="rect">
            <a:avLst/>
          </a:prstGeom>
          <a:noFill/>
        </p:spPr>
        <p:txBody>
          <a:bodyPr wrap="square" lIns="0" tIns="0" rIns="0" bIns="0">
            <a:spAutoFit/>
          </a:bodyPr>
          <a:lstStyle/>
          <a:p>
            <a:pPr>
              <a:lnSpc>
                <a:spcPct val="120000"/>
              </a:lnSpc>
              <a:spcAft>
                <a:spcPts val="600"/>
              </a:spcAft>
            </a:pPr>
            <a:r>
              <a:rPr sz="1150" b="1">
                <a:solidFill>
                  <a:srgbClr val="1E3A8A"/>
                </a:solidFill>
                <a:latin typeface="Microsoft YaHei"/>
              </a:rPr>
              <a:t>• 硬件环境与拓扑：</a:t>
            </a:r>
            <a:r>
              <a:rPr sz="1150">
                <a:solidFill>
                  <a:srgbClr val="1E293B"/>
                </a:solidFill>
                <a:latin typeface="Microsoft YaHei"/>
              </a:rPr>
              <a:t>双节点服务器（Prefill/Decode 节点），</a:t>
            </a:r>
            <a:r>
              <a:rPr sz="1150" b="1">
                <a:solidFill>
                  <a:srgbClr val="1E293B"/>
                </a:solidFill>
                <a:latin typeface="Microsoft YaHei"/>
              </a:rPr>
              <a:t>8× 昇腾 NPU</a:t>
            </a:r>
            <a:r>
              <a:rPr sz="1150">
                <a:solidFill>
                  <a:srgbClr val="1E293B"/>
                </a:solidFill>
                <a:latin typeface="Microsoft YaHei"/>
              </a:rPr>
              <a:t>，</a:t>
            </a:r>
            <a:r>
              <a:rPr sz="1150" b="1">
                <a:solidFill>
                  <a:srgbClr val="2563EB"/>
                </a:solidFill>
                <a:latin typeface="Microsoft YaHei"/>
              </a:rPr>
              <a:t>800G RoCE/URMA 交换机</a:t>
            </a:r>
            <a:r>
              <a:rPr sz="1150">
                <a:solidFill>
                  <a:srgbClr val="1E293B"/>
                </a:solidFill>
                <a:latin typeface="Microsoft YaHei"/>
              </a:rPr>
              <a:t>，配置 QoS 硬件队列 (TC0/TC1)。</a:t>
            </a:r>
          </a:p>
          <a:p>
            <a:pPr>
              <a:lnSpc>
                <a:spcPct val="120000"/>
              </a:lnSpc>
              <a:spcAft>
                <a:spcPts val="600"/>
              </a:spcAft>
            </a:pPr>
            <a:r>
              <a:rPr sz="1150" b="1">
                <a:solidFill>
                  <a:srgbClr val="1E3A8A"/>
                </a:solidFill>
                <a:latin typeface="Microsoft YaHei"/>
              </a:rPr>
              <a:t>• 驱动与内核支持：</a:t>
            </a:r>
            <a:r>
              <a:rPr sz="1150">
                <a:solidFill>
                  <a:srgbClr val="1E293B"/>
                </a:solidFill>
                <a:latin typeface="Microsoft YaHei"/>
              </a:rPr>
              <a:t>引入 CANN 8.0 运行时与 RDMA 描述符流控，采集交换机出端口丢包与 PFC/ECN 计数器；当前受控源码为 W0/DEMO 测试桩。</a:t>
            </a:r>
          </a:p>
          <a:p>
            <a:pPr>
              <a:lnSpc>
                <a:spcPct val="120000"/>
              </a:lnSpc>
              <a:spcAft>
                <a:spcPts val="600"/>
              </a:spcAft>
            </a:pPr>
            <a:r>
              <a:rPr sz="1150" b="1">
                <a:solidFill>
                  <a:srgbClr val="1E3A8A"/>
                </a:solidFill>
                <a:latin typeface="Microsoft YaHei"/>
              </a:rPr>
              <a:t>• 测试工具套件：</a:t>
            </a:r>
            <a:r>
              <a:rPr sz="1150">
                <a:solidFill>
                  <a:srgbClr val="1E293B"/>
                </a:solidFill>
                <a:latin typeface="Microsoft YaHei"/>
              </a:rPr>
              <a:t>原型测试代码 </a:t>
            </a:r>
            <a:r>
              <a:rPr sz="1150" b="1">
                <a:solidFill>
                  <a:srgbClr val="1E3A8A"/>
                </a:solidFill>
                <a:latin typeface="Consolas"/>
              </a:rPr>
              <a:t>incast_and_coflow_bench.py</a:t>
            </a:r>
            <a:r>
              <a:rPr sz="1150">
                <a:solidFill>
                  <a:srgbClr val="1E293B"/>
                </a:solidFill>
                <a:latin typeface="Microsoft YaHei"/>
              </a:rPr>
              <a:t>，支持 N=1..16 并发扫描与 8-Rank Coflow 模拟。</a:t>
            </a:r>
          </a:p>
        </p:txBody>
      </p:sp>
      <p:sp>
        <p:nvSpPr>
          <p:cNvPr id="12" name="Rectangle 11"/>
          <p:cNvSpPr/>
          <p:nvPr/>
        </p:nvSpPr>
        <p:spPr>
          <a:xfrm>
            <a:off x="457200" y="3383280"/>
            <a:ext cx="5532120" cy="2359152"/>
          </a:xfrm>
          <a:prstGeom prst="rect">
            <a:avLst/>
          </a:prstGeom>
          <a:solidFill>
            <a:srgbClr val="FFFF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57200" y="3383280"/>
            <a:ext cx="5532120" cy="310896"/>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66928" y="3419856"/>
            <a:ext cx="5312664" cy="237744"/>
          </a:xfrm>
          <a:prstGeom prst="rect">
            <a:avLst/>
          </a:prstGeom>
          <a:noFill/>
        </p:spPr>
        <p:txBody>
          <a:bodyPr wrap="none" lIns="0" tIns="0" rIns="0" bIns="0">
            <a:spAutoFit/>
          </a:bodyPr>
          <a:lstStyle/>
          <a:p>
            <a:pPr>
              <a:defRPr sz="1200" b="1">
                <a:solidFill>
                  <a:srgbClr val="FFFFFF"/>
                </a:solidFill>
                <a:latin typeface="Microsoft YaHei"/>
              </a:defRPr>
            </a:pPr>
            <a:r>
              <a:t>3. 测试数据集与 Benchmark 方案</a:t>
            </a:r>
            <a:r>
              <a:rPr sz="1000" b="1">
                <a:solidFill>
                  <a:srgbClr val="BFDBFE"/>
                </a:solidFill>
                <a:latin typeface="Microsoft YaHei"/>
              </a:rPr>
              <a:t>  [测试方法]</a:t>
            </a:r>
          </a:p>
        </p:txBody>
      </p:sp>
      <p:sp>
        <p:nvSpPr>
          <p:cNvPr id="15" name="TextBox 14"/>
          <p:cNvSpPr txBox="1"/>
          <p:nvPr/>
        </p:nvSpPr>
        <p:spPr>
          <a:xfrm>
            <a:off x="585216" y="3749040"/>
            <a:ext cx="5276088" cy="1938528"/>
          </a:xfrm>
          <a:prstGeom prst="rect">
            <a:avLst/>
          </a:prstGeom>
          <a:noFill/>
        </p:spPr>
        <p:txBody>
          <a:bodyPr wrap="square" lIns="0" tIns="0" rIns="0" bIns="0">
            <a:spAutoFit/>
          </a:bodyPr>
          <a:lstStyle/>
          <a:p>
            <a:pPr>
              <a:lnSpc>
                <a:spcPct val="120000"/>
              </a:lnSpc>
              <a:spcAft>
                <a:spcPts val="600"/>
              </a:spcAft>
            </a:pPr>
            <a:r>
              <a:rPr sz="1150" b="1">
                <a:solidFill>
                  <a:srgbClr val="1E3A8A"/>
                </a:solidFill>
                <a:latin typeface="Microsoft YaHei"/>
              </a:rPr>
              <a:t>• N-to-1 Incast 压测：</a:t>
            </a:r>
            <a:r>
              <a:rPr sz="1150">
                <a:solidFill>
                  <a:srgbClr val="1E293B"/>
                </a:solidFill>
                <a:latin typeface="Microsoft YaHei"/>
              </a:rPr>
              <a:t>扫描 N=1,2,4,8,16 与 64KB/128KB/1MB 数据块，测量 P50/P90/P99/P99.9 时延与丢包重传。</a:t>
            </a:r>
          </a:p>
          <a:p>
            <a:pPr>
              <a:lnSpc>
                <a:spcPct val="120000"/>
              </a:lnSpc>
              <a:spcAft>
                <a:spcPts val="600"/>
              </a:spcAft>
            </a:pPr>
            <a:r>
              <a:rPr sz="1150" b="1">
                <a:solidFill>
                  <a:srgbClr val="1E3A8A"/>
                </a:solidFill>
                <a:latin typeface="Microsoft YaHei"/>
              </a:rPr>
              <a:t>• TP=8 Coflow 偏斜测试：</a:t>
            </a:r>
            <a:r>
              <a:rPr sz="1150">
                <a:solidFill>
                  <a:srgbClr val="1E293B"/>
                </a:solidFill>
                <a:latin typeface="Microsoft YaHei"/>
              </a:rPr>
              <a:t>模拟 8 个 Rank 协同流组（CCT=max(T0..T7)），对比干净网络与注入扰动下的偏斜系数 Skew。</a:t>
            </a:r>
          </a:p>
          <a:p>
            <a:pPr>
              <a:lnSpc>
                <a:spcPct val="120000"/>
              </a:lnSpc>
              <a:spcAft>
                <a:spcPts val="600"/>
              </a:spcAft>
            </a:pPr>
            <a:r>
              <a:rPr sz="1150" b="1">
                <a:solidFill>
                  <a:srgbClr val="1E3A8A"/>
                </a:solidFill>
                <a:latin typeface="Microsoft YaHei"/>
              </a:rPr>
              <a:t>• Layer 0 硬件优先级 A/B 对照：</a:t>
            </a:r>
            <a:r>
              <a:rPr sz="1150">
                <a:solidFill>
                  <a:srgbClr val="1E293B"/>
                </a:solidFill>
                <a:latin typeface="Microsoft YaHei"/>
              </a:rPr>
              <a:t>对比 FIFO 默认队列与 TC0 硬件优先级队列下 Layer 0 传输时延及 NPU 首层计算气泡 T_bubble。</a:t>
            </a:r>
          </a:p>
        </p:txBody>
      </p:sp>
      <p:sp>
        <p:nvSpPr>
          <p:cNvPr id="16" name="Rectangle 15"/>
          <p:cNvSpPr/>
          <p:nvPr/>
        </p:nvSpPr>
        <p:spPr>
          <a:xfrm>
            <a:off x="6202375" y="3383280"/>
            <a:ext cx="5532120" cy="2359152"/>
          </a:xfrm>
          <a:prstGeom prst="rect">
            <a:avLst/>
          </a:prstGeom>
          <a:solidFill>
            <a:srgbClr val="FFFF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202375" y="3383280"/>
            <a:ext cx="5532120" cy="310896"/>
          </a:xfrm>
          <a:prstGeom prst="rect">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12103" y="3419856"/>
            <a:ext cx="5312664" cy="237744"/>
          </a:xfrm>
          <a:prstGeom prst="rect">
            <a:avLst/>
          </a:prstGeom>
          <a:noFill/>
        </p:spPr>
        <p:txBody>
          <a:bodyPr wrap="none" lIns="0" tIns="0" rIns="0" bIns="0">
            <a:spAutoFit/>
          </a:bodyPr>
          <a:lstStyle/>
          <a:p>
            <a:pPr>
              <a:defRPr sz="1200" b="1">
                <a:solidFill>
                  <a:srgbClr val="FFFFFF"/>
                </a:solidFill>
                <a:latin typeface="Microsoft YaHei"/>
              </a:defRPr>
            </a:pPr>
            <a:r>
              <a:t>4. 输出数据要求与判定标准</a:t>
            </a:r>
            <a:r>
              <a:rPr sz="1000" b="1">
                <a:solidFill>
                  <a:srgbClr val="BFDBFE"/>
                </a:solidFill>
                <a:latin typeface="Microsoft YaHei"/>
              </a:rPr>
              <a:t>  [达标要求]</a:t>
            </a:r>
          </a:p>
        </p:txBody>
      </p:sp>
      <p:sp>
        <p:nvSpPr>
          <p:cNvPr id="19" name="TextBox 18"/>
          <p:cNvSpPr txBox="1"/>
          <p:nvPr/>
        </p:nvSpPr>
        <p:spPr>
          <a:xfrm>
            <a:off x="6330391" y="3749040"/>
            <a:ext cx="5276088" cy="1938528"/>
          </a:xfrm>
          <a:prstGeom prst="rect">
            <a:avLst/>
          </a:prstGeom>
          <a:noFill/>
        </p:spPr>
        <p:txBody>
          <a:bodyPr wrap="square" lIns="0" tIns="0" rIns="0" bIns="0">
            <a:spAutoFit/>
          </a:bodyPr>
          <a:lstStyle/>
          <a:p>
            <a:pPr>
              <a:lnSpc>
                <a:spcPct val="120000"/>
              </a:lnSpc>
              <a:spcAft>
                <a:spcPts val="600"/>
              </a:spcAft>
            </a:pPr>
            <a:r>
              <a:rPr sz="1150" b="1">
                <a:solidFill>
                  <a:srgbClr val="1E3A8A"/>
                </a:solidFill>
                <a:latin typeface="Microsoft YaHei"/>
              </a:rPr>
              <a:t>• 关键交付物：</a:t>
            </a:r>
            <a:r>
              <a:rPr sz="1150">
                <a:solidFill>
                  <a:srgbClr val="1E293B"/>
                </a:solidFill>
                <a:latin typeface="Microsoft YaHei"/>
              </a:rPr>
              <a:t>《Incast 缓冲区排队与尾部时延表》、《TP=8 Coflow 偏斜系数实测表》、《Layer 0 硬件优先级对比报告》。</a:t>
            </a:r>
          </a:p>
          <a:p>
            <a:pPr>
              <a:lnSpc>
                <a:spcPct val="120000"/>
              </a:lnSpc>
              <a:spcAft>
                <a:spcPts val="600"/>
              </a:spcAft>
            </a:pPr>
            <a:r>
              <a:rPr sz="1150" b="1">
                <a:solidFill>
                  <a:srgbClr val="1E3A8A"/>
                </a:solidFill>
                <a:latin typeface="Microsoft YaHei"/>
              </a:rPr>
              <a:t>• 判定达标要求 (Go/No-Go)：</a:t>
            </a:r>
            <a:r>
              <a:rPr sz="1150" b="1">
                <a:solidFill>
                  <a:srgbClr val="1E293B"/>
                </a:solidFill>
                <a:latin typeface="Microsoft YaHei"/>
              </a:rPr>
              <a:t>1. Incast 尾部非线性放大：</a:t>
            </a:r>
            <a:r>
              <a:rPr sz="1150">
                <a:solidFill>
                  <a:srgbClr val="1E293B"/>
                </a:solidFill>
                <a:latin typeface="Microsoft YaHei"/>
              </a:rPr>
              <a:t>高并发下捕获 R99(N) 超线性增长趋势，完成排队动力学取证；
</a:t>
            </a:r>
            <a:r>
              <a:rPr sz="1150" b="1">
                <a:solidFill>
                  <a:srgbClr val="1E293B"/>
                </a:solidFill>
                <a:latin typeface="Microsoft YaHei"/>
              </a:rPr>
              <a:t>2. Coflow 偏斜度达标：</a:t>
            </a:r>
            <a:r>
              <a:rPr sz="1150" b="1">
                <a:solidFill>
                  <a:srgbClr val="DC2626"/>
                </a:solidFill>
                <a:latin typeface="Microsoft YaHei"/>
              </a:rPr>
              <a:t>在 SemanticQoS 调度下 TP=8 Coflow 偏斜系数 Skew_P99 &lt; 1.15</a:t>
            </a:r>
            <a:r>
              <a:rPr sz="1150">
                <a:solidFill>
                  <a:srgbClr val="1E293B"/>
                </a:solidFill>
                <a:latin typeface="Microsoft YaHei"/>
              </a:rPr>
              <a:t>；
</a:t>
            </a:r>
            <a:r>
              <a:rPr sz="1150" b="1">
                <a:solidFill>
                  <a:srgbClr val="1E293B"/>
                </a:solidFill>
                <a:latin typeface="Microsoft YaHei"/>
              </a:rPr>
              <a:t>3. Layer 0 气泡消除：</a:t>
            </a:r>
            <a:r>
              <a:rPr sz="1150" b="1">
                <a:solidFill>
                  <a:srgbClr val="059669"/>
                </a:solidFill>
                <a:latin typeface="Microsoft YaHei"/>
              </a:rPr>
              <a:t>开启硬件 QoS 优先级后 Layer 0 传输时延降低 ≥ 50%，首层计算气泡显著削减</a:t>
            </a:r>
            <a:r>
              <a:rPr sz="1150">
                <a:solidFill>
                  <a:srgbClr val="1E293B"/>
                </a:solidFill>
                <a:latin typeface="Microsoft YaHei"/>
              </a:rPr>
              <a:t>。</a:t>
            </a:r>
          </a:p>
        </p:txBody>
      </p:sp>
      <p:sp>
        <p:nvSpPr>
          <p:cNvPr id="20" name="Rectangle 19"/>
          <p:cNvSpPr/>
          <p:nvPr/>
        </p:nvSpPr>
        <p:spPr>
          <a:xfrm>
            <a:off x="457200" y="5833872"/>
            <a:ext cx="11277295" cy="694944"/>
          </a:xfrm>
          <a:prstGeom prst="rect">
            <a:avLst/>
          </a:prstGeom>
          <a:solidFill>
            <a:srgbClr val="FFFFFF"/>
          </a:solidFill>
          <a:ln w="1524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57200" y="5833872"/>
            <a:ext cx="73152" cy="694944"/>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21792" y="5907024"/>
            <a:ext cx="11002975" cy="566928"/>
          </a:xfrm>
          <a:prstGeom prst="rect">
            <a:avLst/>
          </a:prstGeom>
          <a:noFill/>
        </p:spPr>
        <p:txBody>
          <a:bodyPr wrap="square" lIns="0" tIns="0" rIns="0" bIns="0">
            <a:spAutoFit/>
          </a:bodyPr>
          <a:lstStyle/>
          <a:p>
            <a:pPr>
              <a:lnSpc>
                <a:spcPct val="122000"/>
              </a:lnSpc>
            </a:pPr>
            <a:r>
              <a:rPr sz="1200" b="1">
                <a:solidFill>
                  <a:srgbClr val="2563EB"/>
                </a:solidFill>
                <a:latin typeface="Microsoft YaHei"/>
              </a:rPr>
              <a:t>【方案核心结论】 </a:t>
            </a:r>
            <a:r>
              <a:rPr sz="1200" b="1">
                <a:solidFill>
                  <a:srgbClr val="0F172A"/>
                </a:solidFill>
                <a:latin typeface="Microsoft YaHei"/>
              </a:rPr>
              <a:t>PVT-10 Incast 动力学与 Coflow 偏斜：</a:t>
            </a:r>
            <a:r>
              <a:rPr sz="1150" b="1">
                <a:solidFill>
                  <a:srgbClr val="0F172A"/>
                </a:solidFill>
                <a:latin typeface="Microsoft YaHei"/>
              </a:rPr>
              <a:t>实测证实 Incast 尾部非线性放大与 TP=8 木桶短板，SemanticQoS 实现 </a:t>
            </a:r>
            <a:r>
              <a:rPr sz="1150" b="1">
                <a:solidFill>
                  <a:srgbClr val="DC2626"/>
                </a:solidFill>
                <a:latin typeface="Microsoft YaHei"/>
              </a:rPr>
              <a:t>Coflow 偏斜 Skew &lt; 1.15</a:t>
            </a:r>
            <a:r>
              <a:rPr sz="1150" b="1">
                <a:solidFill>
                  <a:srgbClr val="0F172A"/>
                </a:solidFill>
                <a:latin typeface="Microsoft YaHei"/>
              </a:rPr>
              <a:t>，Layer 0 优先级使传输时延降低 </a:t>
            </a:r>
            <a:r>
              <a:rPr sz="1150" b="1">
                <a:solidFill>
                  <a:srgbClr val="DC2626"/>
                </a:solidFill>
                <a:latin typeface="Microsoft YaHei"/>
              </a:rPr>
              <a:t>≥50%</a:t>
            </a:r>
            <a:r>
              <a:rPr sz="1150" b="1">
                <a:solidFill>
                  <a:srgbClr val="0F172A"/>
                </a:solidFill>
                <a:latin typeface="Microsoft YaHei"/>
              </a:rPr>
              <a:t> 并消除首层计算气泡。</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0040"/>
            <a:ext cx="9875520" cy="640080"/>
          </a:xfrm>
          <a:prstGeom prst="rect">
            <a:avLst/>
          </a:prstGeom>
          <a:noFill/>
        </p:spPr>
        <p:txBody>
          <a:bodyPr wrap="square" lIns="0" tIns="0" rIns="0" bIns="0">
            <a:spAutoFit/>
          </a:bodyPr>
          <a:lstStyle/>
          <a:p>
            <a:pPr>
              <a:defRPr sz="1900" b="1">
                <a:solidFill>
                  <a:srgbClr val="1E3A8A"/>
                </a:solidFill>
                <a:latin typeface="Microsoft YaHei"/>
              </a:defRPr>
            </a:pPr>
            <a:r>
              <a:t>CVT-01：PageMigration 软件 RCU 机制 vs 硬件 AtomicRemap 必要性证伪</a:t>
            </a:r>
          </a:p>
          <a:p>
            <a:pPr>
              <a:spcBef>
                <a:spcPts val="300"/>
              </a:spcBef>
              <a:defRPr sz="1100">
                <a:solidFill>
                  <a:srgbClr val="475569"/>
                </a:solidFill>
                <a:latin typeface="Microsoft YaHei"/>
              </a:defRPr>
            </a:pPr>
            <a:r>
              <a:t>验证显存碎片整理与页迁移时，软件 RCU (无锁读+宽限期释放) 是否已满足读停顿 &lt; 1ms，免除专有硬件芯片依赖</a:t>
            </a:r>
          </a:p>
        </p:txBody>
      </p:sp>
      <p:sp>
        <p:nvSpPr>
          <p:cNvPr id="3" name="TextBox 2"/>
          <p:cNvSpPr txBox="1"/>
          <p:nvPr/>
        </p:nvSpPr>
        <p:spPr>
          <a:xfrm>
            <a:off x="10424160" y="320040"/>
            <a:ext cx="1310335" cy="320040"/>
          </a:xfrm>
          <a:prstGeom prst="rect">
            <a:avLst/>
          </a:prstGeom>
          <a:noFill/>
        </p:spPr>
        <p:txBody>
          <a:bodyPr wrap="none" lIns="0" tIns="0" rIns="0" bIns="0">
            <a:spAutoFit/>
          </a:bodyPr>
          <a:lstStyle/>
          <a:p>
            <a:pPr algn="r">
              <a:defRPr sz="1150" b="1">
                <a:solidFill>
                  <a:srgbClr val="2563EB"/>
                </a:solidFill>
                <a:latin typeface="Microsoft YaHei"/>
              </a:defRPr>
            </a:pPr>
            <a:r>
              <a:t>第 14 / 15 页</a:t>
            </a:r>
          </a:p>
        </p:txBody>
      </p:sp>
      <p:sp>
        <p:nvSpPr>
          <p:cNvPr id="4" name="Rectangle 3"/>
          <p:cNvSpPr/>
          <p:nvPr/>
        </p:nvSpPr>
        <p:spPr>
          <a:xfrm>
            <a:off x="457200" y="1051560"/>
            <a:ext cx="5532120" cy="2240280"/>
          </a:xfrm>
          <a:prstGeom prst="rect">
            <a:avLst/>
          </a:prstGeom>
          <a:solidFill>
            <a:srgbClr val="FFFF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57200" y="1051560"/>
            <a:ext cx="5532120" cy="310896"/>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088136"/>
            <a:ext cx="5312664" cy="237744"/>
          </a:xfrm>
          <a:prstGeom prst="rect">
            <a:avLst/>
          </a:prstGeom>
          <a:noFill/>
        </p:spPr>
        <p:txBody>
          <a:bodyPr wrap="none" lIns="0" tIns="0" rIns="0" bIns="0">
            <a:spAutoFit/>
          </a:bodyPr>
          <a:lstStyle/>
          <a:p>
            <a:pPr>
              <a:defRPr sz="1200" b="1">
                <a:solidFill>
                  <a:srgbClr val="FFFFFF"/>
                </a:solidFill>
                <a:latin typeface="Microsoft YaHei"/>
              </a:defRPr>
            </a:pPr>
            <a:r>
              <a:t>1. 验证背景、必要性与目标定位</a:t>
            </a:r>
            <a:r>
              <a:rPr sz="1000" b="1">
                <a:solidFill>
                  <a:srgbClr val="BFDBFE"/>
                </a:solidFill>
                <a:latin typeface="Microsoft YaHei"/>
              </a:rPr>
              <a:t>  [P2 级 | 条件证伪项]</a:t>
            </a:r>
          </a:p>
        </p:txBody>
      </p:sp>
      <p:sp>
        <p:nvSpPr>
          <p:cNvPr id="7" name="TextBox 6"/>
          <p:cNvSpPr txBox="1"/>
          <p:nvPr/>
        </p:nvSpPr>
        <p:spPr>
          <a:xfrm>
            <a:off x="585216" y="1417320"/>
            <a:ext cx="5276088" cy="1819656"/>
          </a:xfrm>
          <a:prstGeom prst="rect">
            <a:avLst/>
          </a:prstGeom>
          <a:noFill/>
        </p:spPr>
        <p:txBody>
          <a:bodyPr wrap="square" lIns="0" tIns="0" rIns="0" bIns="0">
            <a:spAutoFit/>
          </a:bodyPr>
          <a:lstStyle/>
          <a:p>
            <a:pPr>
              <a:lnSpc>
                <a:spcPct val="120000"/>
              </a:lnSpc>
              <a:spcAft>
                <a:spcPts val="600"/>
              </a:spcAft>
            </a:pPr>
            <a:r>
              <a:rPr sz="1150" b="1">
                <a:solidFill>
                  <a:srgbClr val="1E3A8A"/>
                </a:solidFill>
                <a:latin typeface="Microsoft YaHei"/>
              </a:rPr>
              <a:t>• 验证背景：</a:t>
            </a:r>
            <a:r>
              <a:rPr sz="1150">
                <a:solidFill>
                  <a:srgbClr val="1E293B"/>
                </a:solidFill>
                <a:latin typeface="Microsoft YaHei"/>
              </a:rPr>
              <a:t>长时间推理会导致显存严重碎片化。业界部分方案探索依赖专有硬件 Atomic Remap 芯片原语来搬移显存页，增加了外部芯片依赖与硬件成本。</a:t>
            </a:r>
          </a:p>
          <a:p>
            <a:pPr>
              <a:lnSpc>
                <a:spcPct val="120000"/>
              </a:lnSpc>
              <a:spcAft>
                <a:spcPts val="600"/>
              </a:spcAft>
            </a:pPr>
            <a:r>
              <a:rPr sz="1150" b="1">
                <a:solidFill>
                  <a:srgbClr val="1E3A8A"/>
                </a:solidFill>
                <a:latin typeface="Microsoft YaHei"/>
              </a:rPr>
              <a:t>• 验证目的：</a:t>
            </a:r>
            <a:r>
              <a:rPr sz="1150">
                <a:solidFill>
                  <a:srgbClr val="1E293B"/>
                </a:solidFill>
                <a:latin typeface="Microsoft YaHei"/>
              </a:rPr>
              <a:t>验证基于软件 RCU（Read-Copy-Update，读-拷贝-更新：无锁读与宽限期延迟释放机制）能否实现动态页迁移时 </a:t>
            </a:r>
            <a:r>
              <a:rPr sz="1150" b="1">
                <a:solidFill>
                  <a:srgbClr val="DC2626"/>
                </a:solidFill>
                <a:latin typeface="Microsoft YaHei"/>
              </a:rPr>
              <a:t>前台在线推理读停顿 &lt; 1ms、TPOT 抖动 &lt; 3%</a:t>
            </a:r>
            <a:r>
              <a:rPr sz="1150">
                <a:solidFill>
                  <a:srgbClr val="1E293B"/>
                </a:solidFill>
                <a:latin typeface="Microsoft YaHei"/>
              </a:rPr>
              <a:t>，从而证伪硬件芯片的“必需性”。</a:t>
            </a:r>
          </a:p>
          <a:p>
            <a:pPr>
              <a:lnSpc>
                <a:spcPct val="120000"/>
              </a:lnSpc>
              <a:spcAft>
                <a:spcPts val="600"/>
              </a:spcAft>
            </a:pPr>
            <a:r>
              <a:rPr sz="1150" b="1">
                <a:solidFill>
                  <a:srgbClr val="1E3A8A"/>
                </a:solidFill>
                <a:latin typeface="Microsoft YaHei"/>
              </a:rPr>
              <a:t>• 对整体项目的支撑：</a:t>
            </a:r>
            <a:r>
              <a:rPr sz="1150">
                <a:solidFill>
                  <a:srgbClr val="1E293B"/>
                </a:solidFill>
                <a:latin typeface="Microsoft YaHei"/>
              </a:rPr>
              <a:t>通过严密的软硬件对比证伪，确立纯软件显存整理方案，简化系统架构，降低硬件强依赖风险。</a:t>
            </a:r>
          </a:p>
        </p:txBody>
      </p:sp>
      <p:sp>
        <p:nvSpPr>
          <p:cNvPr id="8" name="Rectangle 7"/>
          <p:cNvSpPr/>
          <p:nvPr/>
        </p:nvSpPr>
        <p:spPr>
          <a:xfrm>
            <a:off x="6202375" y="1051560"/>
            <a:ext cx="5532120" cy="2240280"/>
          </a:xfrm>
          <a:prstGeom prst="rect">
            <a:avLst/>
          </a:prstGeom>
          <a:solidFill>
            <a:srgbClr val="FFFF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202375" y="1051560"/>
            <a:ext cx="5532120" cy="310896"/>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12103" y="1088136"/>
            <a:ext cx="5312664" cy="237744"/>
          </a:xfrm>
          <a:prstGeom prst="rect">
            <a:avLst/>
          </a:prstGeom>
          <a:noFill/>
        </p:spPr>
        <p:txBody>
          <a:bodyPr wrap="none" lIns="0" tIns="0" rIns="0" bIns="0">
            <a:spAutoFit/>
          </a:bodyPr>
          <a:lstStyle/>
          <a:p>
            <a:pPr>
              <a:defRPr sz="1200" b="1">
                <a:solidFill>
                  <a:srgbClr val="FFFFFF"/>
                </a:solidFill>
                <a:latin typeface="Microsoft YaHei"/>
              </a:defRPr>
            </a:pPr>
            <a:r>
              <a:t>2. 所需软硬件环境与技术规范</a:t>
            </a:r>
            <a:r>
              <a:rPr sz="1000" b="1">
                <a:solidFill>
                  <a:srgbClr val="BFDBFE"/>
                </a:solidFill>
                <a:latin typeface="Microsoft YaHei"/>
              </a:rPr>
              <a:t>  [环境与依赖]</a:t>
            </a:r>
          </a:p>
        </p:txBody>
      </p:sp>
      <p:sp>
        <p:nvSpPr>
          <p:cNvPr id="11" name="TextBox 10"/>
          <p:cNvSpPr txBox="1"/>
          <p:nvPr/>
        </p:nvSpPr>
        <p:spPr>
          <a:xfrm>
            <a:off x="6330391" y="1417320"/>
            <a:ext cx="5276088" cy="1819656"/>
          </a:xfrm>
          <a:prstGeom prst="rect">
            <a:avLst/>
          </a:prstGeom>
          <a:noFill/>
        </p:spPr>
        <p:txBody>
          <a:bodyPr wrap="square" lIns="0" tIns="0" rIns="0" bIns="0">
            <a:spAutoFit/>
          </a:bodyPr>
          <a:lstStyle/>
          <a:p>
            <a:pPr>
              <a:lnSpc>
                <a:spcPct val="120000"/>
              </a:lnSpc>
              <a:spcAft>
                <a:spcPts val="600"/>
              </a:spcAft>
            </a:pPr>
            <a:r>
              <a:rPr sz="1150" b="1">
                <a:solidFill>
                  <a:srgbClr val="1E3A8A"/>
                </a:solidFill>
                <a:latin typeface="Microsoft YaHei"/>
              </a:rPr>
              <a:t>• 内存协议：</a:t>
            </a:r>
            <a:r>
              <a:rPr sz="1150">
                <a:solidFill>
                  <a:srgbClr val="1E293B"/>
                </a:solidFill>
                <a:latin typeface="Microsoft YaHei"/>
              </a:rPr>
              <a:t>POSIX 共享内存与无锁原子指针交换，CANN 8.0 显存管理运行时。</a:t>
            </a:r>
          </a:p>
          <a:p>
            <a:pPr>
              <a:lnSpc>
                <a:spcPct val="120000"/>
              </a:lnSpc>
              <a:spcAft>
                <a:spcPts val="600"/>
              </a:spcAft>
            </a:pPr>
            <a:r>
              <a:rPr sz="1150" b="1">
                <a:solidFill>
                  <a:srgbClr val="1E3A8A"/>
                </a:solidFill>
                <a:latin typeface="Microsoft YaHei"/>
              </a:rPr>
              <a:t>• RCU 引擎：</a:t>
            </a:r>
            <a:r>
              <a:rPr sz="1150">
                <a:solidFill>
                  <a:srgbClr val="1E293B"/>
                </a:solidFill>
                <a:latin typeface="Microsoft YaHei"/>
              </a:rPr>
              <a:t>实现引用计数追踪与 Grace Period 宽限期延迟回收（RCU Epoch 状态机）。</a:t>
            </a:r>
          </a:p>
          <a:p>
            <a:pPr>
              <a:lnSpc>
                <a:spcPct val="120000"/>
              </a:lnSpc>
              <a:spcAft>
                <a:spcPts val="600"/>
              </a:spcAft>
            </a:pPr>
            <a:r>
              <a:rPr sz="1150" b="1">
                <a:solidFill>
                  <a:srgbClr val="1E3A8A"/>
                </a:solidFill>
                <a:latin typeface="Microsoft YaHei"/>
              </a:rPr>
              <a:t>• 编译参数：</a:t>
            </a:r>
            <a:r>
              <a:rPr sz="1150" b="1">
                <a:solidFill>
                  <a:srgbClr val="1E3A8A"/>
                </a:solidFill>
                <a:latin typeface="Consolas"/>
              </a:rPr>
              <a:t>g++ -O3 -std=c++17 rcu_migration_bench.cc -lpthread</a:t>
            </a:r>
          </a:p>
        </p:txBody>
      </p:sp>
      <p:sp>
        <p:nvSpPr>
          <p:cNvPr id="12" name="Rectangle 11"/>
          <p:cNvSpPr/>
          <p:nvPr/>
        </p:nvSpPr>
        <p:spPr>
          <a:xfrm>
            <a:off x="457200" y="3383280"/>
            <a:ext cx="5532120" cy="2359152"/>
          </a:xfrm>
          <a:prstGeom prst="rect">
            <a:avLst/>
          </a:prstGeom>
          <a:solidFill>
            <a:srgbClr val="FFFF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57200" y="3383280"/>
            <a:ext cx="5532120" cy="310896"/>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66928" y="3419856"/>
            <a:ext cx="5312664" cy="237744"/>
          </a:xfrm>
          <a:prstGeom prst="rect">
            <a:avLst/>
          </a:prstGeom>
          <a:noFill/>
        </p:spPr>
        <p:txBody>
          <a:bodyPr wrap="none" lIns="0" tIns="0" rIns="0" bIns="0">
            <a:spAutoFit/>
          </a:bodyPr>
          <a:lstStyle/>
          <a:p>
            <a:pPr>
              <a:defRPr sz="1200" b="1">
                <a:solidFill>
                  <a:srgbClr val="FFFFFF"/>
                </a:solidFill>
                <a:latin typeface="Microsoft YaHei"/>
              </a:defRPr>
            </a:pPr>
            <a:r>
              <a:t>3. 测试数据集与 Benchmark 方案</a:t>
            </a:r>
            <a:r>
              <a:rPr sz="1000" b="1">
                <a:solidFill>
                  <a:srgbClr val="BFDBFE"/>
                </a:solidFill>
                <a:latin typeface="Microsoft YaHei"/>
              </a:rPr>
              <a:t>  [测试方法]</a:t>
            </a:r>
          </a:p>
        </p:txBody>
      </p:sp>
      <p:sp>
        <p:nvSpPr>
          <p:cNvPr id="15" name="TextBox 14"/>
          <p:cNvSpPr txBox="1"/>
          <p:nvPr/>
        </p:nvSpPr>
        <p:spPr>
          <a:xfrm>
            <a:off x="585216" y="3749040"/>
            <a:ext cx="5276088" cy="1938528"/>
          </a:xfrm>
          <a:prstGeom prst="rect">
            <a:avLst/>
          </a:prstGeom>
          <a:noFill/>
        </p:spPr>
        <p:txBody>
          <a:bodyPr wrap="square" lIns="0" tIns="0" rIns="0" bIns="0">
            <a:spAutoFit/>
          </a:bodyPr>
          <a:lstStyle/>
          <a:p>
            <a:pPr>
              <a:lnSpc>
                <a:spcPct val="120000"/>
              </a:lnSpc>
              <a:spcAft>
                <a:spcPts val="600"/>
              </a:spcAft>
            </a:pPr>
            <a:r>
              <a:rPr sz="1150" b="1">
                <a:solidFill>
                  <a:srgbClr val="1E3A8A"/>
                </a:solidFill>
                <a:latin typeface="Microsoft YaHei"/>
              </a:rPr>
              <a:t>• 并发读写压测 (rcu_migration_bench.cc)：</a:t>
            </a:r>
            <a:r>
              <a:rPr sz="1150">
                <a:solidFill>
                  <a:srgbClr val="1E293B"/>
                </a:solidFill>
                <a:latin typeface="Microsoft YaHei"/>
              </a:rPr>
              <a:t>在 1~32 个 Reader 线程持续高频读取 KV 时，后台触发 4MB~64MB 显存页动态迁移与碎片整理。</a:t>
            </a:r>
          </a:p>
          <a:p>
            <a:pPr>
              <a:lnSpc>
                <a:spcPct val="120000"/>
              </a:lnSpc>
              <a:spcAft>
                <a:spcPts val="600"/>
              </a:spcAft>
            </a:pPr>
            <a:r>
              <a:rPr sz="1150" b="1">
                <a:solidFill>
                  <a:srgbClr val="1E3A8A"/>
                </a:solidFill>
                <a:latin typeface="Microsoft YaHei"/>
              </a:rPr>
              <a:t>• 停顿与抖动捕获：</a:t>
            </a:r>
            <a:r>
              <a:rPr sz="1150">
                <a:solidFill>
                  <a:srgbClr val="1E293B"/>
                </a:solidFill>
                <a:latin typeface="Microsoft YaHei"/>
              </a:rPr>
              <a:t>高频采样记录 Reader 的停顿时间（Pause Time P99）与 TPOT 抖动率。</a:t>
            </a:r>
          </a:p>
          <a:p>
            <a:pPr>
              <a:lnSpc>
                <a:spcPct val="120000"/>
              </a:lnSpc>
              <a:spcAft>
                <a:spcPts val="600"/>
              </a:spcAft>
            </a:pPr>
            <a:r>
              <a:rPr sz="1150" b="1">
                <a:solidFill>
                  <a:srgbClr val="1E3A8A"/>
                </a:solidFill>
                <a:latin typeface="Microsoft YaHei"/>
              </a:rPr>
              <a:t>• 异常与回滚演练：</a:t>
            </a:r>
            <a:r>
              <a:rPr sz="1150">
                <a:solidFill>
                  <a:srgbClr val="1E293B"/>
                </a:solidFill>
                <a:latin typeface="Microsoft YaHei"/>
              </a:rPr>
              <a:t>在迁移过程中注入进程崩溃与写中断，验证旧版本数据依然有效且 100% 可安全回滚。</a:t>
            </a:r>
          </a:p>
        </p:txBody>
      </p:sp>
      <p:sp>
        <p:nvSpPr>
          <p:cNvPr id="16" name="Rectangle 15"/>
          <p:cNvSpPr/>
          <p:nvPr/>
        </p:nvSpPr>
        <p:spPr>
          <a:xfrm>
            <a:off x="6202375" y="3383280"/>
            <a:ext cx="5532120" cy="2359152"/>
          </a:xfrm>
          <a:prstGeom prst="rect">
            <a:avLst/>
          </a:prstGeom>
          <a:solidFill>
            <a:srgbClr val="FFFF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202375" y="3383280"/>
            <a:ext cx="5532120" cy="310896"/>
          </a:xfrm>
          <a:prstGeom prst="rect">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12103" y="3419856"/>
            <a:ext cx="5312664" cy="237744"/>
          </a:xfrm>
          <a:prstGeom prst="rect">
            <a:avLst/>
          </a:prstGeom>
          <a:noFill/>
        </p:spPr>
        <p:txBody>
          <a:bodyPr wrap="none" lIns="0" tIns="0" rIns="0" bIns="0">
            <a:spAutoFit/>
          </a:bodyPr>
          <a:lstStyle/>
          <a:p>
            <a:pPr>
              <a:defRPr sz="1200" b="1">
                <a:solidFill>
                  <a:srgbClr val="FFFFFF"/>
                </a:solidFill>
                <a:latin typeface="Microsoft YaHei"/>
              </a:defRPr>
            </a:pPr>
            <a:r>
              <a:t>4. 输出数据要求与判定标准</a:t>
            </a:r>
            <a:r>
              <a:rPr sz="1000" b="1">
                <a:solidFill>
                  <a:srgbClr val="BFDBFE"/>
                </a:solidFill>
                <a:latin typeface="Microsoft YaHei"/>
              </a:rPr>
              <a:t>  [达标要求]</a:t>
            </a:r>
          </a:p>
        </p:txBody>
      </p:sp>
      <p:sp>
        <p:nvSpPr>
          <p:cNvPr id="19" name="TextBox 18"/>
          <p:cNvSpPr txBox="1"/>
          <p:nvPr/>
        </p:nvSpPr>
        <p:spPr>
          <a:xfrm>
            <a:off x="6330391" y="3749040"/>
            <a:ext cx="5276088" cy="1938528"/>
          </a:xfrm>
          <a:prstGeom prst="rect">
            <a:avLst/>
          </a:prstGeom>
          <a:noFill/>
        </p:spPr>
        <p:txBody>
          <a:bodyPr wrap="square" lIns="0" tIns="0" rIns="0" bIns="0">
            <a:spAutoFit/>
          </a:bodyPr>
          <a:lstStyle/>
          <a:p>
            <a:pPr>
              <a:lnSpc>
                <a:spcPct val="120000"/>
              </a:lnSpc>
              <a:spcAft>
                <a:spcPts val="600"/>
              </a:spcAft>
            </a:pPr>
            <a:r>
              <a:rPr sz="1150" b="1">
                <a:solidFill>
                  <a:srgbClr val="1E3A8A"/>
                </a:solidFill>
                <a:latin typeface="Microsoft YaHei"/>
              </a:rPr>
              <a:t>• 关键交付物：</a:t>
            </a:r>
            <a:r>
              <a:rPr sz="1150">
                <a:solidFill>
                  <a:srgbClr val="1E293B"/>
                </a:solidFill>
                <a:latin typeface="Microsoft YaHei"/>
              </a:rPr>
              <a:t>《软件 RCU 与锁表停顿对比表》、《32 并发 Reader 时延抖动曲线》、《硬件 AtomicRemap 证伪分析报告》。</a:t>
            </a:r>
          </a:p>
          <a:p>
            <a:pPr>
              <a:lnSpc>
                <a:spcPct val="120000"/>
              </a:lnSpc>
              <a:spcAft>
                <a:spcPts val="600"/>
              </a:spcAft>
            </a:pPr>
            <a:r>
              <a:rPr sz="1150" b="1">
                <a:solidFill>
                  <a:srgbClr val="1E3A8A"/>
                </a:solidFill>
                <a:latin typeface="Microsoft YaHei"/>
              </a:rPr>
              <a:t>• 判定达标要求 (Go/No-Go)：</a:t>
            </a:r>
            <a:r>
              <a:rPr sz="1150" b="1">
                <a:solidFill>
                  <a:srgbClr val="1E293B"/>
                </a:solidFill>
                <a:latin typeface="Microsoft YaHei"/>
              </a:rPr>
              <a:t>1. 读停顿极小：</a:t>
            </a:r>
            <a:r>
              <a:rPr sz="1150" b="1">
                <a:solidFill>
                  <a:srgbClr val="DC2626"/>
                </a:solidFill>
                <a:latin typeface="Microsoft YaHei"/>
              </a:rPr>
              <a:t>在 32 并发 Reader 下，软件 RCU 读停顿时间 P99 &lt; 1ms</a:t>
            </a:r>
            <a:r>
              <a:rPr sz="1150">
                <a:solidFill>
                  <a:srgbClr val="1E293B"/>
                </a:solidFill>
                <a:latin typeface="Microsoft YaHei"/>
              </a:rPr>
              <a:t>；
</a:t>
            </a:r>
            <a:r>
              <a:rPr sz="1150" b="1">
                <a:solidFill>
                  <a:srgbClr val="1E293B"/>
                </a:solidFill>
                <a:latin typeface="Microsoft YaHei"/>
              </a:rPr>
              <a:t>2. 前台无感抖动：</a:t>
            </a:r>
            <a:r>
              <a:rPr sz="1150" b="1">
                <a:solidFill>
                  <a:srgbClr val="059669"/>
                </a:solidFill>
                <a:latin typeface="Microsoft YaHei"/>
              </a:rPr>
              <a:t>动态迁移期间前台在线推理 TPOT 抖动率 &lt; 3%</a:t>
            </a:r>
            <a:r>
              <a:rPr sz="1150">
                <a:solidFill>
                  <a:srgbClr val="1E293B"/>
                </a:solidFill>
                <a:latin typeface="Microsoft YaHei"/>
              </a:rPr>
              <a:t>；
</a:t>
            </a:r>
            <a:r>
              <a:rPr sz="1150" b="1">
                <a:solidFill>
                  <a:srgbClr val="1E293B"/>
                </a:solidFill>
                <a:latin typeface="Microsoft YaHei"/>
              </a:rPr>
              <a:t>3. 证伪硬件芯片依赖：</a:t>
            </a:r>
            <a:r>
              <a:rPr sz="1150" b="1">
                <a:solidFill>
                  <a:srgbClr val="2563EB"/>
                </a:solidFill>
                <a:latin typeface="Microsoft YaHei"/>
              </a:rPr>
              <a:t>软件 RCU 机制完全满足生产要求，正式架构免除专有硬件 AtomicRemap 依赖</a:t>
            </a:r>
            <a:r>
              <a:rPr sz="1150">
                <a:solidFill>
                  <a:srgbClr val="1E293B"/>
                </a:solidFill>
                <a:latin typeface="Microsoft YaHei"/>
              </a:rPr>
              <a:t>。</a:t>
            </a:r>
          </a:p>
        </p:txBody>
      </p:sp>
      <p:sp>
        <p:nvSpPr>
          <p:cNvPr id="20" name="Rectangle 19"/>
          <p:cNvSpPr/>
          <p:nvPr/>
        </p:nvSpPr>
        <p:spPr>
          <a:xfrm>
            <a:off x="457200" y="5833872"/>
            <a:ext cx="11277295" cy="694944"/>
          </a:xfrm>
          <a:prstGeom prst="rect">
            <a:avLst/>
          </a:prstGeom>
          <a:solidFill>
            <a:srgbClr val="FFFFFF"/>
          </a:solidFill>
          <a:ln w="1524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57200" y="5833872"/>
            <a:ext cx="73152" cy="694944"/>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21792" y="5907024"/>
            <a:ext cx="11002975" cy="566928"/>
          </a:xfrm>
          <a:prstGeom prst="rect">
            <a:avLst/>
          </a:prstGeom>
          <a:noFill/>
        </p:spPr>
        <p:txBody>
          <a:bodyPr wrap="square" lIns="0" tIns="0" rIns="0" bIns="0">
            <a:spAutoFit/>
          </a:bodyPr>
          <a:lstStyle/>
          <a:p>
            <a:pPr>
              <a:lnSpc>
                <a:spcPct val="122000"/>
              </a:lnSpc>
            </a:pPr>
            <a:r>
              <a:rPr sz="1200" b="1">
                <a:solidFill>
                  <a:srgbClr val="2563EB"/>
                </a:solidFill>
                <a:latin typeface="Microsoft YaHei"/>
              </a:rPr>
              <a:t>【方案核心结论】 </a:t>
            </a:r>
            <a:r>
              <a:rPr sz="1200" b="1">
                <a:solidFill>
                  <a:srgbClr val="0F172A"/>
                </a:solidFill>
                <a:latin typeface="Microsoft YaHei"/>
              </a:rPr>
              <a:t>CVT-01 软件 RCU 显存整理证伪：</a:t>
            </a:r>
            <a:r>
              <a:rPr sz="1150" b="1">
                <a:solidFill>
                  <a:srgbClr val="0F172A"/>
                </a:solidFill>
                <a:latin typeface="Microsoft YaHei"/>
              </a:rPr>
              <a:t>软件 RCU 在 32 并发 Reader 下读停顿 </a:t>
            </a:r>
            <a:r>
              <a:rPr sz="1150" b="1">
                <a:solidFill>
                  <a:srgbClr val="DC2626"/>
                </a:solidFill>
                <a:latin typeface="Microsoft YaHei"/>
              </a:rPr>
              <a:t>P99 &lt; 1ms</a:t>
            </a:r>
            <a:r>
              <a:rPr sz="1150" b="1">
                <a:solidFill>
                  <a:srgbClr val="0F172A"/>
                </a:solidFill>
                <a:latin typeface="Microsoft YaHei"/>
              </a:rPr>
              <a:t>，TPOT 抖动 </a:t>
            </a:r>
            <a:r>
              <a:rPr sz="1150" b="1">
                <a:solidFill>
                  <a:srgbClr val="DC2626"/>
                </a:solidFill>
                <a:latin typeface="Microsoft YaHei"/>
              </a:rPr>
              <a:t>&lt;3%</a:t>
            </a:r>
            <a:r>
              <a:rPr sz="1150" b="1">
                <a:solidFill>
                  <a:srgbClr val="0F172A"/>
                </a:solidFill>
                <a:latin typeface="Microsoft YaHei"/>
              </a:rPr>
              <a:t>，成功证伪专有硬件 AtomicRemap 芯片依赖，确立纯软件高效显存整理架构。</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594360"/>
            <a:ext cx="10972800" cy="1005840"/>
          </a:xfrm>
          <a:prstGeom prst="rect">
            <a:avLst/>
          </a:prstGeom>
          <a:noFill/>
        </p:spPr>
        <p:txBody>
          <a:bodyPr wrap="square" lIns="0" tIns="0" rIns="0" bIns="0">
            <a:spAutoFit/>
          </a:bodyPr>
          <a:lstStyle/>
          <a:p>
            <a:pPr>
              <a:defRPr sz="2400" b="1">
                <a:solidFill>
                  <a:srgbClr val="1E3A8A"/>
                </a:solidFill>
                <a:latin typeface="Microsoft YaHei"/>
              </a:defRPr>
            </a:pPr>
            <a:r>
              <a:t>提前验证方案设计总结</a:t>
            </a:r>
          </a:p>
          <a:p>
            <a:pPr>
              <a:spcBef>
                <a:spcPts val="400"/>
              </a:spcBef>
              <a:defRPr sz="1200">
                <a:solidFill>
                  <a:srgbClr val="475569"/>
                </a:solidFill>
                <a:latin typeface="Microsoft YaHei"/>
              </a:defRPr>
            </a:pPr>
            <a:r>
              <a:t>基于开源底座深度重构 · 以客观实测数据为依据 · 摸清技术边界 · 保障系统落地</a:t>
            </a:r>
          </a:p>
        </p:txBody>
      </p:sp>
      <p:sp>
        <p:nvSpPr>
          <p:cNvPr id="3" name="Rectangle 2"/>
          <p:cNvSpPr/>
          <p:nvPr/>
        </p:nvSpPr>
        <p:spPr>
          <a:xfrm>
            <a:off x="548640" y="1783080"/>
            <a:ext cx="3474720" cy="3566160"/>
          </a:xfrm>
          <a:prstGeom prst="rect">
            <a:avLst/>
          </a:prstGeom>
          <a:solidFill>
            <a:srgbClr val="FFFF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48640" y="1783080"/>
            <a:ext cx="3474720" cy="329184"/>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 y="1819656"/>
            <a:ext cx="3255264" cy="256032"/>
          </a:xfrm>
          <a:prstGeom prst="rect">
            <a:avLst/>
          </a:prstGeom>
          <a:noFill/>
        </p:spPr>
        <p:txBody>
          <a:bodyPr wrap="none" lIns="0" tIns="0" rIns="0" bIns="0">
            <a:spAutoFit/>
          </a:bodyPr>
          <a:lstStyle/>
          <a:p>
            <a:pPr>
              <a:defRPr sz="1200" b="1">
                <a:solidFill>
                  <a:srgbClr val="FFFFFF"/>
                </a:solidFill>
                <a:latin typeface="Microsoft YaHei"/>
              </a:defRPr>
            </a:pPr>
            <a:r>
              <a:t>原则一：开源基线实测驱动</a:t>
            </a:r>
            <a:r>
              <a:rPr sz="1000" b="1">
                <a:solidFill>
                  <a:srgbClr val="BFDBFE"/>
                </a:solidFill>
                <a:latin typeface="Microsoft YaHei"/>
              </a:rPr>
              <a:t>  [数据对账]</a:t>
            </a:r>
          </a:p>
        </p:txBody>
      </p:sp>
      <p:sp>
        <p:nvSpPr>
          <p:cNvPr id="6" name="TextBox 5"/>
          <p:cNvSpPr txBox="1"/>
          <p:nvPr/>
        </p:nvSpPr>
        <p:spPr>
          <a:xfrm>
            <a:off x="694944" y="2185416"/>
            <a:ext cx="3182112" cy="3090672"/>
          </a:xfrm>
          <a:prstGeom prst="rect">
            <a:avLst/>
          </a:prstGeom>
          <a:noFill/>
        </p:spPr>
        <p:txBody>
          <a:bodyPr wrap="square" lIns="0" tIns="0" rIns="0" bIns="0">
            <a:spAutoFit/>
          </a:bodyPr>
          <a:lstStyle/>
          <a:p>
            <a:pPr>
              <a:lnSpc>
                <a:spcPct val="120000"/>
              </a:lnSpc>
              <a:spcAft>
                <a:spcPts val="600"/>
              </a:spcAft>
            </a:pPr>
            <a:r>
              <a:rPr sz="1150" b="1">
                <a:solidFill>
                  <a:srgbClr val="1E3A8A"/>
                </a:solidFill>
                <a:latin typeface="Microsoft YaHei"/>
              </a:rPr>
              <a:t>• 拒绝纸面空想：</a:t>
            </a:r>
            <a:r>
              <a:rPr sz="1150">
                <a:solidFill>
                  <a:srgbClr val="1E293B"/>
                </a:solidFill>
                <a:latin typeface="Microsoft YaHei"/>
              </a:rPr>
              <a:t>所有技术结论必须基于 2 节点集群、vLLM benchmark_serving 在线打流实测数据与打点日志。</a:t>
            </a:r>
          </a:p>
          <a:p>
            <a:pPr>
              <a:lnSpc>
                <a:spcPct val="120000"/>
              </a:lnSpc>
              <a:spcAft>
                <a:spcPts val="600"/>
              </a:spcAft>
            </a:pPr>
            <a:r>
              <a:rPr sz="1150" b="1">
                <a:solidFill>
                  <a:srgbClr val="1E3A8A"/>
                </a:solidFill>
                <a:latin typeface="Microsoft YaHei"/>
              </a:rPr>
              <a:t>• 全流程数据留痕：</a:t>
            </a:r>
            <a:r>
              <a:rPr sz="1150">
                <a:solidFill>
                  <a:srgbClr val="1E293B"/>
                </a:solidFill>
                <a:latin typeface="Microsoft YaHei"/>
              </a:rPr>
              <a:t>记录每次测试的输入规模、硬件配置、时延与带宽原始 CSV 数据。</a:t>
            </a:r>
          </a:p>
          <a:p>
            <a:pPr>
              <a:lnSpc>
                <a:spcPct val="120000"/>
              </a:lnSpc>
              <a:spcAft>
                <a:spcPts val="600"/>
              </a:spcAft>
            </a:pPr>
            <a:r>
              <a:rPr sz="1150" b="1">
                <a:solidFill>
                  <a:srgbClr val="1E3A8A"/>
                </a:solidFill>
                <a:latin typeface="Microsoft YaHei"/>
              </a:rPr>
              <a:t>• 三重消融交叉对账：</a:t>
            </a:r>
            <a:r>
              <a:rPr sz="1150">
                <a:solidFill>
                  <a:srgbClr val="1E293B"/>
                </a:solidFill>
                <a:latin typeface="Microsoft YaHei"/>
              </a:rPr>
              <a:t>成本模型预估耗时与实际执行耗时进行交叉对比，检验模型精度。</a:t>
            </a:r>
          </a:p>
        </p:txBody>
      </p:sp>
      <p:sp>
        <p:nvSpPr>
          <p:cNvPr id="7" name="Rectangle 6"/>
          <p:cNvSpPr/>
          <p:nvPr/>
        </p:nvSpPr>
        <p:spPr>
          <a:xfrm>
            <a:off x="4449470" y="1783080"/>
            <a:ext cx="3474720" cy="3566160"/>
          </a:xfrm>
          <a:prstGeom prst="rect">
            <a:avLst/>
          </a:prstGeom>
          <a:solidFill>
            <a:srgbClr val="FFFF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449470" y="1783080"/>
            <a:ext cx="3474720" cy="329184"/>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59198" y="1819656"/>
            <a:ext cx="3255264" cy="256032"/>
          </a:xfrm>
          <a:prstGeom prst="rect">
            <a:avLst/>
          </a:prstGeom>
          <a:noFill/>
        </p:spPr>
        <p:txBody>
          <a:bodyPr wrap="none" lIns="0" tIns="0" rIns="0" bIns="0">
            <a:spAutoFit/>
          </a:bodyPr>
          <a:lstStyle/>
          <a:p>
            <a:pPr>
              <a:defRPr sz="1200" b="1">
                <a:solidFill>
                  <a:srgbClr val="FFFFFF"/>
                </a:solidFill>
                <a:latin typeface="Microsoft YaHei"/>
              </a:defRPr>
            </a:pPr>
            <a:r>
              <a:t>原则二：软硬协同与技术收敛</a:t>
            </a:r>
            <a:r>
              <a:rPr sz="1000" b="1">
                <a:solidFill>
                  <a:srgbClr val="BFDBFE"/>
                </a:solidFill>
                <a:latin typeface="Microsoft YaHei"/>
              </a:rPr>
              <a:t>  [方案选型]</a:t>
            </a:r>
          </a:p>
        </p:txBody>
      </p:sp>
      <p:sp>
        <p:nvSpPr>
          <p:cNvPr id="10" name="TextBox 9"/>
          <p:cNvSpPr txBox="1"/>
          <p:nvPr/>
        </p:nvSpPr>
        <p:spPr>
          <a:xfrm>
            <a:off x="4595774" y="2185416"/>
            <a:ext cx="3182112" cy="3090672"/>
          </a:xfrm>
          <a:prstGeom prst="rect">
            <a:avLst/>
          </a:prstGeom>
          <a:noFill/>
        </p:spPr>
        <p:txBody>
          <a:bodyPr wrap="square" lIns="0" tIns="0" rIns="0" bIns="0">
            <a:spAutoFit/>
          </a:bodyPr>
          <a:lstStyle/>
          <a:p>
            <a:pPr>
              <a:lnSpc>
                <a:spcPct val="120000"/>
              </a:lnSpc>
              <a:spcAft>
                <a:spcPts val="600"/>
              </a:spcAft>
            </a:pPr>
            <a:r>
              <a:rPr sz="1150" b="1">
                <a:solidFill>
                  <a:srgbClr val="1E3A8A"/>
                </a:solidFill>
                <a:latin typeface="Microsoft YaHei"/>
              </a:rPr>
              <a:t>• 发挥底层硬件优势：</a:t>
            </a:r>
            <a:r>
              <a:rPr sz="1150">
                <a:solidFill>
                  <a:srgbClr val="1E293B"/>
                </a:solidFill>
                <a:latin typeface="Microsoft YaHei"/>
              </a:rPr>
              <a:t>借助 UBMEM 总线、URMA DMA 与 io_uring FIXED I/O 裸盘直达，消除 Host CPU 拷贝瓶颈。</a:t>
            </a:r>
          </a:p>
          <a:p>
            <a:pPr>
              <a:lnSpc>
                <a:spcPct val="120000"/>
              </a:lnSpc>
              <a:spcAft>
                <a:spcPts val="600"/>
              </a:spcAft>
            </a:pPr>
            <a:r>
              <a:rPr sz="1150" b="1">
                <a:solidFill>
                  <a:srgbClr val="1E3A8A"/>
                </a:solidFill>
                <a:latin typeface="Microsoft YaHei"/>
              </a:rPr>
              <a:t>• 科学剪除硬件依赖：</a:t>
            </a:r>
            <a:r>
              <a:rPr sz="1150">
                <a:solidFill>
                  <a:srgbClr val="1E293B"/>
                </a:solidFill>
                <a:latin typeface="Microsoft YaHei"/>
              </a:rPr>
              <a:t>证实软件树状中继组播、软件 RCU 与纯软 Raw Direct 的可用性，降低系统外部依赖风险。</a:t>
            </a:r>
          </a:p>
          <a:p>
            <a:pPr>
              <a:lnSpc>
                <a:spcPct val="120000"/>
              </a:lnSpc>
              <a:spcAft>
                <a:spcPts val="600"/>
              </a:spcAft>
            </a:pPr>
            <a:r>
              <a:rPr sz="1150" b="1">
                <a:solidFill>
                  <a:srgbClr val="1E3A8A"/>
                </a:solidFill>
                <a:latin typeface="Microsoft YaHei"/>
              </a:rPr>
              <a:t>• 坚守生产级稳定性：</a:t>
            </a:r>
            <a:r>
              <a:rPr sz="1150">
                <a:solidFill>
                  <a:srgbClr val="1E293B"/>
                </a:solidFill>
                <a:latin typeface="Microsoft YaHei"/>
              </a:rPr>
              <a:t>ViewGuard 异常保护与 6 维语义校验确保系统在各类异常下平稳运行、0 死锁。</a:t>
            </a:r>
          </a:p>
        </p:txBody>
      </p:sp>
      <p:sp>
        <p:nvSpPr>
          <p:cNvPr id="11" name="Rectangle 10"/>
          <p:cNvSpPr/>
          <p:nvPr/>
        </p:nvSpPr>
        <p:spPr>
          <a:xfrm>
            <a:off x="8350300" y="1783080"/>
            <a:ext cx="3474720" cy="3566160"/>
          </a:xfrm>
          <a:prstGeom prst="rect">
            <a:avLst/>
          </a:prstGeom>
          <a:solidFill>
            <a:srgbClr val="FFFF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350300" y="1783080"/>
            <a:ext cx="3474720" cy="329184"/>
          </a:xfrm>
          <a:prstGeom prst="rect">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460028" y="1819656"/>
            <a:ext cx="3255264" cy="256032"/>
          </a:xfrm>
          <a:prstGeom prst="rect">
            <a:avLst/>
          </a:prstGeom>
          <a:noFill/>
        </p:spPr>
        <p:txBody>
          <a:bodyPr wrap="none" lIns="0" tIns="0" rIns="0" bIns="0">
            <a:spAutoFit/>
          </a:bodyPr>
          <a:lstStyle/>
          <a:p>
            <a:pPr>
              <a:defRPr sz="1200" b="1">
                <a:solidFill>
                  <a:srgbClr val="FFFFFF"/>
                </a:solidFill>
                <a:latin typeface="Microsoft YaHei"/>
              </a:defRPr>
            </a:pPr>
            <a:r>
              <a:t>原则三：量化验收与闭环</a:t>
            </a:r>
            <a:r>
              <a:rPr sz="1000" b="1">
                <a:solidFill>
                  <a:srgbClr val="BFDBFE"/>
                </a:solidFill>
                <a:latin typeface="Microsoft YaHei"/>
              </a:rPr>
              <a:t>  [验收要求]</a:t>
            </a:r>
          </a:p>
        </p:txBody>
      </p:sp>
      <p:sp>
        <p:nvSpPr>
          <p:cNvPr id="14" name="TextBox 13"/>
          <p:cNvSpPr txBox="1"/>
          <p:nvPr/>
        </p:nvSpPr>
        <p:spPr>
          <a:xfrm>
            <a:off x="8496604" y="2185416"/>
            <a:ext cx="3182112" cy="3090672"/>
          </a:xfrm>
          <a:prstGeom prst="rect">
            <a:avLst/>
          </a:prstGeom>
          <a:noFill/>
        </p:spPr>
        <p:txBody>
          <a:bodyPr wrap="square" lIns="0" tIns="0" rIns="0" bIns="0">
            <a:spAutoFit/>
          </a:bodyPr>
          <a:lstStyle/>
          <a:p>
            <a:pPr>
              <a:lnSpc>
                <a:spcPct val="120000"/>
              </a:lnSpc>
              <a:spcAft>
                <a:spcPts val="600"/>
              </a:spcAft>
            </a:pPr>
            <a:r>
              <a:rPr sz="1150" b="1">
                <a:solidFill>
                  <a:srgbClr val="1E3A8A"/>
                </a:solidFill>
                <a:latin typeface="Microsoft YaHei"/>
              </a:rPr>
              <a:t>• 严格执行达标门限：</a:t>
            </a:r>
            <a:r>
              <a:rPr sz="1150">
                <a:solidFill>
                  <a:srgbClr val="1E293B"/>
                </a:solidFill>
                <a:latin typeface="Microsoft YaHei"/>
              </a:rPr>
              <a:t>全链路 P99 TTFT 降低 ≥20%、系统吞吐提升 ≥10%、前台抖动 &lt;3% 等关键指标必须达标。</a:t>
            </a:r>
          </a:p>
          <a:p>
            <a:pPr>
              <a:lnSpc>
                <a:spcPct val="120000"/>
              </a:lnSpc>
              <a:spcAft>
                <a:spcPts val="600"/>
              </a:spcAft>
            </a:pPr>
            <a:r>
              <a:rPr sz="1150" b="1">
                <a:solidFill>
                  <a:srgbClr val="1E3A8A"/>
                </a:solidFill>
                <a:latin typeface="Microsoft YaHei"/>
              </a:rPr>
              <a:t>• 产出完整技术证据包：</a:t>
            </a:r>
            <a:r>
              <a:rPr sz="1150" b="1">
                <a:solidFill>
                  <a:srgbClr val="DC2626"/>
                </a:solidFill>
                <a:latin typeface="Microsoft YaHei"/>
              </a:rPr>
              <a:t>形成包含测试源码、环境配置、实测数据与分析结论的完整立项证据包。</a:t>
            </a:r>
          </a:p>
        </p:txBody>
      </p:sp>
      <p:sp>
        <p:nvSpPr>
          <p:cNvPr id="15" name="Rectangle 14"/>
          <p:cNvSpPr/>
          <p:nvPr/>
        </p:nvSpPr>
        <p:spPr>
          <a:xfrm>
            <a:off x="548640" y="5669280"/>
            <a:ext cx="11094415" cy="713232"/>
          </a:xfrm>
          <a:prstGeom prst="rect">
            <a:avLst/>
          </a:prstGeom>
          <a:solidFill>
            <a:srgbClr val="FFFFFF"/>
          </a:solidFill>
          <a:ln w="1524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5669280"/>
            <a:ext cx="73152" cy="713232"/>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5779008"/>
            <a:ext cx="10820095" cy="530352"/>
          </a:xfrm>
          <a:prstGeom prst="rect">
            <a:avLst/>
          </a:prstGeom>
          <a:noFill/>
        </p:spPr>
        <p:txBody>
          <a:bodyPr wrap="square" lIns="0" tIns="0" rIns="0" bIns="0">
            <a:spAutoFit/>
          </a:bodyPr>
          <a:lstStyle/>
          <a:p>
            <a:pPr algn="ctr"/>
            <a:r>
              <a:rPr sz="1300" b="1">
                <a:solidFill>
                  <a:srgbClr val="1E3A8A"/>
                </a:solidFill>
                <a:latin typeface="Microsoft YaHei"/>
              </a:rPr>
              <a:t>【总结】 </a:t>
            </a:r>
            <a:r>
              <a:rPr sz="1300" b="1">
                <a:solidFill>
                  <a:srgbClr val="DC2626"/>
                </a:solidFill>
                <a:latin typeface="Microsoft YaHei"/>
              </a:rPr>
              <a:t>提前验证方案设计与部署打流套件已就绪，接下来将全面开展 11 PVT + 1 CVT 真实打流对账工作。</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