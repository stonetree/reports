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MOONCAKE EXTENDED TECHNICAL BRIEFING</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200" b="1">
                <a:solidFill>
                  <a:srgbClr val="1E3A8A"/>
                </a:solidFill>
                <a:latin typeface="Microsoft YaHei"/>
              </a:defRPr>
            </a:pPr>
            <a:r>
              <a:t>关键技术提前验证方案串讲 (Mooncake 高性能原厂扩展版)</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基于开源生态底座深度重构 · 10 项必做验证包 (PVT) 与 1 项可行性证伪 (CVT) · 贯穿 P0/P1/P2 优先级</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研发定位与演进策略</a:t>
            </a:r>
            <a:r>
              <a:rPr sz="1000" b="1">
                <a:solidFill>
                  <a:srgbClr val="BFDBFE"/>
                </a:solidFill>
                <a:latin typeface="Microsoft YaHei"/>
              </a:rPr>
              <a:t>  [原厂软硬件协同]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基于开源生态底座：</a:t>
            </a:r>
            <a:r>
              <a:rPr sz="1150">
                <a:solidFill>
                  <a:srgbClr val="1E293B"/>
                </a:solidFill>
                <a:latin typeface="Microsoft YaHei"/>
              </a:rPr>
              <a:t>前期借用 Mooncake 外壳接口与集群接入生态，内部深度注入原厂软硬件协同核心创新机制。</a:t>
            </a:r>
          </a:p>
          <a:p>
            <a:pPr>
              <a:lnSpc>
                <a:spcPct val="120000"/>
              </a:lnSpc>
              <a:spcAft>
                <a:spcPts val="600"/>
              </a:spcAft>
            </a:pPr>
            <a:r>
              <a:rPr sz="1150" b="1">
                <a:solidFill>
                  <a:srgbClr val="1E3A8A"/>
                </a:solidFill>
                <a:latin typeface="Microsoft YaHei"/>
              </a:rPr>
              <a:t>• 突破开源既有边界：</a:t>
            </a:r>
            <a:r>
              <a:rPr sz="1150">
                <a:solidFill>
                  <a:srgbClr val="1E293B"/>
                </a:solidFill>
                <a:latin typeface="Microsoft YaHei"/>
              </a:rPr>
              <a:t>随着原厂传输底座、微秒调度与 SSD 直达容量主路径全面重构，演进为原厂高性能扩展版。</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Host CPU 零数据拷贝底座与跨框架描述符编译。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 SSD 分层扩容 + E3 真实集群前后台混压总门禁。</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穿刺优先级与量化门禁</a:t>
            </a:r>
            <a:r>
              <a:rPr sz="1000" b="1">
                <a:solidFill>
                  <a:srgbClr val="BFDBFE"/>
                </a:solidFill>
                <a:latin typeface="Microsoft YaHei"/>
              </a:rPr>
              <a:t>  [P0 / P1 / P2]</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10 PVT + 1 CVT 矩阵：</a:t>
            </a:r>
            <a:r>
              <a:rPr sz="1150">
                <a:solidFill>
                  <a:srgbClr val="1E293B"/>
                </a:solidFill>
                <a:latin typeface="Microsoft YaHei"/>
              </a:rPr>
              <a:t>5 项 P0 核心决胜项 + 4 项 P1 底座支撑项 + 2 项 P2 拓展证伪项。</a:t>
            </a:r>
          </a:p>
          <a:p>
            <a:pPr>
              <a:lnSpc>
                <a:spcPct val="120000"/>
              </a:lnSpc>
              <a:spcAft>
                <a:spcPts val="600"/>
              </a:spcAft>
            </a:pPr>
            <a:r>
              <a:rPr sz="1150" b="1">
                <a:solidFill>
                  <a:srgbClr val="1E3A8A"/>
                </a:solidFill>
                <a:latin typeface="Microsoft YaHei"/>
              </a:rPr>
              <a:t>• 在线打流消融对账：</a:t>
            </a:r>
            <a:r>
              <a:rPr sz="1150">
                <a:solidFill>
                  <a:srgbClr val="1E293B"/>
                </a:solidFill>
                <a:latin typeface="Microsoft YaHei"/>
              </a:rPr>
              <a:t>基于 vLLM 官方 benchmark_serving 在线打流，通过客观实测数据关闭全部验证门禁。</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存储池研发攻坚组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提前验证总体目标、10 PVT + 1 CVT 体系与验证准则</a:t>
            </a:r>
          </a:p>
          <a:p>
            <a:pPr>
              <a:spcBef>
                <a:spcPts val="300"/>
              </a:spcBef>
              <a:defRPr sz="1100">
                <a:solidFill>
                  <a:srgbClr val="475569"/>
                </a:solidFill>
                <a:latin typeface="Microsoft YaHei"/>
              </a:defRPr>
            </a:pPr>
            <a:r>
              <a:t>从单机算法原型、底层驱动调优到两节点集群端到端在线打流混压测试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四个核心验证阶段与优先级全景 (E0~E3)</a:t>
            </a:r>
            <a:r>
              <a:rPr sz="1000" b="1">
                <a:solidFill>
                  <a:srgbClr val="BFDBFE"/>
                </a:solidFill>
                <a:latin typeface="Microsoft YaHei"/>
              </a:rPr>
              <a:t>  [10 PVT + 1 CVT]</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500"/>
              </a:spcAft>
            </a:pPr>
            <a:r>
              <a:rPr sz="1100" b="1">
                <a:solidFill>
                  <a:srgbClr val="1E3A8A"/>
                </a:solidFill>
                <a:latin typeface="Microsoft YaHei"/>
              </a:rPr>
              <a:t>【阶段 E0 收益确认】 P1 级 PVT-00：</a:t>
            </a:r>
            <a:r>
              <a:rPr sz="1100">
                <a:solidFill>
                  <a:srgbClr val="1E293B"/>
                </a:solidFill>
                <a:latin typeface="Microsoft YaHei"/>
              </a:rPr>
              <a:t>测定 DeepSeek MLA (~35KB/tok) 与 Qwen MHA (320KB/tok) 在各复用率下的 Saved-Prefill 净收益（</a:t>
            </a:r>
            <a:r>
              <a:rPr sz="1100" b="1">
                <a:solidFill>
                  <a:srgbClr val="DC2626"/>
                </a:solidFill>
                <a:latin typeface="Microsoft YaHei"/>
              </a:rPr>
              <a:t>净收益 ≥ 2.0× 总开销</a:t>
            </a:r>
            <a:r>
              <a:rPr sz="1100">
                <a:solidFill>
                  <a:srgbClr val="1E293B"/>
                </a:solidFill>
                <a:latin typeface="Microsoft YaHei"/>
              </a:rPr>
              <a:t>），UBMEM 加速比 </a:t>
            </a:r>
            <a:r>
              <a:rPr sz="1100" b="1">
                <a:solidFill>
                  <a:srgbClr val="2563EB"/>
                </a:solidFill>
                <a:latin typeface="Microsoft YaHei"/>
              </a:rPr>
              <a:t>≥ 1.30×</a:t>
            </a:r>
            <a:r>
              <a:rPr sz="1100">
                <a:solidFill>
                  <a:srgbClr val="1E293B"/>
                </a:solidFill>
                <a:latin typeface="Microsoft YaHei"/>
              </a:rPr>
              <a:t>。</a:t>
            </a:r>
          </a:p>
          <a:p>
            <a:pPr>
              <a:lnSpc>
                <a:spcPct val="120000"/>
              </a:lnSpc>
              <a:spcAft>
                <a:spcPts val="500"/>
              </a:spcAft>
            </a:pPr>
            <a:r>
              <a:rPr sz="1100" b="1">
                <a:solidFill>
                  <a:srgbClr val="1E3A8A"/>
                </a:solidFill>
                <a:latin typeface="Microsoft YaHei"/>
              </a:rPr>
              <a:t>【阶段 E1 通路与多卡同步】 P0 PVT-02/06 | P1 PVT-01/09 | P2 PVT-08：</a:t>
            </a:r>
            <a:r>
              <a:rPr sz="1100">
                <a:solidFill>
                  <a:srgbClr val="1E293B"/>
                </a:solidFill>
                <a:latin typeface="Microsoft YaHei"/>
              </a:rPr>
              <a:t>验证 </a:t>
            </a:r>
            <a:r>
              <a:rPr sz="1100" b="1">
                <a:solidFill>
                  <a:srgbClr val="DC2626"/>
                </a:solidFill>
                <a:latin typeface="Microsoft YaHei"/>
              </a:rPr>
              <a:t>Host CPU 零数据拷贝</a:t>
            </a:r>
            <a:r>
              <a:rPr sz="1100">
                <a:solidFill>
                  <a:srgbClr val="1E293B"/>
                </a:solidFill>
                <a:latin typeface="Microsoft YaHei"/>
              </a:rPr>
              <a:t>；C++ 描述符开销降低 ≥40%、异步重叠 ≥60%；6 维语义校验 0 错误消费；TP=8 多卡同步 P99&lt;100µs；DPU 双轨 500µs 降级；软件组播带宽节省 ≥60%。</a:t>
            </a:r>
          </a:p>
          <a:p>
            <a:pPr>
              <a:lnSpc>
                <a:spcPct val="120000"/>
              </a:lnSpc>
              <a:spcAft>
                <a:spcPts val="500"/>
              </a:spcAft>
            </a:pPr>
            <a:r>
              <a:rPr sz="1100" b="1">
                <a:solidFill>
                  <a:srgbClr val="1E3A8A"/>
                </a:solidFill>
                <a:latin typeface="Microsoft YaHei"/>
              </a:rPr>
              <a:t>【阶段 E2 调度决策与分层扩容】 P0 PVT-04/05 | P1 PVT-03：</a:t>
            </a:r>
            <a:r>
              <a:rPr sz="1100">
                <a:solidFill>
                  <a:srgbClr val="1E293B"/>
                </a:solidFill>
                <a:latin typeface="Microsoft YaHei"/>
              </a:rPr>
              <a:t>测定远端直读边界；</a:t>
            </a:r>
            <a:r>
              <a:rPr sz="1100" b="1">
                <a:solidFill>
                  <a:srgbClr val="DC2626"/>
                </a:solidFill>
                <a:latin typeface="Microsoft YaHei"/>
              </a:rPr>
              <a:t>QueryPlan 决策 P99&lt;5µs 且负收益拦截率 100%</a:t>
            </a:r>
            <a:r>
              <a:rPr sz="1100">
                <a:solidFill>
                  <a:srgbClr val="1E293B"/>
                </a:solidFill>
                <a:latin typeface="Microsoft YaHei"/>
              </a:rPr>
              <a:t>；io_uring 裸盘直达在 150% 超载下服务容量提升 ≥30%、OOM 降低 ≥50%。</a:t>
            </a:r>
          </a:p>
          <a:p>
            <a:pPr>
              <a:lnSpc>
                <a:spcPct val="120000"/>
              </a:lnSpc>
              <a:spcAft>
                <a:spcPts val="500"/>
              </a:spcAft>
            </a:pPr>
            <a:r>
              <a:rPr sz="1100" b="1">
                <a:solidFill>
                  <a:srgbClr val="1E3A8A"/>
                </a:solidFill>
                <a:latin typeface="Microsoft YaHei"/>
              </a:rPr>
              <a:t>【阶段 E3 前后台混压总门禁】 P0 级 PVT-07：</a:t>
            </a:r>
            <a:r>
              <a:rPr sz="1100">
                <a:solidFill>
                  <a:srgbClr val="1E293B"/>
                </a:solidFill>
                <a:latin typeface="Microsoft YaHei"/>
              </a:rPr>
              <a:t>2 节点集群在线打流混压，</a:t>
            </a:r>
            <a:r>
              <a:rPr sz="1100" b="1">
                <a:solidFill>
                  <a:srgbClr val="DC2626"/>
                </a:solidFill>
                <a:latin typeface="Microsoft YaHei"/>
              </a:rPr>
              <a:t>P99 TTFT 降低 ≥20%</a:t>
            </a:r>
            <a:r>
              <a:rPr sz="1100">
                <a:solidFill>
                  <a:srgbClr val="1E293B"/>
                </a:solidFill>
                <a:latin typeface="Microsoft YaHei"/>
              </a:rPr>
              <a:t>，</a:t>
            </a:r>
            <a:r>
              <a:rPr sz="1100" b="1">
                <a:solidFill>
                  <a:srgbClr val="DC2626"/>
                </a:solidFill>
                <a:latin typeface="Microsoft YaHei"/>
              </a:rPr>
              <a:t>QPS 提升 ≥10%</a:t>
            </a:r>
            <a:r>
              <a:rPr sz="1100">
                <a:solidFill>
                  <a:srgbClr val="1E293B"/>
                </a:solidFill>
                <a:latin typeface="Microsoft YaHei"/>
              </a:rPr>
              <a:t>，前台 TPOT 干扰率严格 &lt; 3%。</a:t>
            </a:r>
          </a:p>
          <a:p>
            <a:pPr>
              <a:lnSpc>
                <a:spcPct val="120000"/>
              </a:lnSpc>
              <a:spcAft>
                <a:spcPts val="500"/>
              </a:spcAft>
            </a:pPr>
            <a:r>
              <a:rPr sz="1100" b="1">
                <a:solidFill>
                  <a:srgbClr val="1E3A8A"/>
                </a:solidFill>
                <a:latin typeface="Microsoft YaHei"/>
              </a:rPr>
              <a:t>【技术可行性证伪项】 P2 级 CVT-01：</a:t>
            </a:r>
            <a:r>
              <a:rPr sz="1100">
                <a:solidFill>
                  <a:srgbClr val="1E293B"/>
                </a:solidFill>
                <a:latin typeface="Microsoft YaHei"/>
              </a:rPr>
              <a:t>验证软件 RCU 机制显存整理读停顿 &lt; 1ms、TPOT 抖动 &lt; 3%，成功证伪专有硬件 AtomicRemap 芯片依赖。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调度大脑与控制面：</a:t>
            </a:r>
            <a:r>
              <a:rPr sz="1150">
                <a:solidFill>
                  <a:srgbClr val="1E293B"/>
                </a:solidFill>
                <a:latin typeface="Microsoft YaHei"/>
              </a:rPr>
              <a:t>QueryPlan 动态决策引擎、MLA/MHA 成本预估模型、ConsumeEligibility 6 维强校验、多卡 POSIX 共享内存同步。</a:t>
            </a:r>
          </a:p>
          <a:p>
            <a:pPr>
              <a:lnSpc>
                <a:spcPct val="120000"/>
              </a:lnSpc>
              <a:spcAft>
                <a:spcPts val="600"/>
              </a:spcAft>
            </a:pPr>
            <a:r>
              <a:rPr sz="1150" b="1">
                <a:solidFill>
                  <a:srgbClr val="1E3A8A"/>
                </a:solidFill>
                <a:latin typeface="Microsoft YaHei"/>
              </a:rPr>
              <a:t>• 描述符与内存管理：</a:t>
            </a:r>
            <a:r>
              <a:rPr sz="1150">
                <a:solidFill>
                  <a:srgbClr val="1E293B"/>
                </a:solidFill>
                <a:latin typeface="Microsoft YaHei"/>
              </a:rPr>
              <a:t>跨框架 Layout 描述符编译器、Layerwise 边算边传异步 DAG 流水、ViewGuard 租约守卫与 SIGBUS 异常回滚。</a:t>
            </a:r>
          </a:p>
          <a:p>
            <a:pPr>
              <a:lnSpc>
                <a:spcPct val="120000"/>
              </a:lnSpc>
              <a:spcAft>
                <a:spcPts val="600"/>
              </a:spcAft>
            </a:pPr>
            <a:r>
              <a:rPr sz="1150" b="1">
                <a:solidFill>
                  <a:srgbClr val="1E3A8A"/>
                </a:solidFill>
                <a:latin typeface="Microsoft YaHei"/>
              </a:rPr>
              <a:t>• 底层传输与分层存储：</a:t>
            </a:r>
            <a:r>
              <a:rPr sz="1150">
                <a:solidFill>
                  <a:srgbClr val="1E293B"/>
                </a:solidFill>
                <a:latin typeface="Microsoft YaHei"/>
              </a:rPr>
              <a:t>UBMEM 共享内存、URMA 用户态网络、CANN P2P 显存锁定、io_uring FIXED 裸盘直达主路径、DPU 安全双轨。</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开源基线对标与在线打流实施原则</a:t>
            </a:r>
            <a:r>
              <a:rPr sz="1000" b="1">
                <a:solidFill>
                  <a:srgbClr val="BFDBFE"/>
                </a:solidFill>
                <a:latin typeface="Microsoft YaHei"/>
              </a:rPr>
              <a:t>  [实施准则]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真实集群在线打流：</a:t>
            </a:r>
            <a:r>
              <a:rPr sz="1150">
                <a:solidFill>
                  <a:srgbClr val="1E293B"/>
                </a:solidFill>
                <a:latin typeface="Microsoft YaHei"/>
              </a:rPr>
              <a:t>基于 Mooncake Master + vLLM-Ascend 2 节点真实集群，运行官方 benchmark_serving 发送在线多并发流量。</a:t>
            </a:r>
          </a:p>
          <a:p>
            <a:pPr>
              <a:lnSpc>
                <a:spcPct val="120000"/>
              </a:lnSpc>
              <a:spcAft>
                <a:spcPts val="600"/>
              </a:spcAft>
            </a:pPr>
            <a:r>
              <a:rPr sz="1150" b="1">
                <a:solidFill>
                  <a:srgbClr val="1E3A8A"/>
                </a:solidFill>
                <a:latin typeface="Microsoft YaHei"/>
              </a:rPr>
              <a:t>• 同条件严格消融对账：</a:t>
            </a:r>
            <a:r>
              <a:rPr sz="1150">
                <a:solidFill>
                  <a:srgbClr val="1E293B"/>
                </a:solidFill>
                <a:latin typeface="Microsoft YaHei"/>
              </a:rPr>
              <a:t>在纯重算基线、官方原生 Mooncake 混压与 Unified KV 扩展版之间开展严格同条件消融对比。</a:t>
            </a:r>
          </a:p>
          <a:p>
            <a:pPr>
              <a:lnSpc>
                <a:spcPct val="120000"/>
              </a:lnSpc>
              <a:spcAft>
                <a:spcPts val="600"/>
              </a:spcAft>
            </a:pPr>
            <a:r>
              <a:rPr sz="1150" b="1">
                <a:solidFill>
                  <a:srgbClr val="1E3A8A"/>
                </a:solidFill>
                <a:latin typeface="Microsoft YaHei"/>
              </a:rPr>
              <a:t>• 兵力压强集中决胜：</a:t>
            </a:r>
            <a:r>
              <a:rPr sz="1150">
                <a:solidFill>
                  <a:srgbClr val="1E293B"/>
                </a:solidFill>
                <a:latin typeface="Microsoft YaHei"/>
              </a:rPr>
              <a:t>聚焦 5 大 P0 核心决胜项（描述符编译、微秒决策、裸盘直达、多卡同步、混压门禁），彻底攻克技术瓶颈。</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10 PVT + 1 CVT 摸清软硬件性能边界，</a:t>
            </a:r>
            <a:r>
              <a:rPr sz="1150" b="1">
                <a:solidFill>
                  <a:srgbClr val="DC2626"/>
                </a:solidFill>
                <a:latin typeface="Microsoft YaHei"/>
              </a:rPr>
              <a:t>为后续系统落地提供扎实的技术依据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 Saved-Prefill 收益上限与通信加速边界评估</a:t>
            </a:r>
          </a:p>
          <a:p>
            <a:pPr>
              <a:spcBef>
                <a:spcPts val="300"/>
              </a:spcBef>
              <a:defRPr sz="1100">
                <a:solidFill>
                  <a:srgbClr val="475569"/>
                </a:solidFill>
                <a:latin typeface="Microsoft YaHei"/>
              </a:defRPr>
            </a:pPr>
            <a:r>
              <a:t>评估 DeepSeek MLA (~35KB/tok) 与 Qwen MHA (320KB/tok) 在不同复用率下，外接 KV 池相比本地直接重算的时间节省与通信协议加速边界</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大模型首字生成（Prefill）算力开销巨大。外接 KV 存储池能否相比本地直接重算产生显著时间节省（Saved-Prefill 净收益），是立项前提基石。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 </a:t>
            </a:r>
            <a:r>
              <a:rPr sz="1150" b="1">
                <a:solidFill>
                  <a:srgbClr val="1E293B"/>
                </a:solidFill>
                <a:latin typeface="Microsoft YaHei"/>
              </a:rPr>
              <a:t>30%~98% 前缀复用率</a:t>
            </a:r>
            <a:r>
              <a:rPr sz="1150">
                <a:solidFill>
                  <a:srgbClr val="1E293B"/>
                </a:solidFill>
                <a:latin typeface="Microsoft YaHei"/>
              </a:rPr>
              <a:t> 与 8K~128K 上下文下，读取缓存能省多少时间；测定 </a:t>
            </a:r>
            <a:r>
              <a:rPr sz="1150" b="1">
                <a:solidFill>
                  <a:srgbClr val="2563EB"/>
                </a:solidFill>
                <a:latin typeface="Microsoft YaHei"/>
              </a:rPr>
              <a:t>UBMEM 共享内存直通通信</a:t>
            </a:r>
            <a:r>
              <a:rPr sz="1150">
                <a:solidFill>
                  <a:srgbClr val="1E293B"/>
                </a:solidFill>
                <a:latin typeface="Microsoft YaHei"/>
              </a:rPr>
              <a:t> 相比标准 URMA 通信的协议加速上限。</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核心验证，用客观实测数据确认外接缓存方案能带来确定性的首 Token 响应时间 (TTFT) 显著降低。</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 双端口网卡</a:t>
            </a:r>
            <a:r>
              <a:rPr sz="1150">
                <a:solidFill>
                  <a:srgbClr val="1E293B"/>
                </a:solidFill>
                <a:latin typeface="Microsoft YaHei"/>
              </a:rPr>
              <a:t>，512GB DDR5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，动态链接 </a:t>
            </a:r>
            <a:r>
              <a:rPr sz="1150" b="1">
                <a:solidFill>
                  <a:srgbClr val="1E3A8A"/>
                </a:solidFill>
                <a:latin typeface="Consolas"/>
              </a:rPr>
              <a:t>-lurma -lubmem -lpthread</a:t>
            </a:r>
            <a:r>
              <a:rPr sz="1150">
                <a:solidFill>
                  <a:srgbClr val="1E293B"/>
                </a:solidFill>
                <a:latin typeface="Microsoft YaHei"/>
              </a:rPr>
              <a:t>，基于 Linux 6.6+ 内核与 CANN 8.0 驱动。</a:t>
            </a:r>
          </a:p>
          <a:p>
            <a:pPr>
              <a:lnSpc>
                <a:spcPct val="120000"/>
              </a:lnSpc>
              <a:spcAft>
                <a:spcPts val="600"/>
              </a:spcAft>
            </a:pPr>
            <a:r>
              <a:rPr sz="1150" b="1">
                <a:solidFill>
                  <a:srgbClr val="1E3A8A"/>
                </a:solidFill>
                <a:latin typeface="Microsoft YaHei"/>
              </a:rPr>
              <a:t>• 开源软件基线：</a:t>
            </a:r>
            <a:r>
              <a:rPr sz="1150">
                <a:solidFill>
                  <a:srgbClr val="1E293B"/>
                </a:solidFill>
                <a:latin typeface="Microsoft YaHei"/>
              </a:rPr>
              <a:t>Mooncake (v0.3.12+) + vLLM-Ascend 2 节点集群，基于官方 </a:t>
            </a:r>
            <a:r>
              <a:rPr sz="1150" b="1">
                <a:solidFill>
                  <a:srgbClr val="1E3A8A"/>
                </a:solidFill>
                <a:latin typeface="Consolas"/>
              </a:rPr>
              <a:t>benchmark_serving.py</a:t>
            </a:r>
            <a:r>
              <a:rPr sz="1150">
                <a:solidFill>
                  <a:srgbClr val="1E293B"/>
                </a:solidFill>
                <a:latin typeface="Microsoft YaHei"/>
              </a:rPr>
              <a:t> 进行在线打流消融。</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多模型测试集 (make_workload.py)：</a:t>
            </a:r>
            <a:r>
              <a:rPr sz="1150">
                <a:solidFill>
                  <a:srgbClr val="1E293B"/>
                </a:solidFill>
                <a:latin typeface="Microsoft YaHei"/>
              </a:rPr>
              <a:t>覆盖 </a:t>
            </a:r>
            <a:r>
              <a:rPr sz="1150" b="1">
                <a:solidFill>
                  <a:srgbClr val="DC2626"/>
                </a:solidFill>
                <a:latin typeface="Microsoft YaHei"/>
              </a:rPr>
              <a:t>DeepSeek MLA (~35KB/tok)</a:t>
            </a:r>
            <a:r>
              <a:rPr sz="1150">
                <a:solidFill>
                  <a:srgbClr val="1E293B"/>
                </a:solidFill>
                <a:latin typeface="Microsoft YaHei"/>
              </a:rPr>
              <a:t> 与 </a:t>
            </a:r>
            <a:r>
              <a:rPr sz="1150" b="1">
                <a:solidFill>
                  <a:srgbClr val="2563EB"/>
                </a:solidFill>
                <a:latin typeface="Microsoft YaHei"/>
              </a:rPr>
              <a:t>Qwen MHA (320KB/tok)</a:t>
            </a:r>
            <a:r>
              <a:rPr sz="1150">
                <a:solidFill>
                  <a:srgbClr val="1E293B"/>
                </a:solidFill>
                <a:latin typeface="Microsoft YaHei"/>
              </a:rPr>
              <a:t>，构造 30%~98% 复用率序列。</a:t>
            </a:r>
          </a:p>
          <a:p>
            <a:pPr>
              <a:lnSpc>
                <a:spcPct val="120000"/>
              </a:lnSpc>
              <a:spcAft>
                <a:spcPts val="600"/>
              </a:spcAft>
            </a:pPr>
            <a:r>
              <a:rPr sz="1150" b="1">
                <a:solidFill>
                  <a:srgbClr val="1E3A8A"/>
                </a:solidFill>
                <a:latin typeface="Microsoft YaHei"/>
              </a:rPr>
              <a:t>• 底层协议微基准 (proto_bench.cc)：</a:t>
            </a:r>
            <a:r>
              <a:rPr sz="1150">
                <a:solidFill>
                  <a:srgbClr val="1E293B"/>
                </a:solidFill>
                <a:latin typeface="Microsoft YaHei"/>
              </a:rPr>
              <a:t>扫参 4KB~64MB 块与 1~64 并发，测定 URMA/UBMEM 带宽与 P99 延迟。</a:t>
            </a:r>
          </a:p>
          <a:p>
            <a:pPr>
              <a:lnSpc>
                <a:spcPct val="120000"/>
              </a:lnSpc>
              <a:spcAft>
                <a:spcPts val="600"/>
              </a:spcAft>
            </a:pPr>
            <a:r>
              <a:rPr sz="1150" b="1">
                <a:solidFill>
                  <a:srgbClr val="1E3A8A"/>
                </a:solidFill>
                <a:latin typeface="Microsoft YaHei"/>
              </a:rPr>
              <a:t>• 在线打流消融：</a:t>
            </a:r>
            <a:r>
              <a:rPr sz="1150">
                <a:solidFill>
                  <a:srgbClr val="1E293B"/>
                </a:solidFill>
                <a:latin typeface="Microsoft YaHei"/>
              </a:rPr>
              <a:t>运行 benchmark_serving.py，对比重算、原生 Mooncake 与 UBMEM 版 TTFT。</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《通信协议基础性能评测表》、《多模型前缀复用时延实测对比表》、《Saved-Prefill 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净收益判定：</a:t>
            </a:r>
            <a:r>
              <a:rPr sz="1150" b="1">
                <a:solidFill>
                  <a:srgbClr val="DC2626"/>
                </a:solidFill>
                <a:latin typeface="Microsoft YaHei"/>
              </a:rPr>
              <a:t>读取与加载总开销 &lt; 本地直接重算耗时</a:t>
            </a:r>
            <a:r>
              <a:rPr sz="1150">
                <a:solidFill>
                  <a:srgbClr val="1E293B"/>
                </a:solidFill>
                <a:latin typeface="Microsoft YaHei"/>
              </a:rPr>
              <a:t>（在 ≥50% 复用率下，净时间节省 ≥ 2.0× 查询与传输总开销）；
</a:t>
            </a:r>
            <a:r>
              <a:rPr sz="1150" b="1">
                <a:solidFill>
                  <a:srgbClr val="1E293B"/>
                </a:solidFill>
                <a:latin typeface="Microsoft YaHei"/>
              </a:rPr>
              <a:t>2. 协议加速比：</a:t>
            </a:r>
            <a:r>
              <a:rPr sz="1150" b="1">
                <a:solidFill>
                  <a:srgbClr val="059669"/>
                </a:solidFill>
                <a:latin typeface="Microsoft YaHei"/>
              </a:rPr>
              <a:t>UBMEM 共享内存协议相比标准 URMA 带宽/时延加速比 ≥ 1.30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实测证明在 ≥50% 复用率下，读取外接缓存节省的时间达到传输总开销的 </a:t>
            </a:r>
            <a:r>
              <a:rPr sz="1150" b="1">
                <a:solidFill>
                  <a:srgbClr val="DC2626"/>
                </a:solidFill>
                <a:latin typeface="Microsoft YaHei"/>
              </a:rPr>
              <a:t>2.0 倍以上</a:t>
            </a:r>
            <a:r>
              <a:rPr sz="1150" b="1">
                <a:solidFill>
                  <a:srgbClr val="0F172A"/>
                </a:solidFill>
                <a:latin typeface="Microsoft YaHei"/>
              </a:rPr>
              <a:t>，UBMEM 通信协议加速比 </a:t>
            </a:r>
            <a:r>
              <a:rPr sz="1150" b="1">
                <a:solidFill>
                  <a:srgbClr val="DC2626"/>
                </a:solidFill>
                <a:latin typeface="Microsoft YaHei"/>
              </a:rPr>
              <a:t>≥1.30×</a:t>
            </a:r>
            <a:r>
              <a:rPr sz="1150" b="1">
                <a:solidFill>
                  <a:srgbClr val="0F172A"/>
                </a:solidFill>
                <a:latin typeface="Microsoft YaHei"/>
              </a:rPr>
              <a:t>，达到阶段 E0 准入门槛。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PVT-01：Host CPU 零数据拷贝传输通路与硬件能力矩阵验证</a:t>
            </a:r>
          </a:p>
          <a:p>
            <a:pPr>
              <a:spcBef>
                <a:spcPts val="300"/>
              </a:spcBef>
              <a:defRPr sz="1100">
                <a:solidFill>
                  <a:srgbClr val="475569"/>
                </a:solidFill>
                <a:latin typeface="Microsoft YaHei"/>
              </a:defRPr>
            </a:pPr>
            <a:r>
              <a:t>验证跨节点 URMA/UBMEM 与本地 NVMe SSD 直达通路中的 CPU 零数据拷贝及硬件线速达成率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800G 网络与 Gen5 SSD 环境下，若由 Host CPU 参与内存拷贝或拆包，会瞬间占满 CPU 与内存带宽，导致降速与时延抖动。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验证传输通路中数据直达显存，</a:t>
            </a:r>
            <a:r>
              <a:rPr sz="1150" b="1">
                <a:solidFill>
                  <a:srgbClr val="DC2626"/>
                </a:solidFill>
                <a:latin typeface="Microsoft YaHei"/>
              </a:rPr>
              <a:t>Host CPU 零数据拷贝（CPU 仅负责下发指令，Host Payload Touch Bytes 严格为 0）</a:t>
            </a:r>
            <a:r>
              <a:rPr sz="1150">
                <a:solidFill>
                  <a:srgbClr val="1E293B"/>
                </a:solidFill>
                <a:latin typeface="Microsoft YaHei"/>
              </a:rPr>
              <a:t>，有效带宽达物理线速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传输底座，输出</a:t>
            </a:r>
            <a:r>
              <a:rPr sz="1150" b="1">
                <a:solidFill>
                  <a:srgbClr val="2563EB"/>
                </a:solidFill>
                <a:latin typeface="Microsoft YaHei"/>
              </a:rPr>
              <a:t>“硬件能力矩阵 (CapabilityMatrix)”</a:t>
            </a:r>
            <a:r>
              <a:rPr sz="1150">
                <a:solidFill>
                  <a:srgbClr val="1E293B"/>
                </a:solidFill>
                <a:latin typeface="Microsoft YaHei"/>
              </a:rPr>
              <a:t>，供调度算法读取。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 (P2P 标志)</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将显存直接注册给网卡实现显存直读传输。</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裸盘读写 (FIXED I/O + O_DIRECT)</a:t>
            </a:r>
            <a:r>
              <a:rPr sz="1150">
                <a:solidFill>
                  <a:srgbClr val="1E293B"/>
                </a:solidFill>
                <a:latin typeface="Microsoft YaHei"/>
              </a:rPr>
              <a:t>，严格绕过主机内存 Host DDR，消除 CPU 拷贝。</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 内核跟踪探针全量监控是否发生 CPU 内存拷贝，确保零拷贝底座成立。</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在长时间高并发大流量传输下，通过 eBPF 统计 CPU 触碰数据的字节数，提供严格的防漏报凭证。</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硬件能力参数文件。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零数据拷贝：</a:t>
            </a:r>
            <a:r>
              <a:rPr sz="1150" b="1">
                <a:solidFill>
                  <a:srgbClr val="DC2626"/>
                </a:solidFill>
                <a:latin typeface="Microsoft YaHei"/>
              </a:rPr>
              <a:t>Host CPU 正文数据搬运字节数严格 = 0</a:t>
            </a:r>
            <a:r>
              <a:rPr sz="1150">
                <a:solidFill>
                  <a:srgbClr val="1E293B"/>
                </a:solidFill>
                <a:latin typeface="Microsoft YaHei"/>
              </a:rPr>
              <a:t>（CPU 仅负责提交描述符指令）；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，产出准确的硬件能力矩阵参数表供调度使用。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PVT-02：异构框架 Layout 描述符编译器与跨节点异步流水验证</a:t>
            </a:r>
          </a:p>
          <a:p>
            <a:pPr>
              <a:spcBef>
                <a:spcPts val="300"/>
              </a:spcBef>
              <a:defRPr sz="1100">
                <a:solidFill>
                  <a:srgbClr val="475569"/>
                </a:solidFill>
                <a:latin typeface="Microsoft YaHei"/>
              </a:defRPr>
            </a:pPr>
            <a:r>
              <a:t>对标 vLLM-Ascend 原生连接器，验证 64B POD 描述符贪心合并与跨节点 Layerwise 边算边传异步 DAG 重叠流水</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采用分页内存管理（物理块离散），vLLM-Ascend 默认使用 Python-ZMQ 连接器逐块处理，CPU 序列化与小 I/O 抵消了硬件性能。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C++ 描述符编译器将离散块零拷贝合并为 Scatter-Gather 描述符；验证 2 节点下 </a:t>
            </a:r>
            <a:r>
              <a:rPr sz="1150" b="1">
                <a:solidFill>
                  <a:srgbClr val="2563EB"/>
                </a:solidFill>
                <a:latin typeface="Microsoft YaHei"/>
              </a:rPr>
              <a:t>Chunked Prefill 逐层边算边传 (Layerwise KV Streaming)</a:t>
            </a:r>
            <a:r>
              <a:rPr sz="1150">
                <a:solidFill>
                  <a:srgbClr val="1E293B"/>
                </a:solidFill>
                <a:latin typeface="Microsoft YaHei"/>
              </a:rPr>
              <a:t> 的计算-传输完全重叠。</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直面开源代码瓶颈，大幅降低 CPU 提交开销，使数据传输时间在线被大模型矩阵计算时间完全掩盖。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描述符协议：</a:t>
            </a:r>
            <a:r>
              <a:rPr sz="1150">
                <a:solidFill>
                  <a:srgbClr val="1E293B"/>
                </a:solidFill>
                <a:latin typeface="Microsoft YaHei"/>
              </a:rPr>
              <a:t>定义 64B POD 定长结构体 </a:t>
            </a:r>
            <a:r>
              <a:rPr sz="1150" b="1">
                <a:solidFill>
                  <a:srgbClr val="1E3A8A"/>
                </a:solidFill>
                <a:latin typeface="Consolas"/>
              </a:rPr>
              <a:t>BatchDescriptorHeader</a:t>
            </a:r>
            <a:r>
              <a:rPr sz="1150">
                <a:solidFill>
                  <a:srgbClr val="1E293B"/>
                </a:solidFill>
                <a:latin typeface="Microsoft YaHei"/>
              </a:rPr>
              <a:t>，通过共享内存（</a:t>
            </a:r>
            <a:r>
              <a:rPr sz="1150">
                <a:solidFill>
                  <a:srgbClr val="1E3A8A"/>
                </a:solidFill>
                <a:latin typeface="Consolas"/>
              </a:rPr>
              <a:t>/dev/shm</a:t>
            </a:r>
            <a:r>
              <a:rPr sz="1150">
                <a:solidFill>
                  <a:srgbClr val="1E293B"/>
                </a:solidFill>
                <a:latin typeface="Microsoft YaHei"/>
              </a:rPr>
              <a:t>）零拷贝跨进程传递。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架构（计算流与传输流），利用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构建硬件无锁同步屏障。</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-O3 -std=c++17</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描述符编译基准 (descriptor_compiler.cc)：</a:t>
            </a:r>
            <a:r>
              <a:rPr sz="1150">
                <a:solidFill>
                  <a:srgbClr val="1E293B"/>
                </a:solidFill>
                <a:latin typeface="Microsoft YaHei"/>
              </a:rPr>
              <a:t>模拟 10%~100% 显存碎片率，压测连续物理块的贪心合并算法与编译耗时。</a:t>
            </a:r>
          </a:p>
          <a:p>
            <a:pPr>
              <a:lnSpc>
                <a:spcPct val="120000"/>
              </a:lnSpc>
              <a:spcAft>
                <a:spcPts val="600"/>
              </a:spcAft>
            </a:pPr>
            <a:r>
              <a:rPr sz="1150" b="1">
                <a:solidFill>
                  <a:srgbClr val="1E3A8A"/>
                </a:solidFill>
                <a:latin typeface="Microsoft YaHei"/>
              </a:rPr>
              <a:t>• 跨节点流水重叠压测 (async_dag_bench.cc)：</a:t>
            </a:r>
            <a:r>
              <a:rPr sz="1150">
                <a:solidFill>
                  <a:srgbClr val="1E293B"/>
                </a:solidFill>
                <a:latin typeface="Microsoft YaHei"/>
              </a:rPr>
              <a:t>模拟 16~64 层大模型逐层边算边传流水，测量计算耗时、传输耗时与流水线总耗时。</a:t>
            </a:r>
          </a:p>
          <a:p>
            <a:pPr>
              <a:lnSpc>
                <a:spcPct val="120000"/>
              </a:lnSpc>
              <a:spcAft>
                <a:spcPts val="600"/>
              </a:spcAft>
            </a:pPr>
            <a:r>
              <a:rPr sz="1150" b="1">
                <a:solidFill>
                  <a:srgbClr val="1E3A8A"/>
                </a:solidFill>
                <a:latin typeface="Microsoft YaHei"/>
              </a:rPr>
              <a:t>• 对标 vLLM-Ascend 在线消融：</a:t>
            </a:r>
            <a:r>
              <a:rPr sz="1150">
                <a:solidFill>
                  <a:srgbClr val="1E293B"/>
                </a:solidFill>
                <a:latin typeface="Microsoft YaHei"/>
              </a:rPr>
              <a:t>替换 MooncakeLayerwiseConnector 底层实现，对比原生 Python 序列化与 C++ 描述符加速效果。</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《描述符编译性能与压缩比报告》、《Layerwise 异步流水重叠率曲线》、《CPU 提交开销消融对比表》。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描述符压缩率与时延：</a:t>
            </a:r>
            <a:r>
              <a:rPr sz="1150" b="1">
                <a:solidFill>
                  <a:srgbClr val="DC2626"/>
                </a:solidFill>
                <a:latin typeface="Microsoft YaHei"/>
              </a:rPr>
              <a:t>描述符连续块合并压缩率 ≥ 50%，单次编译耗时 &lt; 5µs</a:t>
            </a:r>
            <a:r>
              <a:rPr sz="1150">
                <a:solidFill>
                  <a:srgbClr val="1E293B"/>
                </a:solidFill>
                <a:latin typeface="Microsoft YaHei"/>
              </a:rPr>
              <a:t>；
</a:t>
            </a:r>
            <a:r>
              <a:rPr sz="1150" b="1">
                <a:solidFill>
                  <a:srgbClr val="1E293B"/>
                </a:solidFill>
                <a:latin typeface="Microsoft YaHei"/>
              </a:rPr>
              <a:t>2. 流水重叠率：</a:t>
            </a:r>
            <a:r>
              <a:rPr sz="1150" b="1">
                <a:solidFill>
                  <a:srgbClr val="059669"/>
                </a:solidFill>
                <a:latin typeface="Microsoft YaHei"/>
              </a:rPr>
              <a:t>异步 DAG 流水计算-传输重叠率 ≥ 60%</a:t>
            </a:r>
            <a:r>
              <a:rPr sz="1150">
                <a:solidFill>
                  <a:srgbClr val="1E293B"/>
                </a:solidFill>
                <a:latin typeface="Microsoft YaHei"/>
              </a:rPr>
              <a:t>（传输时间被计算掩盖 ≥ 60%）；
</a:t>
            </a:r>
            <a:r>
              <a:rPr sz="1150" b="1">
                <a:solidFill>
                  <a:srgbClr val="1E293B"/>
                </a:solidFill>
                <a:latin typeface="Microsoft YaHei"/>
              </a:rPr>
              <a:t>3. 控制面加速：</a:t>
            </a:r>
            <a:r>
              <a:rPr sz="1150" b="1">
                <a:solidFill>
                  <a:srgbClr val="2563EB"/>
                </a:solidFill>
                <a:latin typeface="Microsoft YaHei"/>
              </a:rPr>
              <a:t>CPU 描述符提交开销相比原生 Python-ZMQ 降低 ≥ 40%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描述符编译与异步流水：</a:t>
            </a:r>
            <a:r>
              <a:rPr sz="1150" b="1">
                <a:solidFill>
                  <a:srgbClr val="0F172A"/>
                </a:solidFill>
                <a:latin typeface="Microsoft YaHei"/>
              </a:rPr>
              <a:t>描述符合并压缩率达到 </a:t>
            </a:r>
            <a:r>
              <a:rPr sz="1150" b="1">
                <a:solidFill>
                  <a:srgbClr val="DC2626"/>
                </a:solidFill>
                <a:latin typeface="Microsoft YaHei"/>
              </a:rPr>
              <a:t>≥50%</a:t>
            </a:r>
            <a:r>
              <a:rPr sz="1150" b="1">
                <a:solidFill>
                  <a:srgbClr val="0F172A"/>
                </a:solidFill>
                <a:latin typeface="Microsoft YaHei"/>
              </a:rPr>
              <a:t>，计算传输异步流水重叠率达到 </a:t>
            </a:r>
            <a:r>
              <a:rPr sz="1150" b="1">
                <a:solidFill>
                  <a:srgbClr val="DC2626"/>
                </a:solidFill>
                <a:latin typeface="Microsoft YaHei"/>
              </a:rPr>
              <a:t>≥60%</a:t>
            </a:r>
            <a:r>
              <a:rPr sz="1150" b="1">
                <a:solidFill>
                  <a:srgbClr val="0F172A"/>
                </a:solidFill>
                <a:latin typeface="Microsoft YaHei"/>
              </a:rPr>
              <a:t>，CPU 提交开销大幅降低 ≥40%，突破开源控制面瓶颈。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PVT-03：远端直读 vs 显存拷贝适用边界与 ViewGuard 容错验证</a:t>
            </a:r>
          </a:p>
          <a:p>
            <a:pPr>
              <a:spcBef>
                <a:spcPts val="300"/>
              </a:spcBef>
              <a:defRPr sz="1100">
                <a:solidFill>
                  <a:srgbClr val="475569"/>
                </a:solidFill>
                <a:latin typeface="Microsoft YaHei"/>
              </a:defRPr>
            </a:pPr>
            <a:r>
              <a:t>测定 Direct-View 与 Copy-to-HBM 的交叉临界点，实测证伪 Decode 活跃 KV 直读，验证 ViewGuard 租约安全守卫</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业界对于是否应跨节点直接读取远端显存存在争议。必须实测探明远端直读与本地显存拷贝的性能交叉临界点，防止错误选路恶化单字生成耗时（TPOT）。</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实测不同重读次数下两种路径的耗时曲线；实测证伪 Decode 阶段活跃 KV 直读的可行性；验证 </a:t>
            </a:r>
            <a:r>
              <a:rPr sz="1150" b="1">
                <a:solidFill>
                  <a:srgbClr val="DC2626"/>
                </a:solidFill>
                <a:latin typeface="Microsoft YaHei"/>
              </a:rPr>
              <a:t>ViewGuard 视图租约安全守卫机制（捕获 SIGBUS 异常并安全回滚至本地重算）</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确立清晰的访问模式决策边界，保障远端直读在发生节点宕机或租约超时等故障时 100% 安全回滚不崩溃。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硬件与驱动：</a:t>
            </a:r>
            <a:r>
              <a:rPr sz="1150">
                <a:solidFill>
                  <a:srgbClr val="1E293B"/>
                </a:solidFill>
                <a:latin typeface="Microsoft YaHei"/>
              </a:rPr>
              <a:t>UBMEM 共享内存驱动库、CANN 8.0 运行时环境、Linux 6.6+ 信号处理子系统。</a:t>
            </a:r>
          </a:p>
          <a:p>
            <a:pPr>
              <a:lnSpc>
                <a:spcPct val="120000"/>
              </a:lnSpc>
              <a:spcAft>
                <a:spcPts val="600"/>
              </a:spcAft>
            </a:pPr>
            <a:r>
              <a:rPr sz="1150" b="1">
                <a:solidFill>
                  <a:srgbClr val="1E3A8A"/>
                </a:solidFill>
                <a:latin typeface="Microsoft YaHei"/>
              </a:rPr>
              <a:t>• 核心头文件：</a:t>
            </a:r>
            <a:r>
              <a:rPr sz="1150">
                <a:solidFill>
                  <a:srgbClr val="1E293B"/>
                </a:solidFill>
                <a:latin typeface="Microsoft YaHei"/>
              </a:rPr>
              <a:t>引入 </a:t>
            </a:r>
            <a:r>
              <a:rPr sz="1150" b="1">
                <a:solidFill>
                  <a:srgbClr val="1E3A8A"/>
                </a:solidFill>
                <a:latin typeface="Consolas"/>
              </a:rPr>
              <a:t>view_guard.h</a:t>
            </a:r>
            <a:r>
              <a:rPr sz="1150">
                <a:solidFill>
                  <a:srgbClr val="1E293B"/>
                </a:solidFill>
                <a:latin typeface="Microsoft YaHei"/>
              </a:rPr>
              <a:t>，通过 </a:t>
            </a:r>
            <a:r>
              <a:rPr sz="1150">
                <a:solidFill>
                  <a:srgbClr val="1E3A8A"/>
                </a:solidFill>
                <a:latin typeface="Consolas"/>
              </a:rPr>
              <a:t>sigaction(SIGBUS)</a:t>
            </a:r>
            <a:r>
              <a:rPr sz="1150">
                <a:solidFill>
                  <a:srgbClr val="1E293B"/>
                </a:solidFill>
                <a:latin typeface="Microsoft YaHei"/>
              </a:rPr>
              <a:t> 捕获跨节点总线访问异常，利用 </a:t>
            </a:r>
            <a:r>
              <a:rPr sz="1150">
                <a:solidFill>
                  <a:srgbClr val="1E3A8A"/>
                </a:solidFill>
                <a:latin typeface="Consolas"/>
              </a:rPr>
              <a:t>sigsetjmp/siglongjmp</a:t>
            </a:r>
            <a:r>
              <a:rPr sz="1150">
                <a:solidFill>
                  <a:srgbClr val="1E293B"/>
                </a:solidFill>
                <a:latin typeface="Microsoft YaHei"/>
              </a:rPr>
              <a:t> 实现执行栈安全回滚。</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交叉曲线测定 (view_vs_copy_bench.cc)：</a:t>
            </a:r>
            <a:r>
              <a:rPr sz="1150">
                <a:solidFill>
                  <a:srgbClr val="1E293B"/>
                </a:solidFill>
                <a:latin typeface="Microsoft YaHei"/>
              </a:rPr>
              <a:t>测试不同数据块大小（16KB~4MB）在 1~10 次重复读取下的累计耗时，绘制 Crossover 临界曲线。</a:t>
            </a:r>
          </a:p>
          <a:p>
            <a:pPr>
              <a:lnSpc>
                <a:spcPct val="120000"/>
              </a:lnSpc>
              <a:spcAft>
                <a:spcPts val="600"/>
              </a:spcAft>
            </a:pPr>
            <a:r>
              <a:rPr sz="1150" b="1">
                <a:solidFill>
                  <a:srgbClr val="1E3A8A"/>
                </a:solidFill>
                <a:latin typeface="Microsoft YaHei"/>
              </a:rPr>
              <a:t>• Decode 直读证伪实验 (benchmark_serving_view.py)：</a:t>
            </a:r>
            <a:r>
              <a:rPr sz="1150">
                <a:solidFill>
                  <a:srgbClr val="1E293B"/>
                </a:solidFill>
                <a:latin typeface="Microsoft YaHei"/>
              </a:rPr>
              <a:t>在推理服务 Decode 阶段强制注入远端直读，对比本地显存读取的 TPOT 尾部延迟恶化程度。</a:t>
            </a:r>
          </a:p>
          <a:p>
            <a:pPr>
              <a:lnSpc>
                <a:spcPct val="120000"/>
              </a:lnSpc>
              <a:spcAft>
                <a:spcPts val="600"/>
              </a:spcAft>
            </a:pPr>
            <a:r>
              <a:rPr sz="1150" b="1">
                <a:solidFill>
                  <a:srgbClr val="1E3A8A"/>
                </a:solidFill>
                <a:latin typeface="Microsoft YaHei"/>
              </a:rPr>
              <a:t>• 故障注入与安全回滚：</a:t>
            </a:r>
            <a:r>
              <a:rPr sz="1150">
                <a:solidFill>
                  <a:srgbClr val="1E293B"/>
                </a:solidFill>
                <a:latin typeface="Microsoft YaHei"/>
              </a:rPr>
              <a:t>在远端直读过程中人为杀掉目标节点进程或制造租约超时，验证 ViewGuard 异常捕获与回滚。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《Direct-View 与 Copy-to-HBM 性能交叉曲线》、《Decode 活跃直读证伪报告》、《ViewGuard 容错日志》。</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决策边界明确：</a:t>
            </a:r>
            <a:r>
              <a:rPr sz="1150">
                <a:solidFill>
                  <a:srgbClr val="1E293B"/>
                </a:solidFill>
                <a:latin typeface="Microsoft YaHei"/>
              </a:rPr>
              <a:t>确立重读次数 &gt; 2 时必须走 Copy-to-HBM 路径；证实 Decode 活跃 KV 直读导致 TPOT 恶化（证伪成立）；
</a:t>
            </a:r>
            <a:r>
              <a:rPr sz="1150" b="1">
                <a:solidFill>
                  <a:srgbClr val="1E293B"/>
                </a:solidFill>
                <a:latin typeface="Microsoft YaHei"/>
              </a:rPr>
              <a:t>2. 异常安全回滚：</a:t>
            </a:r>
            <a:r>
              <a:rPr sz="1150" b="1">
                <a:solidFill>
                  <a:srgbClr val="059669"/>
                </a:solidFill>
                <a:latin typeface="Microsoft YaHei"/>
              </a:rPr>
              <a:t>远端异常时 ViewGuard 实现 100% 捕获 SIGBUS 并安全回滚至本地重算</a:t>
            </a:r>
            <a:r>
              <a:rPr sz="1150">
                <a:solidFill>
                  <a:srgbClr val="1E293B"/>
                </a:solidFill>
                <a:latin typeface="Microsoft YaHei"/>
              </a:rPr>
              <a:t>（服务 0 崩溃）。</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访问边界与安全容错：</a:t>
            </a:r>
            <a:r>
              <a:rPr sz="1150" b="1">
                <a:solidFill>
                  <a:srgbClr val="0F172A"/>
                </a:solidFill>
                <a:latin typeface="Microsoft YaHei"/>
              </a:rPr>
              <a:t>明确判定重读次数 &gt; 2 时必须执行显存拷贝，实测证伪 Decode 直读，</a:t>
            </a:r>
            <a:r>
              <a:rPr sz="1150" b="1">
                <a:solidFill>
                  <a:srgbClr val="DC2626"/>
                </a:solidFill>
                <a:latin typeface="Microsoft YaHei"/>
              </a:rPr>
              <a:t>ViewGuard 实现 100% 安全捕获异常并回滚至本地重算</a:t>
            </a:r>
            <a:r>
              <a:rPr sz="1150" b="1">
                <a:solidFill>
                  <a:srgbClr val="0F172A"/>
                </a:solidFill>
                <a:latin typeface="Microsoft YaHei"/>
              </a:rPr>
              <a:t>，保障推理服务连续性。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PVT-04：微秒级动态决策引擎与 CostEvaluator 成本模型验证</a:t>
            </a:r>
          </a:p>
          <a:p>
            <a:pPr>
              <a:spcBef>
                <a:spcPts val="300"/>
              </a:spcBef>
              <a:defRPr sz="1100">
                <a:solidFill>
                  <a:srgbClr val="475569"/>
                </a:solidFill>
                <a:latin typeface="Microsoft YaHei"/>
              </a:defRPr>
            </a:pPr>
            <a:r>
              <a:t>构建微秒调度大脑，在微秒级时间内根据链路状态、算力与上下文长度选择最优加载或重算路径，覆盖 MLA 与 MHA</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命中缓存并不总能获得加速。对于 DeepSeek MLA 高度压缩模型（单 Token 仅 ~35KB）与高负载网络，若加载开销大于计算耗时，盲目拉取缓存会导致负收益。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验证决策引擎在微秒级时间内根据链路状态与上下文长度量化预估成本，执行 </a:t>
            </a:r>
            <a:r>
              <a:rPr sz="1150" b="1">
                <a:solidFill>
                  <a:srgbClr val="DC2626"/>
                </a:solidFill>
                <a:latin typeface="Microsoft YaHei"/>
              </a:rPr>
              <a:t>“拉取与加载总开销 &lt; 本地直接重算耗时”</a:t>
            </a:r>
            <a:r>
              <a:rPr sz="1150">
                <a:solidFill>
                  <a:srgbClr val="1E293B"/>
                </a:solidFill>
                <a:latin typeface="Microsoft YaHei"/>
              </a:rPr>
              <a:t> 的动态前置决策，主动拦截负收益。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直面调度大脑核心挑战，确保系统在复杂网络拥塞与高并发下始终做出全局最优调度选择。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算法引擎：</a:t>
            </a:r>
            <a:r>
              <a:rPr sz="1150">
                <a:solidFill>
                  <a:srgbClr val="1E293B"/>
                </a:solidFill>
                <a:latin typeface="Microsoft YaHei"/>
              </a:rPr>
              <a:t>引入头文件 </a:t>
            </a:r>
            <a:r>
              <a:rPr sz="1150" b="1">
                <a:solidFill>
                  <a:srgbClr val="1E3A8A"/>
                </a:solidFill>
                <a:latin typeface="Consolas"/>
              </a:rPr>
              <a:t>query_plan_fastpath.h</a:t>
            </a:r>
            <a:r>
              <a:rPr sz="1150">
                <a:solidFill>
                  <a:srgbClr val="1E293B"/>
                </a:solidFill>
                <a:latin typeface="Microsoft YaHei"/>
              </a:rPr>
              <a:t>，实现基于位运算与查表的微秒级成本预估模型（CostEvaluator）。</a:t>
            </a:r>
          </a:p>
          <a:p>
            <a:pPr>
              <a:lnSpc>
                <a:spcPct val="120000"/>
              </a:lnSpc>
              <a:spcAft>
                <a:spcPts val="600"/>
              </a:spcAft>
            </a:pPr>
            <a:r>
              <a:rPr sz="1150" b="1">
                <a:solidFill>
                  <a:srgbClr val="1E3A8A"/>
                </a:solidFill>
                <a:latin typeface="Microsoft YaHei"/>
              </a:rPr>
              <a:t>• 性能优化：</a:t>
            </a:r>
            <a:r>
              <a:rPr sz="1150">
                <a:solidFill>
                  <a:srgbClr val="1E293B"/>
                </a:solidFill>
                <a:latin typeface="Microsoft YaHei"/>
              </a:rPr>
              <a:t>无锁环形队列传递请求意图，单次决策全内存纯算，消除任何动态内存分配与跨线程锁争用。</a:t>
            </a:r>
          </a:p>
          <a:p>
            <a:pPr>
              <a:lnSpc>
                <a:spcPct val="120000"/>
              </a:lnSpc>
              <a:spcAft>
                <a:spcPts val="600"/>
              </a:spcAft>
            </a:pPr>
            <a:r>
              <a:rPr sz="1150" b="1">
                <a:solidFill>
                  <a:srgbClr val="1E3A8A"/>
                </a:solidFill>
                <a:latin typeface="Microsoft YaHei"/>
              </a:rPr>
              <a:t>• 多模型覆盖：</a:t>
            </a:r>
            <a:r>
              <a:rPr sz="1150">
                <a:solidFill>
                  <a:srgbClr val="1E293B"/>
                </a:solidFill>
                <a:latin typeface="Microsoft YaHei"/>
              </a:rPr>
              <a:t>内置 DeepSeek MLA (~35KB/tok) 与 Qwen MHA (320KB/tok) 双轨成本系数表。</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决策吞吐压测 (query_plan_bench.cc)：</a:t>
            </a:r>
            <a:r>
              <a:rPr sz="1150">
                <a:solidFill>
                  <a:srgbClr val="1E293B"/>
                </a:solidFill>
                <a:latin typeface="Microsoft YaHei"/>
              </a:rPr>
              <a:t>在单核与多核下压测 100K QPS 高并发决策吞吐，测量 P50/P99 决策时延。</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采集 10 万条真实推理轨迹，将决策引擎给出的选择与事后实测耗时进行离线反事实交叉对比。</a:t>
            </a:r>
          </a:p>
          <a:p>
            <a:pPr>
              <a:lnSpc>
                <a:spcPct val="120000"/>
              </a:lnSpc>
              <a:spcAft>
                <a:spcPts val="600"/>
              </a:spcAft>
            </a:pPr>
            <a:r>
              <a:rPr sz="1150" b="1">
                <a:solidFill>
                  <a:srgbClr val="1E3A8A"/>
                </a:solidFill>
                <a:latin typeface="Microsoft YaHei"/>
              </a:rPr>
              <a:t>• 负收益拦截率验证：</a:t>
            </a:r>
            <a:r>
              <a:rPr sz="1150">
                <a:solidFill>
                  <a:srgbClr val="1E293B"/>
                </a:solidFill>
                <a:latin typeface="Microsoft YaHei"/>
              </a:rPr>
              <a:t>在网络拥塞与高负载扰动下，验证系统是否准确放弃拉取、主动回退至本地直接重算。</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《微秒级决策时延分布表》、《MLA/MHA 决策准确率矩阵》、《负收益主动拦截率报告》。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极低决策开销：</a:t>
            </a:r>
            <a:r>
              <a:rPr sz="1150" b="1">
                <a:solidFill>
                  <a:srgbClr val="DC2626"/>
                </a:solidFill>
                <a:latin typeface="Microsoft YaHei"/>
              </a:rPr>
              <a:t>单次选路决策耗时 P99 &lt; 5µs，决策吞吐 ≥ 50,000 QPS</a:t>
            </a:r>
            <a:r>
              <a:rPr sz="1150">
                <a:solidFill>
                  <a:srgbClr val="1E293B"/>
                </a:solidFill>
                <a:latin typeface="Microsoft YaHei"/>
              </a:rPr>
              <a:t>；
</a:t>
            </a:r>
            <a:r>
              <a:rPr sz="1150" b="1">
                <a:solidFill>
                  <a:srgbClr val="1E293B"/>
                </a:solidFill>
                <a:latin typeface="Microsoft YaHei"/>
              </a:rPr>
              <a:t>2. 决策准确率：</a:t>
            </a:r>
            <a:r>
              <a:rPr sz="1150" b="1">
                <a:solidFill>
                  <a:srgbClr val="059669"/>
                </a:solidFill>
                <a:latin typeface="Microsoft YaHei"/>
              </a:rPr>
              <a:t>决策命中推荐与最优路径对齐率 ≥ 90%</a:t>
            </a:r>
            <a:r>
              <a:rPr sz="1150">
                <a:solidFill>
                  <a:srgbClr val="1E293B"/>
                </a:solidFill>
                <a:latin typeface="Microsoft YaHei"/>
              </a:rPr>
              <a:t>；
</a:t>
            </a:r>
            <a:r>
              <a:rPr sz="1150" b="1">
                <a:solidFill>
                  <a:srgbClr val="1E293B"/>
                </a:solidFill>
                <a:latin typeface="Microsoft YaHei"/>
              </a:rPr>
              <a:t>3. 负收益拦截：</a:t>
            </a:r>
            <a:r>
              <a:rPr sz="1150" b="1">
                <a:solidFill>
                  <a:srgbClr val="2563EB"/>
                </a:solidFill>
                <a:latin typeface="Microsoft YaHei"/>
              </a:rPr>
              <a:t>在负收益场景下主动回退率 100%，错误决策率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微秒动态调度大脑：</a:t>
            </a:r>
            <a:r>
              <a:rPr sz="1150" b="1">
                <a:solidFill>
                  <a:srgbClr val="0F172A"/>
                </a:solidFill>
                <a:latin typeface="Microsoft YaHei"/>
              </a:rPr>
              <a:t>单次选路决策耗时 </a:t>
            </a:r>
            <a:r>
              <a:rPr sz="1150" b="1">
                <a:solidFill>
                  <a:srgbClr val="DC2626"/>
                </a:solidFill>
                <a:latin typeface="Microsoft YaHei"/>
              </a:rPr>
              <a:t>P99 &lt; 5µs</a:t>
            </a:r>
            <a:r>
              <a:rPr sz="1150" b="1">
                <a:solidFill>
                  <a:srgbClr val="0F172A"/>
                </a:solidFill>
                <a:latin typeface="Microsoft YaHei"/>
              </a:rPr>
              <a:t>，决策准确率达到 </a:t>
            </a:r>
            <a:r>
              <a:rPr sz="1150" b="1">
                <a:solidFill>
                  <a:srgbClr val="DC2626"/>
                </a:solidFill>
                <a:latin typeface="Microsoft YaHei"/>
              </a:rPr>
              <a:t>≥90%</a:t>
            </a:r>
            <a:r>
              <a:rPr sz="1150" b="1">
                <a:solidFill>
                  <a:srgbClr val="0F172A"/>
                </a:solidFill>
                <a:latin typeface="Microsoft YaHei"/>
              </a:rPr>
              <a:t>，负收益加载拦截率 100%，确保任意网络状态下系统收益为正。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PVT-05：HBM-SSD 直达容量主路径与分层存储扩容验证</a:t>
            </a:r>
          </a:p>
          <a:p>
            <a:pPr>
              <a:spcBef>
                <a:spcPts val="300"/>
              </a:spcBef>
              <a:defRPr sz="1100">
                <a:solidFill>
                  <a:srgbClr val="475569"/>
                </a:solidFill>
                <a:latin typeface="Microsoft YaHei"/>
              </a:defRPr>
            </a:pPr>
            <a:r>
              <a:t>对标 Mooncake 原生文件级 SSD Offload，验证 Linux 6.6+ io_uring 裸盘直达容量主路径与显存超载分层扩容</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大模型长文本推理极易引发显存不足（OOM）。Mooncake 原生采用文件系统级 SSD Offload，存在 OS 页缓存与内核拷贝开销，无法充分发挥 Gen5 SSD 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验证分层块分配器（TierBlockAllocator）管理 4KB 对齐裸盘扇区，通过 io_uring FIXED I/O 实现 </a:t>
            </a:r>
            <a:r>
              <a:rPr sz="1150" b="1">
                <a:solidFill>
                  <a:srgbClr val="DC2626"/>
                </a:solidFill>
                <a:latin typeface="Microsoft YaHei"/>
              </a:rPr>
              <a:t>数据在 NVMe SSD 与显存间流转（严格绕过主机内存 Host DDR）</a:t>
            </a:r>
            <a:r>
              <a:rPr sz="1150">
                <a:solidFill>
                  <a:srgbClr val="1E293B"/>
                </a:solidFill>
                <a:latin typeface="Microsoft YaHei"/>
              </a:rPr>
              <a:t>；验证显存超载下的平滑扩容能力。</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确立廉价大容量 SSD 作为容量扩展主路径，大幅降低服务器采购能耗与 TCO 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4× NVMe PCIe Gen5 SSD 阵列，格式化为裸块设备（/dev/nvme0n1），顺序读标称 28 GB/s。</a:t>
            </a:r>
          </a:p>
          <a:p>
            <a:pPr>
              <a:lnSpc>
                <a:spcPct val="120000"/>
              </a:lnSpc>
              <a:spcAft>
                <a:spcPts val="600"/>
              </a:spcAft>
            </a:pPr>
            <a:r>
              <a:rPr sz="1150" b="1">
                <a:solidFill>
                  <a:srgbClr val="1E3A8A"/>
                </a:solidFill>
                <a:latin typeface="Microsoft YaHei"/>
              </a:rPr>
              <a:t>• 驱动与内核规范：</a:t>
            </a:r>
            <a:r>
              <a:rPr sz="1150">
                <a:solidFill>
                  <a:srgbClr val="1E293B"/>
                </a:solidFill>
                <a:latin typeface="Microsoft YaHei"/>
              </a:rPr>
              <a:t>Linux 6.6+ 内核，引入头文件 </a:t>
            </a:r>
            <a:r>
              <a:rPr sz="1150" b="1">
                <a:solidFill>
                  <a:srgbClr val="1E3A8A"/>
                </a:solidFill>
                <a:latin typeface="Consolas"/>
              </a:rPr>
              <a:t>&lt;liburing.h&gt;</a:t>
            </a:r>
            <a:r>
              <a:rPr sz="1150">
                <a:solidFill>
                  <a:srgbClr val="1E293B"/>
                </a:solidFill>
                <a:latin typeface="Microsoft YaHei"/>
              </a:rPr>
              <a:t>，启用 </a:t>
            </a:r>
            <a:r>
              <a:rPr sz="1150" b="1">
                <a:solidFill>
                  <a:srgbClr val="1E3A8A"/>
                </a:solidFill>
                <a:latin typeface="Consolas"/>
              </a:rPr>
              <a:t>IORING_OP_READ_FIXED / WRITE_FIXED</a:t>
            </a:r>
            <a:r>
              <a:rPr sz="1150">
                <a:solidFill>
                  <a:srgbClr val="1E293B"/>
                </a:solidFill>
                <a:latin typeface="Microsoft YaHei"/>
              </a:rPr>
              <a:t> 与 O_DIRECT。</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-luring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裸盘存储基准 (tier_storage_bench.cc)：</a:t>
            </a:r>
            <a:r>
              <a:rPr sz="1150">
                <a:solidFill>
                  <a:srgbClr val="1E293B"/>
                </a:solidFill>
                <a:latin typeface="Microsoft YaHei"/>
              </a:rPr>
              <a:t>压测 16MB/64MB 连续扇区读写，对比 io_uring Direct I/O、Host DDR 中转与 Mooncake 原生文件 offload 吞吐。</a:t>
            </a:r>
          </a:p>
          <a:p>
            <a:pPr>
              <a:lnSpc>
                <a:spcPct val="120000"/>
              </a:lnSpc>
              <a:spcAft>
                <a:spcPts val="600"/>
              </a:spcAft>
            </a:pPr>
            <a:r>
              <a:rPr sz="1150" b="1">
                <a:solidFill>
                  <a:srgbClr val="1E3A8A"/>
                </a:solidFill>
                <a:latin typeface="Microsoft YaHei"/>
              </a:rPr>
              <a:t>• 显存超载打流压测 (benchmark_tiering.py)：</a:t>
            </a:r>
            <a:r>
              <a:rPr sz="1150">
                <a:solidFill>
                  <a:srgbClr val="1E293B"/>
                </a:solidFill>
                <a:latin typeface="Microsoft YaHei"/>
              </a:rPr>
              <a:t>在 150%~200% HBM 显存超载压力下，验证高低水位线 (85%/65%) 驱动的冷数据异步换出与热数据换入。</a:t>
            </a:r>
          </a:p>
          <a:p>
            <a:pPr>
              <a:lnSpc>
                <a:spcPct val="120000"/>
              </a:lnSpc>
              <a:spcAft>
                <a:spcPts val="600"/>
              </a:spcAft>
            </a:pPr>
            <a:r>
              <a:rPr sz="1150" b="1">
                <a:solidFill>
                  <a:srgbClr val="1E3A8A"/>
                </a:solidFill>
                <a:latin typeface="Microsoft YaHei"/>
              </a:rPr>
              <a:t>• OOM 与请求驱逐统计：</a:t>
            </a:r>
            <a:r>
              <a:rPr sz="1150">
                <a:solidFill>
                  <a:srgbClr val="1E293B"/>
                </a:solidFill>
                <a:latin typeface="Microsoft YaHei"/>
              </a:rPr>
              <a:t>记录超载场景下的请求成功率、OOM 发生次数与并发服务请求数。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《SSD 裸盘直达读写带宽表》、《150% 显存超载扩容评测报告》、《OOM 与驱逐率消融对比图》。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容量扩展能力：</a:t>
            </a:r>
            <a:r>
              <a:rPr sz="1150" b="1">
                <a:solidFill>
                  <a:srgbClr val="DC2626"/>
                </a:solidFill>
                <a:latin typeface="Microsoft YaHei"/>
              </a:rPr>
              <a:t>在 150% 显存超载下，系统支持的可服务 Token 容量提升 ≥ 30%</a:t>
            </a:r>
            <a:r>
              <a:rPr sz="1150">
                <a:solidFill>
                  <a:srgbClr val="1E293B"/>
                </a:solidFill>
                <a:latin typeface="Microsoft YaHei"/>
              </a:rPr>
              <a:t>；
</a:t>
            </a:r>
            <a:r>
              <a:rPr sz="1150" b="1">
                <a:solidFill>
                  <a:srgbClr val="1E293B"/>
                </a:solidFill>
                <a:latin typeface="Microsoft YaHei"/>
              </a:rPr>
              <a:t>2. OOM 发生率：</a:t>
            </a:r>
            <a:r>
              <a:rPr sz="1150" b="1">
                <a:solidFill>
                  <a:srgbClr val="059669"/>
                </a:solidFill>
                <a:latin typeface="Microsoft YaHei"/>
              </a:rPr>
              <a:t>显存超载下请求因显存不足导致的 OOM 发生率降低 ≥ 50%</a:t>
            </a:r>
            <a:r>
              <a:rPr sz="1150">
                <a:solidFill>
                  <a:srgbClr val="1E293B"/>
                </a:solidFill>
                <a:latin typeface="Microsoft YaHei"/>
              </a:rPr>
              <a:t>；
</a:t>
            </a:r>
            <a:r>
              <a:rPr sz="1150" b="1">
                <a:solidFill>
                  <a:srgbClr val="1E293B"/>
                </a:solidFill>
                <a:latin typeface="Microsoft YaHei"/>
              </a:rPr>
              <a:t>3. 硬件线速与零 DDR 拷贝：</a:t>
            </a:r>
            <a:r>
              <a:rPr sz="1150" b="1">
                <a:solidFill>
                  <a:srgbClr val="2563EB"/>
                </a:solidFill>
                <a:latin typeface="Microsoft YaHei"/>
              </a:rPr>
              <a:t>SSD 顺序读吞吐达到硬件物理线速 ≥ 80%，全程绕过 Host DDR</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裸盘直达与容量扩容：</a:t>
            </a:r>
            <a:r>
              <a:rPr sz="1150" b="1">
                <a:solidFill>
                  <a:srgbClr val="0F172A"/>
                </a:solidFill>
                <a:latin typeface="Microsoft YaHei"/>
              </a:rPr>
              <a:t>在 150% 显存超载下可服务容量提升 </a:t>
            </a:r>
            <a:r>
              <a:rPr sz="1150" b="1">
                <a:solidFill>
                  <a:srgbClr val="DC2626"/>
                </a:solidFill>
                <a:latin typeface="Microsoft YaHei"/>
              </a:rPr>
              <a:t>≥30%</a:t>
            </a:r>
            <a:r>
              <a:rPr sz="1150" b="1">
                <a:solidFill>
                  <a:srgbClr val="0F172A"/>
                </a:solidFill>
                <a:latin typeface="Microsoft YaHei"/>
              </a:rPr>
              <a:t>，OOM 错误降低 </a:t>
            </a:r>
            <a:r>
              <a:rPr sz="1150" b="1">
                <a:solidFill>
                  <a:srgbClr val="DC2626"/>
                </a:solidFill>
                <a:latin typeface="Microsoft YaHei"/>
              </a:rPr>
              <a:t>≥50%</a:t>
            </a:r>
            <a:r>
              <a:rPr sz="1150" b="1">
                <a:solidFill>
                  <a:srgbClr val="0F172A"/>
                </a:solidFill>
                <a:latin typeface="Microsoft YaHei"/>
              </a:rPr>
              <a:t>，SSD 读写达到物理线速 ≥80% 且全程绕过 Host DDR，确立容量主路径。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PVT-06：多维度语义一致性强校验与 TP=8 多卡状态同步验证</a:t>
            </a:r>
          </a:p>
          <a:p>
            <a:pPr>
              <a:spcBef>
                <a:spcPts val="300"/>
              </a:spcBef>
              <a:defRPr sz="1100">
                <a:solidFill>
                  <a:srgbClr val="475569"/>
                </a:solidFill>
                <a:latin typeface="Microsoft YaHei"/>
              </a:defRPr>
            </a:pPr>
            <a:r>
              <a:t>验证 6 维语义微秒级合法性强校验（杜绝陈旧失效读取）与张量并行多卡共享内存状态同步 (P99 &lt; 100µs)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跨节点共享 KV 极易因模型版本、词表、提示词模板漂移或半写脏块导致错误消费；在 TP=8 多卡并行下，各卡状态不一致会触发集合通信死锁。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验证消费资格校验引擎（ConsumeEligibility）执行 6 维语义微秒级检查；验证基于 POSIX 共享内存的 </a:t>
            </a:r>
            <a:r>
              <a:rPr sz="1150" b="1">
                <a:solidFill>
                  <a:srgbClr val="DC2626"/>
                </a:solidFill>
                <a:latin typeface="Microsoft YaHei"/>
              </a:rPr>
              <a:t>张量并行多卡状态同步机制（TP=8 多卡状态同步耗时 P99 &lt; 100µs）</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筑牢生产级系统正确性底线，彻底杜绝脏读，杜绝多卡集合通信死锁。</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语义校验引擎：</a:t>
            </a:r>
            <a:r>
              <a:rPr sz="1150">
                <a:solidFill>
                  <a:srgbClr val="1E293B"/>
                </a:solidFill>
                <a:latin typeface="Microsoft YaHei"/>
              </a:rPr>
              <a:t>引入头文件 </a:t>
            </a:r>
            <a:r>
              <a:rPr sz="1150" b="1">
                <a:solidFill>
                  <a:srgbClr val="1E3A8A"/>
                </a:solidFill>
                <a:latin typeface="Consolas"/>
              </a:rPr>
              <a:t>consume_eligibility.h</a:t>
            </a:r>
            <a:r>
              <a:rPr sz="1150">
                <a:solidFill>
                  <a:srgbClr val="1E293B"/>
                </a:solidFill>
                <a:latin typeface="Microsoft YaHei"/>
              </a:rPr>
              <a:t>，采用 </a:t>
            </a:r>
            <a:r>
              <a:rPr sz="1150" b="1">
                <a:solidFill>
                  <a:srgbClr val="1E3A8A"/>
                </a:solidFill>
                <a:latin typeface="Consolas"/>
              </a:rPr>
              <a:t>xxHash64</a:t>
            </a:r>
            <a:r>
              <a:rPr sz="1150">
                <a:solidFill>
                  <a:srgbClr val="1E293B"/>
                </a:solidFill>
                <a:latin typeface="Microsoft YaHei"/>
              </a:rPr>
              <a:t> 对模型架构、Tokenizer 词表、Prompt 模板、LoRA 适配器及租约执行微秒级校验。</a:t>
            </a:r>
          </a:p>
          <a:p>
            <a:pPr>
              <a:lnSpc>
                <a:spcPct val="120000"/>
              </a:lnSpc>
              <a:spcAft>
                <a:spcPts val="600"/>
              </a:spcAft>
            </a:pPr>
            <a:r>
              <a:rPr sz="1150" b="1">
                <a:solidFill>
                  <a:srgbClr val="1E3A8A"/>
                </a:solidFill>
                <a:latin typeface="Microsoft YaHei"/>
              </a:rPr>
              <a:t>• 多卡共享内存：</a:t>
            </a:r>
            <a:r>
              <a:rPr sz="1150">
                <a:solidFill>
                  <a:srgbClr val="1E293B"/>
                </a:solidFill>
                <a:latin typeface="Microsoft YaHei"/>
              </a:rPr>
              <a:t>利用 Linux </a:t>
            </a:r>
            <a:r>
              <a:rPr sz="1150" b="1">
                <a:solidFill>
                  <a:srgbClr val="1E3A8A"/>
                </a:solidFill>
                <a:latin typeface="Consolas"/>
              </a:rPr>
              <a:t>/dev/shm</a:t>
            </a:r>
            <a:r>
              <a:rPr sz="1150">
                <a:solidFill>
                  <a:srgbClr val="1E293B"/>
                </a:solidFill>
                <a:latin typeface="Microsoft YaHei"/>
              </a:rPr>
              <a:t> POSIX 共享内存与原子位图同步 TP=8 各卡就绪状态，替代高开销 NCCL 集合通信。</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-lxxhash -lrt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 类语义冲突注入测试 (test_correctness.py)：</a:t>
            </a:r>
            <a:r>
              <a:rPr sz="1150">
                <a:solidFill>
                  <a:srgbClr val="1E293B"/>
                </a:solidFill>
                <a:latin typeface="Microsoft YaHei"/>
              </a:rPr>
              <a:t>主动注入模型架构不匹配、词表版本漂移、LoRA 权重失效、半写脏块、租约过期等 8 类冲突，检验拦截率与回滚。</a:t>
            </a:r>
          </a:p>
          <a:p>
            <a:pPr>
              <a:lnSpc>
                <a:spcPct val="120000"/>
              </a:lnSpc>
              <a:spcAft>
                <a:spcPts val="600"/>
              </a:spcAft>
            </a:pPr>
            <a:r>
              <a:rPr sz="1150" b="1">
                <a:solidFill>
                  <a:srgbClr val="1E3A8A"/>
                </a:solidFill>
                <a:latin typeface="Microsoft YaHei"/>
              </a:rPr>
              <a:t>• 多卡状态同步压测 (rank_consensus_bench.cc)：</a:t>
            </a:r>
            <a:r>
              <a:rPr sz="1150">
                <a:solidFill>
                  <a:srgbClr val="1E293B"/>
                </a:solidFill>
                <a:latin typeface="Microsoft YaHei"/>
              </a:rPr>
              <a:t>在 TP=8 模式下连续执行 100 万次状态同步，测量各卡一致性决策的 P50/P99 耗时与抖动。</a:t>
            </a:r>
          </a:p>
          <a:p>
            <a:pPr>
              <a:lnSpc>
                <a:spcPct val="120000"/>
              </a:lnSpc>
              <a:spcAft>
                <a:spcPts val="600"/>
              </a:spcAft>
            </a:pPr>
            <a:r>
              <a:rPr sz="1150" b="1">
                <a:solidFill>
                  <a:srgbClr val="1E3A8A"/>
                </a:solidFill>
                <a:latin typeface="Microsoft YaHei"/>
              </a:rPr>
              <a:t>• 部分命中拼接验证：</a:t>
            </a:r>
            <a:r>
              <a:rPr sz="1150">
                <a:solidFill>
                  <a:srgbClr val="1E293B"/>
                </a:solidFill>
                <a:latin typeface="Microsoft YaHei"/>
              </a:rPr>
              <a:t>验证 30%~70% 部分前缀命中时，各卡正确完成已命中部分加载与未命中部分本地重算的协同执行。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《6 维语义冲突拦截与正确性报告》、《TP=8 多卡状态同步时延分布表》、《输出 Token 逐字对齐验证报告》。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语义一致性保障：</a:t>
            </a:r>
            <a:r>
              <a:rPr sz="1150" b="1">
                <a:solidFill>
                  <a:srgbClr val="DC2626"/>
                </a:solidFill>
                <a:latin typeface="Microsoft YaHei"/>
              </a:rPr>
              <a:t>8 类语义冲突用例 100% 主动拦截，错误消费严格 = 0</a:t>
            </a:r>
            <a:r>
              <a:rPr sz="1150">
                <a:solidFill>
                  <a:srgbClr val="1E293B"/>
                </a:solidFill>
                <a:latin typeface="Microsoft YaHei"/>
              </a:rPr>
              <a:t>；
</a:t>
            </a:r>
            <a:r>
              <a:rPr sz="1150" b="1">
                <a:solidFill>
                  <a:srgbClr val="1E293B"/>
                </a:solidFill>
                <a:latin typeface="Microsoft YaHei"/>
              </a:rPr>
              <a:t>2. 多卡状态同步时延：</a:t>
            </a:r>
            <a:r>
              <a:rPr sz="1150" b="1">
                <a:solidFill>
                  <a:srgbClr val="059669"/>
                </a:solidFill>
                <a:latin typeface="Microsoft YaHei"/>
              </a:rPr>
              <a:t>TP=8 张量并行多卡状态同步耗时 P99 &lt; 100µs</a:t>
            </a:r>
            <a:r>
              <a:rPr sz="1150">
                <a:solidFill>
                  <a:srgbClr val="1E293B"/>
                </a:solidFill>
                <a:latin typeface="Microsoft YaHei"/>
              </a:rPr>
              <a:t>；
</a:t>
            </a:r>
            <a:r>
              <a:rPr sz="1150" b="1">
                <a:solidFill>
                  <a:srgbClr val="1E293B"/>
                </a:solidFill>
                <a:latin typeface="Microsoft YaHei"/>
              </a:rPr>
              <a:t>3. 协同无死锁：</a:t>
            </a:r>
            <a:r>
              <a:rPr sz="1150" b="1">
                <a:solidFill>
                  <a:srgbClr val="2563EB"/>
                </a:solidFill>
                <a:latin typeface="Microsoft YaHei"/>
              </a:rPr>
              <a:t>部分命中与单卡异常时，全卡协同回退本地重算，死锁发生次数 = 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语义强校验与多卡共识：</a:t>
            </a:r>
            <a:r>
              <a:rPr sz="1150" b="1">
                <a:solidFill>
                  <a:srgbClr val="0F172A"/>
                </a:solidFill>
                <a:latin typeface="Microsoft YaHei"/>
              </a:rPr>
              <a:t>6 维语义强校验实现 </a:t>
            </a:r>
            <a:r>
              <a:rPr sz="1150" b="1">
                <a:solidFill>
                  <a:srgbClr val="DC2626"/>
                </a:solidFill>
                <a:latin typeface="Microsoft YaHei"/>
              </a:rPr>
              <a:t>错误数据消费严格为 0</a:t>
            </a:r>
            <a:r>
              <a:rPr sz="1150" b="1">
                <a:solidFill>
                  <a:srgbClr val="0F172A"/>
                </a:solidFill>
                <a:latin typeface="Microsoft YaHei"/>
              </a:rPr>
              <a:t>，TP=8 多卡状态同步耗时达到 </a:t>
            </a:r>
            <a:r>
              <a:rPr sz="1150" b="1">
                <a:solidFill>
                  <a:srgbClr val="DC2626"/>
                </a:solidFill>
                <a:latin typeface="Microsoft YaHei"/>
              </a:rPr>
              <a:t>P99 &lt; 100µs</a:t>
            </a:r>
            <a:r>
              <a:rPr sz="1150" b="1">
                <a:solidFill>
                  <a:srgbClr val="0F172A"/>
                </a:solidFill>
                <a:latin typeface="Microsoft YaHei"/>
              </a:rPr>
              <a:t>，彻底杜绝集合通信死锁与模型胡言乱语。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PVT-07：前后台混压全链路端到端总门禁与 SemanticQoS 验证</a:t>
            </a:r>
          </a:p>
          <a:p>
            <a:pPr>
              <a:spcBef>
                <a:spcPts val="300"/>
              </a:spcBef>
              <a:defRPr sz="1100">
                <a:solidFill>
                  <a:srgbClr val="475569"/>
                </a:solidFill>
                <a:latin typeface="Microsoft YaHei"/>
              </a:defRPr>
            </a:pPr>
            <a:r>
              <a:t>在 2 节点真实集群、前台在线推理与后台满载 I/O 混压下，串联全流程，实施三重消融对账，确立立项总门禁</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E3 混压总门禁]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单项传输达标不代表在线业务可用。在真实业务中，前台在线推理与后台大流量数据换出/预取混压，极易导致总线拥塞与 TPOT 尾部严重抖动。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在 2 节点集群全流程串联下，验证前后台服务质量保障策略（SemanticQoS），实现 </a:t>
            </a:r>
            <a:r>
              <a:rPr sz="1150" b="1">
                <a:solidFill>
                  <a:srgbClr val="DC2626"/>
                </a:solidFill>
                <a:latin typeface="Microsoft YaHei"/>
              </a:rPr>
              <a:t>全链路 TTFT 显著降低、系统吞吐提升且前台 TPOT 尾部时延严格稳定</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E3 终极验收总门禁，提供无懈可击的三重消融对账证据，直接支撑正式立项决策。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集群物理拓扑：</a:t>
            </a:r>
            <a:r>
              <a:rPr sz="1150">
                <a:solidFill>
                  <a:srgbClr val="1E293B"/>
                </a:solidFill>
                <a:latin typeface="Microsoft YaHei"/>
              </a:rPr>
              <a:t>2 节点（Node-0 Prefill 节点，Node-1 Decode 节点），800G URMA 直连，4× NVMe Gen5 SSD 阵列。</a:t>
            </a:r>
          </a:p>
          <a:p>
            <a:pPr>
              <a:lnSpc>
                <a:spcPct val="120000"/>
              </a:lnSpc>
              <a:spcAft>
                <a:spcPts val="600"/>
              </a:spcAft>
            </a:pPr>
            <a:r>
              <a:rPr sz="1150" b="1">
                <a:solidFill>
                  <a:srgbClr val="1E3A8A"/>
                </a:solidFill>
                <a:latin typeface="Microsoft YaHei"/>
              </a:rPr>
              <a:t>• 流控与 QoS 规范：</a:t>
            </a:r>
            <a:r>
              <a:rPr sz="1150">
                <a:solidFill>
                  <a:srgbClr val="1E293B"/>
                </a:solidFill>
                <a:latin typeface="Microsoft YaHei"/>
              </a:rPr>
              <a:t>网络硬件优先级队列（RoCE TC0 前台 / TC1 后台），配合应用层微秒级自适应退避流控算法。</a:t>
            </a:r>
          </a:p>
          <a:p>
            <a:pPr>
              <a:lnSpc>
                <a:spcPct val="120000"/>
              </a:lnSpc>
              <a:spcAft>
                <a:spcPts val="600"/>
              </a:spcAft>
            </a:pPr>
            <a:r>
              <a:rPr sz="1150" b="1">
                <a:solidFill>
                  <a:srgbClr val="1E3A8A"/>
                </a:solidFill>
                <a:latin typeface="Microsoft YaHei"/>
              </a:rPr>
              <a:t>• 开源全流程集成：</a:t>
            </a:r>
            <a:r>
              <a:rPr sz="1150">
                <a:solidFill>
                  <a:srgbClr val="1E293B"/>
                </a:solidFill>
                <a:latin typeface="Microsoft YaHei"/>
              </a:rPr>
              <a:t>vLLM-Ascend + Mooncake 集群，基于 </a:t>
            </a:r>
            <a:r>
              <a:rPr sz="1150" b="1">
                <a:solidFill>
                  <a:srgbClr val="1E3A8A"/>
                </a:solidFill>
                <a:latin typeface="Consolas"/>
              </a:rPr>
              <a:t>deploy_cluster.sh</a:t>
            </a:r>
            <a:r>
              <a:rPr sz="1150">
                <a:solidFill>
                  <a:srgbClr val="1E293B"/>
                </a:solidFill>
                <a:latin typeface="Microsoft YaHei"/>
              </a:rPr>
              <a:t> 与 </a:t>
            </a:r>
            <a:r>
              <a:rPr sz="1150" b="1">
                <a:solidFill>
                  <a:srgbClr val="1E3A8A"/>
                </a:solidFill>
                <a:latin typeface="Consolas"/>
              </a:rPr>
              <a:t>benchmark_serving.py</a:t>
            </a:r>
            <a:r>
              <a:rPr sz="1150">
                <a:solidFill>
                  <a:srgbClr val="1E293B"/>
                </a:solidFill>
                <a:latin typeface="Microsoft YaHei"/>
              </a:rPr>
              <a:t> 进行在线打流。</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真实前后台混压负载：</a:t>
            </a:r>
            <a:r>
              <a:rPr sz="1150">
                <a:solidFill>
                  <a:srgbClr val="1E293B"/>
                </a:solidFill>
                <a:latin typeface="Microsoft YaHei"/>
              </a:rPr>
              <a:t>前台以 20~50 req/s 发送 ShareGPT 真实在线请求；后台同时发起 400 Gbps 满载 KV 数据换出与 SSD 回源。</a:t>
            </a:r>
          </a:p>
          <a:p>
            <a:pPr>
              <a:lnSpc>
                <a:spcPct val="120000"/>
              </a:lnSpc>
              <a:spcAft>
                <a:spcPts val="600"/>
              </a:spcAft>
            </a:pPr>
            <a:r>
              <a:rPr sz="1150" b="1">
                <a:solidFill>
                  <a:srgbClr val="1E3A8A"/>
                </a:solidFill>
                <a:latin typeface="Microsoft YaHei"/>
              </a:rPr>
              <a:t>• 三重消融对比实验 (run_mixed_bench.py)：</a:t>
            </a:r>
            <a:r>
              <a:rPr sz="1150">
                <a:solidFill>
                  <a:srgbClr val="1E293B"/>
                </a:solidFill>
                <a:latin typeface="Microsoft YaHei"/>
              </a:rPr>
              <a:t>严格在 ① 纯重算基线、② 原生 Mooncake 混压、③ Unified KV 深度重构扩展版混压之间开展同条件消融对比。</a:t>
            </a:r>
          </a:p>
          <a:p>
            <a:pPr>
              <a:lnSpc>
                <a:spcPct val="120000"/>
              </a:lnSpc>
              <a:spcAft>
                <a:spcPts val="600"/>
              </a:spcAft>
            </a:pPr>
            <a:r>
              <a:rPr sz="1150" b="1">
                <a:solidFill>
                  <a:srgbClr val="1E3A8A"/>
                </a:solidFill>
                <a:latin typeface="Microsoft YaHei"/>
              </a:rPr>
              <a:t>• 全链路指标采集：</a:t>
            </a:r>
            <a:r>
              <a:rPr sz="1150">
                <a:solidFill>
                  <a:srgbClr val="1E293B"/>
                </a:solidFill>
                <a:latin typeface="Microsoft YaHei"/>
              </a:rPr>
              <a:t>自动抓取端到端 TTFT (P50/P99)、TPOT (P50/P99/Jitter)、系统 QPS 与 NPU 算力利用率。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《全链路前后台混压测试报告》、《三重消融对比汇总表》、《P99 TPOT 干扰率分布曲线》。</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首字延迟降低：</a:t>
            </a:r>
            <a:r>
              <a:rPr sz="1150" b="1">
                <a:solidFill>
                  <a:srgbClr val="DC2626"/>
                </a:solidFill>
                <a:latin typeface="Microsoft YaHei"/>
              </a:rPr>
              <a:t>深度重构扩展版相比原生 Mooncake，全链路 P99 TTFT 降低 ≥ 20%</a:t>
            </a:r>
            <a:r>
              <a:rPr sz="1150">
                <a:solidFill>
                  <a:srgbClr val="1E293B"/>
                </a:solidFill>
                <a:latin typeface="Microsoft YaHei"/>
              </a:rPr>
              <a:t>；
</a:t>
            </a:r>
            <a:r>
              <a:rPr sz="1150" b="1">
                <a:solidFill>
                  <a:srgbClr val="1E293B"/>
                </a:solidFill>
                <a:latin typeface="Microsoft YaHei"/>
              </a:rPr>
              <a:t>2. 系统吞吐提升：</a:t>
            </a:r>
            <a:r>
              <a:rPr sz="1150" b="1">
                <a:solidFill>
                  <a:srgbClr val="059669"/>
                </a:solidFill>
                <a:latin typeface="Microsoft YaHei"/>
              </a:rPr>
              <a:t>双节点整体推理吞吐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2563EB"/>
                </a:solidFill>
                <a:latin typeface="Microsoft YaHei"/>
              </a:rPr>
              <a:t>后台 400G 满载混压下，前台 P99 TPOT 抖动干扰率严格 &lt; 3%</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混压全链路总门禁：</a:t>
            </a:r>
            <a:r>
              <a:rPr sz="1150" b="1">
                <a:solidFill>
                  <a:srgbClr val="0F172A"/>
                </a:solidFill>
                <a:latin typeface="Microsoft YaHei"/>
              </a:rPr>
              <a:t>在 400G 满载混压下，全链路 </a:t>
            </a:r>
            <a:r>
              <a:rPr sz="1150" b="1">
                <a:solidFill>
                  <a:srgbClr val="DC2626"/>
                </a:solidFill>
                <a:latin typeface="Microsoft YaHei"/>
              </a:rPr>
              <a:t>P99 TTFT 降低 ≥20%</a:t>
            </a:r>
            <a:r>
              <a:rPr sz="1150" b="1">
                <a:solidFill>
                  <a:srgbClr val="0F172A"/>
                </a:solidFill>
                <a:latin typeface="Microsoft YaHei"/>
              </a:rPr>
              <a:t>，系统吞吐提升 </a:t>
            </a:r>
            <a:r>
              <a:rPr sz="1150" b="1">
                <a:solidFill>
                  <a:srgbClr val="DC2626"/>
                </a:solidFill>
                <a:latin typeface="Microsoft YaHei"/>
              </a:rPr>
              <a:t>≥10%</a:t>
            </a:r>
            <a:r>
              <a:rPr sz="1150" b="1">
                <a:solidFill>
                  <a:srgbClr val="0F172A"/>
                </a:solidFill>
                <a:latin typeface="Microsoft YaHei"/>
              </a:rPr>
              <a:t>，前台 TPOT 干扰率 </a:t>
            </a:r>
            <a:r>
              <a:rPr sz="1150" b="1">
                <a:solidFill>
                  <a:srgbClr val="DC2626"/>
                </a:solidFill>
                <a:latin typeface="Microsoft YaHei"/>
              </a:rPr>
              <a:t>&lt;3%</a:t>
            </a:r>
            <a:r>
              <a:rPr sz="1150" b="1">
                <a:solidFill>
                  <a:srgbClr val="0F172A"/>
                </a:solidFill>
                <a:latin typeface="Microsoft YaHei"/>
              </a:rPr>
              <a:t>，全量通过阶段 E3 终极立项总门禁。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PVT-08：1-to-N 组播式 KV 分发：硬件多播 vs 软件分层中继验证</a:t>
            </a:r>
          </a:p>
          <a:p>
            <a:pPr>
              <a:spcBef>
                <a:spcPts val="300"/>
              </a:spcBef>
              <a:defRPr sz="1100">
                <a:solidFill>
                  <a:srgbClr val="475569"/>
                </a:solidFill>
                <a:latin typeface="Microsoft YaHei"/>
              </a:defRPr>
            </a:pPr>
            <a:r>
              <a:t>覆盖公共提示词广播、Multi-Agent 共享上下文与 1P-to-ND 分发场景，验证软件分层中继相比单播节省 ≥60% 带宽</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阶段 E1 拓展组播]</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大模型存在大量 1-to-N 同一份 KV 分发给多个接收端的现实场景需求。传统逐个单播拉取会导致发送端网卡带宽瞬间被打满，引发拥塞。</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覆盖三大典型业务场景，测定单播、</a:t>
            </a:r>
            <a:r>
              <a:rPr sz="1150" b="1">
                <a:solidFill>
                  <a:srgbClr val="2563EB"/>
                </a:solidFill>
                <a:latin typeface="Microsoft YaHei"/>
              </a:rPr>
              <a:t>软件分层中继转发（Staging Fanout）</a:t>
            </a:r>
            <a:r>
              <a:rPr sz="1150">
                <a:solidFill>
                  <a:srgbClr val="1E293B"/>
                </a:solidFill>
                <a:latin typeface="Microsoft YaHei"/>
              </a:rPr>
              <a:t> 与硬件网络多播的性能，验证软件树状中继转发相比单播的带宽节省与时延加速收益。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证明利用集群计算节点建立树状中继即可实现高效分发，在硬件多播不可用时确立高可用、低依赖的纯软主力分发路径。</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集群拓扑：</a:t>
            </a:r>
            <a:r>
              <a:rPr sz="1150">
                <a:solidFill>
                  <a:srgbClr val="1E293B"/>
                </a:solidFill>
                <a:latin typeface="Microsoft YaHei"/>
              </a:rPr>
              <a:t>1 个源 Prefill 节点，2/4/8 个目的 Decode 节点，800G URMA 网络互联。</a:t>
            </a:r>
          </a:p>
          <a:p>
            <a:pPr>
              <a:lnSpc>
                <a:spcPct val="120000"/>
              </a:lnSpc>
              <a:spcAft>
                <a:spcPts val="600"/>
              </a:spcAft>
            </a:pPr>
            <a:r>
              <a:rPr sz="1150" b="1">
                <a:solidFill>
                  <a:srgbClr val="1E3A8A"/>
                </a:solidFill>
                <a:latin typeface="Microsoft YaHei"/>
              </a:rPr>
              <a:t>• 分发协议：</a:t>
            </a:r>
            <a:r>
              <a:rPr sz="1150">
                <a:solidFill>
                  <a:srgbClr val="1E293B"/>
                </a:solidFill>
                <a:latin typeface="Microsoft YaHei"/>
              </a:rPr>
              <a:t>基于 UBMEM 共享内存与 URMA 的树状 Staging 分发拓扑算法，支持节点级内存缓存与二阶段接力分发。</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multicast_fanout_bench.cc -lurma -lubmem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三大业务场景编排 (test_fanout_scenarios.py)：</a:t>
            </a:r>
            <a:r>
              <a:rPr sz="1150">
                <a:solidFill>
                  <a:srgbClr val="1E293B"/>
                </a:solidFill>
                <a:latin typeface="Microsoft YaHei"/>
              </a:rPr>
              <a:t>• 热点系统提示词广播：32K~64K System Prompt 向 16 节点广播；
</a:t>
            </a:r>
            <a:r>
              <a:rPr sz="1150">
                <a:solidFill>
                  <a:srgbClr val="1E293B"/>
                </a:solidFill>
                <a:latin typeface="Microsoft YaHei"/>
              </a:rPr>
              <a:t>• Multi-Agent 上下文分发：主 Agent 生成 100K 上下文分发给 8 个子 Agent；
</a:t>
            </a:r>
            <a:r>
              <a:rPr sz="1150">
                <a:solidFill>
                  <a:srgbClr val="1E293B"/>
                </a:solidFill>
                <a:latin typeface="Microsoft YaHei"/>
              </a:rPr>
              <a:t>• PD 分离 1P-to-ND 分叉：单个 Prefill 向多个 Decode 副本并发推送。</a:t>
            </a:r>
          </a:p>
          <a:p>
            <a:pPr>
              <a:lnSpc>
                <a:spcPct val="120000"/>
              </a:lnSpc>
              <a:spcAft>
                <a:spcPts val="600"/>
              </a:spcAft>
            </a:pPr>
            <a:r>
              <a:rPr sz="1150" b="1">
                <a:solidFill>
                  <a:srgbClr val="1E3A8A"/>
                </a:solidFill>
                <a:latin typeface="Microsoft YaHei"/>
              </a:rPr>
              <a:t>• 拓扑对比压测 (multicast_fanout_bench.cc)：</a:t>
            </a:r>
            <a:r>
              <a:rPr sz="1150">
                <a:solidFill>
                  <a:srgbClr val="1E293B"/>
                </a:solidFill>
                <a:latin typeface="Microsoft YaHei"/>
              </a:rPr>
              <a:t>测试 16MB~128MB 数据在 1→2、1→4、1→8 规模下，单播、软件树状中继与硬件多播的带宽和耗时。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《1-to-N 组播分发时延与带宽对比表》、《三大业务场景分发收益曲线》、《硬件多播必要性评估报告》。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源端带宽节省：</a:t>
            </a:r>
            <a:r>
              <a:rPr sz="1150" b="1">
                <a:solidFill>
                  <a:srgbClr val="DC2626"/>
                </a:solidFill>
                <a:latin typeface="Microsoft YaHei"/>
              </a:rPr>
              <a:t>在 1-to-8 分发下，软件 Staging 组播相比单播源端带宽占用降低 ≥ 60%</a:t>
            </a:r>
            <a:r>
              <a:rPr sz="1150">
                <a:solidFill>
                  <a:srgbClr val="1E293B"/>
                </a:solidFill>
                <a:latin typeface="Microsoft YaHei"/>
              </a:rPr>
              <a:t>；
</a:t>
            </a:r>
            <a:r>
              <a:rPr sz="1150" b="1">
                <a:solidFill>
                  <a:srgbClr val="1E293B"/>
                </a:solidFill>
                <a:latin typeface="Microsoft YaHei"/>
              </a:rPr>
              <a:t>2. 完成时延优化：</a:t>
            </a:r>
            <a:r>
              <a:rPr sz="1150" b="1">
                <a:solidFill>
                  <a:srgbClr val="059669"/>
                </a:solidFill>
                <a:latin typeface="Microsoft YaHei"/>
              </a:rPr>
              <a:t>各目的端数据接收完成时间 P99 降低 ≥ 40%</a:t>
            </a:r>
            <a:r>
              <a:rPr sz="1150">
                <a:solidFill>
                  <a:srgbClr val="1E293B"/>
                </a:solidFill>
                <a:latin typeface="Microsoft YaHei"/>
              </a:rPr>
              <a:t>；
</a:t>
            </a:r>
            <a:r>
              <a:rPr sz="1150" b="1">
                <a:solidFill>
                  <a:srgbClr val="1E293B"/>
                </a:solidFill>
                <a:latin typeface="Microsoft YaHei"/>
              </a:rPr>
              <a:t>3. 去硬件依赖：</a:t>
            </a:r>
            <a:r>
              <a:rPr sz="1150" b="1">
                <a:solidFill>
                  <a:srgbClr val="2563EB"/>
                </a:solidFill>
                <a:latin typeface="Microsoft YaHei"/>
              </a:rPr>
              <a:t>软件方案作为默认高可用主力路径，消除对特定网卡硬件多播的硬依赖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PVT-08 1-to-N 组播分发效能：</a:t>
            </a:r>
            <a:r>
              <a:rPr sz="1150" b="1">
                <a:solidFill>
                  <a:srgbClr val="0F172A"/>
                </a:solidFill>
                <a:latin typeface="Microsoft YaHei"/>
              </a:rPr>
              <a:t>软件分层中继组播在 1-to-8 分发下 </a:t>
            </a:r>
            <a:r>
              <a:rPr sz="1150" b="1">
                <a:solidFill>
                  <a:srgbClr val="DC2626"/>
                </a:solidFill>
                <a:latin typeface="Microsoft YaHei"/>
              </a:rPr>
              <a:t>源端带宽占用降低 ≥60%</a:t>
            </a:r>
            <a:r>
              <a:rPr sz="1150" b="1">
                <a:solidFill>
                  <a:srgbClr val="0F172A"/>
                </a:solidFill>
                <a:latin typeface="Microsoft YaHei"/>
              </a:rPr>
              <a:t>，接收完成耗时降低 </a:t>
            </a:r>
            <a:r>
              <a:rPr sz="1150" b="1">
                <a:solidFill>
                  <a:srgbClr val="DC2626"/>
                </a:solidFill>
                <a:latin typeface="Microsoft YaHei"/>
              </a:rPr>
              <a:t>≥40%</a:t>
            </a:r>
            <a:r>
              <a:rPr sz="1150" b="1">
                <a:solidFill>
                  <a:srgbClr val="0F172A"/>
                </a:solidFill>
                <a:latin typeface="Microsoft YaHei"/>
              </a:rPr>
              <a:t>，确立纯软件高效分发主路径，免除外部硬件多播强依赖。</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PVT-09：DPU 硬件安全与算力卸载加速 vs Raw Direct 双轨验证</a:t>
            </a:r>
          </a:p>
          <a:p>
            <a:pPr>
              <a:spcBef>
                <a:spcPts val="300"/>
              </a:spcBef>
              <a:defRPr sz="1100">
                <a:solidFill>
                  <a:srgbClr val="475569"/>
                </a:solidFill>
                <a:latin typeface="Microsoft YaHei"/>
              </a:defRPr>
            </a:pPr>
            <a:r>
              <a:t>测定 DPU 线速 AES/CRC 卸载增益与 500µs 无缝降级，提前布局 Fly-in-line 流式在途量化/压缩双轨手段</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双轨协同]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企业级客户对数据传输加解密（AES-256）与 CRC 校验有刚性要求，CPU 软算会吞噬算力；同时必须确保无 DPU 时系统仍能依托 Raw Direct 路径高效运行。</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DPU 硬件线速安全卸载收益；验证发生故障时 </a:t>
            </a:r>
            <a:r>
              <a:rPr sz="1150" b="1">
                <a:solidFill>
                  <a:srgbClr val="DC2626"/>
                </a:solidFill>
                <a:latin typeface="Microsoft YaHei"/>
              </a:rPr>
              <a:t>在 &lt; 500µs 内无缝降级至 Raw Direct 裸机直达路径</a:t>
            </a:r>
            <a:r>
              <a:rPr sz="1150">
                <a:solidFill>
                  <a:srgbClr val="1E293B"/>
                </a:solidFill>
                <a:latin typeface="Microsoft YaHei"/>
              </a:rPr>
              <a:t>；提前布局未来在途 FP8/INT4 量化与压缩双轨技术手段。</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确立公有云可信 VPC 纯软主路径与企业级高安全 DPU 加速路径的双轨协同体系，降低硬件强依赖风险。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硬件配置：</a:t>
            </a:r>
            <a:r>
              <a:rPr sz="1150">
                <a:solidFill>
                  <a:srgbClr val="1E293B"/>
                </a:solidFill>
                <a:latin typeface="Microsoft YaHei"/>
              </a:rPr>
              <a:t>可选配置企业级 800G DPU 智能网卡（集成硬件 AES-256-GCM / SM4 加密与 CRC64 引擎），对比无 DPU 标准网卡。</a:t>
            </a:r>
          </a:p>
          <a:p>
            <a:pPr>
              <a:lnSpc>
                <a:spcPct val="120000"/>
              </a:lnSpc>
              <a:spcAft>
                <a:spcPts val="600"/>
              </a:spcAft>
            </a:pPr>
            <a:r>
              <a:rPr sz="1150" b="1">
                <a:solidFill>
                  <a:srgbClr val="1E3A8A"/>
                </a:solidFill>
                <a:latin typeface="Microsoft YaHei"/>
              </a:rPr>
              <a:t>• 驱动与接口：</a:t>
            </a:r>
            <a:r>
              <a:rPr sz="1150">
                <a:solidFill>
                  <a:srgbClr val="1E293B"/>
                </a:solidFill>
                <a:latin typeface="Microsoft YaHei"/>
              </a:rPr>
              <a:t>DPU 用户态安全驱动接口；故障检测与无缝降级切换通道。</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-ldpu_sec -lurma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硬件安全卸载压测 (offload_fallback_bench.cc)：</a:t>
            </a:r>
            <a:r>
              <a:rPr sz="1150">
                <a:solidFill>
                  <a:srgbClr val="1E293B"/>
                </a:solidFill>
                <a:latin typeface="Microsoft YaHei"/>
              </a:rPr>
              <a:t>对比 Host CPU 软件 AES/CRC 软算与 DPU 硬件线速卸载的吞吐与 CPU 占用率。</a:t>
            </a:r>
          </a:p>
          <a:p>
            <a:pPr>
              <a:lnSpc>
                <a:spcPct val="120000"/>
              </a:lnSpc>
              <a:spcAft>
                <a:spcPts val="600"/>
              </a:spcAft>
            </a:pPr>
            <a:r>
              <a:rPr sz="1150" b="1">
                <a:solidFill>
                  <a:srgbClr val="1E3A8A"/>
                </a:solidFill>
                <a:latin typeface="Microsoft YaHei"/>
              </a:rPr>
              <a:t>• 500µs 无缝降级演练 (inject_dpu_fault.py)：</a:t>
            </a:r>
            <a:r>
              <a:rPr sz="1150">
                <a:solidFill>
                  <a:srgbClr val="1E293B"/>
                </a:solidFill>
                <a:latin typeface="Microsoft YaHei"/>
              </a:rPr>
              <a:t>在传输过程中注入 DPU 驱动挂死或控制超时故障，测量系统自动回退至 Raw Direct 裸机路径的耗时与数据完整性。</a:t>
            </a:r>
          </a:p>
          <a:p>
            <a:pPr>
              <a:lnSpc>
                <a:spcPct val="120000"/>
              </a:lnSpc>
              <a:spcAft>
                <a:spcPts val="600"/>
              </a:spcAft>
            </a:pPr>
            <a:r>
              <a:rPr sz="1150" b="1">
                <a:solidFill>
                  <a:srgbClr val="1E3A8A"/>
                </a:solidFill>
                <a:latin typeface="Microsoft YaHei"/>
              </a:rPr>
              <a:t>• Fly-in-line 双轨场景扩展布局：</a:t>
            </a:r>
            <a:r>
              <a:rPr sz="1150">
                <a:solidFill>
                  <a:srgbClr val="1E293B"/>
                </a:solidFill>
                <a:latin typeface="Microsoft YaHei"/>
              </a:rPr>
              <a:t>界定【有 DPU】走片上硬件管线 vs 【无 DPU】走 NPU 算子融合 (Fused Dequant-Attention Kernel) 的技术方案。</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《DPU 硬件安全卸载性能对比表》、《500µs 故障无缝降级切换日志》、《Fly-in-line 双轨技术设计规范》。</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硬件卸载收益：</a:t>
            </a:r>
            <a:r>
              <a:rPr sz="1150" b="1">
                <a:solidFill>
                  <a:srgbClr val="DC2626"/>
                </a:solidFill>
                <a:latin typeface="Microsoft YaHei"/>
              </a:rPr>
              <a:t>DPU 硬件线速完成 AES/CRC 卸载，Host CPU 占用率降低 ≥ 30%</a:t>
            </a:r>
            <a:r>
              <a:rPr sz="1150">
                <a:solidFill>
                  <a:srgbClr val="1E293B"/>
                </a:solidFill>
                <a:latin typeface="Microsoft YaHei"/>
              </a:rPr>
              <a:t>；
</a:t>
            </a:r>
            <a:r>
              <a:rPr sz="1150" b="1">
                <a:solidFill>
                  <a:srgbClr val="1E293B"/>
                </a:solidFill>
                <a:latin typeface="Microsoft YaHei"/>
              </a:rPr>
              <a:t>2. 无缝降级切换：</a:t>
            </a:r>
            <a:r>
              <a:rPr sz="1150" b="1">
                <a:solidFill>
                  <a:srgbClr val="059669"/>
                </a:solidFill>
                <a:latin typeface="Microsoft YaHei"/>
              </a:rPr>
              <a:t>DPU 故障时系统在 &lt; 500µs 内无缝降级至 Raw Direct 裸机直达路径</a:t>
            </a:r>
            <a:r>
              <a:rPr sz="1150">
                <a:solidFill>
                  <a:srgbClr val="1E293B"/>
                </a:solidFill>
                <a:latin typeface="Microsoft YaHei"/>
              </a:rPr>
              <a:t>（请求 0 失败）；
</a:t>
            </a:r>
            <a:r>
              <a:rPr sz="1150" b="1">
                <a:solidFill>
                  <a:srgbClr val="1E293B"/>
                </a:solidFill>
                <a:latin typeface="Microsoft YaHei"/>
              </a:rPr>
              <a:t>3. 主路径去依赖：</a:t>
            </a:r>
            <a:r>
              <a:rPr sz="1150" b="1">
                <a:solidFill>
                  <a:srgbClr val="2563EB"/>
                </a:solidFill>
                <a:latin typeface="Microsoft YaHei"/>
              </a:rPr>
              <a:t>无 DPU 时 Raw Direct 纯软主路径完全独立成立</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PVT-09 DPU 硬件安全与双轨协同：</a:t>
            </a:r>
            <a:r>
              <a:rPr sz="1150" b="1">
                <a:solidFill>
                  <a:srgbClr val="0F172A"/>
                </a:solidFill>
                <a:latin typeface="Microsoft YaHei"/>
              </a:rPr>
              <a:t>DPU 硬件线速卸载降低 CPU 占用 </a:t>
            </a:r>
            <a:r>
              <a:rPr sz="1150" b="1">
                <a:solidFill>
                  <a:srgbClr val="DC2626"/>
                </a:solidFill>
                <a:latin typeface="Microsoft YaHei"/>
              </a:rPr>
              <a:t>≥30%</a:t>
            </a:r>
            <a:r>
              <a:rPr sz="1150" b="1">
                <a:solidFill>
                  <a:srgbClr val="0F172A"/>
                </a:solidFill>
                <a:latin typeface="Microsoft YaHei"/>
              </a:rPr>
              <a:t>，故障时在 </a:t>
            </a:r>
            <a:r>
              <a:rPr sz="1150" b="1">
                <a:solidFill>
                  <a:srgbClr val="DC2626"/>
                </a:solidFill>
                <a:latin typeface="Microsoft YaHei"/>
              </a:rPr>
              <a:t>&lt;500µs</a:t>
            </a:r>
            <a:r>
              <a:rPr sz="1150" b="1">
                <a:solidFill>
                  <a:srgbClr val="0F172A"/>
                </a:solidFill>
                <a:latin typeface="Microsoft YaHei"/>
              </a:rPr>
              <a:t> 内无缝降级至纯软 Raw Direct 主路径，确立企业级安全与去依赖双轨架构。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CVT-01：PageMigration 软件 RCU 机制 vs 硬件 AtomicRemap 必要性证伪</a:t>
            </a:r>
          </a:p>
          <a:p>
            <a:pPr>
              <a:spcBef>
                <a:spcPts val="300"/>
              </a:spcBef>
              <a:defRPr sz="1100">
                <a:solidFill>
                  <a:srgbClr val="475569"/>
                </a:solidFill>
                <a:latin typeface="Microsoft YaHei"/>
              </a:defRPr>
            </a:pPr>
            <a:r>
              <a:t>验证显存碎片整理与页迁移时，软件 RCU (无锁读+宽限期释放) 是否已满足读停顿 &lt; 1ms，免除专有硬件芯片依赖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条件证伪项]</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长时间推理会导致显存严重碎片化。业界部分方案探索依赖专有硬件 Atomic Remap 芯片原语来搬移显存页，增加了外部芯片依赖与硬件成本。</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验证基于软件 RCU（Read-Copy-Update，读-拷贝-更新：无锁读与宽限期延迟释放机制）能否实现动态页迁移时 </a:t>
            </a:r>
            <a:r>
              <a:rPr sz="1150" b="1">
                <a:solidFill>
                  <a:srgbClr val="DC2626"/>
                </a:solidFill>
                <a:latin typeface="Microsoft YaHei"/>
              </a:rPr>
              <a:t>前台在线推理读停顿 &lt; 1ms、TPOT 抖动 &lt; 3%</a:t>
            </a:r>
            <a:r>
              <a:rPr sz="1150">
                <a:solidFill>
                  <a:srgbClr val="1E293B"/>
                </a:solidFill>
                <a:latin typeface="Microsoft YaHei"/>
              </a:rPr>
              <a:t>，从而证伪硬件芯片的“必需性”。</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通过严密的软硬件对比证伪，确立纯软件显存整理方案，简化系统架构，降低硬件强依赖风险。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内存协议：</a:t>
            </a:r>
            <a:r>
              <a:rPr sz="1150">
                <a:solidFill>
                  <a:srgbClr val="1E293B"/>
                </a:solidFill>
                <a:latin typeface="Microsoft YaHei"/>
              </a:rPr>
              <a:t>POSIX 共享内存与无锁原子指针交换，CANN 8.0 显存管理运行时。</a:t>
            </a:r>
          </a:p>
          <a:p>
            <a:pPr>
              <a:lnSpc>
                <a:spcPct val="120000"/>
              </a:lnSpc>
              <a:spcAft>
                <a:spcPts val="600"/>
              </a:spcAft>
            </a:pPr>
            <a:r>
              <a:rPr sz="1150" b="1">
                <a:solidFill>
                  <a:srgbClr val="1E3A8A"/>
                </a:solidFill>
                <a:latin typeface="Microsoft YaHei"/>
              </a:rPr>
              <a:t>• RCU 引擎：</a:t>
            </a:r>
            <a:r>
              <a:rPr sz="1150">
                <a:solidFill>
                  <a:srgbClr val="1E293B"/>
                </a:solidFill>
                <a:latin typeface="Microsoft YaHei"/>
              </a:rPr>
              <a:t>实现引用计数追踪与 Grace Period 宽限期延迟回收（RCU Epoch 状态机）。</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rcu_migration_bench.cc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并发读写压测 (rcu_migration_bench.cc)：</a:t>
            </a:r>
            <a:r>
              <a:rPr sz="1150">
                <a:solidFill>
                  <a:srgbClr val="1E293B"/>
                </a:solidFill>
                <a:latin typeface="Microsoft YaHei"/>
              </a:rPr>
              <a:t>在 1~32 个 Reader 线程持续高频读取 KV 时，后台触发 4MB~64MB 显存页动态迁移与碎片整理。</a:t>
            </a:r>
          </a:p>
          <a:p>
            <a:pPr>
              <a:lnSpc>
                <a:spcPct val="120000"/>
              </a:lnSpc>
              <a:spcAft>
                <a:spcPts val="600"/>
              </a:spcAft>
            </a:pPr>
            <a:r>
              <a:rPr sz="1150" b="1">
                <a:solidFill>
                  <a:srgbClr val="1E3A8A"/>
                </a:solidFill>
                <a:latin typeface="Microsoft YaHei"/>
              </a:rPr>
              <a:t>• 停顿与抖动捕获：</a:t>
            </a:r>
            <a:r>
              <a:rPr sz="1150">
                <a:solidFill>
                  <a:srgbClr val="1E293B"/>
                </a:solidFill>
                <a:latin typeface="Microsoft YaHei"/>
              </a:rPr>
              <a:t>高频采样记录 Reader 的停顿时间（Pause Time P99）与 TPOT 抖动率。</a:t>
            </a:r>
          </a:p>
          <a:p>
            <a:pPr>
              <a:lnSpc>
                <a:spcPct val="120000"/>
              </a:lnSpc>
              <a:spcAft>
                <a:spcPts val="600"/>
              </a:spcAft>
            </a:pPr>
            <a:r>
              <a:rPr sz="1150" b="1">
                <a:solidFill>
                  <a:srgbClr val="1E3A8A"/>
                </a:solidFill>
                <a:latin typeface="Microsoft YaHei"/>
              </a:rPr>
              <a:t>• 异常与回滚演练：</a:t>
            </a:r>
            <a:r>
              <a:rPr sz="1150">
                <a:solidFill>
                  <a:srgbClr val="1E293B"/>
                </a:solidFill>
                <a:latin typeface="Microsoft YaHei"/>
              </a:rPr>
              <a:t>在迁移过程中注入进程崩溃与写中断，验证旧版本数据依然有效且 100% 可安全回滚。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《软件 RCU 与锁表停顿对比表》、《32 并发 Reader 时延抖动曲线》、《硬件 AtomicRemap 证伪分析报告》。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读停顿极小：</a:t>
            </a:r>
            <a:r>
              <a:rPr sz="1150" b="1">
                <a:solidFill>
                  <a:srgbClr val="DC2626"/>
                </a:solidFill>
                <a:latin typeface="Microsoft YaHei"/>
              </a:rPr>
              <a:t>在 32 并发 Reader 下，软件 RCU 读停顿时间 P99 &lt; 1ms</a:t>
            </a:r>
            <a:r>
              <a:rPr sz="1150">
                <a:solidFill>
                  <a:srgbClr val="1E293B"/>
                </a:solidFill>
                <a:latin typeface="Microsoft YaHei"/>
              </a:rPr>
              <a:t>；
</a:t>
            </a:r>
            <a:r>
              <a:rPr sz="1150" b="1">
                <a:solidFill>
                  <a:srgbClr val="1E293B"/>
                </a:solidFill>
                <a:latin typeface="Microsoft YaHei"/>
              </a:rPr>
              <a:t>2. 前台无感抖动：</a:t>
            </a:r>
            <a:r>
              <a:rPr sz="1150" b="1">
                <a:solidFill>
                  <a:srgbClr val="059669"/>
                </a:solidFill>
                <a:latin typeface="Microsoft YaHei"/>
              </a:rPr>
              <a:t>动态迁移期间前台在线推理 TPOT 抖动率 &lt; 3%</a:t>
            </a:r>
            <a:r>
              <a:rPr sz="1150">
                <a:solidFill>
                  <a:srgbClr val="1E293B"/>
                </a:solidFill>
                <a:latin typeface="Microsoft YaHei"/>
              </a:rPr>
              <a:t>；
</a:t>
            </a:r>
            <a:r>
              <a:rPr sz="1150" b="1">
                <a:solidFill>
                  <a:srgbClr val="1E293B"/>
                </a:solidFill>
                <a:latin typeface="Microsoft YaHei"/>
              </a:rPr>
              <a:t>3. 证伪硬件芯片依赖：</a:t>
            </a:r>
            <a:r>
              <a:rPr sz="1150" b="1">
                <a:solidFill>
                  <a:srgbClr val="2563EB"/>
                </a:solidFill>
                <a:latin typeface="Microsoft YaHei"/>
              </a:rPr>
              <a:t>软件 RCU 机制完全满足生产要求，正式架构免除专有硬件 AtomicRemap 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软件 RCU 显存整理证伪：</a:t>
            </a:r>
            <a:r>
              <a:rPr sz="1150" b="1">
                <a:solidFill>
                  <a:srgbClr val="0F172A"/>
                </a:solidFill>
                <a:latin typeface="Microsoft YaHei"/>
              </a:rPr>
              <a:t>软件 RCU 在 32 并发 Reader 下读停顿 </a:t>
            </a:r>
            <a:r>
              <a:rPr sz="1150" b="1">
                <a:solidFill>
                  <a:srgbClr val="DC2626"/>
                </a:solidFill>
                <a:latin typeface="Microsoft YaHei"/>
              </a:rPr>
              <a:t>P99 &lt; 1ms</a:t>
            </a:r>
            <a:r>
              <a:rPr sz="1150" b="1">
                <a:solidFill>
                  <a:srgbClr val="0F172A"/>
                </a:solidFill>
                <a:latin typeface="Microsoft YaHei"/>
              </a:rPr>
              <a:t>，TPOT 抖动 </a:t>
            </a:r>
            <a:r>
              <a:rPr sz="1150" b="1">
                <a:solidFill>
                  <a:srgbClr val="DC2626"/>
                </a:solidFill>
                <a:latin typeface="Microsoft YaHei"/>
              </a:rPr>
              <a:t>&lt;3%</a:t>
            </a:r>
            <a:r>
              <a:rPr sz="1150" b="1">
                <a:solidFill>
                  <a:srgbClr val="0F172A"/>
                </a:solidFill>
                <a:latin typeface="Microsoft YaHei"/>
              </a:rPr>
              <a:t>，成功证伪专有硬件 AtomicRemap 芯片依赖，确立纯软件高效显存整理架构。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基于开源底座深度重构 · 以客观实测数据为依据 · 摸清技术边界 · 保障系统落地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原则一：开源基线实测驱动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拒绝纸面空想：</a:t>
            </a:r>
            <a:r>
              <a:rPr sz="1150">
                <a:solidFill>
                  <a:srgbClr val="1E293B"/>
                </a:solidFill>
                <a:latin typeface="Microsoft YaHei"/>
              </a:rPr>
              <a:t>所有技术结论必须基于 2 节点集群、vLLM benchmark_serving 在线打流实测数据与打点日志。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 CSV 数据。</a:t>
            </a:r>
          </a:p>
          <a:p>
            <a:pPr>
              <a:lnSpc>
                <a:spcPct val="120000"/>
              </a:lnSpc>
              <a:spcAft>
                <a:spcPts val="600"/>
              </a:spcAft>
            </a:pPr>
            <a:r>
              <a:rPr sz="1150" b="1">
                <a:solidFill>
                  <a:srgbClr val="1E3A8A"/>
                </a:solidFill>
                <a:latin typeface="Microsoft YaHei"/>
              </a:rPr>
              <a:t>• 三重消融交叉对账：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总线、URMA DMA 与 io_uring FIXED I/O 裸盘直达，消除 Host CPU 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证实软件树状中继组播、软件 RCU 与纯软 Raw Direct 的可用性，降低系统外部依赖风险。</a:t>
            </a:r>
          </a:p>
          <a:p>
            <a:pPr>
              <a:lnSpc>
                <a:spcPct val="120000"/>
              </a:lnSpc>
              <a:spcAft>
                <a:spcPts val="600"/>
              </a:spcAft>
            </a:pPr>
            <a:r>
              <a:rPr sz="1150" b="1">
                <a:solidFill>
                  <a:srgbClr val="1E3A8A"/>
                </a:solidFill>
                <a:latin typeface="Microsoft YaHei"/>
              </a:rPr>
              <a:t>• 坚守生产级稳定性：</a:t>
            </a:r>
            <a:r>
              <a:rPr sz="1150">
                <a:solidFill>
                  <a:srgbClr val="1E293B"/>
                </a:solidFill>
                <a:latin typeface="Microsoft YaHei"/>
              </a:rPr>
              <a:t>ViewGuard 异常保护与 6 维语义校验机制确保系统在各类异常下平稳运行、不发生死锁。</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全链路 P99 TTFT 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形成包含测试源码、环境配置、实测数据与分析结论的完整立项技术证据包。</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提前验证方案设计与部署打流套件已就绪，接下来将全面开展 10 PVT + 1 CVT 真实打流对账工作。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