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731520"/>
            <a:ext cx="182880" cy="53949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914400"/>
            <a:ext cx="10058400" cy="365760"/>
          </a:xfrm>
          <a:prstGeom prst="rect">
            <a:avLst/>
          </a:prstGeom>
          <a:noFill/>
        </p:spPr>
        <p:txBody>
          <a:bodyPr wrap="none" lIns="0" tIns="0" rIns="0" bIns="0">
            <a:spAutoFit/>
          </a:bodyPr>
          <a:lstStyle/>
          <a:p>
            <a:pPr>
              <a:defRPr sz="1100" b="1">
                <a:solidFill>
                  <a:srgbClr val="2563EB"/>
                </a:solidFill>
                <a:latin typeface="Consolas"/>
              </a:defRPr>
            </a:pPr>
            <a:r>
              <a:t>UNIFIED HETEROGENEOUS KVCACHE MEMORY POOL · TECHNICAL VERIFICATION PLAN</a:t>
            </a:r>
          </a:p>
        </p:txBody>
      </p:sp>
      <p:sp>
        <p:nvSpPr>
          <p:cNvPr id="4" name="TextBox 3"/>
          <p:cNvSpPr txBox="1"/>
          <p:nvPr/>
        </p:nvSpPr>
        <p:spPr>
          <a:xfrm>
            <a:off x="960120" y="1325880"/>
            <a:ext cx="10058400" cy="1097280"/>
          </a:xfrm>
          <a:prstGeom prst="rect">
            <a:avLst/>
          </a:prstGeom>
          <a:noFill/>
        </p:spPr>
        <p:txBody>
          <a:bodyPr wrap="square" lIns="0" tIns="0" rIns="0" bIns="0">
            <a:spAutoFit/>
          </a:bodyPr>
          <a:lstStyle/>
          <a:p>
            <a:pPr>
              <a:defRPr sz="2600" b="1">
                <a:solidFill>
                  <a:srgbClr val="1E3A8A"/>
                </a:solidFill>
                <a:latin typeface="Microsoft YaHei"/>
              </a:defRPr>
            </a:pPr>
            <a:r>
              <a:t>统一异构 KVCache 存储池</a:t>
            </a:r>
          </a:p>
          <a:p>
            <a:pPr>
              <a:spcBef>
                <a:spcPts val="400"/>
              </a:spcBef>
              <a:defRPr sz="2600" b="1">
                <a:solidFill>
                  <a:srgbClr val="1E3A8A"/>
                </a:solidFill>
                <a:latin typeface="Microsoft YaHei"/>
              </a:defRPr>
            </a:pPr>
            <a:r>
              <a:t>关键技术提前验证方案串讲</a:t>
            </a:r>
          </a:p>
        </p:txBody>
      </p:sp>
      <p:sp>
        <p:nvSpPr>
          <p:cNvPr id="5" name="TextBox 4"/>
          <p:cNvSpPr txBox="1"/>
          <p:nvPr/>
        </p:nvSpPr>
        <p:spPr>
          <a:xfrm>
            <a:off x="960120" y="2560320"/>
            <a:ext cx="10058400" cy="365760"/>
          </a:xfrm>
          <a:prstGeom prst="rect">
            <a:avLst/>
          </a:prstGeom>
          <a:noFill/>
        </p:spPr>
        <p:txBody>
          <a:bodyPr wrap="square" lIns="0" tIns="0" rIns="0" bIns="0">
            <a:spAutoFit/>
          </a:bodyPr>
          <a:lstStyle/>
          <a:p>
            <a:pPr>
              <a:defRPr sz="1200">
                <a:solidFill>
                  <a:srgbClr val="475569"/>
                </a:solidFill>
                <a:latin typeface="Microsoft YaHei"/>
              </a:defRPr>
            </a:pPr>
            <a:r>
              <a:t>8 项原型验证 (PVT) 与 3 项技术可行性证伪 (CVT) 方案设计与测试方法</a:t>
            </a:r>
          </a:p>
        </p:txBody>
      </p:sp>
      <p:sp>
        <p:nvSpPr>
          <p:cNvPr id="6" name="Rectangle 5"/>
          <p:cNvSpPr/>
          <p:nvPr/>
        </p:nvSpPr>
        <p:spPr>
          <a:xfrm>
            <a:off x="96012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012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验证背景与目的</a:t>
            </a:r>
            <a:r>
              <a:rPr sz="1000" b="1">
                <a:solidFill>
                  <a:srgbClr val="BFDBFE"/>
                </a:solidFill>
                <a:latin typeface="Microsoft YaHei"/>
              </a:rPr>
              <a:t>  [摸清技术边界]</a:t>
            </a:r>
          </a:p>
        </p:txBody>
      </p:sp>
      <p:sp>
        <p:nvSpPr>
          <p:cNvPr id="9" name="TextBox 8"/>
          <p:cNvSpPr txBox="1"/>
          <p:nvPr/>
        </p:nvSpPr>
        <p:spPr>
          <a:xfrm>
            <a:off x="108813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提前暴露技术风险：</a:t>
            </a:r>
            <a:r>
              <a:rPr sz="1150">
                <a:solidFill>
                  <a:srgbClr val="1E293B"/>
                </a:solidFill>
                <a:latin typeface="Microsoft YaHei"/>
              </a:rPr>
              <a:t>在立项前摸清关键技术路径的可行性与性能上限，解决架构不确定性。</a:t>
            </a:r>
          </a:p>
          <a:p>
            <a:pPr>
              <a:lnSpc>
                <a:spcPct val="120000"/>
              </a:lnSpc>
              <a:spcAft>
                <a:spcPts val="600"/>
              </a:spcAft>
            </a:pPr>
            <a:r>
              <a:rPr sz="1150" b="1">
                <a:solidFill>
                  <a:srgbClr val="1E3A8A"/>
                </a:solidFill>
                <a:latin typeface="Microsoft YaHei"/>
              </a:rPr>
              <a:t>• 软硬件协同优化：</a:t>
            </a:r>
            <a:r>
              <a:rPr sz="1150">
                <a:solidFill>
                  <a:srgbClr val="1E293B"/>
                </a:solidFill>
                <a:latin typeface="Microsoft YaHei"/>
              </a:rPr>
              <a:t>充分利用 NPU 显存特性与高速通信协议，探索性能最优解。</a:t>
            </a:r>
          </a:p>
        </p:txBody>
      </p:sp>
      <p:sp>
        <p:nvSpPr>
          <p:cNvPr id="10" name="Rectangle 9"/>
          <p:cNvSpPr/>
          <p:nvPr/>
        </p:nvSpPr>
        <p:spPr>
          <a:xfrm>
            <a:off x="466344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6344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7316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四个核心验证阶段</a:t>
            </a:r>
            <a:r>
              <a:rPr sz="1000" b="1">
                <a:solidFill>
                  <a:srgbClr val="BFDBFE"/>
                </a:solidFill>
                <a:latin typeface="Microsoft YaHei"/>
              </a:rPr>
              <a:t>  [E0 ~ E3 阶段]</a:t>
            </a:r>
          </a:p>
        </p:txBody>
      </p:sp>
      <p:sp>
        <p:nvSpPr>
          <p:cNvPr id="13" name="TextBox 12"/>
          <p:cNvSpPr txBox="1"/>
          <p:nvPr/>
        </p:nvSpPr>
        <p:spPr>
          <a:xfrm>
            <a:off x="479145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收益与传输底座：</a:t>
            </a:r>
            <a:r>
              <a:rPr sz="1150">
                <a:solidFill>
                  <a:srgbClr val="1E293B"/>
                </a:solidFill>
                <a:latin typeface="Microsoft YaHei"/>
              </a:rPr>
              <a:t>E0 收益上限评估 + E1 零数据拷贝传输与跨框架描述符编译。</a:t>
            </a:r>
          </a:p>
          <a:p>
            <a:pPr>
              <a:lnSpc>
                <a:spcPct val="120000"/>
              </a:lnSpc>
              <a:spcAft>
                <a:spcPts val="600"/>
              </a:spcAft>
            </a:pPr>
            <a:r>
              <a:rPr sz="1150" b="1">
                <a:solidFill>
                  <a:srgbClr val="1E3A8A"/>
                </a:solidFill>
                <a:latin typeface="Microsoft YaHei"/>
              </a:rPr>
              <a:t>• 调度与端到端混压：</a:t>
            </a:r>
            <a:r>
              <a:rPr sz="1150">
                <a:solidFill>
                  <a:srgbClr val="1E293B"/>
                </a:solidFill>
                <a:latin typeface="Microsoft YaHei"/>
              </a:rPr>
              <a:t>E2 微秒级调度决策与容量扩展 + E3 前后台混压系统闭环测试。</a:t>
            </a:r>
          </a:p>
        </p:txBody>
      </p:sp>
      <p:sp>
        <p:nvSpPr>
          <p:cNvPr id="14" name="Rectangle 13"/>
          <p:cNvSpPr/>
          <p:nvPr/>
        </p:nvSpPr>
        <p:spPr>
          <a:xfrm>
            <a:off x="836676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676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7648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量化验收标准</a:t>
            </a:r>
            <a:r>
              <a:rPr sz="1000" b="1">
                <a:solidFill>
                  <a:srgbClr val="BFDBFE"/>
                </a:solidFill>
                <a:latin typeface="Microsoft YaHei"/>
              </a:rPr>
              <a:t>  [Go / No-Go 门限]</a:t>
            </a:r>
          </a:p>
        </p:txBody>
      </p:sp>
      <p:sp>
        <p:nvSpPr>
          <p:cNvPr id="17" name="TextBox 16"/>
          <p:cNvSpPr txBox="1"/>
          <p:nvPr/>
        </p:nvSpPr>
        <p:spPr>
          <a:xfrm>
            <a:off x="849477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明确量化指标：</a:t>
            </a:r>
            <a:r>
              <a:rPr sz="1150">
                <a:solidFill>
                  <a:srgbClr val="1E293B"/>
                </a:solidFill>
                <a:latin typeface="Microsoft YaHei"/>
              </a:rPr>
              <a:t>11 个验证项均具备受控测试代码、数据采集方式与达标判决门限。</a:t>
            </a:r>
          </a:p>
          <a:p>
            <a:pPr>
              <a:lnSpc>
                <a:spcPct val="120000"/>
              </a:lnSpc>
              <a:spcAft>
                <a:spcPts val="600"/>
              </a:spcAft>
            </a:pPr>
            <a:r>
              <a:rPr sz="1150" b="1">
                <a:solidFill>
                  <a:srgbClr val="1E3A8A"/>
                </a:solidFill>
                <a:latin typeface="Microsoft YaHei"/>
              </a:rPr>
              <a:t>• 可行性对比证伪：</a:t>
            </a:r>
            <a:r>
              <a:rPr sz="1150">
                <a:solidFill>
                  <a:srgbClr val="1E293B"/>
                </a:solidFill>
                <a:latin typeface="Microsoft YaHei"/>
              </a:rPr>
              <a:t>通过实测对比，解耦对硬件多播、硬件 Remap 与 DPU 的非必要依赖。</a:t>
            </a:r>
          </a:p>
        </p:txBody>
      </p:sp>
      <p:sp>
        <p:nvSpPr>
          <p:cNvPr id="18" name="TextBox 17"/>
          <p:cNvSpPr txBox="1"/>
          <p:nvPr/>
        </p:nvSpPr>
        <p:spPr>
          <a:xfrm>
            <a:off x="960120" y="5760720"/>
            <a:ext cx="10058400" cy="365760"/>
          </a:xfrm>
          <a:prstGeom prst="rect">
            <a:avLst/>
          </a:prstGeom>
          <a:noFill/>
        </p:spPr>
        <p:txBody>
          <a:bodyPr wrap="none" lIns="0" tIns="0" rIns="0" bIns="0">
            <a:spAutoFit/>
          </a:bodyPr>
          <a:lstStyle/>
          <a:p>
            <a:pPr>
              <a:defRPr sz="1100" b="1">
                <a:solidFill>
                  <a:srgbClr val="475569"/>
                </a:solidFill>
                <a:latin typeface="Microsoft YaHei"/>
              </a:defRPr>
            </a:pPr>
            <a:r>
              <a:t>统一异构 KVCache 存储池研发团队 · 2026-08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提前验证总体目标、技术方案分层与验证准则</a:t>
            </a:r>
          </a:p>
          <a:p>
            <a:pPr>
              <a:spcBef>
                <a:spcPts val="300"/>
              </a:spcBef>
              <a:defRPr sz="1100">
                <a:solidFill>
                  <a:srgbClr val="475569"/>
                </a:solidFill>
                <a:latin typeface="Microsoft YaHei"/>
              </a:defRPr>
            </a:pPr>
            <a:r>
              <a:t>从单机算法原型、底层驱动调优到两节点集群端到端串联测试</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02 / 14 页</a:t>
            </a:r>
          </a:p>
        </p:txBody>
      </p:sp>
      <p:sp>
        <p:nvSpPr>
          <p:cNvPr id="4" name="Rectangle 3"/>
          <p:cNvSpPr/>
          <p:nvPr/>
        </p:nvSpPr>
        <p:spPr>
          <a:xfrm>
            <a:off x="457200" y="1051560"/>
            <a:ext cx="5532120" cy="469087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四个核心验证阶段与目标 (E0~E3)</a:t>
            </a:r>
            <a:r>
              <a:rPr sz="1000" b="1">
                <a:solidFill>
                  <a:srgbClr val="BFDBFE"/>
                </a:solidFill>
                <a:latin typeface="Microsoft YaHei"/>
              </a:rPr>
              <a:t>  [阶段目标]</a:t>
            </a:r>
          </a:p>
        </p:txBody>
      </p:sp>
      <p:sp>
        <p:nvSpPr>
          <p:cNvPr id="7" name="TextBox 6"/>
          <p:cNvSpPr txBox="1"/>
          <p:nvPr/>
        </p:nvSpPr>
        <p:spPr>
          <a:xfrm>
            <a:off x="585216" y="1417320"/>
            <a:ext cx="5276088" cy="427024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【阶段 E0 收益评估】 PVT-00：</a:t>
            </a:r>
            <a:r>
              <a:rPr sz="1150">
                <a:solidFill>
                  <a:srgbClr val="1E293B"/>
                </a:solidFill>
                <a:latin typeface="Microsoft YaHei"/>
              </a:rPr>
              <a:t>验证外接 KV 池相比本地重算是否有明确的时间节省（</a:t>
            </a:r>
            <a:r>
              <a:rPr sz="1150" b="1">
                <a:solidFill>
                  <a:srgbClr val="DC2626"/>
                </a:solidFill>
                <a:latin typeface="Microsoft YaHei"/>
              </a:rPr>
              <a:t>净时间收益 ≥ 2.0× 查询与传输总耗时</a:t>
            </a:r>
            <a:r>
              <a:rPr sz="1150">
                <a:solidFill>
                  <a:srgbClr val="1E293B"/>
                </a:solidFill>
                <a:latin typeface="Microsoft YaHei"/>
              </a:rPr>
              <a:t>），UBMEM 加速比 </a:t>
            </a:r>
            <a:r>
              <a:rPr sz="1150" b="1">
                <a:solidFill>
                  <a:srgbClr val="2563EB"/>
                </a:solidFill>
                <a:latin typeface="Microsoft YaHei"/>
              </a:rPr>
              <a:t>≥ 1.3×</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【阶段 E1 传输与正确性】 PVT-01/02/06：</a:t>
            </a:r>
            <a:r>
              <a:rPr sz="1150">
                <a:solidFill>
                  <a:srgbClr val="1E293B"/>
                </a:solidFill>
                <a:latin typeface="Microsoft YaHei"/>
              </a:rPr>
              <a:t>验证 </a:t>
            </a:r>
            <a:r>
              <a:rPr sz="1150" b="1">
                <a:solidFill>
                  <a:srgbClr val="DC2626"/>
                </a:solidFill>
                <a:latin typeface="Microsoft YaHei"/>
              </a:rPr>
              <a:t>Host CPU 零数据拷贝</a:t>
            </a:r>
            <a:r>
              <a:rPr sz="1150">
                <a:solidFill>
                  <a:srgbClr val="1E293B"/>
                </a:solidFill>
                <a:latin typeface="Microsoft YaHei"/>
              </a:rPr>
              <a:t>；跨框架描述符合并数量减少 ≥50%、计算传输异步重叠 ≥60%；6 维语义校验 0 错误消费、8 卡状态同步 P99&lt;100µs。</a:t>
            </a:r>
          </a:p>
          <a:p>
            <a:pPr>
              <a:lnSpc>
                <a:spcPct val="120000"/>
              </a:lnSpc>
              <a:spcAft>
                <a:spcPts val="600"/>
              </a:spcAft>
            </a:pPr>
            <a:r>
              <a:rPr sz="1150" b="1">
                <a:solidFill>
                  <a:srgbClr val="1E3A8A"/>
                </a:solidFill>
                <a:latin typeface="Microsoft YaHei"/>
              </a:rPr>
              <a:t>【阶段 E2 调度与容量扩展】 PVT-03/04/05：</a:t>
            </a:r>
            <a:r>
              <a:rPr sz="1150">
                <a:solidFill>
                  <a:srgbClr val="1E293B"/>
                </a:solidFill>
                <a:latin typeface="Microsoft YaHei"/>
              </a:rPr>
              <a:t>测定远端直读边界（Decode 阶段走拷贝更优）；</a:t>
            </a:r>
            <a:r>
              <a:rPr sz="1150" b="1">
                <a:solidFill>
                  <a:srgbClr val="DC2626"/>
                </a:solidFill>
                <a:latin typeface="Microsoft YaHei"/>
              </a:rPr>
              <a:t>QueryPlan 决策 P99&lt;5µs 且负收益率 &lt;1%</a:t>
            </a:r>
            <a:r>
              <a:rPr sz="1150">
                <a:solidFill>
                  <a:srgbClr val="1E293B"/>
                </a:solidFill>
                <a:latin typeface="Microsoft YaHei"/>
              </a:rPr>
              <a:t>；显存超载 150% 下服务容量提升 ≥30%、OOM 降低 ≥50%。</a:t>
            </a:r>
          </a:p>
          <a:p>
            <a:pPr>
              <a:lnSpc>
                <a:spcPct val="120000"/>
              </a:lnSpc>
              <a:spcAft>
                <a:spcPts val="600"/>
              </a:spcAft>
            </a:pPr>
            <a:r>
              <a:rPr sz="1150" b="1">
                <a:solidFill>
                  <a:srgbClr val="1E3A8A"/>
                </a:solidFill>
                <a:latin typeface="Microsoft YaHei"/>
              </a:rPr>
              <a:t>【阶段 E3 端到端混压测试】 PVT-07：</a:t>
            </a:r>
            <a:r>
              <a:rPr sz="1150">
                <a:solidFill>
                  <a:srgbClr val="1E293B"/>
                </a:solidFill>
                <a:latin typeface="Microsoft YaHei"/>
              </a:rPr>
              <a:t>2 节点真实集群全链路混压，</a:t>
            </a:r>
            <a:r>
              <a:rPr sz="1150" b="1">
                <a:solidFill>
                  <a:srgbClr val="DC2626"/>
                </a:solidFill>
                <a:latin typeface="Microsoft YaHei"/>
              </a:rPr>
              <a:t>端到端 P99 TTFT 降低 ≥20%</a:t>
            </a:r>
            <a:r>
              <a:rPr sz="1150">
                <a:solidFill>
                  <a:srgbClr val="1E293B"/>
                </a:solidFill>
                <a:latin typeface="Microsoft YaHei"/>
              </a:rPr>
              <a:t>，</a:t>
            </a:r>
            <a:r>
              <a:rPr sz="1150" b="1">
                <a:solidFill>
                  <a:srgbClr val="DC2626"/>
                </a:solidFill>
                <a:latin typeface="Microsoft YaHei"/>
              </a:rPr>
              <a:t>QPS 提升 ≥10%</a:t>
            </a:r>
            <a:r>
              <a:rPr sz="1150">
                <a:solidFill>
                  <a:srgbClr val="1E293B"/>
                </a:solidFill>
                <a:latin typeface="Microsoft YaHei"/>
              </a:rPr>
              <a:t>，前台推理时延抖动 &lt; 3%。</a:t>
            </a:r>
          </a:p>
          <a:p>
            <a:pPr>
              <a:lnSpc>
                <a:spcPct val="120000"/>
              </a:lnSpc>
              <a:spcAft>
                <a:spcPts val="600"/>
              </a:spcAft>
            </a:pPr>
            <a:r>
              <a:rPr sz="1150" b="1">
                <a:solidFill>
                  <a:srgbClr val="1E3A8A"/>
                </a:solidFill>
                <a:latin typeface="Microsoft YaHei"/>
              </a:rPr>
              <a:t>【技术可行性证伪项】 CVT-01/02/03：</a:t>
            </a:r>
            <a:r>
              <a:rPr sz="1150">
                <a:solidFill>
                  <a:srgbClr val="1E293B"/>
                </a:solidFill>
                <a:latin typeface="Microsoft YaHei"/>
              </a:rPr>
              <a:t>验证软件方案能否替代复杂硬件特性（软件分层转发替代硬件多播、软件 RCU 替代硬件 Remap、纯软件裸直达替代 DPU 卸载）。</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涉及的核心技术组件与分层</a:t>
            </a:r>
            <a:r>
              <a:rPr sz="1000" b="1">
                <a:solidFill>
                  <a:srgbClr val="BFDBFE"/>
                </a:solidFill>
                <a:latin typeface="Microsoft YaHei"/>
              </a:rPr>
              <a:t>  [组件分层]</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调度与控制层：</a:t>
            </a:r>
            <a:r>
              <a:rPr sz="1150">
                <a:solidFill>
                  <a:srgbClr val="1E293B"/>
                </a:solidFill>
                <a:latin typeface="Microsoft YaHei"/>
              </a:rPr>
              <a:t>QueryPlan 动态决策引擎、成本预估模型、6 维元数据语义校验、多卡共享内存状态位图同步。</a:t>
            </a:r>
          </a:p>
          <a:p>
            <a:pPr>
              <a:lnSpc>
                <a:spcPct val="120000"/>
              </a:lnSpc>
              <a:spcAft>
                <a:spcPts val="600"/>
              </a:spcAft>
            </a:pPr>
            <a:r>
              <a:rPr sz="1150" b="1">
                <a:solidFill>
                  <a:srgbClr val="1E3A8A"/>
                </a:solidFill>
                <a:latin typeface="Microsoft YaHei"/>
              </a:rPr>
              <a:t>• 编译与内存管理：</a:t>
            </a:r>
            <a:r>
              <a:rPr sz="1150">
                <a:solidFill>
                  <a:srgbClr val="1E293B"/>
                </a:solidFill>
                <a:latin typeface="Microsoft YaHei"/>
              </a:rPr>
              <a:t>跨框架 Layout 描述符编译器、NPU/DMA 异步双流重叠、Direct-View 异常保护与安全回退机制。</a:t>
            </a:r>
          </a:p>
          <a:p>
            <a:pPr>
              <a:lnSpc>
                <a:spcPct val="120000"/>
              </a:lnSpc>
              <a:spcAft>
                <a:spcPts val="600"/>
              </a:spcAft>
            </a:pPr>
            <a:r>
              <a:rPr sz="1150" b="1">
                <a:solidFill>
                  <a:srgbClr val="1E3A8A"/>
                </a:solidFill>
                <a:latin typeface="Microsoft YaHei"/>
              </a:rPr>
              <a:t>• 底层传输与存储：</a:t>
            </a:r>
            <a:r>
              <a:rPr sz="1150">
                <a:solidFill>
                  <a:srgbClr val="1E293B"/>
                </a:solidFill>
                <a:latin typeface="Microsoft YaHei"/>
              </a:rPr>
              <a:t>UBMEM 共享内存通信、URMA 用户态网络、CANN P2P 显存映射、io_uring SSD 裸盘直达通路。</a:t>
            </a:r>
          </a:p>
        </p:txBody>
      </p:sp>
      <p:sp>
        <p:nvSpPr>
          <p:cNvPr id="12" name="Rectangle 11"/>
          <p:cNvSpPr/>
          <p:nvPr/>
        </p:nvSpPr>
        <p:spPr>
          <a:xfrm>
            <a:off x="6202375" y="3410712"/>
            <a:ext cx="5532120" cy="233172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2375" y="3410712"/>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12103" y="3447288"/>
            <a:ext cx="5312664" cy="237744"/>
          </a:xfrm>
          <a:prstGeom prst="rect">
            <a:avLst/>
          </a:prstGeom>
          <a:noFill/>
        </p:spPr>
        <p:txBody>
          <a:bodyPr wrap="none" lIns="0" tIns="0" rIns="0" bIns="0">
            <a:spAutoFit/>
          </a:bodyPr>
          <a:lstStyle/>
          <a:p>
            <a:pPr>
              <a:defRPr sz="1200" b="1">
                <a:solidFill>
                  <a:srgbClr val="FFFFFF"/>
                </a:solidFill>
                <a:latin typeface="Microsoft YaHei"/>
              </a:defRPr>
            </a:pPr>
            <a:r>
              <a:t>3. 方案验证的实施原则</a:t>
            </a:r>
            <a:r>
              <a:rPr sz="1000" b="1">
                <a:solidFill>
                  <a:srgbClr val="BFDBFE"/>
                </a:solidFill>
                <a:latin typeface="Microsoft YaHei"/>
              </a:rPr>
              <a:t>  [实施原则]</a:t>
            </a:r>
          </a:p>
        </p:txBody>
      </p:sp>
      <p:sp>
        <p:nvSpPr>
          <p:cNvPr id="15" name="TextBox 14"/>
          <p:cNvSpPr txBox="1"/>
          <p:nvPr/>
        </p:nvSpPr>
        <p:spPr>
          <a:xfrm>
            <a:off x="6330391" y="3776472"/>
            <a:ext cx="5276088" cy="191109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真实环境实测：</a:t>
            </a:r>
            <a:r>
              <a:rPr sz="1150">
                <a:solidFill>
                  <a:srgbClr val="1E293B"/>
                </a:solidFill>
                <a:latin typeface="Microsoft YaHei"/>
              </a:rPr>
              <a:t>所有指标必须在真实物理机器上运行测试脚本、抓取日志与打点，不采信纯理论推导。</a:t>
            </a:r>
          </a:p>
          <a:p>
            <a:pPr>
              <a:lnSpc>
                <a:spcPct val="120000"/>
              </a:lnSpc>
              <a:spcAft>
                <a:spcPts val="600"/>
              </a:spcAft>
            </a:pPr>
            <a:r>
              <a:rPr sz="1150" b="1">
                <a:solidFill>
                  <a:srgbClr val="1E3A8A"/>
                </a:solidFill>
                <a:latin typeface="Microsoft YaHei"/>
              </a:rPr>
              <a:t>• 软硬件协同优化：</a:t>
            </a:r>
            <a:r>
              <a:rPr sz="1150">
                <a:solidFill>
                  <a:srgbClr val="1E293B"/>
                </a:solidFill>
                <a:latin typeface="Microsoft YaHei"/>
              </a:rPr>
              <a:t>充分利用 NPU、UBMEM 及 Linux 6.6+ 特性，寻找兼顾性能与稳定性的最优方案。</a:t>
            </a:r>
          </a:p>
          <a:p>
            <a:pPr>
              <a:lnSpc>
                <a:spcPct val="120000"/>
              </a:lnSpc>
              <a:spcAft>
                <a:spcPts val="600"/>
              </a:spcAft>
            </a:pPr>
            <a:r>
              <a:rPr sz="1150" b="1">
                <a:solidFill>
                  <a:srgbClr val="1E3A8A"/>
                </a:solidFill>
                <a:latin typeface="Microsoft YaHei"/>
              </a:rPr>
              <a:t>• 方案科学剪枝：</a:t>
            </a:r>
            <a:r>
              <a:rPr sz="1150">
                <a:solidFill>
                  <a:srgbClr val="1E293B"/>
                </a:solidFill>
                <a:latin typeface="Microsoft YaHei"/>
              </a:rPr>
              <a:t>对复杂度高、稳定性差的专用硬件依赖，通过实测对比，能用软件方案优雅解决的坚决不引入硬件依赖。</a:t>
            </a:r>
          </a:p>
        </p:txBody>
      </p:sp>
      <p:sp>
        <p:nvSpPr>
          <p:cNvPr id="16" name="Rectangle 15"/>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总体技术路线与验证目标：</a:t>
            </a:r>
            <a:r>
              <a:rPr sz="1150" b="1">
                <a:solidFill>
                  <a:srgbClr val="0F172A"/>
                </a:solidFill>
                <a:latin typeface="Microsoft YaHei"/>
              </a:rPr>
              <a:t>围绕四个核心验证阶段，通过 11 个具体验证项摸清性能底线与边界，</a:t>
            </a:r>
            <a:r>
              <a:rPr sz="1150" b="1">
                <a:solidFill>
                  <a:srgbClr val="DC2626"/>
                </a:solidFill>
                <a:latin typeface="Microsoft YaHei"/>
              </a:rPr>
              <a:t>为后续系统实现提供扎实的技术依据</a:t>
            </a:r>
            <a:r>
              <a:rPr sz="1150" b="1">
                <a:solidFill>
                  <a:srgbClr val="0F172A"/>
                </a:solidFill>
                <a:latin typeface="Microsoft YaHei"/>
              </a:rP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PVT-00：业务流量外接缓存时间收益评估</a:t>
            </a:r>
          </a:p>
          <a:p>
            <a:pPr>
              <a:spcBef>
                <a:spcPts val="300"/>
              </a:spcBef>
              <a:defRPr sz="1100">
                <a:solidFill>
                  <a:srgbClr val="475569"/>
                </a:solidFill>
                <a:latin typeface="Microsoft YaHei"/>
              </a:defRPr>
            </a:pPr>
            <a:r>
              <a:t>评估不同前缀复用率与上下文长度下，外接 KV 池相比本地算力重算的时间节省与通信加速比</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E0 收益评估]</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大模型推理的首字生成（Prefill）阶段计算量大、耗时长。外接 KVCache 存储池能否相比本地算力重新计算真正节省响应时间（TTFT），是方案成立的前提基石。</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实测探明在</a:t>
            </a:r>
            <a:r>
              <a:rPr sz="1150" b="1">
                <a:solidFill>
                  <a:srgbClr val="1E293B"/>
                </a:solidFill>
                <a:latin typeface="Microsoft YaHei"/>
              </a:rPr>
              <a:t> 30%~98% 前缀复用率 </a:t>
            </a:r>
            <a:r>
              <a:rPr sz="1150">
                <a:solidFill>
                  <a:srgbClr val="1E293B"/>
                </a:solidFill>
                <a:latin typeface="Microsoft YaHei"/>
              </a:rPr>
              <a:t>与 8K~128K 上下文长度下，读取外接缓存能省多少时间；同时对比 </a:t>
            </a:r>
            <a:r>
              <a:rPr sz="1150" b="1">
                <a:solidFill>
                  <a:srgbClr val="2563EB"/>
                </a:solidFill>
                <a:latin typeface="Microsoft YaHei"/>
              </a:rPr>
              <a:t>UBMEM 共享内存通信</a:t>
            </a:r>
            <a:r>
              <a:rPr sz="1150">
                <a:solidFill>
                  <a:srgbClr val="1E293B"/>
                </a:solidFill>
                <a:latin typeface="Microsoft YaHei"/>
              </a:rPr>
              <a:t> 相比标准 URMA/RDMA 通信的加速效果。</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作为阶段 E0 的核心验证，用实测数据证明外接缓存方案能带来确定性的首 Token 时间节省（端到端 TTFT 降低 ≥ 20%）。</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硬件环境：</a:t>
            </a:r>
            <a:r>
              <a:rPr sz="1150">
                <a:solidFill>
                  <a:srgbClr val="1E293B"/>
                </a:solidFill>
                <a:latin typeface="Microsoft YaHei"/>
              </a:rPr>
              <a:t>2 台物理服务器（Node-0/1），每台配置 </a:t>
            </a:r>
            <a:r>
              <a:rPr sz="1150" b="1">
                <a:solidFill>
                  <a:srgbClr val="1E293B"/>
                </a:solidFill>
                <a:latin typeface="Microsoft YaHei"/>
              </a:rPr>
              <a:t>8× 华为 NPU (96GB 显存)</a:t>
            </a:r>
            <a:r>
              <a:rPr sz="1150">
                <a:solidFill>
                  <a:srgbClr val="1E293B"/>
                </a:solidFill>
                <a:latin typeface="Microsoft YaHei"/>
              </a:rPr>
              <a:t>，</a:t>
            </a:r>
            <a:r>
              <a:rPr sz="1150" b="1">
                <a:solidFill>
                  <a:srgbClr val="2563EB"/>
                </a:solidFill>
                <a:latin typeface="Microsoft YaHei"/>
              </a:rPr>
              <a:t>800G URMA/RDMA</a:t>
            </a:r>
            <a:r>
              <a:rPr sz="1150">
                <a:solidFill>
                  <a:srgbClr val="1E293B"/>
                </a:solidFill>
                <a:latin typeface="Microsoft YaHei"/>
              </a:rPr>
              <a:t> 双端口网卡，512GB 内存。</a:t>
            </a:r>
          </a:p>
          <a:p>
            <a:pPr>
              <a:lnSpc>
                <a:spcPct val="120000"/>
              </a:lnSpc>
              <a:spcAft>
                <a:spcPts val="600"/>
              </a:spcAft>
            </a:pPr>
            <a:r>
              <a:rPr sz="1150" b="1">
                <a:solidFill>
                  <a:srgbClr val="1E3A8A"/>
                </a:solidFill>
                <a:latin typeface="Microsoft YaHei"/>
              </a:rPr>
              <a:t>• 驱动与 SDK 规范：</a:t>
            </a:r>
            <a:r>
              <a:rPr sz="1150">
                <a:solidFill>
                  <a:srgbClr val="1E293B"/>
                </a:solidFill>
                <a:latin typeface="Microsoft YaHei"/>
              </a:rPr>
              <a:t>引入头文件 </a:t>
            </a:r>
            <a:r>
              <a:rPr sz="1150" b="1">
                <a:solidFill>
                  <a:srgbClr val="1E3A8A"/>
                </a:solidFill>
                <a:latin typeface="Consolas"/>
              </a:rPr>
              <a:t>&lt;urma.h&gt;, &lt;ubmem.h&gt;</a:t>
            </a:r>
            <a:r>
              <a:rPr sz="1150">
                <a:solidFill>
                  <a:srgbClr val="1E293B"/>
                </a:solidFill>
                <a:latin typeface="Microsoft YaHei"/>
              </a:rPr>
              <a:t>（用户态网络与共享内存通信库），动态链接 </a:t>
            </a:r>
            <a:r>
              <a:rPr sz="1150" b="1">
                <a:solidFill>
                  <a:srgbClr val="1E3A8A"/>
                </a:solidFill>
                <a:latin typeface="Consolas"/>
              </a:rPr>
              <a:t>-lurma -lubmem -lpthread</a:t>
            </a:r>
            <a:r>
              <a:rPr sz="1150">
                <a:solidFill>
                  <a:srgbClr val="1E293B"/>
                </a:solidFill>
                <a:latin typeface="Microsoft YaHei"/>
              </a:rPr>
              <a:t>，基于 Linux 6.6+ 内核。</a:t>
            </a:r>
          </a:p>
          <a:p>
            <a:pPr>
              <a:lnSpc>
                <a:spcPct val="120000"/>
              </a:lnSpc>
              <a:spcAft>
                <a:spcPts val="600"/>
              </a:spcAft>
            </a:pPr>
            <a:r>
              <a:rPr sz="1150" b="1">
                <a:solidFill>
                  <a:srgbClr val="1E3A8A"/>
                </a:solidFill>
                <a:latin typeface="Microsoft YaHei"/>
              </a:rPr>
              <a:t>• 编译参数：</a:t>
            </a:r>
            <a:r>
              <a:rPr sz="1150">
                <a:solidFill>
                  <a:srgbClr val="1E3A8A"/>
                </a:solidFill>
                <a:latin typeface="Consolas"/>
              </a:rPr>
              <a:t>g++ -O3 -march=native -std=c++17 -Wall -Wextra</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测试数据集构造 (make_workload.py)：</a:t>
            </a:r>
            <a:r>
              <a:rPr sz="1150">
                <a:solidFill>
                  <a:srgbClr val="1E293B"/>
                </a:solidFill>
                <a:latin typeface="Microsoft YaHei"/>
              </a:rPr>
              <a:t>构造前缀复用率在 50%~98% 的请求对（例如 50K 前缀 + 50K 新增内容的 100K 序列，模拟长对话与文档问答场景）。</a:t>
            </a:r>
          </a:p>
          <a:p>
            <a:pPr>
              <a:lnSpc>
                <a:spcPct val="120000"/>
              </a:lnSpc>
              <a:spcAft>
                <a:spcPts val="600"/>
              </a:spcAft>
            </a:pPr>
            <a:r>
              <a:rPr sz="1150" b="1">
                <a:solidFill>
                  <a:srgbClr val="1E3A8A"/>
                </a:solidFill>
                <a:latin typeface="Microsoft YaHei"/>
              </a:rPr>
              <a:t>• 微基准测试 (proto_bench.cc)：</a:t>
            </a:r>
            <a:r>
              <a:rPr sz="1150">
                <a:solidFill>
                  <a:srgbClr val="1E293B"/>
                </a:solidFill>
                <a:latin typeface="Microsoft YaHei"/>
              </a:rPr>
              <a:t>扫参 4KB~64MB 传输块大小、1~64 并发线程，测量 URMA 和 UBMEM 的单向/双向带宽与 P99 延迟。</a:t>
            </a:r>
          </a:p>
          <a:p>
            <a:pPr>
              <a:lnSpc>
                <a:spcPct val="120000"/>
              </a:lnSpc>
              <a:spcAft>
                <a:spcPts val="600"/>
              </a:spcAft>
            </a:pPr>
            <a:r>
              <a:rPr sz="1150" b="1">
                <a:solidFill>
                  <a:srgbClr val="1E3A8A"/>
                </a:solidFill>
                <a:latin typeface="Microsoft YaHei"/>
              </a:rPr>
              <a:t>• 框架源码打点：</a:t>
            </a:r>
            <a:r>
              <a:rPr sz="1150">
                <a:solidFill>
                  <a:srgbClr val="1E293B"/>
                </a:solidFill>
                <a:latin typeface="Microsoft YaHei"/>
              </a:rPr>
              <a:t>在推理框架（vLLM / Mooncake）中加入微秒级时钟打点，分别记录元数据查询、网络传输与本地重新计算耗时。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《通信协议基础性能评测表》、《前缀复用时延实测对比表》、《首Token响应时延(TTFT)净收益分析图》。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净时间节省：</a:t>
            </a:r>
            <a:r>
              <a:rPr sz="1150" b="1">
                <a:solidFill>
                  <a:srgbClr val="DC2626"/>
                </a:solidFill>
                <a:latin typeface="Microsoft YaHei"/>
              </a:rPr>
              <a:t>读取缓存节省的时间 ≥ 查询和传输总耗时的 2.0 倍</a:t>
            </a:r>
            <a:r>
              <a:rPr sz="1150">
                <a:solidFill>
                  <a:srgbClr val="1E293B"/>
                </a:solidFill>
                <a:latin typeface="Microsoft YaHei"/>
              </a:rPr>
              <a:t>（拉取缓存的开销远小于重新计算时间）；
</a:t>
            </a:r>
            <a:r>
              <a:rPr sz="1150" b="1">
                <a:solidFill>
                  <a:srgbClr val="1E293B"/>
                </a:solidFill>
                <a:latin typeface="Microsoft YaHei"/>
              </a:rPr>
              <a:t>2. 协议加速比：</a:t>
            </a:r>
            <a:r>
              <a:rPr sz="1150" b="1">
                <a:solidFill>
                  <a:srgbClr val="059669"/>
                </a:solidFill>
                <a:latin typeface="Microsoft YaHei"/>
              </a:rPr>
              <a:t>UBMEM 共享内存相比标准 URMA/RDMA 带宽/时延提升 ≥ 1.3 倍</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PVT-00 收益评估与立项依据：</a:t>
            </a:r>
            <a:r>
              <a:rPr sz="1150" b="1">
                <a:solidFill>
                  <a:srgbClr val="0F172A"/>
                </a:solidFill>
                <a:latin typeface="Microsoft YaHei"/>
              </a:rPr>
              <a:t>实测证明外接缓存池在 ≥50% 复用率下节省时间达到传输开销的 </a:t>
            </a:r>
            <a:r>
              <a:rPr sz="1150" b="1">
                <a:solidFill>
                  <a:srgbClr val="DC2626"/>
                </a:solidFill>
                <a:latin typeface="Microsoft YaHei"/>
              </a:rPr>
              <a:t>2.0 倍以上</a:t>
            </a:r>
            <a:r>
              <a:rPr sz="1150" b="1">
                <a:solidFill>
                  <a:srgbClr val="0F172A"/>
                </a:solidFill>
                <a:latin typeface="Microsoft YaHei"/>
              </a:rPr>
              <a:t>，UBMEM 通信提升性能 </a:t>
            </a:r>
            <a:r>
              <a:rPr sz="1150" b="1">
                <a:solidFill>
                  <a:srgbClr val="DC2626"/>
                </a:solidFill>
                <a:latin typeface="Microsoft YaHei"/>
              </a:rPr>
              <a:t>≥30%</a:t>
            </a:r>
            <a:r>
              <a:rPr sz="1150" b="1">
                <a:solidFill>
                  <a:srgbClr val="0F172A"/>
                </a:solidFill>
                <a:latin typeface="Microsoft YaHei"/>
              </a:rPr>
              <a:t>，达到阶段 E0 准入要求。</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PVT-01：零数据拷贝传输通路与硬件能力矩阵验证</a:t>
            </a:r>
          </a:p>
          <a:p>
            <a:pPr>
              <a:spcBef>
                <a:spcPts val="300"/>
              </a:spcBef>
              <a:defRPr sz="1100">
                <a:solidFill>
                  <a:srgbClr val="475569"/>
                </a:solidFill>
                <a:latin typeface="Microsoft YaHei"/>
              </a:defRPr>
            </a:pPr>
            <a:r>
              <a:t>验证跨节点 URMA/UBMEM 与本地 NVMe SSD 直达通路中的零 CPU 数据拷贝及硬件线速达成率</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04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 传输底座]</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在 800G 高速网络与 Gen5 SSD 环境下，若由 Host CPU 参与数据内存拷贝（memcpy）或软件拆包，会瞬间占满 CPU 和内存带宽，导致网络降速与时延抖动。</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验证跨节点网络传输与本地 SSD 读写通路中，数据直接在显存与网卡/SSD 之间流动，</a:t>
            </a:r>
            <a:r>
              <a:rPr sz="1150" b="1">
                <a:solidFill>
                  <a:srgbClr val="DC2626"/>
                </a:solidFill>
                <a:latin typeface="Microsoft YaHei"/>
              </a:rPr>
              <a:t>Host CPU 零数据拷贝（CPU仅负责下发控制指令，不参与正文搬运）</a:t>
            </a:r>
            <a:r>
              <a:rPr sz="1150">
                <a:solidFill>
                  <a:srgbClr val="1E293B"/>
                </a:solidFill>
                <a:latin typeface="Microsoft YaHei"/>
              </a:rPr>
              <a:t>，有效带宽达到硬件标称线速 </a:t>
            </a:r>
            <a:r>
              <a:rPr sz="1150" b="1">
                <a:solidFill>
                  <a:srgbClr val="2563EB"/>
                </a:solidFill>
                <a:latin typeface="Microsoft YaHei"/>
              </a:rPr>
              <a:t>≥80%</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 E1 阶段传输底座，并输出</a:t>
            </a:r>
            <a:r>
              <a:rPr sz="1150" b="1">
                <a:solidFill>
                  <a:srgbClr val="2563EB"/>
                </a:solidFill>
                <a:latin typeface="Microsoft YaHei"/>
              </a:rPr>
              <a:t>“硬件能力矩阵”（即在运行时自动探测各通信链路的带宽、时延等物理参数表）</a:t>
            </a:r>
            <a:r>
              <a:rPr sz="1150">
                <a:solidFill>
                  <a:srgbClr val="1E293B"/>
                </a:solidFill>
                <a:latin typeface="Microsoft YaHei"/>
              </a:rPr>
              <a:t>，供调度算法使用。</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显存直达接口：</a:t>
            </a:r>
            <a:r>
              <a:rPr sz="1150">
                <a:solidFill>
                  <a:srgbClr val="1E293B"/>
                </a:solidFill>
                <a:latin typeface="Microsoft YaHei"/>
              </a:rPr>
              <a:t>CANN 接口 </a:t>
            </a:r>
            <a:r>
              <a:rPr sz="1150" b="1">
                <a:solidFill>
                  <a:srgbClr val="1E3A8A"/>
                </a:solidFill>
                <a:latin typeface="Consolas"/>
              </a:rPr>
              <a:t>aclrtMalloc(&amp;ptr, sz, ACL_MEM_MALLOC_HUGE_FIRST_P2P)</a:t>
            </a:r>
            <a:r>
              <a:rPr sz="1150">
                <a:solidFill>
                  <a:srgbClr val="1E293B"/>
                </a:solidFill>
                <a:latin typeface="Microsoft YaHei"/>
              </a:rPr>
              <a:t>，通过 </a:t>
            </a:r>
            <a:r>
              <a:rPr sz="1150">
                <a:solidFill>
                  <a:srgbClr val="1E3A8A"/>
                </a:solidFill>
                <a:latin typeface="Consolas"/>
              </a:rPr>
              <a:t>urma_register_dev_mr</a:t>
            </a:r>
            <a:r>
              <a:rPr sz="1150">
                <a:solidFill>
                  <a:srgbClr val="1E293B"/>
                </a:solidFill>
                <a:latin typeface="Microsoft YaHei"/>
              </a:rPr>
              <a:t> 将显存直接注册给网卡。</a:t>
            </a:r>
          </a:p>
          <a:p>
            <a:pPr>
              <a:lnSpc>
                <a:spcPct val="120000"/>
              </a:lnSpc>
              <a:spcAft>
                <a:spcPts val="600"/>
              </a:spcAft>
            </a:pPr>
            <a:r>
              <a:rPr sz="1150" b="1">
                <a:solidFill>
                  <a:srgbClr val="1E3A8A"/>
                </a:solidFill>
                <a:latin typeface="Microsoft YaHei"/>
              </a:rPr>
              <a:t>• 本地存储直达：</a:t>
            </a:r>
            <a:r>
              <a:rPr sz="1150">
                <a:solidFill>
                  <a:srgbClr val="1E293B"/>
                </a:solidFill>
                <a:latin typeface="Microsoft YaHei"/>
              </a:rPr>
              <a:t>Linux 6.6+ 内核 </a:t>
            </a:r>
            <a:r>
              <a:rPr sz="1150" b="1">
                <a:solidFill>
                  <a:srgbClr val="1E3A8A"/>
                </a:solidFill>
                <a:latin typeface="Consolas"/>
              </a:rPr>
              <a:t>io_uring FIXED I/O + O_DIRECT</a:t>
            </a:r>
            <a:r>
              <a:rPr sz="1150">
                <a:solidFill>
                  <a:srgbClr val="1E293B"/>
                </a:solidFill>
                <a:latin typeface="Microsoft YaHei"/>
              </a:rPr>
              <a:t> 裸盘读写，完全绕过操作系统页缓存（Page Cache）与内存中转。</a:t>
            </a:r>
          </a:p>
          <a:p>
            <a:pPr>
              <a:lnSpc>
                <a:spcPct val="120000"/>
              </a:lnSpc>
              <a:spcAft>
                <a:spcPts val="600"/>
              </a:spcAft>
            </a:pPr>
            <a:r>
              <a:rPr sz="1150" b="1">
                <a:solidFill>
                  <a:srgbClr val="1E3A8A"/>
                </a:solidFill>
                <a:latin typeface="Microsoft YaHei"/>
              </a:rPr>
              <a:t>• 监控手段：</a:t>
            </a:r>
            <a:r>
              <a:rPr sz="1150">
                <a:solidFill>
                  <a:srgbClr val="1E293B"/>
                </a:solidFill>
                <a:latin typeface="Microsoft YaHei"/>
              </a:rPr>
              <a:t>使用 eBPF（内核跟踪工具）挂载内核与 glibc，全量监控是否有 CPU 数据拷贝（memcpy/memmove）发生。</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传输测试 (raw_trans_bench.cc)：</a:t>
            </a:r>
            <a:r>
              <a:rPr sz="1150">
                <a:solidFill>
                  <a:srgbClr val="1E293B"/>
                </a:solidFill>
                <a:latin typeface="Microsoft YaHei"/>
              </a:rPr>
              <a:t>测试 4KB~128MB 块大小下，URMA、UBMEM、io_uring 直达传输性能，并与传统 CPU 内存拷贝和 TCP 对照组对比。</a:t>
            </a:r>
          </a:p>
          <a:p>
            <a:pPr>
              <a:lnSpc>
                <a:spcPct val="120000"/>
              </a:lnSpc>
              <a:spcAft>
                <a:spcPts val="600"/>
              </a:spcAft>
            </a:pPr>
            <a:r>
              <a:rPr sz="1150" b="1">
                <a:solidFill>
                  <a:srgbClr val="1E3A8A"/>
                </a:solidFill>
                <a:latin typeface="Microsoft YaHei"/>
              </a:rPr>
              <a:t>• CPU 拷贝监控 (host_touch_monitor.py)：</a:t>
            </a:r>
            <a:r>
              <a:rPr sz="1150">
                <a:solidFill>
                  <a:srgbClr val="1E293B"/>
                </a:solidFill>
                <a:latin typeface="Microsoft YaHei"/>
              </a:rPr>
              <a:t>在长时间高并发传输下，通过 eBPF 统计 CPU 拷贝的字节数，提供严格的防漏报校验。</a:t>
            </a:r>
          </a:p>
          <a:p>
            <a:pPr>
              <a:lnSpc>
                <a:spcPct val="120000"/>
              </a:lnSpc>
              <a:spcAft>
                <a:spcPts val="600"/>
              </a:spcAft>
            </a:pPr>
            <a:r>
              <a:rPr sz="1150" b="1">
                <a:solidFill>
                  <a:srgbClr val="1E3A8A"/>
                </a:solidFill>
                <a:latin typeface="Microsoft YaHei"/>
              </a:rPr>
              <a:t>• 硬件矩阵导出 (export_capability_matrix.py)：</a:t>
            </a:r>
            <a:r>
              <a:rPr sz="1150">
                <a:solidFill>
                  <a:srgbClr val="1E293B"/>
                </a:solidFill>
                <a:latin typeface="Microsoft YaHei"/>
              </a:rPr>
              <a:t>自动解析实测吞吐并导出结构化 capability_matrix.json 硬件参数文件。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《eBPF CPU 拷贝监控报告》、《各介质裸传输带宽与时延表》、《硬件能力矩阵参数文件 (capability_matrix.json)》。</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CPU 零拷贝：</a:t>
            </a:r>
            <a:r>
              <a:rPr sz="1150" b="1">
                <a:solidFill>
                  <a:srgbClr val="DC2626"/>
                </a:solidFill>
                <a:latin typeface="Microsoft YaHei"/>
              </a:rPr>
              <a:t>Host CPU 正文数据搬运字节数严格 = 0</a:t>
            </a:r>
            <a:r>
              <a:rPr sz="1150">
                <a:solidFill>
                  <a:srgbClr val="1E293B"/>
                </a:solidFill>
                <a:latin typeface="Microsoft YaHei"/>
              </a:rPr>
              <a:t>（CPU 仅负责提交 SQ/CQ 描述符指令）；
</a:t>
            </a:r>
            <a:r>
              <a:rPr sz="1150" b="1">
                <a:solidFill>
                  <a:srgbClr val="1E293B"/>
                </a:solidFill>
                <a:latin typeface="Microsoft YaHei"/>
              </a:rPr>
              <a:t>2. 网络线速达成率：</a:t>
            </a:r>
            <a:r>
              <a:rPr sz="1150" b="1">
                <a:solidFill>
                  <a:srgbClr val="059669"/>
                </a:solidFill>
                <a:latin typeface="Microsoft YaHei"/>
              </a:rPr>
              <a:t>800G URMA/UBMEM 有效传输带宽 ≥ 80% (≥ 640 Gbps)</a:t>
            </a:r>
            <a:r>
              <a:rPr sz="1150">
                <a:solidFill>
                  <a:srgbClr val="1E293B"/>
                </a:solidFill>
                <a:latin typeface="Microsoft YaHei"/>
              </a:rPr>
              <a:t>；
</a:t>
            </a:r>
            <a:r>
              <a:rPr sz="1150" b="1">
                <a:solidFill>
                  <a:srgbClr val="1E293B"/>
                </a:solidFill>
                <a:latin typeface="Microsoft YaHei"/>
              </a:rPr>
              <a:t>3. 本地存储性能：</a:t>
            </a:r>
            <a:r>
              <a:rPr sz="1150" b="1">
                <a:solidFill>
                  <a:srgbClr val="2563EB"/>
                </a:solidFill>
                <a:latin typeface="Microsoft YaHei"/>
              </a:rPr>
              <a:t>NVMe SSD io_uring 顺序读带宽 ≥ 80% 硬件标称峰值</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PVT-01 零 CPU 拷贝传输底座：</a:t>
            </a:r>
            <a:r>
              <a:rPr sz="1150" b="1">
                <a:solidFill>
                  <a:srgbClr val="0F172A"/>
                </a:solidFill>
                <a:latin typeface="Microsoft YaHei"/>
              </a:rPr>
              <a:t>确立数据通路 </a:t>
            </a:r>
            <a:r>
              <a:rPr sz="1150" b="1">
                <a:solidFill>
                  <a:srgbClr val="DC2626"/>
                </a:solidFill>
                <a:latin typeface="Microsoft YaHei"/>
              </a:rPr>
              <a:t>Host CPU 零数据拷贝</a:t>
            </a:r>
            <a:r>
              <a:rPr sz="1150" b="1">
                <a:solidFill>
                  <a:srgbClr val="0F172A"/>
                </a:solidFill>
                <a:latin typeface="Microsoft YaHei"/>
              </a:rPr>
              <a:t>，800G 网络与 NVMe SSD 传输均达到 </a:t>
            </a:r>
            <a:r>
              <a:rPr sz="1150" b="1">
                <a:solidFill>
                  <a:srgbClr val="DC2626"/>
                </a:solidFill>
                <a:latin typeface="Microsoft YaHei"/>
              </a:rPr>
              <a:t>物理线速 ≥80%</a:t>
            </a:r>
            <a:r>
              <a:rPr sz="1150" b="1">
                <a:solidFill>
                  <a:srgbClr val="0F172A"/>
                </a:solidFill>
                <a:latin typeface="Microsoft YaHei"/>
              </a:rPr>
              <a:t>，产出准确的硬件能力矩阵参数表。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PVT-02：跨框架内存描述符编译与异步流水验证</a:t>
            </a:r>
          </a:p>
          <a:p>
            <a:pPr>
              <a:spcBef>
                <a:spcPts val="300"/>
              </a:spcBef>
              <a:defRPr sz="1100">
                <a:solidFill>
                  <a:srgbClr val="475569"/>
                </a:solidFill>
                <a:latin typeface="Microsoft YaHei"/>
              </a:defRPr>
            </a:pPr>
            <a:r>
              <a:t>验证 vLLM 与 SGLang 异构格式的连续块合并算法、64B 共享内存协议及计算与传输异步重叠</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05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 控制编译]</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vLLM 采用分页内存管理（PagedAttention，物理块离散），SGLang 采用基数树连续分段（Radix Tree）。若 CPU 逐块向硬件下发传输描述符，CPU 处理开销与碎片小 I/O 会抵消硬件性能。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验证“描述符编译器”将离散物理块零拷贝编译为硬件连续 Scatter-Gather 描述符的能力；验证在 NPU 上开辟计算流与传输流，实现</a:t>
            </a:r>
            <a:r>
              <a:rPr sz="1150" b="1">
                <a:solidFill>
                  <a:srgbClr val="2563EB"/>
                </a:solidFill>
                <a:latin typeface="Microsoft YaHei"/>
              </a:rPr>
              <a:t>“边计算边传输”的异步流水线重叠</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支撑 E1 阶段能力路径，降低控制面开销，使数据传输耗时能够在线被模型矩阵计算（GEMM）时间掩盖。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共享内存协议：</a:t>
            </a:r>
            <a:r>
              <a:rPr sz="1150">
                <a:solidFill>
                  <a:srgbClr val="1E293B"/>
                </a:solidFill>
                <a:latin typeface="Microsoft YaHei"/>
              </a:rPr>
              <a:t>定义 64 字节对齐的定长结构体 </a:t>
            </a:r>
            <a:r>
              <a:rPr sz="1150" b="1">
                <a:solidFill>
                  <a:srgbClr val="1E3A8A"/>
                </a:solidFill>
                <a:latin typeface="Consolas"/>
              </a:rPr>
              <a:t>ExtentManifestHeader</a:t>
            </a:r>
            <a:r>
              <a:rPr sz="1150">
                <a:solidFill>
                  <a:srgbClr val="1E293B"/>
                </a:solidFill>
                <a:latin typeface="Microsoft YaHei"/>
              </a:rPr>
              <a:t> 与 32 字节 </a:t>
            </a:r>
            <a:r>
              <a:rPr sz="1150" b="1">
                <a:solidFill>
                  <a:srgbClr val="1E3A8A"/>
                </a:solidFill>
                <a:latin typeface="Consolas"/>
              </a:rPr>
              <a:t>LogicalBlockExtent</a:t>
            </a:r>
            <a:r>
              <a:rPr sz="1150">
                <a:solidFill>
                  <a:srgbClr val="1E293B"/>
                </a:solidFill>
                <a:latin typeface="Microsoft YaHei"/>
              </a:rPr>
              <a:t>，通过 Linux 共享内存（</a:t>
            </a:r>
            <a:r>
              <a:rPr sz="1150">
                <a:solidFill>
                  <a:srgbClr val="1E3A8A"/>
                </a:solidFill>
                <a:latin typeface="Consolas"/>
              </a:rPr>
              <a:t>/dev/shm</a:t>
            </a:r>
            <a:r>
              <a:rPr sz="1150">
                <a:solidFill>
                  <a:srgbClr val="1E293B"/>
                </a:solidFill>
                <a:latin typeface="Microsoft YaHei"/>
              </a:rPr>
              <a:t>）零拷贝传递。</a:t>
            </a:r>
          </a:p>
          <a:p>
            <a:pPr>
              <a:lnSpc>
                <a:spcPct val="120000"/>
              </a:lnSpc>
              <a:spcAft>
                <a:spcPts val="600"/>
              </a:spcAft>
            </a:pPr>
            <a:r>
              <a:rPr sz="1150" b="1">
                <a:solidFill>
                  <a:srgbClr val="1E3A8A"/>
                </a:solidFill>
                <a:latin typeface="Microsoft YaHei"/>
              </a:rPr>
              <a:t>• 异步流水引擎：</a:t>
            </a:r>
            <a:r>
              <a:rPr sz="1150">
                <a:solidFill>
                  <a:srgbClr val="1E293B"/>
                </a:solidFill>
                <a:latin typeface="Microsoft YaHei"/>
              </a:rPr>
              <a:t>CANN 双 Stream 架构（计算流 Compute Stream + 传输流 Transfer Stream），利用 </a:t>
            </a:r>
            <a:r>
              <a:rPr sz="1150">
                <a:solidFill>
                  <a:srgbClr val="1E3A8A"/>
                </a:solidFill>
                <a:latin typeface="Consolas"/>
              </a:rPr>
              <a:t>aclrtRecordEvent</a:t>
            </a:r>
            <a:r>
              <a:rPr sz="1150">
                <a:solidFill>
                  <a:srgbClr val="1E293B"/>
                </a:solidFill>
                <a:latin typeface="Microsoft YaHei"/>
              </a:rPr>
              <a:t> 与 </a:t>
            </a:r>
            <a:r>
              <a:rPr sz="1150">
                <a:solidFill>
                  <a:srgbClr val="1E3A8A"/>
                </a:solidFill>
                <a:latin typeface="Consolas"/>
              </a:rPr>
              <a:t>aclrtStreamWaitEvent</a:t>
            </a:r>
            <a:r>
              <a:rPr sz="1150">
                <a:solidFill>
                  <a:srgbClr val="1E293B"/>
                </a:solidFill>
                <a:latin typeface="Microsoft YaHei"/>
              </a:rPr>
              <a:t> 硬件事件保序。</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-lascendcl -lubmem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内存碎片生成 (make_manifests.py)：</a:t>
            </a:r>
            <a:r>
              <a:rPr sz="1150">
                <a:solidFill>
                  <a:srgbClr val="1E293B"/>
                </a:solidFill>
                <a:latin typeface="Microsoft YaHei"/>
              </a:rPr>
              <a:t>生成碎片率在 10%~100% 的内存映射表（覆盖 16~1024 个离散物理块）。</a:t>
            </a:r>
          </a:p>
          <a:p>
            <a:pPr>
              <a:lnSpc>
                <a:spcPct val="120000"/>
              </a:lnSpc>
              <a:spcAft>
                <a:spcPts val="600"/>
              </a:spcAft>
            </a:pPr>
            <a:r>
              <a:rPr sz="1150" b="1">
                <a:solidFill>
                  <a:srgbClr val="1E3A8A"/>
                </a:solidFill>
                <a:latin typeface="Microsoft YaHei"/>
              </a:rPr>
              <a:t>• 编译器压测 (descriptor_compiler.cc)：</a:t>
            </a:r>
            <a:r>
              <a:rPr sz="1150">
                <a:solidFill>
                  <a:srgbClr val="1E293B"/>
                </a:solidFill>
                <a:latin typeface="Microsoft YaHei"/>
              </a:rPr>
              <a:t>运行贪心合并算法，测量合并后描述符的压缩比例与 CPU 提交耗时下降幅度。</a:t>
            </a:r>
          </a:p>
          <a:p>
            <a:pPr>
              <a:lnSpc>
                <a:spcPct val="120000"/>
              </a:lnSpc>
              <a:spcAft>
                <a:spcPts val="600"/>
              </a:spcAft>
            </a:pPr>
            <a:r>
              <a:rPr sz="1150" b="1">
                <a:solidFill>
                  <a:srgbClr val="1E3A8A"/>
                </a:solidFill>
                <a:latin typeface="Microsoft YaHei"/>
              </a:rPr>
              <a:t>• 异步流水压测 (async_dag_bench.cc)：</a:t>
            </a:r>
            <a:r>
              <a:rPr sz="1150">
                <a:solidFill>
                  <a:srgbClr val="1E293B"/>
                </a:solidFill>
                <a:latin typeface="Microsoft YaHei"/>
              </a:rPr>
              <a:t>模拟多 Layer 计算与传输并发执行，抓取 Timeline 性能时间线计算异步重叠比例。</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《描述符编译器耗时与压缩率表》、《CPU 控制面开销优化表》、《NPU 计算与传输异步重叠率分析及 Trace 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描述符压缩率：</a:t>
            </a:r>
            <a:r>
              <a:rPr sz="1150" b="1">
                <a:solidFill>
                  <a:srgbClr val="059669"/>
                </a:solidFill>
                <a:latin typeface="Microsoft YaHei"/>
              </a:rPr>
              <a:t>经连续物理块贪心合并后，提交给硬件的描述符数量减少 ≥ 50%</a:t>
            </a:r>
            <a:r>
              <a:rPr sz="1150">
                <a:solidFill>
                  <a:srgbClr val="1E293B"/>
                </a:solidFill>
                <a:latin typeface="Microsoft YaHei"/>
              </a:rPr>
              <a:t>；
</a:t>
            </a:r>
            <a:r>
              <a:rPr sz="1150" b="1">
                <a:solidFill>
                  <a:srgbClr val="1E293B"/>
                </a:solidFill>
                <a:latin typeface="Microsoft YaHei"/>
              </a:rPr>
              <a:t>2. CPU 提交开销：</a:t>
            </a:r>
            <a:r>
              <a:rPr sz="1150" b="1">
                <a:solidFill>
                  <a:srgbClr val="059669"/>
                </a:solidFill>
                <a:latin typeface="Microsoft YaHei"/>
              </a:rPr>
              <a:t>CPU 构造与提交描述符的耗时下降 ≥ 40%</a:t>
            </a:r>
            <a:r>
              <a:rPr sz="1150">
                <a:solidFill>
                  <a:srgbClr val="1E293B"/>
                </a:solidFill>
                <a:latin typeface="Microsoft YaHei"/>
              </a:rPr>
              <a:t>；
</a:t>
            </a:r>
            <a:r>
              <a:rPr sz="1150" b="1">
                <a:solidFill>
                  <a:srgbClr val="1E293B"/>
                </a:solidFill>
                <a:latin typeface="Microsoft YaHei"/>
              </a:rPr>
              <a:t>3. 计算与传输重叠：</a:t>
            </a:r>
            <a:r>
              <a:rPr sz="1150" b="1">
                <a:solidFill>
                  <a:srgbClr val="DC2626"/>
                </a:solidFill>
                <a:latin typeface="Microsoft YaHei"/>
              </a:rPr>
              <a:t>NPU 计算流与 DMA 传输流的异步重叠比例 (Overlap Ratio) ≥ 60%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PVT-02 跨框架描述符编译与异步流水：</a:t>
            </a:r>
            <a:r>
              <a:rPr sz="1150" b="1">
                <a:solidFill>
                  <a:srgbClr val="0F172A"/>
                </a:solidFill>
                <a:latin typeface="Microsoft YaHei"/>
              </a:rPr>
              <a:t>通过 64B 共享内存协议与贪心合并实现描述符数量 </a:t>
            </a:r>
            <a:r>
              <a:rPr sz="1150" b="1">
                <a:solidFill>
                  <a:srgbClr val="DC2626"/>
                </a:solidFill>
                <a:latin typeface="Microsoft YaHei"/>
              </a:rPr>
              <a:t>压缩 ≥50%</a:t>
            </a:r>
            <a:r>
              <a:rPr sz="1150" b="1">
                <a:solidFill>
                  <a:srgbClr val="0F172A"/>
                </a:solidFill>
                <a:latin typeface="Microsoft YaHei"/>
              </a:rPr>
              <a:t>、CPU 耗时 </a:t>
            </a:r>
            <a:r>
              <a:rPr sz="1150" b="1">
                <a:solidFill>
                  <a:srgbClr val="DC2626"/>
                </a:solidFill>
                <a:latin typeface="Microsoft YaHei"/>
              </a:rPr>
              <a:t>下降 ≥40%</a:t>
            </a:r>
            <a:r>
              <a:rPr sz="1150" b="1">
                <a:solidFill>
                  <a:srgbClr val="0F172A"/>
                </a:solidFill>
                <a:latin typeface="Microsoft YaHei"/>
              </a:rPr>
              <a:t>，NPU 计算与 DMA 传输达成 </a:t>
            </a:r>
            <a:r>
              <a:rPr sz="1150" b="1">
                <a:solidFill>
                  <a:srgbClr val="DC2626"/>
                </a:solidFill>
                <a:latin typeface="Microsoft YaHei"/>
              </a:rPr>
              <a:t>≥60% 异步重叠掩盖</a:t>
            </a:r>
            <a:r>
              <a:rPr sz="1150" b="1">
                <a:solidFill>
                  <a:srgbClr val="0F172A"/>
                </a:solidFill>
                <a:latin typeface="Microsoft YaHei"/>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PVT-03：远端内存直读与拷贝到显存适用边界及异常保护验证</a:t>
            </a:r>
          </a:p>
          <a:p>
            <a:pPr>
              <a:spcBef>
                <a:spcPts val="300"/>
              </a:spcBef>
              <a:defRPr sz="1100">
                <a:solidFill>
                  <a:srgbClr val="475569"/>
                </a:solidFill>
                <a:latin typeface="Microsoft YaHei"/>
              </a:defRPr>
            </a:pPr>
            <a:r>
              <a:t>测定 Direct-View（远端直读）与 Copy-to-HBM（拷贝到显存）的性能临界点，验证 ViewGuard 故障保护机制</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06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E1/E2 决策边界]</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业界常假设“直接读取远端节点内存（Direct-View）免除数据拷贝是最好的”。但在 Decode（逐字生成）阶段，NPU 需要反复读取远端内存上千次，每次总线往返时延会导致算力严重空等。</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1. </a:t>
            </a:r>
            <a:r>
              <a:rPr sz="1150" b="1">
                <a:solidFill>
                  <a:srgbClr val="DC2626"/>
                </a:solidFill>
                <a:latin typeface="Microsoft YaHei"/>
              </a:rPr>
              <a:t>实测明确：Decode 活跃阶段不适合远端直读（必须走拷贝到本地显存）</a:t>
            </a:r>
            <a:r>
              <a:rPr sz="1150">
                <a:solidFill>
                  <a:srgbClr val="1E293B"/>
                </a:solidFill>
                <a:latin typeface="Microsoft YaHei"/>
              </a:rPr>
              <a:t>；2. 精确测出 Prefill 阶段远端直读相比拷贝的适用边界公式；3. 验证 </a:t>
            </a:r>
            <a:r>
              <a:rPr sz="1150" b="1">
                <a:solidFill>
                  <a:srgbClr val="2563EB"/>
                </a:solidFill>
                <a:latin typeface="Microsoft YaHei"/>
              </a:rPr>
              <a:t>ViewGuard 租约失效或远端宕机时的异常安全回退</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指导调度算法在不同阶段选择最优读取方式，避免误用远端直读导致生成时延恶化，确保跨节点故障时 0 进程崩溃。</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统一编址映射：</a:t>
            </a:r>
            <a:r>
              <a:rPr sz="1150">
                <a:solidFill>
                  <a:srgbClr val="1E293B"/>
                </a:solidFill>
                <a:latin typeface="Microsoft YaHei"/>
              </a:rPr>
              <a:t>NPU SVM 跨总线虚拟内存映射与 UBMEM 共享内存。</a:t>
            </a:r>
          </a:p>
          <a:p>
            <a:pPr>
              <a:lnSpc>
                <a:spcPct val="120000"/>
              </a:lnSpc>
              <a:spcAft>
                <a:spcPts val="600"/>
              </a:spcAft>
            </a:pPr>
            <a:r>
              <a:rPr sz="1150" b="1">
                <a:solidFill>
                  <a:srgbClr val="1E3A8A"/>
                </a:solidFill>
                <a:latin typeface="Microsoft YaHei"/>
              </a:rPr>
              <a:t>• 异常捕获与恢复：</a:t>
            </a:r>
            <a:r>
              <a:rPr sz="1150">
                <a:solidFill>
                  <a:srgbClr val="1E293B"/>
                </a:solidFill>
                <a:latin typeface="Microsoft YaHei"/>
              </a:rPr>
              <a:t>注册信号处理函数捕获 </a:t>
            </a:r>
            <a:r>
              <a:rPr sz="1150" b="1">
                <a:solidFill>
                  <a:srgbClr val="1E3A8A"/>
                </a:solidFill>
                <a:latin typeface="Consolas"/>
              </a:rPr>
              <a:t>SIGBUS / SIGSEGV</a:t>
            </a:r>
            <a:r>
              <a:rPr sz="1150">
                <a:solidFill>
                  <a:srgbClr val="1E293B"/>
                </a:solidFill>
                <a:latin typeface="Microsoft YaHei"/>
              </a:rPr>
              <a:t> 信号，调用 CANN </a:t>
            </a:r>
            <a:r>
              <a:rPr sz="1150" b="1">
                <a:solidFill>
                  <a:srgbClr val="1E3A8A"/>
                </a:solidFill>
                <a:latin typeface="Consolas"/>
              </a:rPr>
              <a:t>aclrtStreamAbort</a:t>
            </a:r>
            <a:r>
              <a:rPr sz="1150">
                <a:solidFill>
                  <a:srgbClr val="1E293B"/>
                </a:solidFill>
                <a:latin typeface="Microsoft YaHei"/>
              </a:rPr>
              <a:t> 重置硬件队列，通过 </a:t>
            </a:r>
            <a:r>
              <a:rPr sz="1150" b="1">
                <a:solidFill>
                  <a:srgbClr val="1E3A8A"/>
                </a:solidFill>
                <a:latin typeface="Consolas"/>
              </a:rPr>
              <a:t>siglongjmp</a:t>
            </a:r>
            <a:r>
              <a:rPr sz="1150">
                <a:solidFill>
                  <a:srgbClr val="1E293B"/>
                </a:solidFill>
                <a:latin typeface="Microsoft YaHei"/>
              </a:rPr>
              <a:t> 恢复执行栈并安全回退到本地重算。</a:t>
            </a:r>
          </a:p>
          <a:p>
            <a:pPr>
              <a:lnSpc>
                <a:spcPct val="120000"/>
              </a:lnSpc>
              <a:spcAft>
                <a:spcPts val="600"/>
              </a:spcAft>
            </a:pPr>
            <a:r>
              <a:rPr sz="1150" b="1">
                <a:solidFill>
                  <a:srgbClr val="1E3A8A"/>
                </a:solidFill>
                <a:latin typeface="Microsoft YaHei"/>
              </a:rPr>
              <a:t>• 依赖库：</a:t>
            </a:r>
            <a:r>
              <a:rPr sz="1150">
                <a:solidFill>
                  <a:srgbClr val="1E3A8A"/>
                </a:solidFill>
                <a:latin typeface="Consolas"/>
              </a:rPr>
              <a:t>-lascendcl -lubmem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边界扫参测试 (view_vs_copy_bench.cc)：</a:t>
            </a:r>
            <a:r>
              <a:rPr sz="1150">
                <a:solidFill>
                  <a:srgbClr val="1E293B"/>
                </a:solidFill>
                <a:latin typeface="Microsoft YaHei"/>
              </a:rPr>
              <a:t>扫描重复读取次数 (1~2048) 与前缀数据量 (4KB~128MB)，测定两者耗时的交叉曲线。</a:t>
            </a:r>
          </a:p>
          <a:p>
            <a:pPr>
              <a:lnSpc>
                <a:spcPct val="120000"/>
              </a:lnSpc>
              <a:spcAft>
                <a:spcPts val="600"/>
              </a:spcAft>
            </a:pPr>
            <a:r>
              <a:rPr sz="1150" b="1">
                <a:solidFill>
                  <a:srgbClr val="1E3A8A"/>
                </a:solidFill>
                <a:latin typeface="Microsoft YaHei"/>
              </a:rPr>
              <a:t>• 推理场景对比 (benchmark_serving_view.py)：</a:t>
            </a:r>
            <a:r>
              <a:rPr sz="1150">
                <a:solidFill>
                  <a:srgbClr val="1E293B"/>
                </a:solidFill>
                <a:latin typeface="Microsoft YaHei"/>
              </a:rPr>
              <a:t>在大模型服务中对比 Decode 阶段远端直读与拷贝到本地显存对单 Token 生成时延（TPOT）的影响。</a:t>
            </a:r>
          </a:p>
          <a:p>
            <a:pPr>
              <a:lnSpc>
                <a:spcPct val="120000"/>
              </a:lnSpc>
              <a:spcAft>
                <a:spcPts val="600"/>
              </a:spcAft>
            </a:pPr>
            <a:r>
              <a:rPr sz="1150" b="1">
                <a:solidFill>
                  <a:srgbClr val="1E3A8A"/>
                </a:solidFill>
                <a:latin typeface="Microsoft YaHei"/>
              </a:rPr>
              <a:t>• 故障注入测试：</a:t>
            </a:r>
            <a:r>
              <a:rPr sz="1150">
                <a:solidFill>
                  <a:srgbClr val="1E293B"/>
                </a:solidFill>
                <a:latin typeface="Microsoft YaHei"/>
              </a:rPr>
              <a:t>模拟远端节点 Crash、网络断连与租约超时，触发总线错误，验证系统是否平滑回退。</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《直读与拷贝耗时交叉临界曲线表》、《Decode 阶段单Token生成时延对比表》、《故障注入安全回退记录表》。</a:t>
            </a:r>
          </a:p>
          <a:p>
            <a:pPr>
              <a:lnSpc>
                <a:spcPct val="120000"/>
              </a:lnSpc>
              <a:spcAft>
                <a:spcPts val="600"/>
              </a:spcAft>
            </a:pPr>
            <a:r>
              <a:rPr sz="1150" b="1">
                <a:solidFill>
                  <a:srgbClr val="1E3A8A"/>
                </a:solidFill>
                <a:latin typeface="Microsoft YaHei"/>
              </a:rPr>
              <a:t>• 判定达标要求 (Go/Conditional/No-Go)：</a:t>
            </a:r>
            <a:r>
              <a:rPr sz="1150" b="1">
                <a:solidFill>
                  <a:srgbClr val="1E293B"/>
                </a:solidFill>
                <a:latin typeface="Microsoft YaHei"/>
              </a:rPr>
              <a:t>1. 策略约束：</a:t>
            </a:r>
            <a:r>
              <a:rPr sz="1150" b="1">
                <a:solidFill>
                  <a:srgbClr val="DC2626"/>
                </a:solidFill>
                <a:latin typeface="Microsoft YaHei"/>
              </a:rPr>
              <a:t>Decode 活跃阶段强制禁止使用远端直读（100% 走拷贝到本地显存）</a:t>
            </a:r>
            <a:r>
              <a:rPr sz="1150">
                <a:solidFill>
                  <a:srgbClr val="1E293B"/>
                </a:solidFill>
                <a:latin typeface="Microsoft YaHei"/>
              </a:rPr>
              <a:t>；
</a:t>
            </a:r>
            <a:r>
              <a:rPr sz="1150" b="1">
                <a:solidFill>
                  <a:srgbClr val="1E293B"/>
                </a:solidFill>
                <a:latin typeface="Microsoft YaHei"/>
              </a:rPr>
              <a:t>2. 临界公式：</a:t>
            </a:r>
            <a:r>
              <a:rPr sz="1150" b="1">
                <a:solidFill>
                  <a:srgbClr val="2563EB"/>
                </a:solidFill>
                <a:latin typeface="Microsoft YaHei"/>
              </a:rPr>
              <a:t>给出 Prefill 阶段基于读取次数与数据量的精准判决数学公式</a:t>
            </a:r>
            <a:r>
              <a:rPr sz="1150">
                <a:solidFill>
                  <a:srgbClr val="1E293B"/>
                </a:solidFill>
                <a:latin typeface="Microsoft YaHei"/>
              </a:rPr>
              <a:t>；
</a:t>
            </a:r>
            <a:r>
              <a:rPr sz="1150" b="1">
                <a:solidFill>
                  <a:srgbClr val="1E293B"/>
                </a:solidFill>
                <a:latin typeface="Microsoft YaHei"/>
              </a:rPr>
              <a:t>3. 容错安全底线：</a:t>
            </a:r>
            <a:r>
              <a:rPr sz="1150" b="1">
                <a:solidFill>
                  <a:srgbClr val="059669"/>
                </a:solidFill>
                <a:latin typeface="Microsoft YaHei"/>
              </a:rPr>
              <a:t>远端故障或租约失效下：0 进程挂死、0 异常崩溃、100% 安全回退到本地算力重算</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PVT-03 远端直读边界与异常保护：</a:t>
            </a:r>
            <a:r>
              <a:rPr sz="1150" b="1">
                <a:solidFill>
                  <a:srgbClr val="0F172A"/>
                </a:solidFill>
                <a:latin typeface="Microsoft YaHei"/>
              </a:rPr>
              <a:t>实测明确</a:t>
            </a:r>
            <a:r>
              <a:rPr sz="1150" b="1">
                <a:solidFill>
                  <a:srgbClr val="DC2626"/>
                </a:solidFill>
                <a:latin typeface="Microsoft YaHei"/>
              </a:rPr>
              <a:t>Decode 活跃阶段禁止远端直读</a:t>
            </a:r>
            <a:r>
              <a:rPr sz="1150" b="1">
                <a:solidFill>
                  <a:srgbClr val="0F172A"/>
                </a:solidFill>
                <a:latin typeface="Microsoft YaHei"/>
              </a:rPr>
              <a:t>（强制走拷贝保护生成时延），界定 Prefill 直读临界公式，ViewGuard 实现 </a:t>
            </a:r>
            <a:r>
              <a:rPr sz="1150" b="1">
                <a:solidFill>
                  <a:srgbClr val="059669"/>
                </a:solidFill>
                <a:latin typeface="Microsoft YaHei"/>
              </a:rPr>
              <a:t>0 崩溃与 100% 安全回退</a:t>
            </a:r>
            <a:r>
              <a:rPr sz="1150" b="1">
                <a:solidFill>
                  <a:srgbClr val="0F172A"/>
                </a:solidFill>
                <a:latin typeface="Microsoft YaHe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PVT-04：微秒级动态调度决策引擎与成本预估模型验证</a:t>
            </a:r>
          </a:p>
          <a:p>
            <a:pPr>
              <a:spcBef>
                <a:spcPts val="300"/>
              </a:spcBef>
              <a:defRPr sz="1100">
                <a:solidFill>
                  <a:srgbClr val="475569"/>
                </a:solidFill>
                <a:latin typeface="Microsoft YaHei"/>
              </a:defRPr>
            </a:pPr>
            <a:r>
              <a:t>基于实时网络遥测与算力评估，在 P99&lt;5us 内做出最优调度决策，消除拉取慢于重算的负收益现象</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07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E2 调度决策]</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物理命中（找到缓存）不等于性能提升！当网络发生拥塞或复用的前缀极短时，强行从远端拉取 KV Cache 的耗时反而会超过本地重新计算的时间，产生“负收益”。</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QueryPlan 决策引擎能在极短时间（</a:t>
            </a:r>
            <a:r>
              <a:rPr sz="1150" b="1">
                <a:solidFill>
                  <a:srgbClr val="2563EB"/>
                </a:solidFill>
                <a:latin typeface="Microsoft YaHei"/>
              </a:rPr>
              <a:t>P99 &lt; 5µs</a:t>
            </a:r>
            <a:r>
              <a:rPr sz="1150">
                <a:solidFill>
                  <a:srgbClr val="1E293B"/>
                </a:solidFill>
                <a:latin typeface="Microsoft YaHei"/>
              </a:rPr>
              <a:t>）内评估传输成本与算力成本，给出最优动作（直连/拉取/分层换入/本地重算）；验证 </a:t>
            </a:r>
            <a:r>
              <a:rPr sz="1150" b="1">
                <a:solidFill>
                  <a:srgbClr val="059669"/>
                </a:solidFill>
                <a:latin typeface="Microsoft YaHei"/>
              </a:rPr>
              <a:t>CostEvaluator 成本预估准确率 ≥90%</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支撑 E2 阶段调度决策能力，确保每次调度都能带来正向加速，负收益发生率严格控制在 1% 以内。</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实时遥测组件：</a:t>
            </a:r>
            <a:r>
              <a:rPr sz="1150">
                <a:solidFill>
                  <a:srgbClr val="1E293B"/>
                </a:solidFill>
                <a:latin typeface="Microsoft YaHei"/>
              </a:rPr>
              <a:t>运行 100Hz 独立后台轻量线程，通过滑动窗口（EWMA）实时采集网络带宽、时延与排队深度。</a:t>
            </a:r>
          </a:p>
          <a:p>
            <a:pPr>
              <a:lnSpc>
                <a:spcPct val="120000"/>
              </a:lnSpc>
              <a:spcAft>
                <a:spcPts val="600"/>
              </a:spcAft>
            </a:pPr>
            <a:r>
              <a:rPr sz="1150" b="1">
                <a:solidFill>
                  <a:srgbClr val="1E3A8A"/>
                </a:solidFill>
                <a:latin typeface="Microsoft YaHei"/>
              </a:rPr>
              <a:t>• 缓存行隔离优化：</a:t>
            </a:r>
            <a:r>
              <a:rPr sz="1150">
                <a:solidFill>
                  <a:srgbClr val="1E293B"/>
                </a:solidFill>
                <a:latin typeface="Microsoft YaHei"/>
              </a:rPr>
              <a:t>关键遥测与状态结构体显式声明 64 字节对齐 </a:t>
            </a:r>
            <a:r>
              <a:rPr sz="1150" b="1">
                <a:solidFill>
                  <a:srgbClr val="1E3A8A"/>
                </a:solidFill>
                <a:latin typeface="Consolas"/>
              </a:rPr>
              <a:t>alignas(64)</a:t>
            </a:r>
            <a:r>
              <a:rPr sz="1150">
                <a:solidFill>
                  <a:srgbClr val="1E293B"/>
                </a:solidFill>
                <a:latin typeface="Microsoft YaHei"/>
              </a:rPr>
              <a:t>，避免多核 CPU 并发访问时产生伪共享（False Sharing）引发时延抖动。</a:t>
            </a:r>
          </a:p>
          <a:p>
            <a:pPr>
              <a:lnSpc>
                <a:spcPct val="120000"/>
              </a:lnSpc>
              <a:spcAft>
                <a:spcPts val="600"/>
              </a:spcAft>
            </a:pPr>
            <a:r>
              <a:rPr sz="1150" b="1">
                <a:solidFill>
                  <a:srgbClr val="1E3A8A"/>
                </a:solidFill>
                <a:latin typeface="Microsoft YaHei"/>
              </a:rPr>
              <a:t>• 运行环境：</a:t>
            </a:r>
            <a:r>
              <a:rPr sz="1150">
                <a:solidFill>
                  <a:srgbClr val="1E293B"/>
                </a:solidFill>
                <a:latin typeface="Microsoft YaHei"/>
              </a:rPr>
              <a:t>标准 Linux 6.6+，POSIX 共享内存，</a:t>
            </a:r>
            <a:r>
              <a:rPr sz="1150">
                <a:solidFill>
                  <a:srgbClr val="1E3A8A"/>
                </a:solidFill>
                <a:latin typeface="Consolas"/>
              </a:rPr>
              <a:t>g++ -O3 -march=native -lpthread</a:t>
            </a:r>
            <a:r>
              <a:rPr sz="1150">
                <a:solidFill>
                  <a:srgbClr val="1E293B"/>
                </a:solidFill>
                <a:latin typeface="Microsoft YaHei"/>
              </a:rPr>
              <a:t>。</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高并发压测 (query_plan_bench.cc)：</a:t>
            </a:r>
            <a:r>
              <a:rPr sz="1150">
                <a:solidFill>
                  <a:srgbClr val="1E293B"/>
                </a:solidFill>
                <a:latin typeface="Microsoft YaHei"/>
              </a:rPr>
              <a:t>模拟 10 万 QPS 并发查询，输入不同前缀长度 (16~128K)、SLA Deadline 与网络拥塞矩阵。</a:t>
            </a:r>
          </a:p>
          <a:p>
            <a:pPr>
              <a:lnSpc>
                <a:spcPct val="120000"/>
              </a:lnSpc>
              <a:spcAft>
                <a:spcPts val="600"/>
              </a:spcAft>
            </a:pPr>
            <a:r>
              <a:rPr sz="1150" b="1">
                <a:solidFill>
                  <a:srgbClr val="1E3A8A"/>
                </a:solidFill>
                <a:latin typeface="Microsoft YaHei"/>
              </a:rPr>
              <a:t>• 反事实对账测试：</a:t>
            </a:r>
            <a:r>
              <a:rPr sz="1150">
                <a:solidFill>
                  <a:srgbClr val="1E293B"/>
                </a:solidFill>
                <a:latin typeface="Microsoft YaHei"/>
              </a:rPr>
              <a:t>对同一批请求同时执行“选中的策略”与“相反的策略”，记录实际执行时间，检验决策是否确实是最优解。</a:t>
            </a:r>
          </a:p>
          <a:p>
            <a:pPr>
              <a:lnSpc>
                <a:spcPct val="120000"/>
              </a:lnSpc>
              <a:spcAft>
                <a:spcPts val="600"/>
              </a:spcAft>
            </a:pPr>
            <a:r>
              <a:rPr sz="1150" b="1">
                <a:solidFill>
                  <a:srgbClr val="1E3A8A"/>
                </a:solidFill>
                <a:latin typeface="Microsoft YaHei"/>
              </a:rPr>
              <a:t>• 极端拥塞注入：</a:t>
            </a:r>
            <a:r>
              <a:rPr sz="1150">
                <a:solidFill>
                  <a:srgbClr val="1E293B"/>
                </a:solidFill>
                <a:latin typeface="Microsoft YaHei"/>
              </a:rPr>
              <a:t>注入 800G 网络 90% 拥塞与 &lt;64 tokens 短前缀场景，验证负收益请求拦截率。</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《QueryPlan 决策耗时分位表 (P50/P90/P99)》、《成本预估 vs 真实耗时对账表》、《负收益拦截率统计表》。</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决策耗时门禁：</a:t>
            </a:r>
            <a:r>
              <a:rPr sz="1150" b="1">
                <a:solidFill>
                  <a:srgbClr val="DC2626"/>
                </a:solidFill>
                <a:latin typeface="Microsoft YaHei"/>
              </a:rPr>
              <a:t>在 10 万 QPS 高并发查询下，单次决策耗时 P99 &lt; 5µs</a:t>
            </a:r>
            <a:r>
              <a:rPr sz="1150">
                <a:solidFill>
                  <a:srgbClr val="1E293B"/>
                </a:solidFill>
                <a:latin typeface="Microsoft YaHei"/>
              </a:rPr>
              <a:t>；
</a:t>
            </a:r>
            <a:r>
              <a:rPr sz="1150" b="1">
                <a:solidFill>
                  <a:srgbClr val="1E293B"/>
                </a:solidFill>
                <a:latin typeface="Microsoft YaHei"/>
              </a:rPr>
              <a:t>2. 成本预测精度：</a:t>
            </a:r>
            <a:r>
              <a:rPr sz="1150" b="1">
                <a:solidFill>
                  <a:srgbClr val="059669"/>
                </a:solidFill>
                <a:latin typeface="Microsoft YaHei"/>
              </a:rPr>
              <a:t>成本预估误差 MAPE &lt; 20%，调度动作准确率 ≥ 90%</a:t>
            </a:r>
            <a:r>
              <a:rPr sz="1150">
                <a:solidFill>
                  <a:srgbClr val="1E293B"/>
                </a:solidFill>
                <a:latin typeface="Microsoft YaHei"/>
              </a:rPr>
              <a:t>；
</a:t>
            </a:r>
            <a:r>
              <a:rPr sz="1150" b="1">
                <a:solidFill>
                  <a:srgbClr val="1E293B"/>
                </a:solidFill>
                <a:latin typeface="Microsoft YaHei"/>
              </a:rPr>
              <a:t>3. 负收益控制：</a:t>
            </a:r>
            <a:r>
              <a:rPr sz="1150" b="1">
                <a:solidFill>
                  <a:srgbClr val="DC2626"/>
                </a:solidFill>
                <a:latin typeface="Microsoft YaHei"/>
              </a:rPr>
              <a:t>误选了远端拉取但实际慢于本地重算的“负收益发生率”严格 &lt; 1%</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PVT-04 微秒级动态决策与负收益消除：</a:t>
            </a:r>
            <a:r>
              <a:rPr sz="1150" b="1">
                <a:solidFill>
                  <a:srgbClr val="0F172A"/>
                </a:solidFill>
                <a:latin typeface="Microsoft YaHei"/>
              </a:rPr>
              <a:t>在 10 万 QPS 并发下达成 </a:t>
            </a:r>
            <a:r>
              <a:rPr sz="1150" b="1">
                <a:solidFill>
                  <a:srgbClr val="DC2626"/>
                </a:solidFill>
                <a:latin typeface="Microsoft YaHei"/>
              </a:rPr>
              <a:t>P99 &lt; 5µs 决策时延</a:t>
            </a:r>
            <a:r>
              <a:rPr sz="1150" b="1">
                <a:solidFill>
                  <a:srgbClr val="0F172A"/>
                </a:solidFill>
                <a:latin typeface="Microsoft YaHei"/>
              </a:rPr>
              <a:t> 与 </a:t>
            </a:r>
            <a:r>
              <a:rPr sz="1150" b="1">
                <a:solidFill>
                  <a:srgbClr val="DC2626"/>
                </a:solidFill>
                <a:latin typeface="Microsoft YaHei"/>
              </a:rPr>
              <a:t>≥90% 决策准确率</a:t>
            </a:r>
            <a:r>
              <a:rPr sz="1150" b="1">
                <a:solidFill>
                  <a:srgbClr val="0F172A"/>
                </a:solidFill>
                <a:latin typeface="Microsoft YaHei"/>
              </a:rPr>
              <a:t>，将负收益发生率控制在 </a:t>
            </a:r>
            <a:r>
              <a:rPr sz="1150" b="1">
                <a:solidFill>
                  <a:srgbClr val="059669"/>
                </a:solidFill>
                <a:latin typeface="Microsoft YaHei"/>
              </a:rPr>
              <a:t>严格 &lt;1%</a:t>
            </a:r>
            <a:r>
              <a:rPr sz="1150" b="1">
                <a:solidFill>
                  <a:srgbClr val="0F172A"/>
                </a:solidFill>
                <a:latin typeface="Microsoft YaHei"/>
              </a:rPr>
              <a:t>，达到阶段 E2 调度要求。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PVT-05：显存-SSD 直达存储扩展与内存分层机制验证</a:t>
            </a:r>
          </a:p>
          <a:p>
            <a:pPr>
              <a:spcBef>
                <a:spcPts val="300"/>
              </a:spcBef>
              <a:defRPr sz="1100">
                <a:solidFill>
                  <a:srgbClr val="475569"/>
                </a:solidFill>
                <a:latin typeface="Microsoft YaHei"/>
              </a:defRPr>
            </a:pPr>
            <a:r>
              <a:t>验证 150% 显存超载下服务容量提升≥30%、OOM 下降≥50%，数据传输完全绕过主机内存</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08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E2/E3 容量扩展]</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NPU 显存容量昂贵且有限，长文本并发推理时极易发生显存不足（OOM），导致请求被中断或重新计算；若经由主机内存（Host DDR）中转，会占用大量 CPU 资源与内存带宽。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a:t>
            </a:r>
            <a:r>
              <a:rPr sz="1150" b="1">
                <a:solidFill>
                  <a:srgbClr val="2563EB"/>
                </a:solidFill>
                <a:latin typeface="Microsoft YaHei"/>
              </a:rPr>
              <a:t>NPU 显存与 NVMe SSD 之间的直达读写通路</a:t>
            </a:r>
            <a:r>
              <a:rPr sz="1150">
                <a:solidFill>
                  <a:srgbClr val="1E293B"/>
                </a:solidFill>
                <a:latin typeface="Microsoft YaHei"/>
              </a:rPr>
              <a:t>；在 130%~200% 显存超载压力下验证系统并发承载容量；证明 </a:t>
            </a:r>
            <a:r>
              <a:rPr sz="1150" b="1">
                <a:solidFill>
                  <a:srgbClr val="DC2626"/>
                </a:solidFill>
                <a:latin typeface="Microsoft YaHei"/>
              </a:rPr>
              <a:t>数据传输完全绕过主机内存</a:t>
            </a:r>
            <a:r>
              <a:rPr sz="1150">
                <a:solidFill>
                  <a:srgbClr val="1E293B"/>
                </a:solidFill>
                <a:latin typeface="Microsoft YaHei"/>
              </a:rPr>
              <a:t>（DDR 仅存放元数据）。</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支撑 E2/E3 阶段的容量扩展，提升系统对长文本大并发请求的承载能力，降低显存硬件成本。</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存储介质：</a:t>
            </a:r>
            <a:r>
              <a:rPr sz="1150">
                <a:solidFill>
                  <a:srgbClr val="1E293B"/>
                </a:solidFill>
                <a:latin typeface="Microsoft YaHei"/>
              </a:rPr>
              <a:t>每台服务器配置 4 块 NVMe PCIe Gen5 SSD 盘组（标称顺序读带宽 28GB/s），8 张 NPU (96GB 显存)。</a:t>
            </a:r>
          </a:p>
          <a:p>
            <a:pPr>
              <a:lnSpc>
                <a:spcPct val="120000"/>
              </a:lnSpc>
              <a:spcAft>
                <a:spcPts val="600"/>
              </a:spcAft>
            </a:pPr>
            <a:r>
              <a:rPr sz="1150" b="1">
                <a:solidFill>
                  <a:srgbClr val="1E3A8A"/>
                </a:solidFill>
                <a:latin typeface="Microsoft YaHei"/>
              </a:rPr>
              <a:t>• 驱动与访问方式：</a:t>
            </a:r>
            <a:r>
              <a:rPr sz="1150">
                <a:solidFill>
                  <a:srgbClr val="1E293B"/>
                </a:solidFill>
                <a:latin typeface="Microsoft YaHei"/>
              </a:rPr>
              <a:t>Linux 6.6+ 内核 </a:t>
            </a:r>
            <a:r>
              <a:rPr sz="1150" b="1">
                <a:solidFill>
                  <a:srgbClr val="1E3A8A"/>
                </a:solidFill>
                <a:latin typeface="Consolas"/>
              </a:rPr>
              <a:t>io_uring + O_DIRECT</a:t>
            </a:r>
            <a:r>
              <a:rPr sz="1150">
                <a:solidFill>
                  <a:srgbClr val="1E293B"/>
                </a:solidFill>
                <a:latin typeface="Microsoft YaHei"/>
              </a:rPr>
              <a:t>（直接 I/O）裸盘读写，</a:t>
            </a:r>
            <a:r>
              <a:rPr sz="1150" b="1">
                <a:solidFill>
                  <a:srgbClr val="1E3A8A"/>
                </a:solidFill>
                <a:latin typeface="Consolas"/>
              </a:rPr>
              <a:t>TierBlockAllocator</a:t>
            </a:r>
            <a:r>
              <a:rPr sz="1150">
                <a:solidFill>
                  <a:srgbClr val="1E293B"/>
                </a:solidFill>
                <a:latin typeface="Microsoft YaHei"/>
              </a:rPr>
              <a:t> 实现 4KB 扇区物理 LBA 严格对齐分配。</a:t>
            </a:r>
          </a:p>
          <a:p>
            <a:pPr>
              <a:lnSpc>
                <a:spcPct val="120000"/>
              </a:lnSpc>
              <a:spcAft>
                <a:spcPts val="600"/>
              </a:spcAft>
            </a:pPr>
            <a:r>
              <a:rPr sz="1150" b="1">
                <a:solidFill>
                  <a:srgbClr val="1E3A8A"/>
                </a:solidFill>
                <a:latin typeface="Microsoft YaHei"/>
              </a:rPr>
              <a:t>• 依赖库：</a:t>
            </a:r>
            <a:r>
              <a:rPr sz="1150">
                <a:solidFill>
                  <a:srgbClr val="1E3A8A"/>
                </a:solidFill>
                <a:latin typeface="Consolas"/>
              </a:rPr>
              <a:t>-luring -lascendcl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显存超载压力生成 (benchmark_tiering.py)：</a:t>
            </a:r>
            <a:r>
              <a:rPr sz="1150">
                <a:solidFill>
                  <a:srgbClr val="1E293B"/>
                </a:solidFill>
                <a:latin typeface="Microsoft YaHei"/>
              </a:rPr>
              <a:t>注入达到系统额定显存 130%、150%、180%、200% 的长文本突发请求序列。</a:t>
            </a:r>
          </a:p>
          <a:p>
            <a:pPr>
              <a:lnSpc>
                <a:spcPct val="120000"/>
              </a:lnSpc>
              <a:spcAft>
                <a:spcPts val="600"/>
              </a:spcAft>
            </a:pPr>
            <a:r>
              <a:rPr sz="1150" b="1">
                <a:solidFill>
                  <a:srgbClr val="1E3A8A"/>
                </a:solidFill>
                <a:latin typeface="Microsoft YaHei"/>
              </a:rPr>
              <a:t>• 介质性能压测 (tier_storage_bench.cc)：</a:t>
            </a:r>
            <a:r>
              <a:rPr sz="1150">
                <a:solidFill>
                  <a:srgbClr val="1E293B"/>
                </a:solidFill>
                <a:latin typeface="Microsoft YaHei"/>
              </a:rPr>
              <a:t>测试 4KB~16MB 块大小下，SSD 裸盘读写、主机内存中转对比组以及显存直达换入换出的带宽。</a:t>
            </a:r>
          </a:p>
          <a:p>
            <a:pPr>
              <a:lnSpc>
                <a:spcPct val="120000"/>
              </a:lnSpc>
              <a:spcAft>
                <a:spcPts val="600"/>
              </a:spcAft>
            </a:pPr>
            <a:r>
              <a:rPr sz="1150" b="1">
                <a:solidFill>
                  <a:srgbClr val="1E3A8A"/>
                </a:solidFill>
                <a:latin typeface="Microsoft YaHei"/>
              </a:rPr>
              <a:t>• 驱逐率统计：</a:t>
            </a:r>
            <a:r>
              <a:rPr sz="1150">
                <a:solidFill>
                  <a:srgbClr val="1E293B"/>
                </a:solidFill>
                <a:latin typeface="Microsoft YaHei"/>
              </a:rPr>
              <a:t>统计显存超载场景下，请求被中断驱逐（Preemption）的比例与 OOM 发生次数。</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《显存与 SSD 直达读写带宽表》、《显存超载下分层扩容与 OOM 对比表》、《主机内存绕行监控报告》。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直达带宽达成率：</a:t>
            </a:r>
            <a:r>
              <a:rPr sz="1150" b="1">
                <a:solidFill>
                  <a:srgbClr val="059669"/>
                </a:solidFill>
                <a:latin typeface="Microsoft YaHei"/>
              </a:rPr>
              <a:t>显存与 SSD 之间的直达传输带宽达到 SSD 物理裸盘峰值的 ≥ 80%</a:t>
            </a:r>
            <a:r>
              <a:rPr sz="1150">
                <a:solidFill>
                  <a:srgbClr val="1E293B"/>
                </a:solidFill>
                <a:latin typeface="Microsoft YaHei"/>
              </a:rPr>
              <a:t>；
</a:t>
            </a:r>
            <a:r>
              <a:rPr sz="1150" b="1">
                <a:solidFill>
                  <a:srgbClr val="1E293B"/>
                </a:solidFill>
                <a:latin typeface="Microsoft YaHei"/>
              </a:rPr>
              <a:t>2. 超载容量提升：</a:t>
            </a:r>
            <a:r>
              <a:rPr sz="1150" b="1">
                <a:solidFill>
                  <a:srgbClr val="DC2626"/>
                </a:solidFill>
                <a:latin typeface="Microsoft YaHei"/>
              </a:rPr>
              <a:t>在 150% 显存超载压力下，系统有效服务的 Token 吞吐容量提升 ≥ 30%</a:t>
            </a:r>
            <a:r>
              <a:rPr sz="1150">
                <a:solidFill>
                  <a:srgbClr val="1E293B"/>
                </a:solidFill>
                <a:latin typeface="Microsoft YaHei"/>
              </a:rPr>
              <a:t>；
</a:t>
            </a:r>
            <a:r>
              <a:rPr sz="1150" b="1">
                <a:solidFill>
                  <a:srgbClr val="1E293B"/>
                </a:solidFill>
                <a:latin typeface="Microsoft YaHei"/>
              </a:rPr>
              <a:t>3. 异常驱逐下降：</a:t>
            </a:r>
            <a:r>
              <a:rPr sz="1150" b="1">
                <a:solidFill>
                  <a:srgbClr val="DC2626"/>
                </a:solidFill>
                <a:latin typeface="Microsoft YaHei"/>
              </a:rPr>
              <a:t>显存超载引发的 OOM 与请求中断驱逐率下降 ≥ 50%</a:t>
            </a:r>
            <a:r>
              <a:rPr sz="1150">
                <a:solidFill>
                  <a:srgbClr val="1E293B"/>
                </a:solidFill>
                <a:latin typeface="Microsoft YaHei"/>
              </a:rPr>
              <a:t>；
</a:t>
            </a:r>
            <a:r>
              <a:rPr sz="1150" b="1">
                <a:solidFill>
                  <a:srgbClr val="1E293B"/>
                </a:solidFill>
                <a:latin typeface="Microsoft YaHei"/>
              </a:rPr>
              <a:t>4. 内存绕行要求：</a:t>
            </a:r>
            <a:r>
              <a:rPr sz="1150" b="1">
                <a:solidFill>
                  <a:srgbClr val="2563EB"/>
                </a:solidFill>
                <a:latin typeface="Microsoft YaHei"/>
              </a:rPr>
              <a:t>数据搬运过程完全绕过主机内存（Host CPU 零拷贝）</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PVT-05 分层容量扩展与超载承载：</a:t>
            </a:r>
            <a:r>
              <a:rPr sz="1150" b="1">
                <a:solidFill>
                  <a:srgbClr val="0F172A"/>
                </a:solidFill>
                <a:latin typeface="Microsoft YaHei"/>
              </a:rPr>
              <a:t>确立显存与 SSD 直达通路并完全绕过主机内存，在 150% 超载下实现 </a:t>
            </a:r>
            <a:r>
              <a:rPr sz="1150" b="1">
                <a:solidFill>
                  <a:srgbClr val="DC2626"/>
                </a:solidFill>
                <a:latin typeface="Microsoft YaHei"/>
              </a:rPr>
              <a:t>容量提升 ≥30%</a:t>
            </a:r>
            <a:r>
              <a:rPr sz="1150" b="1">
                <a:solidFill>
                  <a:srgbClr val="0F172A"/>
                </a:solidFill>
                <a:latin typeface="Microsoft YaHei"/>
              </a:rPr>
              <a:t>、</a:t>
            </a:r>
            <a:r>
              <a:rPr sz="1150" b="1">
                <a:solidFill>
                  <a:srgbClr val="DC2626"/>
                </a:solidFill>
                <a:latin typeface="Microsoft YaHei"/>
              </a:rPr>
              <a:t>OOM 降低 ≥50%</a:t>
            </a:r>
            <a:r>
              <a:rPr sz="1150" b="1">
                <a:solidFill>
                  <a:srgbClr val="0F172A"/>
                </a:solidFill>
                <a:latin typeface="Microsoft YaHei"/>
              </a:rPr>
              <a:t>，直达带宽达到 </a:t>
            </a:r>
            <a:r>
              <a:rPr sz="1150" b="1">
                <a:solidFill>
                  <a:srgbClr val="059669"/>
                </a:solidFill>
                <a:latin typeface="Microsoft YaHei"/>
              </a:rPr>
              <a:t>裸盘峰值 ≥80%</a:t>
            </a:r>
            <a:r>
              <a:rPr sz="1150" b="1">
                <a:solidFill>
                  <a:srgbClr val="0F172A"/>
                </a:solidFill>
                <a:latin typeface="Microsoft YaHei"/>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PVT-06：KV 缓存可消费语义校验与多卡状态同步验证</a:t>
            </a:r>
          </a:p>
          <a:p>
            <a:pPr>
              <a:spcBef>
                <a:spcPts val="300"/>
              </a:spcBef>
              <a:defRPr sz="1100">
                <a:solidFill>
                  <a:srgbClr val="475569"/>
                </a:solidFill>
                <a:latin typeface="Microsoft YaHei"/>
              </a:defRPr>
            </a:pPr>
            <a:r>
              <a:t>基于 xxHash64 进行 6 维语义校验防止误用，张量并行(TP=8)多卡状态同步耗时 P99&lt;100us</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09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E1 正确性保障]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物理上找到 KV 缓存不代表可以安全使用！若拉取的 KV 来自不同模型版本、Tokenizer 分词规则变动或对话模板不一致，强行使用会导致模型输出乱码；多卡并行下若状态不同步还会引发死锁。</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6 维元数据语义校验机制，在发生冲突时准确拦截（</a:t>
            </a:r>
            <a:r>
              <a:rPr sz="1150" b="1">
                <a:solidFill>
                  <a:srgbClr val="DC2626"/>
                </a:solidFill>
                <a:latin typeface="Microsoft YaHei"/>
              </a:rPr>
              <a:t>0 错误/过期/不匹配消费</a:t>
            </a:r>
            <a:r>
              <a:rPr sz="1150">
                <a:solidFill>
                  <a:srgbClr val="1E293B"/>
                </a:solidFill>
                <a:latin typeface="Microsoft YaHei"/>
              </a:rPr>
              <a:t>）；验证张量并行（</a:t>
            </a:r>
            <a:r>
              <a:rPr sz="1150" b="1">
                <a:solidFill>
                  <a:srgbClr val="2563EB"/>
                </a:solidFill>
                <a:latin typeface="Microsoft YaHei"/>
              </a:rPr>
              <a:t>TP=8 多卡状态同步耗时 P99 &lt; 100µs</a:t>
            </a:r>
            <a:r>
              <a:rPr sz="1150">
                <a:solidFill>
                  <a:srgbClr val="1E293B"/>
                </a:solidFill>
                <a:latin typeface="Microsoft YaHei"/>
              </a:rPr>
              <a:t>）以及协同安全回退机制。</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确保分布式并行加速下模型输出内容的 100% 逻辑正确性，杜绝多卡死锁，守住功能正确性底线。</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校验算法：</a:t>
            </a:r>
            <a:r>
              <a:rPr sz="1150">
                <a:solidFill>
                  <a:srgbClr val="1E293B"/>
                </a:solidFill>
                <a:latin typeface="Microsoft YaHei"/>
              </a:rPr>
              <a:t>统一采用 64 位高效哈希算法 </a:t>
            </a:r>
            <a:r>
              <a:rPr sz="1150" b="1">
                <a:solidFill>
                  <a:srgbClr val="1E3A8A"/>
                </a:solidFill>
                <a:latin typeface="Consolas"/>
              </a:rPr>
              <a:t>xxHash64 (XXH64)</a:t>
            </a:r>
            <a:r>
              <a:rPr sz="1150">
                <a:solidFill>
                  <a:srgbClr val="1E293B"/>
                </a:solidFill>
                <a:latin typeface="Microsoft YaHei"/>
              </a:rPr>
              <a:t> 对 Tokenizer 分词表与 ChatTemplate 对话模板进行哈希校验，模型名称规范化匹配。</a:t>
            </a:r>
          </a:p>
          <a:p>
            <a:pPr>
              <a:lnSpc>
                <a:spcPct val="120000"/>
              </a:lnSpc>
              <a:spcAft>
                <a:spcPts val="600"/>
              </a:spcAft>
            </a:pPr>
            <a:r>
              <a:rPr sz="1150" b="1">
                <a:solidFill>
                  <a:srgbClr val="1E3A8A"/>
                </a:solidFill>
                <a:latin typeface="Microsoft YaHei"/>
              </a:rPr>
              <a:t>• 多卡状态同步：</a:t>
            </a:r>
            <a:r>
              <a:rPr sz="1150">
                <a:solidFill>
                  <a:srgbClr val="1E293B"/>
                </a:solidFill>
                <a:latin typeface="Microsoft YaHei"/>
              </a:rPr>
              <a:t>在 Linux 共享内存（</a:t>
            </a:r>
            <a:r>
              <a:rPr sz="1150" b="1">
                <a:solidFill>
                  <a:srgbClr val="1E3A8A"/>
                </a:solidFill>
                <a:latin typeface="Consolas"/>
              </a:rPr>
              <a:t>/dev/shm</a:t>
            </a:r>
            <a:r>
              <a:rPr sz="1150">
                <a:solidFill>
                  <a:srgbClr val="1E293B"/>
                </a:solidFill>
                <a:latin typeface="Microsoft YaHei"/>
              </a:rPr>
              <a:t>）或 UBMEM 维护 8 卡就绪状态位图（VisibilityReadyBitmap），利用原子位操作与通信屏障实现纳秒级同步。</a:t>
            </a:r>
          </a:p>
          <a:p>
            <a:pPr>
              <a:lnSpc>
                <a:spcPct val="120000"/>
              </a:lnSpc>
              <a:spcAft>
                <a:spcPts val="600"/>
              </a:spcAft>
            </a:pPr>
            <a:r>
              <a:rPr sz="1150" b="1">
                <a:solidFill>
                  <a:srgbClr val="1E3A8A"/>
                </a:solidFill>
                <a:latin typeface="Microsoft YaHei"/>
              </a:rPr>
              <a:t>• 依赖库：</a:t>
            </a:r>
            <a:r>
              <a:rPr sz="1150">
                <a:solidFill>
                  <a:srgbClr val="1E3A8A"/>
                </a:solidFill>
                <a:latin typeface="Consolas"/>
              </a:rPr>
              <a:t>-lxxhash -lascendcl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8大语义冲突注入 (test_correctness.py)：</a:t>
            </a:r>
            <a:r>
              <a:rPr sz="1150">
                <a:solidFill>
                  <a:srgbClr val="1E293B"/>
                </a:solidFill>
                <a:latin typeface="Microsoft YaHei"/>
              </a:rPr>
              <a:t>主动注入模型版本不符、分词规则变动、Prompt 模板差异、LoRA 错位、租约到期、写入未完成、数据损坏与多卡状态分歧 8 类异常。</a:t>
            </a:r>
          </a:p>
          <a:p>
            <a:pPr>
              <a:lnSpc>
                <a:spcPct val="120000"/>
              </a:lnSpc>
              <a:spcAft>
                <a:spcPts val="600"/>
              </a:spcAft>
            </a:pPr>
            <a:r>
              <a:rPr sz="1150" b="1">
                <a:solidFill>
                  <a:srgbClr val="1E3A8A"/>
                </a:solidFill>
                <a:latin typeface="Microsoft YaHei"/>
              </a:rPr>
              <a:t>• 多卡同步测试 (rank_consensus_bench.cc)：</a:t>
            </a:r>
            <a:r>
              <a:rPr sz="1150">
                <a:solidFill>
                  <a:srgbClr val="1E293B"/>
                </a:solidFill>
                <a:latin typeface="Microsoft YaHei"/>
              </a:rPr>
              <a:t>模拟 TP=8 并发下 8 张卡的状态判定与单卡丢包扰动，测量微秒级状态确认耗时。</a:t>
            </a:r>
          </a:p>
          <a:p>
            <a:pPr>
              <a:lnSpc>
                <a:spcPct val="120000"/>
              </a:lnSpc>
              <a:spcAft>
                <a:spcPts val="600"/>
              </a:spcAft>
            </a:pPr>
            <a:r>
              <a:rPr sz="1150" b="1">
                <a:solidFill>
                  <a:srgbClr val="1E3A8A"/>
                </a:solidFill>
                <a:latin typeface="Microsoft YaHei"/>
              </a:rPr>
              <a:t>• 文本输出校验：</a:t>
            </a:r>
            <a:r>
              <a:rPr sz="1150">
                <a:solidFill>
                  <a:srgbClr val="1E293B"/>
                </a:solidFill>
                <a:latin typeface="Microsoft YaHei"/>
              </a:rPr>
              <a:t>命中缓存后生成的文本结果与本地完全重新计算的结果进行逐字比对，确保 100% 一致。</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《8 大语义冲突注入拦截测试表》、《TP=8 多卡状态同步时延表》、《多卡分歧协同回退验证报告》。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校验准确率：</a:t>
            </a:r>
            <a:r>
              <a:rPr sz="1150" b="1">
                <a:solidFill>
                  <a:srgbClr val="DC2626"/>
                </a:solidFill>
                <a:latin typeface="Microsoft YaHei"/>
              </a:rPr>
              <a:t>在 8 类冲突注入下，错误/过期/不匹配的缓存被 100% 拦截（错误消费数严格 = 0）</a:t>
            </a:r>
            <a:r>
              <a:rPr sz="1150">
                <a:solidFill>
                  <a:srgbClr val="1E293B"/>
                </a:solidFill>
                <a:latin typeface="Microsoft YaHei"/>
              </a:rPr>
              <a:t>；
</a:t>
            </a:r>
            <a:r>
              <a:rPr sz="1150" b="1">
                <a:solidFill>
                  <a:srgbClr val="1E293B"/>
                </a:solidFill>
                <a:latin typeface="Microsoft YaHei"/>
              </a:rPr>
              <a:t>2. 多卡同步时延：</a:t>
            </a:r>
            <a:r>
              <a:rPr sz="1150" b="1">
                <a:solidFill>
                  <a:srgbClr val="059669"/>
                </a:solidFill>
                <a:latin typeface="Microsoft YaHei"/>
              </a:rPr>
              <a:t>TP=8 多卡状态同步确认时延 P99 &lt; 100µs</a:t>
            </a:r>
            <a:r>
              <a:rPr sz="1150">
                <a:solidFill>
                  <a:srgbClr val="1E293B"/>
                </a:solidFill>
                <a:latin typeface="Microsoft YaHei"/>
              </a:rPr>
              <a:t>；
</a:t>
            </a:r>
            <a:r>
              <a:rPr sz="1150" b="1">
                <a:solidFill>
                  <a:srgbClr val="1E293B"/>
                </a:solidFill>
                <a:latin typeface="Microsoft YaHei"/>
              </a:rPr>
              <a:t>3. 分歧容错处理：</a:t>
            </a:r>
            <a:r>
              <a:rPr sz="1150" b="1">
                <a:solidFill>
                  <a:srgbClr val="2563EB"/>
                </a:solidFill>
                <a:latin typeface="Microsoft YaHei"/>
              </a:rPr>
              <a:t>当单卡发生状态分歧时，8 张卡 100% 协同回退到本地重算，系统 0 死锁、0 挂起</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PVT-06 消费正确性与多卡状态同步：</a:t>
            </a:r>
            <a:r>
              <a:rPr sz="1150" b="1">
                <a:solidFill>
                  <a:srgbClr val="0F172A"/>
                </a:solidFill>
                <a:latin typeface="Microsoft YaHei"/>
              </a:rPr>
              <a:t>通过 6 维 xxHash64 校验守住 </a:t>
            </a:r>
            <a:r>
              <a:rPr sz="1150" b="1">
                <a:solidFill>
                  <a:srgbClr val="DC2626"/>
                </a:solidFill>
                <a:latin typeface="Microsoft YaHei"/>
              </a:rPr>
              <a:t>0 错误/过期/不匹配消费</a:t>
            </a:r>
            <a:r>
              <a:rPr sz="1150" b="1">
                <a:solidFill>
                  <a:srgbClr val="0F172A"/>
                </a:solidFill>
                <a:latin typeface="Microsoft YaHei"/>
              </a:rPr>
              <a:t> 正确性底线，TP=8 多卡状态同步达成 </a:t>
            </a:r>
            <a:r>
              <a:rPr sz="1150" b="1">
                <a:solidFill>
                  <a:srgbClr val="DC2626"/>
                </a:solidFill>
                <a:latin typeface="Microsoft YaHei"/>
              </a:rPr>
              <a:t>P99 &lt; 100µs</a:t>
            </a:r>
            <a:r>
              <a:rPr sz="1150" b="1">
                <a:solidFill>
                  <a:srgbClr val="0F172A"/>
                </a:solidFill>
                <a:latin typeface="Microsoft YaHei"/>
              </a:rPr>
              <a:t>，分歧时 </a:t>
            </a:r>
            <a:r>
              <a:rPr sz="1150" b="1">
                <a:solidFill>
                  <a:srgbClr val="059669"/>
                </a:solidFill>
                <a:latin typeface="Microsoft YaHei"/>
              </a:rPr>
              <a:t>100% 协同安全回退杜绝死锁</a:t>
            </a:r>
            <a:r>
              <a:rPr sz="1150" b="1">
                <a:solidFill>
                  <a:srgbClr val="0F172A"/>
                </a:solidFill>
                <a:latin typeface="Microsoft YaHei"/>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PVT-07：前后台混压端到端测试与服务质量保障验证</a:t>
            </a:r>
          </a:p>
          <a:p>
            <a:pPr>
              <a:spcBef>
                <a:spcPts val="300"/>
              </a:spcBef>
              <a:defRPr sz="1100">
                <a:solidFill>
                  <a:srgbClr val="475569"/>
                </a:solidFill>
                <a:latin typeface="Microsoft YaHei"/>
              </a:defRPr>
            </a:pPr>
            <a:r>
              <a:t>全链路串联验证端到端 P99 TTFT 降低≥20%、QPS 提升≥10%，前台推理时延抖动&lt;3%</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10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[阶段 E3 系统总门禁]</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单个模块指标达标不代表端到端系统稳定！前台在线推理（Decode）对时延极度敏感；后台若无节制地进行换出和预取，会争抢网络与显存带宽，导致前台请求的尾部时延严重恶化。</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将全流程模块串联起来，在两节点真实集群与真实业务负载下，验证</a:t>
            </a:r>
            <a:r>
              <a:rPr sz="1150" b="1">
                <a:solidFill>
                  <a:srgbClr val="2563EB"/>
                </a:solidFill>
                <a:latin typeface="Microsoft YaHei"/>
              </a:rPr>
              <a:t>端到端首 Token 响应时延（P99 TTFT）降低 ≥20%</a:t>
            </a:r>
            <a:r>
              <a:rPr sz="1150">
                <a:solidFill>
                  <a:srgbClr val="1E293B"/>
                </a:solidFill>
                <a:latin typeface="Microsoft YaHei"/>
              </a:rPr>
              <a:t> 与 </a:t>
            </a:r>
            <a:r>
              <a:rPr sz="1150" b="1">
                <a:solidFill>
                  <a:srgbClr val="2563EB"/>
                </a:solidFill>
                <a:latin typeface="Microsoft YaHei"/>
              </a:rPr>
              <a:t>系统 QPS 提升 ≥10%</a:t>
            </a:r>
            <a:r>
              <a:rPr sz="1150">
                <a:solidFill>
                  <a:srgbClr val="1E293B"/>
                </a:solidFill>
                <a:latin typeface="Microsoft YaHei"/>
              </a:rPr>
              <a:t>；验证</a:t>
            </a:r>
            <a:r>
              <a:rPr sz="1150" b="1">
                <a:solidFill>
                  <a:srgbClr val="DC2626"/>
                </a:solidFill>
                <a:latin typeface="Microsoft YaHei"/>
              </a:rPr>
              <a:t>前后台服务质量保障策略（QoS）对前台时延的保护效果</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作为立项前唯一的端到端全链路验证（纵向切片），证明系统兼顾高吞吐并发与低时延响应。</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集群环境：</a:t>
            </a:r>
            <a:r>
              <a:rPr sz="1150">
                <a:solidFill>
                  <a:srgbClr val="1E293B"/>
                </a:solidFill>
                <a:latin typeface="Microsoft YaHei"/>
              </a:rPr>
              <a:t>2 台物理服务器搭建真实推理集群，每台配置 8× 华为 NPU（96GB 显存）、800G 双端口网卡。</a:t>
            </a:r>
          </a:p>
          <a:p>
            <a:pPr>
              <a:lnSpc>
                <a:spcPct val="120000"/>
              </a:lnSpc>
              <a:spcAft>
                <a:spcPts val="600"/>
              </a:spcAft>
            </a:pPr>
            <a:r>
              <a:rPr sz="1150" b="1">
                <a:solidFill>
                  <a:srgbClr val="1E3A8A"/>
                </a:solidFill>
                <a:latin typeface="Microsoft YaHei"/>
              </a:rPr>
              <a:t>• 网络与调度保障：</a:t>
            </a:r>
            <a:r>
              <a:rPr sz="1150">
                <a:solidFill>
                  <a:srgbClr val="1E293B"/>
                </a:solidFill>
                <a:latin typeface="Microsoft YaHei"/>
              </a:rPr>
              <a:t>网络层配置高优先级无损队列（</a:t>
            </a:r>
            <a:r>
              <a:rPr sz="1150" b="1">
                <a:solidFill>
                  <a:srgbClr val="1E3A8A"/>
                </a:solidFill>
                <a:latin typeface="Consolas"/>
              </a:rPr>
              <a:t>RoCE TC0，用于前台与高优流量</a:t>
            </a:r>
            <a:r>
              <a:rPr sz="1150">
                <a:solidFill>
                  <a:srgbClr val="1E293B"/>
                </a:solidFill>
                <a:latin typeface="Microsoft YaHei"/>
              </a:rPr>
              <a:t>）与尽力而为队列（</a:t>
            </a:r>
            <a:r>
              <a:rPr sz="1150" b="1">
                <a:solidFill>
                  <a:srgbClr val="1E3A8A"/>
                </a:solidFill>
                <a:latin typeface="Consolas"/>
              </a:rPr>
              <a:t>TC1，用于后台换出</a:t>
            </a:r>
            <a:r>
              <a:rPr sz="1150">
                <a:solidFill>
                  <a:srgbClr val="1E293B"/>
                </a:solidFill>
                <a:latin typeface="Microsoft YaHei"/>
              </a:rPr>
              <a:t>）；调度层在推理步进循环中植入微秒级限速回调。</a:t>
            </a:r>
          </a:p>
          <a:p>
            <a:pPr>
              <a:lnSpc>
                <a:spcPct val="120000"/>
              </a:lnSpc>
              <a:spcAft>
                <a:spcPts val="600"/>
              </a:spcAft>
            </a:pPr>
            <a:r>
              <a:rPr sz="1150" b="1">
                <a:solidFill>
                  <a:srgbClr val="1E3A8A"/>
                </a:solidFill>
                <a:latin typeface="Microsoft YaHei"/>
              </a:rPr>
              <a:t>• 评测环境：</a:t>
            </a:r>
            <a:r>
              <a:rPr sz="1150">
                <a:solidFill>
                  <a:srgbClr val="1E293B"/>
                </a:solidFill>
                <a:latin typeface="Microsoft YaHei"/>
              </a:rPr>
              <a:t>全链路自动化评测工具链，基于 Python 3.10+ 与 C++ 性能采集插件。</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混压场景模拟 (mixed_workload_bench.py)：</a:t>
            </a:r>
            <a:r>
              <a:rPr sz="1150">
                <a:solidFill>
                  <a:srgbClr val="1E293B"/>
                </a:solidFill>
                <a:latin typeface="Microsoft YaHei"/>
              </a:rPr>
              <a:t>前台运行 32 并发在线请求（50%~70% 前缀复用），后台同时注入 400Gbps 满载数据换出与预取，持续混压运行。</a:t>
            </a:r>
          </a:p>
          <a:p>
            <a:pPr>
              <a:lnSpc>
                <a:spcPct val="120000"/>
              </a:lnSpc>
              <a:spcAft>
                <a:spcPts val="600"/>
              </a:spcAft>
            </a:pPr>
            <a:r>
              <a:rPr sz="1150" b="1">
                <a:solidFill>
                  <a:srgbClr val="1E3A8A"/>
                </a:solidFill>
                <a:latin typeface="Microsoft YaHei"/>
              </a:rPr>
              <a:t>• QoS 控制器测试 (semantic_qos_controller.py)：</a:t>
            </a:r>
            <a:r>
              <a:rPr sz="1150">
                <a:solidFill>
                  <a:srgbClr val="1E293B"/>
                </a:solidFill>
                <a:latin typeface="Microsoft YaHei"/>
              </a:rPr>
              <a:t>验证当检测到前台时延上升时，后台微秒级自适应退避与限速机制。</a:t>
            </a:r>
          </a:p>
          <a:p>
            <a:pPr>
              <a:lnSpc>
                <a:spcPct val="120000"/>
              </a:lnSpc>
              <a:spcAft>
                <a:spcPts val="600"/>
              </a:spcAft>
            </a:pPr>
            <a:r>
              <a:rPr sz="1150" b="1">
                <a:solidFill>
                  <a:srgbClr val="1E3A8A"/>
                </a:solidFill>
                <a:latin typeface="Microsoft YaHei"/>
              </a:rPr>
              <a:t>• 自动化指标采集 (run_mixed_bench.py)：</a:t>
            </a:r>
            <a:r>
              <a:rPr sz="1150">
                <a:solidFill>
                  <a:srgbClr val="1E293B"/>
                </a:solidFill>
                <a:latin typeface="Microsoft YaHei"/>
              </a:rPr>
              <a:t>自动抓取 TTFT、单 Token 生成时延（TPOT P50/P90/P99）与系统总吞吐（QPS）。</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《前后台混压端到端性能对比表》、《前台请求时延抖动分布图》、《全链路各环节耗时拆解表》。</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首 Token 加速：</a:t>
            </a:r>
            <a:r>
              <a:rPr sz="1150" b="1">
                <a:solidFill>
                  <a:srgbClr val="DC2626"/>
                </a:solidFill>
                <a:latin typeface="Microsoft YaHei"/>
              </a:rPr>
              <a:t>端到端全链路 P99 TTFT 响应时延降低 ≥ 20%</a:t>
            </a:r>
            <a:r>
              <a:rPr sz="1150">
                <a:solidFill>
                  <a:srgbClr val="1E293B"/>
                </a:solidFill>
                <a:latin typeface="Microsoft YaHei"/>
              </a:rPr>
              <a:t>；
</a:t>
            </a:r>
            <a:r>
              <a:rPr sz="1150" b="1">
                <a:solidFill>
                  <a:srgbClr val="1E293B"/>
                </a:solidFill>
                <a:latin typeface="Microsoft YaHei"/>
              </a:rPr>
              <a:t>2. 系统总吞吐：</a:t>
            </a:r>
            <a:r>
              <a:rPr sz="1150" b="1">
                <a:solidFill>
                  <a:srgbClr val="059669"/>
                </a:solidFill>
                <a:latin typeface="Microsoft YaHei"/>
              </a:rPr>
              <a:t>集群整体服务吞吐 QPS 提升 ≥ 10%</a:t>
            </a:r>
            <a:r>
              <a:rPr sz="1150">
                <a:solidFill>
                  <a:srgbClr val="1E293B"/>
                </a:solidFill>
                <a:latin typeface="Microsoft YaHei"/>
              </a:rPr>
              <a:t>；
</a:t>
            </a:r>
            <a:r>
              <a:rPr sz="1150" b="1">
                <a:solidFill>
                  <a:srgbClr val="1E293B"/>
                </a:solidFill>
                <a:latin typeface="Microsoft YaHei"/>
              </a:rPr>
              <a:t>3. 前台时延保护：</a:t>
            </a:r>
            <a:r>
              <a:rPr sz="1150" b="1">
                <a:solidFill>
                  <a:srgbClr val="DC2626"/>
                </a:solidFill>
                <a:latin typeface="Microsoft YaHei"/>
              </a:rPr>
              <a:t>后台满载 I/O 运行对前台 P99 TPOT 的尾部抖动干扰严格 &lt; 3%</a:t>
            </a:r>
            <a:r>
              <a:rPr sz="1150">
                <a:solidFill>
                  <a:srgbClr val="1E293B"/>
                </a:solidFill>
                <a:latin typeface="Microsoft YaHei"/>
              </a:rPr>
              <a:t>；
</a:t>
            </a:r>
            <a:r>
              <a:rPr sz="1150" b="1">
                <a:solidFill>
                  <a:srgbClr val="1E293B"/>
                </a:solidFill>
                <a:latin typeface="Microsoft YaHei"/>
              </a:rPr>
              <a:t>4. 后台传输效率：</a:t>
            </a:r>
            <a:r>
              <a:rPr sz="1150" b="1">
                <a:solidFill>
                  <a:srgbClr val="2563EB"/>
                </a:solidFill>
                <a:latin typeface="Microsoft YaHei"/>
              </a:rPr>
              <a:t>后台数据传输有效带宽利用率 ≥ 70%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PVT-07 端到端混压测试与总体验收：</a:t>
            </a:r>
            <a:r>
              <a:rPr sz="1150" b="1">
                <a:solidFill>
                  <a:srgbClr val="0F172A"/>
                </a:solidFill>
                <a:latin typeface="Microsoft YaHei"/>
              </a:rPr>
              <a:t>全链路串联达成 </a:t>
            </a:r>
            <a:r>
              <a:rPr sz="1150" b="1">
                <a:solidFill>
                  <a:srgbClr val="DC2626"/>
                </a:solidFill>
                <a:latin typeface="Microsoft YaHei"/>
              </a:rPr>
              <a:t>P99 TTFT 降低 ≥20%</a:t>
            </a:r>
            <a:r>
              <a:rPr sz="1150" b="1">
                <a:solidFill>
                  <a:srgbClr val="0F172A"/>
                </a:solidFill>
                <a:latin typeface="Microsoft YaHei"/>
              </a:rPr>
              <a:t>、</a:t>
            </a:r>
            <a:r>
              <a:rPr sz="1150" b="1">
                <a:solidFill>
                  <a:srgbClr val="DC2626"/>
                </a:solidFill>
                <a:latin typeface="Microsoft YaHei"/>
              </a:rPr>
              <a:t>QPS 提升 ≥10%</a:t>
            </a:r>
            <a:r>
              <a:rPr sz="1150" b="1">
                <a:solidFill>
                  <a:srgbClr val="0F172A"/>
                </a:solidFill>
                <a:latin typeface="Microsoft YaHei"/>
              </a:rPr>
              <a:t>，服务质量保障机制将前台时延抖动控制在 </a:t>
            </a:r>
            <a:r>
              <a:rPr sz="1150" b="1">
                <a:solidFill>
                  <a:srgbClr val="059669"/>
                </a:solidFill>
                <a:latin typeface="Microsoft YaHei"/>
              </a:rPr>
              <a:t>严格 &lt;3%</a:t>
            </a:r>
            <a:r>
              <a:rPr sz="1150" b="1">
                <a:solidFill>
                  <a:srgbClr val="0F172A"/>
                </a:solidFill>
                <a:latin typeface="Microsoft YaHei"/>
              </a:rPr>
              <a:t>，达到端到端阶段 E3 验收标准。</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CVT-01：热点前缀广播硬件多播与软件分层转发对比验证</a:t>
            </a:r>
          </a:p>
          <a:p>
            <a:pPr>
              <a:spcBef>
                <a:spcPts val="300"/>
              </a:spcBef>
              <a:defRPr sz="1100">
                <a:solidFill>
                  <a:srgbClr val="475569"/>
                </a:solidFill>
                <a:latin typeface="Microsoft YaHei"/>
              </a:defRPr>
            </a:pPr>
            <a:r>
              <a:t>验证软件分层转发能否替代硬件多播：在 N&lt;=8 常见规模下时延差距&lt;10%，解耦对网络硬件多播的依赖</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11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[技术可行性证伪]</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业界常假设“多节点共享热点 System Prompt 必须依赖交换机硬件多播（Multicast）”。但在实际数据中心，硬件多播配置复杂、排障困难，且单个节点慢或丢包容易拖死整组传输。</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1. 验证硬件多播是否为必需；2. 证明在 N≤8 常见集群规模下，采用</a:t>
            </a:r>
            <a:r>
              <a:rPr sz="1150" b="1">
                <a:solidFill>
                  <a:srgbClr val="2563EB"/>
                </a:solidFill>
                <a:latin typeface="Microsoft YaHei"/>
              </a:rPr>
              <a:t>“软件树状分层转发（Staging Fanout）”的时延与硬件多播差距 &lt; 10%</a:t>
            </a:r>
            <a:r>
              <a:rPr sz="1150">
                <a:solidFill>
                  <a:srgbClr val="1E293B"/>
                </a:solidFill>
                <a:latin typeface="Microsoft YaHei"/>
              </a:rPr>
              <a:t>；3. 验证存在慢节点或丢包时软件方案的容错优势。</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科学剪枝非必要的复杂硬件依赖，降低网络配置门槛与运维风险，提升系统通用性与健壮性。</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测试实施规范：</a:t>
            </a:r>
            <a:r>
              <a:rPr sz="1150">
                <a:solidFill>
                  <a:srgbClr val="1E293B"/>
                </a:solidFill>
                <a:latin typeface="Microsoft YaHei"/>
              </a:rPr>
              <a:t>采用双轨制测试（轨道 1: 配置物理 RDMA 多播组；轨道 2: 软件树状分层转发与理论单播对账）。</a:t>
            </a:r>
          </a:p>
          <a:p>
            <a:pPr>
              <a:lnSpc>
                <a:spcPct val="120000"/>
              </a:lnSpc>
              <a:spcAft>
                <a:spcPts val="600"/>
              </a:spcAft>
            </a:pPr>
            <a:r>
              <a:rPr sz="1150" b="1">
                <a:solidFill>
                  <a:srgbClr val="1E3A8A"/>
                </a:solidFill>
                <a:latin typeface="Microsoft YaHei"/>
              </a:rPr>
              <a:t>• 网络与接口：</a:t>
            </a:r>
            <a:r>
              <a:rPr sz="1150">
                <a:solidFill>
                  <a:srgbClr val="1E293B"/>
                </a:solidFill>
                <a:latin typeface="Microsoft YaHei"/>
              </a:rPr>
              <a:t>Linux 6.6+，</a:t>
            </a:r>
            <a:r>
              <a:rPr sz="1150" b="1">
                <a:solidFill>
                  <a:srgbClr val="1E3A8A"/>
                </a:solidFill>
                <a:latin typeface="Consolas"/>
              </a:rPr>
              <a:t>ibv_attach_mcast</a:t>
            </a:r>
            <a:r>
              <a:rPr sz="1150">
                <a:solidFill>
                  <a:srgbClr val="1E293B"/>
                </a:solidFill>
                <a:latin typeface="Microsoft YaHei"/>
              </a:rPr>
              <a:t>，URMA 点对点通信库，链接 </a:t>
            </a:r>
            <a:r>
              <a:rPr sz="1150">
                <a:solidFill>
                  <a:srgbClr val="1E3A8A"/>
                </a:solidFill>
                <a:latin typeface="Consolas"/>
              </a:rPr>
              <a:t>-lurma -lpthread -O3</a:t>
            </a:r>
            <a:r>
              <a:rPr sz="1150">
                <a:solidFill>
                  <a:srgbClr val="1E293B"/>
                </a:solidFill>
                <a:latin typeface="Microsoft YaHei"/>
              </a:rPr>
              <a:t>。</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拓扑与广播包测试 (multicast_fanout_bench.cc)：</a:t>
            </a:r>
            <a:r>
              <a:rPr sz="1150">
                <a:solidFill>
                  <a:srgbClr val="1E293B"/>
                </a:solidFill>
                <a:latin typeface="Microsoft YaHei"/>
              </a:rPr>
              <a:t>测试 N=2, 4, 8, 16 目标节点下，广播 1MB~64MB 热点 Prompt 数据的完成总时延。</a:t>
            </a:r>
          </a:p>
          <a:p>
            <a:pPr>
              <a:lnSpc>
                <a:spcPct val="120000"/>
              </a:lnSpc>
              <a:spcAft>
                <a:spcPts val="600"/>
              </a:spcAft>
            </a:pPr>
            <a:r>
              <a:rPr sz="1150" b="1">
                <a:solidFill>
                  <a:srgbClr val="1E3A8A"/>
                </a:solidFill>
                <a:latin typeface="Microsoft YaHei"/>
              </a:rPr>
              <a:t>• 慢节点与丢包扰动注入：</a:t>
            </a:r>
            <a:r>
              <a:rPr sz="1150">
                <a:solidFill>
                  <a:srgbClr val="1E293B"/>
                </a:solidFill>
                <a:latin typeface="Microsoft YaHei"/>
              </a:rPr>
              <a:t>注入单个节点 10ms 慢响应（Slow Reader）与 1% 随机丢包，对比各方案的恢复与抖动情况。</a:t>
            </a:r>
          </a:p>
          <a:p>
            <a:pPr>
              <a:lnSpc>
                <a:spcPct val="120000"/>
              </a:lnSpc>
              <a:spcAft>
                <a:spcPts val="600"/>
              </a:spcAft>
            </a:pPr>
            <a:r>
              <a:rPr sz="1150" b="1">
                <a:solidFill>
                  <a:srgbClr val="1E3A8A"/>
                </a:solidFill>
                <a:latin typeface="Microsoft YaHei"/>
              </a:rPr>
              <a:t>• 方案对比：</a:t>
            </a:r>
            <a:r>
              <a:rPr sz="1150">
                <a:solidFill>
                  <a:srgbClr val="1E293B"/>
                </a:solidFill>
                <a:latin typeface="Microsoft YaHei"/>
              </a:rPr>
              <a:t>对比 N 次独立单播、软件树状分层转发与硬件多播三种方式的耗时曲线。</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《单播 vs 软件分层转发 vs 硬件多播时延对比表》、《异常扰动下抗抖动实测报告》、《技术选型证伪结论》。</a:t>
            </a:r>
          </a:p>
          <a:p>
            <a:pPr>
              <a:lnSpc>
                <a:spcPct val="120000"/>
              </a:lnSpc>
              <a:spcAft>
                <a:spcPts val="600"/>
              </a:spcAft>
            </a:pPr>
            <a:r>
              <a:rPr sz="1150" b="1">
                <a:solidFill>
                  <a:srgbClr val="1E3A8A"/>
                </a:solidFill>
                <a:latin typeface="Microsoft YaHei"/>
              </a:rPr>
              <a:t>• 判定达标要求 (Go/Conditional/No-Go)：</a:t>
            </a:r>
            <a:r>
              <a:rPr sz="1150" b="1">
                <a:solidFill>
                  <a:srgbClr val="1E293B"/>
                </a:solidFill>
                <a:latin typeface="Microsoft YaHei"/>
              </a:rPr>
              <a:t>1. 性能差距门槛：</a:t>
            </a:r>
            <a:r>
              <a:rPr sz="1150" b="1">
                <a:solidFill>
                  <a:srgbClr val="DC2626"/>
                </a:solidFill>
                <a:latin typeface="Microsoft YaHei"/>
              </a:rPr>
              <a:t>在 N ≤ 8 节点规模下，软件树状分层转发的完成时延与硬件多播相比差距 &lt; 10%</a:t>
            </a:r>
            <a:r>
              <a:rPr sz="1150">
                <a:solidFill>
                  <a:srgbClr val="1E293B"/>
                </a:solidFill>
                <a:latin typeface="Microsoft YaHei"/>
              </a:rPr>
              <a:t>；
</a:t>
            </a:r>
            <a:r>
              <a:rPr sz="1150" b="1">
                <a:solidFill>
                  <a:srgbClr val="1E293B"/>
                </a:solidFill>
                <a:latin typeface="Microsoft YaHei"/>
              </a:rPr>
              <a:t>2. 抗抖动能力：</a:t>
            </a:r>
            <a:r>
              <a:rPr sz="1150" b="1">
                <a:solidFill>
                  <a:srgbClr val="059669"/>
                </a:solidFill>
                <a:latin typeface="Microsoft YaHei"/>
              </a:rPr>
              <a:t>当存在慢节点或丢包时，软件分层转发的时延稳定性显著优于硬件多播</a:t>
            </a:r>
            <a:r>
              <a:rPr sz="1150">
                <a:solidFill>
                  <a:srgbClr val="1E293B"/>
                </a:solidFill>
                <a:latin typeface="Microsoft YaHei"/>
              </a:rPr>
              <a:t>；
</a:t>
            </a:r>
            <a:r>
              <a:rPr sz="1150" b="1">
                <a:solidFill>
                  <a:srgbClr val="1E293B"/>
                </a:solidFill>
                <a:latin typeface="Microsoft YaHei"/>
              </a:rPr>
              <a:t>3. 结论输出：</a:t>
            </a:r>
            <a:r>
              <a:rPr sz="1150" b="1">
                <a:solidFill>
                  <a:srgbClr val="2563EB"/>
                </a:solidFill>
                <a:latin typeface="Microsoft YaHei"/>
              </a:rPr>
              <a:t>证实主路径采用软件分层转发完全可行，排除对交换机硬件多播的强依赖</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CVT-01 硬件多播必要性证伪与软件分层转发：</a:t>
            </a:r>
            <a:r>
              <a:rPr sz="1150" b="1">
                <a:solidFill>
                  <a:srgbClr val="0F172A"/>
                </a:solidFill>
                <a:latin typeface="Microsoft YaHei"/>
              </a:rPr>
              <a:t>实测证明在 N≤8 规模下软件分层转发广播时延差距 </a:t>
            </a:r>
            <a:r>
              <a:rPr sz="1150" b="1">
                <a:solidFill>
                  <a:srgbClr val="DC2626"/>
                </a:solidFill>
                <a:latin typeface="Microsoft YaHei"/>
              </a:rPr>
              <a:t>&lt; 10%</a:t>
            </a:r>
            <a:r>
              <a:rPr sz="1150" b="1">
                <a:solidFill>
                  <a:srgbClr val="0F172A"/>
                </a:solidFill>
                <a:latin typeface="Microsoft YaHei"/>
              </a:rPr>
              <a:t> 且抗抖动能力更强，主干方案 </a:t>
            </a:r>
            <a:r>
              <a:rPr sz="1150" b="1">
                <a:solidFill>
                  <a:srgbClr val="059669"/>
                </a:solidFill>
                <a:latin typeface="Microsoft YaHei"/>
              </a:rPr>
              <a:t>解耦对硬件多播的强依赖</a:t>
            </a:r>
            <a:r>
              <a:rPr sz="1150" b="1">
                <a:solidFill>
                  <a:srgbClr val="0F172A"/>
                </a:solidFill>
                <a:latin typeface="Microsoft YaHei"/>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CVT-02：显存页迁移软件 RCU 与硬件原子重映射对比验证</a:t>
            </a:r>
          </a:p>
          <a:p>
            <a:pPr>
              <a:spcBef>
                <a:spcPts val="300"/>
              </a:spcBef>
              <a:defRPr sz="1100">
                <a:solidFill>
                  <a:srgbClr val="475569"/>
                </a:solidFill>
                <a:latin typeface="Microsoft YaHei"/>
              </a:defRPr>
            </a:pPr>
            <a:r>
              <a:t>验证软件 RCU 无锁机制能否替代硬件原子重映射：实现迁移停顿&lt;1ms、推理时延抖动&lt;5%</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12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[技术可行性证伪]</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业界常假设“显存碎片整理与页迁移必须依赖底层硬件提供虚拟地址原子重映射原语（Atomic Remap）”。但硬件原语定制周期长，且多卡并发下容易发生 TLB 刷新死锁。</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1. 验证硬件原子重映射是否为必需；2. 证明基于</a:t>
            </a:r>
            <a:r>
              <a:rPr sz="1150" b="1">
                <a:solidFill>
                  <a:srgbClr val="2563EB"/>
                </a:solidFill>
                <a:latin typeface="Microsoft YaHei"/>
              </a:rPr>
              <a:t>“软件 RCU（读-复制-更新）+ 写入时复制”机制</a:t>
            </a:r>
            <a:r>
              <a:rPr sz="1150">
                <a:solidFill>
                  <a:srgbClr val="1E293B"/>
                </a:solidFill>
                <a:latin typeface="Microsoft YaHei"/>
              </a:rPr>
              <a:t>，迁移期间并发读取停顿时间 </a:t>
            </a:r>
            <a:r>
              <a:rPr sz="1150" b="1">
                <a:solidFill>
                  <a:srgbClr val="059669"/>
                </a:solidFill>
                <a:latin typeface="Microsoft YaHei"/>
              </a:rPr>
              <a:t>P99 &lt; 1ms</a:t>
            </a:r>
            <a:r>
              <a:rPr sz="1150">
                <a:solidFill>
                  <a:srgbClr val="1E293B"/>
                </a:solidFill>
                <a:latin typeface="Microsoft YaHei"/>
              </a:rPr>
              <a:t>、</a:t>
            </a:r>
            <a:r>
              <a:rPr sz="1150" b="1">
                <a:solidFill>
                  <a:srgbClr val="059669"/>
                </a:solidFill>
                <a:latin typeface="Microsoft YaHei"/>
              </a:rPr>
              <a:t>推理时延抖动 &lt; 5%</a:t>
            </a:r>
            <a:r>
              <a:rPr sz="1150">
                <a:solidFill>
                  <a:srgbClr val="1E293B"/>
                </a:solidFill>
                <a:latin typeface="Microsoft YaHei"/>
              </a:rPr>
              <a:t>；3. 验证异常时 100% 安全回滚。</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消除对未成熟定制硬件的依赖，避开多卡硬件死锁风险，以纯软件机制实现生产级高可用。</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同步屏障设计：</a:t>
            </a:r>
            <a:r>
              <a:rPr sz="1150">
                <a:solidFill>
                  <a:srgbClr val="1E293B"/>
                </a:solidFill>
                <a:latin typeface="Microsoft YaHei"/>
              </a:rPr>
              <a:t>采用主机端 Epoch 无锁版本计数器 + NPU Stream 硬件事件双层同步机制（</a:t>
            </a:r>
            <a:r>
              <a:rPr sz="1150" b="1">
                <a:solidFill>
                  <a:srgbClr val="1E3A8A"/>
                </a:solidFill>
                <a:latin typeface="Consolas"/>
              </a:rPr>
              <a:t>aclrtEvent</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无锁并发实现：</a:t>
            </a:r>
            <a:r>
              <a:rPr sz="1150">
                <a:solidFill>
                  <a:srgbClr val="1E293B"/>
                </a:solidFill>
                <a:latin typeface="Microsoft YaHei"/>
              </a:rPr>
              <a:t>基于 C++17 </a:t>
            </a:r>
            <a:r>
              <a:rPr sz="1150" b="1">
                <a:solidFill>
                  <a:srgbClr val="1E3A8A"/>
                </a:solidFill>
                <a:latin typeface="Consolas"/>
              </a:rPr>
              <a:t>std::atomic&lt;RCUExtentNode*&gt;</a:t>
            </a:r>
            <a:r>
              <a:rPr sz="1150">
                <a:solidFill>
                  <a:srgbClr val="1E293B"/>
                </a:solidFill>
                <a:latin typeface="Microsoft YaHei"/>
              </a:rPr>
              <a:t> CAS 无锁指针翻转与多线程 Reader 活跃引用计数。</a:t>
            </a:r>
          </a:p>
          <a:p>
            <a:pPr>
              <a:lnSpc>
                <a:spcPct val="120000"/>
              </a:lnSpc>
              <a:spcAft>
                <a:spcPts val="600"/>
              </a:spcAft>
            </a:pPr>
            <a:r>
              <a:rPr sz="1150" b="1">
                <a:solidFill>
                  <a:srgbClr val="1E3A8A"/>
                </a:solidFill>
                <a:latin typeface="Microsoft YaHei"/>
              </a:rPr>
              <a:t>• 编译环境：</a:t>
            </a:r>
            <a:r>
              <a:rPr sz="1150">
                <a:solidFill>
                  <a:srgbClr val="1E3A8A"/>
                </a:solidFill>
                <a:latin typeface="Consolas"/>
              </a:rPr>
              <a:t>-lascendcl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高并发迁移压测 (rcu_migration_bench.cc)：</a:t>
            </a:r>
            <a:r>
              <a:rPr sz="1150">
                <a:solidFill>
                  <a:srgbClr val="1E293B"/>
                </a:solidFill>
                <a:latin typeface="Microsoft YaHei"/>
              </a:rPr>
              <a:t>在 32 线程高并发读取下，触发显存块迁移与重组，测量读取线程的停顿时间与时延抖动。</a:t>
            </a:r>
          </a:p>
          <a:p>
            <a:pPr>
              <a:lnSpc>
                <a:spcPct val="120000"/>
              </a:lnSpc>
              <a:spcAft>
                <a:spcPts val="600"/>
              </a:spcAft>
            </a:pPr>
            <a:r>
              <a:rPr sz="1150" b="1">
                <a:solidFill>
                  <a:srgbClr val="1E3A8A"/>
                </a:solidFill>
                <a:latin typeface="Microsoft YaHei"/>
              </a:rPr>
              <a:t>• 三方对比：</a:t>
            </a:r>
            <a:r>
              <a:rPr sz="1150">
                <a:solidFill>
                  <a:srgbClr val="1E293B"/>
                </a:solidFill>
                <a:latin typeface="Microsoft YaHei"/>
              </a:rPr>
              <a:t>对比“全局锁表（Stop-the-world）”、“软件 RCU 无锁迁移”与“硬件原子重映射模拟”三种方式。</a:t>
            </a:r>
          </a:p>
          <a:p>
            <a:pPr>
              <a:lnSpc>
                <a:spcPct val="120000"/>
              </a:lnSpc>
              <a:spcAft>
                <a:spcPts val="600"/>
              </a:spcAft>
            </a:pPr>
            <a:r>
              <a:rPr sz="1150" b="1">
                <a:solidFill>
                  <a:srgbClr val="1E3A8A"/>
                </a:solidFill>
                <a:latin typeface="Microsoft YaHei"/>
              </a:rPr>
              <a:t>• 数据一致性与回退注入：</a:t>
            </a:r>
            <a:r>
              <a:rPr sz="1150">
                <a:solidFill>
                  <a:srgbClr val="1E293B"/>
                </a:solidFill>
                <a:latin typeface="Microsoft YaHei"/>
              </a:rPr>
              <a:t>注入迁移中途异常，通过 Checksum 校验数据是否 100% 正确，验证指针原子回滚逻辑。</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《全局锁 vs 软件 RCU vs 硬件重映射停顿对比表》、《内存数据一致性校验报告》、《异常原子回滚记录》。</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读取停顿时间：</a:t>
            </a:r>
            <a:r>
              <a:rPr sz="1150" b="1">
                <a:solidFill>
                  <a:srgbClr val="DC2626"/>
                </a:solidFill>
                <a:latin typeface="Microsoft YaHei"/>
              </a:rPr>
              <a:t>软件 RCU 迁移期间，并发读取线程的停顿时间 P99 &lt; 1ms</a:t>
            </a:r>
            <a:r>
              <a:rPr sz="1150">
                <a:solidFill>
                  <a:srgbClr val="1E293B"/>
                </a:solidFill>
                <a:latin typeface="Microsoft YaHei"/>
              </a:rPr>
              <a:t>；
</a:t>
            </a:r>
            <a:r>
              <a:rPr sz="1150" b="1">
                <a:solidFill>
                  <a:srgbClr val="1E293B"/>
                </a:solidFill>
                <a:latin typeface="Microsoft YaHei"/>
              </a:rPr>
              <a:t>2. 生成时延抖动：</a:t>
            </a:r>
            <a:r>
              <a:rPr sz="1150" b="1">
                <a:solidFill>
                  <a:srgbClr val="059669"/>
                </a:solidFill>
                <a:latin typeface="Microsoft YaHei"/>
              </a:rPr>
              <a:t>在线推理单 Token 生成时延抖动 (TPOT Jitter) &lt; 5%</a:t>
            </a:r>
            <a:r>
              <a:rPr sz="1150">
                <a:solidFill>
                  <a:srgbClr val="1E293B"/>
                </a:solidFill>
                <a:latin typeface="Microsoft YaHei"/>
              </a:rPr>
              <a:t>；
</a:t>
            </a:r>
            <a:r>
              <a:rPr sz="1150" b="1">
                <a:solidFill>
                  <a:srgbClr val="1E293B"/>
                </a:solidFill>
                <a:latin typeface="Microsoft YaHei"/>
              </a:rPr>
              <a:t>3. 数据一致性：</a:t>
            </a:r>
            <a:r>
              <a:rPr sz="1150" b="1">
                <a:solidFill>
                  <a:srgbClr val="2563EB"/>
                </a:solidFill>
                <a:latin typeface="Microsoft YaHei"/>
              </a:rPr>
              <a:t>Checksum 校验 100% 正确，异常注入下 100% 安全回滚</a:t>
            </a:r>
            <a:r>
              <a:rPr sz="1150">
                <a:solidFill>
                  <a:srgbClr val="1E293B"/>
                </a:solidFill>
                <a:latin typeface="Microsoft YaHei"/>
              </a:rPr>
              <a:t>；
</a:t>
            </a:r>
            <a:r>
              <a:rPr sz="1150" b="1">
                <a:solidFill>
                  <a:srgbClr val="1E293B"/>
                </a:solidFill>
                <a:latin typeface="Microsoft YaHei"/>
              </a:rPr>
              <a:t>4. 结论输出：</a:t>
            </a:r>
            <a:r>
              <a:rPr sz="1150" b="1">
                <a:solidFill>
                  <a:srgbClr val="059669"/>
                </a:solidFill>
                <a:latin typeface="Microsoft YaHei"/>
              </a:rPr>
              <a:t>证明软件 RCU 完全满足生产要求，无需依赖底层硬件原子重映射</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CVT-02 硬件重映射必要性证伪与软件 RCU：</a:t>
            </a:r>
            <a:r>
              <a:rPr sz="1150" b="1">
                <a:solidFill>
                  <a:srgbClr val="0F172A"/>
                </a:solidFill>
                <a:latin typeface="Microsoft YaHei"/>
              </a:rPr>
              <a:t>实测证明软件 RCU 机制实现迁移停顿 </a:t>
            </a:r>
            <a:r>
              <a:rPr sz="1150" b="1">
                <a:solidFill>
                  <a:srgbClr val="DC2626"/>
                </a:solidFill>
                <a:latin typeface="Microsoft YaHei"/>
              </a:rPr>
              <a:t>P99 &lt; 1ms</a:t>
            </a:r>
            <a:r>
              <a:rPr sz="1150" b="1">
                <a:solidFill>
                  <a:srgbClr val="0F172A"/>
                </a:solidFill>
                <a:latin typeface="Microsoft YaHei"/>
              </a:rPr>
              <a:t> 与生成时延抖动 </a:t>
            </a:r>
            <a:r>
              <a:rPr sz="1150" b="1">
                <a:solidFill>
                  <a:srgbClr val="059669"/>
                </a:solidFill>
                <a:latin typeface="Microsoft YaHei"/>
              </a:rPr>
              <a:t>Jitter &lt; 5%</a:t>
            </a:r>
            <a:r>
              <a:rPr sz="1150" b="1">
                <a:solidFill>
                  <a:srgbClr val="0F172A"/>
                </a:solidFill>
                <a:latin typeface="Microsoft YaHei"/>
              </a:rPr>
              <a:t>，避开硬件定制与死锁风险，纯软件方案完全可用。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CVT-03：DPU/硬件压缩卸载必要性与软件裸直达回退验证</a:t>
            </a:r>
          </a:p>
          <a:p>
            <a:pPr>
              <a:spcBef>
                <a:spcPts val="300"/>
              </a:spcBef>
              <a:defRPr sz="1100">
                <a:solidFill>
                  <a:srgbClr val="475569"/>
                </a:solidFill>
                <a:latin typeface="Microsoft YaHei"/>
              </a:defRPr>
            </a:pPr>
            <a:r>
              <a:t>验证专用 DPU 是否为必需：纯软件裸直达达到&gt;=80%线速且CPU&lt;1%，DPU故障时&lt;1ms无缝切换</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[技术可行性证伪]</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业界常假设“必须依赖 DPU 专用芯片或硬件压缩卡才能跑满高速网络”，引入了额外的硬件单点故障；若盲目使用 CPU 软件压缩（如 zstd/lz4）则会导致 CPU 100% 打满、传输时延翻倍。</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1. 验证专用 DPU 是否为必需；2. 证明基于纯 UBMEM/URMA 的</a:t>
            </a:r>
            <a:r>
              <a:rPr sz="1150" b="1">
                <a:solidFill>
                  <a:srgbClr val="2563EB"/>
                </a:solidFill>
                <a:latin typeface="Microsoft YaHei"/>
              </a:rPr>
              <a:t>“裸直达主路径”独立成立且 CPU 占用率 &lt; 1%</a:t>
            </a:r>
            <a:r>
              <a:rPr sz="1150">
                <a:solidFill>
                  <a:srgbClr val="1E293B"/>
                </a:solidFill>
                <a:latin typeface="Microsoft YaHei"/>
              </a:rPr>
              <a:t>；3. 验证如果配置了 DPU，在 DPU 故障时系统能在 </a:t>
            </a:r>
            <a:r>
              <a:rPr sz="1150" b="1">
                <a:solidFill>
                  <a:srgbClr val="059669"/>
                </a:solidFill>
                <a:latin typeface="Microsoft YaHei"/>
              </a:rPr>
              <a:t>&lt; 1ms 内无缝回退到裸直达</a:t>
            </a:r>
            <a:r>
              <a:rPr sz="1150">
                <a:solidFill>
                  <a:srgbClr val="1E293B"/>
                </a:solidFill>
                <a:latin typeface="Microsoft YaHei"/>
              </a:rPr>
              <a:t>；4. 证伪 CPU 软件压缩的负收益。</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确立零专用硬件依赖的主干方案，明确禁止 CPU 软件压缩负收益路径，保障系统高可靠性与部署灵活性。</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通道配置：</a:t>
            </a:r>
            <a:r>
              <a:rPr sz="1150">
                <a:solidFill>
                  <a:srgbClr val="1E293B"/>
                </a:solidFill>
                <a:latin typeface="Microsoft YaHei"/>
              </a:rPr>
              <a:t>DPU 硬件加速通道 vs 纯 UBMEM/URMA 软件裸直达通道。</a:t>
            </a:r>
          </a:p>
          <a:p>
            <a:pPr>
              <a:lnSpc>
                <a:spcPct val="120000"/>
              </a:lnSpc>
              <a:spcAft>
                <a:spcPts val="600"/>
              </a:spcAft>
            </a:pPr>
            <a:r>
              <a:rPr sz="1150" b="1">
                <a:solidFill>
                  <a:srgbClr val="1E3A8A"/>
                </a:solidFill>
                <a:latin typeface="Microsoft YaHei"/>
              </a:rPr>
              <a:t>• 故障检测与熔断：</a:t>
            </a:r>
            <a:r>
              <a:rPr sz="1150">
                <a:solidFill>
                  <a:srgbClr val="1E293B"/>
                </a:solidFill>
                <a:latin typeface="Microsoft YaHei"/>
              </a:rPr>
              <a:t>配置 500µs 硬件看门狗心跳检测与微秒级熔断状态机，异步告警上报。</a:t>
            </a:r>
          </a:p>
          <a:p>
            <a:pPr>
              <a:lnSpc>
                <a:spcPct val="120000"/>
              </a:lnSpc>
              <a:spcAft>
                <a:spcPts val="600"/>
              </a:spcAft>
            </a:pPr>
            <a:r>
              <a:rPr sz="1150" b="1">
                <a:solidFill>
                  <a:srgbClr val="1E3A8A"/>
                </a:solidFill>
                <a:latin typeface="Microsoft YaHei"/>
              </a:rPr>
              <a:t>• 运行环境：</a:t>
            </a:r>
            <a:r>
              <a:rPr sz="1150">
                <a:solidFill>
                  <a:srgbClr val="1E293B"/>
                </a:solidFill>
                <a:latin typeface="Microsoft YaHei"/>
              </a:rPr>
              <a:t>Linux 6.6+，链接 </a:t>
            </a:r>
            <a:r>
              <a:rPr sz="1150">
                <a:solidFill>
                  <a:srgbClr val="1E3A8A"/>
                </a:solidFill>
                <a:latin typeface="Consolas"/>
              </a:rPr>
              <a:t>-lurma -lubmem -lpthread -O3</a:t>
            </a:r>
            <a:r>
              <a:rPr sz="1150">
                <a:solidFill>
                  <a:srgbClr val="1E293B"/>
                </a:solidFill>
                <a:latin typeface="Microsoft YaHei"/>
              </a:rPr>
              <a:t>。</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三方性能对比 (offload_fallback_bench.cc)：</a:t>
            </a:r>
            <a:r>
              <a:rPr sz="1150">
                <a:solidFill>
                  <a:srgbClr val="1E293B"/>
                </a:solidFill>
                <a:latin typeface="Microsoft YaHei"/>
              </a:rPr>
              <a:t>对比“纯软件裸直达”、“DPU 硬件卸载”与“CPU zstd 软件压缩”三者的有效传输带宽与 Host CPU 占用率。</a:t>
            </a:r>
          </a:p>
          <a:p>
            <a:pPr>
              <a:lnSpc>
                <a:spcPct val="120000"/>
              </a:lnSpc>
              <a:spcAft>
                <a:spcPts val="600"/>
              </a:spcAft>
            </a:pPr>
            <a:r>
              <a:rPr sz="1150" b="1">
                <a:solidFill>
                  <a:srgbClr val="1E3A8A"/>
                </a:solidFill>
                <a:latin typeface="Microsoft YaHei"/>
              </a:rPr>
              <a:t>• 故障注入测试 (inject_fault.py)：</a:t>
            </a:r>
            <a:r>
              <a:rPr sz="1150">
                <a:solidFill>
                  <a:srgbClr val="1E293B"/>
                </a:solidFill>
                <a:latin typeface="Microsoft YaHei"/>
              </a:rPr>
              <a:t>模拟 DPU 驱动挂死、硬件超时与通信中断，采集故障检测与通道切换耗时。</a:t>
            </a:r>
          </a:p>
          <a:p>
            <a:pPr>
              <a:lnSpc>
                <a:spcPct val="120000"/>
              </a:lnSpc>
              <a:spcAft>
                <a:spcPts val="600"/>
              </a:spcAft>
            </a:pPr>
            <a:r>
              <a:rPr sz="1150" b="1">
                <a:solidFill>
                  <a:srgbClr val="1E3A8A"/>
                </a:solidFill>
                <a:latin typeface="Microsoft YaHei"/>
              </a:rPr>
              <a:t>• 数据完整性对账：</a:t>
            </a:r>
            <a:r>
              <a:rPr sz="1150">
                <a:solidFill>
                  <a:srgbClr val="1E293B"/>
                </a:solidFill>
                <a:latin typeface="Microsoft YaHei"/>
              </a:rPr>
              <a:t>统计从触发看门狗到裸直达完全接管的过渡耗时与数据完整性校验。</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《裸直达 vs DPU vs CPU 软件压缩性能对比表》、《DPU 故障注入与快速回退记录》、《方案选型证伪结论》。</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裸直达独立达标：</a:t>
            </a:r>
            <a:r>
              <a:rPr sz="1150" b="1">
                <a:solidFill>
                  <a:srgbClr val="DC2626"/>
                </a:solidFill>
                <a:latin typeface="Microsoft YaHei"/>
              </a:rPr>
              <a:t>纯软件裸直达有效带宽达到网络线速 ≥ 80%，Host CPU 占用率 &lt; 1%</a:t>
            </a:r>
            <a:r>
              <a:rPr sz="1150">
                <a:solidFill>
                  <a:srgbClr val="1E293B"/>
                </a:solidFill>
                <a:latin typeface="Microsoft YaHei"/>
              </a:rPr>
              <a:t>；
</a:t>
            </a:r>
            <a:r>
              <a:rPr sz="1150" b="1">
                <a:solidFill>
                  <a:srgbClr val="1E293B"/>
                </a:solidFill>
                <a:latin typeface="Microsoft YaHei"/>
              </a:rPr>
              <a:t>2. 无缝切换时延：</a:t>
            </a:r>
            <a:r>
              <a:rPr sz="1150" b="1">
                <a:solidFill>
                  <a:srgbClr val="059669"/>
                </a:solidFill>
                <a:latin typeface="Microsoft YaHei"/>
              </a:rPr>
              <a:t>DPU 发生故障时，系统在 &lt; 1ms 内无缝切换至裸直达通路（业务不中断）</a:t>
            </a:r>
            <a:r>
              <a:rPr sz="1150">
                <a:solidFill>
                  <a:srgbClr val="1E293B"/>
                </a:solidFill>
                <a:latin typeface="Microsoft YaHei"/>
              </a:rPr>
              <a:t>；
</a:t>
            </a:r>
            <a:r>
              <a:rPr sz="1150" b="1">
                <a:solidFill>
                  <a:srgbClr val="1E293B"/>
                </a:solidFill>
                <a:latin typeface="Microsoft YaHei"/>
              </a:rPr>
              <a:t>3. 软件压缩证伪：</a:t>
            </a:r>
            <a:r>
              <a:rPr sz="1150" b="1">
                <a:solidFill>
                  <a:srgbClr val="2563EB"/>
                </a:solidFill>
                <a:latin typeface="Microsoft YaHei"/>
              </a:rPr>
              <a:t>实验明确证实 CPU 软件压缩会导致 CPU 100% 占满且时延恶化 200% 以上，列为禁用路径</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CVT-03 DPU 卸载必要性证伪与裸直达回退：</a:t>
            </a:r>
            <a:r>
              <a:rPr sz="1150" b="1">
                <a:solidFill>
                  <a:srgbClr val="0F172A"/>
                </a:solidFill>
                <a:latin typeface="Microsoft YaHei"/>
              </a:rPr>
              <a:t>实测证明纯软件裸直达独立达成 </a:t>
            </a:r>
            <a:r>
              <a:rPr sz="1150" b="1">
                <a:solidFill>
                  <a:srgbClr val="DC2626"/>
                </a:solidFill>
                <a:latin typeface="Microsoft YaHei"/>
              </a:rPr>
              <a:t>≥80% 线速与 &lt;1% CPU 占用</a:t>
            </a:r>
            <a:r>
              <a:rPr sz="1150" b="1">
                <a:solidFill>
                  <a:srgbClr val="0F172A"/>
                </a:solidFill>
                <a:latin typeface="Microsoft YaHei"/>
              </a:rPr>
              <a:t>，DPU 故障下实现 </a:t>
            </a:r>
            <a:r>
              <a:rPr sz="1150" b="1">
                <a:solidFill>
                  <a:srgbClr val="059669"/>
                </a:solidFill>
                <a:latin typeface="Microsoft YaHei"/>
              </a:rPr>
              <a:t>&lt; 1ms 无缝切换</a:t>
            </a:r>
            <a:r>
              <a:rPr sz="1150" b="1">
                <a:solidFill>
                  <a:srgbClr val="0F172A"/>
                </a:solidFill>
                <a:latin typeface="Microsoft YaHei"/>
              </a:rPr>
              <a:t>，明确排除 CPU 软件压缩负收益路径。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94360"/>
            <a:ext cx="10972800" cy="1005840"/>
          </a:xfrm>
          <a:prstGeom prst="rect">
            <a:avLst/>
          </a:prstGeom>
          <a:noFill/>
        </p:spPr>
        <p:txBody>
          <a:bodyPr wrap="square" lIns="0" tIns="0" rIns="0" bIns="0">
            <a:spAutoFit/>
          </a:bodyPr>
          <a:lstStyle/>
          <a:p>
            <a:pPr>
              <a:defRPr sz="2400" b="1">
                <a:solidFill>
                  <a:srgbClr val="1E3A8A"/>
                </a:solidFill>
                <a:latin typeface="Microsoft YaHei"/>
              </a:defRPr>
            </a:pPr>
            <a:r>
              <a:t>提前验证方案设计总结</a:t>
            </a:r>
          </a:p>
          <a:p>
            <a:pPr>
              <a:spcBef>
                <a:spcPts val="400"/>
              </a:spcBef>
              <a:defRPr sz="1200">
                <a:solidFill>
                  <a:srgbClr val="475569"/>
                </a:solidFill>
                <a:latin typeface="Microsoft YaHei"/>
              </a:defRPr>
            </a:pPr>
            <a:r>
              <a:t>以客观的实测数据为依据 · 摸清技术边界 · 保障后续系统顺利落地</a:t>
            </a:r>
          </a:p>
        </p:txBody>
      </p:sp>
      <p:sp>
        <p:nvSpPr>
          <p:cNvPr id="3" name="Rectangle 2"/>
          <p:cNvSpPr/>
          <p:nvPr/>
        </p:nvSpPr>
        <p:spPr>
          <a:xfrm>
            <a:off x="54864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原则一：实测数据驱动</a:t>
            </a:r>
            <a:r>
              <a:rPr sz="1000" b="1">
                <a:solidFill>
                  <a:srgbClr val="BFDBFE"/>
                </a:solidFill>
                <a:latin typeface="Microsoft YaHei"/>
              </a:rPr>
              <a:t>  [数据对账]</a:t>
            </a:r>
          </a:p>
        </p:txBody>
      </p:sp>
      <p:sp>
        <p:nvSpPr>
          <p:cNvPr id="6" name="TextBox 5"/>
          <p:cNvSpPr txBox="1"/>
          <p:nvPr/>
        </p:nvSpPr>
        <p:spPr>
          <a:xfrm>
            <a:off x="69494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拒绝空想假设：</a:t>
            </a:r>
            <a:r>
              <a:rPr sz="1150">
                <a:solidFill>
                  <a:srgbClr val="1E293B"/>
                </a:solidFill>
                <a:latin typeface="Microsoft YaHei"/>
              </a:rPr>
              <a:t>所有技术结论必须基于受控环境下的 Benchmark 实测数据与打点日志。</a:t>
            </a:r>
          </a:p>
          <a:p>
            <a:pPr>
              <a:lnSpc>
                <a:spcPct val="120000"/>
              </a:lnSpc>
              <a:spcAft>
                <a:spcPts val="600"/>
              </a:spcAft>
            </a:pPr>
            <a:r>
              <a:rPr sz="1150" b="1">
                <a:solidFill>
                  <a:srgbClr val="1E3A8A"/>
                </a:solidFill>
                <a:latin typeface="Microsoft YaHei"/>
              </a:rPr>
              <a:t>• 全流程数据留痕：</a:t>
            </a:r>
            <a:r>
              <a:rPr sz="1150">
                <a:solidFill>
                  <a:srgbClr val="1E293B"/>
                </a:solidFill>
                <a:latin typeface="Microsoft YaHei"/>
              </a:rPr>
              <a:t>详细记录每次测试的输入规模、硬件配置、时延与带宽原始数据。</a:t>
            </a:r>
          </a:p>
          <a:p>
            <a:pPr>
              <a:lnSpc>
                <a:spcPct val="120000"/>
              </a:lnSpc>
              <a:spcAft>
                <a:spcPts val="600"/>
              </a:spcAft>
            </a:pPr>
            <a:r>
              <a:rPr sz="1150" b="1">
                <a:solidFill>
                  <a:srgbClr val="1E3A8A"/>
                </a:solidFill>
                <a:latin typeface="Microsoft YaHei"/>
              </a:rPr>
              <a:t>• 理论与实测对账：</a:t>
            </a:r>
            <a:r>
              <a:rPr sz="1150">
                <a:solidFill>
                  <a:srgbClr val="1E293B"/>
                </a:solidFill>
                <a:latin typeface="Microsoft YaHei"/>
              </a:rPr>
              <a:t>成本模型预估耗时与实际执行耗时进行交叉对比，检验模型精度。</a:t>
            </a:r>
          </a:p>
        </p:txBody>
      </p:sp>
      <p:sp>
        <p:nvSpPr>
          <p:cNvPr id="7" name="Rectangle 6"/>
          <p:cNvSpPr/>
          <p:nvPr/>
        </p:nvSpPr>
        <p:spPr>
          <a:xfrm>
            <a:off x="444947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4947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19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原则二：软硬协同与技术收敛</a:t>
            </a:r>
            <a:r>
              <a:rPr sz="1000" b="1">
                <a:solidFill>
                  <a:srgbClr val="BFDBFE"/>
                </a:solidFill>
                <a:latin typeface="Microsoft YaHei"/>
              </a:rPr>
              <a:t>  [方案选型]</a:t>
            </a:r>
          </a:p>
        </p:txBody>
      </p:sp>
      <p:sp>
        <p:nvSpPr>
          <p:cNvPr id="10" name="TextBox 9"/>
          <p:cNvSpPr txBox="1"/>
          <p:nvPr/>
        </p:nvSpPr>
        <p:spPr>
          <a:xfrm>
            <a:off x="459577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发挥底层硬件优势：</a:t>
            </a:r>
            <a:r>
              <a:rPr sz="1150">
                <a:solidFill>
                  <a:srgbClr val="1E293B"/>
                </a:solidFill>
                <a:latin typeface="Microsoft YaHei"/>
              </a:rPr>
              <a:t>借助 UBMEM 内存总线与 URMA 硬件队列，突破传统 TCP 与内核拷贝瓶颈。</a:t>
            </a:r>
          </a:p>
          <a:p>
            <a:pPr>
              <a:lnSpc>
                <a:spcPct val="120000"/>
              </a:lnSpc>
              <a:spcAft>
                <a:spcPts val="600"/>
              </a:spcAft>
            </a:pPr>
            <a:r>
              <a:rPr sz="1150" b="1">
                <a:solidFill>
                  <a:srgbClr val="1E3A8A"/>
                </a:solidFill>
                <a:latin typeface="Microsoft YaHei"/>
              </a:rPr>
              <a:t>• 科学剪除硬件依赖：</a:t>
            </a:r>
            <a:r>
              <a:rPr sz="1150">
                <a:solidFill>
                  <a:srgbClr val="1E293B"/>
                </a:solidFill>
                <a:latin typeface="Microsoft YaHei"/>
              </a:rPr>
              <a:t>证实软件树状转发、软件 RCU 与纯软件直达的可用性，降低系统复杂度。</a:t>
            </a:r>
          </a:p>
          <a:p>
            <a:pPr>
              <a:lnSpc>
                <a:spcPct val="120000"/>
              </a:lnSpc>
              <a:spcAft>
                <a:spcPts val="600"/>
              </a:spcAft>
            </a:pPr>
            <a:r>
              <a:rPr sz="1150" b="1">
                <a:solidFill>
                  <a:srgbClr val="1E3A8A"/>
                </a:solidFill>
                <a:latin typeface="Microsoft YaHei"/>
              </a:rPr>
              <a:t>• 坚守系统稳定性：</a:t>
            </a:r>
            <a:r>
              <a:rPr sz="1150">
                <a:solidFill>
                  <a:srgbClr val="1E293B"/>
                </a:solidFill>
                <a:latin typeface="Microsoft YaHei"/>
              </a:rPr>
              <a:t>异常保护与 6 维语义校验机制确保系统在各类异常下平稳运行、不发生死锁与崩溃。</a:t>
            </a:r>
          </a:p>
        </p:txBody>
      </p:sp>
      <p:sp>
        <p:nvSpPr>
          <p:cNvPr id="11" name="Rectangle 10"/>
          <p:cNvSpPr/>
          <p:nvPr/>
        </p:nvSpPr>
        <p:spPr>
          <a:xfrm>
            <a:off x="835030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50300" y="1783080"/>
            <a:ext cx="3474720" cy="329184"/>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6002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原则三：量化验收与闭环</a:t>
            </a:r>
            <a:r>
              <a:rPr sz="1000" b="1">
                <a:solidFill>
                  <a:srgbClr val="BFDBFE"/>
                </a:solidFill>
                <a:latin typeface="Microsoft YaHei"/>
              </a:rPr>
              <a:t>  [验收要求]</a:t>
            </a:r>
          </a:p>
        </p:txBody>
      </p:sp>
      <p:sp>
        <p:nvSpPr>
          <p:cNvPr id="14" name="TextBox 13"/>
          <p:cNvSpPr txBox="1"/>
          <p:nvPr/>
        </p:nvSpPr>
        <p:spPr>
          <a:xfrm>
            <a:off x="849660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严格执行达标门限：</a:t>
            </a:r>
            <a:r>
              <a:rPr sz="1150">
                <a:solidFill>
                  <a:srgbClr val="1E293B"/>
                </a:solidFill>
                <a:latin typeface="Microsoft YaHei"/>
              </a:rPr>
              <a:t>首 Token 响应时延降低 ≥20%、系统吞吐提升 ≥10%、前台抖动 &lt;3% 等关键指标必须达标。</a:t>
            </a:r>
          </a:p>
          <a:p>
            <a:pPr>
              <a:lnSpc>
                <a:spcPct val="120000"/>
              </a:lnSpc>
              <a:spcAft>
                <a:spcPts val="600"/>
              </a:spcAft>
            </a:pPr>
            <a:r>
              <a:rPr sz="1150" b="1">
                <a:solidFill>
                  <a:srgbClr val="1E3A8A"/>
                </a:solidFill>
                <a:latin typeface="Microsoft YaHei"/>
              </a:rPr>
              <a:t>• 产出完整技术证据包：</a:t>
            </a:r>
            <a:r>
              <a:rPr sz="1150" b="1">
                <a:solidFill>
                  <a:srgbClr val="DC2626"/>
                </a:solidFill>
                <a:latin typeface="Microsoft YaHei"/>
              </a:rPr>
              <a:t>形成包含测试代码、测试环境、原始数据与分析结论的完整技术依据文档。</a:t>
            </a:r>
          </a:p>
        </p:txBody>
      </p:sp>
      <p:sp>
        <p:nvSpPr>
          <p:cNvPr id="15" name="Rectangle 14"/>
          <p:cNvSpPr/>
          <p:nvPr/>
        </p:nvSpPr>
        <p:spPr>
          <a:xfrm>
            <a:off x="548640" y="5669280"/>
            <a:ext cx="11094415" cy="713232"/>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5669280"/>
            <a:ext cx="73152" cy="7132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779008"/>
            <a:ext cx="10820095" cy="530352"/>
          </a:xfrm>
          <a:prstGeom prst="rect">
            <a:avLst/>
          </a:prstGeom>
          <a:noFill/>
        </p:spPr>
        <p:txBody>
          <a:bodyPr wrap="square" lIns="0" tIns="0" rIns="0" bIns="0">
            <a:spAutoFit/>
          </a:bodyPr>
          <a:lstStyle/>
          <a:p>
            <a:pPr algn="ctr"/>
            <a:r>
              <a:rPr sz="1300" b="1">
                <a:solidFill>
                  <a:srgbClr val="1E3A8A"/>
                </a:solidFill>
                <a:latin typeface="Microsoft YaHei"/>
              </a:rPr>
              <a:t>【总结】 </a:t>
            </a:r>
            <a:r>
              <a:rPr sz="1300" b="1">
                <a:solidFill>
                  <a:srgbClr val="DC2626"/>
                </a:solidFill>
                <a:latin typeface="Microsoft YaHei"/>
              </a:rPr>
              <a:t>提前验证方案设计已就绪，接下来将按计划开展各个验证项的测试与数据采集工作。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