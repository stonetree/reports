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微软雅黑"/>
              </a:defRPr>
            </a:pPr>
            <a:r>
              <a:t>统一异构 KVCache 存储池 · 前三周人力与任务安排架构图</a:t>
            </a:r>
          </a:p>
          <a:p>
            <a:pPr>
              <a:defRPr sz="880">
                <a:solidFill>
                  <a:srgbClr val="64748B"/>
                </a:solidFill>
                <a:latin typeface="微软雅黑"/>
              </a:defRPr>
            </a:pPr>
            <a:r>
              <a:t>前三周提前验证攻坚（W3-W1 ~ W3-W3，21天）· 横向思维导图拓扑 · 标准化优先级 [P0基线门禁 / P1核心主径 / P2条件探索]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800350"/>
            <a:ext cx="1645920" cy="74980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统一异构 KVCache
存储池</a:t>
            </a:r>
          </a:p>
          <a:p>
            <a:pPr algn="ctr"/>
            <a:r>
              <a:rPr sz="750">
                <a:solidFill>
                  <a:srgbClr val="94A3B8"/>
                </a:solidFill>
                <a:latin typeface="微软雅黑"/>
              </a:rPr>
              <a:t>提前验证攻坚体系 (21天)</a:t>
            </a:r>
          </a:p>
          <a:p>
            <a:pPr algn="ctr"/>
            <a:r>
              <a:rPr sz="720" b="1">
                <a:solidFill>
                  <a:srgbClr val="FED7AA"/>
                </a:solidFill>
                <a:latin typeface="微软雅黑"/>
              </a:rPr>
              <a:t>技术仲裁: LL ──► 主管会门禁</a:t>
            </a:r>
          </a:p>
        </p:txBody>
      </p:sp>
      <p:sp>
        <p:nvSpPr>
          <p:cNvPr id="5" name="Rectangle 4"/>
          <p:cNvSpPr/>
          <p:nvPr/>
        </p:nvSpPr>
        <p:spPr>
          <a:xfrm>
            <a:off x="2103120" y="3166999"/>
            <a:ext cx="228600" cy="1651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323465" y="1220724"/>
            <a:ext cx="16510" cy="195453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31720" y="1212469"/>
            <a:ext cx="228600" cy="1651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60320" y="982980"/>
            <a:ext cx="2148840" cy="475488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919" b="1">
                <a:solidFill>
                  <a:srgbClr val="1D4ED8"/>
                </a:solidFill>
                <a:latin typeface="微软雅黑"/>
              </a:rPr>
              <a:t>【子领域】控制面与框架接入</a:t>
            </a:r>
          </a:p>
          <a:p>
            <a:r>
              <a:rPr sz="760" b="1">
                <a:solidFill>
                  <a:srgbClr val="0F172A"/>
                </a:solidFill>
                <a:latin typeface="微软雅黑"/>
              </a:rPr>
              <a:t>Owner: WZX (1.0) / LJQ (0.5)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1215009"/>
            <a:ext cx="228600" cy="1143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32045" y="978408"/>
            <a:ext cx="11430" cy="242316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37760" y="972693"/>
            <a:ext cx="228600" cy="1143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66360" y="804672"/>
            <a:ext cx="6565392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18288" bIns="18288"/>
          <a:lstStyle/>
          <a:p>
            <a:pPr algn="ctr"/>
            <a:r>
              <a:rPr sz="800" b="1">
                <a:solidFill>
                  <a:srgbClr val="1D4ED8"/>
                </a:solidFill>
                <a:latin typeface="微软雅黑"/>
              </a:rPr>
              <a:t>[P1 · 核心主径] </a:t>
            </a:r>
            <a:r>
              <a:rPr sz="850" b="1">
                <a:solidFill>
                  <a:srgbClr val="0F172A"/>
                </a:solidFill>
                <a:latin typeface="微软雅黑"/>
              </a:rPr>
              <a:t>W3-T01 元数据与前缀查询快路径   </a:t>
            </a:r>
            <a:r>
              <a:rPr sz="780">
                <a:solidFill>
                  <a:srgbClr val="1D4ED8"/>
                </a:solidFill>
                <a:latin typeface="微软雅黑"/>
              </a:rPr>
              <a:t>责任人: LJQ (主责 0.5) / WZX (收口 1.0)</a:t>
            </a:r>
          </a:p>
          <a:p>
            <a:r>
              <a:rPr sz="720">
                <a:solidFill>
                  <a:srgbClr val="1E293B"/>
                </a:solidFill>
                <a:latin typeface="微软雅黑"/>
              </a:rPr>
              <a:t>• 目标与指标：单次查表 &lt;50µs，极限高并发 (λ=900+) 排队 P99 降 ≥70%，有效 QPS 升 ≥40%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1215009"/>
            <a:ext cx="228600" cy="1143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32045" y="1220724"/>
            <a:ext cx="11430" cy="242316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37760" y="1457325"/>
            <a:ext cx="228600" cy="1143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66360" y="1289304"/>
            <a:ext cx="6565392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18288" bIns="18288"/>
          <a:lstStyle/>
          <a:p>
            <a:pPr algn="ctr"/>
            <a:r>
              <a:rPr sz="800" b="1">
                <a:solidFill>
                  <a:srgbClr val="1D4ED8"/>
                </a:solidFill>
                <a:latin typeface="微软雅黑"/>
              </a:rPr>
              <a:t>[P1 · 核心主径] </a:t>
            </a:r>
            <a:r>
              <a:rPr sz="850" b="1">
                <a:solidFill>
                  <a:srgbClr val="0F172A"/>
                </a:solidFill>
                <a:latin typeface="微软雅黑"/>
              </a:rPr>
              <a:t>W3-T03 统一描述符批量提交与按层异步流水   </a:t>
            </a:r>
            <a:r>
              <a:rPr sz="780">
                <a:solidFill>
                  <a:srgbClr val="1D4ED8"/>
                </a:solidFill>
                <a:latin typeface="微软雅黑"/>
              </a:rPr>
              <a:t>责任人: WZX (主责 1.0) / CY, LJQ</a:t>
            </a:r>
          </a:p>
          <a:p>
            <a:r>
              <a:rPr sz="720">
                <a:solidFill>
                  <a:srgbClr val="1E293B"/>
                </a:solidFill>
                <a:latin typeface="微软雅黑"/>
              </a:rPr>
              <a:t>• 目标与指标：CPU 提交耗时 15.4ms→2.0ms，流水重叠率 &gt;80%，部分命中在线 TTFT 升 10%~15%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3166999"/>
            <a:ext cx="228600" cy="1651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23465" y="2811780"/>
            <a:ext cx="16510" cy="36347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31720" y="2803525"/>
            <a:ext cx="228600" cy="1651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560320" y="2574036"/>
            <a:ext cx="2148840" cy="475488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919" b="1">
                <a:solidFill>
                  <a:srgbClr val="0F766E"/>
                </a:solidFill>
                <a:latin typeface="微软雅黑"/>
              </a:rPr>
              <a:t>【子领域】数据面与底层通信</a:t>
            </a:r>
          </a:p>
          <a:p>
            <a:r>
              <a:rPr sz="760" b="1">
                <a:solidFill>
                  <a:srgbClr val="0F172A"/>
                </a:solidFill>
                <a:latin typeface="微软雅黑"/>
              </a:rPr>
              <a:t>Owner: CY (1.0) / YZN (0.5) [协:NXY]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2806065"/>
            <a:ext cx="228600" cy="11430"/>
          </a:xfrm>
          <a:prstGeom prst="rect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32045" y="2084832"/>
            <a:ext cx="11430" cy="726948"/>
          </a:xfrm>
          <a:prstGeom prst="rect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37760" y="2079117"/>
            <a:ext cx="228600" cy="11430"/>
          </a:xfrm>
          <a:prstGeom prst="rect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66360" y="1911096"/>
            <a:ext cx="6565392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18288" bIns="18288"/>
          <a:lstStyle/>
          <a:p>
            <a:pPr algn="ctr"/>
            <a:r>
              <a:rPr sz="800" b="1">
                <a:solidFill>
                  <a:srgbClr val="1D4ED8"/>
                </a:solidFill>
                <a:latin typeface="微软雅黑"/>
              </a:rPr>
              <a:t>[P1 · 核心主径] </a:t>
            </a:r>
            <a:r>
              <a:rPr sz="850" b="1">
                <a:solidFill>
                  <a:srgbClr val="0F172A"/>
                </a:solidFill>
                <a:latin typeface="微软雅黑"/>
              </a:rPr>
              <a:t>W3-T02 URMA 传输参数调优与大小 Slice 分档   </a:t>
            </a:r>
            <a:r>
              <a:rPr sz="780">
                <a:solidFill>
                  <a:srgbClr val="0F766E"/>
                </a:solidFill>
                <a:latin typeface="微软雅黑"/>
              </a:rPr>
              <a:t>责任人: CY (主责 1.0) / NXY (协同 0.5)</a:t>
            </a:r>
          </a:p>
          <a:p>
            <a:r>
              <a:rPr sz="720">
                <a:solidFill>
                  <a:srgbClr val="1E293B"/>
                </a:solidFill>
                <a:latin typeface="微软雅黑"/>
              </a:rPr>
              <a:t>• 目标与指标：NUMA绑定+小Slice聚合，大Slice稳定带宽 &gt;35GB/s (CV&lt;5%)，长文本 TTFT 升 15%~25%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9160" y="2806065"/>
            <a:ext cx="228600" cy="11430"/>
          </a:xfrm>
          <a:prstGeom prst="rect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32045" y="2569464"/>
            <a:ext cx="11430" cy="242316"/>
          </a:xfrm>
          <a:prstGeom prst="rect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37760" y="2563749"/>
            <a:ext cx="228600" cy="11430"/>
          </a:xfrm>
          <a:prstGeom prst="rect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166360" y="2395728"/>
            <a:ext cx="6565392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18288" bIns="18288"/>
          <a:lstStyle/>
          <a:p>
            <a:pPr algn="ctr"/>
            <a:r>
              <a:rPr sz="800" b="1">
                <a:solidFill>
                  <a:srgbClr val="1D4ED8"/>
                </a:solidFill>
                <a:latin typeface="微软雅黑"/>
              </a:rPr>
              <a:t>[P1 · 核心主径] </a:t>
            </a:r>
            <a:r>
              <a:rPr sz="850" b="1">
                <a:solidFill>
                  <a:srgbClr val="0F172A"/>
                </a:solidFill>
                <a:latin typeface="微软雅黑"/>
              </a:rPr>
              <a:t>W3-T02专项 多通道并发与 TP=8 多卡状态同步   </a:t>
            </a:r>
            <a:r>
              <a:rPr sz="780">
                <a:solidFill>
                  <a:srgbClr val="0F766E"/>
                </a:solidFill>
                <a:latin typeface="微软雅黑"/>
              </a:rPr>
              <a:t>责任人: YZN (主责 0.5) / CY (协同 1.0)</a:t>
            </a:r>
          </a:p>
          <a:p>
            <a:r>
              <a:rPr sz="720">
                <a:solidFill>
                  <a:srgbClr val="1E293B"/>
                </a:solidFill>
                <a:latin typeface="微软雅黑"/>
              </a:rPr>
              <a:t>• 目标与指标：双通道并发提升吞吐；TP=8 多卡状态同步开销压至 P99 &lt; 100µs，消除死锁等待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9160" y="2806065"/>
            <a:ext cx="228600" cy="11430"/>
          </a:xfrm>
          <a:prstGeom prst="rect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32045" y="2811780"/>
            <a:ext cx="11430" cy="242316"/>
          </a:xfrm>
          <a:prstGeom prst="rect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937760" y="3048381"/>
            <a:ext cx="228600" cy="11430"/>
          </a:xfrm>
          <a:prstGeom prst="rect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166360" y="2880360"/>
            <a:ext cx="6565392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18288" bIns="18288"/>
          <a:lstStyle/>
          <a:p>
            <a:pPr algn="ctr"/>
            <a:r>
              <a:rPr sz="800" b="1">
                <a:solidFill>
                  <a:srgbClr val="1D4ED8"/>
                </a:solidFill>
                <a:latin typeface="微软雅黑"/>
              </a:rPr>
              <a:t>[P1 · 核心主径] </a:t>
            </a:r>
            <a:r>
              <a:rPr sz="850" b="1">
                <a:solidFill>
                  <a:srgbClr val="0F172A"/>
                </a:solidFill>
                <a:latin typeface="微软雅黑"/>
              </a:rPr>
              <a:t>W3-T05 硬件探针与前后台 QoS 协同控制   </a:t>
            </a:r>
            <a:r>
              <a:rPr sz="780">
                <a:solidFill>
                  <a:srgbClr val="0F766E"/>
                </a:solidFill>
                <a:latin typeface="微软雅黑"/>
              </a:rPr>
              <a:t>责任人: NXY (策略 0.5) / CY (采集 1.0) / WXH</a:t>
            </a:r>
          </a:p>
          <a:p>
            <a:r>
              <a:rPr sz="720">
                <a:solidFill>
                  <a:srgbClr val="1E293B"/>
                </a:solidFill>
                <a:latin typeface="微软雅黑"/>
              </a:rPr>
              <a:t>• 目标与指标：RoCE优先级队列+自适应退避，后台100G搬运下前台TPOT干扰率&lt;3%，TTFT P99降≥20%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09160" y="2806065"/>
            <a:ext cx="228600" cy="11430"/>
          </a:xfrm>
          <a:prstGeom prst="rect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932045" y="2811780"/>
            <a:ext cx="11430" cy="726948"/>
          </a:xfrm>
          <a:prstGeom prst="rect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37760" y="3533013"/>
            <a:ext cx="228600" cy="11430"/>
          </a:xfrm>
          <a:prstGeom prst="rect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166360" y="3364992"/>
            <a:ext cx="6565392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18288" bIns="18288"/>
          <a:lstStyle/>
          <a:p>
            <a:pPr algn="ctr"/>
            <a:r>
              <a:rPr sz="800" b="1">
                <a:solidFill>
                  <a:srgbClr val="7E22CE"/>
                </a:solidFill>
                <a:latin typeface="微软雅黑"/>
              </a:rPr>
              <a:t>[P2 · 条件探索] </a:t>
            </a:r>
            <a:r>
              <a:rPr sz="850" b="1">
                <a:solidFill>
                  <a:srgbClr val="0F172A"/>
                </a:solidFill>
                <a:latin typeface="微软雅黑"/>
              </a:rPr>
              <a:t>W3-T08 热点中继分发 (广播场景流量压缩)   </a:t>
            </a:r>
            <a:r>
              <a:rPr sz="780">
                <a:solidFill>
                  <a:srgbClr val="0F766E"/>
                </a:solidFill>
                <a:latin typeface="微软雅黑"/>
              </a:rPr>
              <a:t>责任人: CY (主责 1.0) / NXY (协同 0.5)</a:t>
            </a:r>
          </a:p>
          <a:p>
            <a:r>
              <a:rPr sz="720">
                <a:solidFill>
                  <a:srgbClr val="1E293B"/>
                </a:solidFill>
                <a:latin typeface="微软雅黑"/>
              </a:rPr>
              <a:t>• 目标与指标：二叉树中继使源网卡出流量节省 50%~75%，广播前缀就绪缩短 ≥20% (主任务有余量启动)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03120" y="3166999"/>
            <a:ext cx="228600" cy="1651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323465" y="3175254"/>
            <a:ext cx="16510" cy="195453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331720" y="5121529"/>
            <a:ext cx="228600" cy="1651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560320" y="4892040"/>
            <a:ext cx="2148840" cy="475488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919" b="1">
                <a:solidFill>
                  <a:srgbClr val="C2410C"/>
                </a:solidFill>
                <a:latin typeface="微软雅黑"/>
              </a:rPr>
              <a:t>【子领域】调度决策与系统集成</a:t>
            </a:r>
          </a:p>
          <a:p>
            <a:r>
              <a:rPr sz="760" b="1">
                <a:solidFill>
                  <a:srgbClr val="0F172A"/>
                </a:solidFill>
                <a:latin typeface="微软雅黑"/>
              </a:rPr>
              <a:t>Owner: WXH (1.0) / 架构师 LL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09160" y="5124069"/>
            <a:ext cx="228600" cy="11430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932045" y="4160520"/>
            <a:ext cx="11430" cy="969264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937760" y="4154805"/>
            <a:ext cx="228600" cy="11430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166360" y="3986784"/>
            <a:ext cx="6565392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18288" bIns="18288"/>
          <a:lstStyle/>
          <a:p>
            <a:pPr algn="ctr"/>
            <a:r>
              <a:rPr sz="800" b="1">
                <a:solidFill>
                  <a:srgbClr val="B91C1C"/>
                </a:solidFill>
                <a:latin typeface="微软雅黑"/>
              </a:rPr>
              <a:t>[P0 · 基线门禁] </a:t>
            </a:r>
            <a:r>
              <a:rPr sz="850" b="1">
                <a:solidFill>
                  <a:srgbClr val="0F172A"/>
                </a:solidFill>
                <a:latin typeface="微软雅黑"/>
              </a:rPr>
              <a:t>W3-T00 基线、数据与实验准备 (可信分母)   </a:t>
            </a:r>
            <a:r>
              <a:rPr sz="780">
                <a:solidFill>
                  <a:srgbClr val="C2410C"/>
                </a:solidFill>
                <a:latin typeface="微软雅黑"/>
              </a:rPr>
              <a:t>责任人: WXH (主责 1.0) / CY, WZX</a:t>
            </a:r>
          </a:p>
          <a:p>
            <a:r>
              <a:rPr sz="720">
                <a:solidFill>
                  <a:srgbClr val="1E293B"/>
                </a:solidFill>
                <a:latin typeface="微软雅黑"/>
              </a:rPr>
              <a:t>• 目标与指标：真实双节点 42GB/s 链路，首批 8B 3 点打通，探针冻结，环境变异系数 CV &lt; 10%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09160" y="5124069"/>
            <a:ext cx="228600" cy="11430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932045" y="4645152"/>
            <a:ext cx="11430" cy="484632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937760" y="4639437"/>
            <a:ext cx="228600" cy="11430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166360" y="4471416"/>
            <a:ext cx="6565392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18288" bIns="18288"/>
          <a:lstStyle/>
          <a:p>
            <a:pPr algn="ctr"/>
            <a:r>
              <a:rPr sz="800" b="1">
                <a:solidFill>
                  <a:srgbClr val="1D4ED8"/>
                </a:solidFill>
                <a:latin typeface="微软雅黑"/>
              </a:rPr>
              <a:t>[P1 · 核心主径] </a:t>
            </a:r>
            <a:r>
              <a:rPr sz="850" b="1">
                <a:solidFill>
                  <a:srgbClr val="0F172A"/>
                </a:solidFill>
                <a:latin typeface="微软雅黑"/>
              </a:rPr>
              <a:t>W3-T04 微秒级成本预估与动态选路避险   </a:t>
            </a:r>
            <a:r>
              <a:rPr sz="780">
                <a:solidFill>
                  <a:srgbClr val="C2410C"/>
                </a:solidFill>
                <a:latin typeface="微软雅黑"/>
              </a:rPr>
              <a:t>责任人: WXH (主责 1.0) / WZX, CY</a:t>
            </a:r>
          </a:p>
          <a:p>
            <a:r>
              <a:rPr sz="720">
                <a:solidFill>
                  <a:srgbClr val="1E293B"/>
                </a:solidFill>
                <a:latin typeface="微软雅黑"/>
              </a:rPr>
              <a:t>• 目标与指标：决策耗时 &lt;5µs；在恶劣 3GB/s 下主动回退本地重算，消除 389ms 等待，退化率降至 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09160" y="5124069"/>
            <a:ext cx="228600" cy="11430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37760" y="5124069"/>
            <a:ext cx="228600" cy="11430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166360" y="4956048"/>
            <a:ext cx="6565392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18288" bIns="18288"/>
          <a:lstStyle/>
          <a:p>
            <a:pPr algn="ctr"/>
            <a:r>
              <a:rPr sz="800" b="1">
                <a:solidFill>
                  <a:srgbClr val="B91C1C"/>
                </a:solidFill>
                <a:latin typeface="微软雅黑"/>
              </a:rPr>
              <a:t>[P0 · 基线门禁] </a:t>
            </a:r>
            <a:r>
              <a:rPr sz="850" b="1">
                <a:solidFill>
                  <a:srgbClr val="0F172A"/>
                </a:solidFill>
                <a:latin typeface="微软雅黑"/>
              </a:rPr>
              <a:t>W3-T06 有效单项的组合与边际贡献复验   </a:t>
            </a:r>
            <a:r>
              <a:rPr sz="780">
                <a:solidFill>
                  <a:srgbClr val="C2410C"/>
                </a:solidFill>
                <a:latin typeface="微软雅黑"/>
              </a:rPr>
              <a:t>责任人: WXH (主责 1.0) / 全员协同</a:t>
            </a:r>
          </a:p>
          <a:p>
            <a:r>
              <a:rPr sz="720">
                <a:solidFill>
                  <a:srgbClr val="1E293B"/>
                </a:solidFill>
                <a:latin typeface="微软雅黑"/>
              </a:rPr>
              <a:t>• 目标与指标：全功能组合 vs 去一项递进对照；组合 TTFT 升 15%~25%，QPS 升 10%~20%；剪枝负增益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09160" y="5124069"/>
            <a:ext cx="228600" cy="11430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32045" y="5129784"/>
            <a:ext cx="11430" cy="484632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937760" y="5608701"/>
            <a:ext cx="228600" cy="11430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166360" y="5440680"/>
            <a:ext cx="6565392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18288" bIns="18288"/>
          <a:lstStyle/>
          <a:p>
            <a:pPr algn="ctr"/>
            <a:r>
              <a:rPr sz="800" b="1">
                <a:solidFill>
                  <a:srgbClr val="7E22CE"/>
                </a:solidFill>
                <a:latin typeface="微软雅黑"/>
              </a:rPr>
              <a:t>[P2 · 条件探索] </a:t>
            </a:r>
            <a:r>
              <a:rPr sz="850" b="1">
                <a:solidFill>
                  <a:srgbClr val="0F172A"/>
                </a:solidFill>
                <a:latin typeface="微软雅黑"/>
              </a:rPr>
              <a:t>W3-T07 分层存储容量压力与换入冲击实测   </a:t>
            </a:r>
            <a:r>
              <a:rPr sz="780">
                <a:solidFill>
                  <a:srgbClr val="C2410C"/>
                </a:solidFill>
                <a:latin typeface="微软雅黑"/>
              </a:rPr>
              <a:t>责任人: WXH (主责 1.0) / WZX, YZN</a:t>
            </a:r>
          </a:p>
          <a:p>
            <a:r>
              <a:rPr sz="720">
                <a:solidFill>
                  <a:srgbClr val="1E293B"/>
                </a:solidFill>
                <a:latin typeface="微软雅黑"/>
              </a:rPr>
              <a:t>• 目标与指标：72B 工作集超显存 1.5~2 倍；实测 NVMe 换入冲击，验证有效完成率能否维持 &gt;95%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709160" y="5124069"/>
            <a:ext cx="228600" cy="11430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32045" y="5129784"/>
            <a:ext cx="11430" cy="969264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37760" y="6093333"/>
            <a:ext cx="228600" cy="11430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5166360" y="5925312"/>
            <a:ext cx="6565392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18288" bIns="18288"/>
          <a:lstStyle/>
          <a:p>
            <a:pPr algn="ctr"/>
            <a:r>
              <a:rPr sz="800" b="1">
                <a:solidFill>
                  <a:srgbClr val="7E22CE"/>
                </a:solidFill>
                <a:latin typeface="微软雅黑"/>
              </a:rPr>
              <a:t>[P2 · 条件探索] </a:t>
            </a:r>
            <a:r>
              <a:rPr sz="850" b="1">
                <a:solidFill>
                  <a:srgbClr val="0F172A"/>
                </a:solidFill>
                <a:latin typeface="微软雅黑"/>
              </a:rPr>
              <a:t>W3-T09 远端直读/可选卸载/页迁移专项   </a:t>
            </a:r>
            <a:r>
              <a:rPr sz="780">
                <a:solidFill>
                  <a:srgbClr val="C2410C"/>
                </a:solidFill>
                <a:latin typeface="微软雅黑"/>
              </a:rPr>
              <a:t>责任人: WXH (直读) / CY (卸载) / YZN, WZX</a:t>
            </a:r>
          </a:p>
          <a:p>
            <a:r>
              <a:rPr sz="720">
                <a:solidFill>
                  <a:srgbClr val="1E293B"/>
                </a:solidFill>
                <a:latin typeface="微软雅黑"/>
              </a:rPr>
              <a:t>• 目标与指标：远端直读 vs 本地拷贝物理平衡点实测；评估硬件卸载与纯软直达代价，支持选型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6364224"/>
            <a:ext cx="1127729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80">
                <a:solidFill>
                  <a:srgbClr val="64748B"/>
                </a:solidFill>
                <a:latin typeface="微软雅黑"/>
              </a:defRPr>
            </a:pPr>
            <a:r>
              <a:t>📌 优先级与归类说明：P0 · 基线门禁（系统前置对账分母与最终立项生死线）；P1 · 核心主径（前两周核心攻坚，必须测出明确提升比例）；P2 · 条件探索（主任务有余量启动，用于摸清技术边界与支持架构证伪）。全周期唯一考核在线推理宏观指标（TTFT、有效 QPS、TPOT 干扰率）。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