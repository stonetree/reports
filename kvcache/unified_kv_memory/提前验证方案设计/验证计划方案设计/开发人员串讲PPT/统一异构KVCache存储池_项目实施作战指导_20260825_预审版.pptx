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731520"/>
            <a:ext cx="182880" cy="5394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914400"/>
            <a:ext cx="10058400" cy="365760"/>
          </a:xfrm>
          <a:prstGeom prst="rect">
            <a:avLst/>
          </a:prstGeom>
          <a:noFill/>
        </p:spPr>
        <p:txBody>
          <a:bodyPr wrap="none" lIns="0" tIns="0" rIns="0" bIns="0">
            <a:spAutoFit/>
          </a:bodyPr>
          <a:lstStyle/>
          <a:p>
            <a:pPr>
              <a:defRPr sz="1100" b="1">
                <a:solidFill>
                  <a:srgbClr val="2563EB"/>
                </a:solidFill>
                <a:latin typeface="Consolas"/>
              </a:defRPr>
            </a:pPr>
            <a:r>
              <a:t>UNIFIED HETEROGENEOUS KVCACHE MEMORY POOL · DEVELOPMENT COMBAT GUIDANCE</a:t>
            </a:r>
          </a:p>
        </p:txBody>
      </p:sp>
      <p:sp>
        <p:nvSpPr>
          <p:cNvPr id="4" name="TextBox 3"/>
          <p:cNvSpPr txBox="1"/>
          <p:nvPr/>
        </p:nvSpPr>
        <p:spPr>
          <a:xfrm>
            <a:off x="960120" y="1325880"/>
            <a:ext cx="10058400" cy="1097280"/>
          </a:xfrm>
          <a:prstGeom prst="rect">
            <a:avLst/>
          </a:prstGeom>
          <a:noFill/>
        </p:spPr>
        <p:txBody>
          <a:bodyPr wrap="square" lIns="0" tIns="0" rIns="0" bIns="0">
            <a:spAutoFit/>
          </a:bodyPr>
          <a:lstStyle/>
          <a:p>
            <a:pPr>
              <a:defRPr sz="2600" b="1">
                <a:solidFill>
                  <a:srgbClr val="1E3A8A"/>
                </a:solidFill>
                <a:latin typeface="Microsoft YaHei"/>
              </a:defRPr>
            </a:pPr>
            <a:r>
              <a:t>面向国产 AI 硬件统一异构 KVCache 存储池</a:t>
            </a:r>
          </a:p>
          <a:p>
            <a:pPr>
              <a:spcBef>
                <a:spcPts val="400"/>
              </a:spcBef>
              <a:defRPr sz="2200" b="1">
                <a:solidFill>
                  <a:srgbClr val="1E3A8A"/>
                </a:solidFill>
                <a:latin typeface="Microsoft YaHei"/>
              </a:defRPr>
            </a:pPr>
            <a:r>
              <a:t>项目实施作战指导与研发攻坚落地手册</a:t>
            </a:r>
          </a:p>
        </p:txBody>
      </p:sp>
      <p:sp>
        <p:nvSpPr>
          <p:cNvPr id="5" name="TextBox 4"/>
          <p:cNvSpPr txBox="1"/>
          <p:nvPr/>
        </p:nvSpPr>
        <p:spPr>
          <a:xfrm>
            <a:off x="960120" y="2560320"/>
            <a:ext cx="10058400" cy="365760"/>
          </a:xfrm>
          <a:prstGeom prst="rect">
            <a:avLst/>
          </a:prstGeom>
          <a:noFill/>
        </p:spPr>
        <p:txBody>
          <a:bodyPr wrap="square" lIns="0" tIns="0" rIns="0" bIns="0">
            <a:spAutoFit/>
          </a:bodyPr>
          <a:lstStyle/>
          <a:p>
            <a:pPr>
              <a:defRPr sz="1200">
                <a:solidFill>
                  <a:srgbClr val="475569"/>
                </a:solidFill>
                <a:latin typeface="Microsoft YaHei"/>
              </a:defRPr>
            </a:pPr>
            <a:r>
              <a:t>基于开源生态底座深度重构 · 9人攻坚团队“研-产-测一体化”作战地图与实施推进指南</a:t>
            </a:r>
          </a:p>
        </p:txBody>
      </p:sp>
      <p:sp>
        <p:nvSpPr>
          <p:cNvPr id="6" name="Rectangle 5"/>
          <p:cNvSpPr/>
          <p:nvPr/>
        </p:nvSpPr>
        <p:spPr>
          <a:xfrm>
            <a:off x="960120" y="3108960"/>
            <a:ext cx="3383280" cy="21488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310896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45536"/>
            <a:ext cx="3163824" cy="237744"/>
          </a:xfrm>
          <a:prstGeom prst="rect">
            <a:avLst/>
          </a:prstGeom>
          <a:noFill/>
        </p:spPr>
        <p:txBody>
          <a:bodyPr wrap="none" lIns="0" tIns="0" rIns="0" bIns="0">
            <a:spAutoFit/>
          </a:bodyPr>
          <a:lstStyle/>
          <a:p>
            <a:pPr>
              <a:defRPr sz="1200" b="1">
                <a:solidFill>
                  <a:srgbClr val="FFFFFF"/>
                </a:solidFill>
                <a:latin typeface="Microsoft YaHei"/>
              </a:defRPr>
            </a:pPr>
            <a:r>
              <a:t>极速传输与微秒决策底座</a:t>
            </a:r>
            <a:r>
              <a:rPr sz="1000" b="1">
                <a:solidFill>
                  <a:srgbClr val="BFDBFE"/>
                </a:solidFill>
                <a:latin typeface="Microsoft YaHei"/>
              </a:rPr>
              <a:t>  [核心机制]</a:t>
            </a:r>
          </a:p>
        </p:txBody>
      </p:sp>
      <p:sp>
        <p:nvSpPr>
          <p:cNvPr id="9" name="TextBox 8"/>
          <p:cNvSpPr txBox="1"/>
          <p:nvPr/>
        </p:nvSpPr>
        <p:spPr>
          <a:xfrm>
            <a:off x="1088136" y="3493008"/>
            <a:ext cx="3127248" cy="1691640"/>
          </a:xfrm>
          <a:prstGeom prst="rect">
            <a:avLst/>
          </a:prstGeom>
          <a:noFill/>
        </p:spPr>
        <p:txBody>
          <a:bodyPr wrap="square" lIns="0" tIns="0" rIns="0" bIns="0">
            <a:spAutoFit/>
          </a:bodyPr>
          <a:lstStyle/>
          <a:p>
            <a:pPr algn="l">
              <a:lnSpc>
                <a:spcPct val="118000"/>
              </a:lnSpc>
              <a:spcAft>
                <a:spcPts val="600"/>
              </a:spcAft>
            </a:pPr>
            <a:r>
              <a:rPr sz="1150" b="1">
                <a:solidFill>
                  <a:srgbClr val="1E3A8A"/>
                </a:solidFill>
                <a:latin typeface="Microsoft YaHei"/>
              </a:rPr>
              <a:t>• URMA/UBMEM 零拷贝底座：</a:t>
            </a:r>
            <a:r>
              <a:rPr sz="1150">
                <a:solidFill>
                  <a:srgbClr val="1E293B"/>
                </a:solidFill>
                <a:latin typeface="Microsoft YaHei"/>
              </a:rPr>
              <a:t>基于 NPU 远程显存通信，</a:t>
            </a:r>
            <a:r>
              <a:rPr sz="1150" b="1">
                <a:solidFill>
                  <a:srgbClr val="DC2626"/>
                </a:solidFill>
                <a:latin typeface="Microsoft YaHei"/>
              </a:rPr>
              <a:t>Host CPU 正文搬运严格为 0</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微秒级动态选路决策：</a:t>
            </a:r>
            <a:r>
              <a:rPr sz="1150">
                <a:solidFill>
                  <a:srgbClr val="1E293B"/>
                </a:solidFill>
                <a:latin typeface="Microsoft YaHei"/>
              </a:rPr>
              <a:t>自研 QueryPlan 决策模型，</a:t>
            </a:r>
            <a:r>
              <a:rPr sz="1150" b="1">
                <a:solidFill>
                  <a:srgbClr val="DC2626"/>
                </a:solidFill>
                <a:latin typeface="Microsoft YaHei"/>
              </a:rPr>
              <a:t>决策时延 P99 &lt; 5µs</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连续块描述符编译：</a:t>
            </a:r>
            <a:r>
              <a:rPr sz="1150">
                <a:solidFill>
                  <a:srgbClr val="1E293B"/>
                </a:solidFill>
                <a:latin typeface="Microsoft YaHei"/>
              </a:rPr>
              <a:t>Scatter-Gather 编译将 </a:t>
            </a:r>
            <a:r>
              <a:rPr sz="1150" b="1">
                <a:solidFill>
                  <a:srgbClr val="DC2626"/>
                </a:solidFill>
                <a:latin typeface="Microsoft YaHei"/>
              </a:rPr>
              <a:t>CPU 提交开销降低 ≥40%</a:t>
            </a:r>
            <a:r>
              <a:rPr sz="1150">
                <a:solidFill>
                  <a:srgbClr val="1E293B"/>
                </a:solidFill>
                <a:latin typeface="Microsoft YaHei"/>
              </a:rPr>
              <a:t>。</a:t>
            </a:r>
          </a:p>
        </p:txBody>
      </p:sp>
      <p:sp>
        <p:nvSpPr>
          <p:cNvPr id="10" name="Rectangle 9"/>
          <p:cNvSpPr/>
          <p:nvPr/>
        </p:nvSpPr>
        <p:spPr>
          <a:xfrm>
            <a:off x="4663440" y="3108960"/>
            <a:ext cx="3383280" cy="21488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310896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3145536"/>
            <a:ext cx="3163824" cy="237744"/>
          </a:xfrm>
          <a:prstGeom prst="rect">
            <a:avLst/>
          </a:prstGeom>
          <a:noFill/>
        </p:spPr>
        <p:txBody>
          <a:bodyPr wrap="none" lIns="0" tIns="0" rIns="0" bIns="0">
            <a:spAutoFit/>
          </a:bodyPr>
          <a:lstStyle/>
          <a:p>
            <a:pPr>
              <a:defRPr sz="1200" b="1">
                <a:solidFill>
                  <a:srgbClr val="FFFFFF"/>
                </a:solidFill>
                <a:latin typeface="Microsoft YaHei"/>
              </a:defRPr>
            </a:pPr>
            <a:r>
              <a:t>分层存储扩展与多卡原子协同</a:t>
            </a:r>
            <a:r>
              <a:rPr sz="1000" b="1">
                <a:solidFill>
                  <a:srgbClr val="BFDBFE"/>
                </a:solidFill>
                <a:latin typeface="Microsoft YaHei"/>
              </a:rPr>
              <a:t>  [存储与并发]</a:t>
            </a:r>
          </a:p>
        </p:txBody>
      </p:sp>
      <p:sp>
        <p:nvSpPr>
          <p:cNvPr id="13" name="TextBox 12"/>
          <p:cNvSpPr txBox="1"/>
          <p:nvPr/>
        </p:nvSpPr>
        <p:spPr>
          <a:xfrm>
            <a:off x="4791456" y="3493008"/>
            <a:ext cx="3127248" cy="1691640"/>
          </a:xfrm>
          <a:prstGeom prst="rect">
            <a:avLst/>
          </a:prstGeom>
          <a:noFill/>
        </p:spPr>
        <p:txBody>
          <a:bodyPr wrap="square" lIns="0" tIns="0" rIns="0" bIns="0">
            <a:spAutoFit/>
          </a:bodyPr>
          <a:lstStyle/>
          <a:p>
            <a:pPr algn="l">
              <a:lnSpc>
                <a:spcPct val="118000"/>
              </a:lnSpc>
              <a:spcAft>
                <a:spcPts val="600"/>
              </a:spcAft>
            </a:pPr>
            <a:r>
              <a:rPr sz="1150" b="1">
                <a:solidFill>
                  <a:srgbClr val="1E3A8A"/>
                </a:solidFill>
                <a:latin typeface="Microsoft YaHei"/>
              </a:rPr>
              <a:t>• HBM-SSD 裸盘直达：</a:t>
            </a:r>
            <a:r>
              <a:rPr sz="1150">
                <a:solidFill>
                  <a:srgbClr val="1E293B"/>
                </a:solidFill>
                <a:latin typeface="Microsoft YaHei"/>
              </a:rPr>
              <a:t>利用 io_uring 直通 NVMe，</a:t>
            </a:r>
            <a:r>
              <a:rPr sz="1150" b="1">
                <a:solidFill>
                  <a:srgbClr val="DC2626"/>
                </a:solidFill>
                <a:latin typeface="Microsoft YaHei"/>
              </a:rPr>
              <a:t>150% 超载下 OOM 降低 ≥50%</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TP 多卡原子协同机制：</a:t>
            </a:r>
            <a:r>
              <a:rPr sz="1150">
                <a:solidFill>
                  <a:srgbClr val="1E293B"/>
                </a:solidFill>
                <a:latin typeface="Microsoft YaHei"/>
              </a:rPr>
              <a:t>破解多卡加载偏斜，</a:t>
            </a:r>
            <a:r>
              <a:rPr sz="1150" b="1">
                <a:solidFill>
                  <a:srgbClr val="DC2626"/>
                </a:solidFill>
                <a:latin typeface="Microsoft YaHei"/>
              </a:rPr>
              <a:t>原子 Doorbell 消除时序差</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多维度语义一致性校验：</a:t>
            </a:r>
            <a:r>
              <a:rPr sz="1150">
                <a:solidFill>
                  <a:srgbClr val="1E293B"/>
                </a:solidFill>
                <a:latin typeface="Microsoft YaHei"/>
              </a:rPr>
              <a:t>微秒级合法性检查，杜绝脏块，实现</a:t>
            </a:r>
            <a:r>
              <a:rPr sz="1150" b="1">
                <a:solidFill>
                  <a:srgbClr val="059669"/>
                </a:solidFill>
                <a:latin typeface="Microsoft YaHei"/>
              </a:rPr>
              <a:t>生产级 0 错误消费</a:t>
            </a:r>
            <a:r>
              <a:rPr sz="1150">
                <a:solidFill>
                  <a:srgbClr val="1E293B"/>
                </a:solidFill>
                <a:latin typeface="Microsoft YaHei"/>
              </a:rPr>
              <a:t>。</a:t>
            </a:r>
          </a:p>
        </p:txBody>
      </p:sp>
      <p:sp>
        <p:nvSpPr>
          <p:cNvPr id="14" name="Rectangle 13"/>
          <p:cNvSpPr/>
          <p:nvPr/>
        </p:nvSpPr>
        <p:spPr>
          <a:xfrm>
            <a:off x="8366760" y="3108960"/>
            <a:ext cx="3383280" cy="21488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3108960"/>
            <a:ext cx="338328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76488" y="3145536"/>
            <a:ext cx="3163824" cy="237744"/>
          </a:xfrm>
          <a:prstGeom prst="rect">
            <a:avLst/>
          </a:prstGeom>
          <a:noFill/>
        </p:spPr>
        <p:txBody>
          <a:bodyPr wrap="none" lIns="0" tIns="0" rIns="0" bIns="0">
            <a:spAutoFit/>
          </a:bodyPr>
          <a:lstStyle/>
          <a:p>
            <a:pPr>
              <a:defRPr sz="1200" b="1">
                <a:solidFill>
                  <a:srgbClr val="FFFFFF"/>
                </a:solidFill>
                <a:latin typeface="Microsoft YaHei"/>
              </a:defRPr>
            </a:pPr>
            <a:r>
              <a:t>研产测一体化与全链路门禁</a:t>
            </a:r>
            <a:r>
              <a:rPr sz="1000" b="1">
                <a:solidFill>
                  <a:srgbClr val="BFDBFE"/>
                </a:solidFill>
                <a:latin typeface="Microsoft YaHei"/>
              </a:rPr>
              <a:t>  [研发准则]</a:t>
            </a:r>
          </a:p>
        </p:txBody>
      </p:sp>
      <p:sp>
        <p:nvSpPr>
          <p:cNvPr id="17" name="TextBox 16"/>
          <p:cNvSpPr txBox="1"/>
          <p:nvPr/>
        </p:nvSpPr>
        <p:spPr>
          <a:xfrm>
            <a:off x="8494776" y="3493008"/>
            <a:ext cx="3127248" cy="1691640"/>
          </a:xfrm>
          <a:prstGeom prst="rect">
            <a:avLst/>
          </a:prstGeom>
          <a:noFill/>
        </p:spPr>
        <p:txBody>
          <a:bodyPr wrap="square" lIns="0" tIns="0" rIns="0" bIns="0">
            <a:spAutoFit/>
          </a:bodyPr>
          <a:lstStyle/>
          <a:p>
            <a:pPr algn="l">
              <a:lnSpc>
                <a:spcPct val="118000"/>
              </a:lnSpc>
              <a:spcAft>
                <a:spcPts val="600"/>
              </a:spcAft>
            </a:pPr>
            <a:r>
              <a:rPr sz="1150" b="1">
                <a:solidFill>
                  <a:srgbClr val="1E3A8A"/>
                </a:solidFill>
                <a:latin typeface="Microsoft YaHei"/>
              </a:rPr>
              <a:t>• 全员主攻手任务矩阵：</a:t>
            </a:r>
            <a:r>
              <a:rPr sz="1150">
                <a:solidFill>
                  <a:srgbClr val="1E293B"/>
                </a:solidFill>
                <a:latin typeface="Microsoft YaHei"/>
              </a:rPr>
              <a:t>消除孤立辅助岗位，每位研发承担</a:t>
            </a:r>
            <a:r>
              <a:rPr sz="1150" b="1">
                <a:solidFill>
                  <a:srgbClr val="2563EB"/>
                </a:solidFill>
                <a:latin typeface="Microsoft YaHei"/>
              </a:rPr>
              <a:t>1 项硬核领地 + 1 项工程底座</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以测带练渐进到位：</a:t>
            </a:r>
            <a:r>
              <a:rPr sz="1150">
                <a:solidFill>
                  <a:srgbClr val="1E293B"/>
                </a:solidFill>
                <a:latin typeface="Microsoft YaHei"/>
              </a:rPr>
              <a:t>3.5人初始筑基，编写 Benchmark 切入，</a:t>
            </a:r>
            <a:r>
              <a:rPr sz="1150" b="1">
                <a:solidFill>
                  <a:srgbClr val="2563EB"/>
                </a:solidFill>
                <a:latin typeface="Microsoft YaHei"/>
              </a:rPr>
              <a:t>在实战中固化公共契约</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E3 全链路混压总门禁：</a:t>
            </a:r>
            <a:r>
              <a:rPr sz="1150">
                <a:solidFill>
                  <a:srgbClr val="1E293B"/>
                </a:solidFill>
                <a:latin typeface="Microsoft YaHei"/>
              </a:rPr>
              <a:t>在真实混压下测定</a:t>
            </a:r>
            <a:r>
              <a:rPr sz="1150" b="1">
                <a:solidFill>
                  <a:srgbClr val="DC2626"/>
                </a:solidFill>
                <a:latin typeface="Microsoft YaHei"/>
              </a:rPr>
              <a:t>TTFT 降低 ≥20% 且干扰率 &lt; 3%</a:t>
            </a:r>
            <a:r>
              <a:rPr sz="1150">
                <a:solidFill>
                  <a:srgbClr val="1E293B"/>
                </a:solidFill>
                <a:latin typeface="Microsoft YaHei"/>
              </a:rPr>
              <a:t>。</a:t>
            </a:r>
          </a:p>
        </p:txBody>
      </p:sp>
      <p:sp>
        <p:nvSpPr>
          <p:cNvPr id="18" name="TextBox 17"/>
          <p:cNvSpPr txBox="1"/>
          <p:nvPr/>
        </p:nvSpPr>
        <p:spPr>
          <a:xfrm>
            <a:off x="960120" y="5760720"/>
            <a:ext cx="10058400" cy="365760"/>
          </a:xfrm>
          <a:prstGeom prst="rect">
            <a:avLst/>
          </a:prstGeom>
          <a:noFill/>
        </p:spPr>
        <p:txBody>
          <a:bodyPr wrap="none" lIns="0" tIns="0" rIns="0" bIns="0">
            <a:spAutoFit/>
          </a:bodyPr>
          <a:lstStyle/>
          <a:p>
            <a:pPr>
              <a:defRPr sz="1100" b="1">
                <a:solidFill>
                  <a:srgbClr val="475569"/>
                </a:solidFill>
                <a:latin typeface="Microsoft YaHei"/>
              </a:defRPr>
            </a:pPr>
            <a:r>
              <a:t>统一异构 KVCache 存储池研发攻坚组 · 2026-08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人力作战阵型：9人攻坚团队“研-产-测一体化”任务矩阵</a:t>
            </a:r>
          </a:p>
          <a:p>
            <a:pPr>
              <a:spcBef>
                <a:spcPts val="300"/>
              </a:spcBef>
              <a:defRPr sz="1100">
                <a:solidFill>
                  <a:srgbClr val="475569"/>
                </a:solidFill>
                <a:latin typeface="Microsoft YaHei"/>
              </a:defRPr>
            </a:pPr>
            <a:r>
              <a:t>消除孤立辅助岗位，每位工程师均承担“1 项硬核技术领地（主攻创新） + 1 项工程交付（底座保障）”，随人员分步到位动态演进</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02 / 06 页</a:t>
            </a:r>
          </a:p>
        </p:txBody>
      </p:sp>
      <p:graphicFrame>
        <p:nvGraphicFramePr>
          <p:cNvPr id="4" name="Table 3"/>
          <p:cNvGraphicFramePr>
            <a:graphicFrameLocks noGrp="1"/>
          </p:cNvGraphicFramePr>
          <p:nvPr/>
        </p:nvGraphicFramePr>
        <p:xfrm>
          <a:off x="457200" y="1051560"/>
          <a:ext cx="11277295" cy="4617720"/>
        </p:xfrm>
        <a:graphic>
          <a:graphicData uri="http://schemas.openxmlformats.org/drawingml/2006/table">
            <a:tbl>
              <a:tblPr firstRow="1" bandRow="1">
                <a:tableStyleId>{5C22544A-7EE6-4342-B048-85BDC9FD1C3A}</a:tableStyleId>
              </a:tblPr>
              <a:tblGrid>
                <a:gridCol w="2148840"/>
                <a:gridCol w="1005840"/>
                <a:gridCol w="4069080"/>
                <a:gridCol w="2834640"/>
                <a:gridCol w="1218895"/>
              </a:tblGrid>
              <a:tr h="461772">
                <a:tc>
                  <a:txBody>
                    <a:bodyPr wrap="square" lIns="54864" rIns="54864" tIns="36576" bIns="36576"/>
                    <a:lstStyle/>
                    <a:p>
                      <a:pPr algn="ctr">
                        <a:defRPr sz="1000" b="1">
                          <a:solidFill>
                            <a:srgbClr val="FFFFFF"/>
                          </a:solidFill>
                          <a:latin typeface="Microsoft YaHei"/>
                        </a:defRPr>
                      </a:pPr>
                      <a:r>
                        <a:t>作战代号与角色定位</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到位状态</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硬核技术领地（主攻创新与核心命题）</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穿插交付与底座工作（以测带练）</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承接CP/验证项</a:t>
                      </a:r>
                    </a:p>
                  </a:txBody>
                  <a:tcPr anchor="ctr">
                    <a:solidFill>
                      <a:srgbClr val="1E3A8A"/>
                    </a:solidFill>
                  </a:tcPr>
                </a:tc>
              </a:tr>
              <a:tr h="461772">
                <a:tc>
                  <a:txBody>
                    <a:bodyPr wrap="square" lIns="54864" rIns="54864" tIns="27432" bIns="27432"/>
                    <a:lstStyle/>
                    <a:p>
                      <a:pPr algn="l">
                        <a:lnSpc>
                          <a:spcPct val="120000"/>
                        </a:lnSpc>
                        <a:defRPr sz="980" b="1">
                          <a:solidFill>
                            <a:srgbClr val="0F172A"/>
                          </a:solidFill>
                          <a:latin typeface="Microsoft YaHei"/>
                        </a:defRPr>
                      </a:pPr>
                      <a:r>
                        <a:t>[指挥部] 架构总师 (您本人)</a:t>
                      </a:r>
                    </a:p>
                  </a:txBody>
                  <a:tcPr anchor="ctr">
                    <a:solidFill>
                      <a:srgbClr val="FFFFFF"/>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全局顶层微架构设计、跨层契约裁决、SRS 导读与 AR 需求全局把控</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64B POD 描述符头文件规范输出，每周数据对账与方案把关</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全局 SR ｜ E0~E3</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[战区1] Dev-1 (极速传输主攻)</a:t>
                      </a:r>
                    </a:p>
                  </a:txBody>
                  <a:tcPr anchor="ctr">
                    <a:solidFill>
                      <a:srgbClr val="F8FAFC"/>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URMA/UBMEM 零拷贝通信底座，eBPF 证明 Host CPU 零数据拷贝</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预注册固定缓冲池 (Fast Buffer Pool) 固化，打通底层快速通道</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CP-11 ｜ PVT-01</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[战区7] Dev-2 (分布式元数据)</a:t>
                      </a:r>
                    </a:p>
                  </a:txBody>
                  <a:tcPr anchor="ctr">
                    <a:solidFill>
                      <a:srgbClr val="FFFFFF"/>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Mooncake URMA 前缀深度重构，分布式 RadixTree 微秒单边直读</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跨节点元数据高并发查询 Benchmark 测试套件构建与时延压测</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CP-03 ｜ PVT-00/04</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[战区3] Dev-3 (收益与决策)</a:t>
                      </a:r>
                    </a:p>
                  </a:txBody>
                  <a:tcPr anchor="ctr">
                    <a:solidFill>
                      <a:srgbClr val="F8FAFC"/>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Saved-Prefill 收益上限模型，测定 MLA/MHA 真实加速净收益边界</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真实 Workload 业务前缀流量构造工具，编排多档复用率数据集</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CP-04 ｜ PVT-00</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[战区3] Dev-4 (微秒决策主攻)</a:t>
                      </a:r>
                    </a:p>
                  </a:txBody>
                  <a:tcPr anchor="ctr">
                    <a:solidFill>
                      <a:srgbClr val="FFFFFF"/>
                    </a:solidFill>
                  </a:tcPr>
                </a:tc>
                <a:tc>
                  <a:txBody>
                    <a:bodyPr wrap="square" lIns="54864" rIns="54864" tIns="27432" bIns="27432"/>
                    <a:lstStyle/>
                    <a:p>
                      <a:pPr algn="ctr">
                        <a:lnSpc>
                          <a:spcPct val="120000"/>
                        </a:lnSpc>
                        <a:defRPr sz="980" b="1">
                          <a:solidFill>
                            <a:srgbClr val="2563EB"/>
                          </a:solidFill>
                          <a:latin typeface="Microsoft YaHei"/>
                        </a:defRPr>
                      </a:pPr>
                      <a:r>
                        <a:t>第 4 位到位</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QueryPlan 微秒动态决策引擎与 CostEvaluator 成本模型 (P99&lt;5µs)</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(入组练手) 公共契约与微秒计时桩固化，完善统一日志与决策压测</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CP-04 ｜ PVT-04</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[战区5] Dev-5 (分层存储主攻)</a:t>
                      </a:r>
                    </a:p>
                  </a:txBody>
                  <a:tcPr anchor="ctr">
                    <a:solidFill>
                      <a:srgbClr val="F8FAFC"/>
                    </a:solidFill>
                  </a:tcPr>
                </a:tc>
                <a:tc>
                  <a:txBody>
                    <a:bodyPr wrap="square" lIns="54864" rIns="54864" tIns="27432" bIns="27432"/>
                    <a:lstStyle/>
                    <a:p>
                      <a:pPr algn="ctr">
                        <a:lnSpc>
                          <a:spcPct val="120000"/>
                        </a:lnSpc>
                        <a:defRPr sz="980" b="1">
                          <a:solidFill>
                            <a:srgbClr val="2563EB"/>
                          </a:solidFill>
                          <a:latin typeface="Microsoft YaHei"/>
                        </a:defRPr>
                      </a:pPr>
                      <a:r>
                        <a:t>第 5 位到位</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HBM ↔ NVMe SSD 裸盘直达容量主路径，150% 超载下防 OOM</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(入组练手) NVMe 裸盘读写压测流水线，监控物理扇区吞吐与寿命</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CP-07,08 ｜ PVT-05</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[战区4] Dev-6 (多卡原子协同)</a:t>
                      </a:r>
                    </a:p>
                  </a:txBody>
                  <a:tcPr anchor="ctr">
                    <a:solidFill>
                      <a:srgbClr val="FFFFFF"/>
                    </a:solidFill>
                  </a:tcPr>
                </a:tc>
                <a:tc>
                  <a:txBody>
                    <a:bodyPr wrap="square" lIns="54864" rIns="54864" tIns="27432" bIns="27432"/>
                    <a:lstStyle/>
                    <a:p>
                      <a:pPr algn="ctr">
                        <a:lnSpc>
                          <a:spcPct val="120000"/>
                        </a:lnSpc>
                        <a:defRPr sz="980" b="1">
                          <a:solidFill>
                            <a:srgbClr val="2563EB"/>
                          </a:solidFill>
                          <a:latin typeface="Microsoft YaHei"/>
                        </a:defRPr>
                      </a:pPr>
                      <a:r>
                        <a:t>第 6 位到位</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攻坚 TP 多卡加载偏斜 (T_TP4&gt;T_TP1)，原子并发 Doorbell 消除时序差</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TP=4/TP=8 多卡物理测试集群维护，多维度语义一致性 6 维强校验</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CP-05,12 ｜ PVT-06</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[战区2] Dev-7 (端到端流水)</a:t>
                      </a:r>
                    </a:p>
                  </a:txBody>
                  <a:tcPr anchor="ctr">
                    <a:solidFill>
                      <a:srgbClr val="F8FAFC"/>
                    </a:solidFill>
                  </a:tcPr>
                </a:tc>
                <a:tc>
                  <a:txBody>
                    <a:bodyPr wrap="square" lIns="54864" rIns="54864" tIns="27432" bIns="27432"/>
                    <a:lstStyle/>
                    <a:p>
                      <a:pPr algn="ctr">
                        <a:lnSpc>
                          <a:spcPct val="120000"/>
                        </a:lnSpc>
                        <a:defRPr sz="980" b="1">
                          <a:solidFill>
                            <a:srgbClr val="2563EB"/>
                          </a:solidFill>
                          <a:latin typeface="Microsoft YaHei"/>
                        </a:defRPr>
                      </a:pPr>
                      <a:r>
                        <a:t>第 7 位到位</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vLLM-Ascend 接口 → 描述符编译 → Layerwise 异步流水算传重叠</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项目主干 C++/Python CI/CD 流水线，官方代码仓同步接入</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CP-01,02,10 ｜ PVT-02</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[战区8] Dev-8/9 (动力学门禁)</a:t>
                      </a:r>
                    </a:p>
                  </a:txBody>
                  <a:tcPr anchor="ctr">
                    <a:solidFill>
                      <a:srgbClr val="FFFFFF"/>
                    </a:solidFill>
                  </a:tcPr>
                </a:tc>
                <a:tc>
                  <a:txBody>
                    <a:bodyPr wrap="square" lIns="54864" rIns="54864" tIns="27432" bIns="27432"/>
                    <a:lstStyle/>
                    <a:p>
                      <a:pPr algn="ctr">
                        <a:lnSpc>
                          <a:spcPct val="120000"/>
                        </a:lnSpc>
                        <a:defRPr sz="980" b="1">
                          <a:solidFill>
                            <a:srgbClr val="2563EB"/>
                          </a:solidFill>
                          <a:latin typeface="Microsoft YaHei"/>
                        </a:defRPr>
                      </a:pPr>
                      <a:r>
                        <a:t>第 8/9 位到位</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树状组播分发 (PVT-08)、DPU 双轨 (PVT-09) 与混压总门禁实测</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网络 Incast 混沌注入工具，全量 CSV 测试数据自动化清洗与对账</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CP-09,13,18 ｜ PVT-07~09</a:t>
                      </a:r>
                    </a:p>
                  </a:txBody>
                  <a:tcPr anchor="ctr">
                    <a:solidFill>
                      <a:srgbClr val="FFFFFF"/>
                    </a:solidFill>
                  </a:tcPr>
                </a:tc>
              </a:tr>
            </a:tbl>
          </a:graphicData>
        </a:graphic>
      </p:graphicFrame>
      <p:sp>
        <p:nvSpPr>
          <p:cNvPr id="5" name="Rectangle 4"/>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人力协同核心准则：</a:t>
            </a:r>
            <a:r>
              <a:rPr sz="1100" b="1">
                <a:solidFill>
                  <a:srgbClr val="0F172A"/>
                </a:solidFill>
                <a:latin typeface="Microsoft YaHei"/>
              </a:rPr>
              <a:t>坚决杜绝孤立辅助岗位。新成员进组以 Benchmark 构造为切入点以测带练，</a:t>
            </a:r>
            <a:r>
              <a:rPr sz="1100" b="1">
                <a:solidFill>
                  <a:srgbClr val="DC2626"/>
                </a:solidFill>
                <a:latin typeface="Microsoft YaHei"/>
              </a:rPr>
              <a:t>在实战中固化公共契约与测试基座</a:t>
            </a:r>
            <a:r>
              <a:rPr sz="1100" b="1">
                <a:solidFill>
                  <a:srgbClr val="0F172A"/>
                </a:solidFill>
                <a:latin typeface="Microsoft YaHei"/>
              </a:rPr>
              <a:t>，随后直接主攻硬核技术战场，实现研产测闭环交付。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软件模块作战地图：四层架构、双流分离与 18 个核心组件全貌</a:t>
            </a:r>
          </a:p>
          <a:p>
            <a:pPr>
              <a:spcBef>
                <a:spcPts val="300"/>
              </a:spcBef>
              <a:defRPr sz="1100">
                <a:solidFill>
                  <a:srgbClr val="475569"/>
                </a:solidFill>
                <a:latin typeface="Microsoft YaHei"/>
              </a:defRPr>
            </a:pPr>
            <a:r>
              <a:t>模块化解耦，清晰界定微秒控制面与零拷贝数据面，作为 AR 需求设计与开发领地全局导览 (Component Combat Map)</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03 / 06 页</a:t>
            </a:r>
          </a:p>
        </p:txBody>
      </p:sp>
      <p:sp>
        <p:nvSpPr>
          <p:cNvPr id="4" name="Rectangle 3"/>
          <p:cNvSpPr/>
          <p:nvPr/>
        </p:nvSpPr>
        <p:spPr>
          <a:xfrm>
            <a:off x="457200" y="987552"/>
            <a:ext cx="11277295"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rIns="137160" bIns="36576"/>
          <a:lstStyle/>
          <a:p>
            <a:pPr algn="l">
              <a:defRPr sz="1100" b="1">
                <a:solidFill>
                  <a:srgbClr val="FFFFFF"/>
                </a:solidFill>
                <a:latin typeface="Microsoft YaHei"/>
              </a:defRPr>
            </a:pPr>
            <a:r>
              <a:t>【全局架构与需求设计】 负责：架构总师 (您本人) ｜ 总体微架构设计 · 64B POD 契约头文件仲裁 · SRS 38条 SR / 203条 AR 需求闭环 · E0~E3 门禁准出把关</a:t>
            </a:r>
          </a:p>
        </p:txBody>
      </p:sp>
      <p:sp>
        <p:nvSpPr>
          <p:cNvPr id="5" name="Rectangle 4"/>
          <p:cNvSpPr/>
          <p:nvPr/>
        </p:nvSpPr>
        <p:spPr>
          <a:xfrm>
            <a:off x="457200" y="1408176"/>
            <a:ext cx="2011680" cy="1024128"/>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L1 推理框架接入层</a:t>
            </a:r>
          </a:p>
          <a:p>
            <a:pPr algn="l">
              <a:spcBef>
                <a:spcPts val="200"/>
              </a:spcBef>
              <a:defRPr sz="919">
                <a:solidFill>
                  <a:srgbClr val="475569"/>
                </a:solidFill>
                <a:latin typeface="Microsoft YaHei"/>
              </a:defRPr>
            </a:pPr>
            <a:r>
              <a:t>(Connector Layer)</a:t>
            </a:r>
          </a:p>
        </p:txBody>
      </p:sp>
      <p:sp>
        <p:nvSpPr>
          <p:cNvPr id="6" name="Rectangle 5"/>
          <p:cNvSpPr/>
          <p:nvPr/>
        </p:nvSpPr>
        <p:spPr>
          <a:xfrm>
            <a:off x="2542032" y="1408176"/>
            <a:ext cx="4558284" cy="10241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2032" y="1408176"/>
            <a:ext cx="4558284"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CP-01 Framework Connector</a:t>
            </a:r>
            <a:r>
              <a:rPr sz="860" b="0">
                <a:solidFill>
                  <a:srgbClr val="BFDBFE"/>
                </a:solidFill>
                <a:latin typeface="Microsoft YaHei"/>
              </a:rPr>
              <a:t> [Dev-7]</a:t>
            </a:r>
          </a:p>
        </p:txBody>
      </p:sp>
      <p:sp>
        <p:nvSpPr>
          <p:cNvPr id="8" name="TextBox 7"/>
          <p:cNvSpPr txBox="1"/>
          <p:nvPr/>
        </p:nvSpPr>
        <p:spPr>
          <a:xfrm>
            <a:off x="2596896" y="1673352"/>
            <a:ext cx="4448556" cy="749808"/>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vLLM V1 / SGLang 接口适配与意图捕获 (SR-01~03)</a:t>
            </a:r>
          </a:p>
          <a:p>
            <a:pPr algn="l">
              <a:lnSpc>
                <a:spcPct val="114000"/>
              </a:lnSpc>
              <a:spcAft>
                <a:spcPts val="200"/>
              </a:spcAft>
              <a:defRPr sz="900">
                <a:solidFill>
                  <a:srgbClr val="1E293B"/>
                </a:solidFill>
                <a:latin typeface="Microsoft YaHei"/>
              </a:defRPr>
            </a:pPr>
            <a:r>
              <a:t>• 统一请求上下文语义抽象，屏蔽底层硬件差异</a:t>
            </a:r>
          </a:p>
        </p:txBody>
      </p:sp>
      <p:sp>
        <p:nvSpPr>
          <p:cNvPr id="9" name="Rectangle 8"/>
          <p:cNvSpPr/>
          <p:nvPr/>
        </p:nvSpPr>
        <p:spPr>
          <a:xfrm>
            <a:off x="7173468" y="1408176"/>
            <a:ext cx="4558284" cy="10241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73468" y="1408176"/>
            <a:ext cx="4558284"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CP-02 Mooncake Integration</a:t>
            </a:r>
            <a:r>
              <a:rPr sz="860" b="0">
                <a:solidFill>
                  <a:srgbClr val="BFDBFE"/>
                </a:solidFill>
                <a:latin typeface="Microsoft YaHei"/>
              </a:rPr>
              <a:t> [Dev-7]</a:t>
            </a:r>
          </a:p>
        </p:txBody>
      </p:sp>
      <p:sp>
        <p:nvSpPr>
          <p:cNvPr id="11" name="TextBox 10"/>
          <p:cNvSpPr txBox="1"/>
          <p:nvPr/>
        </p:nvSpPr>
        <p:spPr>
          <a:xfrm>
            <a:off x="7228332" y="1673352"/>
            <a:ext cx="4448556" cy="749808"/>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Layerwise 异步传输流注入与边算边传调度 (SR-03)</a:t>
            </a:r>
          </a:p>
          <a:p>
            <a:pPr algn="l">
              <a:lnSpc>
                <a:spcPct val="114000"/>
              </a:lnSpc>
              <a:spcAft>
                <a:spcPts val="200"/>
              </a:spcAft>
              <a:defRPr sz="900">
                <a:solidFill>
                  <a:srgbClr val="1E293B"/>
                </a:solidFill>
                <a:latin typeface="Microsoft YaHei"/>
              </a:defRPr>
            </a:pPr>
            <a:r>
              <a:t>• 传输与计算深度重叠，消除前台推理等待时延</a:t>
            </a:r>
          </a:p>
        </p:txBody>
      </p:sp>
      <p:sp>
        <p:nvSpPr>
          <p:cNvPr id="12" name="Rectangle 11"/>
          <p:cNvSpPr/>
          <p:nvPr/>
        </p:nvSpPr>
        <p:spPr>
          <a:xfrm>
            <a:off x="457200" y="2478024"/>
            <a:ext cx="2011680" cy="109728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L2 状态控制与微秒决策层</a:t>
            </a:r>
          </a:p>
          <a:p>
            <a:pPr algn="l">
              <a:spcBef>
                <a:spcPts val="200"/>
              </a:spcBef>
              <a:defRPr sz="919">
                <a:solidFill>
                  <a:srgbClr val="475569"/>
                </a:solidFill>
                <a:latin typeface="Microsoft YaHei"/>
              </a:defRPr>
            </a:pPr>
            <a:r>
              <a:t>(Control &amp; Decision)</a:t>
            </a:r>
          </a:p>
        </p:txBody>
      </p:sp>
      <p:sp>
        <p:nvSpPr>
          <p:cNvPr id="13" name="Rectangle 12"/>
          <p:cNvSpPr/>
          <p:nvPr/>
        </p:nvSpPr>
        <p:spPr>
          <a:xfrm>
            <a:off x="2542032"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42032"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CP-03 Prefix Directory</a:t>
            </a:r>
            <a:r>
              <a:rPr sz="860" b="0">
                <a:solidFill>
                  <a:srgbClr val="BFDBFE"/>
                </a:solidFill>
                <a:latin typeface="Microsoft YaHei"/>
              </a:rPr>
              <a:t> [Dev-2]</a:t>
            </a:r>
          </a:p>
        </p:txBody>
      </p:sp>
      <p:sp>
        <p:nvSpPr>
          <p:cNvPr id="15" name="TextBox 14"/>
          <p:cNvSpPr txBox="1"/>
          <p:nvPr/>
        </p:nvSpPr>
        <p:spPr>
          <a:xfrm>
            <a:off x="2596896"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分布式 RadixTree 前缀索引 (SR-04~06)</a:t>
            </a:r>
          </a:p>
          <a:p>
            <a:pPr algn="l">
              <a:lnSpc>
                <a:spcPct val="114000"/>
              </a:lnSpc>
              <a:spcAft>
                <a:spcPts val="200"/>
              </a:spcAft>
              <a:defRPr sz="900">
                <a:solidFill>
                  <a:srgbClr val="1E293B"/>
                </a:solidFill>
                <a:latin typeface="Microsoft YaHei"/>
              </a:defRPr>
            </a:pPr>
            <a:r>
              <a:t>• URMA 微秒单边直读，消跨节点锁</a:t>
            </a:r>
          </a:p>
        </p:txBody>
      </p:sp>
      <p:sp>
        <p:nvSpPr>
          <p:cNvPr id="16" name="Rectangle 15"/>
          <p:cNvSpPr/>
          <p:nvPr/>
        </p:nvSpPr>
        <p:spPr>
          <a:xfrm>
            <a:off x="4857750"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57750"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CP-04 QueryPlan 决策引擎</a:t>
            </a:r>
            <a:r>
              <a:rPr sz="860" b="0">
                <a:solidFill>
                  <a:srgbClr val="BFDBFE"/>
                </a:solidFill>
                <a:latin typeface="Microsoft YaHei"/>
              </a:rPr>
              <a:t> [Dev-4]</a:t>
            </a:r>
          </a:p>
        </p:txBody>
      </p:sp>
      <p:sp>
        <p:nvSpPr>
          <p:cNvPr id="18" name="TextBox 17"/>
          <p:cNvSpPr txBox="1"/>
          <p:nvPr/>
        </p:nvSpPr>
        <p:spPr>
          <a:xfrm>
            <a:off x="4912614"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CostEvaluator 成本模型 (SR-15~18)</a:t>
            </a:r>
          </a:p>
          <a:p>
            <a:pPr algn="l">
              <a:lnSpc>
                <a:spcPct val="114000"/>
              </a:lnSpc>
              <a:spcAft>
                <a:spcPts val="200"/>
              </a:spcAft>
              <a:defRPr sz="900">
                <a:solidFill>
                  <a:srgbClr val="1E293B"/>
                </a:solidFill>
                <a:latin typeface="Microsoft YaHei"/>
              </a:defRPr>
            </a:pPr>
            <a:r>
              <a:t>• 决策时延 P99 &lt; 5µs，避负收益加载</a:t>
            </a:r>
          </a:p>
        </p:txBody>
      </p:sp>
      <p:sp>
        <p:nvSpPr>
          <p:cNvPr id="19" name="Rectangle 18"/>
          <p:cNvSpPr/>
          <p:nvPr/>
        </p:nvSpPr>
        <p:spPr>
          <a:xfrm>
            <a:off x="7173468"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73468"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CP-05 ConsumeEligibility</a:t>
            </a:r>
            <a:r>
              <a:rPr sz="860" b="0">
                <a:solidFill>
                  <a:srgbClr val="BFDBFE"/>
                </a:solidFill>
                <a:latin typeface="Microsoft YaHei"/>
              </a:rPr>
              <a:t> [Dev-6]</a:t>
            </a:r>
          </a:p>
        </p:txBody>
      </p:sp>
      <p:sp>
        <p:nvSpPr>
          <p:cNvPr id="21" name="TextBox 20"/>
          <p:cNvSpPr txBox="1"/>
          <p:nvPr/>
        </p:nvSpPr>
        <p:spPr>
          <a:xfrm>
            <a:off x="7228332"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6 维语义/版本/租约强校验 (SR-23~26)</a:t>
            </a:r>
          </a:p>
          <a:p>
            <a:pPr algn="l">
              <a:lnSpc>
                <a:spcPct val="114000"/>
              </a:lnSpc>
              <a:spcAft>
                <a:spcPts val="200"/>
              </a:spcAft>
              <a:defRPr sz="900">
                <a:solidFill>
                  <a:srgbClr val="1E293B"/>
                </a:solidFill>
                <a:latin typeface="Microsoft YaHei"/>
              </a:defRPr>
            </a:pPr>
            <a:r>
              <a:t>• 杜绝陈旧失效脏块，保障 0 错误消费</a:t>
            </a:r>
          </a:p>
        </p:txBody>
      </p:sp>
      <p:sp>
        <p:nvSpPr>
          <p:cNvPr id="22" name="Rectangle 21"/>
          <p:cNvSpPr/>
          <p:nvPr/>
        </p:nvSpPr>
        <p:spPr>
          <a:xfrm>
            <a:off x="9489186"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89186"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CP-06 ViewGuard 视图守卫</a:t>
            </a:r>
            <a:r>
              <a:rPr sz="860" b="0">
                <a:solidFill>
                  <a:srgbClr val="BFDBFE"/>
                </a:solidFill>
                <a:latin typeface="Microsoft YaHei"/>
              </a:rPr>
              <a:t> [Dev-7]</a:t>
            </a:r>
          </a:p>
        </p:txBody>
      </p:sp>
      <p:sp>
        <p:nvSpPr>
          <p:cNvPr id="24" name="TextBox 23"/>
          <p:cNvSpPr txBox="1"/>
          <p:nvPr/>
        </p:nvSpPr>
        <p:spPr>
          <a:xfrm>
            <a:off x="9544050"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Direct-View 远端直读租约 (SR-27~30)</a:t>
            </a:r>
          </a:p>
          <a:p>
            <a:pPr algn="l">
              <a:lnSpc>
                <a:spcPct val="114000"/>
              </a:lnSpc>
              <a:spcAft>
                <a:spcPts val="200"/>
              </a:spcAft>
              <a:defRPr sz="900">
                <a:solidFill>
                  <a:srgbClr val="1E293B"/>
                </a:solidFill>
                <a:latin typeface="Microsoft YaHei"/>
              </a:defRPr>
            </a:pPr>
            <a:r>
              <a:t>• 节点异常捕获 SIGBUS 回滚重算</a:t>
            </a:r>
          </a:p>
        </p:txBody>
      </p:sp>
      <p:sp>
        <p:nvSpPr>
          <p:cNvPr id="25" name="Rectangle 24"/>
          <p:cNvSpPr/>
          <p:nvPr/>
        </p:nvSpPr>
        <p:spPr>
          <a:xfrm>
            <a:off x="457200" y="3621024"/>
            <a:ext cx="2011680" cy="1060704"/>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L3 分层存储与对象拓扑层</a:t>
            </a:r>
          </a:p>
          <a:p>
            <a:pPr algn="l">
              <a:spcBef>
                <a:spcPts val="200"/>
              </a:spcBef>
              <a:defRPr sz="919">
                <a:solidFill>
                  <a:srgbClr val="475569"/>
                </a:solidFill>
                <a:latin typeface="Microsoft YaHei"/>
              </a:defRPr>
            </a:pPr>
            <a:r>
              <a:t>(Tiered Storage)</a:t>
            </a:r>
          </a:p>
        </p:txBody>
      </p:sp>
      <p:sp>
        <p:nvSpPr>
          <p:cNvPr id="26" name="Rectangle 25"/>
          <p:cNvSpPr/>
          <p:nvPr/>
        </p:nvSpPr>
        <p:spPr>
          <a:xfrm>
            <a:off x="2542032" y="3621024"/>
            <a:ext cx="3014472" cy="1060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42032" y="3621024"/>
            <a:ext cx="30144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CP-07 TierBlockAllocator</a:t>
            </a:r>
            <a:r>
              <a:rPr sz="860" b="0">
                <a:solidFill>
                  <a:srgbClr val="BFDBFE"/>
                </a:solidFill>
                <a:latin typeface="Microsoft YaHei"/>
              </a:rPr>
              <a:t> [Dev-5]</a:t>
            </a:r>
          </a:p>
        </p:txBody>
      </p:sp>
      <p:sp>
        <p:nvSpPr>
          <p:cNvPr id="28" name="TextBox 27"/>
          <p:cNvSpPr txBox="1"/>
          <p:nvPr/>
        </p:nvSpPr>
        <p:spPr>
          <a:xfrm>
            <a:off x="2596896" y="3886200"/>
            <a:ext cx="2904744" cy="786384"/>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多介质分层分配器与 4KB 扇区对齐 (SR-35~36)</a:t>
            </a:r>
          </a:p>
          <a:p>
            <a:pPr algn="l">
              <a:lnSpc>
                <a:spcPct val="114000"/>
              </a:lnSpc>
              <a:spcAft>
                <a:spcPts val="200"/>
              </a:spcAft>
              <a:defRPr sz="900">
                <a:solidFill>
                  <a:srgbClr val="1E293B"/>
                </a:solidFill>
                <a:latin typeface="Microsoft YaHei"/>
              </a:defRPr>
            </a:pPr>
            <a:r>
              <a:t>• 冷热 KV 自适应置换，显存不足平滑下沉</a:t>
            </a:r>
          </a:p>
        </p:txBody>
      </p:sp>
      <p:sp>
        <p:nvSpPr>
          <p:cNvPr id="29" name="Rectangle 28"/>
          <p:cNvSpPr/>
          <p:nvPr/>
        </p:nvSpPr>
        <p:spPr>
          <a:xfrm>
            <a:off x="5629656" y="3621024"/>
            <a:ext cx="3014472" cy="1060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29656" y="3621024"/>
            <a:ext cx="30144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CP-08 NVMe SSD Direct</a:t>
            </a:r>
            <a:r>
              <a:rPr sz="860" b="0">
                <a:solidFill>
                  <a:srgbClr val="BFDBFE"/>
                </a:solidFill>
                <a:latin typeface="Microsoft YaHei"/>
              </a:rPr>
              <a:t> [Dev-5]</a:t>
            </a:r>
          </a:p>
        </p:txBody>
      </p:sp>
      <p:sp>
        <p:nvSpPr>
          <p:cNvPr id="31" name="TextBox 30"/>
          <p:cNvSpPr txBox="1"/>
          <p:nvPr/>
        </p:nvSpPr>
        <p:spPr>
          <a:xfrm>
            <a:off x="5684520" y="3886200"/>
            <a:ext cx="2904744" cy="786384"/>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io_uring 裸盘直达，绕过 Host DDR (SR-37~38)</a:t>
            </a:r>
          </a:p>
          <a:p>
            <a:pPr algn="l">
              <a:lnSpc>
                <a:spcPct val="114000"/>
              </a:lnSpc>
              <a:spcAft>
                <a:spcPts val="200"/>
              </a:spcAft>
              <a:defRPr sz="900">
                <a:solidFill>
                  <a:srgbClr val="1E293B"/>
                </a:solidFill>
                <a:latin typeface="Microsoft YaHei"/>
              </a:defRPr>
            </a:pPr>
            <a:r>
              <a:t>• 150% 超载下防 OOM，存储容量扩展 ≥50%</a:t>
            </a:r>
          </a:p>
        </p:txBody>
      </p:sp>
      <p:sp>
        <p:nvSpPr>
          <p:cNvPr id="32" name="Rectangle 31"/>
          <p:cNvSpPr/>
          <p:nvPr/>
        </p:nvSpPr>
        <p:spPr>
          <a:xfrm>
            <a:off x="8717280" y="3621024"/>
            <a:ext cx="3014472" cy="1060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17280" y="3621024"/>
            <a:ext cx="30144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CP-09 Staging Fanout 组播</a:t>
            </a:r>
            <a:r>
              <a:rPr sz="860" b="0">
                <a:solidFill>
                  <a:srgbClr val="BFDBFE"/>
                </a:solidFill>
                <a:latin typeface="Microsoft YaHei"/>
              </a:rPr>
              <a:t> [Dev-8]</a:t>
            </a:r>
          </a:p>
        </p:txBody>
      </p:sp>
      <p:sp>
        <p:nvSpPr>
          <p:cNvPr id="34" name="TextBox 33"/>
          <p:cNvSpPr txBox="1"/>
          <p:nvPr/>
        </p:nvSpPr>
        <p:spPr>
          <a:xfrm>
            <a:off x="8772144" y="3886200"/>
            <a:ext cx="2904744" cy="786384"/>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树状中继转发拓扑与多级接力广播 (SR-31~34)</a:t>
            </a:r>
          </a:p>
          <a:p>
            <a:pPr algn="l">
              <a:lnSpc>
                <a:spcPct val="114000"/>
              </a:lnSpc>
              <a:spcAft>
                <a:spcPts val="200"/>
              </a:spcAft>
              <a:defRPr sz="900">
                <a:solidFill>
                  <a:srgbClr val="1E293B"/>
                </a:solidFill>
                <a:latin typeface="Microsoft YaHei"/>
              </a:defRPr>
            </a:pPr>
            <a:r>
              <a:t>• 超长通用 Prompt 广播节省骨干带宽 ≥60%</a:t>
            </a:r>
          </a:p>
        </p:txBody>
      </p:sp>
      <p:sp>
        <p:nvSpPr>
          <p:cNvPr id="35" name="Rectangle 34"/>
          <p:cNvSpPr/>
          <p:nvPr/>
        </p:nvSpPr>
        <p:spPr>
          <a:xfrm>
            <a:off x="457200" y="4727448"/>
            <a:ext cx="2011680" cy="109728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L4 极速传输与硬件数据平面</a:t>
            </a:r>
          </a:p>
          <a:p>
            <a:pPr algn="l">
              <a:spcBef>
                <a:spcPts val="200"/>
              </a:spcBef>
              <a:defRPr sz="919">
                <a:solidFill>
                  <a:srgbClr val="475569"/>
                </a:solidFill>
                <a:latin typeface="Microsoft YaHei"/>
              </a:defRPr>
            </a:pPr>
            <a:r>
              <a:t>(Transport Data Plane)</a:t>
            </a:r>
          </a:p>
        </p:txBody>
      </p:sp>
      <p:sp>
        <p:nvSpPr>
          <p:cNvPr id="36" name="Rectangle 35"/>
          <p:cNvSpPr/>
          <p:nvPr/>
        </p:nvSpPr>
        <p:spPr>
          <a:xfrm>
            <a:off x="2542032"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542032"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CP-10 DescriptorCompiler</a:t>
            </a:r>
            <a:r>
              <a:rPr sz="860" b="0">
                <a:solidFill>
                  <a:srgbClr val="BFDBFE"/>
                </a:solidFill>
                <a:latin typeface="Microsoft YaHei"/>
              </a:rPr>
              <a:t> [Dev-7]</a:t>
            </a:r>
          </a:p>
        </p:txBody>
      </p:sp>
      <p:sp>
        <p:nvSpPr>
          <p:cNvPr id="38" name="TextBox 37"/>
          <p:cNvSpPr txBox="1"/>
          <p:nvPr/>
        </p:nvSpPr>
        <p:spPr>
          <a:xfrm>
            <a:off x="2596896"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连续块 Scatter-Gather 编译 (SR-19~22)</a:t>
            </a:r>
          </a:p>
          <a:p>
            <a:pPr algn="l">
              <a:lnSpc>
                <a:spcPct val="114000"/>
              </a:lnSpc>
              <a:spcAft>
                <a:spcPts val="200"/>
              </a:spcAft>
              <a:defRPr sz="900">
                <a:solidFill>
                  <a:srgbClr val="1E293B"/>
                </a:solidFill>
                <a:latin typeface="Microsoft YaHei"/>
              </a:defRPr>
            </a:pPr>
            <a:r>
              <a:t>• 贪心合并离散 Block，降开销 ≥40%</a:t>
            </a:r>
          </a:p>
        </p:txBody>
      </p:sp>
      <p:sp>
        <p:nvSpPr>
          <p:cNvPr id="39" name="Rectangle 38"/>
          <p:cNvSpPr/>
          <p:nvPr/>
        </p:nvSpPr>
        <p:spPr>
          <a:xfrm>
            <a:off x="4857750"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857750"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CP-11 URMA/UBMEM 底座</a:t>
            </a:r>
            <a:r>
              <a:rPr sz="860" b="0">
                <a:solidFill>
                  <a:srgbClr val="BFDBFE"/>
                </a:solidFill>
                <a:latin typeface="Microsoft YaHei"/>
              </a:rPr>
              <a:t> [Dev-1]</a:t>
            </a:r>
          </a:p>
        </p:txBody>
      </p:sp>
      <p:sp>
        <p:nvSpPr>
          <p:cNvPr id="41" name="TextBox 40"/>
          <p:cNvSpPr txBox="1"/>
          <p:nvPr/>
        </p:nvSpPr>
        <p:spPr>
          <a:xfrm>
            <a:off x="4912614"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NPU 显存跨节点直通，CPU 零拷贝 (SR-07~10)</a:t>
            </a:r>
          </a:p>
          <a:p>
            <a:pPr algn="l">
              <a:lnSpc>
                <a:spcPct val="114000"/>
              </a:lnSpc>
              <a:spcAft>
                <a:spcPts val="200"/>
              </a:spcAft>
              <a:defRPr sz="900">
                <a:solidFill>
                  <a:srgbClr val="1E293B"/>
                </a:solidFill>
                <a:latin typeface="Microsoft YaHei"/>
              </a:defRPr>
            </a:pPr>
            <a:r>
              <a:t>• eBPF 探针证明 Host Payload 零触碰</a:t>
            </a:r>
          </a:p>
        </p:txBody>
      </p:sp>
      <p:sp>
        <p:nvSpPr>
          <p:cNvPr id="42" name="Rectangle 41"/>
          <p:cNvSpPr/>
          <p:nvPr/>
        </p:nvSpPr>
        <p:spPr>
          <a:xfrm>
            <a:off x="7173468"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73468"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CP-12 RankConsensus 同步</a:t>
            </a:r>
            <a:r>
              <a:rPr sz="860" b="0">
                <a:solidFill>
                  <a:srgbClr val="BFDBFE"/>
                </a:solidFill>
                <a:latin typeface="Microsoft YaHei"/>
              </a:rPr>
              <a:t> [Dev-6]</a:t>
            </a:r>
          </a:p>
        </p:txBody>
      </p:sp>
      <p:sp>
        <p:nvSpPr>
          <p:cNvPr id="44" name="TextBox 43"/>
          <p:cNvSpPr txBox="1"/>
          <p:nvPr/>
        </p:nvSpPr>
        <p:spPr>
          <a:xfrm>
            <a:off x="7228332"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TP 多卡原子 Doorbell 机制 (SR-11~14)</a:t>
            </a:r>
          </a:p>
          <a:p>
            <a:pPr algn="l">
              <a:lnSpc>
                <a:spcPct val="114000"/>
              </a:lnSpc>
              <a:spcAft>
                <a:spcPts val="200"/>
              </a:spcAft>
              <a:defRPr sz="900">
                <a:solidFill>
                  <a:srgbClr val="1E293B"/>
                </a:solidFill>
                <a:latin typeface="Microsoft YaHei"/>
              </a:defRPr>
            </a:pPr>
            <a:r>
              <a:t>• 消除多卡加载偏斜，防通信死锁</a:t>
            </a:r>
          </a:p>
        </p:txBody>
      </p:sp>
      <p:sp>
        <p:nvSpPr>
          <p:cNvPr id="45" name="Rectangle 44"/>
          <p:cNvSpPr/>
          <p:nvPr/>
        </p:nvSpPr>
        <p:spPr>
          <a:xfrm>
            <a:off x="9489186"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89186"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CP-13 QoS 与硬件双轨</a:t>
            </a:r>
            <a:r>
              <a:rPr sz="860" b="0">
                <a:solidFill>
                  <a:srgbClr val="BFDBFE"/>
                </a:solidFill>
                <a:latin typeface="Microsoft YaHei"/>
              </a:rPr>
              <a:t> [Dev-8/1]</a:t>
            </a:r>
          </a:p>
        </p:txBody>
      </p:sp>
      <p:sp>
        <p:nvSpPr>
          <p:cNvPr id="47" name="TextBox 46"/>
          <p:cNvSpPr txBox="1"/>
          <p:nvPr/>
        </p:nvSpPr>
        <p:spPr>
          <a:xfrm>
            <a:off x="9544050"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RoCE 硬件队列隔离，干扰率 &lt; 3% (SR-29)</a:t>
            </a:r>
          </a:p>
          <a:p>
            <a:pPr algn="l">
              <a:lnSpc>
                <a:spcPct val="114000"/>
              </a:lnSpc>
              <a:spcAft>
                <a:spcPts val="200"/>
              </a:spcAft>
              <a:defRPr sz="900">
                <a:solidFill>
                  <a:srgbClr val="1E293B"/>
                </a:solidFill>
                <a:latin typeface="Microsoft YaHei"/>
              </a:defRPr>
            </a:pPr>
            <a:r>
              <a:t>• DPU 与纯软 500µs 无缝降级 (PVT-09)</a:t>
            </a:r>
          </a:p>
        </p:txBody>
      </p:sp>
      <p:sp>
        <p:nvSpPr>
          <p:cNvPr id="48" name="Rectangle 47"/>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作战地图应用规范：</a:t>
            </a:r>
            <a:r>
              <a:rPr sz="1100" b="1">
                <a:solidFill>
                  <a:srgbClr val="0F172A"/>
                </a:solidFill>
                <a:latin typeface="Microsoft YaHei"/>
              </a:rPr>
              <a:t>本图作为后续《系统详细设计说明书》的全局导览页。18 个组件严格对应 38 条 SR 与 203 条 AR 工作包，</a:t>
            </a:r>
            <a:r>
              <a:rPr sz="1100" b="1">
                <a:solidFill>
                  <a:srgbClr val="DC2626"/>
                </a:solidFill>
                <a:latin typeface="Microsoft YaHei"/>
              </a:rPr>
              <a:t>每位工程师均主笔对应战区的详细设计章节</a:t>
            </a:r>
            <a:r>
              <a:rPr sz="1100" b="1">
                <a:solidFill>
                  <a:srgbClr val="0F172A"/>
                </a:solidFill>
                <a:latin typeface="Microsoft YaHei"/>
              </a:rPr>
              <a:t>，实现架构、需求与代码的 1:1 镜像追溯。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三个月作战计划：从单点验证到全链路混压总门禁演进路线</a:t>
            </a:r>
          </a:p>
          <a:p>
            <a:pPr>
              <a:spcBef>
                <a:spcPts val="300"/>
              </a:spcBef>
              <a:defRPr sz="1100">
                <a:solidFill>
                  <a:srgbClr val="475569"/>
                </a:solidFill>
                <a:latin typeface="Microsoft YaHei"/>
              </a:defRPr>
            </a:pPr>
            <a:r>
              <a:t>紧扣“四个核心验证阶段 (E0~E3)”，按月设立严密的阶段准入门禁，以实测数据驱动系统持续收敛</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04 / 06 页</a:t>
            </a:r>
          </a:p>
        </p:txBody>
      </p:sp>
      <p:sp>
        <p:nvSpPr>
          <p:cNvPr id="4" name="Rectangle 3"/>
          <p:cNvSpPr/>
          <p:nvPr/>
        </p:nvSpPr>
        <p:spPr>
          <a:xfrm>
            <a:off x="457200" y="987552"/>
            <a:ext cx="11277295" cy="1078992"/>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2962656" y="1380744"/>
            <a:ext cx="528218" cy="292608"/>
          </a:xfrm>
          <a:prstGeom prst="rightArrow">
            <a:avLst>
              <a:gd name="adj1" fmla="val 68000"/>
              <a:gd name="adj2" fmla="val 32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060704"/>
            <a:ext cx="226771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E0 · 收益前提确认</a:t>
            </a:r>
            <a:r>
              <a:rPr sz="850" b="1">
                <a:solidFill>
                  <a:srgbClr val="BFDBFE"/>
                </a:solidFill>
                <a:latin typeface="Consolas"/>
              </a:rPr>
              <a:t> [M1]</a:t>
            </a:r>
          </a:p>
        </p:txBody>
      </p:sp>
      <p:sp>
        <p:nvSpPr>
          <p:cNvPr id="7" name="Rectangle 6"/>
          <p:cNvSpPr/>
          <p:nvPr/>
        </p:nvSpPr>
        <p:spPr>
          <a:xfrm>
            <a:off x="658368"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2121408" cy="594360"/>
          </a:xfrm>
          <a:prstGeom prst="rect">
            <a:avLst/>
          </a:prstGeom>
          <a:noFill/>
        </p:spPr>
        <p:txBody>
          <a:bodyPr wrap="square" lIns="0" tIns="0" rIns="0" bIns="0">
            <a:spAutoFit/>
          </a:bodyPr>
          <a:lstStyle/>
          <a:p>
            <a:pPr algn="l">
              <a:lnSpc>
                <a:spcPct val="112000"/>
              </a:lnSpc>
            </a:pPr>
            <a:r>
              <a:rPr sz="900" b="1">
                <a:solidFill>
                  <a:srgbClr val="1E3A8A"/>
                </a:solidFill>
                <a:latin typeface="Microsoft YaHei"/>
              </a:rPr>
              <a:t>▶ PVT-00 净收益基线</a:t>
            </a:r>
          </a:p>
          <a:p>
            <a:pPr algn="l">
              <a:lnSpc>
                <a:spcPct val="112000"/>
              </a:lnSpc>
              <a:spcBef>
                <a:spcPts val="100"/>
              </a:spcBef>
            </a:pPr>
            <a:r>
              <a:rPr sz="830">
                <a:solidFill>
                  <a:srgbClr val="475569"/>
                </a:solidFill>
                <a:latin typeface="Microsoft YaHei"/>
              </a:rPr>
              <a:t>MLA/MHA 加速上限与五档复用率</a:t>
            </a:r>
          </a:p>
          <a:p>
            <a:pPr algn="l">
              <a:lnSpc>
                <a:spcPct val="112000"/>
              </a:lnSpc>
              <a:spcBef>
                <a:spcPts val="100"/>
              </a:spcBef>
            </a:pPr>
            <a:r>
              <a:rPr sz="830" b="1">
                <a:solidFill>
                  <a:srgbClr val="059669"/>
                </a:solidFill>
                <a:latin typeface="Microsoft YaHei"/>
              </a:rPr>
              <a:t>【准入门禁】 净收益 &gt; 0 成立</a:t>
            </a:r>
          </a:p>
        </p:txBody>
      </p:sp>
      <p:sp>
        <p:nvSpPr>
          <p:cNvPr id="9" name="Right Arrow 8"/>
          <p:cNvSpPr/>
          <p:nvPr/>
        </p:nvSpPr>
        <p:spPr>
          <a:xfrm>
            <a:off x="5831738" y="1380744"/>
            <a:ext cx="528218" cy="292608"/>
          </a:xfrm>
          <a:prstGeom prst="rightArrow">
            <a:avLst>
              <a:gd name="adj1" fmla="val 68000"/>
              <a:gd name="adj2" fmla="val 32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7450" y="1060704"/>
            <a:ext cx="2267712" cy="25603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E1 · 核心路径打通</a:t>
            </a:r>
            <a:r>
              <a:rPr sz="850" b="1">
                <a:solidFill>
                  <a:srgbClr val="BFDBFE"/>
                </a:solidFill>
                <a:latin typeface="Consolas"/>
              </a:rPr>
              <a:t> [M1-M2]</a:t>
            </a:r>
          </a:p>
        </p:txBody>
      </p:sp>
      <p:sp>
        <p:nvSpPr>
          <p:cNvPr id="11" name="Rectangle 10"/>
          <p:cNvSpPr/>
          <p:nvPr/>
        </p:nvSpPr>
        <p:spPr>
          <a:xfrm>
            <a:off x="3527450"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0602" y="1371600"/>
            <a:ext cx="2121408" cy="594360"/>
          </a:xfrm>
          <a:prstGeom prst="rect">
            <a:avLst/>
          </a:prstGeom>
          <a:noFill/>
        </p:spPr>
        <p:txBody>
          <a:bodyPr wrap="square" lIns="0" tIns="0" rIns="0" bIns="0">
            <a:spAutoFit/>
          </a:bodyPr>
          <a:lstStyle/>
          <a:p>
            <a:pPr algn="l">
              <a:lnSpc>
                <a:spcPct val="112000"/>
              </a:lnSpc>
            </a:pPr>
            <a:r>
              <a:rPr sz="900" b="1">
                <a:solidFill>
                  <a:srgbClr val="1E3A8A"/>
                </a:solidFill>
                <a:latin typeface="Microsoft YaHei"/>
              </a:rPr>
              <a:t>▶ PVT-01~03 路径打通</a:t>
            </a:r>
          </a:p>
          <a:p>
            <a:pPr algn="l">
              <a:lnSpc>
                <a:spcPct val="112000"/>
              </a:lnSpc>
              <a:spcBef>
                <a:spcPts val="100"/>
              </a:spcBef>
            </a:pPr>
            <a:r>
              <a:rPr sz="830">
                <a:solidFill>
                  <a:srgbClr val="475569"/>
                </a:solidFill>
                <a:latin typeface="Microsoft YaHei"/>
              </a:rPr>
              <a:t>URMA 零拷贝 · 64B 契约 · 6 维一致性</a:t>
            </a:r>
          </a:p>
          <a:p>
            <a:pPr algn="l">
              <a:lnSpc>
                <a:spcPct val="112000"/>
              </a:lnSpc>
              <a:spcBef>
                <a:spcPts val="100"/>
              </a:spcBef>
            </a:pPr>
            <a:r>
              <a:rPr sz="830" b="1">
                <a:solidFill>
                  <a:srgbClr val="059669"/>
                </a:solidFill>
                <a:latin typeface="Microsoft YaHei"/>
              </a:rPr>
              <a:t>【准入门禁】 Host CPU 零拷贝</a:t>
            </a:r>
          </a:p>
        </p:txBody>
      </p:sp>
      <p:sp>
        <p:nvSpPr>
          <p:cNvPr id="13" name="Right Arrow 12"/>
          <p:cNvSpPr/>
          <p:nvPr/>
        </p:nvSpPr>
        <p:spPr>
          <a:xfrm>
            <a:off x="8700820" y="1380744"/>
            <a:ext cx="528218" cy="292608"/>
          </a:xfrm>
          <a:prstGeom prst="rightArrow">
            <a:avLst>
              <a:gd name="adj1" fmla="val 68000"/>
              <a:gd name="adj2" fmla="val 32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96532" y="1060704"/>
            <a:ext cx="2267712"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E2 · 动态调度与分层</a:t>
            </a:r>
            <a:r>
              <a:rPr sz="850" b="1">
                <a:solidFill>
                  <a:srgbClr val="BFDBFE"/>
                </a:solidFill>
                <a:latin typeface="Consolas"/>
              </a:rPr>
              <a:t> [M2]</a:t>
            </a:r>
          </a:p>
        </p:txBody>
      </p:sp>
      <p:sp>
        <p:nvSpPr>
          <p:cNvPr id="15" name="Rectangle 14"/>
          <p:cNvSpPr/>
          <p:nvPr/>
        </p:nvSpPr>
        <p:spPr>
          <a:xfrm>
            <a:off x="6396532"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9684" y="1371600"/>
            <a:ext cx="2121408" cy="594360"/>
          </a:xfrm>
          <a:prstGeom prst="rect">
            <a:avLst/>
          </a:prstGeom>
          <a:noFill/>
        </p:spPr>
        <p:txBody>
          <a:bodyPr wrap="square" lIns="0" tIns="0" rIns="0" bIns="0">
            <a:spAutoFit/>
          </a:bodyPr>
          <a:lstStyle/>
          <a:p>
            <a:pPr algn="l">
              <a:lnSpc>
                <a:spcPct val="112000"/>
              </a:lnSpc>
            </a:pPr>
            <a:r>
              <a:rPr sz="900" b="1">
                <a:solidFill>
                  <a:srgbClr val="1E3A8A"/>
                </a:solidFill>
                <a:latin typeface="Microsoft YaHei"/>
              </a:rPr>
              <a:t>▶ PVT-04~06 &amp; CVT-01</a:t>
            </a:r>
          </a:p>
          <a:p>
            <a:pPr algn="l">
              <a:lnSpc>
                <a:spcPct val="112000"/>
              </a:lnSpc>
              <a:spcBef>
                <a:spcPts val="100"/>
              </a:spcBef>
            </a:pPr>
            <a:r>
              <a:rPr sz="830">
                <a:solidFill>
                  <a:srgbClr val="475569"/>
                </a:solidFill>
                <a:latin typeface="Microsoft YaHei"/>
              </a:rPr>
              <a:t>微秒选路 · SSD 裸盘 · TP 多卡 · 直读</a:t>
            </a:r>
          </a:p>
          <a:p>
            <a:pPr algn="l">
              <a:lnSpc>
                <a:spcPct val="112000"/>
              </a:lnSpc>
              <a:spcBef>
                <a:spcPts val="100"/>
              </a:spcBef>
            </a:pPr>
            <a:r>
              <a:rPr sz="830" b="1">
                <a:solidFill>
                  <a:srgbClr val="DC2626"/>
                </a:solidFill>
                <a:latin typeface="Microsoft YaHei"/>
              </a:rPr>
              <a:t>【准出门禁】 150% 超载防 OOM</a:t>
            </a:r>
          </a:p>
        </p:txBody>
      </p:sp>
      <p:sp>
        <p:nvSpPr>
          <p:cNvPr id="17" name="Rectangle 16"/>
          <p:cNvSpPr/>
          <p:nvPr/>
        </p:nvSpPr>
        <p:spPr>
          <a:xfrm>
            <a:off x="9265615" y="1060704"/>
            <a:ext cx="2267712" cy="2560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E3 · 混压总门禁</a:t>
            </a:r>
            <a:r>
              <a:rPr sz="850" b="1">
                <a:solidFill>
                  <a:srgbClr val="E9D5FF"/>
                </a:solidFill>
                <a:latin typeface="Consolas"/>
              </a:rPr>
              <a:t> [M3]</a:t>
            </a:r>
          </a:p>
        </p:txBody>
      </p:sp>
      <p:sp>
        <p:nvSpPr>
          <p:cNvPr id="18" name="Rectangle 17"/>
          <p:cNvSpPr/>
          <p:nvPr/>
        </p:nvSpPr>
        <p:spPr>
          <a:xfrm>
            <a:off x="9265615"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38767" y="1371600"/>
            <a:ext cx="2121408" cy="594360"/>
          </a:xfrm>
          <a:prstGeom prst="rect">
            <a:avLst/>
          </a:prstGeom>
          <a:noFill/>
        </p:spPr>
        <p:txBody>
          <a:bodyPr wrap="square" lIns="0" tIns="0" rIns="0" bIns="0">
            <a:spAutoFit/>
          </a:bodyPr>
          <a:lstStyle/>
          <a:p>
            <a:pPr algn="l">
              <a:lnSpc>
                <a:spcPct val="112000"/>
              </a:lnSpc>
            </a:pPr>
            <a:r>
              <a:rPr sz="900" b="1">
                <a:solidFill>
                  <a:srgbClr val="6D28D9"/>
                </a:solidFill>
                <a:latin typeface="Microsoft YaHei"/>
              </a:rPr>
              <a:t>▶ PVT-07~09 混压生态</a:t>
            </a:r>
          </a:p>
          <a:p>
            <a:pPr algn="l">
              <a:lnSpc>
                <a:spcPct val="112000"/>
              </a:lnSpc>
              <a:spcBef>
                <a:spcPts val="100"/>
              </a:spcBef>
            </a:pPr>
            <a:r>
              <a:rPr sz="830">
                <a:solidFill>
                  <a:srgbClr val="475569"/>
                </a:solidFill>
                <a:latin typeface="Microsoft YaHei"/>
              </a:rPr>
              <a:t>全链路混压 · 树状组播 · DPU 双轨</a:t>
            </a:r>
          </a:p>
          <a:p>
            <a:pPr algn="l">
              <a:lnSpc>
                <a:spcPct val="112000"/>
              </a:lnSpc>
              <a:spcBef>
                <a:spcPts val="100"/>
              </a:spcBef>
            </a:pPr>
            <a:r>
              <a:rPr sz="830" b="1">
                <a:solidFill>
                  <a:srgbClr val="DC2626"/>
                </a:solidFill>
                <a:latin typeface="Microsoft YaHei"/>
              </a:rPr>
              <a:t>【终审准出】 TTFT降≥20% · 干扰&lt;3%</a:t>
            </a:r>
          </a:p>
        </p:txBody>
      </p:sp>
      <p:sp>
        <p:nvSpPr>
          <p:cNvPr id="20" name="Rectangle 19"/>
          <p:cNvSpPr/>
          <p:nvPr/>
        </p:nvSpPr>
        <p:spPr>
          <a:xfrm>
            <a:off x="457200" y="2157984"/>
            <a:ext cx="3611880" cy="3602736"/>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157984"/>
            <a:ext cx="361188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194560"/>
            <a:ext cx="3392424" cy="219456"/>
          </a:xfrm>
          <a:prstGeom prst="rect">
            <a:avLst/>
          </a:prstGeom>
          <a:noFill/>
        </p:spPr>
        <p:txBody>
          <a:bodyPr wrap="none" lIns="0" tIns="0" rIns="0" bIns="0">
            <a:spAutoFit/>
          </a:bodyPr>
          <a:lstStyle/>
          <a:p>
            <a:pPr>
              <a:defRPr sz="1150" b="1">
                <a:solidFill>
                  <a:srgbClr val="FFFFFF"/>
                </a:solidFill>
                <a:latin typeface="Microsoft YaHei"/>
              </a:defRPr>
            </a:pPr>
            <a:r>
              <a:t>M1 (第 1 月)：单点打通与契约固化</a:t>
            </a:r>
            <a:r>
              <a:rPr sz="950" b="1">
                <a:solidFill>
                  <a:srgbClr val="BFDBFE"/>
                </a:solidFill>
                <a:latin typeface="Microsoft YaHei"/>
              </a:rPr>
              <a:t>  [E0/E1阶段]</a:t>
            </a:r>
          </a:p>
        </p:txBody>
      </p:sp>
      <p:sp>
        <p:nvSpPr>
          <p:cNvPr id="23" name="TextBox 22"/>
          <p:cNvSpPr txBox="1"/>
          <p:nvPr/>
        </p:nvSpPr>
        <p:spPr>
          <a:xfrm>
            <a:off x="566928" y="2478024"/>
            <a:ext cx="3392424" cy="3255264"/>
          </a:xfrm>
          <a:prstGeom prst="rect">
            <a:avLst/>
          </a:prstGeom>
          <a:noFill/>
        </p:spPr>
        <p:txBody>
          <a:bodyPr wrap="square" lIns="0" tIns="0" rIns="0" bIns="0">
            <a:spAutoFit/>
          </a:bodyPr>
          <a:lstStyle/>
          <a:p>
            <a:pPr algn="l">
              <a:lnSpc>
                <a:spcPct val="114000"/>
              </a:lnSpc>
              <a:spcBef>
                <a:spcPts val="200"/>
              </a:spcBef>
              <a:spcAft>
                <a:spcPts val="100"/>
              </a:spcAft>
            </a:pPr>
            <a:r>
              <a:rPr sz="980" b="1">
                <a:solidFill>
                  <a:srgbClr val="1E3A8A"/>
                </a:solidFill>
                <a:latin typeface="Microsoft YaHei"/>
              </a:rPr>
              <a:t>• 人力配置与团队演进：</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3.5 人筑基，随推进渐进扩至 5 人 (Dev-4/5 到位)。</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新成员以 Benchmark 压测切入以测带练，实战熟悉系统。</a:t>
            </a:r>
          </a:p>
          <a:p>
            <a:pPr algn="l">
              <a:lnSpc>
                <a:spcPct val="114000"/>
              </a:lnSpc>
              <a:spcBef>
                <a:spcPts val="200"/>
              </a:spcBef>
              <a:spcAft>
                <a:spcPts val="100"/>
              </a:spcAft>
            </a:pPr>
            <a:r>
              <a:rPr sz="980" b="1">
                <a:solidFill>
                  <a:srgbClr val="1E3A8A"/>
                </a:solidFill>
                <a:latin typeface="Microsoft YaHei"/>
              </a:rPr>
              <a:t>• 公共契约与内存底座：</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制定并固化 PVT-02 64B 描述符，</a:t>
            </a:r>
            <a:r>
              <a:rPr sz="880" b="1">
                <a:solidFill>
                  <a:srgbClr val="DC2626"/>
                </a:solidFill>
                <a:latin typeface="Microsoft YaHei"/>
              </a:rPr>
              <a:t>杜绝重型内存池开发阻塞</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固化预注册固定缓冲池 (Fast Buffer Pool)，打通快速通道。</a:t>
            </a:r>
          </a:p>
          <a:p>
            <a:pPr algn="l">
              <a:lnSpc>
                <a:spcPct val="114000"/>
              </a:lnSpc>
              <a:spcBef>
                <a:spcPts val="200"/>
              </a:spcBef>
              <a:spcAft>
                <a:spcPts val="100"/>
              </a:spcAft>
            </a:pPr>
            <a:r>
              <a:rPr sz="980" b="1">
                <a:solidFill>
                  <a:srgbClr val="1E3A8A"/>
                </a:solidFill>
                <a:latin typeface="Microsoft YaHei"/>
              </a:rPr>
              <a:t>• 元数据与收益收尾：</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Mooncake 前缀 URMA 改造，锁定 PVT-00 净收益。</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测定 MLA/MHA 双模型在五档复用率下的时延基线数据。</a:t>
            </a:r>
          </a:p>
          <a:p>
            <a:pPr algn="l">
              <a:lnSpc>
                <a:spcPct val="114000"/>
              </a:lnSpc>
              <a:spcBef>
                <a:spcPts val="200"/>
              </a:spcBef>
              <a:spcAft>
                <a:spcPts val="100"/>
              </a:spcAft>
            </a:pPr>
            <a:r>
              <a:rPr sz="980" b="1">
                <a:solidFill>
                  <a:srgbClr val="1E3A8A"/>
                </a:solidFill>
                <a:latin typeface="Microsoft YaHei"/>
              </a:rPr>
              <a:t>• 零拷贝底座与语义校验：</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打通 PVT-01 传输底座，eBPF 证明 </a:t>
            </a:r>
            <a:r>
              <a:rPr sz="880" b="1">
                <a:solidFill>
                  <a:srgbClr val="DC2626"/>
                </a:solidFill>
                <a:latin typeface="Microsoft YaHei"/>
              </a:rPr>
              <a:t>Host CPU 零数据拷贝</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PVT-03 6 维语义一致性校验，保障 0 错误消费。</a:t>
            </a:r>
          </a:p>
          <a:p>
            <a:pPr algn="l">
              <a:lnSpc>
                <a:spcPct val="115000"/>
              </a:lnSpc>
              <a:spcBef>
                <a:spcPts val="0"/>
              </a:spcBef>
              <a:spcAft>
                <a:spcPts val="200"/>
              </a:spcAft>
            </a:pPr>
            <a:r>
              <a:rPr sz="880" b="1">
                <a:solidFill>
                  <a:srgbClr val="2563EB"/>
                </a:solidFill>
                <a:latin typeface="Microsoft YaHei"/>
              </a:rPr>
              <a:t>   ▸ </a:t>
            </a:r>
            <a:r>
              <a:rPr sz="880" b="1">
                <a:solidFill>
                  <a:srgbClr val="1E293B"/>
                </a:solidFill>
                <a:latin typeface="Microsoft YaHei"/>
              </a:rPr>
              <a:t>【M1 准出门禁】：零拷贝数据面与微秒元数据打通，交付首批基线包。</a:t>
            </a:r>
          </a:p>
        </p:txBody>
      </p:sp>
      <p:sp>
        <p:nvSpPr>
          <p:cNvPr id="24" name="Rectangle 23"/>
          <p:cNvSpPr/>
          <p:nvPr/>
        </p:nvSpPr>
        <p:spPr>
          <a:xfrm>
            <a:off x="4288536" y="2157984"/>
            <a:ext cx="3611880" cy="3602736"/>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88536" y="2157984"/>
            <a:ext cx="3611880" cy="29260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98264" y="2194560"/>
            <a:ext cx="3392424" cy="219456"/>
          </a:xfrm>
          <a:prstGeom prst="rect">
            <a:avLst/>
          </a:prstGeom>
          <a:noFill/>
        </p:spPr>
        <p:txBody>
          <a:bodyPr wrap="none" lIns="0" tIns="0" rIns="0" bIns="0">
            <a:spAutoFit/>
          </a:bodyPr>
          <a:lstStyle/>
          <a:p>
            <a:pPr>
              <a:defRPr sz="1150" b="1">
                <a:solidFill>
                  <a:srgbClr val="FFFFFF"/>
                </a:solidFill>
                <a:latin typeface="Microsoft YaHei"/>
              </a:defRPr>
            </a:pPr>
            <a:r>
              <a:t>M2 (第 2 月)：算法攻坚与多卡突破</a:t>
            </a:r>
            <a:r>
              <a:rPr sz="950" b="1">
                <a:solidFill>
                  <a:srgbClr val="BFDBFE"/>
                </a:solidFill>
                <a:latin typeface="Microsoft YaHei"/>
              </a:rPr>
              <a:t>  [E1/E2阶段]</a:t>
            </a:r>
          </a:p>
        </p:txBody>
      </p:sp>
      <p:sp>
        <p:nvSpPr>
          <p:cNvPr id="27" name="TextBox 26"/>
          <p:cNvSpPr txBox="1"/>
          <p:nvPr/>
        </p:nvSpPr>
        <p:spPr>
          <a:xfrm>
            <a:off x="4398264" y="2478024"/>
            <a:ext cx="3392424" cy="3255264"/>
          </a:xfrm>
          <a:prstGeom prst="rect">
            <a:avLst/>
          </a:prstGeom>
          <a:noFill/>
        </p:spPr>
        <p:txBody>
          <a:bodyPr wrap="square" lIns="0" tIns="0" rIns="0" bIns="0">
            <a:spAutoFit/>
          </a:bodyPr>
          <a:lstStyle/>
          <a:p>
            <a:pPr algn="l">
              <a:lnSpc>
                <a:spcPct val="114000"/>
              </a:lnSpc>
              <a:spcBef>
                <a:spcPts val="200"/>
              </a:spcBef>
              <a:spcAft>
                <a:spcPts val="100"/>
              </a:spcAft>
            </a:pPr>
            <a:r>
              <a:rPr sz="980" b="1">
                <a:solidFill>
                  <a:srgbClr val="1E3A8A"/>
                </a:solidFill>
                <a:latin typeface="Microsoft YaHei"/>
              </a:rPr>
              <a:t>• 人力配置与团队演进：</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人员 #6、#7 进组，攻坚团队扩充至 7 人主力阵容。</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新成员主导多卡物理测试集群维护，深入算法攻坚。</a:t>
            </a:r>
          </a:p>
          <a:p>
            <a:pPr algn="l">
              <a:lnSpc>
                <a:spcPct val="114000"/>
              </a:lnSpc>
              <a:spcBef>
                <a:spcPts val="200"/>
              </a:spcBef>
              <a:spcAft>
                <a:spcPts val="100"/>
              </a:spcAft>
            </a:pPr>
            <a:r>
              <a:rPr sz="980" b="1">
                <a:solidFill>
                  <a:srgbClr val="1E3A8A"/>
                </a:solidFill>
                <a:latin typeface="Microsoft YaHei"/>
              </a:rPr>
              <a:t>• 微秒动态选路决策引擎：</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攻坚 PVT-04 动态选路与成本模型，</a:t>
            </a:r>
            <a:r>
              <a:rPr sz="880" b="1">
                <a:solidFill>
                  <a:srgbClr val="DC2626"/>
                </a:solidFill>
                <a:latin typeface="Microsoft YaHei"/>
              </a:rPr>
              <a:t>决策时延 P99 &lt; 5µs，负收益率 &lt; 1%</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CVT-01 直读与 ViewGuard 容错，捕获 SIGBUS 回滚。</a:t>
            </a:r>
          </a:p>
          <a:p>
            <a:pPr algn="l">
              <a:lnSpc>
                <a:spcPct val="114000"/>
              </a:lnSpc>
              <a:spcBef>
                <a:spcPts val="200"/>
              </a:spcBef>
              <a:spcAft>
                <a:spcPts val="100"/>
              </a:spcAft>
            </a:pPr>
            <a:r>
              <a:rPr sz="980" b="1">
                <a:solidFill>
                  <a:srgbClr val="1E3A8A"/>
                </a:solidFill>
                <a:latin typeface="Microsoft YaHei"/>
              </a:rPr>
              <a:t>• 裸盘直达与多卡偏斜消除：</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打通 PVT-05 HBM-SSD 直达，io_uring 在 </a:t>
            </a:r>
            <a:r>
              <a:rPr sz="880" b="1">
                <a:solidFill>
                  <a:srgbClr val="DC2626"/>
                </a:solidFill>
                <a:latin typeface="Microsoft YaHei"/>
              </a:rPr>
              <a:t>150% 超载下 OOM 降 ≥50%</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攻坚 PVT-06 原子并发协同，</a:t>
            </a:r>
            <a:r>
              <a:rPr sz="880" b="1">
                <a:solidFill>
                  <a:srgbClr val="DC2626"/>
                </a:solidFill>
                <a:latin typeface="Microsoft YaHei"/>
              </a:rPr>
              <a:t>消除多卡加载偏斜与时延差</a:t>
            </a:r>
            <a:r>
              <a:rPr sz="880">
                <a:solidFill>
                  <a:srgbClr val="1E293B"/>
                </a:solidFill>
                <a:latin typeface="Microsoft YaHei"/>
              </a:rPr>
              <a:t>。</a:t>
            </a:r>
          </a:p>
          <a:p>
            <a:pPr algn="l">
              <a:lnSpc>
                <a:spcPct val="114000"/>
              </a:lnSpc>
              <a:spcBef>
                <a:spcPts val="200"/>
              </a:spcBef>
              <a:spcAft>
                <a:spcPts val="100"/>
              </a:spcAft>
            </a:pPr>
            <a:r>
              <a:rPr sz="980" b="1">
                <a:solidFill>
                  <a:srgbClr val="1E3A8A"/>
                </a:solidFill>
                <a:latin typeface="Microsoft YaHei"/>
              </a:rPr>
              <a:t>• 阶段收敛与准出门禁：</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完成全量关键组件消融实验，量化各技术点确定性收益。</a:t>
            </a:r>
          </a:p>
          <a:p>
            <a:pPr algn="l">
              <a:lnSpc>
                <a:spcPct val="115000"/>
              </a:lnSpc>
              <a:spcBef>
                <a:spcPts val="0"/>
              </a:spcBef>
              <a:spcAft>
                <a:spcPts val="200"/>
              </a:spcAft>
            </a:pPr>
            <a:r>
              <a:rPr sz="880" b="1">
                <a:solidFill>
                  <a:srgbClr val="2563EB"/>
                </a:solidFill>
                <a:latin typeface="Microsoft YaHei"/>
              </a:rPr>
              <a:t>   ▸ </a:t>
            </a:r>
            <a:r>
              <a:rPr sz="880" b="1">
                <a:solidFill>
                  <a:srgbClr val="1E293B"/>
                </a:solidFill>
                <a:latin typeface="Microsoft YaHei"/>
              </a:rPr>
              <a:t>【M2 准出门禁】：微秒调度、SSD 裸盘与 TP 多卡原子协同全面闭环。</a:t>
            </a:r>
          </a:p>
        </p:txBody>
      </p:sp>
      <p:sp>
        <p:nvSpPr>
          <p:cNvPr id="28" name="Rectangle 27"/>
          <p:cNvSpPr/>
          <p:nvPr/>
        </p:nvSpPr>
        <p:spPr>
          <a:xfrm>
            <a:off x="8119872" y="2157984"/>
            <a:ext cx="3611880" cy="3602736"/>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19872" y="2157984"/>
            <a:ext cx="3611880" cy="29260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2194560"/>
            <a:ext cx="3392424" cy="219456"/>
          </a:xfrm>
          <a:prstGeom prst="rect">
            <a:avLst/>
          </a:prstGeom>
          <a:noFill/>
        </p:spPr>
        <p:txBody>
          <a:bodyPr wrap="none" lIns="0" tIns="0" rIns="0" bIns="0">
            <a:spAutoFit/>
          </a:bodyPr>
          <a:lstStyle/>
          <a:p>
            <a:pPr>
              <a:defRPr sz="1150" b="1">
                <a:solidFill>
                  <a:srgbClr val="FFFFFF"/>
                </a:solidFill>
                <a:latin typeface="Microsoft YaHei"/>
              </a:defRPr>
            </a:pPr>
            <a:r>
              <a:t>M3 (第 3 月)：全链路混压与终审验收</a:t>
            </a:r>
            <a:r>
              <a:rPr sz="950" b="1">
                <a:solidFill>
                  <a:srgbClr val="BFDBFE"/>
                </a:solidFill>
                <a:latin typeface="Microsoft YaHei"/>
              </a:rPr>
              <a:t>  [E3门禁准出]</a:t>
            </a:r>
          </a:p>
        </p:txBody>
      </p:sp>
      <p:sp>
        <p:nvSpPr>
          <p:cNvPr id="31" name="TextBox 30"/>
          <p:cNvSpPr txBox="1"/>
          <p:nvPr/>
        </p:nvSpPr>
        <p:spPr>
          <a:xfrm>
            <a:off x="8229600" y="2478024"/>
            <a:ext cx="3392424" cy="3255264"/>
          </a:xfrm>
          <a:prstGeom prst="rect">
            <a:avLst/>
          </a:prstGeom>
          <a:noFill/>
        </p:spPr>
        <p:txBody>
          <a:bodyPr wrap="square" lIns="0" tIns="0" rIns="0" bIns="0">
            <a:spAutoFit/>
          </a:bodyPr>
          <a:lstStyle/>
          <a:p>
            <a:pPr algn="l">
              <a:lnSpc>
                <a:spcPct val="114000"/>
              </a:lnSpc>
              <a:spcBef>
                <a:spcPts val="200"/>
              </a:spcBef>
              <a:spcAft>
                <a:spcPts val="100"/>
              </a:spcAft>
            </a:pPr>
            <a:r>
              <a:rPr sz="980" b="1">
                <a:solidFill>
                  <a:srgbClr val="1E3A8A"/>
                </a:solidFill>
                <a:latin typeface="Microsoft YaHei"/>
              </a:rPr>
              <a:t>• 人力配置与全员就位：</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人员 #8、#9 到位，9 人攻坚团队全员全兵力就位。</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全员转入全链路混压集成攻坚与验收交付件对账编写。</a:t>
            </a:r>
          </a:p>
          <a:p>
            <a:pPr algn="l">
              <a:lnSpc>
                <a:spcPct val="114000"/>
              </a:lnSpc>
              <a:spcBef>
                <a:spcPts val="200"/>
              </a:spcBef>
              <a:spcAft>
                <a:spcPts val="100"/>
              </a:spcAft>
            </a:pPr>
            <a:r>
              <a:rPr sz="980" b="1">
                <a:solidFill>
                  <a:srgbClr val="1E3A8A"/>
                </a:solidFill>
                <a:latin typeface="Microsoft YaHei"/>
              </a:rPr>
              <a:t>• 组播与硬件双轨降级：</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PVT-08 树状组播分发，超长 Prompt </a:t>
            </a:r>
            <a:r>
              <a:rPr sz="880" b="1">
                <a:solidFill>
                  <a:srgbClr val="DC2626"/>
                </a:solidFill>
                <a:latin typeface="Microsoft YaHei"/>
              </a:rPr>
              <a:t>节省骨干带宽 ≥60%</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PVT-09 DPU 验证，500µs 无缝降级至纯软主路径。</a:t>
            </a:r>
          </a:p>
          <a:p>
            <a:pPr algn="l">
              <a:lnSpc>
                <a:spcPct val="114000"/>
              </a:lnSpc>
              <a:spcBef>
                <a:spcPts val="200"/>
              </a:spcBef>
              <a:spcAft>
                <a:spcPts val="100"/>
              </a:spcAft>
            </a:pPr>
            <a:r>
              <a:rPr sz="980" b="1">
                <a:solidFill>
                  <a:srgbClr val="1E3A8A"/>
                </a:solidFill>
                <a:latin typeface="Microsoft YaHei"/>
              </a:rPr>
              <a:t>• 全链路混压总门禁实测：</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主导 PVT-07 真实混压测试，测定 </a:t>
            </a:r>
            <a:r>
              <a:rPr sz="880" b="1">
                <a:solidFill>
                  <a:srgbClr val="DC2626"/>
                </a:solidFill>
                <a:latin typeface="Microsoft YaHei"/>
              </a:rPr>
              <a:t>TTFT 降低 ≥20%，前台干扰率 &lt; 3%</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验证高并发在线推流稳定性，确保尾部时延不抖动。</a:t>
            </a:r>
          </a:p>
          <a:p>
            <a:pPr algn="l">
              <a:lnSpc>
                <a:spcPct val="114000"/>
              </a:lnSpc>
              <a:spcBef>
                <a:spcPts val="200"/>
              </a:spcBef>
              <a:spcAft>
                <a:spcPts val="100"/>
              </a:spcAft>
            </a:pPr>
            <a:r>
              <a:rPr sz="980" b="1">
                <a:solidFill>
                  <a:srgbClr val="1E3A8A"/>
                </a:solidFill>
                <a:latin typeface="Microsoft YaHei"/>
              </a:rPr>
              <a:t>• 工程交付与实施验收：</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输出 11 份标准验证报告、38 条 SR 对账表与详细设计说明书。</a:t>
            </a:r>
          </a:p>
          <a:p>
            <a:pPr algn="l">
              <a:lnSpc>
                <a:spcPct val="115000"/>
              </a:lnSpc>
              <a:spcBef>
                <a:spcPts val="0"/>
              </a:spcBef>
              <a:spcAft>
                <a:spcPts val="200"/>
              </a:spcAft>
            </a:pPr>
            <a:r>
              <a:rPr sz="880" b="1">
                <a:solidFill>
                  <a:srgbClr val="2563EB"/>
                </a:solidFill>
                <a:latin typeface="Microsoft YaHei"/>
              </a:rPr>
              <a:t>   ▸ </a:t>
            </a:r>
            <a:r>
              <a:rPr sz="880" b="1">
                <a:solidFill>
                  <a:srgbClr val="1E293B"/>
                </a:solidFill>
                <a:latin typeface="Microsoft YaHei"/>
              </a:rPr>
              <a:t>【M3 终审准出】：全链路混压总门禁达标，完成实施验收与主干代码交付。</a:t>
            </a:r>
          </a:p>
        </p:txBody>
      </p:sp>
      <p:sp>
        <p:nvSpPr>
          <p:cNvPr id="32" name="Rectangle 31"/>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推进与质量门禁纪律：</a:t>
            </a:r>
            <a:r>
              <a:rPr sz="1100" b="1">
                <a:solidFill>
                  <a:srgbClr val="0F172A"/>
                </a:solidFill>
                <a:latin typeface="Microsoft YaHei"/>
              </a:rPr>
              <a:t>实行每周实测数据现场对账机制。每个月度里程碑必须具备完整 CSV 打点数据与 eBPF 对账记录，</a:t>
            </a:r>
            <a:r>
              <a:rPr sz="1100" b="1">
                <a:solidFill>
                  <a:srgbClr val="DC2626"/>
                </a:solidFill>
                <a:latin typeface="Microsoft YaHei"/>
              </a:rPr>
              <a:t>未达门禁指标严禁进入下一阶段</a:t>
            </a:r>
            <a:r>
              <a:rPr sz="1100" b="1">
                <a:solidFill>
                  <a:srgbClr val="0F172A"/>
                </a:solidFill>
                <a:latin typeface="Microsoft YaHei"/>
              </a:rPr>
              <a:t>，以客观实测为系统落地筑牢基石。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软件整体交付成果：四大核心资产与可解释生产级竞争力</a:t>
            </a:r>
          </a:p>
          <a:p>
            <a:pPr>
              <a:spcBef>
                <a:spcPts val="300"/>
              </a:spcBef>
              <a:defRPr sz="1100">
                <a:solidFill>
                  <a:srgbClr val="475569"/>
                </a:solidFill>
                <a:latin typeface="Microsoft YaHei"/>
              </a:defRPr>
            </a:pPr>
            <a:r>
              <a:t>坚持“验证即生产”原则，沉淀原厂高性能代码主干、标准接口契约、实测证据包与核心知识产权</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05 / 06 页</a:t>
            </a:r>
          </a:p>
        </p:txBody>
      </p:sp>
      <p:sp>
        <p:nvSpPr>
          <p:cNvPr id="4" name="Rectangle 3"/>
          <p:cNvSpPr/>
          <p:nvPr/>
        </p:nvSpPr>
        <p:spPr>
          <a:xfrm>
            <a:off x="457200" y="1051560"/>
            <a:ext cx="5532120"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19456"/>
          </a:xfrm>
          <a:prstGeom prst="rect">
            <a:avLst/>
          </a:prstGeom>
          <a:noFill/>
        </p:spPr>
        <p:txBody>
          <a:bodyPr wrap="none" lIns="0" tIns="0" rIns="0" bIns="0">
            <a:spAutoFit/>
          </a:bodyPr>
          <a:lstStyle/>
          <a:p>
            <a:pPr>
              <a:defRPr sz="1150" b="1">
                <a:solidFill>
                  <a:srgbClr val="FFFFFF"/>
                </a:solidFill>
                <a:latin typeface="Microsoft YaHei"/>
              </a:defRPr>
            </a:pPr>
            <a:r>
              <a:t>1. Mooncake 高性能原厂扩展版代码主干</a:t>
            </a:r>
            <a:r>
              <a:rPr sz="950" b="1">
                <a:solidFill>
                  <a:srgbClr val="BFDBFE"/>
                </a:solidFill>
                <a:latin typeface="Microsoft YaHei"/>
              </a:rPr>
              <a:t>  [代码资产]</a:t>
            </a:r>
          </a:p>
        </p:txBody>
      </p:sp>
      <p:sp>
        <p:nvSpPr>
          <p:cNvPr id="7" name="TextBox 6"/>
          <p:cNvSpPr txBox="1"/>
          <p:nvPr/>
        </p:nvSpPr>
        <p:spPr>
          <a:xfrm>
            <a:off x="566928" y="1380744"/>
            <a:ext cx="5312664" cy="1901952"/>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原厂极速通信与调度内核插件：</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 UBMEM/URMA 传输插件、QueryPlan 微秒决策引擎与 io_uring 裸盘直达模块。</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深度优化通信流水，实现微秒级控制面与零 CPU 负载极速数据面。</a:t>
            </a:r>
          </a:p>
          <a:p>
            <a:pPr algn="l">
              <a:lnSpc>
                <a:spcPct val="114000"/>
              </a:lnSpc>
              <a:spcBef>
                <a:spcPts val="300"/>
              </a:spcBef>
              <a:spcAft>
                <a:spcPts val="100"/>
              </a:spcAft>
            </a:pPr>
            <a:r>
              <a:rPr sz="1050" b="1">
                <a:solidFill>
                  <a:srgbClr val="1E3A8A"/>
                </a:solidFill>
                <a:latin typeface="Microsoft YaHei"/>
              </a:rPr>
              <a:t>• 主流推理框架无缝对接与边算边传：</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 vLLM V1 / vLLM-Ascend 适配补丁，支持 Layerwise 边算边传异步流水。</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提供统一请求抽象接口，上层推理业务无感迁移与快速接入。</a:t>
            </a:r>
          </a:p>
          <a:p>
            <a:pPr algn="l">
              <a:lnSpc>
                <a:spcPct val="114000"/>
              </a:lnSpc>
              <a:spcBef>
                <a:spcPts val="300"/>
              </a:spcBef>
              <a:spcAft>
                <a:spcPts val="100"/>
              </a:spcAft>
            </a:pPr>
            <a:r>
              <a:rPr sz="1050" b="1">
                <a:solidFill>
                  <a:srgbClr val="1E3A8A"/>
                </a:solidFill>
                <a:latin typeface="Microsoft YaHei"/>
              </a:rPr>
              <a:t>• 生产级代码质量规范与零内存分配：</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遵循 Google C++ 规范且核心路径零动态内存分配，代码直接合入主干投入生产。</a:t>
            </a:r>
          </a:p>
        </p:txBody>
      </p:sp>
      <p:sp>
        <p:nvSpPr>
          <p:cNvPr id="8" name="Rectangle 7"/>
          <p:cNvSpPr/>
          <p:nvPr/>
        </p:nvSpPr>
        <p:spPr>
          <a:xfrm>
            <a:off x="6202375" y="1051560"/>
            <a:ext cx="5532120"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19456"/>
          </a:xfrm>
          <a:prstGeom prst="rect">
            <a:avLst/>
          </a:prstGeom>
          <a:noFill/>
        </p:spPr>
        <p:txBody>
          <a:bodyPr wrap="none" lIns="0" tIns="0" rIns="0" bIns="0">
            <a:spAutoFit/>
          </a:bodyPr>
          <a:lstStyle/>
          <a:p>
            <a:pPr>
              <a:defRPr sz="1150" b="1">
                <a:solidFill>
                  <a:srgbClr val="FFFFFF"/>
                </a:solidFill>
                <a:latin typeface="Microsoft YaHei"/>
              </a:defRPr>
            </a:pPr>
            <a:r>
              <a:t>2. 统一接口契约与标准需求设计规范</a:t>
            </a:r>
            <a:r>
              <a:rPr sz="950" b="1">
                <a:solidFill>
                  <a:srgbClr val="BFDBFE"/>
                </a:solidFill>
                <a:latin typeface="Microsoft YaHei"/>
              </a:rPr>
              <a:t>  [规范资产]</a:t>
            </a:r>
          </a:p>
        </p:txBody>
      </p:sp>
      <p:sp>
        <p:nvSpPr>
          <p:cNvPr id="11" name="TextBox 10"/>
          <p:cNvSpPr txBox="1"/>
          <p:nvPr/>
        </p:nvSpPr>
        <p:spPr>
          <a:xfrm>
            <a:off x="6312103" y="1380744"/>
            <a:ext cx="5312664" cy="1901952"/>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64B POD 连续描述符统一契约库：</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交付跨进程零拷贝 ExtentManifest 结构体与 AttachHandle 访问凭证规范。</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彻底消除跨进程/跨框架传递时的序列化与反序列化 CPU 开销。</a:t>
            </a:r>
          </a:p>
          <a:p>
            <a:pPr algn="l">
              <a:lnSpc>
                <a:spcPct val="114000"/>
              </a:lnSpc>
              <a:spcBef>
                <a:spcPts val="300"/>
              </a:spcBef>
              <a:spcAft>
                <a:spcPts val="100"/>
              </a:spcAft>
            </a:pPr>
            <a:r>
              <a:rPr sz="1050" b="1">
                <a:solidFill>
                  <a:srgbClr val="1E3A8A"/>
                </a:solidFill>
                <a:latin typeface="Microsoft YaHei"/>
              </a:rPr>
              <a:t>• 全量需求追溯与详细设计说明书：</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交付《全量需求与详细设计说明书》，100% 覆盖 38 条 SR 与 203 条 AR 工作包。</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建立架构到代码实现的 1:1 镜像追溯矩阵。</a:t>
            </a:r>
          </a:p>
          <a:p>
            <a:pPr algn="l">
              <a:lnSpc>
                <a:spcPct val="114000"/>
              </a:lnSpc>
              <a:spcBef>
                <a:spcPts val="300"/>
              </a:spcBef>
              <a:spcAft>
                <a:spcPts val="100"/>
              </a:spcAft>
            </a:pPr>
            <a:r>
              <a:rPr sz="1050" b="1">
                <a:solidFill>
                  <a:srgbClr val="1E3A8A"/>
                </a:solidFill>
                <a:latin typeface="Microsoft YaHei"/>
              </a:rPr>
              <a:t>• 多维度语义校验体系与安全守卫：</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规范模型、词表、模板及租约 6 维合法性校验标准，彻底杜绝陈旧失效数据读取。</a:t>
            </a:r>
          </a:p>
        </p:txBody>
      </p:sp>
      <p:sp>
        <p:nvSpPr>
          <p:cNvPr id="12" name="Rectangle 11"/>
          <p:cNvSpPr/>
          <p:nvPr/>
        </p:nvSpPr>
        <p:spPr>
          <a:xfrm>
            <a:off x="457200" y="3429000"/>
            <a:ext cx="5532120" cy="233172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429000"/>
            <a:ext cx="553212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65576"/>
            <a:ext cx="5312664" cy="219456"/>
          </a:xfrm>
          <a:prstGeom prst="rect">
            <a:avLst/>
          </a:prstGeom>
          <a:noFill/>
        </p:spPr>
        <p:txBody>
          <a:bodyPr wrap="none" lIns="0" tIns="0" rIns="0" bIns="0">
            <a:spAutoFit/>
          </a:bodyPr>
          <a:lstStyle/>
          <a:p>
            <a:pPr>
              <a:defRPr sz="1150" b="1">
                <a:solidFill>
                  <a:srgbClr val="FFFFFF"/>
                </a:solidFill>
                <a:latin typeface="Microsoft YaHei"/>
              </a:defRPr>
            </a:pPr>
            <a:r>
              <a:t>3. 11 项关键技术实测证据包与对账集</a:t>
            </a:r>
            <a:r>
              <a:rPr sz="950" b="1">
                <a:solidFill>
                  <a:srgbClr val="BFDBFE"/>
                </a:solidFill>
                <a:latin typeface="Microsoft YaHei"/>
              </a:rPr>
              <a:t>  [数据资产]</a:t>
            </a:r>
          </a:p>
        </p:txBody>
      </p:sp>
      <p:sp>
        <p:nvSpPr>
          <p:cNvPr id="15" name="TextBox 14"/>
          <p:cNvSpPr txBox="1"/>
          <p:nvPr/>
        </p:nvSpPr>
        <p:spPr>
          <a:xfrm>
            <a:off x="566928" y="3758184"/>
            <a:ext cx="5312664" cy="1965960"/>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全量 PVT/CVT 标准技术报告集：</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 11 份标准技术报告 (PVT-00~09 及 CVT-01)，含千组基准测试打点。</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提供基于体系结构第一性原理的严密量化推导与测试结论分析。</a:t>
            </a:r>
          </a:p>
          <a:p>
            <a:pPr algn="l">
              <a:lnSpc>
                <a:spcPct val="114000"/>
              </a:lnSpc>
              <a:spcBef>
                <a:spcPts val="300"/>
              </a:spcBef>
              <a:spcAft>
                <a:spcPts val="100"/>
              </a:spcAft>
            </a:pPr>
            <a:r>
              <a:rPr sz="1050" b="1">
                <a:solidFill>
                  <a:srgbClr val="1E3A8A"/>
                </a:solidFill>
                <a:latin typeface="Microsoft YaHei"/>
              </a:rPr>
              <a:t>• 全场景超长上下文客观实测对账包：</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包含 MLA/MHA 双模型在 30%~98% 五档复用率、8K~256K 超长上下文下的 CSV 数据。</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真实记录网络流量、显存带宽与 CPU 负载的微秒级监控曲线。</a:t>
            </a:r>
          </a:p>
          <a:p>
            <a:pPr algn="l">
              <a:lnSpc>
                <a:spcPct val="114000"/>
              </a:lnSpc>
              <a:spcBef>
                <a:spcPts val="300"/>
              </a:spcBef>
              <a:spcAft>
                <a:spcPts val="100"/>
              </a:spcAft>
            </a:pPr>
            <a:r>
              <a:rPr sz="1050" b="1">
                <a:solidFill>
                  <a:srgbClr val="1E3A8A"/>
                </a:solidFill>
                <a:latin typeface="Microsoft YaHei"/>
              </a:rPr>
              <a:t>• 架构消融实验对比数据与选路参数表：</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提供开源基线 vs 扩展版消融数据，证明各项技术带来的确定性净收益。</a:t>
            </a:r>
          </a:p>
        </p:txBody>
      </p:sp>
      <p:sp>
        <p:nvSpPr>
          <p:cNvPr id="16" name="Rectangle 15"/>
          <p:cNvSpPr/>
          <p:nvPr/>
        </p:nvSpPr>
        <p:spPr>
          <a:xfrm>
            <a:off x="6202375" y="3429000"/>
            <a:ext cx="5532120" cy="233172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429000"/>
            <a:ext cx="5532120" cy="29260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65576"/>
            <a:ext cx="5312664" cy="219456"/>
          </a:xfrm>
          <a:prstGeom prst="rect">
            <a:avLst/>
          </a:prstGeom>
          <a:noFill/>
        </p:spPr>
        <p:txBody>
          <a:bodyPr wrap="none" lIns="0" tIns="0" rIns="0" bIns="0">
            <a:spAutoFit/>
          </a:bodyPr>
          <a:lstStyle/>
          <a:p>
            <a:pPr>
              <a:defRPr sz="1150" b="1">
                <a:solidFill>
                  <a:srgbClr val="FFFFFF"/>
                </a:solidFill>
                <a:latin typeface="Microsoft YaHei"/>
              </a:defRPr>
            </a:pPr>
            <a:r>
              <a:t>4. 核心技术发明专利与技术资产沉淀</a:t>
            </a:r>
            <a:r>
              <a:rPr sz="950" b="1">
                <a:solidFill>
                  <a:srgbClr val="BFDBFE"/>
                </a:solidFill>
                <a:latin typeface="Microsoft YaHei"/>
              </a:rPr>
              <a:t>  [创新资产]</a:t>
            </a:r>
          </a:p>
        </p:txBody>
      </p:sp>
      <p:sp>
        <p:nvSpPr>
          <p:cNvPr id="19" name="TextBox 18"/>
          <p:cNvSpPr txBox="1"/>
          <p:nvPr/>
        </p:nvSpPr>
        <p:spPr>
          <a:xfrm>
            <a:off x="6312103" y="3758184"/>
            <a:ext cx="5312664" cy="1965960"/>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高价值自主知识产权专利集群：</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围绕多卡原子协同、连续块描述符编译与选路布局 </a:t>
            </a:r>
            <a:r>
              <a:rPr sz="950" b="1">
                <a:solidFill>
                  <a:srgbClr val="DC2626"/>
                </a:solidFill>
                <a:latin typeface="Microsoft YaHei"/>
              </a:rPr>
              <a:t>4~6 项核心发明专利</a:t>
            </a:r>
            <a:r>
              <a:rPr sz="950">
                <a:solidFill>
                  <a:srgbClr val="1E293B"/>
                </a:solidFill>
                <a:latin typeface="Microsoft YaHei"/>
              </a:rPr>
              <a:t>。</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构筑面向国产 AI 硬件大模型推理的原厂自主知识产权壁垒。</a:t>
            </a:r>
          </a:p>
          <a:p>
            <a:pPr algn="l">
              <a:lnSpc>
                <a:spcPct val="114000"/>
              </a:lnSpc>
              <a:spcBef>
                <a:spcPts val="300"/>
              </a:spcBef>
              <a:spcAft>
                <a:spcPts val="100"/>
              </a:spcAft>
            </a:pPr>
            <a:r>
              <a:rPr sz="1050" b="1">
                <a:solidFill>
                  <a:srgbClr val="1E3A8A"/>
                </a:solidFill>
                <a:latin typeface="Microsoft YaHei"/>
              </a:rPr>
              <a:t>• 系统级顶级学术成果与行业标杆：</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沉淀调度论文素材，树立业界领先技术品牌。</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积极向顶级系统工程学术会议输出高质量系统设计与实测成果。</a:t>
            </a:r>
          </a:p>
          <a:p>
            <a:pPr algn="l">
              <a:lnSpc>
                <a:spcPct val="114000"/>
              </a:lnSpc>
              <a:spcBef>
                <a:spcPts val="300"/>
              </a:spcBef>
              <a:spcAft>
                <a:spcPts val="100"/>
              </a:spcAft>
            </a:pPr>
            <a:r>
              <a:rPr sz="1050" b="1">
                <a:solidFill>
                  <a:srgbClr val="1E3A8A"/>
                </a:solidFill>
                <a:latin typeface="Microsoft YaHei"/>
              </a:rPr>
              <a:t>• 团队硬核技术履历与创新代表作：</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每位攻坚工程师均拥有独立主导的硬核技术成果与核心专利发明人署名。</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交付价值闭环：</a:t>
            </a:r>
            <a:r>
              <a:rPr sz="1100" b="1">
                <a:solidFill>
                  <a:srgbClr val="0F172A"/>
                </a:solidFill>
                <a:latin typeface="Microsoft YaHei"/>
              </a:rPr>
              <a:t>我们不仅交付一套代码，更沉淀了一套标准规范、一组权威实测数据包与一批核心专利，</a:t>
            </a:r>
            <a:r>
              <a:rPr sz="1100" b="1">
                <a:solidFill>
                  <a:srgbClr val="DC2626"/>
                </a:solidFill>
                <a:latin typeface="Microsoft YaHei"/>
              </a:rPr>
              <a:t>构筑面向国产硬件推理的技术壁垒与生态底座</a:t>
            </a:r>
            <a:r>
              <a:rPr sz="1100" b="1">
                <a:solidFill>
                  <a:srgbClr val="0F172A"/>
                </a:solidFill>
                <a:latin typeface="Microsoft YaHe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项目实施总结与攻坚共识：以第一性原理打造国产软硬协同底座</a:t>
            </a:r>
          </a:p>
          <a:p>
            <a:pPr>
              <a:spcBef>
                <a:spcPts val="300"/>
              </a:spcBef>
              <a:defRPr sz="1100">
                <a:solidFill>
                  <a:srgbClr val="475569"/>
                </a:solidFill>
                <a:latin typeface="Microsoft YaHei"/>
              </a:defRPr>
            </a:pPr>
            <a:r>
              <a:t>全员主攻 · 研产测一体化 · 实测数据每周对账 · 四大生产级资产闭环沉淀</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06 / 06 页</a:t>
            </a:r>
          </a:p>
        </p:txBody>
      </p:sp>
      <p:sp>
        <p:nvSpPr>
          <p:cNvPr id="4" name="Rectangle 3"/>
          <p:cNvSpPr/>
          <p:nvPr/>
        </p:nvSpPr>
        <p:spPr>
          <a:xfrm>
            <a:off x="457200"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267919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1. 阵型与主权保障</a:t>
            </a:r>
            <a:r>
              <a:rPr sz="900" b="1">
                <a:solidFill>
                  <a:srgbClr val="BFDBFE"/>
                </a:solidFill>
                <a:latin typeface="Microsoft YaHei"/>
              </a:rPr>
              <a:t>  [全员主攻]</a:t>
            </a:r>
          </a:p>
        </p:txBody>
      </p:sp>
      <p:sp>
        <p:nvSpPr>
          <p:cNvPr id="7" name="TextBox 6"/>
          <p:cNvSpPr txBox="1"/>
          <p:nvPr/>
        </p:nvSpPr>
        <p:spPr>
          <a:xfrm>
            <a:off x="548640"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消除孤立辅助打杂岗：</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每人承担 </a:t>
            </a:r>
            <a:r>
              <a:rPr sz="900" b="1">
                <a:solidFill>
                  <a:srgbClr val="2563EB"/>
                </a:solidFill>
                <a:latin typeface="Microsoft YaHei"/>
              </a:rPr>
              <a:t>1 项硬核领地 + 1 项工程底座</a:t>
            </a:r>
            <a:r>
              <a:rPr sz="900">
                <a:solidFill>
                  <a:srgbClr val="1E293B"/>
                </a:solidFill>
                <a:latin typeface="Microsoft YaHei"/>
              </a:rPr>
              <a:t>。</a:t>
            </a:r>
          </a:p>
          <a:p>
            <a:pPr algn="l">
              <a:lnSpc>
                <a:spcPct val="114000"/>
              </a:lnSpc>
              <a:spcBef>
                <a:spcPts val="200"/>
              </a:spcBef>
              <a:spcAft>
                <a:spcPts val="100"/>
              </a:spcAft>
            </a:pPr>
            <a:r>
              <a:rPr sz="1000" b="1">
                <a:solidFill>
                  <a:srgbClr val="1E3A8A"/>
                </a:solidFill>
                <a:latin typeface="Microsoft YaHei"/>
              </a:rPr>
              <a:t>• 研产测一体化主权闭环：</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对负责战区享有第一技术主权与评审权。</a:t>
            </a:r>
          </a:p>
          <a:p>
            <a:pPr algn="l">
              <a:lnSpc>
                <a:spcPct val="114000"/>
              </a:lnSpc>
              <a:spcBef>
                <a:spcPts val="200"/>
              </a:spcBef>
              <a:spcAft>
                <a:spcPts val="100"/>
              </a:spcAft>
            </a:pPr>
            <a:r>
              <a:rPr sz="1000" b="1">
                <a:solidFill>
                  <a:srgbClr val="1E3A8A"/>
                </a:solidFill>
                <a:latin typeface="Microsoft YaHei"/>
              </a:rPr>
              <a:t>• 以测带练实战切入：</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通过 Benchmark 压测在实战中固化契约。</a:t>
            </a:r>
          </a:p>
        </p:txBody>
      </p:sp>
      <p:sp>
        <p:nvSpPr>
          <p:cNvPr id="8" name="Rectangle 7"/>
          <p:cNvSpPr/>
          <p:nvPr/>
        </p:nvSpPr>
        <p:spPr>
          <a:xfrm>
            <a:off x="3319272"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19272" y="1051560"/>
            <a:ext cx="2679192" cy="29260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2. 技术与攻坚保障</a:t>
            </a:r>
            <a:r>
              <a:rPr sz="900" b="1">
                <a:solidFill>
                  <a:srgbClr val="BFDBFE"/>
                </a:solidFill>
                <a:latin typeface="Microsoft YaHei"/>
              </a:rPr>
              <a:t>  [硬核突破]</a:t>
            </a:r>
          </a:p>
        </p:txBody>
      </p:sp>
      <p:sp>
        <p:nvSpPr>
          <p:cNvPr id="11" name="TextBox 10"/>
          <p:cNvSpPr txBox="1"/>
          <p:nvPr/>
        </p:nvSpPr>
        <p:spPr>
          <a:xfrm>
            <a:off x="3410712"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直面物理瓶颈第一性：</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攻坚多卡加载偏斜 </a:t>
            </a:r>
            <a:r>
              <a:rPr sz="900" b="1">
                <a:solidFill>
                  <a:srgbClr val="DC2626"/>
                </a:solidFill>
                <a:latin typeface="Microsoft YaHei"/>
              </a:rPr>
              <a:t>(T_TP4&gt;T_TP1)</a:t>
            </a:r>
            <a:r>
              <a:rPr sz="900">
                <a:solidFill>
                  <a:srgbClr val="1E293B"/>
                </a:solidFill>
                <a:latin typeface="Microsoft YaHei"/>
              </a:rPr>
              <a:t> 与 Incast。</a:t>
            </a:r>
          </a:p>
          <a:p>
            <a:pPr algn="l">
              <a:lnSpc>
                <a:spcPct val="114000"/>
              </a:lnSpc>
              <a:spcBef>
                <a:spcPts val="200"/>
              </a:spcBef>
              <a:spcAft>
                <a:spcPts val="100"/>
              </a:spcAft>
            </a:pPr>
            <a:r>
              <a:rPr sz="1000" b="1">
                <a:solidFill>
                  <a:srgbClr val="1E3A8A"/>
                </a:solidFill>
                <a:latin typeface="Microsoft YaHei"/>
              </a:rPr>
              <a:t>• 微秒调度与选路大脑：</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自研决策模型，</a:t>
            </a:r>
            <a:r>
              <a:rPr sz="900" b="1">
                <a:solidFill>
                  <a:srgbClr val="DC2626"/>
                </a:solidFill>
                <a:latin typeface="Microsoft YaHei"/>
              </a:rPr>
              <a:t>决策 P99 &lt; 5µs</a:t>
            </a:r>
            <a:r>
              <a:rPr sz="900">
                <a:solidFill>
                  <a:srgbClr val="1E293B"/>
                </a:solidFill>
                <a:latin typeface="Microsoft YaHei"/>
              </a:rPr>
              <a:t>。</a:t>
            </a:r>
          </a:p>
          <a:p>
            <a:pPr algn="l">
              <a:lnSpc>
                <a:spcPct val="114000"/>
              </a:lnSpc>
              <a:spcBef>
                <a:spcPts val="200"/>
              </a:spcBef>
              <a:spcAft>
                <a:spcPts val="100"/>
              </a:spcAft>
            </a:pPr>
            <a:r>
              <a:rPr sz="1000" b="1">
                <a:solidFill>
                  <a:srgbClr val="1E3A8A"/>
                </a:solidFill>
                <a:latin typeface="Microsoft YaHei"/>
              </a:rPr>
              <a:t>• 零拷贝极速数据面：</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打通 URMA 零拷贝与 SSD 裸盘直达通路。</a:t>
            </a:r>
          </a:p>
        </p:txBody>
      </p:sp>
      <p:sp>
        <p:nvSpPr>
          <p:cNvPr id="12" name="Rectangle 11"/>
          <p:cNvSpPr/>
          <p:nvPr/>
        </p:nvSpPr>
        <p:spPr>
          <a:xfrm>
            <a:off x="6181344"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051560"/>
            <a:ext cx="267919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3. 节奏与门禁纪律</a:t>
            </a:r>
            <a:r>
              <a:rPr sz="900" b="1">
                <a:solidFill>
                  <a:srgbClr val="BFDBFE"/>
                </a:solidFill>
                <a:latin typeface="Microsoft YaHei"/>
              </a:rPr>
              <a:t>  [数据立身]</a:t>
            </a:r>
          </a:p>
        </p:txBody>
      </p:sp>
      <p:sp>
        <p:nvSpPr>
          <p:cNvPr id="15" name="TextBox 14"/>
          <p:cNvSpPr txBox="1"/>
          <p:nvPr/>
        </p:nvSpPr>
        <p:spPr>
          <a:xfrm>
            <a:off x="6272784"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3 个月波次渐进推进：</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3.5人筑基 → 5人攻坚 → 9人全员就位。</a:t>
            </a:r>
          </a:p>
          <a:p>
            <a:pPr algn="l">
              <a:lnSpc>
                <a:spcPct val="114000"/>
              </a:lnSpc>
              <a:spcBef>
                <a:spcPts val="200"/>
              </a:spcBef>
              <a:spcAft>
                <a:spcPts val="100"/>
              </a:spcAft>
            </a:pPr>
            <a:r>
              <a:rPr sz="1000" b="1">
                <a:solidFill>
                  <a:srgbClr val="1E3A8A"/>
                </a:solidFill>
                <a:latin typeface="Microsoft YaHei"/>
              </a:rPr>
              <a:t>• 严密量化每周对账：</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实行实测打点现场每周对账机制。</a:t>
            </a:r>
          </a:p>
          <a:p>
            <a:pPr algn="l">
              <a:lnSpc>
                <a:spcPct val="114000"/>
              </a:lnSpc>
              <a:spcBef>
                <a:spcPts val="200"/>
              </a:spcBef>
              <a:spcAft>
                <a:spcPts val="100"/>
              </a:spcAft>
            </a:pPr>
            <a:r>
              <a:rPr sz="1000" b="1">
                <a:solidFill>
                  <a:srgbClr val="1E3A8A"/>
                </a:solidFill>
                <a:latin typeface="Microsoft YaHei"/>
              </a:rPr>
              <a:t>• 门禁准入红线纪律：</a:t>
            </a:r>
          </a:p>
          <a:p>
            <a:pPr algn="l">
              <a:lnSpc>
                <a:spcPct val="115000"/>
              </a:lnSpc>
              <a:spcBef>
                <a:spcPts val="0"/>
              </a:spcBef>
              <a:spcAft>
                <a:spcPts val="200"/>
              </a:spcAft>
            </a:pPr>
            <a:r>
              <a:rPr sz="900" b="1">
                <a:solidFill>
                  <a:srgbClr val="2563EB"/>
                </a:solidFill>
                <a:latin typeface="Microsoft YaHei"/>
              </a:rPr>
              <a:t>   ▸ </a:t>
            </a:r>
            <a:r>
              <a:rPr sz="900" b="1">
                <a:solidFill>
                  <a:srgbClr val="DC2626"/>
                </a:solidFill>
                <a:latin typeface="Microsoft YaHei"/>
              </a:rPr>
              <a:t>未达阶段门禁指标严禁进入下一阶段</a:t>
            </a:r>
            <a:r>
              <a:rPr sz="900">
                <a:solidFill>
                  <a:srgbClr val="1E293B"/>
                </a:solidFill>
                <a:latin typeface="Microsoft YaHei"/>
              </a:rPr>
              <a:t>。</a:t>
            </a:r>
          </a:p>
        </p:txBody>
      </p:sp>
      <p:sp>
        <p:nvSpPr>
          <p:cNvPr id="16" name="Rectangle 15"/>
          <p:cNvSpPr/>
          <p:nvPr/>
        </p:nvSpPr>
        <p:spPr>
          <a:xfrm>
            <a:off x="9043416"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43416" y="1051560"/>
            <a:ext cx="2679192" cy="29260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53144"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4. 资产与价值沉淀</a:t>
            </a:r>
            <a:r>
              <a:rPr sz="900" b="1">
                <a:solidFill>
                  <a:srgbClr val="BFDBFE"/>
                </a:solidFill>
                <a:latin typeface="Microsoft YaHei"/>
              </a:rPr>
              <a:t>  [价值闭环]</a:t>
            </a:r>
          </a:p>
        </p:txBody>
      </p:sp>
      <p:sp>
        <p:nvSpPr>
          <p:cNvPr id="19" name="TextBox 18"/>
          <p:cNvSpPr txBox="1"/>
          <p:nvPr/>
        </p:nvSpPr>
        <p:spPr>
          <a:xfrm>
            <a:off x="9134856"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验证即生产交付模式：</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极速通信插件直接合入主干投入生产。</a:t>
            </a:r>
          </a:p>
          <a:p>
            <a:pPr algn="l">
              <a:lnSpc>
                <a:spcPct val="114000"/>
              </a:lnSpc>
              <a:spcBef>
                <a:spcPts val="200"/>
              </a:spcBef>
              <a:spcAft>
                <a:spcPts val="100"/>
              </a:spcAft>
            </a:pPr>
            <a:r>
              <a:rPr sz="1000" b="1">
                <a:solidFill>
                  <a:srgbClr val="1E3A8A"/>
                </a:solidFill>
                <a:latin typeface="Microsoft YaHei"/>
              </a:rPr>
              <a:t>• 4~6 项核心发明专利：</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围绕多卡原子协同构筑原厂知识产权壁垒。</a:t>
            </a:r>
          </a:p>
          <a:p>
            <a:pPr algn="l">
              <a:lnSpc>
                <a:spcPct val="114000"/>
              </a:lnSpc>
              <a:spcBef>
                <a:spcPts val="200"/>
              </a:spcBef>
              <a:spcAft>
                <a:spcPts val="100"/>
              </a:spcAft>
            </a:pPr>
            <a:r>
              <a:rPr sz="1000" b="1">
                <a:solidFill>
                  <a:srgbClr val="1E3A8A"/>
                </a:solidFill>
                <a:latin typeface="Microsoft YaHei"/>
              </a:rPr>
              <a:t>• 团队代表作与标杆：</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每位攻坚工程师均拥有独立代表作成果。</a:t>
            </a:r>
          </a:p>
        </p:txBody>
      </p:sp>
      <p:sp>
        <p:nvSpPr>
          <p:cNvPr id="20" name="Rectangle 19"/>
          <p:cNvSpPr/>
          <p:nvPr/>
        </p:nvSpPr>
        <p:spPr>
          <a:xfrm>
            <a:off x="457200" y="3429000"/>
            <a:ext cx="11277295" cy="2267712"/>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429000"/>
            <a:ext cx="73152" cy="22677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630168"/>
            <a:ext cx="6858000" cy="1947672"/>
          </a:xfrm>
          <a:prstGeom prst="rect">
            <a:avLst/>
          </a:prstGeom>
          <a:noFill/>
        </p:spPr>
        <p:txBody>
          <a:bodyPr wrap="square" lIns="0" tIns="0" rIns="0" bIns="0">
            <a:spAutoFit/>
          </a:bodyPr>
          <a:lstStyle/>
          <a:p>
            <a:pPr>
              <a:defRPr sz="1050" b="1">
                <a:solidFill>
                  <a:srgbClr val="2563EB"/>
                </a:solidFill>
                <a:latin typeface="Consolas"/>
              </a:defRPr>
            </a:pPr>
            <a:r>
              <a:t>DEVELOPMENT IMPLEMENTATION · SUMMARY &amp; Q&amp;A EXCHANGE</a:t>
            </a:r>
          </a:p>
          <a:p>
            <a:pPr>
              <a:spcBef>
                <a:spcPts val="400"/>
              </a:spcBef>
              <a:defRPr sz="1650" b="1">
                <a:solidFill>
                  <a:srgbClr val="1E3A8A"/>
                </a:solidFill>
                <a:latin typeface="Microsoft YaHei"/>
              </a:defRPr>
            </a:pPr>
            <a:r>
              <a:t>感谢各位专家与研发团队 · 敬请技术交流与研讨 (Q&amp;A)</a:t>
            </a:r>
          </a:p>
          <a:p>
            <a:pPr>
              <a:spcBef>
                <a:spcPts val="600"/>
              </a:spcBef>
              <a:defRPr sz="1100">
                <a:solidFill>
                  <a:srgbClr val="475569"/>
                </a:solidFill>
                <a:latin typeface="Microsoft YaHei"/>
              </a:defRPr>
            </a:pPr>
            <a:r>
              <a:t>统一异构 KVCache 存储池 9 人研发攻坚团队已全面就绪。</a:t>
            </a:r>
          </a:p>
          <a:p>
            <a:pPr>
              <a:spcBef>
                <a:spcPts val="400"/>
              </a:spcBef>
              <a:defRPr sz="1100" b="1">
                <a:solidFill>
                  <a:srgbClr val="1E293B"/>
                </a:solidFill>
                <a:latin typeface="Microsoft YaHei"/>
              </a:defRPr>
            </a:pPr>
            <a:r>
              <a:t>严守学术与技术诚信红线，以第一性原理攻坚，用扎实客观实测数据构筑国产芯片原厂核心壁垒！</a:t>
            </a:r>
          </a:p>
        </p:txBody>
      </p:sp>
      <p:sp>
        <p:nvSpPr>
          <p:cNvPr id="23" name="Rectangle 22"/>
          <p:cNvSpPr/>
          <p:nvPr/>
        </p:nvSpPr>
        <p:spPr>
          <a:xfrm>
            <a:off x="7726679" y="3630168"/>
            <a:ext cx="3840480" cy="86868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36407" y="3685032"/>
            <a:ext cx="3621024" cy="758952"/>
          </a:xfrm>
          <a:prstGeom prst="rect">
            <a:avLst/>
          </a:prstGeom>
          <a:noFill/>
        </p:spPr>
        <p:txBody>
          <a:bodyPr wrap="square" lIns="0" tIns="0" rIns="0" bIns="0">
            <a:spAutoFit/>
          </a:bodyPr>
          <a:lstStyle/>
          <a:p>
            <a:pPr>
              <a:defRPr sz="1050" b="1">
                <a:solidFill>
                  <a:srgbClr val="1E3A8A"/>
                </a:solidFill>
                <a:latin typeface="Microsoft YaHei"/>
              </a:defRPr>
            </a:pPr>
            <a:r>
              <a:t>【实施推进重点】</a:t>
            </a:r>
          </a:p>
          <a:p>
            <a:pPr>
              <a:spcBef>
                <a:spcPts val="200"/>
              </a:spcBef>
              <a:defRPr sz="950">
                <a:solidFill>
                  <a:srgbClr val="1E293B"/>
                </a:solidFill>
                <a:latin typeface="Microsoft YaHei"/>
              </a:defRPr>
            </a:pPr>
            <a:r>
              <a:t>即刻启动 M1 阶段，全面推进 64B 描述符契约固化与 URMA 零拷贝传输底座验证。</a:t>
            </a:r>
          </a:p>
        </p:txBody>
      </p:sp>
      <p:sp>
        <p:nvSpPr>
          <p:cNvPr id="25" name="Rectangle 24"/>
          <p:cNvSpPr/>
          <p:nvPr/>
        </p:nvSpPr>
        <p:spPr>
          <a:xfrm>
            <a:off x="7726679" y="4617720"/>
            <a:ext cx="3840480" cy="77724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7" y="4672584"/>
            <a:ext cx="3621024" cy="667512"/>
          </a:xfrm>
          <a:prstGeom prst="rect">
            <a:avLst/>
          </a:prstGeom>
          <a:noFill/>
        </p:spPr>
        <p:txBody>
          <a:bodyPr wrap="square" lIns="0" tIns="0" rIns="0" bIns="0">
            <a:spAutoFit/>
          </a:bodyPr>
          <a:lstStyle/>
          <a:p>
            <a:pPr>
              <a:defRPr sz="1050" b="1">
                <a:solidFill>
                  <a:srgbClr val="1E3A8A"/>
                </a:solidFill>
                <a:latin typeface="Microsoft YaHei"/>
              </a:defRPr>
            </a:pPr>
            <a:r>
              <a:t>【研发攻坚署名】</a:t>
            </a:r>
          </a:p>
          <a:p>
            <a:pPr>
              <a:spcBef>
                <a:spcPts val="200"/>
              </a:spcBef>
              <a:defRPr sz="980" b="1">
                <a:solidFill>
                  <a:srgbClr val="2563EB"/>
                </a:solidFill>
                <a:latin typeface="Microsoft YaHei"/>
              </a:defRPr>
            </a:pPr>
            <a:r>
              <a:t>统一异构 KVCache 存储池研发攻坚组 · 2026-08</a:t>
            </a:r>
          </a:p>
        </p:txBody>
      </p:sp>
      <p:sp>
        <p:nvSpPr>
          <p:cNvPr id="27" name="Rectangle 26"/>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项目实施落地承诺：</a:t>
            </a:r>
            <a:r>
              <a:rPr sz="1100" b="1">
                <a:solidFill>
                  <a:srgbClr val="0F172A"/>
                </a:solidFill>
                <a:latin typeface="Microsoft YaHei"/>
              </a:rPr>
              <a:t>9人攻坚团队已全面就绪。我们将严守技术诚信红线，以第一性原理攻坚，</a:t>
            </a:r>
            <a:r>
              <a:rPr sz="1100" b="1">
                <a:solidFill>
                  <a:srgbClr val="DC2626"/>
                </a:solidFill>
                <a:latin typeface="Microsoft YaHei"/>
              </a:rPr>
              <a:t>3个月内保质交付生产级代码、标准接口与混压实测证据包</a:t>
            </a:r>
            <a:r>
              <a:rPr sz="1100" b="1">
                <a:solidFill>
                  <a:srgbClr val="0F172A"/>
                </a:solidFill>
                <a:latin typeface="Microsoft YaHe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