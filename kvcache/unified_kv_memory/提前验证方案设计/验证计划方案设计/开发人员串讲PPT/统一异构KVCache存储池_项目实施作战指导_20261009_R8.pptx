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【串讲讲稿－封面页】</a:t>
            </a:r>
          </a:p>
          <a:p>
            <a:r>
              <a:t>本次刷新不是简单调整人员名单，而是改变项目推进方式。KVCache 是大模型注意力键值缓存，用于避免后续 Token 生成时重复计算注意力。项目已从构建一套全新的关键软件，转为基于 Mooncake 开源底座做深度重构与架构增强，因此验证不再是开发前的准备工作，而是直接形成主干代码、参数边界和回退策略的核心工作。新版配置为架构师 LL、LJQ/CY/YZN/NXY/WZX/WXH 六名在岗开发人员和两名待补人员。三个月内围绕元数据、稳定带宽、多通道、框架接入、动态选路、分层存储、网络稳定性和发布门禁推进，最终以 TTFT、QPS、TPOT 干扰率和 P99 稳定性统一验收。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【串讲讲稿－人员矩阵页】</a:t>
            </a:r>
          </a:p>
          <a:p>
            <a:r>
              <a:t>本轮计划按实际投入重新排布。LJQ、YZN、NXY 各投入一半工作时间，因此不再承担跨域集成和持续测试，而是聚焦查询快路径、多通道底层接口、链路能力与 QoS 等关键机制。CY、WZX、WXH 全投入，分别作为数据面、控制面、调度与总集成领域负责人，承担任务拆解、接口联调、验证收口和风险升级。现有六名开发人员折算为四点五个 FTE。待补的 G、H 可以在到位后承接可靠性门禁和分层存储扩展，但不能成为 M2 关键验证的前置依赖。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【串讲讲稿－组件地图页】</a:t>
            </a:r>
          </a:p>
          <a:p>
            <a:r>
              <a:t>新版组件图保留四层架构，但不再把所有基础能力都当作自研任务。L1 接入层复用 Mooncake 和 SGLang 现有接口，只重构影响请求语义和异步传输的部分；L2 控制层聚焦前缀查询、成本预估、动态选路、六维消费资格校验和异常回退；L3 分层层由 H 负责块管理、生命周期与 NVMe 直达；L4 数据面由 CY/YZN 负责稳定带宽、多通道和多卡同步，NXY 补充链路能力与 QoS，G 建立统一基准和发布门禁。每个组件都要映射到 SRS 需求树、代码入口和验证项，映射完成不代表需求已实现，只有通过对应门禁才算完成。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【串讲讲稿－三个月计划页】</a:t>
            </a:r>
          </a:p>
          <a:p>
            <a:r>
              <a:t>三个月计划仍以 M2 为关键技术验证门槛。M1 完成统一环境、版本、拓扑、统计口径和 Benchmark 工具，生成 105 个计划 Case 的配置清单并完成代表场景冒烟。M2 在 Qwen3 或 Qwen3.5 的 8B、27B、72B 三档模型上，覆盖七档前缀覆盖率与五档序列长度，完成选定范围的短跑筛查和门禁复测。若测试时间不足，只能在跟踪表中把 Case 标记为条件执行或取消并记录原因，不能把未执行场景写成已完成。M3 只补充混合负载、故障、长稳和回归，不再探索新的主路径。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11的570个配置是候选计划，执行前审核并冻结。TST固定输入、输出、采样和对照，PL只决定触发与必做范围。M01～M06验证运行场景，M07～M09检查功能、模块性能及交付证据。105个矩阵点覆盖三档模型、五档长度和七档前缀，瓶颈由实测确认。TST-0388先冷R1、等待分片可消费，再测完整R2及同长冷REF；R1输出不加入R2。PAIR只给点值，正式稳态才判有效QPS/P99。MC_ONLY与AUTO独立执行，专用方法按各自门限判定。基础/挑战与E3分别对账，TPOT干扰对同版本增强纯前台，后台负载须可比。</a:t>
            </a:r>
          </a:p>
          <a:p>
            <a:r>
              <a:t>来源：统一异构KVCache存储池_三阶段任务开发迭代执行跟踪表_20261002_R11.xlsx；总览A12:J18，方法A5:H14，TST-0388及全配置，图解B74:Y94。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【串讲讲稿－交付成果页】</a:t>
            </a:r>
          </a:p>
          <a:p>
            <a:r>
              <a:t>Benchmark 数据资产改为可逐项追踪的场景矩阵。计划场景由三档模型、七档前缀覆盖率和五档序列长度组成，共一百零五个 Case。每个 Case 需要绑定精确模型版本、Tokenizer、软件提交、硬件拓扑、负载与缓存状态，并保存原始逐请求数据。进入 M2 门禁的 Case 需要完成稳定复测、置信区间和多轮波动分析。若测试时间不足，裁剪动作必须保留 Case 范围、原因和状态，避免把未执行场景混入验收结论。最终交付包括负载工具、配置清单、统计脚本、阈值、回退策略和可复核证据索引。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【串讲讲稿－总结页】</a:t>
            </a:r>
          </a:p>
          <a:p>
            <a:r>
              <a:t>本轮更新把 Benchmark 场景正式纳入 M1、M2、M3 节奏。M1 交付 Benchmark v1 和一百零五个 Case 的配置清单；M2 完成评审选定范围的执行、关键优化方法、功能必要性与主路径原型收口，并输出原始数据、统计结果、阈值、回退边界和裁剪记录；M3 只做混合负载、故障注入、长稳、回归和有限扩展。目标均相对原生 Mooncake 判定：TTFT 与综合吞吐基础提升百分之十、挑战百分之二十，P99 基础降低百分之二十、挑战百分之五十，前台 TPOT 干扰率控制在百分之五以内、挑战百分之三以内。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6EE8-0AB9-4C1A-AEDD-1ABBF7DE2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E69DE-5B82-4159-97E8-346B8BCB9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E996F-1361-4B29-BE33-0138556BC5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A07F4-6EF8-4050-9B56-29C323A831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45FE-802B-47DD-93EA-AAE69FAE93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A20A-82D4-46F5-9E4C-06914CF3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055A-8C65-4286-9DFF-70D97952A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55333-7026-4F75-8C96-FEB36F14BE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E44B5-81C0-48E8-9923-C20C735FAD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3A69D-3FFF-474A-A75E-6A9CBDEF82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C61F-7D64-4F23-839F-E2B818ED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6E29B-EF87-4CB5-9E3E-0E596E935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70B64-0E10-4399-B1E9-E3DF9D9398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3F415-8BD7-41AC-8FBA-6F2CC5A0EF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F25BC-BB9B-49E7-9D86-E9831F993D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0907-043F-454E-9449-ADCD37FB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4EE20-7FFD-41DB-83E7-BB464F510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DFE09-26CB-49D4-BE02-4A390663AAC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2A29-41DB-4EA9-A692-FA536C45B4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B089E-4513-4F34-BD7B-87ACDDFDF8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72EDF-E9E2-4FAA-B913-EFC4262CA0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9D3D-4549-44EC-BE08-5709BCE5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25D90-60AA-4539-8A00-892A29950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25810-292E-49A6-9EFA-440BA6D231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B3876-DE43-4133-91C6-4F02DF03E8C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F0E5C-8B68-4C07-92CA-6511C08A44D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28B7B-31D4-447B-9719-191E4961D4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75AFD-A8C8-48AC-9BF8-B3683EE5BD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BABFA-376C-4932-B673-3CBB224EBA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604A-FAA7-4FFD-B994-585F805F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FC6CC-07DB-4BED-AFC2-F3C792F62B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23824-812B-4850-ABDF-D4A931F319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A80B3-1B3F-4C81-8E96-3320B8F214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5EDD7-9626-4105-AE9A-1D84A62383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B78EB-8D70-4A9B-94FF-D63E7813CE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FE876-3CF6-4FF1-8D15-A11C652FE4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F8BA-BDE3-40AB-87AA-E5186CF8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C875-9F1E-4C3A-849D-21E9EADCE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F3121-EA87-41F2-A250-F548174DFA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B7D4C-7425-4F50-8516-CF1C595A68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5C0D6-60E0-47F6-A143-29EF4E3D2A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F26C2-871A-46B7-9D77-22E26AAC65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41A0-1790-4236-A91D-79060361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E8351-A347-4DF6-8ECF-4C94C52B2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CF59A-167F-45F0-AD1F-4D83448701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126DF-5C07-48A0-BC37-8DF0E8F0F6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47B52-B8D6-4627-9670-59F18DBC01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2CA09-6DE1-4CD1-9F35-A974E7BB14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0A2E-AB98-4B54-84EB-89591E37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DF034-7F36-462B-8087-C7FCF13E0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EFB03-8B02-4E15-8A84-48CAAA68E5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C6968-B023-428A-B63B-EFA48A24A3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DFFDF-98C2-44A1-97DA-0408C4BA7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33A17-343F-460D-922E-E2A6295D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6BBC3-75C5-4615-A9A7-AA811CE69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01DA9-6E8C-4F1A-B283-F546D8D2CF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C98B6-0719-4C8C-8E39-0F494A1072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2A000-F702-4232-9A70-EFE44F1FC7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F8996-C76F-45B5-A2D8-6DB1A5DF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63688-6090-4B5A-BC73-6A164A8AC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9BCA-991B-4DAC-9F3D-7F6F003000F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FBC9C-B588-4660-8EB8-C5DDD9E1099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2DF5E-C6F2-4C92-87E9-3AB80EEA16D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B925D8-2036-47EB-8730-F4E90DCAC081}"/>
              </a:ext>
            </a:extLst>
          </p:cNvPr>
          <p:cNvSpPr>
            <a:spLocks noGrp="1"/>
          </p:cNvSpPr>
          <p:nvPr/>
        </p:nvSpPr>
        <p:spPr>
          <a:xfrm>
            <a:off x="548640" y="731520"/>
            <a:ext cx="182880" cy="5394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40BB6-B70F-4E91-9962-F5FAA85515D4}"/>
              </a:ext>
            </a:extLst>
          </p:cNvPr>
          <p:cNvSpPr>
            <a:spLocks noGrp="1"/>
          </p:cNvSpPr>
          <p:nvPr/>
        </p:nvSpPr>
        <p:spPr>
          <a:xfrm>
            <a:off x="960120" y="9144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t>UNIFIED HETEROGENEOUS KVCACHE MEMORY POOL · DEVELOPMENT COMBAT GUIDANCE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77872-1CF5-4E67-836C-BE74410CDB2F}"/>
              </a:ext>
            </a:extLst>
          </p:cNvPr>
          <p:cNvSpPr>
            <a:spLocks noGrp="1"/>
          </p:cNvSpPr>
          <p:nvPr/>
        </p:nvSpPr>
        <p:spPr>
          <a:xfrm>
            <a:off x="960120" y="13258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面向国产 AI 硬件统一异构 KVCache 存储池</a:t>
            </a:r>
          </a:p>
          <a:p>
            <a:pPr>
              <a:spcBef>
                <a:spcPts val="400"/>
              </a:spcBef>
              <a:buNone/>
              <a:defRPr sz="2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项目实施作战指导与研发攻坚落地手册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5A86-D275-427E-B14A-DC4F0D0BC1E2}"/>
              </a:ext>
            </a:extLst>
          </p:cNvPr>
          <p:cNvSpPr>
            <a:spLocks noGrp="1"/>
          </p:cNvSpPr>
          <p:nvPr/>
        </p:nvSpPr>
        <p:spPr>
          <a:xfrm>
            <a:off x="960120" y="256032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基于 Mooncake 开源底座深度重构与架构增强 · 1名架构师 + 8名开发人员的研产测一体化实施计划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E861D-0E85-4B25-9D3C-BC748D46F84F}"/>
              </a:ext>
            </a:extLst>
          </p:cNvPr>
          <p:cNvSpPr>
            <a:spLocks noGrp="1"/>
          </p:cNvSpPr>
          <p:nvPr/>
        </p:nvSpPr>
        <p:spPr>
          <a:xfrm>
            <a:off x="96012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B972B-BB48-4C3C-AD07-073EA4E442A3}"/>
              </a:ext>
            </a:extLst>
          </p:cNvPr>
          <p:cNvSpPr>
            <a:spLocks noGrp="1"/>
          </p:cNvSpPr>
          <p:nvPr/>
        </p:nvSpPr>
        <p:spPr>
          <a:xfrm>
            <a:off x="960120" y="3108960"/>
            <a:ext cx="338328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2F1A0-FF5E-487B-B688-4428FF2DD4D9}"/>
              </a:ext>
            </a:extLst>
          </p:cNvPr>
          <p:cNvSpPr>
            <a:spLocks noGrp="1"/>
          </p:cNvSpPr>
          <p:nvPr/>
        </p:nvSpPr>
        <p:spPr>
          <a:xfrm>
            <a:off x="1069848" y="3145536"/>
            <a:ext cx="234315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控制面与数据面关键优化  [主线一]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157A1-0E8C-49DE-8184-930BCE31730D}"/>
              </a:ext>
            </a:extLst>
          </p:cNvPr>
          <p:cNvSpPr>
            <a:spLocks noGrp="1"/>
          </p:cNvSpPr>
          <p:nvPr/>
        </p:nvSpPr>
        <p:spPr>
          <a:xfrm>
            <a:off x="1088136" y="3493008"/>
            <a:ext cx="3127248" cy="160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LJQ/WXH：前缀元数据查询、成本预估与微秒级动态选路。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CY/YZN：稳定高带宽、多 NUMA 多通道并发与多卡状态同步。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WZX：SGLang 对接、描述符归一化及 Python/C++ 热点路径收敛。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2E2E9-BE14-4FE1-8850-D69D83A28A20}"/>
              </a:ext>
            </a:extLst>
          </p:cNvPr>
          <p:cNvSpPr>
            <a:spLocks noGrp="1"/>
          </p:cNvSpPr>
          <p:nvPr/>
        </p:nvSpPr>
        <p:spPr>
          <a:xfrm>
            <a:off x="466344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C07E27-297D-4117-BCBB-373374CB9561}"/>
              </a:ext>
            </a:extLst>
          </p:cNvPr>
          <p:cNvSpPr>
            <a:spLocks noGrp="1"/>
          </p:cNvSpPr>
          <p:nvPr/>
        </p:nvSpPr>
        <p:spPr>
          <a:xfrm>
            <a:off x="4663440" y="3108960"/>
            <a:ext cx="338328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D1BE5-5CBA-4F97-894A-A4C282394177}"/>
              </a:ext>
            </a:extLst>
          </p:cNvPr>
          <p:cNvSpPr>
            <a:spLocks noGrp="1"/>
          </p:cNvSpPr>
          <p:nvPr/>
        </p:nvSpPr>
        <p:spPr>
          <a:xfrm>
            <a:off x="4773168" y="3145536"/>
            <a:ext cx="219075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分层容量与生产稳定性  [主线二]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6D62B-ED83-4E32-8BC5-A68B95D1478D}"/>
              </a:ext>
            </a:extLst>
          </p:cNvPr>
          <p:cNvSpPr>
            <a:spLocks noGrp="1"/>
          </p:cNvSpPr>
          <p:nvPr/>
        </p:nvSpPr>
        <p:spPr>
          <a:xfrm>
            <a:off x="4791456" y="3493008"/>
            <a:ext cx="3127248" cy="160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H：HBM↔NVMe SSD 分层存储、生命周期与异步升降级。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NXY：链路能力矩阵、Incast/Coflow 动力学、QoS 与 P99 稳定性。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G：统一 Benchmark、持续回归、故障注入与长稳发布门禁。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66B9A2-B3B1-4E61-8410-0F1B6B43D861}"/>
              </a:ext>
            </a:extLst>
          </p:cNvPr>
          <p:cNvSpPr>
            <a:spLocks noGrp="1"/>
          </p:cNvSpPr>
          <p:nvPr/>
        </p:nvSpPr>
        <p:spPr>
          <a:xfrm>
            <a:off x="836676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A9F275-56F0-4A62-92C2-A2ED767A4EA0}"/>
              </a:ext>
            </a:extLst>
          </p:cNvPr>
          <p:cNvSpPr>
            <a:spLocks noGrp="1"/>
          </p:cNvSpPr>
          <p:nvPr/>
        </p:nvSpPr>
        <p:spPr>
          <a:xfrm>
            <a:off x="8366760" y="3108960"/>
            <a:ext cx="3383280" cy="3108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9AE94-838C-4400-B54E-A58F94EB5DB7}"/>
              </a:ext>
            </a:extLst>
          </p:cNvPr>
          <p:cNvSpPr>
            <a:spLocks noGrp="1"/>
          </p:cNvSpPr>
          <p:nvPr/>
        </p:nvSpPr>
        <p:spPr>
          <a:xfrm>
            <a:off x="8476488" y="3145536"/>
            <a:ext cx="234315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三个月门禁与主干交付  [实施准则]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E50EC1-C693-4D4E-8C5F-CE1E7E4B4B4B}"/>
              </a:ext>
            </a:extLst>
          </p:cNvPr>
          <p:cNvSpPr>
            <a:spLocks noGrp="1"/>
          </p:cNvSpPr>
          <p:nvPr/>
        </p:nvSpPr>
        <p:spPr>
          <a:xfrm>
            <a:off x="8494776" y="3493008"/>
            <a:ext cx="3127248" cy="160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Benchmark：Qwen3/Qwen3.5 的 8B、27B、72B 三档模型。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7 档前缀覆盖率 × 5 档序列长度，计划 105 个 Case。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相对 Mooncake：TTFT/综合吞吐基础提升 10%、挑战 20%；P99 基础降低 20%、挑战 50%；TPOT 干扰率 ≤5%、挑战 ≤3%。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74AA71-ABB3-4806-BD45-F40F05990748}"/>
              </a:ext>
            </a:extLst>
          </p:cNvPr>
          <p:cNvSpPr>
            <a:spLocks noGrp="1"/>
          </p:cNvSpPr>
          <p:nvPr/>
        </p:nvSpPr>
        <p:spPr>
          <a:xfrm>
            <a:off x="960120" y="5760720"/>
            <a:ext cx="2809875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统一异构 KVCache 存储池研发组 · 2026-09</a:t>
            </a:r>
          </a:p>
        </p:txBody>
      </p:sp>
    </p:spTree>
    <p:extLst>
      <p:ext uri="{BB962C8B-B14F-4D97-AF65-F5344CB8AC3E}">
        <p14:creationId xmlns:p14="http://schemas.microsoft.com/office/powerpoint/2010/main" val="17744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45F8E1-412F-498B-B56A-690050AE569F}"/>
              </a:ext>
            </a:extLst>
          </p:cNvPr>
          <p:cNvSpPr>
            <a:spLocks noGrp="1"/>
          </p:cNvSpPr>
          <p:nvPr/>
        </p:nvSpPr>
        <p:spPr>
          <a:xfrm>
            <a:off x="457200" y="320040"/>
            <a:ext cx="987552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人力作战阵型：1名架构师 + 8名开发人员的研产测一体化任务矩阵</a:t>
            </a:r>
          </a:p>
          <a:p>
            <a:pPr>
              <a:spcBef>
                <a:spcPts val="300"/>
              </a:spcBef>
              <a:buNone/>
              <a:def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LJQ/YZN/NXY 按 50% 投入，CY/WZX/WXH 分别承担数据面、控制面、调度与集成领域 Owner；G/H 待补且不作为 M2 关键验证前置条件</a:t>
            </a:r>
          </a:p>
        </p:txBody>
      </p:sp>
      <p:graphicFrame>
        <p:nvGraphicFramePr>
          <p:cNvPr id="11" name="Table 3"/>
          <p:cNvGraphicFramePr/>
          <p:nvPr/>
        </p:nvGraphicFramePr>
        <p:xfrm>
          <a:off x="457200" y="1051560"/>
          <a:ext cx="1127729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角色与定位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到位状态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主责优化事项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工程交付与协作边界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承接组件/验证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LL（架构师）｜系统与需求总览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596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当前在岗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系统设计、架构边界、SRS 需求分析、业务指标对齐与技术裁决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冻结基线、接口契约和验收口径；主持周度数据对账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全局 SR｜E0~E3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LJQ｜元数据快路径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830" b="1">
                          <a:solidFill>
                            <a:srgbClr val="0596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在岗 / 50%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前缀查询链路、Python 开销与序列化消除；复验 32K Token RTT 阶段结果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输出元数据分段打点、查询压测与可回滚优化补丁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CP-03｜PVT-00/04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CY｜数据面带宽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830" b="1">
                          <a:solidFill>
                            <a:srgbClr val="0596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在岗 /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稳定大 Slice 带宽、提升小 Slice 效率，收敛 1.4→42GB/s 的波动原因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负责传输参数、缓冲池、带宽回归；与 YZN 打通多通道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CP-11｜PVT-01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YZN｜多通道与多卡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830" b="1">
                          <a:solidFill>
                            <a:srgbClr val="0596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在岗 / 50%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NUMA 多并发 UB 接口、多通道传输、TP 多卡状态同步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CY 联调数据面；RNIC L3 stashing 仅做限时条件验证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CP-12｜PVT-06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NXY｜网络与 QoS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83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在岗 / 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扇入扇出、链路能力矩阵、Incast/Coflow、前后台 QoS 与 P99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负责机制与参数边界；G 负责基准复现和发布门禁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CP-09｜PVT-07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WZX｜框架与描述符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83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在岗 / 100%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SGLang/Mooncake 对接、热点路径、描述符归一化、六维消费资格校验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Python/C++ 边界；与 LJQ/WXH/YZN 完成控制面闭环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CP-01/02/05/10｜PVT-02/03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WXH｜调度与放置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83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在岗 /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基于现有 Segment 服务实现成本预估、动态选路、冷热识别和全局均衡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不新建独立调度底座；WXH 做决策，H 执行升降级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CP-04/06｜PVT-04/CVT-01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G｜基准与可靠性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Benchmark、持续集成回归、故障注入、长稳测试与证据包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不替代 NXY 的网络机制研究；负责结果可复现和版本准出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CP-13｜E0~E3 门禁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H｜分层存储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HBM↔NVMe SSD 直达、分层块管理、生命周期、迁移与容量压测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98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不替代 WXH 的放置策略；负责升降级执行和存储故障恢复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980" b="1">
                          <a:solidFill>
                            <a:srgbClr val="1E3A8A"/>
                          </a:solidFill>
                          <a:latin typeface="Consolas"/>
                          <a:ea typeface="Consolas"/>
                          <a:cs typeface="Consolas"/>
                        </a:rPr>
                        <a:t>CP-07/08｜PVT-05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6C7AF00-A671-4313-A9DF-1D46120BFABE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F1599-20DA-49A9-A6BC-4ADAD2C25635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63A8C-F8FD-4D78-9ED0-C5869D710D7A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1002975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【人员配置结论】 LJQ/YZN/NXY 聚焦关键机制与原型，CY/WZX/WXH 负责领域计划、跨层集成和验收收口。现有投入折算 4.5 FTE；M2 前按当前人员完成关键验证，G/H 补齐后承接可靠性与分层扩展。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E2670-7C2B-4011-9030-CE85CF6DAC56}"/>
              </a:ext>
            </a:extLst>
          </p:cNvPr>
          <p:cNvSpPr>
            <a:spLocks noGrp="1"/>
          </p:cNvSpPr>
          <p:nvPr/>
        </p:nvSpPr>
        <p:spPr>
          <a:xfrm>
            <a:off x="10413999" y="317500"/>
            <a:ext cx="1333500" cy="33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02 / 07 </a:t>
            </a: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页</a:t>
            </a:r>
            <a:endParaRPr sz="115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0150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07011-DC9C-47F7-8D4E-BBC331796C79}"/>
              </a:ext>
            </a:extLst>
          </p:cNvPr>
          <p:cNvSpPr>
            <a:spLocks noGrp="1"/>
          </p:cNvSpPr>
          <p:nvPr/>
        </p:nvSpPr>
        <p:spPr>
          <a:xfrm>
            <a:off x="457200" y="320040"/>
            <a:ext cx="987552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软件模块作战地图：四层架构、双流分离与 13 个核心组件</a:t>
            </a:r>
          </a:p>
          <a:p>
            <a:pPr>
              <a:spcBef>
                <a:spcPts val="300"/>
              </a:spcBef>
              <a:buNone/>
              <a:def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以 Mooncake 现有能力为基线，只对可改善 TTFT、TPOT、P99、QPS 与稳定性的关键路径实施深度重构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AC39C-95DB-42A0-9C65-7908DE4AAADC}"/>
              </a:ext>
            </a:extLst>
          </p:cNvPr>
          <p:cNvSpPr>
            <a:spLocks noGrp="1"/>
          </p:cNvSpPr>
          <p:nvPr/>
        </p:nvSpPr>
        <p:spPr>
          <a:xfrm>
            <a:off x="457200" y="987552"/>
            <a:ext cx="11277295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anchor="ctr"/>
          <a:lstStyle/>
          <a:p>
            <a:pPr algn="l">
              <a:buNone/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【全局架构与需求设计】 负责：系统架构师 LL｜总体边界与接口裁决 · SRS 需求树映射 · 业务指标口径 · E0~E3 准出把关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DD2621-85AA-42B9-8F2C-38DFBB075009}"/>
              </a:ext>
            </a:extLst>
          </p:cNvPr>
          <p:cNvSpPr>
            <a:spLocks noGrp="1"/>
          </p:cNvSpPr>
          <p:nvPr/>
        </p:nvSpPr>
        <p:spPr>
          <a:xfrm>
            <a:off x="457200" y="1408176"/>
            <a:ext cx="201168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09728" rIns="54864" anchor="ctr"/>
          <a:lstStyle/>
          <a:p>
            <a:pPr algn="l">
              <a:buNone/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L1 推理框架接入层</a:t>
            </a:r>
          </a:p>
          <a:p>
            <a:pPr algn="l">
              <a:spcBef>
                <a:spcPts val="200"/>
              </a:spcBef>
              <a:buNone/>
              <a:defRPr sz="919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(Connector Layer)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F5C2B2-4EE5-4391-9597-9992E435F26C}"/>
              </a:ext>
            </a:extLst>
          </p:cNvPr>
          <p:cNvSpPr>
            <a:spLocks noGrp="1"/>
          </p:cNvSpPr>
          <p:nvPr/>
        </p:nvSpPr>
        <p:spPr>
          <a:xfrm>
            <a:off x="2542032" y="1408176"/>
            <a:ext cx="45582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F509EC-0235-4478-A201-202C99EB20FE}"/>
              </a:ext>
            </a:extLst>
          </p:cNvPr>
          <p:cNvSpPr>
            <a:spLocks noGrp="1"/>
          </p:cNvSpPr>
          <p:nvPr/>
        </p:nvSpPr>
        <p:spPr>
          <a:xfrm>
            <a:off x="2542032" y="1408176"/>
            <a:ext cx="4558284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CP-01 SGLang Connector [WZX]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BBE97-478E-4300-AB34-4CEA14F58269}"/>
              </a:ext>
            </a:extLst>
          </p:cNvPr>
          <p:cNvSpPr>
            <a:spLocks noGrp="1"/>
          </p:cNvSpPr>
          <p:nvPr/>
        </p:nvSpPr>
        <p:spPr>
          <a:xfrm>
            <a:off x="2596896" y="1673351"/>
            <a:ext cx="4448556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SGLang 请求语义与 KVCache（注意力键值缓存）管理策略适配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统一框架侧上下文描述，避免重复转换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C49E3-9215-4DA8-8D58-BAA3EDE6E9B1}"/>
              </a:ext>
            </a:extLst>
          </p:cNvPr>
          <p:cNvSpPr>
            <a:spLocks noGrp="1"/>
          </p:cNvSpPr>
          <p:nvPr/>
        </p:nvSpPr>
        <p:spPr>
          <a:xfrm>
            <a:off x="7173468" y="1408176"/>
            <a:ext cx="45582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53A16E-703C-445E-A01C-C56F283CE519}"/>
              </a:ext>
            </a:extLst>
          </p:cNvPr>
          <p:cNvSpPr>
            <a:spLocks noGrp="1"/>
          </p:cNvSpPr>
          <p:nvPr/>
        </p:nvSpPr>
        <p:spPr>
          <a:xfrm>
            <a:off x="7173468" y="1408176"/>
            <a:ext cx="4558284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CP-02 Mooncake Integration [WZX/CY]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66378-B6CC-43C7-ACE8-DE61FD6605D5}"/>
              </a:ext>
            </a:extLst>
          </p:cNvPr>
          <p:cNvSpPr>
            <a:spLocks noGrp="1"/>
          </p:cNvSpPr>
          <p:nvPr/>
        </p:nvSpPr>
        <p:spPr>
          <a:xfrm>
            <a:off x="7228332" y="1673351"/>
            <a:ext cx="4448556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异步传输与计算重叠，复用 Mooncake 主干能力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连接器与稳定数据面联合联调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90F9E3-8CA4-4CA0-B95C-AB3125155FB1}"/>
              </a:ext>
            </a:extLst>
          </p:cNvPr>
          <p:cNvSpPr>
            <a:spLocks noGrp="1"/>
          </p:cNvSpPr>
          <p:nvPr/>
        </p:nvSpPr>
        <p:spPr>
          <a:xfrm>
            <a:off x="457200" y="2478024"/>
            <a:ext cx="20116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09728" rIns="54864" anchor="ctr"/>
          <a:lstStyle/>
          <a:p>
            <a:pPr algn="l">
              <a:buNone/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L2 状态控制与微秒决策层</a:t>
            </a:r>
          </a:p>
          <a:p>
            <a:pPr algn="l">
              <a:spcBef>
                <a:spcPts val="200"/>
              </a:spcBef>
              <a:buNone/>
              <a:defRPr sz="919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(Control &amp; Decision)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2661C4-BF5F-4327-9A29-F4F377037EB1}"/>
              </a:ext>
            </a:extLst>
          </p:cNvPr>
          <p:cNvSpPr>
            <a:spLocks noGrp="1"/>
          </p:cNvSpPr>
          <p:nvPr/>
        </p:nvSpPr>
        <p:spPr>
          <a:xfrm>
            <a:off x="2542032" y="2478024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05475D-3AF6-48CD-BABD-305A57D58844}"/>
              </a:ext>
            </a:extLst>
          </p:cNvPr>
          <p:cNvSpPr>
            <a:spLocks noGrp="1"/>
          </p:cNvSpPr>
          <p:nvPr/>
        </p:nvSpPr>
        <p:spPr>
          <a:xfrm>
            <a:off x="2542032" y="2478024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CP-03 Prefix Directory [LJQ]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4FFDE-F73A-4A74-99A6-51A90A80F0D7}"/>
              </a:ext>
            </a:extLst>
          </p:cNvPr>
          <p:cNvSpPr>
            <a:spLocks noGrp="1"/>
          </p:cNvSpPr>
          <p:nvPr/>
        </p:nvSpPr>
        <p:spPr>
          <a:xfrm>
            <a:off x="2596896" y="2743199"/>
            <a:ext cx="2132838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前缀索引与 URMA 查询快路径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降低 Python、序列化与跨层开销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9AAF4E-560E-4814-8C6B-571E73AB3ED5}"/>
              </a:ext>
            </a:extLst>
          </p:cNvPr>
          <p:cNvSpPr>
            <a:spLocks noGrp="1"/>
          </p:cNvSpPr>
          <p:nvPr/>
        </p:nvSpPr>
        <p:spPr>
          <a:xfrm>
            <a:off x="4857750" y="2478024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03CF98-53E5-43E1-A2AB-B46B62650A76}"/>
              </a:ext>
            </a:extLst>
          </p:cNvPr>
          <p:cNvSpPr>
            <a:spLocks noGrp="1"/>
          </p:cNvSpPr>
          <p:nvPr/>
        </p:nvSpPr>
        <p:spPr>
          <a:xfrm>
            <a:off x="4857750" y="2478024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CP-04 查询与放置决策 [WXH]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891EBC-BA1F-42ED-83E1-3DD11D42BCEF}"/>
              </a:ext>
            </a:extLst>
          </p:cNvPr>
          <p:cNvSpPr>
            <a:spLocks noGrp="1"/>
          </p:cNvSpPr>
          <p:nvPr/>
        </p:nvSpPr>
        <p:spPr>
          <a:xfrm>
            <a:off x="4912614" y="2743199"/>
            <a:ext cx="2132838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成本预估、动态选路与冷热识别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目标：决策时延 P99 &lt; 5µs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19E53-CC95-4651-B750-DC7BF2A8D230}"/>
              </a:ext>
            </a:extLst>
          </p:cNvPr>
          <p:cNvSpPr>
            <a:spLocks noGrp="1"/>
          </p:cNvSpPr>
          <p:nvPr/>
        </p:nvSpPr>
        <p:spPr>
          <a:xfrm>
            <a:off x="7173468" y="2478024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0503F8-B938-4256-919F-1466275B2015}"/>
              </a:ext>
            </a:extLst>
          </p:cNvPr>
          <p:cNvSpPr>
            <a:spLocks noGrp="1"/>
          </p:cNvSpPr>
          <p:nvPr/>
        </p:nvSpPr>
        <p:spPr>
          <a:xfrm>
            <a:off x="7173468" y="2478024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CP-05 六维消费资格校验 [WZX]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F3E5A5-1427-444D-8D8A-E958E3EC8FE3}"/>
              </a:ext>
            </a:extLst>
          </p:cNvPr>
          <p:cNvSpPr>
            <a:spLocks noGrp="1"/>
          </p:cNvSpPr>
          <p:nvPr/>
        </p:nvSpPr>
        <p:spPr>
          <a:xfrm>
            <a:off x="7228332" y="2743200"/>
            <a:ext cx="2132838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模型、词表、模板、LoRA、就绪位与租约校验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杜绝陈旧或不兼容 KV 数据被消费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0E5769-35CD-4D38-88DF-B95F1818705C}"/>
              </a:ext>
            </a:extLst>
          </p:cNvPr>
          <p:cNvSpPr>
            <a:spLocks noGrp="1"/>
          </p:cNvSpPr>
          <p:nvPr/>
        </p:nvSpPr>
        <p:spPr>
          <a:xfrm>
            <a:off x="9489186" y="2478024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43DBF5-A5E5-4039-8165-2F168233F24E}"/>
              </a:ext>
            </a:extLst>
          </p:cNvPr>
          <p:cNvSpPr>
            <a:spLocks noGrp="1"/>
          </p:cNvSpPr>
          <p:nvPr/>
        </p:nvSpPr>
        <p:spPr>
          <a:xfrm>
            <a:off x="9489186" y="2478024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CP-06 远端直读与回退 [WXH/YZN]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AFAEB2-93F6-4C84-8F75-1B744D305B58}"/>
              </a:ext>
            </a:extLst>
          </p:cNvPr>
          <p:cNvSpPr>
            <a:spLocks noGrp="1"/>
          </p:cNvSpPr>
          <p:nvPr/>
        </p:nvSpPr>
        <p:spPr>
          <a:xfrm>
            <a:off x="9544050" y="2743199"/>
            <a:ext cx="2132838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远端直读租约与异常回退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与多卡状态同步共同保证一致动作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C3C70F-D18C-4CAE-8862-22A0B2A601B8}"/>
              </a:ext>
            </a:extLst>
          </p:cNvPr>
          <p:cNvSpPr>
            <a:spLocks noGrp="1"/>
          </p:cNvSpPr>
          <p:nvPr/>
        </p:nvSpPr>
        <p:spPr>
          <a:xfrm>
            <a:off x="457200" y="3621024"/>
            <a:ext cx="2011680" cy="1060704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09728" rIns="54864" anchor="ctr"/>
          <a:lstStyle/>
          <a:p>
            <a:pPr algn="l">
              <a:buNone/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L3 分层存储与对象拓扑层</a:t>
            </a:r>
          </a:p>
          <a:p>
            <a:pPr algn="l">
              <a:spcBef>
                <a:spcPts val="200"/>
              </a:spcBef>
              <a:buNone/>
              <a:defRPr sz="919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(Tiered Storage)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897CDF-2323-41EC-8E50-E73293658641}"/>
              </a:ext>
            </a:extLst>
          </p:cNvPr>
          <p:cNvSpPr>
            <a:spLocks noGrp="1"/>
          </p:cNvSpPr>
          <p:nvPr/>
        </p:nvSpPr>
        <p:spPr>
          <a:xfrm>
            <a:off x="2542032" y="3621024"/>
            <a:ext cx="301447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A672F-20BB-48B4-99C8-F1E68AA2A4BF}"/>
              </a:ext>
            </a:extLst>
          </p:cNvPr>
          <p:cNvSpPr>
            <a:spLocks noGrp="1"/>
          </p:cNvSpPr>
          <p:nvPr/>
        </p:nvSpPr>
        <p:spPr>
          <a:xfrm>
            <a:off x="2542032" y="3621024"/>
            <a:ext cx="301447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CP-07 分层块与生命周期 [H]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7CDF7-227C-44F9-BA93-4AE87F4D1C35}"/>
              </a:ext>
            </a:extLst>
          </p:cNvPr>
          <p:cNvSpPr>
            <a:spLocks noGrp="1"/>
          </p:cNvSpPr>
          <p:nvPr/>
        </p:nvSpPr>
        <p:spPr>
          <a:xfrm>
            <a:off x="2596896" y="3886199"/>
            <a:ext cx="2904744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HBM、Host 与 NVMe 多级块管理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冷热升降级、回收和容量水位控制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31F51E-BF51-4420-8466-AC0FE647826B}"/>
              </a:ext>
            </a:extLst>
          </p:cNvPr>
          <p:cNvSpPr>
            <a:spLocks noGrp="1"/>
          </p:cNvSpPr>
          <p:nvPr/>
        </p:nvSpPr>
        <p:spPr>
          <a:xfrm>
            <a:off x="5629656" y="3621024"/>
            <a:ext cx="301447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9E3F89-9525-4ABA-8312-E5D14A366508}"/>
              </a:ext>
            </a:extLst>
          </p:cNvPr>
          <p:cNvSpPr>
            <a:spLocks noGrp="1"/>
          </p:cNvSpPr>
          <p:nvPr/>
        </p:nvSpPr>
        <p:spPr>
          <a:xfrm>
            <a:off x="5629656" y="3621024"/>
            <a:ext cx="301447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CP-08 NVMe SSD Direct [H]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EED428-2110-4595-9C5A-64BB5264049B}"/>
              </a:ext>
            </a:extLst>
          </p:cNvPr>
          <p:cNvSpPr>
            <a:spLocks noGrp="1"/>
          </p:cNvSpPr>
          <p:nvPr/>
        </p:nvSpPr>
        <p:spPr>
          <a:xfrm>
            <a:off x="5684520" y="3886199"/>
            <a:ext cx="2904744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探明 SSD 到 HBM 直达能力与限制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150% 容量压力下验证平滑退化和恢复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7B4E0B-814B-448A-AFD7-45B55F4731BB}"/>
              </a:ext>
            </a:extLst>
          </p:cNvPr>
          <p:cNvSpPr>
            <a:spLocks noGrp="1"/>
          </p:cNvSpPr>
          <p:nvPr/>
        </p:nvSpPr>
        <p:spPr>
          <a:xfrm>
            <a:off x="8717280" y="3621024"/>
            <a:ext cx="301447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903FDE-78BF-4AA5-84EC-50D24989798C}"/>
              </a:ext>
            </a:extLst>
          </p:cNvPr>
          <p:cNvSpPr>
            <a:spLocks noGrp="1"/>
          </p:cNvSpPr>
          <p:nvPr/>
        </p:nvSpPr>
        <p:spPr>
          <a:xfrm>
            <a:off x="8717280" y="3621024"/>
            <a:ext cx="301447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CP-09 链路能力与 QoS [NXY]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DB12C7-C6E9-455D-BE74-FCC0B33C6133}"/>
              </a:ext>
            </a:extLst>
          </p:cNvPr>
          <p:cNvSpPr>
            <a:spLocks noGrp="1"/>
          </p:cNvSpPr>
          <p:nvPr/>
        </p:nvSpPr>
        <p:spPr>
          <a:xfrm>
            <a:off x="8772144" y="3886199"/>
            <a:ext cx="2904744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运行时探测带宽、时延与拥塞参数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Incast/Coflow 和前后台 QoS 稳定性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8DFDE4-0415-4869-B46E-865BD17F14D1}"/>
              </a:ext>
            </a:extLst>
          </p:cNvPr>
          <p:cNvSpPr>
            <a:spLocks noGrp="1"/>
          </p:cNvSpPr>
          <p:nvPr/>
        </p:nvSpPr>
        <p:spPr>
          <a:xfrm>
            <a:off x="457200" y="4727448"/>
            <a:ext cx="20116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09728" rIns="54864" anchor="ctr"/>
          <a:lstStyle/>
          <a:p>
            <a:pPr algn="l">
              <a:buNone/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L4 极速传输与硬件数据平面</a:t>
            </a:r>
          </a:p>
          <a:p>
            <a:pPr algn="l">
              <a:spcBef>
                <a:spcPts val="200"/>
              </a:spcBef>
              <a:buNone/>
              <a:defRPr sz="919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(Transport Data Plane)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A1B879-F43E-4005-A45F-05C131286EA2}"/>
              </a:ext>
            </a:extLst>
          </p:cNvPr>
          <p:cNvSpPr>
            <a:spLocks noGrp="1"/>
          </p:cNvSpPr>
          <p:nvPr/>
        </p:nvSpPr>
        <p:spPr>
          <a:xfrm>
            <a:off x="2542032" y="4727448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AD685C-4321-4767-9E94-A8CF87EE1E1A}"/>
              </a:ext>
            </a:extLst>
          </p:cNvPr>
          <p:cNvSpPr>
            <a:spLocks noGrp="1"/>
          </p:cNvSpPr>
          <p:nvPr/>
        </p:nvSpPr>
        <p:spPr>
          <a:xfrm>
            <a:off x="2542032" y="4727448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CP-10 描述符编译器 [WZX]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F8A7AF-14EF-4EB4-8A05-BACAE3CAEF71}"/>
              </a:ext>
            </a:extLst>
          </p:cNvPr>
          <p:cNvSpPr>
            <a:spLocks noGrp="1"/>
          </p:cNvSpPr>
          <p:nvPr/>
        </p:nvSpPr>
        <p:spPr>
          <a:xfrm>
            <a:off x="2596896" y="4992623"/>
            <a:ext cx="2132838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合并离散 Block 为 SG 描述符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压缩提交次数与 CPU 控制开销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86F8CD-122E-46B0-9BA4-19C98EAAD697}"/>
              </a:ext>
            </a:extLst>
          </p:cNvPr>
          <p:cNvSpPr>
            <a:spLocks noGrp="1"/>
          </p:cNvSpPr>
          <p:nvPr/>
        </p:nvSpPr>
        <p:spPr>
          <a:xfrm>
            <a:off x="4857750" y="4727448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89FABD-DC22-4EEC-A4CE-13A7F77D5F5A}"/>
              </a:ext>
            </a:extLst>
          </p:cNvPr>
          <p:cNvSpPr>
            <a:spLocks noGrp="1"/>
          </p:cNvSpPr>
          <p:nvPr/>
        </p:nvSpPr>
        <p:spPr>
          <a:xfrm>
            <a:off x="4857750" y="4727448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CP-11 URMA 数据面 [CY]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6BBB4F-6E1F-44A7-B1A8-5913139DCFC4}"/>
              </a:ext>
            </a:extLst>
          </p:cNvPr>
          <p:cNvSpPr>
            <a:spLocks noGrp="1"/>
          </p:cNvSpPr>
          <p:nvPr/>
        </p:nvSpPr>
        <p:spPr>
          <a:xfrm>
            <a:off x="4912614" y="4992624"/>
            <a:ext cx="2132838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URMA 稳定高带宽传输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大小 Slice 分档优化与波动归因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6A0E22-F76E-4066-A25D-5B3793D43E82}"/>
              </a:ext>
            </a:extLst>
          </p:cNvPr>
          <p:cNvSpPr>
            <a:spLocks noGrp="1"/>
          </p:cNvSpPr>
          <p:nvPr/>
        </p:nvSpPr>
        <p:spPr>
          <a:xfrm>
            <a:off x="7173468" y="4727448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A11E92-F44B-497A-BA92-DDCF8BFB6703}"/>
              </a:ext>
            </a:extLst>
          </p:cNvPr>
          <p:cNvSpPr>
            <a:spLocks noGrp="1"/>
          </p:cNvSpPr>
          <p:nvPr/>
        </p:nvSpPr>
        <p:spPr>
          <a:xfrm>
            <a:off x="7173468" y="4727448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CP-12 多通道与多卡同步 [YZN]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B7A3C9-CCEC-409B-8CEC-FE9683C48541}"/>
              </a:ext>
            </a:extLst>
          </p:cNvPr>
          <p:cNvSpPr>
            <a:spLocks noGrp="1"/>
          </p:cNvSpPr>
          <p:nvPr/>
        </p:nvSpPr>
        <p:spPr>
          <a:xfrm>
            <a:off x="7228332" y="4992623"/>
            <a:ext cx="2132838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多 NUMA、多通道并发传输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TP=8 多卡同步 P99 &lt;100µs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28646C-DCC8-4F6E-AD03-9F79C7C11AF9}"/>
              </a:ext>
            </a:extLst>
          </p:cNvPr>
          <p:cNvSpPr>
            <a:spLocks noGrp="1"/>
          </p:cNvSpPr>
          <p:nvPr/>
        </p:nvSpPr>
        <p:spPr>
          <a:xfrm>
            <a:off x="9489186" y="4727448"/>
            <a:ext cx="224256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1994BC-1531-45E5-8CCD-AA25EF864F85}"/>
              </a:ext>
            </a:extLst>
          </p:cNvPr>
          <p:cNvSpPr>
            <a:spLocks noGrp="1"/>
          </p:cNvSpPr>
          <p:nvPr/>
        </p:nvSpPr>
        <p:spPr>
          <a:xfrm>
            <a:off x="9489186" y="4727448"/>
            <a:ext cx="224256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anchor="ctr"/>
          <a:lstStyle/>
          <a:p>
            <a:pPr algn="l">
              <a:buNone/>
              <a:defRPr sz="91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/>
              <a:t>CP-13 Benchmark/可靠性 [G]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EE695B-D090-4BE0-98D8-FA1163B18A8A}"/>
              </a:ext>
            </a:extLst>
          </p:cNvPr>
          <p:cNvSpPr>
            <a:spLocks noGrp="1"/>
          </p:cNvSpPr>
          <p:nvPr/>
        </p:nvSpPr>
        <p:spPr>
          <a:xfrm>
            <a:off x="9544050" y="4992624"/>
            <a:ext cx="2132838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统一基线、持续回归与故障注入</a:t>
            </a:r>
          </a:p>
          <a:p>
            <a:pPr algn="l">
              <a:lnSpc>
                <a:spcPct val="114000"/>
              </a:lnSpc>
              <a:spcAft>
                <a:spcPts val="40"/>
              </a:spcAft>
              <a:buNone/>
              <a:def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0">
                <a:solidFill>
                  <a:srgbClr val="1E293B"/>
                </a:solidFill>
              </a:rPr>
              <a:t>• 长稳报告、证据包和版本准出记录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79764F-66C1-4B7B-8C4B-679943D93F58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068F3C-8742-4687-82A0-052968C80758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5BF262-E5EB-4D4C-8B80-F587B129F27A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1002975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【责任边界】 NXY 研究链路动力学与 QoS，G 负责结果复现和发布门禁；WXH 负责放置决策，H 负责分层迁移执行。组件与 SRS 需求树逐项映射，完成一项、验收一项。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17543-0EC7-4737-9A8D-44274EE2A866}"/>
              </a:ext>
            </a:extLst>
          </p:cNvPr>
          <p:cNvSpPr>
            <a:spLocks noGrp="1"/>
          </p:cNvSpPr>
          <p:nvPr/>
        </p:nvSpPr>
        <p:spPr>
          <a:xfrm>
            <a:off x="10413999" y="317500"/>
            <a:ext cx="1333500" cy="33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03 / 07 </a:t>
            </a: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页</a:t>
            </a:r>
            <a:endParaRPr sz="115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68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35097A-B880-4815-AE78-591B364D5251}"/>
              </a:ext>
            </a:extLst>
          </p:cNvPr>
          <p:cNvSpPr>
            <a:spLocks noGrp="1"/>
          </p:cNvSpPr>
          <p:nvPr/>
        </p:nvSpPr>
        <p:spPr>
          <a:xfrm>
            <a:off x="457200" y="320040"/>
            <a:ext cx="9334500" cy="46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/>
              <a:t>三个月实施计划：M2 前完成关键技术与 Benchmark 收口</a:t>
            </a:r>
          </a:p>
          <a:p>
            <a:pPr>
              <a:spcBef>
                <a:spcPts val="300"/>
              </a:spcBef>
              <a:buNone/>
              <a:def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/>
              <a:t>M1 建立统一基线，M2 按 105 个计划 Case 验证关键优化方法与主路径，M3 只做补充测试、稳定性和功能扩展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796737-E7F0-4D57-AA3C-CC3885758FB0}"/>
              </a:ext>
            </a:extLst>
          </p:cNvPr>
          <p:cNvSpPr>
            <a:spLocks noGrp="1"/>
          </p:cNvSpPr>
          <p:nvPr/>
        </p:nvSpPr>
        <p:spPr>
          <a:xfrm>
            <a:off x="457200" y="987552"/>
            <a:ext cx="11277295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F4632CA-E8C8-4C3A-91D3-CEC741457F30}"/>
              </a:ext>
            </a:extLst>
          </p:cNvPr>
          <p:cNvSpPr>
            <a:spLocks noGrp="1"/>
          </p:cNvSpPr>
          <p:nvPr/>
        </p:nvSpPr>
        <p:spPr>
          <a:xfrm>
            <a:off x="2962656" y="1380744"/>
            <a:ext cx="528218" cy="292608"/>
          </a:xfrm>
          <a:prstGeom prst="rightArrow">
            <a:avLst>
              <a:gd name="adj1" fmla="val 68000"/>
              <a:gd name="adj2" fmla="val 3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EBD499-BE9B-4A42-85D0-2E4A0E4CE5B5}"/>
              </a:ext>
            </a:extLst>
          </p:cNvPr>
          <p:cNvSpPr>
            <a:spLocks noGrp="1"/>
          </p:cNvSpPr>
          <p:nvPr/>
        </p:nvSpPr>
        <p:spPr>
          <a:xfrm>
            <a:off x="658368" y="1060704"/>
            <a:ext cx="226771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7432" bIns="18288" anchor="ctr"/>
          <a:lstStyle/>
          <a:p>
            <a:pPr algn="l">
              <a:buNone/>
              <a:def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E0 · 统一基线与收益确认 [M1]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1CDEB-82DF-4313-983F-8DB54EE8194F}"/>
              </a:ext>
            </a:extLst>
          </p:cNvPr>
          <p:cNvSpPr>
            <a:spLocks noGrp="1"/>
          </p:cNvSpPr>
          <p:nvPr/>
        </p:nvSpPr>
        <p:spPr>
          <a:xfrm>
            <a:off x="658368" y="1344168"/>
            <a:ext cx="2267712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09C43-6876-4210-852C-3205D4064ECF}"/>
              </a:ext>
            </a:extLst>
          </p:cNvPr>
          <p:cNvSpPr>
            <a:spLocks noGrp="1"/>
          </p:cNvSpPr>
          <p:nvPr/>
        </p:nvSpPr>
        <p:spPr>
          <a:xfrm>
            <a:off x="731520" y="1371600"/>
            <a:ext cx="2121408" cy="4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▶ 统一基线与结果复验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冻结版本、拓扑、负载与统计口径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【M1】结果可复现，单点原型可回退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7473CA6-4627-463B-A403-286F79926986}"/>
              </a:ext>
            </a:extLst>
          </p:cNvPr>
          <p:cNvSpPr>
            <a:spLocks noGrp="1"/>
          </p:cNvSpPr>
          <p:nvPr/>
        </p:nvSpPr>
        <p:spPr>
          <a:xfrm>
            <a:off x="5831738" y="1380744"/>
            <a:ext cx="528218" cy="292608"/>
          </a:xfrm>
          <a:prstGeom prst="rightArrow">
            <a:avLst>
              <a:gd name="adj1" fmla="val 68000"/>
              <a:gd name="adj2" fmla="val 3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B0259-E06E-4F6C-860A-8A8786780349}"/>
              </a:ext>
            </a:extLst>
          </p:cNvPr>
          <p:cNvSpPr>
            <a:spLocks noGrp="1"/>
          </p:cNvSpPr>
          <p:nvPr/>
        </p:nvSpPr>
        <p:spPr>
          <a:xfrm>
            <a:off x="3527450" y="1060704"/>
            <a:ext cx="2267712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7432" bIns="18288" anchor="ctr"/>
          <a:lstStyle/>
          <a:p>
            <a:pPr algn="l">
              <a:buNone/>
              <a:def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E1 · 关键路径单点原型 [M1-M2]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8F33E-E049-440F-A37C-1762E70A3DB2}"/>
              </a:ext>
            </a:extLst>
          </p:cNvPr>
          <p:cNvSpPr>
            <a:spLocks noGrp="1"/>
          </p:cNvSpPr>
          <p:nvPr/>
        </p:nvSpPr>
        <p:spPr>
          <a:xfrm>
            <a:off x="3527450" y="1344168"/>
            <a:ext cx="2267712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792C04-5B4E-4233-A407-0D9F0D314CC2}"/>
              </a:ext>
            </a:extLst>
          </p:cNvPr>
          <p:cNvSpPr>
            <a:spLocks noGrp="1"/>
          </p:cNvSpPr>
          <p:nvPr/>
        </p:nvSpPr>
        <p:spPr>
          <a:xfrm>
            <a:off x="3600602" y="1371600"/>
            <a:ext cx="2121408" cy="4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▶ 查询、传输、描述符与多卡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形成可集成原型并提前暴露跨层问题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【要求】关键路径不得拖到 M3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D47B4DB-A118-471D-A0A2-0B15A4453133}"/>
              </a:ext>
            </a:extLst>
          </p:cNvPr>
          <p:cNvSpPr>
            <a:spLocks noGrp="1"/>
          </p:cNvSpPr>
          <p:nvPr/>
        </p:nvSpPr>
        <p:spPr>
          <a:xfrm>
            <a:off x="8700820" y="1380744"/>
            <a:ext cx="528218" cy="292608"/>
          </a:xfrm>
          <a:prstGeom prst="rightArrow">
            <a:avLst>
              <a:gd name="adj1" fmla="val 68000"/>
              <a:gd name="adj2" fmla="val 3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C3BBE1-8483-4489-979B-E158171E67D1}"/>
              </a:ext>
            </a:extLst>
          </p:cNvPr>
          <p:cNvSpPr>
            <a:spLocks noGrp="1"/>
          </p:cNvSpPr>
          <p:nvPr/>
        </p:nvSpPr>
        <p:spPr>
          <a:xfrm>
            <a:off x="6396532" y="1060704"/>
            <a:ext cx="226771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7432" bIns="18288" anchor="ctr"/>
          <a:lstStyle/>
          <a:p>
            <a:pPr algn="l">
              <a:buNone/>
              <a:def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E2 · 主路径验证收口 [M2]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40C8BB-8AEA-4453-B0D3-ED5FE5AA714A}"/>
              </a:ext>
            </a:extLst>
          </p:cNvPr>
          <p:cNvSpPr>
            <a:spLocks noGrp="1"/>
          </p:cNvSpPr>
          <p:nvPr/>
        </p:nvSpPr>
        <p:spPr>
          <a:xfrm>
            <a:off x="6396532" y="1344168"/>
            <a:ext cx="2267712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348BC-1DAF-46A6-9F3B-8C68B0371B32}"/>
              </a:ext>
            </a:extLst>
          </p:cNvPr>
          <p:cNvSpPr>
            <a:spLocks noGrp="1"/>
          </p:cNvSpPr>
          <p:nvPr/>
        </p:nvSpPr>
        <p:spPr>
          <a:xfrm>
            <a:off x="6469684" y="1371600"/>
            <a:ext cx="2121408" cy="4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▶ 调度、直读回退与分层闭环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完成算法与关键功能必要性验证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【M2】主路径选型、接口和阈值冻结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973C10-D4EF-4890-8317-359FCA741552}"/>
              </a:ext>
            </a:extLst>
          </p:cNvPr>
          <p:cNvSpPr>
            <a:spLocks noGrp="1"/>
          </p:cNvSpPr>
          <p:nvPr/>
        </p:nvSpPr>
        <p:spPr>
          <a:xfrm>
            <a:off x="9265615" y="1060704"/>
            <a:ext cx="2267712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7432" bIns="18288" anchor="ctr"/>
          <a:lstStyle/>
          <a:p>
            <a:pPr algn="l">
              <a:buNone/>
              <a:def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E3 · 补充混压与稳定性 [M3]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F08B08-CDBD-4AC1-BA65-5967CBF901A6}"/>
              </a:ext>
            </a:extLst>
          </p:cNvPr>
          <p:cNvSpPr>
            <a:spLocks noGrp="1"/>
          </p:cNvSpPr>
          <p:nvPr/>
        </p:nvSpPr>
        <p:spPr>
          <a:xfrm>
            <a:off x="9265615" y="1344168"/>
            <a:ext cx="2267712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1033B-F2D5-4D93-907B-545C332EF3CF}"/>
              </a:ext>
            </a:extLst>
          </p:cNvPr>
          <p:cNvSpPr>
            <a:spLocks noGrp="1"/>
          </p:cNvSpPr>
          <p:nvPr/>
        </p:nvSpPr>
        <p:spPr>
          <a:xfrm>
            <a:off x="9338767" y="1371600"/>
            <a:ext cx="2121408" cy="4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▶ 补充场景、故障注入与长稳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跨版本回归、有限功能扩展和发布证据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buNone/>
            </a:pPr>
            <a:r>
              <a:rPr sz="83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【M3】不承担新的主路径技术探索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757004-B1D9-45AA-B381-3FF3CDD8CA83}"/>
              </a:ext>
            </a:extLst>
          </p:cNvPr>
          <p:cNvSpPr>
            <a:spLocks noGrp="1"/>
          </p:cNvSpPr>
          <p:nvPr/>
        </p:nvSpPr>
        <p:spPr>
          <a:xfrm>
            <a:off x="457200" y="2157984"/>
            <a:ext cx="3611880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0A764-A207-4D82-B764-2CC14C4F9FA2}"/>
              </a:ext>
            </a:extLst>
          </p:cNvPr>
          <p:cNvSpPr>
            <a:spLocks noGrp="1"/>
          </p:cNvSpPr>
          <p:nvPr/>
        </p:nvSpPr>
        <p:spPr>
          <a:xfrm>
            <a:off x="457200" y="2157984"/>
            <a:ext cx="3611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EBD9E0-61C6-4320-B3F6-475B71744D2C}"/>
              </a:ext>
            </a:extLst>
          </p:cNvPr>
          <p:cNvSpPr>
            <a:spLocks noGrp="1"/>
          </p:cNvSpPr>
          <p:nvPr/>
        </p:nvSpPr>
        <p:spPr>
          <a:xfrm>
            <a:off x="566928" y="2194560"/>
            <a:ext cx="3348038" cy="1783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M1（第 1~4 周）：统一基线与单点原型  [E0/E1]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11F971-99F1-41F2-9C7A-CAF183AA33DA}"/>
              </a:ext>
            </a:extLst>
          </p:cNvPr>
          <p:cNvSpPr>
            <a:spLocks noGrp="1"/>
          </p:cNvSpPr>
          <p:nvPr/>
        </p:nvSpPr>
        <p:spPr>
          <a:xfrm>
            <a:off x="566928" y="2478024"/>
            <a:ext cx="3392424" cy="320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统一基线与瓶颈归因：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LJQ（50%）：复验查询链路，交付打点脚本、火焰图、快路径与阈值。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CY/YZN：收敛带宽波动并打通多 NUMA、多通道原型。</a:t>
            </a:r>
          </a:p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框架、网络与调度原型：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WZX：完成 SGLang 对接、统一描述符和消费资格校验骨架。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NXY/WXH：形成链路能力矩阵、成本模型、Segment 与分层最小闭环。</a:t>
            </a:r>
          </a:p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M1 交付：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Benchmark v1、105 Case 配置清单</a:t>
            </a: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、单点可回退原型和风险清单。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A6CFF4-BC1B-4E20-816A-33FE00D7E320}"/>
              </a:ext>
            </a:extLst>
          </p:cNvPr>
          <p:cNvSpPr>
            <a:spLocks noGrp="1"/>
          </p:cNvSpPr>
          <p:nvPr/>
        </p:nvSpPr>
        <p:spPr>
          <a:xfrm>
            <a:off x="4288536" y="2157984"/>
            <a:ext cx="3611880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577CAA-57D8-40F8-9E43-DF3E52429D43}"/>
              </a:ext>
            </a:extLst>
          </p:cNvPr>
          <p:cNvSpPr>
            <a:spLocks noGrp="1"/>
          </p:cNvSpPr>
          <p:nvPr/>
        </p:nvSpPr>
        <p:spPr>
          <a:xfrm>
            <a:off x="4288536" y="2157984"/>
            <a:ext cx="3611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43E1A8-0935-495E-A7FE-6F5121F3182C}"/>
              </a:ext>
            </a:extLst>
          </p:cNvPr>
          <p:cNvSpPr>
            <a:spLocks noGrp="1"/>
          </p:cNvSpPr>
          <p:nvPr/>
        </p:nvSpPr>
        <p:spPr>
          <a:xfrm>
            <a:off x="4398264" y="2194560"/>
            <a:ext cx="3392424" cy="1783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M2（第 5~8 周）：关键技术验证收口  [门槛]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DAA9D-FF73-4401-986D-DD22378AD6EE}"/>
              </a:ext>
            </a:extLst>
          </p:cNvPr>
          <p:cNvSpPr>
            <a:spLocks noGrp="1"/>
          </p:cNvSpPr>
          <p:nvPr/>
        </p:nvSpPr>
        <p:spPr>
          <a:xfrm>
            <a:off x="4398264" y="2478024"/>
            <a:ext cx="3392424" cy="320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关键性能与功能收口：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LJQ/WZX 完成查询快路径、描述符编译、异步流水与六维校验联调。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CY/YZN/NXY 完成稳定数据面、多通道、多卡同步、能力矩阵与 QoS 原型。</a:t>
            </a:r>
          </a:p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WXH 完成动态选路、Segment、远端直读回退和分层最小闭环选型。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Benchmark 矩阵：</a:t>
            </a:r>
          </a:p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</a:t>
            </a:r>
            <a:r>
              <a:rPr sz="102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8B/27B/72B × 七档前缀 × 1K/5K/10K/50K/100K，共 105 个计划 Case</a:t>
            </a:r>
            <a:r>
              <a:rPr sz="102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测试时间不足时按 Case 范围评审裁剪</a:t>
            </a: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，必须保留原因和未执行状态。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M2 交付：主路径、接口、阈值、回退边界与证据包冻结</a:t>
            </a:r>
            <a:r>
              <a:rPr sz="97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07C4B9-5156-4E2C-8F03-5434093B3B96}"/>
              </a:ext>
            </a:extLst>
          </p:cNvPr>
          <p:cNvSpPr>
            <a:spLocks noGrp="1"/>
          </p:cNvSpPr>
          <p:nvPr/>
        </p:nvSpPr>
        <p:spPr>
          <a:xfrm>
            <a:off x="8119872" y="2157984"/>
            <a:ext cx="3611880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C3557-2B68-440C-BE8B-970D421B0DE9}"/>
              </a:ext>
            </a:extLst>
          </p:cNvPr>
          <p:cNvSpPr>
            <a:spLocks noGrp="1"/>
          </p:cNvSpPr>
          <p:nvPr/>
        </p:nvSpPr>
        <p:spPr>
          <a:xfrm>
            <a:off x="8119872" y="2157984"/>
            <a:ext cx="3611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9E4C89-566D-4F7B-A1B0-63CE4B615CEA}"/>
              </a:ext>
            </a:extLst>
          </p:cNvPr>
          <p:cNvSpPr>
            <a:spLocks noGrp="1"/>
          </p:cNvSpPr>
          <p:nvPr/>
        </p:nvSpPr>
        <p:spPr>
          <a:xfrm>
            <a:off x="8229600" y="2194560"/>
            <a:ext cx="3392424" cy="1800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M3（第 9~12 周）：补测、稳定性与扩展  [E3]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2AD9C1-721B-45AB-A886-623DD13EDCAC}"/>
              </a:ext>
            </a:extLst>
          </p:cNvPr>
          <p:cNvSpPr>
            <a:spLocks noGrp="1"/>
          </p:cNvSpPr>
          <p:nvPr/>
        </p:nvSpPr>
        <p:spPr>
          <a:xfrm>
            <a:off x="8229600" y="2478024"/>
            <a:ext cx="3392424" cy="320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补充测试与缺陷修复：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LJQ/YZN/NXY 按半投入补充边界、故障回退和性能回归，不再承担新的主路径探索。</a:t>
            </a:r>
          </a:p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稳定性与有限扩展：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CY/WZX/WXH 负责前后台混压、长稳、跨版本回归、参数固化和候选版本收口。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多播、DPU、RNIC 缓存驻留仅在主路径达标且有余量时做条件验证。</a:t>
            </a:r>
          </a:p>
          <a:p>
            <a:pPr algn="l">
              <a:lnSpc>
                <a:spcPct val="114000"/>
              </a:lnSpc>
              <a:spcBef>
                <a:spcPts val="120"/>
              </a:spcBef>
              <a:spcAft>
                <a:spcPts val="50"/>
              </a:spcAft>
              <a:buNone/>
            </a:pPr>
            <a:r>
              <a:rPr sz="102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M3 交付：稳定性报告、补充数据、最终补丁、支持矩阵和发布证据。</a:t>
            </a:r>
          </a:p>
          <a:p>
            <a:pPr algn="l">
              <a:lnSpc>
                <a:spcPct val="114000"/>
              </a:lnSpc>
              <a:spcAft>
                <a:spcPts val="50"/>
              </a:spcAft>
              <a:buNone/>
            </a:pP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  ▸ 基础/挑战：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TTFT 与综合吞吐 +10%/+20%</a:t>
            </a: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P99 -20%/-50%</a:t>
            </a: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TPOT 干扰 ≤5%/≤3%</a:t>
            </a:r>
            <a:r>
              <a:rPr sz="97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BA59A9-6806-46BF-B7AE-8BAA1977E25F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02A15C-796B-4ADA-A8D6-D97E0A48F935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9B1C33-3439-48DB-ABB3-93DB1C6A919A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1002975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【M2 门禁】 第 8 周前完成关键优化方法、关键功能必要性与 105 Case 计划矩阵的选定范围；任何裁剪必须显式记录，M3 不接收未完成的主路径验证。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F8B9B-8150-4299-938A-D79E89A5BF32}"/>
              </a:ext>
            </a:extLst>
          </p:cNvPr>
          <p:cNvSpPr>
            <a:spLocks noGrp="1"/>
          </p:cNvSpPr>
          <p:nvPr/>
        </p:nvSpPr>
        <p:spPr>
          <a:xfrm>
            <a:off x="9906000" y="317500"/>
            <a:ext cx="1841500" cy="33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 </a:t>
            </a:r>
            <a:r>
              <a:rPr lang="en-US" altLang="zh-CN" sz="1150" b="1" smtClean="0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04 / 07 </a:t>
            </a: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页</a:t>
            </a:r>
            <a:endParaRPr sz="115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471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>
            <a:extLst>
              <a:ext uri="{FF2B5EF4-FFF2-40B4-BE49-F238E27FC236}">
                <a16:creationId xmlns:a16="http://schemas.microsoft.com/office/drawing/2014/main" id="{09A389A6-E63B-492E-8F46-DCC65490C79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9886950" cy="33337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Benchmark（基准测试）场景、设置依据与验收口径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7A2359BD-4133-4E37-8ACC-25F8A0A6B9F2}"/>
              </a:ext>
            </a:extLst>
          </p:cNvPr>
          <p:cNvSpPr>
            <a:spLocks noGrp="1"/>
          </p:cNvSpPr>
          <p:nvPr/>
        </p:nvSpPr>
        <p:spPr>
          <a:xfrm>
            <a:off x="457200" y="714375"/>
            <a:ext cx="11277600" cy="21907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R11：570 个候选配置，均待审核/冻结；测试 ID 固定完整条件，流水线只调度，不覆盖配置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5B7D2186-E018-4587-B164-3EFC82788758}"/>
              </a:ext>
            </a:extLst>
          </p:cNvPr>
          <p:cNvSpPr>
            <a:spLocks noGrp="1"/>
          </p:cNvSpPr>
          <p:nvPr/>
        </p:nvSpPr>
        <p:spPr>
          <a:xfrm>
            <a:off x="10420350" y="323850"/>
            <a:ext cx="1314450" cy="3238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r"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05 / 07 页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7C0719E-63B3-4DD5-9127-81D823881E5D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11277600" cy="22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交付验收 AC → 执行流水线 PL → 完整配置 TST → 方法 M → 父步骤 / 编号子动作（按配置选分支）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E66946C-2563-4929-B6E3-492AF2BF7690}"/>
              </a:ext>
            </a:extLst>
          </p:cNvPr>
          <p:cNvSpPr>
            <a:spLocks noGrp="1"/>
          </p:cNvSpPr>
          <p:nvPr/>
        </p:nvSpPr>
        <p:spPr>
          <a:xfrm>
            <a:off x="457200" y="1362075"/>
            <a:ext cx="6838950" cy="21907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9 种方法：运行场景与开发交付检查分别判定</a:t>
            </a:r>
          </a:p>
        </p:txBody>
      </p:sp>
      <p:graphicFrame>
        <p:nvGraphicFramePr>
          <p:cNvPr id="6" name="">
            <a:extLst>
              <a:ext uri="{FF2B5EF4-FFF2-40B4-BE49-F238E27FC236}">
                <a16:creationId xmlns:a16="http://schemas.microsoft.com/office/drawing/2014/main" id="{1C4C2C2B-E7E6-45D8-887C-3291B6611AC6}"/>
              </a:ext>
            </a:extLst>
          </p:cNvPr>
          <p:cNvGraphicFramePr/>
          <p:nvPr/>
        </p:nvGraphicFramePr>
        <p:xfrm>
          <a:off x="457200" y="1628775"/>
          <a:ext cx="6838950" cy="3695700"/>
        </p:xfrm>
        <a:graphic>
          <a:graphicData uri="http://schemas.openxmlformats.org/drawingml/2006/table">
            <a:tbl>
              <a:tblPr/>
              <a:tblGrid>
                <a:gridCol w="1066800"/>
                <a:gridCol w="2400300"/>
                <a:gridCol w="337185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 / 候选数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场景与负载特点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执行动作与判定边界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M01 / 321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前缀、请求命中率、到达负载、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长输出扫描；寻找复用净收益边界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PAIR 请求对测机制与点值；STEADY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固定到达轨迹测有效 QPS 与 P99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M02 / 18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工作集跨水位、换出后回访；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验证容量扩展与资源回收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保留原对象，核验真实介质与读回；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回收/恢复按容量专用门限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M03 / 84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前台生成叠加持续搬运 / 多源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突发；暴露排队与生成干扰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固定前台及真实后台流量；含 12 个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 配置，机制与生产结果分报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M04 / 54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加载中 / 消费前注入真实故障；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检查失效缓存隔离与服务恢复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健康对照→事件触发→回退→恢复；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错误消费、死锁及残留故障阻断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M05 / 9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持续运行与对象轮转；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观察资源泄漏和性能漂移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连续采集资源/性能，结束后清理；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核对释放与长稳专用门限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M06 / 24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旧版本→新兼容→新不兼容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→回滚；验证缓存跨版本安全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阶段间保留缓存，检查拒绝/重算；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输出一致性及同条件性能回归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M07 / 24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模块单元 / 实机集成功能拦截；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发现逻辑及接口错误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逐样例断言；Mock 仅证明逻辑；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不要求性能验收数据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M08 / 30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模块单个参数点的性能微基准；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定位查询、编译、传输或决策开销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正确性通过后调用真实接口计时；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按模块门限，不替代端到端收益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M09 / 6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本期需求、接口与交付证据检查；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避免映射遗漏及无证据交付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固定到期需求分母，逐项检查链接；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覆盖/缺项结论，不产性能数据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794EF640-38EE-4FD5-BD78-6EECE68569DF}"/>
              </a:ext>
            </a:extLst>
          </p:cNvPr>
          <p:cNvSpPr>
            <a:spLocks noGrp="1"/>
          </p:cNvSpPr>
          <p:nvPr/>
        </p:nvSpPr>
        <p:spPr>
          <a:xfrm>
            <a:off x="7524750" y="1362075"/>
            <a:ext cx="4210050" cy="21907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核心矩阵与配置设计（105 个基础点）</a:t>
            </a:r>
          </a:p>
        </p:txBody>
      </p:sp>
      <p:graphicFrame>
        <p:nvGraphicFramePr>
          <p:cNvPr id="8" name="">
            <a:extLst>
              <a:ext uri="{FF2B5EF4-FFF2-40B4-BE49-F238E27FC236}">
                <a16:creationId xmlns:a16="http://schemas.microsoft.com/office/drawing/2014/main" id="{25D6A343-57ED-47B1-8561-8C2B5A04F390}"/>
              </a:ext>
            </a:extLst>
          </p:cNvPr>
          <p:cNvGraphicFramePr/>
          <p:nvPr/>
        </p:nvGraphicFramePr>
        <p:xfrm>
          <a:off x="7524750" y="1628775"/>
          <a:ext cx="4210050" cy="1866900"/>
        </p:xfrm>
        <a:graphic>
          <a:graphicData uri="http://schemas.openxmlformats.org/drawingml/2006/table">
            <a:tbl>
              <a:tblPr/>
              <a:tblGrid>
                <a:gridCol w="838200"/>
                <a:gridCol w="337185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配置及设置依据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模型档位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8B：固定管理开销；27B：搬运争用；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72B：多卡协同。均为待实测验证假设。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输入长度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5 / 10 / 50 / 100K；1K = 1024。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短输入查固定开销，长输入查加载/容量。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名义前缀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30 / 50 / 70 / 90 / 98 / 100%。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 跳过R1/Ready；可用范围按块核对。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输出配置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 要求 1；R2 基础 128，解码/混压/</a:t>
                      </a:r>
                    </a:p>
                    <a:p>
                      <a:r>
                        <a:rPr sz="96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长稳代表点 512。实际数量按 TST 核验。</a:t>
                      </a:r>
                    </a:p>
                  </a:txBody>
                  <a:tcPr marL="76200" marR="76200" marT="28575" marB="28575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a16:creationId xmlns:a16="http://schemas.microsoft.com/office/drawing/2014/main" id="{144613F0-649E-481C-BDF1-C3DBD22FAA4E}"/>
              </a:ext>
            </a:extLst>
          </p:cNvPr>
          <p:cNvSpPr>
            <a:spLocks noGrp="1"/>
          </p:cNvSpPr>
          <p:nvPr/>
        </p:nvSpPr>
        <p:spPr>
          <a:xfrm>
            <a:off x="7524750" y="3609975"/>
            <a:ext cx="4210050" cy="2095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流水线选择独立配置，证据不跨配置替代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BED5ED6-D296-4380-AE29-02C39847796B}"/>
              </a:ext>
            </a:extLst>
          </p:cNvPr>
          <p:cNvSpPr>
            <a:spLocks noGrp="1"/>
          </p:cNvSpPr>
          <p:nvPr/>
        </p:nvSpPr>
        <p:spPr>
          <a:xfrm>
            <a:off x="7524750" y="3857625"/>
            <a:ext cx="4210050" cy="5524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原 366 + 冒烟 27 + 短跑筛查 105 + 功能 24</a:t>
            </a:r>
          </a:p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+ 微基准 30 + 覆盖检查 6 + 生产 AUTO 12 = 570。</a:t>
            </a:r>
          </a:p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何时测哪些 TST 由 PL 指定；性能资料按 AC 要求。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80859E8-F04B-45F7-960E-C5F0EFD53026}"/>
              </a:ext>
            </a:extLst>
          </p:cNvPr>
          <p:cNvSpPr>
            <a:spLocks noGrp="1"/>
          </p:cNvSpPr>
          <p:nvPr/>
        </p:nvSpPr>
        <p:spPr>
          <a:xfrm>
            <a:off x="7524750" y="4448175"/>
            <a:ext cx="4210050" cy="2095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请求对示例 TST-0388（M01 / PAIR）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D1C21CE5-7FB9-46E3-A836-4E25C17EAA42}"/>
              </a:ext>
            </a:extLst>
          </p:cNvPr>
          <p:cNvSpPr>
            <a:spLocks noGrp="1"/>
          </p:cNvSpPr>
          <p:nvPr/>
        </p:nvSpPr>
        <p:spPr>
          <a:xfrm>
            <a:off x="7524750" y="4705350"/>
            <a:ext cx="4210050" cy="7334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R1：7,168 输入 / 输出 1 → 全分片可消费就绪</a:t>
            </a:r>
          </a:p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→ R2：10,240 输入 / 输出 128 → 同长冷 REF</a:t>
            </a:r>
          </a:p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→ 清理。70% 为名义前缀；加载量取完成探针。</a:t>
            </a:r>
          </a:p>
          <a:p>
            <a:pPr algn="l">
              <a:def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3 轮 × 3 角色，每角色每轮 1 对；只报点值/正确性。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60648405-B679-4E5B-A7E2-9FB5FFB55A1B}"/>
              </a:ext>
            </a:extLst>
          </p:cNvPr>
          <p:cNvSpPr>
            <a:spLocks noGrp="1"/>
          </p:cNvSpPr>
          <p:nvPr/>
        </p:nvSpPr>
        <p:spPr>
          <a:xfrm>
            <a:off x="457200" y="5543550"/>
            <a:ext cx="11277600" cy="2000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采样、对照与验收口径（基础/挑战对同配置原生 Mooncake；TPOT 对增强纯前台）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41A1A05-C502-4259-A4C6-A9208926BF78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11277600" cy="2000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93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3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MC_ONLY：历史缓存经 Mooncake 拉取，关闭跨请求本地显存复用；AUTO：生产动态选路，使用独立 TST。当前请求新计算的缓存仍在本地显存。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BCE9C63-ACFD-4473-8CD2-18E82BE2347E}"/>
              </a:ext>
            </a:extLst>
          </p:cNvPr>
          <p:cNvSpPr>
            <a:spLocks noGrp="1"/>
          </p:cNvSpPr>
          <p:nvPr/>
        </p:nvSpPr>
        <p:spPr>
          <a:xfrm>
            <a:off x="457200" y="6010275"/>
            <a:ext cx="11277600" cy="2000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93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3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PAIR 不判稳态吞吐/P99；正式稳态配置 5 轮 × 20 分钟，报告 95% 置信区间，3 万有效请求为建议。原生/单项/组合增强隔离运行，冷 REF 独立采样。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99676EB-8D9E-4AD9-8BB2-27D6C1FAE61B}"/>
              </a:ext>
            </a:extLst>
          </p:cNvPr>
          <p:cNvSpPr>
            <a:spLocks noGrp="1"/>
          </p:cNvSpPr>
          <p:nvPr/>
        </p:nvSpPr>
        <p:spPr>
          <a:xfrm>
            <a:off x="457200" y="6229350"/>
            <a:ext cx="11277600" cy="2000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基础 / 挑战：平均 TTFT（首字时延）↓≥10% / 20%；有效 QPS（达标请求/秒）↑≥10% / 20%；TTFT P99↓≥20% / 50%；TPOT（每字平均生成耗时）干扰≤5% / 3%。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18C87B9-2243-4D5D-929F-9FC0B4914E7A}"/>
              </a:ext>
            </a:extLst>
          </p:cNvPr>
          <p:cNvSpPr>
            <a:spLocks noGrp="1"/>
          </p:cNvSpPr>
          <p:nvPr/>
        </p:nvSpPr>
        <p:spPr>
          <a:xfrm>
            <a:off x="457200" y="6448425"/>
            <a:ext cx="11277600" cy="2000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E3：真实 2 节点 AUTO 混压独立验收，TTFT↓≥20%、有效 QPS↑≥10%、TPOT 干扰&lt;3%；TTFT/QPS 对原生混压，TPOT 对同版本增强纯前台。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D2870A2-B537-499F-ADEA-E0B2106448B0}"/>
              </a:ext>
            </a:extLst>
          </p:cNvPr>
          <p:cNvSpPr>
            <a:spLocks noGrp="1"/>
          </p:cNvSpPr>
          <p:nvPr/>
        </p:nvSpPr>
        <p:spPr>
          <a:xfrm>
            <a:off x="457200" y="6657975"/>
            <a:ext cx="11277600" cy="1714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 algn="l">
              <a:defRPr sz="87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87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执行前冻结权重/模板/版本/拓扑、负载/SLO及适用门限；27B基线待补。0%不要求复用收益，其他方法按专用正确性/恢复/漂移判定，缺门限待判。</a:t>
            </a:r>
          </a:p>
        </p:txBody>
      </p:sp>
    </p:spTree>
    <p:extLst>
      <p:ext uri="{BB962C8B-B14F-4D97-AF65-F5344CB8AC3E}">
        <p14:creationId xmlns:p14="http://schemas.microsoft.com/office/powerpoint/2010/main" val="173126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C58C8-BC07-4BDF-9B44-976018CAAA51}"/>
              </a:ext>
            </a:extLst>
          </p:cNvPr>
          <p:cNvSpPr>
            <a:spLocks noGrp="1"/>
          </p:cNvSpPr>
          <p:nvPr/>
        </p:nvSpPr>
        <p:spPr>
          <a:xfrm>
            <a:off x="457200" y="320040"/>
            <a:ext cx="93345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软件整体交付成果：四类可验收资产支撑持续演进</a:t>
            </a:r>
          </a:p>
          <a:p>
            <a:pPr>
              <a:spcBef>
                <a:spcPts val="300"/>
              </a:spcBef>
              <a:buNone/>
              <a:def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交付对象从“全新基础软件”调整为 Mooncake 增强主干、接口与回退契约、实测证据及发布支持矩阵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4CF04-D9FB-49A5-A0BA-52D5DF71FF72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55321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268C6-B44A-43BA-B3CA-B7F23EC92F8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0CC3C-02A0-4B57-B33C-ECC9287EBA78}"/>
              </a:ext>
            </a:extLst>
          </p:cNvPr>
          <p:cNvSpPr>
            <a:spLocks noGrp="1"/>
          </p:cNvSpPr>
          <p:nvPr/>
        </p:nvSpPr>
        <p:spPr>
          <a:xfrm>
            <a:off x="566928" y="1088136"/>
            <a:ext cx="2644775" cy="1752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1. Mooncake 增强代码主干  [代码资产]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7FF0B-8230-4647-88E6-1EFBD1753D16}"/>
              </a:ext>
            </a:extLst>
          </p:cNvPr>
          <p:cNvSpPr>
            <a:spLocks noGrp="1"/>
          </p:cNvSpPr>
          <p:nvPr/>
        </p:nvSpPr>
        <p:spPr>
          <a:xfrm>
            <a:off x="566928" y="1380743"/>
            <a:ext cx="5312664" cy="1841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功能模块：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前缀目录快路径、SGLang 适配器、消费资格校验、远端直读与失败回退。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优化算法：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成本预估与动态选路、冷热识别、多通道分流、拥塞退避。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底层组件：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URMA 传输、描述符编译、异步流水、多卡同步、分层块与升降级执行。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交付形态：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Mooncake 可合入源码、配置、单测与集成测试、能力开关和基线回退。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96757-50DE-4FAC-B9ED-9DC5A755BD18}"/>
              </a:ext>
            </a:extLst>
          </p:cNvPr>
          <p:cNvSpPr>
            <a:spLocks noGrp="1"/>
          </p:cNvSpPr>
          <p:nvPr/>
        </p:nvSpPr>
        <p:spPr>
          <a:xfrm>
            <a:off x="6202375" y="1051560"/>
            <a:ext cx="55321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4DE7E-B8B0-4C10-86F7-1DA4E3639D23}"/>
              </a:ext>
            </a:extLst>
          </p:cNvPr>
          <p:cNvSpPr>
            <a:spLocks noGrp="1"/>
          </p:cNvSpPr>
          <p:nvPr/>
        </p:nvSpPr>
        <p:spPr>
          <a:xfrm>
            <a:off x="6202375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DB8CC-E062-401A-9B5B-3E9F648DA2D2}"/>
              </a:ext>
            </a:extLst>
          </p:cNvPr>
          <p:cNvSpPr>
            <a:spLocks noGrp="1"/>
          </p:cNvSpPr>
          <p:nvPr/>
        </p:nvSpPr>
        <p:spPr>
          <a:xfrm>
            <a:off x="6312103" y="1088136"/>
            <a:ext cx="2565400" cy="1752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2. 接口契约与需求归属映射  [规范资产]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211D73-A421-42D9-A8F6-2693233BD0CB}"/>
              </a:ext>
            </a:extLst>
          </p:cNvPr>
          <p:cNvSpPr>
            <a:spLocks noGrp="1"/>
          </p:cNvSpPr>
          <p:nvPr/>
        </p:nvSpPr>
        <p:spPr>
          <a:xfrm>
            <a:off x="6312103" y="1380743"/>
            <a:ext cx="5312664" cy="1841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数据结构与接口：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统一请求上下文、连续块描述符、查询与放置结果、租约、状态码和错误码。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服务契约：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目录查询、Segment 调度、链路能力和分层执行接口，明确超时与幂等语义。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一致性规范：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六维消费资格、就绪位、租约及 TP 多卡同步的状态转换和故障处理。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需求追溯件：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SR/AR 到组件、负责人、验证项、代码入口和测试用例的映射表。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1C338-21FE-4531-AA69-1CDAD848C996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AF2C35-15DE-4A08-8B84-ADC141D1DA57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6217B-8B37-41DA-B8E7-A68E2E2F6D6F}"/>
              </a:ext>
            </a:extLst>
          </p:cNvPr>
          <p:cNvSpPr>
            <a:spLocks noGrp="1"/>
          </p:cNvSpPr>
          <p:nvPr/>
        </p:nvSpPr>
        <p:spPr>
          <a:xfrm>
            <a:off x="566928" y="3465576"/>
            <a:ext cx="3435350" cy="1752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3. Benchmark 场景矩阵与持续回归基线  [数据资产]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3E675E-8566-4510-94EF-562411D6EEFB}"/>
              </a:ext>
            </a:extLst>
          </p:cNvPr>
          <p:cNvSpPr>
            <a:spLocks noGrp="1"/>
          </p:cNvSpPr>
          <p:nvPr/>
        </p:nvSpPr>
        <p:spPr>
          <a:xfrm>
            <a:off x="566928" y="3758183"/>
            <a:ext cx="5312664" cy="190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Benchmark 工具：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统一负载生成、前缀覆盖率控制、全链路打点及 TTFT、TPOT、P99、吞吐采集。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计划场景集：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</a:t>
            </a:r>
            <a:r>
              <a:rPr sz="93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3 档模型 × 7 档前缀覆盖率 × 5 档序列长度，共 105 个可追踪 Case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验收证据包：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原始逐请求数据、环境指纹、五轮统计、置信区间、瓶颈归因、阈值与回退结论。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范围审计：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每个 Case 标记计划执行、条件执行或取消；裁剪原因、审批与未执行状态必须保留。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16C472-764D-4CE2-AC1C-588A26E8824A}"/>
              </a:ext>
            </a:extLst>
          </p:cNvPr>
          <p:cNvSpPr>
            <a:spLocks noGrp="1"/>
          </p:cNvSpPr>
          <p:nvPr/>
        </p:nvSpPr>
        <p:spPr>
          <a:xfrm>
            <a:off x="6202375" y="342900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35CD66-8BB2-4089-AA21-5DDB55600BC9}"/>
              </a:ext>
            </a:extLst>
          </p:cNvPr>
          <p:cNvSpPr>
            <a:spLocks noGrp="1"/>
          </p:cNvSpPr>
          <p:nvPr/>
        </p:nvSpPr>
        <p:spPr>
          <a:xfrm>
            <a:off x="6202375" y="3429000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AD5E59-E0C5-4265-A550-07E14BEBE552}"/>
              </a:ext>
            </a:extLst>
          </p:cNvPr>
          <p:cNvSpPr>
            <a:spLocks noGrp="1"/>
          </p:cNvSpPr>
          <p:nvPr/>
        </p:nvSpPr>
        <p:spPr>
          <a:xfrm>
            <a:off x="6312103" y="3465576"/>
            <a:ext cx="2565400" cy="1752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4. 发布支持矩阵与技术资产  [发布资产]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16298-FA3D-458C-8E33-A120BF93C42D}"/>
              </a:ext>
            </a:extLst>
          </p:cNvPr>
          <p:cNvSpPr>
            <a:spLocks noGrp="1"/>
          </p:cNvSpPr>
          <p:nvPr/>
        </p:nvSpPr>
        <p:spPr>
          <a:xfrm>
            <a:off x="6312103" y="3758183"/>
            <a:ext cx="5312664" cy="190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发布支持矩阵：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硬件、驱动、Mooncake/SGLang 版本与能力开关的兼容组合。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参数与告警包：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链路能力、QoS、缓存水位、超时、重试和回退阈值及默认配置。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运维工具与手册：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部署、升级、回滚、诊断、故障注入和长稳巡检脚本与操作步骤。</a:t>
            </a:r>
          </a:p>
          <a:p>
            <a:pPr algn="l">
              <a:lnSpc>
                <a:spcPct val="114000"/>
              </a:lnSpc>
              <a:spcBef>
                <a:spcPts val="100"/>
              </a:spcBef>
              <a:spcAft>
                <a:spcPts val="2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技术资产：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3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▸</a:t>
            </a:r>
            <a:r>
              <a:rPr sz="93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已实测算法说明、适用边界、创新点证据和可申报技术点清单。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9E1E58-7850-4FD5-824D-36FC56DCD79B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6BD4F5-37FC-4B0F-B4DC-A3CAF8E815DC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7D7277-131C-4F4B-80F5-C8988CC04F63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1002975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【交付结论】 每项优化必须同时形成代码、契约、证据和回退方案。只有在统一基线下稳定改善业务指标并通过长稳门禁的能力，才进入默认发布路径。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BD4D2-7954-4FA7-B96A-14AE4D2BA724}"/>
              </a:ext>
            </a:extLst>
          </p:cNvPr>
          <p:cNvSpPr>
            <a:spLocks noGrp="1"/>
          </p:cNvSpPr>
          <p:nvPr/>
        </p:nvSpPr>
        <p:spPr>
          <a:xfrm>
            <a:off x="10413999" y="317500"/>
            <a:ext cx="1333500" cy="33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06 / 07 </a:t>
            </a: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页</a:t>
            </a:r>
            <a:endParaRPr sz="115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325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2F33ED-4FA7-4163-AD7C-D61058B6F4F4}"/>
              </a:ext>
            </a:extLst>
          </p:cNvPr>
          <p:cNvSpPr>
            <a:spLocks noGrp="1"/>
          </p:cNvSpPr>
          <p:nvPr/>
        </p:nvSpPr>
        <p:spPr>
          <a:xfrm>
            <a:off x="457200" y="320040"/>
            <a:ext cx="93345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项目实施总结：按 M2 硬门槛重排人员与验证节奏</a:t>
            </a:r>
          </a:p>
          <a:p>
            <a:pPr>
              <a:spcBef>
                <a:spcPts val="300"/>
              </a:spcBef>
              <a:buNone/>
              <a:def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LJQ/YZN/NXY 半投入聚焦关键机制，CY/WZX/WXH 承担领域 Owner 与集成收口，M3 不再承接主路径技术探索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E6DBE-491A-44D3-8DBF-EF1057FA4E92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26791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C03FF-DC87-4C99-B192-F12D6B6D5458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2679192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D3E23-87DE-4276-85E2-371F4A450EF3}"/>
              </a:ext>
            </a:extLst>
          </p:cNvPr>
          <p:cNvSpPr>
            <a:spLocks noGrp="1"/>
          </p:cNvSpPr>
          <p:nvPr/>
        </p:nvSpPr>
        <p:spPr>
          <a:xfrm>
            <a:off x="566928" y="1088136"/>
            <a:ext cx="1614488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1. 人员与边界  [责任到人]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C4B94-F6AF-4D67-93F7-0D5DE6FC4C8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496312" cy="16166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当前有效投入：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LJQ/YZN/NXY 各 50%，CY/WZX/WXH 各 100%，合计 4.5 FTE。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三个领域 Owner：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WZX 负责控制面，CY 负责数据面，WXH 负责调度与总集成。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待补人员：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G/H 承接可靠性与分层扩展，不作为 M2 前置条件。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E42F1-2C9F-45CE-9316-3354A6E1F75F}"/>
              </a:ext>
            </a:extLst>
          </p:cNvPr>
          <p:cNvSpPr>
            <a:spLocks noGrp="1"/>
          </p:cNvSpPr>
          <p:nvPr/>
        </p:nvSpPr>
        <p:spPr>
          <a:xfrm>
            <a:off x="3319272" y="1051560"/>
            <a:ext cx="26791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AA3F43-D782-449C-9EB1-4EC07324D665}"/>
              </a:ext>
            </a:extLst>
          </p:cNvPr>
          <p:cNvSpPr>
            <a:spLocks noGrp="1"/>
          </p:cNvSpPr>
          <p:nvPr/>
        </p:nvSpPr>
        <p:spPr>
          <a:xfrm>
            <a:off x="3319272" y="1051560"/>
            <a:ext cx="267919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5DD55-D2FE-4EE4-AD3C-5CF121D97639}"/>
              </a:ext>
            </a:extLst>
          </p:cNvPr>
          <p:cNvSpPr>
            <a:spLocks noGrp="1"/>
          </p:cNvSpPr>
          <p:nvPr/>
        </p:nvSpPr>
        <p:spPr>
          <a:xfrm>
            <a:off x="3429000" y="1088136"/>
            <a:ext cx="1614488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2. 技术优先级  [指标驱动]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4A617-F4EB-4724-AA46-82E0A4292DC4}"/>
              </a:ext>
            </a:extLst>
          </p:cNvPr>
          <p:cNvSpPr>
            <a:spLocks noGrp="1"/>
          </p:cNvSpPr>
          <p:nvPr/>
        </p:nvSpPr>
        <p:spPr>
          <a:xfrm>
            <a:off x="3410712" y="1371600"/>
            <a:ext cx="2496312" cy="1771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第一优先级：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   ▸ 元数据查询、稳定带宽、小 Slice 和多通道。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第二优先级：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   ▸ 描述符、动态选路、分层存储与故障回退。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条件验证：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   ▸ 多播、DPU、RNIC stashing 未证实前不进默认路径。</a:t>
            </a:r>
            <a:endParaRPr sz="900" b="1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A7741-0154-4850-8BD0-7F7CE52F236F}"/>
              </a:ext>
            </a:extLst>
          </p:cNvPr>
          <p:cNvSpPr>
            <a:spLocks noGrp="1"/>
          </p:cNvSpPr>
          <p:nvPr/>
        </p:nvSpPr>
        <p:spPr>
          <a:xfrm>
            <a:off x="6181344" y="1051560"/>
            <a:ext cx="26791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561670-2994-4DF4-A874-8660164EE5E2}"/>
              </a:ext>
            </a:extLst>
          </p:cNvPr>
          <p:cNvSpPr>
            <a:spLocks noGrp="1"/>
          </p:cNvSpPr>
          <p:nvPr/>
        </p:nvSpPr>
        <p:spPr>
          <a:xfrm>
            <a:off x="6181344" y="1051560"/>
            <a:ext cx="2679192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2949C-6984-4ACC-AF84-40B1A70140D5}"/>
              </a:ext>
            </a:extLst>
          </p:cNvPr>
          <p:cNvSpPr>
            <a:spLocks noGrp="1"/>
          </p:cNvSpPr>
          <p:nvPr/>
        </p:nvSpPr>
        <p:spPr>
          <a:xfrm>
            <a:off x="6291072" y="1088136"/>
            <a:ext cx="1408113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3. 节奏与门禁  [12 周]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F3DF3-4581-46DF-A9AA-6F95D636AD1D}"/>
              </a:ext>
            </a:extLst>
          </p:cNvPr>
          <p:cNvSpPr>
            <a:spLocks noGrp="1"/>
          </p:cNvSpPr>
          <p:nvPr/>
        </p:nvSpPr>
        <p:spPr>
          <a:xfrm>
            <a:off x="6272784" y="1371600"/>
            <a:ext cx="2496312" cy="16166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M1（W1~4）：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统一基线、</a:t>
            </a:r>
            <a:r>
              <a:rPr sz="97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Benchmark v1、105 Case 配置清单</a:t>
            </a: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和单点原型。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M2（W5~8）：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选定 Benchmark 范围、全部关键优化、必要性和主路径原型收口。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101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• M3（W9~12）：</a:t>
            </a:r>
          </a:p>
          <a:p>
            <a:pPr algn="l">
              <a:lnSpc>
                <a:spcPct val="114000"/>
              </a:lnSpc>
              <a:spcAft>
                <a:spcPts val="70"/>
              </a:spcAft>
              <a:buNone/>
            </a:pPr>
            <a:r>
              <a:rPr sz="97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  ▸ 补充测试、混压、长稳回归和有限功能扩展。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6C6AFF-36D7-433C-ABF9-B0D1123EE0C5}"/>
              </a:ext>
            </a:extLst>
          </p:cNvPr>
          <p:cNvSpPr>
            <a:spLocks noGrp="1"/>
          </p:cNvSpPr>
          <p:nvPr/>
        </p:nvSpPr>
        <p:spPr>
          <a:xfrm>
            <a:off x="9043416" y="1051560"/>
            <a:ext cx="26791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B7C6D-A18B-4A91-861E-0B1387319457}"/>
              </a:ext>
            </a:extLst>
          </p:cNvPr>
          <p:cNvSpPr>
            <a:spLocks noGrp="1"/>
          </p:cNvSpPr>
          <p:nvPr/>
        </p:nvSpPr>
        <p:spPr>
          <a:xfrm>
            <a:off x="9043416" y="1051560"/>
            <a:ext cx="2679192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F60D8-39CA-4F4B-9EC2-32D19913D387}"/>
              </a:ext>
            </a:extLst>
          </p:cNvPr>
          <p:cNvSpPr>
            <a:spLocks noGrp="1"/>
          </p:cNvSpPr>
          <p:nvPr/>
        </p:nvSpPr>
        <p:spPr>
          <a:xfrm>
            <a:off x="9153144" y="1088136"/>
            <a:ext cx="1474788" cy="16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4. 交付与验收  [可回退]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D8C51-68D7-47A4-9728-62CEE1126FDC}"/>
              </a:ext>
            </a:extLst>
          </p:cNvPr>
          <p:cNvSpPr>
            <a:spLocks noGrp="1"/>
          </p:cNvSpPr>
          <p:nvPr/>
        </p:nvSpPr>
        <p:spPr>
          <a:xfrm>
            <a:off x="9134856" y="1371600"/>
            <a:ext cx="2496312" cy="1801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altLang="zh-CN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• </a:t>
            </a:r>
            <a:r>
              <a:rPr lang="zh-CN" altLang="en-US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交付四类资产：
   ▸ 增强代码、接口契约、验证证据、发布支持矩阵。
</a:t>
            </a:r>
            <a:r>
              <a:rPr lang="en-US" altLang="zh-CN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• </a:t>
            </a:r>
            <a:r>
              <a:rPr lang="zh-CN" altLang="en-US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统一验收目标：
   ▸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TTFT / </a:t>
            </a:r>
            <a:r>
              <a:rPr lang="zh-CN" altLang="en-US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综合吞吐：基础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10%</a:t>
            </a:r>
            <a:r>
              <a:rPr lang="zh-CN" altLang="en-US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，挑战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20%</a:t>
            </a:r>
            <a:r>
              <a:rPr lang="zh-CN" altLang="en-US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。
   ▸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P99</a:t>
            </a:r>
            <a:r>
              <a:rPr lang="zh-CN" altLang="en-US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：基础降低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20%</a:t>
            </a:r>
            <a:r>
              <a:rPr lang="zh-CN" altLang="en-US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，挑战降低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50%</a:t>
            </a:r>
            <a:r>
              <a:rPr lang="zh-CN" altLang="en-US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。
   ▸ 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TPOT </a:t>
            </a:r>
            <a:r>
              <a:rPr lang="zh-CN" altLang="en-US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干扰率：严格 ≤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5%</a:t>
            </a:r>
            <a:r>
              <a:rPr lang="zh-CN" altLang="en-US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，挑战 ≤</a:t>
            </a:r>
            <a:r>
              <a:rPr lang="en-US" altLang="zh-CN" sz="880" b="1" smtClean="0">
                <a:solidFill>
                  <a:srgbClr val="DC2626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3%</a:t>
            </a:r>
            <a:r>
              <a:rPr lang="zh-CN" altLang="en-US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。
</a:t>
            </a:r>
            <a:r>
              <a:rPr lang="en-US" altLang="zh-CN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• </a:t>
            </a:r>
            <a:r>
              <a:rPr lang="zh-CN" altLang="en-US" sz="880" smtClean="0">
                <a:solidFill>
                  <a:srgbClr val="1E293B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不达标处理：
   ▸ 保留基线或关闭能力，不以局部峰值替代稳定收益。</a:t>
            </a:r>
            <a:endParaRPr sz="880">
              <a:solidFill>
                <a:srgbClr val="1E293B"/>
              </a:solidFill>
              <a:latin typeface="Microsoft YaHei" panose="020B0503020204020204" pitchFamily="34" charset="-122"/>
              <a:ea typeface="Microsoft YaHei"/>
              <a:cs typeface="Microsoft YaHe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A83FE8-6170-4065-BD92-8839B1AEC467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11277295" cy="2267712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B0FA60-0704-4567-B0A2-93BF7470FBA5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73152" cy="226771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6FF8D9-5FEF-436F-B496-EE5D658C1543}"/>
              </a:ext>
            </a:extLst>
          </p:cNvPr>
          <p:cNvSpPr>
            <a:spLocks noGrp="1"/>
          </p:cNvSpPr>
          <p:nvPr/>
        </p:nvSpPr>
        <p:spPr>
          <a:xfrm>
            <a:off x="731520" y="3630168"/>
            <a:ext cx="6858000" cy="109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t>DEVELOPMENT IMPLEMENTATION · SUMMARY &amp; Q&amp;A</a:t>
            </a:r>
          </a:p>
          <a:p>
            <a:pPr>
              <a:spcBef>
                <a:spcPts val="400"/>
              </a:spcBef>
              <a:buNone/>
              <a:defRPr sz="16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感谢各位专家与研发团队 · 敬请技术交流与研讨</a:t>
            </a:r>
          </a:p>
          <a:p>
            <a:pPr>
              <a:spcBef>
                <a:spcPts val="600"/>
              </a:spcBef>
              <a:buNone/>
              <a:def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当前计划按 4.5 FTE 推进，CY/WZX/WXH 分别承担数据面、控制面、调度与总集成责任。</a:t>
            </a:r>
          </a:p>
          <a:p>
            <a:pPr>
              <a:spcBef>
                <a:spcPts val="400"/>
              </a:spcBef>
              <a:buNone/>
              <a:defRPr sz="1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t>M2 是关键技术验证节点：</a:t>
            </a:r>
            <a:r>
              <a:rPr b="1">
                <a:solidFill>
                  <a:srgbClr val="DC2626"/>
                </a:solidFill>
              </a:rPr>
              <a:t>105 个计划 Case 按评审范围执行</a:t>
            </a:r>
            <a:r>
              <a:t>，关键方法、功能必要性和主路径原型必须在第 8 周前完成。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DDF1E3-BCC4-495C-ADE9-96891FE4CC5F}"/>
              </a:ext>
            </a:extLst>
          </p:cNvPr>
          <p:cNvSpPr>
            <a:spLocks noGrp="1"/>
          </p:cNvSpPr>
          <p:nvPr/>
        </p:nvSpPr>
        <p:spPr>
          <a:xfrm>
            <a:off x="7726679" y="3630168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2D9D4-2CD1-4EE8-8045-8A279AD96099}"/>
              </a:ext>
            </a:extLst>
          </p:cNvPr>
          <p:cNvSpPr>
            <a:spLocks noGrp="1"/>
          </p:cNvSpPr>
          <p:nvPr/>
        </p:nvSpPr>
        <p:spPr>
          <a:xfrm>
            <a:off x="7836407" y="3685032"/>
            <a:ext cx="3621024" cy="474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【立即行动】</a:t>
            </a:r>
          </a:p>
          <a:p>
            <a:pPr>
              <a:spcBef>
                <a:spcPts val="200"/>
              </a:spcBef>
              <a:buNone/>
              <a:def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t>冻结双周跟踪表和 M2 验收清单；CY/WZX/WXH 本周完成跨域依赖与 LJQ/YZN/NXY 半投入任务边界确认。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22590B-6AFD-4AA7-8ACA-01618FCB8397}"/>
              </a:ext>
            </a:extLst>
          </p:cNvPr>
          <p:cNvSpPr>
            <a:spLocks noGrp="1"/>
          </p:cNvSpPr>
          <p:nvPr/>
        </p:nvSpPr>
        <p:spPr>
          <a:xfrm>
            <a:off x="7726679" y="4617720"/>
            <a:ext cx="3840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92EAF2-2470-43FB-B071-105A284E74AF}"/>
              </a:ext>
            </a:extLst>
          </p:cNvPr>
          <p:cNvSpPr>
            <a:spLocks noGrp="1"/>
          </p:cNvSpPr>
          <p:nvPr/>
        </p:nvSpPr>
        <p:spPr>
          <a:xfrm>
            <a:off x="7836407" y="4672584"/>
            <a:ext cx="3621024" cy="334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【研发组署名】</a:t>
            </a:r>
          </a:p>
          <a:p>
            <a:pPr>
              <a:spcBef>
                <a:spcPts val="200"/>
              </a:spcBef>
              <a:buNone/>
              <a:defRPr sz="98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统一异构 KVCache 存储池研发组 · 2026-09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025387-4342-4320-80FA-2F667D16265C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AE949A-8F39-4730-9099-668516FA7EC6}"/>
              </a:ext>
            </a:extLst>
          </p:cNvPr>
          <p:cNvSpPr>
            <a:spLocks noGrp="1"/>
          </p:cNvSpPr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79028-2AD9-42CF-B999-0178CCB7DA11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1002975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【方案核心结论】 计划以 M2 为关键验证门槛：第 8 周前完成关键技术原型与选定 Benchmark 范围；M3 只承担补充测试、稳定性、回归和功能扩展。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E5E0A-960E-4AB4-8D43-52CFFE6B9E12}"/>
              </a:ext>
            </a:extLst>
          </p:cNvPr>
          <p:cNvSpPr>
            <a:spLocks noGrp="1"/>
          </p:cNvSpPr>
          <p:nvPr/>
        </p:nvSpPr>
        <p:spPr>
          <a:xfrm>
            <a:off x="10413999" y="317500"/>
            <a:ext cx="1333500" cy="33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07 / 07 </a:t>
            </a:r>
            <a:r>
              <a:rPr lang="zh-CN" altLang="en-US" sz="1150" b="1" smtClean="0">
                <a:solidFill>
                  <a:srgbClr val="2563EB"/>
                </a:solidFill>
                <a:latin typeface="Microsoft YaHei" panose="020B0503020204020204" pitchFamily="34" charset="-122"/>
              </a:rPr>
              <a:t>页</a:t>
            </a:r>
            <a:endParaRPr sz="115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51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2265</Words>
  <Application>Microsoft Office PowerPoint</Application>
  <DocSecurity>0</DocSecurity>
  <PresentationFormat>宽屏</PresentationFormat>
  <Paragraphs>286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未知用户</cp:lastModifiedBy>
  <cp:revision>2</cp:revision>
  <dcterms:created xsi:type="dcterms:W3CDTF">2026-09-30T07:07:22Z</dcterms:created>
  <dcterms:modified xsi:type="dcterms:W3CDTF">2026-09-30T07:30:09Z</dcterms:modified>
</cp:coreProperties>
</file>