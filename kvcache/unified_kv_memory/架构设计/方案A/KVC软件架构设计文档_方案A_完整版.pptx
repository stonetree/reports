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各位架构专家与一线研发骨干，今天我们针对面向国产 AI 硬件的统一异构 KVCache 存储与调度底座展开软件架构设计方案 A 的技术串讲。本次串讲严格基于前期顶层架构设计分析讨论稿与构建方案设计 V1.0，彻底摒弃空洞的功能清单罗列，重点交代系统的顶层设计设想、物理实体责任边界与八个专题的关键设计细节。我们确立三大设计基石：第一，执行显存严格归推理框架管理，KVC 绝不越权接管算子运行时内部显存，我们统一的是不可变缓存对象的全局分布、生命周期与安全访问凭证；第二，系统坚决不搞盲目缓存命中，严格坚持前置微秒决策，仅在拉取加载总开销小于本地直接重算耗时且有净收益时才执行加载，基础数据通路通过底层硬件 DMA 直通显存，Host CPU 零数据拷贝；第三，在可靠性与数据安全方面，通过 6 维语义校验与 RCU 双层宽限期仲裁，避免非法与失效数据被消费。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在深入技术专题前，我们先界定本设计的范围与材料口径。作为系统架构师，我们深知一线开发团队需要高度清晰、严谨的工程口径。因此在方案 A 中，我们严格区分三种口径：第一类是已有需求，来自受控的 SRS V2.3 与全量需求树，共 144 条正式需求；第二类是设计建议，包括今天汇报的五大进程实体、24 类元数据组织、9 步时序交互与 KPCL 接口契约，待技术评审冻结；第三类是预算算例，比如后文出现的 120ms 端到端分解算例，纯粹用于展示如何从业务 SLO 倒推各子系统指标，绝不代表当前硬件已经实测达标。在设计原则上，我们重点关注四大维度：净加速收益驱动、TP=8 多卡协同、三介质分层存储（HBM/DDR/SSD）以及不可变对象的安全回收机制。</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请大家看 Slide 3 的四层软件架构原生矢量图。我们在逻辑上划分为四层契约，在运行物理上划分为三面隔离。L1 连接主流推理框架（vLLM/SGLang），通过虚拟挂载句柄捕获访问意图与剩余预算，此时执行显存依然完全受框架控制。L2 是极速控制面，依托 ART 基数树、QueryPlan 选路引擎与 6 维语义校验器，全部在 Host CPU 上微秒级完成，纯粹处理控制信令，不碰任何正文数据。L3 是分层存储与对象拓扑层，负责将离散物理 Block 贪心合并为 64B POD 描述符，并协同 HBM/DDR/SSD 三介质。L4 则是原厂极速通信底座 KPCL，调用 UBMEM、URMA 或 io_uring 裸盘直达。左侧蓝色为微秒控制流，右侧绿色为零拷贝数据流，两者在物理通道与调度优先级上彻底解耦。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 Slide 4 中，我们给出了全集群进程物理拓扑图与各大实体的部署职责。系统按照职责范围与高频交互特征划分为不同的进程实体：第一，libkvc_runtime 作为动态链接库直接嵌入 vLLM 或 SGLang 的工作进程中，它的前缀树遍历、哈希计算和 QueryPlan 选路都在本进程地址空间内完成，彻底消除了跨进程 IPC 损耗；第二，kvc-node 是每个计算与存储节点的常驻系统守护进程，独占绑定 2 个 CPU 物理核心，通过 POSIX 共享内存与工作进程交互，掌管本地 HBM、Host DDR 与 NVMe SSD 的扇区分配与租约代际，交互延迟 P99 &lt; 50µs；第三，kvc-directory 组成 3 节点高可用元数据共识服务，维护全局 1024 个哈希槽，但它只负责返回匹配的候选对象 ID 和节点提示，绝不触碰数据传输；第四，etcd 仅用于静态拓扑与心跳，严禁进入在线单请求路径；第五，kvc-controller 负责异步后台均衡。这种五域分工彻底隔离了管理、控制与数据故障。</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是系统运行时的核心交互因果链。左侧时序图与右侧 9 步阶段、瓶颈分析及优化手段深度融合：第一步注册意图，在工作进程内创建轻量挂载句柄，零 IPC 损耗；第二步批量前缀查询，通过多 Token 批量哈希与二级缓存削峰 80%；第三步目录检索，1024 槽哈希分片与 Follower 只读内存镜像将查询时延压至 200µs 内；第四步与第五步是消费授权的核心防护，通过 POSIX 共享内存分段锁与 6 维语义校验，锁定回收屏障；第六步 QueryPlan 确认净加速收益并编译 64B POD 描述符；第七步硬件直达显存，严格绕过主机内存；第八步通过硬件 CQE 与单次原子 Doorbell 实现 TP=8 多卡同步；第九步核验证据后安全挂载。全流程任一环节异常均毫秒级回退至本地重算。</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系统解剖了元数据体系与四层分级组织架构。在上半部，我们分别明确了四层元数据的职责、访问模式与优化重点：进程内索引持有前缀哈希与 ART 快照，针对数十万 QPS 读采用 64 字节缓存行物理对齐消除了伪共享争用；节点代理持有持有权表与租约代际，基于 POSIX 共享内存与分段锁消除了原子锁冲突；分布式目录负责 1024 槽哈希路由，单写多读，配合二级缓存削峰 80%；etcd 仅在冷启动与拓扑变更时访问，绝对禁止进入单请求路径。下半部结合在线推理典型特征剖析防线：针对突发长前缀采用哈希打散与二级缓存，针对长上下文并发采用 alignas(64)，针对频繁租约申请采用共享内存，针对取消请求采用物理排空屏障。在一致性上，结合路由表、持有权表、租约代际表与物理扇区位图四大表项，全面保障高并发读写一致性。</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揭示了对象全生命周期状态机与显存安全回收的底层工程机制。状态流转严格经历五个阶段：算子私有写入处于 PREPARING；收到底层 DMA 完成证据 CQE 后置为 COMMITTED；通过 6 维语义校验后原子翻转 Ready 位发布为 PUBLISHED，正文物理只读；淘汰时先原子置为 TOMBSTONE 阻断新引用；最后跨越双层宽限期进入 FREE。下半部重点阐明了两大核心机制：第一是两阶段安全发布，杜绝下游消费正在写入的残缺数据；第二是 RCU 双层宽限期安全回收，既要等待 CPU 读线程退出，更要等待 NPU 流事件与硬件在途 DMA 彻底排空，才能真正将物理页回收入池，彻底消除 Use-After-Free 内存踩踏。</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拆解了管理面、控制面与数据面的三面物理隔离以及数据面分层架构。管理面独立部署，绝对不进入在线单请求关键路径；控制面独占计算核，信令交互全在内存微秒完成，纯粹处理控制信令；数据面由底层硬件 DMA 直通显存，Host CPU 零数据拷贝。在存储分层上，严格遵循 NPU HBM 热执行、Host DDR 热温缓存扩展与 NVMe SSD 裸盘异步沉淀的三介质分层体系，DDR 作为百 GB 级高吞吐热温扩展缓存，消除总线争用。在网络流控上，通过 DSCP 映射将前台流量绑定至 TC0，将换出限制在 TC1 并配合微秒退避，保障前台 TPOT 干扰率小于 3%。同时确立以 Raw Direct 纯软直达为主路径、DPU 硬件卸载为条件加速轨的双轨协同体系。</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聚焦大模型推理的 12 类典型业务场景与推拉模式映射。对于固定系统提示词、常驻 Agent 框架引导词等确定性高频场景，采用异步提前推送（Push 模式），在会话建立时已将 KV 预置到位；对于动态多轮对话、长文档问答等突发长尾场景，采用按需拉取（Pull 模式）。无论哪种模式，都必须通过 QueryPlan 的净加速收益评估门限。右半部重点呈现了取消请求的物理排空屏障：当业务超时或客户端取消请求时，若直接释放显存，底层仍在总线传输的 DMA 将覆盖新分配的地址，引发致命的内存踩踏。方案 A 明确要求逻辑取消与物理排空解耦，必须下发硬件排空指令并等待完成确认凭据后，才允许重新分配显存物理页，保障显存重用的物理安全。</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深入到 KVC 存储调度与底层通信库 (KPCL) 的责任边界与四大核心通信流。KVC 向上管理不可变对象生命周期、6 维语义校验、目录路由与 QueryPlan 选路；KPCL 独立成库，向下封装 UBMEM 总线直读、URMA RDMA 协议与 PCIe DMA 驱动。KPCL 向 KVC 暴露统一的非阻塞异步 API，提交耗时 P99 &lt; 1µs，完成对账完全基于硬件完成队列条目 CQE。中间四大通信数据流（模式一极轻控制流、模式二单边远端直读流、模式三批量数据搬运流、模式四 NVMe 裸盘直达流）严格物理映射至独立通道。下半部划分了 F1~F8 八类流量画像，在网卡和交换机层面配置独立的队列与优先级策略，防止后台大块换出流量冲垮前台微秒控制流。</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是系统架构在性能指标上的第一性原理推导。我们首先明确 120ms 目标预算的业务来源：在线大模型交互通常要求端到端 TTFT &lt; 500ms，在 32K 上下文场景下直接重算耗时达 350~450ms，逼近服务上限。为了获取明确的净收益，系统倒推将跨节点加载总耗时锁定在 120ms 预算内！该预算对业务有三大直接收益：第一，TTFT 压缩至 135ms 左右，首字响应缩短 60% 以上；第二，消除了长时间的 Prefill 矩阵乘算力占用，算力即时投入 Decode，驱动系统有效吞吐 QPS 提升 30%~50%；第三，通过异步 DAG 边算边传与 QoS 隔离，前台 TPOT 干扰率严格控制在 3% 以内。在预算分解上，控制面占 10ms，数据面占 95ms，挂载占 15ms。需要重申，这是指导工程分解的推导模型，任一子项超时立即主动回退。</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直面分布式推理中的物理瓶颈：张量并行 (TP=8) 的 Coflow 木桶偏斜与前后台混压干扰。在 TP=8 场景下，由于算子同步屏障的存在，整体完成时间取决于最慢的一张卡。单卡网络抖动会导致其余 7 张卡空等，偏斜系数恶化至 2.0 以上！方案 A 提出三大应对手段：第一，8 卡独立加载完成后在 POSIX 共享内存中通过原子位图汇聚，由协调者下发单次硬件原子 Doorbell，组内多卡同步耗时 P99 &lt; 100µs，从提交源头消除时序偏差，偏斜系数收敛至 1.15 以内；第二，Layer 0 首层映射最高优先级提前下发，掩盖后续层传输；第三，前后台混压下，Worker.step() 动态监测排队时延，一旦排队主动退避后台换出，控制前台 TPOT 干扰率在 3% 以内。</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交代了高可用可靠性体系与 ViewGuard 容错跳出机制。系统建立三面独立故障域：管理面独立部署，脑裂由节点本地内存快照兜底，故障绝不向在线业务扩散；控制面严格设定单调时钟硬门限，一旦目录查询或租约响应超时，立即主动熔断并回退本地重算，杜绝控制面排队拖垮首字响应。在数据面上，针对跨节点远端直读（Direct-View）可能面临的远端掉电风险，我们在用户态注册了专门的 SIGBUS 信号安全拦截机制；一旦探测到总线缺页，立即在微秒级拦截信号，阻断错误向算子扩散，并在 500µs 内撤销异常映射，启动四级优雅降级链（远端直读 -&gt; 本地显存拷贝 -&gt; DDR 缓冲 -&gt; 本地直接重算），实现业务完全无感恢复。</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是方案 A 的落地推进路线图与 38 条受控 SR 需求的分层落地矩阵。我们按研发工程演进清晰划分为四个核心验证阶段（E0~E3）：E0 验证 Saved-Prefill 净收益与协议加速上限，闭环 L1 适配层 6 条 SR；E1 打通 Host 零数据拷贝底座、描述符编译与 TP=8 多卡同步，闭环 L3 传输底座 9 条 SR；E2 验证 QueryPlan 微秒决策（≥95%）与 ViewGuard 500µs 跳出，闭环 L2 控制层 14 条 SR；E3 开展全链路前后台极限混压总门禁（TTFT 降幅 ≥ 20%，QPS 提升 ≥ 10%，TPOT 干扰率 &lt; 3%），闭环管理保障层 9 条 SR。受控 SRS V2.3 的全量 38 条 SR 需求全部精准映射到软件四层架构中，无一遗漏。下半部展示了纯软主路径与条件硬件加速的双轨演进策略，并承诺研产测一体化闭环交付。</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最后，我们用 Slide 15 为方案 A 的架构设计串讲做收官总结。回顾整套方案，我们确立了四大立项核心共识：第一，原厂软硬件协同系统定位，执行显存归框架拥有，以 KPCL 屏蔽底层芯片异构；第二，前置微秒动态决策，坚决不盲目加载，确保净加速收益且数据面硬件直达显存；第三，生产级安全高于一切，6 维语义强校验杜绝错误消费，ViewGuard 500µs 容错跳出，RCU 双层宽限期消除悬空内存；第四，按 E0~E3 严苛门禁分阶段交付。在交付成果上，我们承诺研产测一体化，交付生产级原生核心代码、白皮书级接口规范、12 份标准实测数据字典与核心发明专利。我们将始终坚守第一性原理与技术诚信底线，直面物理瓶颈，以扎实代码与实测数据向架构评审完成工程落地验证！感谢大家！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515600" cy="320040"/>
          </a:xfrm>
          <a:prstGeom prst="rect">
            <a:avLst/>
          </a:prstGeom>
          <a:noFill/>
        </p:spPr>
        <p:txBody>
          <a:bodyPr wrap="none">
            <a:spAutoFit/>
          </a:bodyPr>
          <a:lstStyle/>
          <a:p>
            <a:pPr>
              <a:defRPr sz="1100" b="1">
                <a:solidFill>
                  <a:srgbClr val="2563EB"/>
                </a:solidFill>
                <a:latin typeface="Consolas"/>
              </a:defRPr>
            </a:pPr>
            <a:r>
              <a:t>UNIFIED HETEROGENEOUS KVCACHE MEMORY POOL · SOFTWARE ARCHITECTURE DESIGN (PLAN A)</a:t>
            </a:r>
          </a:p>
        </p:txBody>
      </p:sp>
      <p:sp>
        <p:nvSpPr>
          <p:cNvPr id="3" name="Rectangle 2"/>
          <p:cNvSpPr/>
          <p:nvPr/>
        </p:nvSpPr>
        <p:spPr>
          <a:xfrm>
            <a:off x="457200" y="548640"/>
            <a:ext cx="109728" cy="57607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60120"/>
            <a:ext cx="10789920" cy="1005840"/>
          </a:xfrm>
          <a:prstGeom prst="rect">
            <a:avLst/>
          </a:prstGeom>
          <a:noFill/>
        </p:spPr>
        <p:txBody>
          <a:bodyPr wrap="square">
            <a:spAutoFit/>
          </a:bodyPr>
          <a:lstStyle/>
          <a:p>
            <a:pPr>
              <a:defRPr sz="2800" b="1">
                <a:solidFill>
                  <a:srgbClr val="1E3A8A"/>
                </a:solidFill>
                <a:latin typeface="Microsoft YaHei"/>
              </a:defRPr>
            </a:pPr>
            <a:r>
              <a:t>KVC 软件架构设计文档 · 方案 A</a:t>
            </a:r>
          </a:p>
          <a:p>
            <a:pPr>
              <a:spcBef>
                <a:spcPts val="600"/>
              </a:spcBef>
              <a:defRPr sz="1400" b="1">
                <a:solidFill>
                  <a:srgbClr val="2563EB"/>
                </a:solidFill>
                <a:latin typeface="Microsoft YaHei"/>
              </a:defRPr>
            </a:pPr>
            <a:r>
              <a:t>面向国产 AI 硬件的统一异构 KVCache 存储与调度底座 · 顶层架构设计与八大专题设计设想</a:t>
            </a:r>
          </a:p>
        </p:txBody>
      </p:sp>
      <p:sp>
        <p:nvSpPr>
          <p:cNvPr id="5" name="TextBox 4"/>
          <p:cNvSpPr txBox="1"/>
          <p:nvPr/>
        </p:nvSpPr>
        <p:spPr>
          <a:xfrm>
            <a:off x="731520" y="2057400"/>
            <a:ext cx="10789920" cy="457200"/>
          </a:xfrm>
          <a:prstGeom prst="rect">
            <a:avLst/>
          </a:prstGeom>
          <a:noFill/>
        </p:spPr>
        <p:txBody>
          <a:bodyPr wrap="square">
            <a:spAutoFit/>
          </a:bodyPr>
          <a:lstStyle/>
          <a:p>
            <a:pPr>
              <a:defRPr sz="1100">
                <a:solidFill>
                  <a:srgbClr val="475569"/>
                </a:solidFill>
                <a:latin typeface="Microsoft YaHei"/>
              </a:defRPr>
            </a:pPr>
            <a:r>
              <a:t>KVCache（大模型注意力键值缓存，在自回归生成中保存历史 Key/Value 激活状态张量，用于避免后续 Token 重复计算）原厂软硬件协同软件架构设计与工程落地全景</a:t>
            </a:r>
          </a:p>
        </p:txBody>
      </p:sp>
      <p:sp>
        <p:nvSpPr>
          <p:cNvPr id="6" name="Rectangle 5"/>
          <p:cNvSpPr/>
          <p:nvPr/>
        </p:nvSpPr>
        <p:spPr>
          <a:xfrm>
            <a:off x="731520" y="2697480"/>
            <a:ext cx="347472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697480"/>
            <a:ext cx="3474720" cy="3657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34056"/>
            <a:ext cx="3255264" cy="292608"/>
          </a:xfrm>
          <a:prstGeom prst="rect">
            <a:avLst/>
          </a:prstGeom>
          <a:noFill/>
        </p:spPr>
        <p:txBody>
          <a:bodyPr wrap="none" lIns="0" tIns="0" rIns="0" bIns="0">
            <a:spAutoFit/>
          </a:bodyPr>
          <a:lstStyle/>
          <a:p>
            <a:pPr>
              <a:defRPr sz="1150" b="1">
                <a:solidFill>
                  <a:srgbClr val="FFFFFF"/>
                </a:solidFill>
                <a:latin typeface="Microsoft YaHei"/>
              </a:defRPr>
            </a:pPr>
            <a:r>
              <a:t>架构定位与责任边界</a:t>
            </a:r>
          </a:p>
          <a:p>
            <a:pPr algn="r">
              <a:defRPr sz="950" b="1">
                <a:solidFill>
                  <a:srgbClr val="BFDBFE"/>
                </a:solidFill>
                <a:latin typeface="Microsoft YaHei"/>
              </a:defRPr>
            </a:pPr>
            <a:r>
              <a:t>执行显存严格归框架拥有</a:t>
            </a:r>
          </a:p>
        </p:txBody>
      </p:sp>
      <p:sp>
        <p:nvSpPr>
          <p:cNvPr id="9" name="TextBox 8"/>
          <p:cNvSpPr txBox="1"/>
          <p:nvPr/>
        </p:nvSpPr>
        <p:spPr>
          <a:xfrm>
            <a:off x="731520" y="3081528"/>
            <a:ext cx="3474720" cy="2423160"/>
          </a:xfrm>
          <a:prstGeom prst="rect">
            <a:avLst/>
          </a:prstGeom>
          <a:noFill/>
        </p:spPr>
        <p:txBody>
          <a:bodyPr wrap="square" lIns="73152" tIns="73152" rIns="73152" bIns="73152">
            <a:spAutoFit/>
          </a:bodyPr>
          <a:lstStyle/>
          <a:p>
            <a:pPr>
              <a:lnSpc>
                <a:spcPct val="116000"/>
              </a:lnSpc>
              <a:spcAft>
                <a:spcPts val="550"/>
              </a:spcAft>
            </a:pPr>
            <a:r>
              <a:rPr sz="1000" b="1">
                <a:solidFill>
                  <a:srgbClr val="1E3A8A"/>
                </a:solidFill>
                <a:latin typeface="Microsoft YaHei"/>
              </a:rPr>
              <a:t>▸ </a:t>
            </a:r>
            <a:r>
              <a:rPr sz="1000" b="1">
                <a:solidFill>
                  <a:srgbClr val="1E3A8A"/>
                </a:solidFill>
                <a:latin typeface="Microsoft YaHei"/>
              </a:rPr>
              <a:t>执行显存归属：</a:t>
            </a:r>
            <a:r>
              <a:rPr sz="1000">
                <a:solidFill>
                  <a:srgbClr val="1E293B"/>
                </a:solidFill>
                <a:latin typeface="Microsoft YaHei"/>
              </a:rPr>
              <a:t>推理框架直接管理执行 HBM 块表，KVC 绝不越权接管算子运行时内部显存分配</a:t>
            </a:r>
          </a:p>
          <a:p>
            <a:pPr>
              <a:lnSpc>
                <a:spcPct val="116000"/>
              </a:lnSpc>
              <a:spcAft>
                <a:spcPts val="550"/>
              </a:spcAft>
            </a:pPr>
            <a:r>
              <a:rPr sz="1000" b="1">
                <a:solidFill>
                  <a:srgbClr val="1E3A8A"/>
                </a:solidFill>
                <a:latin typeface="Microsoft YaHei"/>
              </a:rPr>
              <a:t>▸ </a:t>
            </a:r>
            <a:r>
              <a:rPr sz="1000" b="1">
                <a:solidFill>
                  <a:srgbClr val="1E3A8A"/>
                </a:solidFill>
                <a:latin typeface="Microsoft YaHei"/>
              </a:rPr>
              <a:t>存储池统一范式：</a:t>
            </a:r>
            <a:r>
              <a:rPr sz="1000">
                <a:solidFill>
                  <a:srgbClr val="1E293B"/>
                </a:solidFill>
                <a:latin typeface="Microsoft YaHei"/>
              </a:rPr>
              <a:t>逻辑统一对象身份、全局分布、版本与生命周期，支持跨节点微秒级加载调度</a:t>
            </a:r>
          </a:p>
          <a:p>
            <a:pPr>
              <a:lnSpc>
                <a:spcPct val="116000"/>
              </a:lnSpc>
              <a:spcAft>
                <a:spcPts val="550"/>
              </a:spcAft>
            </a:pPr>
            <a:r>
              <a:rPr sz="1000" b="1">
                <a:solidFill>
                  <a:srgbClr val="1E3A8A"/>
                </a:solidFill>
                <a:latin typeface="Microsoft YaHei"/>
              </a:rPr>
              <a:t>▸ </a:t>
            </a:r>
            <a:r>
              <a:rPr sz="1000" b="1">
                <a:solidFill>
                  <a:srgbClr val="1E3A8A"/>
                </a:solidFill>
                <a:latin typeface="Microsoft YaHei"/>
              </a:rPr>
              <a:t>硬件原厂协同：</a:t>
            </a:r>
            <a:r>
              <a:rPr sz="1000">
                <a:solidFill>
                  <a:srgbClr val="1E293B"/>
                </a:solidFill>
                <a:latin typeface="Microsoft YaHei"/>
              </a:rPr>
              <a:t>以底层通信库 (KPCL) 封装硬件驱动，屏蔽底层总线异构细节</a:t>
            </a:r>
          </a:p>
        </p:txBody>
      </p:sp>
      <p:sp>
        <p:nvSpPr>
          <p:cNvPr id="10" name="Rectangle 9"/>
          <p:cNvSpPr/>
          <p:nvPr/>
        </p:nvSpPr>
        <p:spPr>
          <a:xfrm>
            <a:off x="4389120" y="2697480"/>
            <a:ext cx="347472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697480"/>
            <a:ext cx="3474720" cy="3657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8848" y="2734056"/>
            <a:ext cx="3255264" cy="292608"/>
          </a:xfrm>
          <a:prstGeom prst="rect">
            <a:avLst/>
          </a:prstGeom>
          <a:noFill/>
        </p:spPr>
        <p:txBody>
          <a:bodyPr wrap="none" lIns="0" tIns="0" rIns="0" bIns="0">
            <a:spAutoFit/>
          </a:bodyPr>
          <a:lstStyle/>
          <a:p>
            <a:pPr>
              <a:defRPr sz="1150" b="1">
                <a:solidFill>
                  <a:srgbClr val="FFFFFF"/>
                </a:solidFill>
                <a:latin typeface="Microsoft YaHei"/>
              </a:defRPr>
            </a:pPr>
            <a:r>
              <a:t>微秒决策与零拷贝数据面</a:t>
            </a:r>
          </a:p>
          <a:p>
            <a:pPr algn="r">
              <a:defRPr sz="950" b="1">
                <a:solidFill>
                  <a:srgbClr val="BFDBFE"/>
                </a:solidFill>
                <a:latin typeface="Microsoft YaHei"/>
              </a:defRPr>
            </a:pPr>
            <a:r>
              <a:t>驱动确定性净加速收益</a:t>
            </a:r>
          </a:p>
        </p:txBody>
      </p:sp>
      <p:sp>
        <p:nvSpPr>
          <p:cNvPr id="13" name="TextBox 12"/>
          <p:cNvSpPr txBox="1"/>
          <p:nvPr/>
        </p:nvSpPr>
        <p:spPr>
          <a:xfrm>
            <a:off x="4389120" y="3081528"/>
            <a:ext cx="3474720" cy="2423160"/>
          </a:xfrm>
          <a:prstGeom prst="rect">
            <a:avLst/>
          </a:prstGeom>
          <a:noFill/>
        </p:spPr>
        <p:txBody>
          <a:bodyPr wrap="square" lIns="73152" tIns="73152" rIns="73152" bIns="73152">
            <a:spAutoFit/>
          </a:bodyPr>
          <a:lstStyle/>
          <a:p>
            <a:pPr>
              <a:lnSpc>
                <a:spcPct val="116000"/>
              </a:lnSpc>
              <a:spcAft>
                <a:spcPts val="550"/>
              </a:spcAft>
            </a:pPr>
            <a:r>
              <a:rPr sz="1000" b="1">
                <a:solidFill>
                  <a:srgbClr val="1E3A8A"/>
                </a:solidFill>
                <a:latin typeface="Microsoft YaHei"/>
              </a:rPr>
              <a:t>▸ </a:t>
            </a:r>
            <a:r>
              <a:rPr sz="1000" b="1">
                <a:solidFill>
                  <a:srgbClr val="1E3A8A"/>
                </a:solidFill>
                <a:latin typeface="Microsoft YaHei"/>
              </a:rPr>
              <a:t>净加速收益前置：</a:t>
            </a:r>
            <a:r>
              <a:rPr sz="1000">
                <a:solidFill>
                  <a:srgbClr val="1E293B"/>
                </a:solidFill>
                <a:latin typeface="Microsoft YaHei"/>
              </a:rPr>
              <a:t>严格确保拉取与加载总开销 &lt; 本地直接重算耗时，否则主动回退至本地重算</a:t>
            </a:r>
          </a:p>
          <a:p>
            <a:pPr>
              <a:lnSpc>
                <a:spcPct val="116000"/>
              </a:lnSpc>
              <a:spcAft>
                <a:spcPts val="550"/>
              </a:spcAft>
            </a:pPr>
            <a:r>
              <a:rPr sz="1000" b="1">
                <a:solidFill>
                  <a:srgbClr val="1E3A8A"/>
                </a:solidFill>
                <a:latin typeface="Microsoft YaHei"/>
              </a:rPr>
              <a:t>▸ </a:t>
            </a:r>
            <a:r>
              <a:rPr sz="1000" b="1">
                <a:solidFill>
                  <a:srgbClr val="1E3A8A"/>
                </a:solidFill>
                <a:latin typeface="Microsoft YaHei"/>
              </a:rPr>
              <a:t>微秒级选路决策：</a:t>
            </a:r>
            <a:r>
              <a:rPr sz="1000">
                <a:solidFill>
                  <a:srgbClr val="1E293B"/>
                </a:solidFill>
                <a:latin typeface="Microsoft YaHei"/>
              </a:rPr>
              <a:t>无锁 ART 树与成本模型协同，P99 &lt; 5µs 完成全局加载路径与分层介质决策</a:t>
            </a:r>
          </a:p>
          <a:p>
            <a:pPr>
              <a:lnSpc>
                <a:spcPct val="116000"/>
              </a:lnSpc>
              <a:spcAft>
                <a:spcPts val="550"/>
              </a:spcAft>
            </a:pPr>
            <a:r>
              <a:rPr sz="1000" b="1">
                <a:solidFill>
                  <a:srgbClr val="1E3A8A"/>
                </a:solidFill>
                <a:latin typeface="Microsoft YaHei"/>
              </a:rPr>
              <a:t>▸ </a:t>
            </a:r>
            <a:r>
              <a:rPr sz="1000" b="1">
                <a:solidFill>
                  <a:srgbClr val="1E3A8A"/>
                </a:solidFill>
                <a:latin typeface="Microsoft YaHei"/>
              </a:rPr>
              <a:t>Host 零数据拷贝：</a:t>
            </a:r>
            <a:r>
              <a:rPr sz="1000">
                <a:solidFill>
                  <a:srgbClr val="1E293B"/>
                </a:solidFill>
                <a:latin typeface="Microsoft YaHei"/>
              </a:rPr>
              <a:t>在基础直达路径中 CPU 仅下发描述符，数据经 DMA 直达显存，消除 CPU 内存搬运</a:t>
            </a:r>
          </a:p>
        </p:txBody>
      </p:sp>
      <p:sp>
        <p:nvSpPr>
          <p:cNvPr id="14" name="Rectangle 13"/>
          <p:cNvSpPr/>
          <p:nvPr/>
        </p:nvSpPr>
        <p:spPr>
          <a:xfrm>
            <a:off x="8046720" y="2697480"/>
            <a:ext cx="347472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2697480"/>
            <a:ext cx="3474720"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2734056"/>
            <a:ext cx="3255264" cy="292608"/>
          </a:xfrm>
          <a:prstGeom prst="rect">
            <a:avLst/>
          </a:prstGeom>
          <a:noFill/>
        </p:spPr>
        <p:txBody>
          <a:bodyPr wrap="none" lIns="0" tIns="0" rIns="0" bIns="0">
            <a:spAutoFit/>
          </a:bodyPr>
          <a:lstStyle/>
          <a:p>
            <a:pPr>
              <a:defRPr sz="1150" b="1">
                <a:solidFill>
                  <a:srgbClr val="FFFFFF"/>
                </a:solidFill>
                <a:latin typeface="Microsoft YaHei"/>
              </a:defRPr>
            </a:pPr>
            <a:r>
              <a:t>生产级安全与三面可靠性</a:t>
            </a:r>
          </a:p>
          <a:p>
            <a:pPr algn="r">
              <a:defRPr sz="950" b="1">
                <a:solidFill>
                  <a:srgbClr val="BFDBFE"/>
                </a:solidFill>
                <a:latin typeface="Microsoft YaHei"/>
              </a:defRPr>
            </a:pPr>
            <a:r>
              <a:t>保障数据消费语义一致</a:t>
            </a:r>
          </a:p>
        </p:txBody>
      </p:sp>
      <p:sp>
        <p:nvSpPr>
          <p:cNvPr id="17" name="TextBox 16"/>
          <p:cNvSpPr txBox="1"/>
          <p:nvPr/>
        </p:nvSpPr>
        <p:spPr>
          <a:xfrm>
            <a:off x="8046720" y="3081528"/>
            <a:ext cx="3474720" cy="2423160"/>
          </a:xfrm>
          <a:prstGeom prst="rect">
            <a:avLst/>
          </a:prstGeom>
          <a:noFill/>
        </p:spPr>
        <p:txBody>
          <a:bodyPr wrap="square" lIns="73152" tIns="73152" rIns="73152" bIns="73152">
            <a:spAutoFit/>
          </a:bodyPr>
          <a:lstStyle/>
          <a:p>
            <a:pPr>
              <a:lnSpc>
                <a:spcPct val="116000"/>
              </a:lnSpc>
              <a:spcAft>
                <a:spcPts val="550"/>
              </a:spcAft>
            </a:pPr>
            <a:r>
              <a:rPr sz="1000" b="1">
                <a:solidFill>
                  <a:srgbClr val="1E3A8A"/>
                </a:solidFill>
                <a:latin typeface="Microsoft YaHei"/>
              </a:rPr>
              <a:t>▸ </a:t>
            </a:r>
            <a:r>
              <a:rPr sz="1000" b="1">
                <a:solidFill>
                  <a:srgbClr val="1E3A8A"/>
                </a:solidFill>
                <a:latin typeface="Microsoft YaHei"/>
              </a:rPr>
              <a:t>6 维语义强校验：</a:t>
            </a:r>
            <a:r>
              <a:rPr sz="1000">
                <a:solidFill>
                  <a:srgbClr val="1E293B"/>
                </a:solidFill>
                <a:latin typeface="Microsoft YaHei"/>
              </a:rPr>
              <a:t>比对模型/词表/模板/LoRA/Ready位/租约，杜绝陈旧半写失效数据被消费</a:t>
            </a:r>
          </a:p>
          <a:p>
            <a:pPr>
              <a:lnSpc>
                <a:spcPct val="116000"/>
              </a:lnSpc>
              <a:spcAft>
                <a:spcPts val="550"/>
              </a:spcAft>
            </a:pPr>
            <a:r>
              <a:rPr sz="1000" b="1">
                <a:solidFill>
                  <a:srgbClr val="1E3A8A"/>
                </a:solidFill>
                <a:latin typeface="Microsoft YaHei"/>
              </a:rPr>
              <a:t>▸ </a:t>
            </a:r>
            <a:r>
              <a:rPr sz="1000" b="1">
                <a:solidFill>
                  <a:srgbClr val="1E3A8A"/>
                </a:solidFill>
                <a:latin typeface="Microsoft YaHei"/>
              </a:rPr>
              <a:t>ViewGuard 视图守卫：</a:t>
            </a:r>
            <a:r>
              <a:rPr sz="1000">
                <a:solidFill>
                  <a:srgbClr val="1E293B"/>
                </a:solidFill>
                <a:latin typeface="Microsoft YaHei"/>
              </a:rPr>
              <a:t>跨节点直读捕获 SIGBUS 异常并在 500µs 内回退重算，消除节点雪崩</a:t>
            </a:r>
          </a:p>
          <a:p>
            <a:pPr>
              <a:lnSpc>
                <a:spcPct val="116000"/>
              </a:lnSpc>
              <a:spcAft>
                <a:spcPts val="550"/>
              </a:spcAft>
            </a:pPr>
            <a:r>
              <a:rPr sz="1000" b="1">
                <a:solidFill>
                  <a:srgbClr val="1E3A8A"/>
                </a:solidFill>
                <a:latin typeface="Microsoft YaHei"/>
              </a:rPr>
              <a:t>▸ </a:t>
            </a:r>
            <a:r>
              <a:rPr sz="1000" b="1">
                <a:solidFill>
                  <a:srgbClr val="1E3A8A"/>
                </a:solidFill>
                <a:latin typeface="Microsoft YaHei"/>
              </a:rPr>
              <a:t>RCU 双层宽限期：</a:t>
            </a:r>
            <a:r>
              <a:rPr sz="1000">
                <a:solidFill>
                  <a:srgbClr val="1E293B"/>
                </a:solidFill>
                <a:latin typeface="Microsoft YaHei"/>
              </a:rPr>
              <a:t>在后台显存页迁移时，通过监听 CPU 读者退出与 NPU 流事件确认读操作结束，安全释放物理显存，前台读请求零停顿</a:t>
            </a:r>
          </a:p>
        </p:txBody>
      </p:sp>
      <p:sp>
        <p:nvSpPr>
          <p:cNvPr id="18" name="TextBox 17"/>
          <p:cNvSpPr txBox="1"/>
          <p:nvPr/>
        </p:nvSpPr>
        <p:spPr>
          <a:xfrm>
            <a:off x="731520" y="5760720"/>
            <a:ext cx="10789920" cy="365760"/>
          </a:xfrm>
          <a:prstGeom prst="rect">
            <a:avLst/>
          </a:prstGeom>
          <a:noFill/>
        </p:spPr>
        <p:txBody>
          <a:bodyPr wrap="none">
            <a:spAutoFit/>
          </a:bodyPr>
          <a:lstStyle/>
          <a:p>
            <a:pPr>
              <a:defRPr sz="1100" b="1">
                <a:solidFill>
                  <a:srgbClr val="1E3A8A"/>
                </a:solidFill>
                <a:latin typeface="Microsoft YaHei"/>
              </a:defRPr>
            </a:pPr>
            <a:r>
              <a:t>面向一线开发团队与架构评审专家 · 方案 A 架构设计串讲 · 讨论稿 · 2026-09-06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设计范围、材料口径与架构设计设想原则</a:t>
            </a:r>
          </a:p>
          <a:p>
            <a:pPr>
              <a:spcBef>
                <a:spcPts val="300"/>
              </a:spcBef>
              <a:defRPr sz="1100">
                <a:solidFill>
                  <a:srgbClr val="475569"/>
                </a:solidFill>
                <a:latin typeface="Microsoft YaHei"/>
              </a:defRPr>
            </a:pPr>
            <a:r>
              <a:t>先界定工程责任边界与安全不变量，严格区分已有需求、设计建议与推导算例</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15 页</a:t>
            </a:r>
          </a:p>
        </p:txBody>
      </p:sp>
      <p:sp>
        <p:nvSpPr>
          <p:cNvPr id="4" name="Rectangle 3"/>
          <p:cNvSpPr/>
          <p:nvPr/>
        </p:nvSpPr>
        <p:spPr>
          <a:xfrm>
            <a:off x="457200" y="1078992"/>
            <a:ext cx="5532120" cy="228600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78992"/>
            <a:ext cx="553212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115568"/>
            <a:ext cx="5312664" cy="274320"/>
          </a:xfrm>
          <a:prstGeom prst="rect">
            <a:avLst/>
          </a:prstGeom>
          <a:noFill/>
        </p:spPr>
        <p:txBody>
          <a:bodyPr wrap="none" lIns="0" tIns="0" rIns="0" bIns="0">
            <a:spAutoFit/>
          </a:bodyPr>
          <a:lstStyle/>
          <a:p>
            <a:pPr>
              <a:defRPr sz="1120" b="1">
                <a:solidFill>
                  <a:srgbClr val="FFFFFF"/>
                </a:solidFill>
                <a:latin typeface="Microsoft YaHei"/>
              </a:defRPr>
            </a:pPr>
            <a:r>
              <a:t>1. 本设计文档聚焦解决的架构命题</a:t>
            </a:r>
          </a:p>
          <a:p>
            <a:pPr algn="r">
              <a:defRPr sz="950" b="1">
                <a:solidFill>
                  <a:srgbClr val="BFDBFE"/>
                </a:solidFill>
                <a:latin typeface="Microsoft YaHei"/>
              </a:defRPr>
            </a:pPr>
            <a:r>
              <a:t>[工程责任边界]</a:t>
            </a:r>
          </a:p>
        </p:txBody>
      </p:sp>
      <p:sp>
        <p:nvSpPr>
          <p:cNvPr id="7" name="TextBox 6"/>
          <p:cNvSpPr txBox="1"/>
          <p:nvPr/>
        </p:nvSpPr>
        <p:spPr>
          <a:xfrm>
            <a:off x="457200" y="1444752"/>
            <a:ext cx="5532120" cy="1901952"/>
          </a:xfrm>
          <a:prstGeom prst="rect">
            <a:avLst/>
          </a:prstGeom>
          <a:noFill/>
        </p:spPr>
        <p:txBody>
          <a:bodyPr wrap="square" lIns="73152" tIns="73152" rIns="73152" bIns="73152">
            <a:spAutoFit/>
          </a:bodyPr>
          <a:lstStyle/>
          <a:p>
            <a:pPr>
              <a:lnSpc>
                <a:spcPct val="116000"/>
              </a:lnSpc>
              <a:spcAft>
                <a:spcPts val="420"/>
              </a:spcAft>
            </a:pPr>
            <a:r>
              <a:rPr sz="1019" b="1">
                <a:solidFill>
                  <a:srgbClr val="1E3A8A"/>
                </a:solidFill>
                <a:latin typeface="Microsoft YaHei"/>
              </a:rPr>
              <a:t>▸ </a:t>
            </a:r>
            <a:r>
              <a:rPr sz="1019" b="1">
                <a:solidFill>
                  <a:srgbClr val="1E3A8A"/>
                </a:solidFill>
                <a:latin typeface="Microsoft YaHei"/>
              </a:rPr>
              <a:t>统一对象抽象：</a:t>
            </a:r>
            <a:r>
              <a:rPr sz="1019">
                <a:solidFill>
                  <a:srgbClr val="1E293B"/>
                </a:solidFill>
                <a:latin typeface="Microsoft YaHei"/>
              </a:rPr>
              <a:t>统一跨节点、多介质不可变缓存对象的身份、版本、分布与访问方法</a:t>
            </a:r>
          </a:p>
          <a:p>
            <a:pPr>
              <a:lnSpc>
                <a:spcPct val="116000"/>
              </a:lnSpc>
              <a:spcAft>
                <a:spcPts val="420"/>
              </a:spcAft>
            </a:pPr>
            <a:r>
              <a:rPr sz="1019" b="1">
                <a:solidFill>
                  <a:srgbClr val="1E3A8A"/>
                </a:solidFill>
                <a:latin typeface="Microsoft YaHei"/>
              </a:rPr>
              <a:t>▸ </a:t>
            </a:r>
            <a:r>
              <a:rPr sz="1019" b="1">
                <a:solidFill>
                  <a:srgbClr val="1E3A8A"/>
                </a:solidFill>
                <a:latin typeface="Microsoft YaHei"/>
              </a:rPr>
              <a:t>进程与部署拓扑：</a:t>
            </a:r>
            <a:r>
              <a:rPr sz="1019">
                <a:solidFill>
                  <a:srgbClr val="1E293B"/>
                </a:solidFill>
                <a:latin typeface="Microsoft YaHei"/>
              </a:rPr>
              <a:t>推理进程内运行库直接处理高频缓存查询与加载，节点代理负责本地资源管理，分布式目录服务负责全局元数据路由</a:t>
            </a:r>
          </a:p>
          <a:p>
            <a:pPr>
              <a:lnSpc>
                <a:spcPct val="116000"/>
              </a:lnSpc>
              <a:spcAft>
                <a:spcPts val="420"/>
              </a:spcAft>
            </a:pPr>
            <a:r>
              <a:rPr sz="1019" b="1">
                <a:solidFill>
                  <a:srgbClr val="1E3A8A"/>
                </a:solidFill>
                <a:latin typeface="Microsoft YaHei"/>
              </a:rPr>
              <a:t>▸ </a:t>
            </a:r>
            <a:r>
              <a:rPr sz="1019" b="1">
                <a:solidFill>
                  <a:srgbClr val="1E3A8A"/>
                </a:solidFill>
                <a:latin typeface="Microsoft YaHei"/>
              </a:rPr>
              <a:t>请求闭环因果链：</a:t>
            </a:r>
            <a:r>
              <a:rPr sz="1019">
                <a:solidFill>
                  <a:srgbClr val="1E293B"/>
                </a:solidFill>
                <a:latin typeface="Microsoft YaHei"/>
              </a:rPr>
              <a:t>严格经历意图下发、候选发现、校验、决策、直达与安全挂载闭环</a:t>
            </a:r>
          </a:p>
          <a:p>
            <a:pPr>
              <a:lnSpc>
                <a:spcPct val="116000"/>
              </a:lnSpc>
              <a:spcAft>
                <a:spcPts val="420"/>
              </a:spcAft>
            </a:pPr>
            <a:r>
              <a:rPr sz="1019" b="1">
                <a:solidFill>
                  <a:srgbClr val="1E3A8A"/>
                </a:solidFill>
                <a:latin typeface="Microsoft YaHei"/>
              </a:rPr>
              <a:t>▸ </a:t>
            </a:r>
            <a:r>
              <a:rPr sz="1019" b="1">
                <a:solidFill>
                  <a:srgbClr val="1E3A8A"/>
                </a:solidFill>
                <a:latin typeface="Microsoft YaHei"/>
              </a:rPr>
              <a:t>物理安全排空：</a:t>
            </a:r>
            <a:r>
              <a:rPr sz="1019">
                <a:solidFill>
                  <a:srgbClr val="1E293B"/>
                </a:solidFill>
                <a:latin typeface="Microsoft YaHei"/>
              </a:rPr>
              <a:t>逻辑取消与底层设备排空彻底分离，设备在途 I/O 未完成前禁止复用缓冲区</a:t>
            </a:r>
          </a:p>
        </p:txBody>
      </p:sp>
      <p:sp>
        <p:nvSpPr>
          <p:cNvPr id="8" name="Rectangle 7"/>
          <p:cNvSpPr/>
          <p:nvPr/>
        </p:nvSpPr>
        <p:spPr>
          <a:xfrm>
            <a:off x="6199632" y="1078992"/>
            <a:ext cx="5532120" cy="228600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99632" y="1078992"/>
            <a:ext cx="553212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115568"/>
            <a:ext cx="5312664" cy="274320"/>
          </a:xfrm>
          <a:prstGeom prst="rect">
            <a:avLst/>
          </a:prstGeom>
          <a:noFill/>
        </p:spPr>
        <p:txBody>
          <a:bodyPr wrap="none" lIns="0" tIns="0" rIns="0" bIns="0">
            <a:spAutoFit/>
          </a:bodyPr>
          <a:lstStyle/>
          <a:p>
            <a:pPr>
              <a:defRPr sz="1120" b="1">
                <a:solidFill>
                  <a:srgbClr val="FFFFFF"/>
                </a:solidFill>
                <a:latin typeface="Microsoft YaHei"/>
              </a:defRPr>
            </a:pPr>
            <a:r>
              <a:t>2. 三种材料口径严格界定 (诚信红线)</a:t>
            </a:r>
          </a:p>
          <a:p>
            <a:pPr algn="r">
              <a:defRPr sz="950" b="1">
                <a:solidFill>
                  <a:srgbClr val="BFDBFE"/>
                </a:solidFill>
                <a:latin typeface="Microsoft YaHei"/>
              </a:defRPr>
            </a:pPr>
            <a:r>
              <a:t>[拒绝未经实测假设]</a:t>
            </a:r>
          </a:p>
        </p:txBody>
      </p:sp>
      <p:sp>
        <p:nvSpPr>
          <p:cNvPr id="11" name="TextBox 10"/>
          <p:cNvSpPr txBox="1"/>
          <p:nvPr/>
        </p:nvSpPr>
        <p:spPr>
          <a:xfrm>
            <a:off x="6199632" y="1444752"/>
            <a:ext cx="5532120" cy="1901952"/>
          </a:xfrm>
          <a:prstGeom prst="rect">
            <a:avLst/>
          </a:prstGeom>
          <a:noFill/>
        </p:spPr>
        <p:txBody>
          <a:bodyPr wrap="square" lIns="73152" tIns="73152" rIns="73152" bIns="73152">
            <a:spAutoFit/>
          </a:bodyPr>
          <a:lstStyle/>
          <a:p>
            <a:pPr>
              <a:lnSpc>
                <a:spcPct val="116000"/>
              </a:lnSpc>
              <a:spcAft>
                <a:spcPts val="420"/>
              </a:spcAft>
            </a:pPr>
            <a:r>
              <a:rPr sz="1019" b="1">
                <a:solidFill>
                  <a:srgbClr val="1E3A8A"/>
                </a:solidFill>
                <a:latin typeface="Microsoft YaHei"/>
              </a:rPr>
              <a:t>▸ </a:t>
            </a:r>
            <a:r>
              <a:rPr sz="1019" b="1">
                <a:solidFill>
                  <a:srgbClr val="1E3A8A"/>
                </a:solidFill>
                <a:latin typeface="Microsoft YaHei"/>
              </a:rPr>
              <a:t>已有需求：</a:t>
            </a:r>
            <a:r>
              <a:rPr sz="1019">
                <a:solidFill>
                  <a:srgbClr val="1E293B"/>
                </a:solidFill>
                <a:latin typeface="Microsoft YaHei"/>
              </a:rPr>
              <a:t>受控 SRS V2.3 明确提出的指标与功能，共 144 条正式需求</a:t>
            </a:r>
          </a:p>
          <a:p>
            <a:pPr>
              <a:lnSpc>
                <a:spcPct val="116000"/>
              </a:lnSpc>
              <a:spcAft>
                <a:spcPts val="420"/>
              </a:spcAft>
            </a:pPr>
            <a:r>
              <a:rPr sz="1019" b="1">
                <a:solidFill>
                  <a:srgbClr val="1E3A8A"/>
                </a:solidFill>
                <a:latin typeface="Microsoft YaHei"/>
              </a:rPr>
              <a:t>▸ </a:t>
            </a:r>
            <a:r>
              <a:rPr sz="1019" b="1">
                <a:solidFill>
                  <a:srgbClr val="1E3A8A"/>
                </a:solidFill>
                <a:latin typeface="Microsoft YaHei"/>
              </a:rPr>
              <a:t>设计建议：</a:t>
            </a:r>
            <a:r>
              <a:rPr sz="1019">
                <a:solidFill>
                  <a:srgbClr val="1E293B"/>
                </a:solidFill>
                <a:latin typeface="Microsoft YaHei"/>
              </a:rPr>
              <a:t>本稿提出的五大进程、接口契约与数据结构，待技术评审冻结</a:t>
            </a:r>
          </a:p>
          <a:p>
            <a:pPr>
              <a:lnSpc>
                <a:spcPct val="116000"/>
              </a:lnSpc>
              <a:spcAft>
                <a:spcPts val="420"/>
              </a:spcAft>
            </a:pPr>
            <a:r>
              <a:rPr sz="1019" b="1">
                <a:solidFill>
                  <a:srgbClr val="1E3A8A"/>
                </a:solidFill>
                <a:latin typeface="Microsoft YaHei"/>
              </a:rPr>
              <a:t>▸ </a:t>
            </a:r>
            <a:r>
              <a:rPr sz="1019" b="1">
                <a:solidFill>
                  <a:srgbClr val="1E3A8A"/>
                </a:solidFill>
                <a:latin typeface="Microsoft YaHei"/>
              </a:rPr>
              <a:t>预算算例：</a:t>
            </a:r>
            <a:r>
              <a:rPr sz="1019">
                <a:solidFill>
                  <a:srgbClr val="1E293B"/>
                </a:solidFill>
                <a:latin typeface="Microsoft YaHei"/>
              </a:rPr>
              <a:t>仅演示自上而下推导方法（如 120ms 预算），绝非已实测硬件结论</a:t>
            </a:r>
          </a:p>
          <a:p>
            <a:pPr>
              <a:lnSpc>
                <a:spcPct val="116000"/>
              </a:lnSpc>
              <a:spcAft>
                <a:spcPts val="420"/>
              </a:spcAft>
            </a:pPr>
            <a:r>
              <a:rPr sz="1019" b="1">
                <a:solidFill>
                  <a:srgbClr val="1E3A8A"/>
                </a:solidFill>
                <a:latin typeface="Microsoft YaHei"/>
              </a:rPr>
              <a:t>▸ </a:t>
            </a:r>
            <a:r>
              <a:rPr sz="1019" b="1">
                <a:solidFill>
                  <a:srgbClr val="1E3A8A"/>
                </a:solidFill>
                <a:latin typeface="Microsoft YaHei"/>
              </a:rPr>
              <a:t>证据分级边界：</a:t>
            </a:r>
            <a:r>
              <a:rPr sz="1019">
                <a:solidFill>
                  <a:srgbClr val="1E293B"/>
                </a:solidFill>
                <a:latin typeface="Microsoft YaHei"/>
              </a:rPr>
              <a:t>功能模拟 (W0)、单设备 (W1) 与端到端 (W2) 严格区分，杜绝混用</a:t>
            </a:r>
          </a:p>
        </p:txBody>
      </p:sp>
      <p:sp>
        <p:nvSpPr>
          <p:cNvPr id="12" name="Rectangle 11"/>
          <p:cNvSpPr/>
          <p:nvPr/>
        </p:nvSpPr>
        <p:spPr>
          <a:xfrm>
            <a:off x="457200" y="3474720"/>
            <a:ext cx="5532120" cy="230428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474720"/>
            <a:ext cx="553212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511296"/>
            <a:ext cx="5312664" cy="274320"/>
          </a:xfrm>
          <a:prstGeom prst="rect">
            <a:avLst/>
          </a:prstGeom>
          <a:noFill/>
        </p:spPr>
        <p:txBody>
          <a:bodyPr wrap="none" lIns="0" tIns="0" rIns="0" bIns="0">
            <a:spAutoFit/>
          </a:bodyPr>
          <a:lstStyle/>
          <a:p>
            <a:pPr>
              <a:defRPr sz="1120" b="1">
                <a:solidFill>
                  <a:srgbClr val="FFFFFF"/>
                </a:solidFill>
                <a:latin typeface="Microsoft YaHei"/>
              </a:defRPr>
            </a:pPr>
            <a:r>
              <a:t>3. 支撑后续落地的四大核心架构原则</a:t>
            </a:r>
          </a:p>
          <a:p>
            <a:pPr algn="r">
              <a:defRPr sz="950" b="1">
                <a:solidFill>
                  <a:srgbClr val="BFDBFE"/>
                </a:solidFill>
                <a:latin typeface="Microsoft YaHei"/>
              </a:defRPr>
            </a:pPr>
            <a:r>
              <a:t>[设计设想核心]</a:t>
            </a:r>
          </a:p>
        </p:txBody>
      </p:sp>
      <p:sp>
        <p:nvSpPr>
          <p:cNvPr id="15" name="TextBox 14"/>
          <p:cNvSpPr txBox="1"/>
          <p:nvPr/>
        </p:nvSpPr>
        <p:spPr>
          <a:xfrm>
            <a:off x="457200" y="3840480"/>
            <a:ext cx="5532120" cy="1920240"/>
          </a:xfrm>
          <a:prstGeom prst="rect">
            <a:avLst/>
          </a:prstGeom>
          <a:noFill/>
        </p:spPr>
        <p:txBody>
          <a:bodyPr wrap="square" lIns="73152" tIns="73152" rIns="73152" bIns="73152">
            <a:spAutoFit/>
          </a:bodyPr>
          <a:lstStyle/>
          <a:p>
            <a:pPr>
              <a:lnSpc>
                <a:spcPct val="116000"/>
              </a:lnSpc>
              <a:spcAft>
                <a:spcPts val="420"/>
              </a:spcAft>
            </a:pPr>
            <a:r>
              <a:rPr sz="1019" b="1">
                <a:solidFill>
                  <a:srgbClr val="1E3A8A"/>
                </a:solidFill>
                <a:latin typeface="Microsoft YaHei"/>
              </a:rPr>
              <a:t>▸ </a:t>
            </a:r>
            <a:r>
              <a:rPr sz="1019" b="1">
                <a:solidFill>
                  <a:srgbClr val="1E3A8A"/>
                </a:solidFill>
                <a:latin typeface="Microsoft YaHei"/>
              </a:rPr>
              <a:t>净加速收益驱动：</a:t>
            </a:r>
            <a:r>
              <a:rPr sz="1019">
                <a:solidFill>
                  <a:srgbClr val="1E293B"/>
                </a:solidFill>
                <a:latin typeface="Microsoft YaHei"/>
              </a:rPr>
              <a:t>拉取加载开销 &lt; 本地重算耗时，且满足业务预算，否则主动回退</a:t>
            </a:r>
          </a:p>
          <a:p>
            <a:pPr>
              <a:lnSpc>
                <a:spcPct val="116000"/>
              </a:lnSpc>
              <a:spcAft>
                <a:spcPts val="420"/>
              </a:spcAft>
            </a:pPr>
            <a:r>
              <a:rPr sz="1019" b="1">
                <a:solidFill>
                  <a:srgbClr val="1E3A8A"/>
                </a:solidFill>
                <a:latin typeface="Microsoft YaHei"/>
              </a:rPr>
              <a:t>▸ </a:t>
            </a:r>
            <a:r>
              <a:rPr sz="1019" b="1">
                <a:solidFill>
                  <a:srgbClr val="1E3A8A"/>
                </a:solidFill>
                <a:latin typeface="Microsoft YaHei"/>
              </a:rPr>
              <a:t>多卡原子协同：</a:t>
            </a:r>
            <a:r>
              <a:rPr sz="1019">
                <a:solidFill>
                  <a:srgbClr val="1E293B"/>
                </a:solidFill>
                <a:latin typeface="Microsoft YaHei"/>
              </a:rPr>
              <a:t>TP=8 引入原子 Doorbell 与内存同步，消除偏斜与死锁</a:t>
            </a:r>
          </a:p>
          <a:p>
            <a:pPr>
              <a:lnSpc>
                <a:spcPct val="116000"/>
              </a:lnSpc>
              <a:spcAft>
                <a:spcPts val="420"/>
              </a:spcAft>
            </a:pPr>
            <a:r>
              <a:rPr sz="1019" b="1">
                <a:solidFill>
                  <a:srgbClr val="1E3A8A"/>
                </a:solidFill>
                <a:latin typeface="Microsoft YaHei"/>
              </a:rPr>
              <a:t>▸ </a:t>
            </a:r>
            <a:r>
              <a:rPr sz="1019" b="1">
                <a:solidFill>
                  <a:srgbClr val="1E3A8A"/>
                </a:solidFill>
                <a:latin typeface="Microsoft YaHei"/>
              </a:rPr>
              <a:t>三介质分层存储：</a:t>
            </a:r>
            <a:r>
              <a:rPr sz="1019">
                <a:solidFill>
                  <a:srgbClr val="1E293B"/>
                </a:solidFill>
                <a:latin typeface="Microsoft YaHei"/>
              </a:rPr>
              <a:t>显存热执行、DDR 热温缓存扩展与 SSD 异步持久化</a:t>
            </a:r>
          </a:p>
          <a:p>
            <a:pPr>
              <a:lnSpc>
                <a:spcPct val="116000"/>
              </a:lnSpc>
              <a:spcAft>
                <a:spcPts val="420"/>
              </a:spcAft>
            </a:pPr>
            <a:r>
              <a:rPr sz="1019" b="1">
                <a:solidFill>
                  <a:srgbClr val="1E3A8A"/>
                </a:solidFill>
                <a:latin typeface="Microsoft YaHei"/>
              </a:rPr>
              <a:t>▸ </a:t>
            </a:r>
            <a:r>
              <a:rPr sz="1019" b="1">
                <a:solidFill>
                  <a:srgbClr val="1E3A8A"/>
                </a:solidFill>
                <a:latin typeface="Microsoft YaHei"/>
              </a:rPr>
              <a:t>安全先于性能：</a:t>
            </a:r>
            <a:r>
              <a:rPr sz="1019">
                <a:solidFill>
                  <a:srgbClr val="1E293B"/>
                </a:solidFill>
                <a:latin typeface="Microsoft YaHei"/>
              </a:rPr>
              <a:t>对象正文严格只读，持有权绑定租约，数据就绪后再发布目录</a:t>
            </a:r>
          </a:p>
        </p:txBody>
      </p:sp>
      <p:sp>
        <p:nvSpPr>
          <p:cNvPr id="16" name="Rectangle 15"/>
          <p:cNvSpPr/>
          <p:nvPr/>
        </p:nvSpPr>
        <p:spPr>
          <a:xfrm>
            <a:off x="6199632" y="3474720"/>
            <a:ext cx="5532120" cy="230428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9632" y="3474720"/>
            <a:ext cx="5532120" cy="34747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3511296"/>
            <a:ext cx="5312664" cy="274320"/>
          </a:xfrm>
          <a:prstGeom prst="rect">
            <a:avLst/>
          </a:prstGeom>
          <a:noFill/>
        </p:spPr>
        <p:txBody>
          <a:bodyPr wrap="none" lIns="0" tIns="0" rIns="0" bIns="0">
            <a:spAutoFit/>
          </a:bodyPr>
          <a:lstStyle/>
          <a:p>
            <a:pPr>
              <a:defRPr sz="1120" b="1">
                <a:solidFill>
                  <a:srgbClr val="FFFFFF"/>
                </a:solidFill>
                <a:latin typeface="Microsoft YaHei"/>
              </a:defRPr>
            </a:pPr>
            <a:r>
              <a:t>4. 系统实现必须遵守的四大工程约束</a:t>
            </a:r>
          </a:p>
          <a:p>
            <a:pPr algn="r">
              <a:defRPr sz="950" b="1">
                <a:solidFill>
                  <a:srgbClr val="BFDBFE"/>
                </a:solidFill>
                <a:latin typeface="Microsoft YaHei"/>
              </a:defRPr>
            </a:pPr>
            <a:r>
              <a:t>[生产级底线]</a:t>
            </a:r>
          </a:p>
        </p:txBody>
      </p:sp>
      <p:sp>
        <p:nvSpPr>
          <p:cNvPr id="19" name="TextBox 18"/>
          <p:cNvSpPr txBox="1"/>
          <p:nvPr/>
        </p:nvSpPr>
        <p:spPr>
          <a:xfrm>
            <a:off x="6199632" y="3840480"/>
            <a:ext cx="5532120" cy="1920240"/>
          </a:xfrm>
          <a:prstGeom prst="rect">
            <a:avLst/>
          </a:prstGeom>
          <a:noFill/>
        </p:spPr>
        <p:txBody>
          <a:bodyPr wrap="square" lIns="73152" tIns="73152" rIns="73152" bIns="73152">
            <a:spAutoFit/>
          </a:bodyPr>
          <a:lstStyle/>
          <a:p>
            <a:pPr>
              <a:lnSpc>
                <a:spcPct val="116000"/>
              </a:lnSpc>
              <a:spcAft>
                <a:spcPts val="420"/>
              </a:spcAft>
            </a:pPr>
            <a:r>
              <a:rPr sz="1019" b="1">
                <a:solidFill>
                  <a:srgbClr val="1E3A8A"/>
                </a:solidFill>
                <a:latin typeface="Microsoft YaHei"/>
              </a:rPr>
              <a:t>▸ </a:t>
            </a:r>
            <a:r>
              <a:rPr sz="1019" b="1">
                <a:solidFill>
                  <a:srgbClr val="1E3A8A"/>
                </a:solidFill>
                <a:latin typeface="Microsoft YaHei"/>
              </a:rPr>
              <a:t>越权越界红线：</a:t>
            </a:r>
            <a:r>
              <a:rPr sz="1019">
                <a:solidFill>
                  <a:srgbClr val="1E293B"/>
                </a:solidFill>
                <a:latin typeface="Microsoft YaHei"/>
              </a:rPr>
              <a:t>严禁接管框架算子显存；执行显存归框架，KVC 仅调度外部池</a:t>
            </a:r>
          </a:p>
          <a:p>
            <a:pPr>
              <a:lnSpc>
                <a:spcPct val="116000"/>
              </a:lnSpc>
              <a:spcAft>
                <a:spcPts val="420"/>
              </a:spcAft>
            </a:pPr>
            <a:r>
              <a:rPr sz="1019" b="1">
                <a:solidFill>
                  <a:srgbClr val="1E3A8A"/>
                </a:solidFill>
                <a:latin typeface="Microsoft YaHei"/>
              </a:rPr>
              <a:t>▸ </a:t>
            </a:r>
            <a:r>
              <a:rPr sz="1019" b="1">
                <a:solidFill>
                  <a:srgbClr val="1E3A8A"/>
                </a:solidFill>
                <a:latin typeface="Microsoft YaHei"/>
              </a:rPr>
              <a:t>数据搬运准则：</a:t>
            </a:r>
            <a:r>
              <a:rPr sz="1019">
                <a:solidFill>
                  <a:srgbClr val="1E293B"/>
                </a:solidFill>
                <a:latin typeface="Microsoft YaHei"/>
              </a:rPr>
              <a:t>基础直达路径 CPU 零拷贝；加解密与压缩实测评估 CPU 与 DPU 开销</a:t>
            </a:r>
          </a:p>
          <a:p>
            <a:pPr>
              <a:lnSpc>
                <a:spcPct val="116000"/>
              </a:lnSpc>
              <a:spcAft>
                <a:spcPts val="420"/>
              </a:spcAft>
            </a:pPr>
            <a:r>
              <a:rPr sz="1019" b="1">
                <a:solidFill>
                  <a:srgbClr val="1E3A8A"/>
                </a:solidFill>
                <a:latin typeface="Microsoft YaHei"/>
              </a:rPr>
              <a:t>▸ </a:t>
            </a:r>
            <a:r>
              <a:rPr sz="1019" b="1">
                <a:solidFill>
                  <a:srgbClr val="1E3A8A"/>
                </a:solidFill>
                <a:latin typeface="Microsoft YaHei"/>
              </a:rPr>
              <a:t>错误消费红线：</a:t>
            </a:r>
            <a:r>
              <a:rPr sz="1019">
                <a:solidFill>
                  <a:srgbClr val="1E293B"/>
                </a:solidFill>
                <a:latin typeface="Microsoft YaHei"/>
              </a:rPr>
              <a:t>6 维语义校验未通过或租约失效数据绝对禁止挂载接入，杜绝脏读与半写块</a:t>
            </a:r>
          </a:p>
          <a:p>
            <a:pPr>
              <a:lnSpc>
                <a:spcPct val="116000"/>
              </a:lnSpc>
              <a:spcAft>
                <a:spcPts val="420"/>
              </a:spcAft>
            </a:pPr>
            <a:r>
              <a:rPr sz="1019" b="1">
                <a:solidFill>
                  <a:srgbClr val="1E3A8A"/>
                </a:solidFill>
                <a:latin typeface="Microsoft YaHei"/>
              </a:rPr>
              <a:t>▸ </a:t>
            </a:r>
            <a:r>
              <a:rPr sz="1019" b="1">
                <a:solidFill>
                  <a:srgbClr val="1E3A8A"/>
                </a:solidFill>
                <a:latin typeface="Microsoft YaHei"/>
              </a:rPr>
              <a:t>架构去依赖红线：</a:t>
            </a:r>
            <a:r>
              <a:rPr sz="1019">
                <a:solidFill>
                  <a:srgbClr val="1E293B"/>
                </a:solidFill>
                <a:latin typeface="Microsoft YaHei"/>
              </a:rPr>
              <a:t>坚守标准驱动纯软主路径，网卡多播与 DPU 硬件卸载仅作为条件加速轨</a:t>
            </a:r>
          </a:p>
        </p:txBody>
      </p:sp>
      <p:sp>
        <p:nvSpPr>
          <p:cNvPr id="20" name="Rectangle 1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坚持工程诚信红线，严禁杜撰实测结论；以第一性原理分析系统瓶颈与时延构成，严格区分实测指标与推导算例，明确工程设计基线。</a:t>
            </a:r>
            <a:r>
              <a:rPr sz="1150" b="1">
                <a:solidFill>
                  <a:srgbClr val="DC2626"/>
                </a:solidFill>
                <a:latin typeface="Microsoft YaHei"/>
              </a:rPr>
              <a:t>
待验证指标严禁写成既成性能结论。</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专题一：软件四层架构全景与管理、控制、数据三面分工</a:t>
            </a:r>
          </a:p>
          <a:p>
            <a:pPr>
              <a:spcBef>
                <a:spcPts val="300"/>
              </a:spcBef>
              <a:defRPr sz="1100">
                <a:solidFill>
                  <a:srgbClr val="475569"/>
                </a:solidFill>
                <a:latin typeface="Microsoft YaHei"/>
              </a:defRPr>
            </a:pPr>
            <a:r>
              <a:t>四层用于接口契约责任分解，三面用于物理隔离；两者正交解耦，严禁混同为常驻进程数量</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15 页</a:t>
            </a:r>
          </a:p>
        </p:txBody>
      </p:sp>
      <p:sp>
        <p:nvSpPr>
          <p:cNvPr id="4" name="Rectangle 3"/>
          <p:cNvSpPr/>
          <p:nvPr/>
        </p:nvSpPr>
        <p:spPr>
          <a:xfrm>
            <a:off x="457200" y="1078992"/>
            <a:ext cx="8412480" cy="4681728"/>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70432"/>
            <a:ext cx="530352" cy="4498848"/>
          </a:xfrm>
          <a:prstGeom prst="rect">
            <a:avLst/>
          </a:prstGeom>
          <a:solidFill>
            <a:srgbClr val="F0F9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880" b="1">
                <a:solidFill>
                  <a:srgbClr val="2563EB"/>
                </a:solidFill>
                <a:latin typeface="Microsoft YaHei"/>
              </a:defRPr>
            </a:pPr>
            <a:r>
              <a:t>微</a:t>
            </a:r>
            <a:br/>
            <a:r>
              <a:t>秒</a:t>
            </a:r>
            <a:br/>
            <a:r>
              <a:t>控</a:t>
            </a:r>
            <a:br/>
            <a:r>
              <a:t>制</a:t>
            </a:r>
            <a:br/>
            <a:r>
              <a:t>流</a:t>
            </a:r>
            <a:br/>
            <a:br/>
            <a:r>
              <a:t>信</a:t>
            </a:r>
            <a:br/>
            <a:r>
              <a:t>令</a:t>
            </a:r>
            <a:br/>
            <a:r>
              <a:t>快</a:t>
            </a:r>
            <a:br/>
            <a:r>
              <a:t>路</a:t>
            </a:r>
            <a:br/>
            <a:r>
              <a:t>径</a:t>
            </a:r>
            <a:br/>
            <a:br/>
            <a:r>
              <a:t>P99</a:t>
            </a:r>
            <a:br/>
            <a:r>
              <a:t>&lt;</a:t>
            </a:r>
            <a:br/>
            <a:r>
              <a:t>5µs</a:t>
            </a:r>
          </a:p>
        </p:txBody>
      </p:sp>
      <p:sp>
        <p:nvSpPr>
          <p:cNvPr id="6" name="Rectangle 5"/>
          <p:cNvSpPr/>
          <p:nvPr/>
        </p:nvSpPr>
        <p:spPr>
          <a:xfrm>
            <a:off x="8247888" y="1170432"/>
            <a:ext cx="530352" cy="4498848"/>
          </a:xfrm>
          <a:prstGeom prst="rect">
            <a:avLst/>
          </a:prstGeom>
          <a:solidFill>
            <a:srgbClr val="ECFDF5"/>
          </a:solidFill>
          <a:ln w="15240">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880" b="1">
                <a:solidFill>
                  <a:srgbClr val="059669"/>
                </a:solidFill>
                <a:latin typeface="Microsoft YaHei"/>
              </a:defRPr>
            </a:pPr>
            <a:r>
              <a:t>零</a:t>
            </a:r>
            <a:br/>
            <a:r>
              <a:t>拷</a:t>
            </a:r>
            <a:br/>
            <a:r>
              <a:t>贝</a:t>
            </a:r>
            <a:br/>
            <a:r>
              <a:t>数</a:t>
            </a:r>
            <a:br/>
            <a:r>
              <a:t>据</a:t>
            </a:r>
            <a:br/>
            <a:r>
              <a:t>流</a:t>
            </a:r>
            <a:br/>
            <a:br/>
            <a:r>
              <a:t>硬</a:t>
            </a:r>
            <a:br/>
            <a:r>
              <a:t>件</a:t>
            </a:r>
            <a:br/>
            <a:r>
              <a:t>直</a:t>
            </a:r>
            <a:br/>
            <a:r>
              <a:t>通</a:t>
            </a:r>
            <a:br/>
            <a:br/>
            <a:r>
              <a:t>CPU</a:t>
            </a:r>
            <a:br/>
            <a:r>
              <a:t>零</a:t>
            </a:r>
            <a:br/>
            <a:r>
              <a:t>拷</a:t>
            </a:r>
            <a:br/>
            <a:r>
              <a:t>贝</a:t>
            </a:r>
          </a:p>
        </p:txBody>
      </p:sp>
      <p:sp>
        <p:nvSpPr>
          <p:cNvPr id="7" name="Rectangle 6"/>
          <p:cNvSpPr/>
          <p:nvPr/>
        </p:nvSpPr>
        <p:spPr>
          <a:xfrm>
            <a:off x="1170432" y="1170432"/>
            <a:ext cx="6986016" cy="1024128"/>
          </a:xfrm>
          <a:prstGeom prst="rect">
            <a:avLst/>
          </a:prstGeom>
          <a:solidFill>
            <a:srgbClr val="F0F9FF"/>
          </a:solidFill>
          <a:ln w="15240">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70432" y="1170432"/>
            <a:ext cx="6986016"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1207008"/>
            <a:ext cx="6766560" cy="182880"/>
          </a:xfrm>
          <a:prstGeom prst="rect">
            <a:avLst/>
          </a:prstGeom>
          <a:noFill/>
        </p:spPr>
        <p:txBody>
          <a:bodyPr wrap="none" lIns="0" tIns="0" rIns="0" bIns="0">
            <a:spAutoFit/>
          </a:bodyPr>
          <a:lstStyle/>
          <a:p>
            <a:pPr>
              <a:defRPr sz="950" b="1">
                <a:solidFill>
                  <a:srgbClr val="FFFFFF"/>
                </a:solidFill>
                <a:latin typeface="Microsoft YaHei"/>
              </a:defRPr>
            </a:pPr>
            <a:r>
              <a:t>L1 框架适配层 (接入层) · 进程内运行库 libkvc_runtime · 框架拥有执行显存</a:t>
            </a:r>
          </a:p>
        </p:txBody>
      </p:sp>
      <p:sp>
        <p:nvSpPr>
          <p:cNvPr id="10" name="Rectangle 9"/>
          <p:cNvSpPr/>
          <p:nvPr/>
        </p:nvSpPr>
        <p:spPr>
          <a:xfrm>
            <a:off x="1243584" y="1481328"/>
            <a:ext cx="2249424" cy="65836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1E3A8A"/>
                </a:solidFill>
                <a:latin typeface="Microsoft YaHei"/>
              </a:defRPr>
            </a:pPr>
            <a:r>
              <a:t>虚拟挂载与访问意图</a:t>
            </a:r>
          </a:p>
          <a:p>
            <a:pPr>
              <a:spcBef>
                <a:spcPts val="200"/>
              </a:spcBef>
              <a:defRPr sz="780">
                <a:solidFill>
                  <a:srgbClr val="475569"/>
                </a:solidFill>
                <a:latin typeface="Microsoft YaHei"/>
              </a:defRPr>
            </a:pPr>
            <a:r>
              <a:t>KVAccessIntent 挂载句柄</a:t>
            </a:r>
            <a:br/>
            <a:r>
              <a:t>推理框架独占运行时显存分配</a:t>
            </a:r>
          </a:p>
        </p:txBody>
      </p:sp>
      <p:sp>
        <p:nvSpPr>
          <p:cNvPr id="11" name="Rectangle 10"/>
          <p:cNvSpPr/>
          <p:nvPr/>
        </p:nvSpPr>
        <p:spPr>
          <a:xfrm>
            <a:off x="3538728" y="1481328"/>
            <a:ext cx="2249424" cy="65836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1E3A8A"/>
                </a:solidFill>
                <a:latin typeface="Microsoft YaHei"/>
              </a:defRPr>
            </a:pPr>
            <a:r>
              <a:t>前缀预算与准入控制</a:t>
            </a:r>
          </a:p>
          <a:p>
            <a:pPr>
              <a:spcBef>
                <a:spcPts val="200"/>
              </a:spcBef>
              <a:defRPr sz="780">
                <a:solidFill>
                  <a:srgbClr val="475569"/>
                </a:solidFill>
                <a:latin typeface="Microsoft YaHei"/>
              </a:defRPr>
            </a:pPr>
            <a:r>
              <a:t>Token 序列 64位哈希提取</a:t>
            </a:r>
            <a:br/>
            <a:r>
              <a:t>SLO 剩余预算前置核验</a:t>
            </a:r>
          </a:p>
        </p:txBody>
      </p:sp>
      <p:sp>
        <p:nvSpPr>
          <p:cNvPr id="12" name="Rectangle 11"/>
          <p:cNvSpPr/>
          <p:nvPr/>
        </p:nvSpPr>
        <p:spPr>
          <a:xfrm>
            <a:off x="5833872" y="1481328"/>
            <a:ext cx="2249424" cy="65836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1E3A8A"/>
                </a:solidFill>
                <a:latin typeface="Microsoft YaHei"/>
              </a:defRPr>
            </a:pPr>
            <a:r>
              <a:t>缓存感知路由与多卡协同</a:t>
            </a:r>
          </a:p>
          <a:p>
            <a:pPr>
              <a:spcBef>
                <a:spcPts val="200"/>
              </a:spcBef>
              <a:defRPr sz="780">
                <a:solidFill>
                  <a:srgbClr val="475569"/>
                </a:solidFill>
                <a:latin typeface="Microsoft YaHei"/>
              </a:defRPr>
            </a:pPr>
            <a:r>
              <a:t>前缀匹配度评分与算力路由</a:t>
            </a:r>
            <a:br/>
            <a:r>
              <a:t>TP=8 RankConsensus 组内协同</a:t>
            </a:r>
          </a:p>
        </p:txBody>
      </p:sp>
      <p:sp>
        <p:nvSpPr>
          <p:cNvPr id="13" name="Rectangle 12"/>
          <p:cNvSpPr/>
          <p:nvPr/>
        </p:nvSpPr>
        <p:spPr>
          <a:xfrm>
            <a:off x="1170432" y="2286000"/>
            <a:ext cx="6986016" cy="1097280"/>
          </a:xfrm>
          <a:prstGeom prst="rect">
            <a:avLst/>
          </a:prstGeom>
          <a:solidFill>
            <a:srgbClr val="F5F3FF"/>
          </a:solidFill>
          <a:ln w="15240">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70432" y="2286000"/>
            <a:ext cx="6986016" cy="25603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80160" y="2322576"/>
            <a:ext cx="6766560" cy="182880"/>
          </a:xfrm>
          <a:prstGeom prst="rect">
            <a:avLst/>
          </a:prstGeom>
          <a:noFill/>
        </p:spPr>
        <p:txBody>
          <a:bodyPr wrap="none" lIns="0" tIns="0" rIns="0" bIns="0">
            <a:spAutoFit/>
          </a:bodyPr>
          <a:lstStyle/>
          <a:p>
            <a:pPr>
              <a:defRPr sz="950" b="1">
                <a:solidFill>
                  <a:srgbClr val="FFFFFF"/>
                </a:solidFill>
                <a:latin typeface="Microsoft YaHei"/>
              </a:defRPr>
            </a:pPr>
            <a:r>
              <a:t>L2 核心调度与控制面 · 查询决策引擎与分片目录 · 微秒级纯信令处理</a:t>
            </a:r>
          </a:p>
        </p:txBody>
      </p:sp>
      <p:sp>
        <p:nvSpPr>
          <p:cNvPr id="16" name="Rectangle 15"/>
          <p:cNvSpPr/>
          <p:nvPr/>
        </p:nvSpPr>
        <p:spPr>
          <a:xfrm>
            <a:off x="1243584" y="2596896"/>
            <a:ext cx="1673352" cy="731520"/>
          </a:xfrm>
          <a:prstGeom prst="rect">
            <a:avLst/>
          </a:prstGeom>
          <a:solidFill>
            <a:srgbClr val="FFFF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6D28D9"/>
                </a:solidFill>
                <a:latin typeface="Microsoft YaHei"/>
              </a:defRPr>
            </a:pPr>
            <a:r>
              <a:t>ART 无锁前缀树</a:t>
            </a:r>
          </a:p>
          <a:p>
            <a:pPr>
              <a:spcBef>
                <a:spcPts val="200"/>
              </a:spcBef>
              <a:defRPr sz="780">
                <a:solidFill>
                  <a:srgbClr val="475569"/>
                </a:solidFill>
                <a:latin typeface="Microsoft YaHei"/>
              </a:defRPr>
            </a:pPr>
            <a:r>
              <a:t>自适应基数树快照</a:t>
            </a:r>
            <a:br/>
            <a:r>
              <a:t>P99 &lt; 2µs 本地遍历</a:t>
            </a:r>
          </a:p>
        </p:txBody>
      </p:sp>
      <p:sp>
        <p:nvSpPr>
          <p:cNvPr id="17" name="Rectangle 16"/>
          <p:cNvSpPr/>
          <p:nvPr/>
        </p:nvSpPr>
        <p:spPr>
          <a:xfrm>
            <a:off x="2962656" y="2596896"/>
            <a:ext cx="1673352" cy="731520"/>
          </a:xfrm>
          <a:prstGeom prst="rect">
            <a:avLst/>
          </a:prstGeom>
          <a:solidFill>
            <a:srgbClr val="FFFF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6D28D9"/>
                </a:solidFill>
                <a:latin typeface="Microsoft YaHei"/>
              </a:defRPr>
            </a:pPr>
            <a:r>
              <a:t>QueryPlan 选路决策</a:t>
            </a:r>
          </a:p>
          <a:p>
            <a:pPr>
              <a:spcBef>
                <a:spcPts val="200"/>
              </a:spcBef>
              <a:defRPr sz="780">
                <a:solidFill>
                  <a:srgbClr val="475569"/>
                </a:solidFill>
                <a:latin typeface="Microsoft YaHei"/>
              </a:defRPr>
            </a:pPr>
            <a:r>
              <a:t>CostEvaluator 成本模型</a:t>
            </a:r>
            <a:br/>
            <a:r>
              <a:t>净加速收益前置确认</a:t>
            </a:r>
          </a:p>
        </p:txBody>
      </p:sp>
      <p:sp>
        <p:nvSpPr>
          <p:cNvPr id="18" name="Rectangle 17"/>
          <p:cNvSpPr/>
          <p:nvPr/>
        </p:nvSpPr>
        <p:spPr>
          <a:xfrm>
            <a:off x="4681728" y="2596896"/>
            <a:ext cx="1673352" cy="731520"/>
          </a:xfrm>
          <a:prstGeom prst="rect">
            <a:avLst/>
          </a:prstGeom>
          <a:solidFill>
            <a:srgbClr val="FFFF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6D28D9"/>
                </a:solidFill>
                <a:latin typeface="Microsoft YaHei"/>
              </a:defRPr>
            </a:pPr>
            <a:r>
              <a:t>6维语义校验引擎</a:t>
            </a:r>
          </a:p>
          <a:p>
            <a:pPr>
              <a:spcBef>
                <a:spcPts val="200"/>
              </a:spcBef>
              <a:defRPr sz="780">
                <a:solidFill>
                  <a:srgbClr val="475569"/>
                </a:solidFill>
                <a:latin typeface="Microsoft YaHei"/>
              </a:defRPr>
            </a:pPr>
            <a:r>
              <a:t>ConsumeEligibility</a:t>
            </a:r>
            <a:br/>
            <a:r>
              <a:t>模型/词表/租约零错误消费</a:t>
            </a:r>
          </a:p>
        </p:txBody>
      </p:sp>
      <p:sp>
        <p:nvSpPr>
          <p:cNvPr id="19" name="Rectangle 18"/>
          <p:cNvSpPr/>
          <p:nvPr/>
        </p:nvSpPr>
        <p:spPr>
          <a:xfrm>
            <a:off x="6400800" y="2596896"/>
            <a:ext cx="1673352" cy="731520"/>
          </a:xfrm>
          <a:prstGeom prst="rect">
            <a:avLst/>
          </a:prstGeom>
          <a:solidFill>
            <a:srgbClr val="FFFF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6D28D9"/>
                </a:solidFill>
                <a:latin typeface="Microsoft YaHei"/>
              </a:defRPr>
            </a:pPr>
            <a:r>
              <a:t>分片目录集群</a:t>
            </a:r>
          </a:p>
          <a:p>
            <a:pPr>
              <a:spcBef>
                <a:spcPts val="200"/>
              </a:spcBef>
              <a:defRPr sz="780">
                <a:solidFill>
                  <a:srgbClr val="475569"/>
                </a:solidFill>
                <a:latin typeface="Microsoft YaHei"/>
              </a:defRPr>
            </a:pPr>
            <a:r>
              <a:t>kvc-directory 3节点共识</a:t>
            </a:r>
            <a:br/>
            <a:r>
              <a:t>Slot 0..1023 哈希分片发现</a:t>
            </a:r>
          </a:p>
        </p:txBody>
      </p:sp>
      <p:sp>
        <p:nvSpPr>
          <p:cNvPr id="20" name="Rectangle 19"/>
          <p:cNvSpPr/>
          <p:nvPr/>
        </p:nvSpPr>
        <p:spPr>
          <a:xfrm>
            <a:off x="1170432" y="3474720"/>
            <a:ext cx="6986016" cy="1097280"/>
          </a:xfrm>
          <a:prstGeom prst="rect">
            <a:avLst/>
          </a:prstGeom>
          <a:solidFill>
            <a:srgbClr val="ECFDF5"/>
          </a:solidFill>
          <a:ln w="15240">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70432" y="3474720"/>
            <a:ext cx="6986016" cy="25603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3511296"/>
            <a:ext cx="6766560" cy="182880"/>
          </a:xfrm>
          <a:prstGeom prst="rect">
            <a:avLst/>
          </a:prstGeom>
          <a:noFill/>
        </p:spPr>
        <p:txBody>
          <a:bodyPr wrap="none" lIns="0" tIns="0" rIns="0" bIns="0">
            <a:spAutoFit/>
          </a:bodyPr>
          <a:lstStyle/>
          <a:p>
            <a:pPr>
              <a:defRPr sz="950" b="1">
                <a:solidFill>
                  <a:srgbClr val="FFFFFF"/>
                </a:solidFill>
                <a:latin typeface="Microsoft YaHei"/>
              </a:defRPr>
            </a:pPr>
            <a:r>
              <a:t>L3 原厂极速底座 (KPCL) · 统一总线通信与分层存储 · Host CPU 零数据拷贝</a:t>
            </a:r>
          </a:p>
        </p:txBody>
      </p:sp>
      <p:sp>
        <p:nvSpPr>
          <p:cNvPr id="23" name="Rectangle 22"/>
          <p:cNvSpPr/>
          <p:nvPr/>
        </p:nvSpPr>
        <p:spPr>
          <a:xfrm>
            <a:off x="1243584" y="3785616"/>
            <a:ext cx="1673352" cy="731520"/>
          </a:xfrm>
          <a:prstGeom prst="rect">
            <a:avLst/>
          </a:prstGeom>
          <a:solidFill>
            <a:srgbClr val="FFFFFF"/>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059669"/>
                </a:solidFill>
                <a:latin typeface="Microsoft YaHei"/>
              </a:defRPr>
            </a:pPr>
            <a:r>
              <a:t>连续块清单描述符</a:t>
            </a:r>
          </a:p>
          <a:p>
            <a:pPr>
              <a:spcBef>
                <a:spcPts val="200"/>
              </a:spcBef>
              <a:defRPr sz="780">
                <a:solidFill>
                  <a:srgbClr val="475569"/>
                </a:solidFill>
                <a:latin typeface="Microsoft YaHei"/>
              </a:defRPr>
            </a:pPr>
            <a:r>
              <a:t>64B POD Extent 描述符</a:t>
            </a:r>
            <a:br/>
            <a:r>
              <a:t>O(N) 贪心合并降低开销</a:t>
            </a:r>
          </a:p>
        </p:txBody>
      </p:sp>
      <p:sp>
        <p:nvSpPr>
          <p:cNvPr id="24" name="Rectangle 23"/>
          <p:cNvSpPr/>
          <p:nvPr/>
        </p:nvSpPr>
        <p:spPr>
          <a:xfrm>
            <a:off x="2962656" y="3785616"/>
            <a:ext cx="1673352" cy="731520"/>
          </a:xfrm>
          <a:prstGeom prst="rect">
            <a:avLst/>
          </a:prstGeom>
          <a:solidFill>
            <a:srgbClr val="FFFFFF"/>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059669"/>
                </a:solidFill>
                <a:latin typeface="Microsoft YaHei"/>
              </a:defRPr>
            </a:pPr>
            <a:r>
              <a:t>异步 DAG 边算边传</a:t>
            </a:r>
          </a:p>
          <a:p>
            <a:pPr>
              <a:spcBef>
                <a:spcPts val="200"/>
              </a:spcBef>
              <a:defRPr sz="780">
                <a:solidFill>
                  <a:srgbClr val="475569"/>
                </a:solidFill>
                <a:latin typeface="Microsoft YaHei"/>
              </a:defRPr>
            </a:pPr>
            <a:r>
              <a:t>NPU Stream/Event 编排</a:t>
            </a:r>
            <a:br/>
            <a:r>
              <a:t>消灭 85% 首字等待气泡</a:t>
            </a:r>
          </a:p>
        </p:txBody>
      </p:sp>
      <p:sp>
        <p:nvSpPr>
          <p:cNvPr id="25" name="Rectangle 24"/>
          <p:cNvSpPr/>
          <p:nvPr/>
        </p:nvSpPr>
        <p:spPr>
          <a:xfrm>
            <a:off x="4681728" y="3785616"/>
            <a:ext cx="1673352" cy="731520"/>
          </a:xfrm>
          <a:prstGeom prst="rect">
            <a:avLst/>
          </a:prstGeom>
          <a:solidFill>
            <a:srgbClr val="FFFFFF"/>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059669"/>
                </a:solidFill>
                <a:latin typeface="Microsoft YaHei"/>
              </a:defRPr>
            </a:pPr>
            <a:r>
              <a:t>UBMEM 直读与 URMA</a:t>
            </a:r>
          </a:p>
          <a:p>
            <a:pPr>
              <a:spcBef>
                <a:spcPts val="200"/>
              </a:spcBef>
              <a:defRPr sz="780">
                <a:solidFill>
                  <a:srgbClr val="475569"/>
                </a:solidFill>
                <a:latin typeface="Microsoft YaHei"/>
              </a:defRPr>
            </a:pPr>
            <a:r>
              <a:t>Direct-View 跨卡直读</a:t>
            </a:r>
            <a:br/>
            <a:r>
              <a:t>DMA 直达 NPU HBM 显存</a:t>
            </a:r>
          </a:p>
        </p:txBody>
      </p:sp>
      <p:sp>
        <p:nvSpPr>
          <p:cNvPr id="26" name="Rectangle 25"/>
          <p:cNvSpPr/>
          <p:nvPr/>
        </p:nvSpPr>
        <p:spPr>
          <a:xfrm>
            <a:off x="6400800" y="3785616"/>
            <a:ext cx="1673352" cy="731520"/>
          </a:xfrm>
          <a:prstGeom prst="rect">
            <a:avLst/>
          </a:prstGeom>
          <a:solidFill>
            <a:srgbClr val="FFFFFF"/>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059669"/>
                </a:solidFill>
                <a:latin typeface="Microsoft YaHei"/>
              </a:defRPr>
            </a:pPr>
            <a:r>
              <a:t>三介质分层存储</a:t>
            </a:r>
          </a:p>
          <a:p>
            <a:pPr>
              <a:spcBef>
                <a:spcPts val="200"/>
              </a:spcBef>
              <a:defRPr sz="780">
                <a:solidFill>
                  <a:srgbClr val="475569"/>
                </a:solidFill>
                <a:latin typeface="Microsoft YaHei"/>
              </a:defRPr>
            </a:pPr>
            <a:r>
              <a:t>HBM热执行 / DDR温扩展</a:t>
            </a:r>
            <a:br/>
            <a:r>
              <a:t>NVMe SSD 裸盘冷沉淀</a:t>
            </a:r>
          </a:p>
        </p:txBody>
      </p:sp>
      <p:sp>
        <p:nvSpPr>
          <p:cNvPr id="27" name="Rectangle 26"/>
          <p:cNvSpPr/>
          <p:nvPr/>
        </p:nvSpPr>
        <p:spPr>
          <a:xfrm>
            <a:off x="1170432" y="4663440"/>
            <a:ext cx="6986016" cy="1005840"/>
          </a:xfrm>
          <a:prstGeom prst="rect">
            <a:avLst/>
          </a:prstGeom>
          <a:solidFill>
            <a:srgbClr val="FFFBEB"/>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170432" y="4663440"/>
            <a:ext cx="6986016" cy="25603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80160" y="4700016"/>
            <a:ext cx="6766560" cy="182880"/>
          </a:xfrm>
          <a:prstGeom prst="rect">
            <a:avLst/>
          </a:prstGeom>
          <a:noFill/>
        </p:spPr>
        <p:txBody>
          <a:bodyPr wrap="none" lIns="0" tIns="0" rIns="0" bIns="0">
            <a:spAutoFit/>
          </a:bodyPr>
          <a:lstStyle/>
          <a:p>
            <a:pPr>
              <a:defRPr sz="950" b="1">
                <a:solidFill>
                  <a:srgbClr val="FFFFFF"/>
                </a:solidFill>
                <a:latin typeface="Microsoft YaHei"/>
              </a:defRPr>
            </a:pPr>
            <a:r>
              <a:t>管理与可靠性保障 · etcd 持久配置 / 节点代理 kvc-node / 遥测探针</a:t>
            </a:r>
          </a:p>
        </p:txBody>
      </p:sp>
      <p:sp>
        <p:nvSpPr>
          <p:cNvPr id="30" name="Rectangle 29"/>
          <p:cNvSpPr/>
          <p:nvPr/>
        </p:nvSpPr>
        <p:spPr>
          <a:xfrm>
            <a:off x="1243584" y="4974336"/>
            <a:ext cx="1673352" cy="640080"/>
          </a:xfrm>
          <a:prstGeom prst="rect">
            <a:avLst/>
          </a:prstGeom>
          <a:solidFill>
            <a:srgbClr val="FFFFFF"/>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B45309"/>
                </a:solidFill>
                <a:latin typeface="Microsoft YaHei"/>
              </a:defRPr>
            </a:pPr>
            <a:r>
              <a:t>etcd 静态拓扑集群</a:t>
            </a:r>
          </a:p>
          <a:p>
            <a:pPr>
              <a:spcBef>
                <a:spcPts val="200"/>
              </a:spcBef>
              <a:defRPr sz="780">
                <a:solidFill>
                  <a:srgbClr val="475569"/>
                </a:solidFill>
                <a:latin typeface="Microsoft YaHei"/>
              </a:defRPr>
            </a:pPr>
            <a:r>
              <a:t>集群网络物理拓扑与配额</a:t>
            </a:r>
            <a:br/>
            <a:r>
              <a:t>极低频写入，绝不入热路径</a:t>
            </a:r>
          </a:p>
        </p:txBody>
      </p:sp>
      <p:sp>
        <p:nvSpPr>
          <p:cNvPr id="31" name="Rectangle 30"/>
          <p:cNvSpPr/>
          <p:nvPr/>
        </p:nvSpPr>
        <p:spPr>
          <a:xfrm>
            <a:off x="2962656" y="4974336"/>
            <a:ext cx="1673352" cy="640080"/>
          </a:xfrm>
          <a:prstGeom prst="rect">
            <a:avLst/>
          </a:prstGeom>
          <a:solidFill>
            <a:srgbClr val="FFFFFF"/>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B45309"/>
                </a:solidFill>
                <a:latin typeface="Microsoft YaHei"/>
              </a:defRPr>
            </a:pPr>
            <a:r>
              <a:t>节点代理 kvc-node</a:t>
            </a:r>
          </a:p>
          <a:p>
            <a:pPr>
              <a:spcBef>
                <a:spcPts val="200"/>
              </a:spcBef>
              <a:defRPr sz="780">
                <a:solidFill>
                  <a:srgbClr val="475569"/>
                </a:solidFill>
                <a:latin typeface="Microsoft YaHei"/>
              </a:defRPr>
            </a:pPr>
            <a:r>
              <a:t>POSIX 共享内存租约 Epoch</a:t>
            </a:r>
            <a:br/>
            <a:r>
              <a:t>能力矩阵快照与介质分配</a:t>
            </a:r>
          </a:p>
        </p:txBody>
      </p:sp>
      <p:sp>
        <p:nvSpPr>
          <p:cNvPr id="32" name="Rectangle 31"/>
          <p:cNvSpPr/>
          <p:nvPr/>
        </p:nvSpPr>
        <p:spPr>
          <a:xfrm>
            <a:off x="4681728" y="4974336"/>
            <a:ext cx="1673352" cy="640080"/>
          </a:xfrm>
          <a:prstGeom prst="rect">
            <a:avLst/>
          </a:prstGeom>
          <a:solidFill>
            <a:srgbClr val="FFFFFF"/>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B45309"/>
                </a:solidFill>
                <a:latin typeface="Microsoft YaHei"/>
              </a:defRPr>
            </a:pPr>
            <a:r>
              <a:t>ViewGuard 容错守卫</a:t>
            </a:r>
          </a:p>
          <a:p>
            <a:pPr>
              <a:spcBef>
                <a:spcPts val="200"/>
              </a:spcBef>
              <a:defRPr sz="780">
                <a:solidFill>
                  <a:srgbClr val="475569"/>
                </a:solidFill>
                <a:latin typeface="Microsoft YaHei"/>
              </a:defRPr>
            </a:pPr>
            <a:r>
              <a:t>跨节点直读 SIGBUS 捕获</a:t>
            </a:r>
            <a:br/>
            <a:r>
              <a:t>500µs 极速跳出回退本地重算</a:t>
            </a:r>
          </a:p>
        </p:txBody>
      </p:sp>
      <p:sp>
        <p:nvSpPr>
          <p:cNvPr id="33" name="Rectangle 32"/>
          <p:cNvSpPr/>
          <p:nvPr/>
        </p:nvSpPr>
        <p:spPr>
          <a:xfrm>
            <a:off x="6400800" y="4974336"/>
            <a:ext cx="1673352" cy="640080"/>
          </a:xfrm>
          <a:prstGeom prst="rect">
            <a:avLst/>
          </a:prstGeom>
          <a:solidFill>
            <a:srgbClr val="FFFFFF"/>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defRPr sz="880" b="1">
                <a:solidFill>
                  <a:srgbClr val="B45309"/>
                </a:solidFill>
                <a:latin typeface="Microsoft YaHei"/>
              </a:defRPr>
            </a:pPr>
            <a:r>
              <a:t>遥测探针与 QoS 隔离</a:t>
            </a:r>
          </a:p>
          <a:p>
            <a:pPr>
              <a:spcBef>
                <a:spcPts val="200"/>
              </a:spcBef>
              <a:defRPr sz="780">
                <a:solidFill>
                  <a:srgbClr val="475569"/>
                </a:solidFill>
                <a:latin typeface="Microsoft YaHei"/>
              </a:defRPr>
            </a:pPr>
            <a:r>
              <a:t>Telemetry 微秒级探针</a:t>
            </a:r>
            <a:br/>
            <a:r>
              <a:t>TC0/TC1 硬件优先级映射</a:t>
            </a:r>
          </a:p>
        </p:txBody>
      </p:sp>
      <p:sp>
        <p:nvSpPr>
          <p:cNvPr id="34" name="Rectangle 33"/>
          <p:cNvSpPr/>
          <p:nvPr/>
        </p:nvSpPr>
        <p:spPr>
          <a:xfrm>
            <a:off x="9006840" y="1078992"/>
            <a:ext cx="272491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06840" y="1078992"/>
            <a:ext cx="2724912"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16568" y="1115568"/>
            <a:ext cx="2505456" cy="292608"/>
          </a:xfrm>
          <a:prstGeom prst="rect">
            <a:avLst/>
          </a:prstGeom>
          <a:noFill/>
        </p:spPr>
        <p:txBody>
          <a:bodyPr wrap="none" lIns="0" tIns="0" rIns="0" bIns="0">
            <a:spAutoFit/>
          </a:bodyPr>
          <a:lstStyle/>
          <a:p>
            <a:pPr>
              <a:defRPr sz="1150" b="1">
                <a:solidFill>
                  <a:srgbClr val="FFFFFF"/>
                </a:solidFill>
                <a:latin typeface="Microsoft YaHei"/>
              </a:defRPr>
            </a:pPr>
            <a:r>
              <a:t>核心架构边界与职责划分</a:t>
            </a:r>
          </a:p>
        </p:txBody>
      </p:sp>
      <p:sp>
        <p:nvSpPr>
          <p:cNvPr id="37" name="TextBox 36"/>
          <p:cNvSpPr txBox="1"/>
          <p:nvPr/>
        </p:nvSpPr>
        <p:spPr>
          <a:xfrm>
            <a:off x="9006840" y="1463040"/>
            <a:ext cx="2724912" cy="4270248"/>
          </a:xfrm>
          <a:prstGeom prst="rect">
            <a:avLst/>
          </a:prstGeom>
          <a:noFill/>
        </p:spPr>
        <p:txBody>
          <a:bodyPr wrap="square" lIns="73152" tIns="73152" rIns="73152" bIns="73152">
            <a:spAutoFit/>
          </a:bodyPr>
          <a:lstStyle/>
          <a:p>
            <a:pPr>
              <a:lnSpc>
                <a:spcPct val="115000"/>
              </a:lnSpc>
              <a:spcAft>
                <a:spcPts val="420"/>
              </a:spcAft>
            </a:pPr>
            <a:r>
              <a:rPr sz="919" b="1">
                <a:solidFill>
                  <a:srgbClr val="1E3A8A"/>
                </a:solidFill>
                <a:latin typeface="Microsoft YaHei"/>
              </a:rPr>
              <a:t>▸ </a:t>
            </a:r>
            <a:r>
              <a:rPr sz="919" b="1">
                <a:solidFill>
                  <a:srgbClr val="1E3A8A"/>
                </a:solidFill>
                <a:latin typeface="Microsoft YaHei"/>
              </a:rPr>
              <a:t>L1 框架接入层：</a:t>
            </a:r>
            <a:r>
              <a:rPr sz="919">
                <a:solidFill>
                  <a:srgbClr val="1E293B"/>
                </a:solidFill>
                <a:latin typeface="Microsoft YaHei"/>
              </a:rPr>
              <a:t>提供访问意图、剩余预算与目标缓冲，框架继续拥有执行显存</a:t>
            </a:r>
          </a:p>
          <a:p>
            <a:pPr>
              <a:lnSpc>
                <a:spcPct val="115000"/>
              </a:lnSpc>
              <a:spcAft>
                <a:spcPts val="420"/>
              </a:spcAft>
            </a:pPr>
            <a:r>
              <a:rPr sz="919" b="1">
                <a:solidFill>
                  <a:srgbClr val="1E3A8A"/>
                </a:solidFill>
                <a:latin typeface="Microsoft YaHei"/>
              </a:rPr>
              <a:t>▸ </a:t>
            </a:r>
            <a:r>
              <a:rPr sz="919" b="1">
                <a:solidFill>
                  <a:srgbClr val="1E3A8A"/>
                </a:solidFill>
                <a:latin typeface="Microsoft YaHei"/>
              </a:rPr>
              <a:t>L2 控制决策层：</a:t>
            </a:r>
            <a:r>
              <a:rPr sz="919">
                <a:solidFill>
                  <a:srgbClr val="1E293B"/>
                </a:solidFill>
                <a:latin typeface="Microsoft YaHei"/>
              </a:rPr>
              <a:t>快速查前缀、核验6维语义与管理租约，微秒决策且不碰正文</a:t>
            </a:r>
          </a:p>
          <a:p>
            <a:pPr>
              <a:lnSpc>
                <a:spcPct val="115000"/>
              </a:lnSpc>
              <a:spcAft>
                <a:spcPts val="420"/>
              </a:spcAft>
            </a:pPr>
            <a:r>
              <a:rPr sz="919" b="1">
                <a:solidFill>
                  <a:srgbClr val="1E3A8A"/>
                </a:solidFill>
                <a:latin typeface="Microsoft YaHei"/>
              </a:rPr>
              <a:t>▸ </a:t>
            </a:r>
            <a:r>
              <a:rPr sz="919" b="1">
                <a:solidFill>
                  <a:srgbClr val="1E3A8A"/>
                </a:solidFill>
                <a:latin typeface="Microsoft YaHei"/>
              </a:rPr>
              <a:t>L3 分层存储层：</a:t>
            </a:r>
            <a:r>
              <a:rPr sz="919">
                <a:solidFill>
                  <a:srgbClr val="1E293B"/>
                </a:solidFill>
                <a:latin typeface="Microsoft YaHei"/>
              </a:rPr>
              <a:t>维护不可变对象、连续块描述符 (ExtentManifest) 与三介质状态机</a:t>
            </a:r>
          </a:p>
          <a:p>
            <a:pPr>
              <a:lnSpc>
                <a:spcPct val="115000"/>
              </a:lnSpc>
              <a:spcAft>
                <a:spcPts val="420"/>
              </a:spcAft>
            </a:pPr>
            <a:r>
              <a:rPr sz="919" b="1">
                <a:solidFill>
                  <a:srgbClr val="1E3A8A"/>
                </a:solidFill>
                <a:latin typeface="Microsoft YaHei"/>
              </a:rPr>
              <a:t>▸ </a:t>
            </a:r>
            <a:r>
              <a:rPr sz="919" b="1">
                <a:solidFill>
                  <a:srgbClr val="1E3A8A"/>
                </a:solidFill>
                <a:latin typeface="Microsoft YaHei"/>
              </a:rPr>
              <a:t>L4 极速传输层：</a:t>
            </a:r>
            <a:r>
              <a:rPr sz="919">
                <a:solidFill>
                  <a:srgbClr val="1E293B"/>
                </a:solidFill>
                <a:latin typeface="Microsoft YaHei"/>
              </a:rPr>
              <a:t>通信库封装异构底层总线与裸盘，以 DMA 直达显存，Host 零数据拷贝</a:t>
            </a:r>
          </a:p>
          <a:p>
            <a:pPr>
              <a:lnSpc>
                <a:spcPct val="115000"/>
              </a:lnSpc>
              <a:spcAft>
                <a:spcPts val="420"/>
              </a:spcAft>
            </a:pPr>
            <a:r>
              <a:rPr sz="919" b="1">
                <a:solidFill>
                  <a:srgbClr val="1E3A8A"/>
                </a:solidFill>
                <a:latin typeface="Microsoft YaHei"/>
              </a:rPr>
              <a:t>▸ </a:t>
            </a:r>
            <a:r>
              <a:rPr sz="919" b="1">
                <a:solidFill>
                  <a:srgbClr val="1E3A8A"/>
                </a:solidFill>
                <a:latin typeface="Microsoft YaHei"/>
              </a:rPr>
              <a:t>三面物理隔离：</a:t>
            </a:r>
            <a:r>
              <a:rPr sz="919">
                <a:solidFill>
                  <a:srgbClr val="1E293B"/>
                </a:solidFill>
                <a:latin typeface="Microsoft YaHei"/>
              </a:rPr>
              <a:t>管理层不进单请求路径；控制面读写分离；数据面前后台硬件队列隔离</a:t>
            </a:r>
          </a:p>
        </p:txBody>
      </p:sp>
      <p:sp>
        <p:nvSpPr>
          <p:cNvPr id="38" name="Rectangle 3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控制面微秒决策与数据面零拷贝双流分离；执行 HBM 归框架，KVC 负责跨节点分层调度。</a:t>
            </a:r>
            <a:r>
              <a:rPr sz="1150" b="1">
                <a:solidFill>
                  <a:srgbClr val="DC2626"/>
                </a:solidFill>
                <a:latin typeface="Microsoft YaHei"/>
              </a:rPr>
              <a:t>
Host CPU 负责控制下发，数据搬运通过硬件直通绕过主机内存。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专题二：分布式拓扑与五大进程实体分布与交互模型</a:t>
            </a:r>
          </a:p>
          <a:p>
            <a:pPr>
              <a:spcBef>
                <a:spcPts val="300"/>
              </a:spcBef>
              <a:defRPr sz="1100">
                <a:solidFill>
                  <a:srgbClr val="475569"/>
                </a:solidFill>
                <a:latin typeface="Microsoft YaHei"/>
              </a:defRPr>
            </a:pPr>
            <a:r>
              <a:t>控制面下沉至推理工作进程内部降低 IPC 损耗，资源分配与分片目录解耦为独立守护进程</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15 页</a:t>
            </a:r>
          </a:p>
        </p:txBody>
      </p:sp>
      <p:sp>
        <p:nvSpPr>
          <p:cNvPr id="4" name="Rectangle 3"/>
          <p:cNvSpPr/>
          <p:nvPr/>
        </p:nvSpPr>
        <p:spPr>
          <a:xfrm>
            <a:off x="457200" y="1078992"/>
            <a:ext cx="3429000" cy="4681728"/>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78992"/>
            <a:ext cx="342900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115568"/>
            <a:ext cx="3209544" cy="274320"/>
          </a:xfrm>
          <a:prstGeom prst="rect">
            <a:avLst/>
          </a:prstGeom>
          <a:noFill/>
        </p:spPr>
        <p:txBody>
          <a:bodyPr wrap="none" lIns="0" tIns="0" rIns="0" bIns="0">
            <a:spAutoFit/>
          </a:bodyPr>
          <a:lstStyle/>
          <a:p>
            <a:pPr>
              <a:defRPr sz="1050" b="1">
                <a:solidFill>
                  <a:srgbClr val="FFFFFF"/>
                </a:solidFill>
                <a:latin typeface="Microsoft YaHei"/>
              </a:defRPr>
            </a:pPr>
            <a:r>
              <a:t>管理与全局共识集群 · CPU 控制节点</a:t>
            </a:r>
          </a:p>
          <a:p>
            <a:pPr algn="r">
              <a:defRPr sz="950" b="1">
                <a:solidFill>
                  <a:srgbClr val="BFDBFE"/>
                </a:solidFill>
                <a:latin typeface="Microsoft YaHei"/>
              </a:defRPr>
            </a:pPr>
            <a:r>
              <a:t>[不参与单请求数据转发]</a:t>
            </a:r>
          </a:p>
        </p:txBody>
      </p:sp>
      <p:sp>
        <p:nvSpPr>
          <p:cNvPr id="7" name="Rectangle 6"/>
          <p:cNvSpPr/>
          <p:nvPr/>
        </p:nvSpPr>
        <p:spPr>
          <a:xfrm>
            <a:off x="530352" y="1463040"/>
            <a:ext cx="3282696" cy="13533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463040"/>
            <a:ext cx="3282696" cy="2743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99616"/>
            <a:ext cx="3063240" cy="201168"/>
          </a:xfrm>
          <a:prstGeom prst="rect">
            <a:avLst/>
          </a:prstGeom>
          <a:noFill/>
        </p:spPr>
        <p:txBody>
          <a:bodyPr wrap="none" lIns="0" tIns="0" rIns="0" bIns="0">
            <a:spAutoFit/>
          </a:bodyPr>
          <a:lstStyle/>
          <a:p>
            <a:pPr>
              <a:defRPr sz="980" b="1">
                <a:solidFill>
                  <a:srgbClr val="FFFFFF"/>
                </a:solidFill>
                <a:latin typeface="Microsoft YaHei"/>
              </a:defRPr>
            </a:pPr>
            <a:r>
              <a:t>1. kvc-controller (全局管控服务)</a:t>
            </a:r>
          </a:p>
        </p:txBody>
      </p:sp>
      <p:sp>
        <p:nvSpPr>
          <p:cNvPr id="10" name="TextBox 9"/>
          <p:cNvSpPr txBox="1"/>
          <p:nvPr/>
        </p:nvSpPr>
        <p:spPr>
          <a:xfrm>
            <a:off x="530352" y="1755648"/>
            <a:ext cx="3282696" cy="1042416"/>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a:t>
            </a:r>
            <a:r>
              <a:rPr sz="860" b="1">
                <a:solidFill>
                  <a:srgbClr val="1E3A8A"/>
                </a:solidFill>
                <a:latin typeface="Microsoft YaHei"/>
              </a:rPr>
              <a:t>部署形态：</a:t>
            </a:r>
            <a:r>
              <a:rPr sz="860">
                <a:solidFill>
                  <a:srgbClr val="1E293B"/>
                </a:solidFill>
                <a:latin typeface="Microsoft YaHei"/>
              </a:rPr>
              <a:t>主备高可用服务进程，独立管理节点部署</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核心职责：</a:t>
            </a:r>
            <a:r>
              <a:rPr sz="860">
                <a:solidFill>
                  <a:srgbClr val="1E293B"/>
                </a:solidFill>
                <a:latin typeface="Microsoft YaHei"/>
              </a:rPr>
              <a:t>负责集群容量配额治理、节点健康心跳汇总与后台温冷分层迁移策略下发</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隔离特征：</a:t>
            </a:r>
            <a:r>
              <a:rPr sz="860">
                <a:solidFill>
                  <a:srgbClr val="1E293B"/>
                </a:solidFill>
                <a:latin typeface="Microsoft YaHei"/>
              </a:rPr>
              <a:t>完全基于后台异步流转，绝不进入单请求转发，不干扰在线推理</a:t>
            </a:r>
          </a:p>
        </p:txBody>
      </p:sp>
      <p:sp>
        <p:nvSpPr>
          <p:cNvPr id="11" name="Rectangle 10"/>
          <p:cNvSpPr/>
          <p:nvPr/>
        </p:nvSpPr>
        <p:spPr>
          <a:xfrm>
            <a:off x="530352" y="2889504"/>
            <a:ext cx="3282696" cy="13533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2889504"/>
            <a:ext cx="3282696" cy="27432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926080"/>
            <a:ext cx="3063240" cy="201168"/>
          </a:xfrm>
          <a:prstGeom prst="rect">
            <a:avLst/>
          </a:prstGeom>
          <a:noFill/>
        </p:spPr>
        <p:txBody>
          <a:bodyPr wrap="none" lIns="0" tIns="0" rIns="0" bIns="0">
            <a:spAutoFit/>
          </a:bodyPr>
          <a:lstStyle/>
          <a:p>
            <a:pPr>
              <a:defRPr sz="980" b="1">
                <a:solidFill>
                  <a:srgbClr val="FFFFFF"/>
                </a:solidFill>
                <a:latin typeface="Microsoft YaHei"/>
              </a:defRPr>
            </a:pPr>
            <a:r>
              <a:t>2. kvc-directory (分布式目录服务)</a:t>
            </a:r>
          </a:p>
        </p:txBody>
      </p:sp>
      <p:sp>
        <p:nvSpPr>
          <p:cNvPr id="14" name="TextBox 13"/>
          <p:cNvSpPr txBox="1"/>
          <p:nvPr/>
        </p:nvSpPr>
        <p:spPr>
          <a:xfrm>
            <a:off x="530352" y="3182112"/>
            <a:ext cx="3282696" cy="1042416"/>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a:t>
            </a:r>
            <a:r>
              <a:rPr sz="860" b="1">
                <a:solidFill>
                  <a:srgbClr val="1E3A8A"/>
                </a:solidFill>
                <a:latin typeface="Microsoft YaHei"/>
              </a:rPr>
              <a:t>部署形态：</a:t>
            </a:r>
            <a:r>
              <a:rPr sz="860">
                <a:solidFill>
                  <a:srgbClr val="1E293B"/>
                </a:solidFill>
                <a:latin typeface="Microsoft YaHei"/>
              </a:rPr>
              <a:t>3 节点高可用元数据共识服务，独立部署于 CPU 管理节点</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核心职责：</a:t>
            </a:r>
            <a:r>
              <a:rPr sz="860">
                <a:solidFill>
                  <a:srgbClr val="1E293B"/>
                </a:solidFill>
                <a:latin typeface="Microsoft YaHei"/>
              </a:rPr>
              <a:t>管理 Slot 0..1023 哈希分片路由与对象多副本只读视图，仅供发现，不碰正文</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时延指标：</a:t>
            </a:r>
            <a:r>
              <a:rPr sz="860">
                <a:solidFill>
                  <a:srgbClr val="1E293B"/>
                </a:solidFill>
                <a:latin typeface="Microsoft YaHei"/>
              </a:rPr>
              <a:t>前缀查询检索 P99 &lt; 200µs，结合计算节点本地二级缓存削峰 80%</a:t>
            </a:r>
          </a:p>
        </p:txBody>
      </p:sp>
      <p:sp>
        <p:nvSpPr>
          <p:cNvPr id="15" name="Rectangle 14"/>
          <p:cNvSpPr/>
          <p:nvPr/>
        </p:nvSpPr>
        <p:spPr>
          <a:xfrm>
            <a:off x="530352" y="4315968"/>
            <a:ext cx="3282696" cy="13533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30352" y="4315968"/>
            <a:ext cx="3282696" cy="274320"/>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352544"/>
            <a:ext cx="3063240" cy="201168"/>
          </a:xfrm>
          <a:prstGeom prst="rect">
            <a:avLst/>
          </a:prstGeom>
          <a:noFill/>
        </p:spPr>
        <p:txBody>
          <a:bodyPr wrap="none" lIns="0" tIns="0" rIns="0" bIns="0">
            <a:spAutoFit/>
          </a:bodyPr>
          <a:lstStyle/>
          <a:p>
            <a:pPr>
              <a:defRPr sz="980" b="1">
                <a:solidFill>
                  <a:srgbClr val="FFFFFF"/>
                </a:solidFill>
                <a:latin typeface="Microsoft YaHei"/>
              </a:defRPr>
            </a:pPr>
            <a:r>
              <a:t>3. etcd (持久配置与注册集群)</a:t>
            </a:r>
          </a:p>
        </p:txBody>
      </p:sp>
      <p:sp>
        <p:nvSpPr>
          <p:cNvPr id="18" name="TextBox 17"/>
          <p:cNvSpPr txBox="1"/>
          <p:nvPr/>
        </p:nvSpPr>
        <p:spPr>
          <a:xfrm>
            <a:off x="530352" y="4608576"/>
            <a:ext cx="3282696" cy="1042416"/>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a:t>
            </a:r>
            <a:r>
              <a:rPr sz="860" b="1">
                <a:solidFill>
                  <a:srgbClr val="1E3A8A"/>
                </a:solidFill>
                <a:latin typeface="Microsoft YaHei"/>
              </a:rPr>
              <a:t>部署形态：</a:t>
            </a:r>
            <a:r>
              <a:rPr sz="860">
                <a:solidFill>
                  <a:srgbClr val="1E293B"/>
                </a:solidFill>
                <a:latin typeface="Microsoft YaHei"/>
              </a:rPr>
              <a:t>独立管理集群部署，保存静态拓扑与租户配额</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核心职责：</a:t>
            </a:r>
            <a:r>
              <a:rPr sz="860">
                <a:solidFill>
                  <a:srgbClr val="1E293B"/>
                </a:solidFill>
                <a:latin typeface="Microsoft YaHei"/>
              </a:rPr>
              <a:t>维护网络物理拓扑与节点配置，系统启动时一次性载入内存</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隔离特征：</a:t>
            </a:r>
            <a:r>
              <a:rPr sz="860">
                <a:solidFill>
                  <a:srgbClr val="1E293B"/>
                </a:solidFill>
                <a:latin typeface="Microsoft YaHei"/>
              </a:rPr>
              <a:t>热路径绝对禁入！管理面脑裂或网络分区由节点代理本地快照平稳兜底</a:t>
            </a:r>
          </a:p>
        </p:txBody>
      </p:sp>
      <p:sp>
        <p:nvSpPr>
          <p:cNvPr id="19" name="Rectangle 18"/>
          <p:cNvSpPr/>
          <p:nvPr/>
        </p:nvSpPr>
        <p:spPr>
          <a:xfrm>
            <a:off x="4050791" y="1078992"/>
            <a:ext cx="7680960" cy="4681728"/>
          </a:xfrm>
          <a:prstGeom prst="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050791" y="1078992"/>
            <a:ext cx="7680960" cy="3474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60519" y="1115568"/>
            <a:ext cx="7461504" cy="274320"/>
          </a:xfrm>
          <a:prstGeom prst="rect">
            <a:avLst/>
          </a:prstGeom>
          <a:noFill/>
        </p:spPr>
        <p:txBody>
          <a:bodyPr wrap="none" lIns="0" tIns="0" rIns="0" bIns="0">
            <a:spAutoFit/>
          </a:bodyPr>
          <a:lstStyle/>
          <a:p>
            <a:pPr>
              <a:defRPr sz="1050" b="1">
                <a:solidFill>
                  <a:srgbClr val="FFFFFF"/>
                </a:solidFill>
                <a:latin typeface="Microsoft YaHei"/>
              </a:defRPr>
            </a:pPr>
            <a:r>
              <a:t>AI 计算加速节点集群 · 异构协同与分层存储实体</a:t>
            </a:r>
          </a:p>
          <a:p>
            <a:pPr algn="r">
              <a:defRPr sz="950" b="1">
                <a:solidFill>
                  <a:srgbClr val="BFDBFE"/>
                </a:solidFill>
                <a:latin typeface="Microsoft YaHei"/>
              </a:defRPr>
            </a:pPr>
            <a:r>
              <a:t>[每节点配备 Host CPU + NPU 芯片 + 三介质存储]</a:t>
            </a:r>
          </a:p>
        </p:txBody>
      </p:sp>
      <p:sp>
        <p:nvSpPr>
          <p:cNvPr id="22" name="Rectangle 21"/>
          <p:cNvSpPr/>
          <p:nvPr/>
        </p:nvSpPr>
        <p:spPr>
          <a:xfrm>
            <a:off x="4123943" y="1463040"/>
            <a:ext cx="7534656" cy="205740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23943" y="1463040"/>
            <a:ext cx="7534656" cy="2743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33671" y="1499616"/>
            <a:ext cx="7315200" cy="201168"/>
          </a:xfrm>
          <a:prstGeom prst="rect">
            <a:avLst/>
          </a:prstGeom>
          <a:noFill/>
        </p:spPr>
        <p:txBody>
          <a:bodyPr wrap="none" lIns="0" tIns="0" rIns="0" bIns="0">
            <a:spAutoFit/>
          </a:bodyPr>
          <a:lstStyle/>
          <a:p>
            <a:pPr>
              <a:defRPr sz="980" b="1">
                <a:solidFill>
                  <a:srgbClr val="FFFFFF"/>
                </a:solidFill>
                <a:latin typeface="Microsoft YaHei"/>
              </a:defRPr>
            </a:pPr>
            <a:r>
              <a:t>Host CPU 主机侧 · 进程内运行库与节点守护代理 (微秒控制信令面)</a:t>
            </a:r>
          </a:p>
        </p:txBody>
      </p:sp>
      <p:sp>
        <p:nvSpPr>
          <p:cNvPr id="25" name="Rectangle 24"/>
          <p:cNvSpPr/>
          <p:nvPr/>
        </p:nvSpPr>
        <p:spPr>
          <a:xfrm>
            <a:off x="4178807" y="1773936"/>
            <a:ext cx="2438400" cy="1682496"/>
          </a:xfrm>
          <a:prstGeom prst="rect">
            <a:avLst/>
          </a:prstGeom>
          <a:solidFill>
            <a:srgbClr val="F0F9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78807" y="1773936"/>
            <a:ext cx="2438400" cy="2560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88535" y="1810512"/>
            <a:ext cx="2218944" cy="182880"/>
          </a:xfrm>
          <a:prstGeom prst="rect">
            <a:avLst/>
          </a:prstGeom>
          <a:noFill/>
        </p:spPr>
        <p:txBody>
          <a:bodyPr wrap="none" lIns="0" tIns="0" rIns="0" bIns="0">
            <a:spAutoFit/>
          </a:bodyPr>
          <a:lstStyle/>
          <a:p>
            <a:pPr>
              <a:defRPr sz="919" b="1">
                <a:solidFill>
                  <a:srgbClr val="FFFFFF"/>
                </a:solidFill>
                <a:latin typeface="Microsoft YaHei"/>
              </a:defRPr>
            </a:pPr>
            <a:r>
              <a:t>推理框架进程 (vLLM/SGLang)</a:t>
            </a:r>
          </a:p>
        </p:txBody>
      </p:sp>
      <p:sp>
        <p:nvSpPr>
          <p:cNvPr id="28" name="TextBox 27"/>
          <p:cNvSpPr txBox="1"/>
          <p:nvPr/>
        </p:nvSpPr>
        <p:spPr>
          <a:xfrm>
            <a:off x="4178807" y="2048256"/>
            <a:ext cx="2438400" cy="1371600"/>
          </a:xfrm>
          <a:prstGeom prst="rect">
            <a:avLst/>
          </a:prstGeom>
          <a:noFill/>
        </p:spPr>
        <p:txBody>
          <a:bodyPr wrap="square" lIns="73152" tIns="73152" rIns="73152" bIns="73152">
            <a:spAutoFit/>
          </a:bodyPr>
          <a:lstStyle/>
          <a:p>
            <a:pPr>
              <a:lnSpc>
                <a:spcPct val="112000"/>
              </a:lnSpc>
              <a:spcAft>
                <a:spcPts val="200"/>
              </a:spcAft>
            </a:pPr>
            <a:r>
              <a:rPr sz="840" b="1">
                <a:solidFill>
                  <a:srgbClr val="1E3A8A"/>
                </a:solidFill>
                <a:latin typeface="Microsoft YaHei"/>
              </a:rPr>
              <a:t>▸ </a:t>
            </a:r>
            <a:r>
              <a:rPr sz="840" b="1">
                <a:solidFill>
                  <a:srgbClr val="1E3A8A"/>
                </a:solidFill>
                <a:latin typeface="Microsoft YaHei"/>
              </a:rPr>
              <a:t>部署位置：</a:t>
            </a:r>
            <a:r>
              <a:rPr sz="840">
                <a:solidFill>
                  <a:srgbClr val="1E293B"/>
                </a:solidFill>
                <a:latin typeface="Microsoft YaHei"/>
              </a:rPr>
              <a:t>计算节点用户态主进程</a:t>
            </a:r>
          </a:p>
          <a:p>
            <a:pPr>
              <a:lnSpc>
                <a:spcPct val="112000"/>
              </a:lnSpc>
              <a:spcAft>
                <a:spcPts val="200"/>
              </a:spcAft>
            </a:pPr>
            <a:r>
              <a:rPr sz="840" b="1">
                <a:solidFill>
                  <a:srgbClr val="1E3A8A"/>
                </a:solidFill>
                <a:latin typeface="Microsoft YaHei"/>
              </a:rPr>
              <a:t>▸ </a:t>
            </a:r>
            <a:r>
              <a:rPr sz="840" b="1">
                <a:solidFill>
                  <a:srgbClr val="1E3A8A"/>
                </a:solidFill>
                <a:latin typeface="Microsoft YaHei"/>
              </a:rPr>
              <a:t>核心职责：</a:t>
            </a:r>
            <a:r>
              <a:rPr sz="840">
                <a:solidFill>
                  <a:srgbClr val="1E293B"/>
                </a:solidFill>
                <a:latin typeface="Microsoft YaHei"/>
              </a:rPr>
              <a:t>模型前向推理、请求接纳与 Token 生成，独占当前任务的运行时执行显存，绝不被外部越权接管</a:t>
            </a:r>
          </a:p>
        </p:txBody>
      </p:sp>
      <p:sp>
        <p:nvSpPr>
          <p:cNvPr id="29" name="Rectangle 28"/>
          <p:cNvSpPr/>
          <p:nvPr/>
        </p:nvSpPr>
        <p:spPr>
          <a:xfrm>
            <a:off x="6672071" y="1773936"/>
            <a:ext cx="2438400" cy="1682496"/>
          </a:xfrm>
          <a:prstGeom prst="rect">
            <a:avLst/>
          </a:prstGeom>
          <a:solidFill>
            <a:srgbClr val="F5F3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2071" y="1773936"/>
            <a:ext cx="2438400" cy="25603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81799" y="1810512"/>
            <a:ext cx="2218944" cy="182880"/>
          </a:xfrm>
          <a:prstGeom prst="rect">
            <a:avLst/>
          </a:prstGeom>
          <a:noFill/>
        </p:spPr>
        <p:txBody>
          <a:bodyPr wrap="none" lIns="0" tIns="0" rIns="0" bIns="0">
            <a:spAutoFit/>
          </a:bodyPr>
          <a:lstStyle/>
          <a:p>
            <a:pPr>
              <a:defRPr sz="919" b="1">
                <a:solidFill>
                  <a:srgbClr val="FFFFFF"/>
                </a:solidFill>
                <a:latin typeface="Microsoft YaHei"/>
              </a:defRPr>
            </a:pPr>
            <a:r>
              <a:t>libkvc_runtime (客户端运行库)</a:t>
            </a:r>
          </a:p>
        </p:txBody>
      </p:sp>
      <p:sp>
        <p:nvSpPr>
          <p:cNvPr id="32" name="TextBox 31"/>
          <p:cNvSpPr txBox="1"/>
          <p:nvPr/>
        </p:nvSpPr>
        <p:spPr>
          <a:xfrm>
            <a:off x="6672071" y="2048256"/>
            <a:ext cx="2438400" cy="1371600"/>
          </a:xfrm>
          <a:prstGeom prst="rect">
            <a:avLst/>
          </a:prstGeom>
          <a:noFill/>
        </p:spPr>
        <p:txBody>
          <a:bodyPr wrap="square" lIns="73152" tIns="73152" rIns="73152" bIns="73152">
            <a:spAutoFit/>
          </a:bodyPr>
          <a:lstStyle/>
          <a:p>
            <a:pPr>
              <a:lnSpc>
                <a:spcPct val="112000"/>
              </a:lnSpc>
              <a:spcAft>
                <a:spcPts val="200"/>
              </a:spcAft>
            </a:pPr>
            <a:r>
              <a:rPr sz="840" b="1">
                <a:solidFill>
                  <a:srgbClr val="1E3A8A"/>
                </a:solidFill>
                <a:latin typeface="Microsoft YaHei"/>
              </a:rPr>
              <a:t>▸ </a:t>
            </a:r>
            <a:r>
              <a:rPr sz="840" b="1">
                <a:solidFill>
                  <a:srgbClr val="1E3A8A"/>
                </a:solidFill>
                <a:latin typeface="Microsoft YaHei"/>
              </a:rPr>
              <a:t>部署位置：</a:t>
            </a:r>
            <a:r>
              <a:rPr sz="840">
                <a:solidFill>
                  <a:srgbClr val="1E293B"/>
                </a:solidFill>
                <a:latin typeface="Microsoft YaHei"/>
              </a:rPr>
              <a:t>以动态库直接嵌入推理进程</a:t>
            </a:r>
          </a:p>
          <a:p>
            <a:pPr>
              <a:lnSpc>
                <a:spcPct val="112000"/>
              </a:lnSpc>
              <a:spcAft>
                <a:spcPts val="200"/>
              </a:spcAft>
            </a:pPr>
            <a:r>
              <a:rPr sz="840" b="1">
                <a:solidFill>
                  <a:srgbClr val="1E3A8A"/>
                </a:solidFill>
                <a:latin typeface="Microsoft YaHei"/>
              </a:rPr>
              <a:t>▸ </a:t>
            </a:r>
            <a:r>
              <a:rPr sz="840" b="1">
                <a:solidFill>
                  <a:srgbClr val="1E3A8A"/>
                </a:solidFill>
                <a:latin typeface="Microsoft YaHei"/>
              </a:rPr>
              <a:t>核心职责：</a:t>
            </a:r>
            <a:r>
              <a:rPr sz="840">
                <a:solidFill>
                  <a:srgbClr val="1E293B"/>
                </a:solidFill>
                <a:latin typeface="Microsoft YaHei"/>
              </a:rPr>
              <a:t>本地前缀哈希、无锁 ART 树匹配与 QueryPlan 选路决策；进程内直接执行，零跨进程 IPC 损耗</a:t>
            </a:r>
          </a:p>
        </p:txBody>
      </p:sp>
      <p:sp>
        <p:nvSpPr>
          <p:cNvPr id="33" name="Rectangle 32"/>
          <p:cNvSpPr/>
          <p:nvPr/>
        </p:nvSpPr>
        <p:spPr>
          <a:xfrm>
            <a:off x="9165335" y="1773936"/>
            <a:ext cx="2438400" cy="1682496"/>
          </a:xfrm>
          <a:prstGeom prst="rect">
            <a:avLst/>
          </a:prstGeom>
          <a:solidFill>
            <a:srgbClr val="ECFDF5"/>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65335" y="1773936"/>
            <a:ext cx="2438400" cy="25603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75063" y="1810512"/>
            <a:ext cx="2218944" cy="182880"/>
          </a:xfrm>
          <a:prstGeom prst="rect">
            <a:avLst/>
          </a:prstGeom>
          <a:noFill/>
        </p:spPr>
        <p:txBody>
          <a:bodyPr wrap="none" lIns="0" tIns="0" rIns="0" bIns="0">
            <a:spAutoFit/>
          </a:bodyPr>
          <a:lstStyle/>
          <a:p>
            <a:pPr>
              <a:defRPr sz="919" b="1">
                <a:solidFill>
                  <a:srgbClr val="FFFFFF"/>
                </a:solidFill>
                <a:latin typeface="Microsoft YaHei"/>
              </a:defRPr>
            </a:pPr>
            <a:r>
              <a:t>kvc-node (节点资源代理)</a:t>
            </a:r>
          </a:p>
        </p:txBody>
      </p:sp>
      <p:sp>
        <p:nvSpPr>
          <p:cNvPr id="36" name="TextBox 35"/>
          <p:cNvSpPr txBox="1"/>
          <p:nvPr/>
        </p:nvSpPr>
        <p:spPr>
          <a:xfrm>
            <a:off x="9165335" y="2048256"/>
            <a:ext cx="2438400" cy="1371600"/>
          </a:xfrm>
          <a:prstGeom prst="rect">
            <a:avLst/>
          </a:prstGeom>
          <a:noFill/>
        </p:spPr>
        <p:txBody>
          <a:bodyPr wrap="square" lIns="73152" tIns="73152" rIns="73152" bIns="73152">
            <a:spAutoFit/>
          </a:bodyPr>
          <a:lstStyle/>
          <a:p>
            <a:pPr>
              <a:lnSpc>
                <a:spcPct val="112000"/>
              </a:lnSpc>
              <a:spcAft>
                <a:spcPts val="200"/>
              </a:spcAft>
            </a:pPr>
            <a:r>
              <a:rPr sz="840" b="1">
                <a:solidFill>
                  <a:srgbClr val="1E3A8A"/>
                </a:solidFill>
                <a:latin typeface="Microsoft YaHei"/>
              </a:rPr>
              <a:t>▸ </a:t>
            </a:r>
            <a:r>
              <a:rPr sz="840" b="1">
                <a:solidFill>
                  <a:srgbClr val="1E3A8A"/>
                </a:solidFill>
                <a:latin typeface="Microsoft YaHei"/>
              </a:rPr>
              <a:t>部署位置：</a:t>
            </a:r>
            <a:r>
              <a:rPr sz="840">
                <a:solidFill>
                  <a:srgbClr val="1E293B"/>
                </a:solidFill>
                <a:latin typeface="Microsoft YaHei"/>
              </a:rPr>
              <a:t>每节点独立常驻守护进程</a:t>
            </a:r>
          </a:p>
          <a:p>
            <a:pPr>
              <a:lnSpc>
                <a:spcPct val="112000"/>
              </a:lnSpc>
              <a:spcAft>
                <a:spcPts val="200"/>
              </a:spcAft>
            </a:pPr>
            <a:r>
              <a:rPr sz="840" b="1">
                <a:solidFill>
                  <a:srgbClr val="1E3A8A"/>
                </a:solidFill>
                <a:latin typeface="Microsoft YaHei"/>
              </a:rPr>
              <a:t>▸ </a:t>
            </a:r>
            <a:r>
              <a:rPr sz="840" b="1">
                <a:solidFill>
                  <a:srgbClr val="1E3A8A"/>
                </a:solidFill>
                <a:latin typeface="Microsoft YaHei"/>
              </a:rPr>
              <a:t>核心职责：</a:t>
            </a:r>
            <a:r>
              <a:rPr sz="840">
                <a:solidFill>
                  <a:srgbClr val="1E293B"/>
                </a:solidFill>
                <a:latin typeface="Microsoft YaHei"/>
              </a:rPr>
              <a:t>独占绑核；管理本地 POSIX 共享内存、租约代际 (Epoch) 仲裁与多介质块分配；核验 P99 &lt; 50µs</a:t>
            </a:r>
          </a:p>
        </p:txBody>
      </p:sp>
      <p:sp>
        <p:nvSpPr>
          <p:cNvPr id="37" name="Rectangle 36"/>
          <p:cNvSpPr/>
          <p:nvPr/>
        </p:nvSpPr>
        <p:spPr>
          <a:xfrm>
            <a:off x="4123943" y="3566160"/>
            <a:ext cx="7534656" cy="212140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23943" y="3566160"/>
            <a:ext cx="7534656" cy="27432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33671" y="3602736"/>
            <a:ext cx="7315200" cy="201168"/>
          </a:xfrm>
          <a:prstGeom prst="rect">
            <a:avLst/>
          </a:prstGeom>
          <a:noFill/>
        </p:spPr>
        <p:txBody>
          <a:bodyPr wrap="none" lIns="0" tIns="0" rIns="0" bIns="0">
            <a:spAutoFit/>
          </a:bodyPr>
          <a:lstStyle/>
          <a:p>
            <a:pPr>
              <a:defRPr sz="980" b="1">
                <a:solidFill>
                  <a:srgbClr val="FFFFFF"/>
                </a:solidFill>
                <a:latin typeface="Microsoft YaHei"/>
              </a:defRPr>
            </a:pPr>
            <a:r>
              <a:t>硬件通信底座与三介质存储层 · 零数据拷贝直通通路</a:t>
            </a:r>
          </a:p>
        </p:txBody>
      </p:sp>
      <p:sp>
        <p:nvSpPr>
          <p:cNvPr id="40" name="Rectangle 39"/>
          <p:cNvSpPr/>
          <p:nvPr/>
        </p:nvSpPr>
        <p:spPr>
          <a:xfrm>
            <a:off x="4178807" y="3877056"/>
            <a:ext cx="3685032" cy="1755648"/>
          </a:xfrm>
          <a:prstGeom prst="rect">
            <a:avLst/>
          </a:prstGeom>
          <a:solidFill>
            <a:srgbClr val="ECFDF5"/>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178807" y="3877056"/>
            <a:ext cx="3685032" cy="25603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88535" y="3913632"/>
            <a:ext cx="3465576" cy="182880"/>
          </a:xfrm>
          <a:prstGeom prst="rect">
            <a:avLst/>
          </a:prstGeom>
          <a:noFill/>
        </p:spPr>
        <p:txBody>
          <a:bodyPr wrap="none" lIns="0" tIns="0" rIns="0" bIns="0">
            <a:spAutoFit/>
          </a:bodyPr>
          <a:lstStyle/>
          <a:p>
            <a:pPr>
              <a:defRPr sz="919" b="1">
                <a:solidFill>
                  <a:srgbClr val="FFFFFF"/>
                </a:solidFill>
                <a:latin typeface="Microsoft YaHei"/>
              </a:defRPr>
            </a:pPr>
            <a:r>
              <a:t>KPCL 原厂硬件通信底座</a:t>
            </a:r>
          </a:p>
        </p:txBody>
      </p:sp>
      <p:sp>
        <p:nvSpPr>
          <p:cNvPr id="43" name="TextBox 42"/>
          <p:cNvSpPr txBox="1"/>
          <p:nvPr/>
        </p:nvSpPr>
        <p:spPr>
          <a:xfrm>
            <a:off x="4178807" y="4151376"/>
            <a:ext cx="3685032" cy="1444752"/>
          </a:xfrm>
          <a:prstGeom prst="rect">
            <a:avLst/>
          </a:prstGeom>
          <a:noFill/>
        </p:spPr>
        <p:txBody>
          <a:bodyPr wrap="square" lIns="73152" tIns="73152" rIns="73152" bIns="73152">
            <a:spAutoFit/>
          </a:bodyPr>
          <a:lstStyle/>
          <a:p>
            <a:pPr>
              <a:lnSpc>
                <a:spcPct val="112000"/>
              </a:lnSpc>
              <a:spcAft>
                <a:spcPts val="200"/>
              </a:spcAft>
            </a:pPr>
            <a:r>
              <a:rPr sz="840" b="1">
                <a:solidFill>
                  <a:srgbClr val="1E3A8A"/>
                </a:solidFill>
                <a:latin typeface="Microsoft YaHei"/>
              </a:rPr>
              <a:t>▸ </a:t>
            </a:r>
            <a:r>
              <a:rPr sz="840" b="1">
                <a:solidFill>
                  <a:srgbClr val="1E3A8A"/>
                </a:solidFill>
                <a:latin typeface="Microsoft YaHei"/>
              </a:rPr>
              <a:t>驱动封装：</a:t>
            </a:r>
            <a:r>
              <a:rPr sz="840">
                <a:solidFill>
                  <a:srgbClr val="1E293B"/>
                </a:solidFill>
                <a:latin typeface="Microsoft YaHei"/>
              </a:rPr>
              <a:t>封装 UBMEM 总线直读、URMA RDMA 与 PCIe DMA 驱动</a:t>
            </a:r>
          </a:p>
          <a:p>
            <a:pPr>
              <a:lnSpc>
                <a:spcPct val="112000"/>
              </a:lnSpc>
              <a:spcAft>
                <a:spcPts val="200"/>
              </a:spcAft>
            </a:pPr>
            <a:r>
              <a:rPr sz="840" b="1">
                <a:solidFill>
                  <a:srgbClr val="1E3A8A"/>
                </a:solidFill>
                <a:latin typeface="Microsoft YaHei"/>
              </a:rPr>
              <a:t>▸ </a:t>
            </a:r>
            <a:r>
              <a:rPr sz="840" b="1">
                <a:solidFill>
                  <a:srgbClr val="1E3A8A"/>
                </a:solidFill>
                <a:latin typeface="Microsoft YaHei"/>
              </a:rPr>
              <a:t>API 契约：</a:t>
            </a:r>
            <a:r>
              <a:rPr sz="840">
                <a:solidFill>
                  <a:srgbClr val="1E293B"/>
                </a:solidFill>
                <a:latin typeface="Microsoft YaHei"/>
              </a:rPr>
              <a:t>提供 1µs 级非阻塞异步提交接口，硬件完成 CQE 异步通知</a:t>
            </a:r>
          </a:p>
          <a:p>
            <a:pPr>
              <a:lnSpc>
                <a:spcPct val="112000"/>
              </a:lnSpc>
              <a:spcAft>
                <a:spcPts val="200"/>
              </a:spcAft>
            </a:pPr>
            <a:r>
              <a:rPr sz="840" b="1">
                <a:solidFill>
                  <a:srgbClr val="1E3A8A"/>
                </a:solidFill>
                <a:latin typeface="Microsoft YaHei"/>
              </a:rPr>
              <a:t>▸ </a:t>
            </a:r>
            <a:r>
              <a:rPr sz="840" b="1">
                <a:solidFill>
                  <a:srgbClr val="1E3A8A"/>
                </a:solidFill>
                <a:latin typeface="Microsoft YaHei"/>
              </a:rPr>
              <a:t>零拷贝直达：</a:t>
            </a:r>
            <a:r>
              <a:rPr sz="840">
                <a:solidFill>
                  <a:srgbClr val="1E293B"/>
                </a:solidFill>
                <a:latin typeface="Microsoft YaHei"/>
              </a:rPr>
              <a:t>控制信令与正文分离，数据流经 DMA 直通显存，消除 CPU 搬运</a:t>
            </a:r>
          </a:p>
        </p:txBody>
      </p:sp>
      <p:sp>
        <p:nvSpPr>
          <p:cNvPr id="44" name="Rectangle 43"/>
          <p:cNvSpPr/>
          <p:nvPr/>
        </p:nvSpPr>
        <p:spPr>
          <a:xfrm>
            <a:off x="7918703" y="3877056"/>
            <a:ext cx="3685032" cy="1755648"/>
          </a:xfrm>
          <a:prstGeom prst="rect">
            <a:avLst/>
          </a:prstGeom>
          <a:solidFill>
            <a:srgbClr val="F0F9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18703" y="3877056"/>
            <a:ext cx="3685032" cy="2560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28431" y="3913632"/>
            <a:ext cx="3465576" cy="182880"/>
          </a:xfrm>
          <a:prstGeom prst="rect">
            <a:avLst/>
          </a:prstGeom>
          <a:noFill/>
        </p:spPr>
        <p:txBody>
          <a:bodyPr wrap="none" lIns="0" tIns="0" rIns="0" bIns="0">
            <a:spAutoFit/>
          </a:bodyPr>
          <a:lstStyle/>
          <a:p>
            <a:pPr>
              <a:defRPr sz="919" b="1">
                <a:solidFill>
                  <a:srgbClr val="FFFFFF"/>
                </a:solidFill>
                <a:latin typeface="Microsoft YaHei"/>
              </a:defRPr>
            </a:pPr>
            <a:r>
              <a:t>三介质分层存储体系 (HBM / DDR / SSD)</a:t>
            </a:r>
          </a:p>
        </p:txBody>
      </p:sp>
      <p:sp>
        <p:nvSpPr>
          <p:cNvPr id="47" name="TextBox 46"/>
          <p:cNvSpPr txBox="1"/>
          <p:nvPr/>
        </p:nvSpPr>
        <p:spPr>
          <a:xfrm>
            <a:off x="7918703" y="4151376"/>
            <a:ext cx="3685032" cy="1444752"/>
          </a:xfrm>
          <a:prstGeom prst="rect">
            <a:avLst/>
          </a:prstGeom>
          <a:noFill/>
        </p:spPr>
        <p:txBody>
          <a:bodyPr wrap="square" lIns="73152" tIns="73152" rIns="73152" bIns="73152">
            <a:spAutoFit/>
          </a:bodyPr>
          <a:lstStyle/>
          <a:p>
            <a:pPr>
              <a:lnSpc>
                <a:spcPct val="112000"/>
              </a:lnSpc>
              <a:spcAft>
                <a:spcPts val="200"/>
              </a:spcAft>
            </a:pPr>
            <a:r>
              <a:rPr sz="840" b="1">
                <a:solidFill>
                  <a:srgbClr val="1E3A8A"/>
                </a:solidFill>
                <a:latin typeface="Microsoft YaHei"/>
              </a:rPr>
              <a:t>▸ </a:t>
            </a:r>
            <a:r>
              <a:rPr sz="840" b="1">
                <a:solidFill>
                  <a:srgbClr val="1E3A8A"/>
                </a:solidFill>
                <a:latin typeface="Microsoft YaHei"/>
              </a:rPr>
              <a:t>NPU HBM 显存：</a:t>
            </a:r>
            <a:r>
              <a:rPr sz="840">
                <a:solidFill>
                  <a:srgbClr val="1E293B"/>
                </a:solidFill>
                <a:latin typeface="Microsoft YaHei"/>
              </a:rPr>
              <a:t>存放当前推理即时执行的热数据，算子直接寻址</a:t>
            </a:r>
          </a:p>
          <a:p>
            <a:pPr>
              <a:lnSpc>
                <a:spcPct val="112000"/>
              </a:lnSpc>
              <a:spcAft>
                <a:spcPts val="200"/>
              </a:spcAft>
            </a:pPr>
            <a:r>
              <a:rPr sz="840" b="1">
                <a:solidFill>
                  <a:srgbClr val="1E3A8A"/>
                </a:solidFill>
                <a:latin typeface="Microsoft YaHei"/>
              </a:rPr>
              <a:t>▸ </a:t>
            </a:r>
            <a:r>
              <a:rPr sz="840" b="1">
                <a:solidFill>
                  <a:srgbClr val="1E3A8A"/>
                </a:solidFill>
                <a:latin typeface="Microsoft YaHei"/>
              </a:rPr>
              <a:t>Host DDR 内存：</a:t>
            </a:r>
            <a:r>
              <a:rPr sz="840">
                <a:solidFill>
                  <a:srgbClr val="1E293B"/>
                </a:solidFill>
                <a:latin typeface="Microsoft YaHei"/>
              </a:rPr>
              <a:t>百 GB 级高吞吐温缓存扩展，缓存高频前缀，通过 PCIe 直达加载</a:t>
            </a:r>
          </a:p>
          <a:p>
            <a:pPr>
              <a:lnSpc>
                <a:spcPct val="112000"/>
              </a:lnSpc>
              <a:spcAft>
                <a:spcPts val="200"/>
              </a:spcAft>
            </a:pPr>
            <a:r>
              <a:rPr sz="840" b="1">
                <a:solidFill>
                  <a:srgbClr val="1E3A8A"/>
                </a:solidFill>
                <a:latin typeface="Microsoft YaHei"/>
              </a:rPr>
              <a:t>▸ </a:t>
            </a:r>
            <a:r>
              <a:rPr sz="840" b="1">
                <a:solidFill>
                  <a:srgbClr val="1E3A8A"/>
                </a:solidFill>
                <a:latin typeface="Microsoft YaHei"/>
              </a:rPr>
              <a:t>NVMe SSD 裸盘：</a:t>
            </a:r>
            <a:r>
              <a:rPr sz="840">
                <a:solidFill>
                  <a:srgbClr val="1E293B"/>
                </a:solidFill>
                <a:latin typeface="Microsoft YaHei"/>
              </a:rPr>
              <a:t>TB 级海量冷数据异步持久化沉淀，提供大容量低成本冷缓存池</a:t>
            </a:r>
          </a:p>
        </p:txBody>
      </p:sp>
      <p:sp>
        <p:nvSpPr>
          <p:cNvPr id="48" name="Rectangle 4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高频控制由推理内嵌库承载（零 IPC 开销），资源管理与分片路由下沉至节点代理与目录服务；管理面不参与单请求转发。</a:t>
            </a:r>
            <a:r>
              <a:rPr sz="1150" b="1">
                <a:solidFill>
                  <a:srgbClr val="DC2626"/>
                </a:solidFill>
                <a:latin typeface="Microsoft YaHei"/>
              </a:rPr>
              <a:t>
在线推理热路径严格绕开持久化存储，实现控制面与管理面物理级故障隔离；数据流由硬件 DMA 直通显存。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专题三：推理请求从前缀查询到安全接入 9 步微秒时序</a:t>
            </a:r>
          </a:p>
          <a:p>
            <a:pPr>
              <a:spcBef>
                <a:spcPts val="300"/>
              </a:spcBef>
              <a:defRPr sz="1100">
                <a:solidFill>
                  <a:srgbClr val="475569"/>
                </a:solidFill>
                <a:latin typeface="Microsoft YaHei"/>
              </a:defRPr>
            </a:pPr>
            <a:r>
              <a:t>严格经历意图下发、候选发现、语义校验、成本决策、硬件直达与安全挂载 9 步闭环</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15 页</a:t>
            </a:r>
          </a:p>
        </p:txBody>
      </p:sp>
      <p:sp>
        <p:nvSpPr>
          <p:cNvPr id="4" name="Rectangle 3"/>
          <p:cNvSpPr/>
          <p:nvPr/>
        </p:nvSpPr>
        <p:spPr>
          <a:xfrm>
            <a:off x="457200" y="1078992"/>
            <a:ext cx="6949440"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3_kvc_request_to_attach_sequence_flow.png"/>
          <p:cNvPicPr>
            <a:picLocks noChangeAspect="1"/>
          </p:cNvPicPr>
          <p:nvPr/>
        </p:nvPicPr>
        <p:blipFill>
          <a:blip r:embed="rId2"/>
          <a:stretch>
            <a:fillRect/>
          </a:stretch>
        </p:blipFill>
        <p:spPr>
          <a:xfrm>
            <a:off x="493776" y="1169434"/>
            <a:ext cx="6876288" cy="4500843"/>
          </a:xfrm>
          <a:prstGeom prst="rect">
            <a:avLst/>
          </a:prstGeom>
        </p:spPr>
      </p:pic>
      <p:sp>
        <p:nvSpPr>
          <p:cNvPr id="6" name="Rectangle 5"/>
          <p:cNvSpPr/>
          <p:nvPr/>
        </p:nvSpPr>
        <p:spPr>
          <a:xfrm>
            <a:off x="7543800" y="1078992"/>
            <a:ext cx="418795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43800" y="1078992"/>
            <a:ext cx="4187952"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8" y="1115568"/>
            <a:ext cx="3968496" cy="274320"/>
          </a:xfrm>
          <a:prstGeom prst="rect">
            <a:avLst/>
          </a:prstGeom>
          <a:noFill/>
        </p:spPr>
        <p:txBody>
          <a:bodyPr wrap="none" lIns="0" tIns="0" rIns="0" bIns="0">
            <a:spAutoFit/>
          </a:bodyPr>
          <a:lstStyle/>
          <a:p>
            <a:pPr>
              <a:defRPr sz="1120" b="1">
                <a:solidFill>
                  <a:srgbClr val="FFFFFF"/>
                </a:solidFill>
                <a:latin typeface="Microsoft YaHei"/>
              </a:defRPr>
            </a:pPr>
            <a:r>
              <a:t>9 步时序因果链、性能瓶颈与优化手段</a:t>
            </a:r>
          </a:p>
        </p:txBody>
      </p:sp>
      <p:sp>
        <p:nvSpPr>
          <p:cNvPr id="9" name="TextBox 8"/>
          <p:cNvSpPr txBox="1"/>
          <p:nvPr/>
        </p:nvSpPr>
        <p:spPr>
          <a:xfrm>
            <a:off x="7543800" y="1444752"/>
            <a:ext cx="4187952" cy="4297680"/>
          </a:xfrm>
          <a:prstGeom prst="rect">
            <a:avLst/>
          </a:prstGeom>
          <a:noFill/>
        </p:spPr>
        <p:txBody>
          <a:bodyPr wrap="square" lIns="73152" tIns="73152" rIns="73152" bIns="73152">
            <a:spAutoFit/>
          </a:bodyPr>
          <a:lstStyle/>
          <a:p>
            <a:pPr>
              <a:lnSpc>
                <a:spcPct val="112000"/>
              </a:lnSpc>
              <a:spcAft>
                <a:spcPts val="240"/>
              </a:spcAft>
            </a:pPr>
            <a:r>
              <a:rPr sz="819" b="1">
                <a:solidFill>
                  <a:srgbClr val="1E3A8A"/>
                </a:solidFill>
                <a:latin typeface="Microsoft YaHei"/>
              </a:rPr>
              <a:t>▸ </a:t>
            </a:r>
            <a:r>
              <a:rPr sz="819" b="1">
                <a:solidFill>
                  <a:srgbClr val="1E3A8A"/>
                </a:solidFill>
                <a:latin typeface="Microsoft YaHei"/>
              </a:rPr>
              <a:t>① 注册意图与预算：</a:t>
            </a:r>
            <a:r>
              <a:rPr sz="819">
                <a:solidFill>
                  <a:srgbClr val="1E293B"/>
                </a:solidFill>
                <a:latin typeface="Microsoft YaHei"/>
              </a:rPr>
              <a:t>瓶颈：频繁跨进程 RPC 导致微秒级穿透 ｜ 优化：进程内运行库轻量创建虚拟挂载句柄，零 IPC 损耗</a:t>
            </a:r>
          </a:p>
          <a:p>
            <a:pPr>
              <a:lnSpc>
                <a:spcPct val="112000"/>
              </a:lnSpc>
              <a:spcAft>
                <a:spcPts val="240"/>
              </a:spcAft>
            </a:pPr>
            <a:r>
              <a:rPr sz="819" b="1">
                <a:solidFill>
                  <a:srgbClr val="1E3A8A"/>
                </a:solidFill>
                <a:latin typeface="Microsoft YaHei"/>
              </a:rPr>
              <a:t>▸ </a:t>
            </a:r>
            <a:r>
              <a:rPr sz="819" b="1">
                <a:solidFill>
                  <a:srgbClr val="1E3A8A"/>
                </a:solidFill>
                <a:latin typeface="Microsoft YaHei"/>
              </a:rPr>
              <a:t>② 批量前缀查询：</a:t>
            </a:r>
            <a:r>
              <a:rPr sz="819">
                <a:solidFill>
                  <a:srgbClr val="1E293B"/>
                </a:solidFill>
                <a:latin typeface="Microsoft YaHei"/>
              </a:rPr>
              <a:t>瓶颈：单 Token 串行回溯匹配慢且易打满目录 ｜ 优化：多 Token 批量哈希，工作进程本地二级缓存削峰 80%</a:t>
            </a:r>
          </a:p>
          <a:p>
            <a:pPr>
              <a:lnSpc>
                <a:spcPct val="112000"/>
              </a:lnSpc>
              <a:spcAft>
                <a:spcPts val="240"/>
              </a:spcAft>
            </a:pPr>
            <a:r>
              <a:rPr sz="819" b="1">
                <a:solidFill>
                  <a:srgbClr val="1E3A8A"/>
                </a:solidFill>
                <a:latin typeface="Microsoft YaHei"/>
              </a:rPr>
              <a:t>▸ </a:t>
            </a:r>
            <a:r>
              <a:rPr sz="819" b="1">
                <a:solidFill>
                  <a:srgbClr val="1E3A8A"/>
                </a:solidFill>
                <a:latin typeface="Microsoft YaHei"/>
              </a:rPr>
              <a:t>③ 匹配候选定位：</a:t>
            </a:r>
            <a:r>
              <a:rPr sz="819">
                <a:solidFill>
                  <a:srgbClr val="1E293B"/>
                </a:solidFill>
                <a:latin typeface="Microsoft YaHei"/>
              </a:rPr>
              <a:t>瓶颈：集中式目录锁争用与广播网络风暴 ｜ 优化：1024 槽哈希分片，Follower 只读内存镜像并发检索 (P99 &lt; 200µs)</a:t>
            </a:r>
          </a:p>
          <a:p>
            <a:pPr>
              <a:lnSpc>
                <a:spcPct val="112000"/>
              </a:lnSpc>
              <a:spcAft>
                <a:spcPts val="240"/>
              </a:spcAft>
            </a:pPr>
            <a:r>
              <a:rPr sz="819" b="1">
                <a:solidFill>
                  <a:srgbClr val="1E3A8A"/>
                </a:solidFill>
                <a:latin typeface="Microsoft YaHei"/>
              </a:rPr>
              <a:t>▸ </a:t>
            </a:r>
            <a:r>
              <a:rPr sz="819" b="1">
                <a:solidFill>
                  <a:srgbClr val="1E3A8A"/>
                </a:solidFill>
                <a:latin typeface="Microsoft YaHei"/>
              </a:rPr>
              <a:t>④ 申请语义租约：</a:t>
            </a:r>
            <a:r>
              <a:rPr sz="819">
                <a:solidFill>
                  <a:srgbClr val="1E293B"/>
                </a:solidFill>
                <a:latin typeface="Microsoft YaHei"/>
              </a:rPr>
              <a:t>瓶颈：高频并发申请引发全局原子变量总线争用 ｜ 优化：POSIX 共享内存分段锁与无锁位图，本地批量预留引用计数</a:t>
            </a:r>
          </a:p>
          <a:p>
            <a:pPr>
              <a:lnSpc>
                <a:spcPct val="112000"/>
              </a:lnSpc>
              <a:spcAft>
                <a:spcPts val="240"/>
              </a:spcAft>
            </a:pPr>
            <a:r>
              <a:rPr sz="819" b="1">
                <a:solidFill>
                  <a:srgbClr val="1E3A8A"/>
                </a:solidFill>
                <a:latin typeface="Microsoft YaHei"/>
              </a:rPr>
              <a:t>▸ </a:t>
            </a:r>
            <a:r>
              <a:rPr sz="819" b="1">
                <a:solidFill>
                  <a:srgbClr val="1E3A8A"/>
                </a:solidFill>
                <a:latin typeface="Microsoft YaHei"/>
              </a:rPr>
              <a:t>⑤ 授权与锁回收：</a:t>
            </a:r>
            <a:r>
              <a:rPr sz="819">
                <a:solidFill>
                  <a:srgbClr val="1E293B"/>
                </a:solidFill>
                <a:latin typeface="Microsoft YaHei"/>
              </a:rPr>
              <a:t>瓶颈：读写冲突导致读到失效脏块或被 GC 回收 ｜ 优化：核验 6 维语义一致性后签发 LeaseToken，锁定回收屏障</a:t>
            </a:r>
          </a:p>
          <a:p>
            <a:pPr>
              <a:lnSpc>
                <a:spcPct val="112000"/>
              </a:lnSpc>
              <a:spcAft>
                <a:spcPts val="240"/>
              </a:spcAft>
            </a:pPr>
            <a:r>
              <a:rPr sz="819" b="1">
                <a:solidFill>
                  <a:srgbClr val="1E3A8A"/>
                </a:solidFill>
                <a:latin typeface="Microsoft YaHei"/>
              </a:rPr>
              <a:t>▸ </a:t>
            </a:r>
            <a:r>
              <a:rPr sz="819" b="1">
                <a:solidFill>
                  <a:srgbClr val="1E3A8A"/>
                </a:solidFill>
                <a:latin typeface="Microsoft YaHei"/>
              </a:rPr>
              <a:t>⑥ 成本决策编译：</a:t>
            </a:r>
            <a:r>
              <a:rPr sz="819">
                <a:solidFill>
                  <a:srgbClr val="1E293B"/>
                </a:solidFill>
                <a:latin typeface="Microsoft YaHei"/>
              </a:rPr>
              <a:t>瓶颈：离散物理块反复跨语言序列化 ｜ 优化：QueryPlan 成本模型核验净收益，O(N) 贪心合并为 64B POD 描述符</a:t>
            </a:r>
          </a:p>
          <a:p>
            <a:pPr>
              <a:lnSpc>
                <a:spcPct val="112000"/>
              </a:lnSpc>
              <a:spcAft>
                <a:spcPts val="240"/>
              </a:spcAft>
            </a:pPr>
            <a:r>
              <a:rPr sz="819" b="1">
                <a:solidFill>
                  <a:srgbClr val="1E3A8A"/>
                </a:solidFill>
                <a:latin typeface="Microsoft YaHei"/>
              </a:rPr>
              <a:t>▸ </a:t>
            </a:r>
            <a:r>
              <a:rPr sz="819" b="1">
                <a:solidFill>
                  <a:srgbClr val="1E3A8A"/>
                </a:solidFill>
                <a:latin typeface="Microsoft YaHei"/>
              </a:rPr>
              <a:t>⑦ 散聚传输直达：</a:t>
            </a:r>
            <a:r>
              <a:rPr sz="819">
                <a:solidFill>
                  <a:srgbClr val="1E293B"/>
                </a:solidFill>
                <a:latin typeface="Microsoft YaHei"/>
              </a:rPr>
              <a:t>瓶颈：CPU 搬运导致 DDR 带宽打满与总线争用 ｜ 优化：KPCL 驱动 RDMA/DMA 直通显存，绕过主机内存 (Bypass DDR)</a:t>
            </a:r>
          </a:p>
          <a:p>
            <a:pPr>
              <a:lnSpc>
                <a:spcPct val="112000"/>
              </a:lnSpc>
              <a:spcAft>
                <a:spcPts val="240"/>
              </a:spcAft>
            </a:pPr>
            <a:r>
              <a:rPr sz="819" b="1">
                <a:solidFill>
                  <a:srgbClr val="1E3A8A"/>
                </a:solidFill>
                <a:latin typeface="Microsoft YaHei"/>
              </a:rPr>
              <a:t>▸ </a:t>
            </a:r>
            <a:r>
              <a:rPr sz="819" b="1">
                <a:solidFill>
                  <a:srgbClr val="1E3A8A"/>
                </a:solidFill>
                <a:latin typeface="Microsoft YaHei"/>
              </a:rPr>
              <a:t>⑧ 可见性多卡对账：</a:t>
            </a:r>
            <a:r>
              <a:rPr sz="819">
                <a:solidFill>
                  <a:srgbClr val="1E293B"/>
                </a:solidFill>
                <a:latin typeface="Microsoft YaHei"/>
              </a:rPr>
              <a:t>瓶颈：TP=8 多卡时序差引发木桶等待与死锁 ｜ 优化：硬件 CQE 中断与共享内存单次原子 Doorbell 同步完成状态 (P99 &lt; 100µs)</a:t>
            </a:r>
          </a:p>
          <a:p>
            <a:pPr>
              <a:lnSpc>
                <a:spcPct val="112000"/>
              </a:lnSpc>
              <a:spcAft>
                <a:spcPts val="240"/>
              </a:spcAft>
            </a:pPr>
            <a:r>
              <a:rPr sz="819" b="1">
                <a:solidFill>
                  <a:srgbClr val="1E3A8A"/>
                </a:solidFill>
                <a:latin typeface="Microsoft YaHei"/>
              </a:rPr>
              <a:t>▸ </a:t>
            </a:r>
            <a:r>
              <a:rPr sz="819" b="1">
                <a:solidFill>
                  <a:srgbClr val="1E3A8A"/>
                </a:solidFill>
                <a:latin typeface="Microsoft YaHei"/>
              </a:rPr>
              <a:t>⑨ 安全生效挂载：</a:t>
            </a:r>
            <a:r>
              <a:rPr sz="819">
                <a:solidFill>
                  <a:srgbClr val="1E293B"/>
                </a:solidFill>
                <a:latin typeface="Microsoft YaHei"/>
              </a:rPr>
              <a:t>瓶颈：显存越界踩踏或挂载未完成块 ｜ 优化：核验硬件传输证据后原子挂载至 PagedAttention 块表，失败主动回退重算</a:t>
            </a:r>
          </a:p>
        </p:txBody>
      </p:sp>
      <p:sp>
        <p:nvSpPr>
          <p:cNvPr id="10" name="Rectangle 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目录候选发现与消费授权严格分离，数据接入前必须通过 6 维语义租约校验与硬件 CQE 可见性证据对账；全流程经历 9 步微秒因果链闭环。</a:t>
            </a:r>
            <a:r>
              <a:rPr sz="1150" b="1">
                <a:solidFill>
                  <a:srgbClr val="DC2626"/>
                </a:solidFill>
                <a:latin typeface="Microsoft YaHei"/>
              </a:rPr>
              <a:t>
任一环节超时或校验失败立即主动熔断并安全回退至本地重算，保障首字时延稳定性。</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专题四：元数据体系与四层分级组织架构</a:t>
            </a:r>
          </a:p>
          <a:p>
            <a:pPr>
              <a:spcBef>
                <a:spcPts val="300"/>
              </a:spcBef>
              <a:defRPr sz="1100">
                <a:solidFill>
                  <a:srgbClr val="475569"/>
                </a:solidFill>
                <a:latin typeface="Microsoft YaHei"/>
              </a:defRPr>
            </a:pPr>
            <a:r>
              <a:t>核心元数据源与数据结构职责解耦，多核无锁快照与 alignas(64) 缓存行对齐消除伪共享争用</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15 页</a:t>
            </a:r>
          </a:p>
        </p:txBody>
      </p:sp>
      <p:sp>
        <p:nvSpPr>
          <p:cNvPr id="4" name="Rectangle 3"/>
          <p:cNvSpPr/>
          <p:nvPr/>
        </p:nvSpPr>
        <p:spPr>
          <a:xfrm>
            <a:off x="457200"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78992"/>
            <a:ext cx="265176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1. 本地极速索引层</a:t>
            </a:r>
          </a:p>
          <a:p>
            <a:pPr algn="r">
              <a:defRPr sz="950" b="1">
                <a:solidFill>
                  <a:srgbClr val="BFDBFE"/>
                </a:solidFill>
                <a:latin typeface="Microsoft YaHei"/>
              </a:defRPr>
            </a:pPr>
            <a:r>
              <a:t>[工作进程内存]</a:t>
            </a:r>
          </a:p>
        </p:txBody>
      </p:sp>
      <p:sp>
        <p:nvSpPr>
          <p:cNvPr id="7" name="TextBox 6"/>
          <p:cNvSpPr txBox="1"/>
          <p:nvPr/>
        </p:nvSpPr>
        <p:spPr>
          <a:xfrm>
            <a:off x="457200" y="1444752"/>
            <a:ext cx="2651760" cy="2468880"/>
          </a:xfrm>
          <a:prstGeom prst="rect">
            <a:avLst/>
          </a:prstGeom>
          <a:noFill/>
        </p:spPr>
        <p:txBody>
          <a:bodyPr wrap="square" lIns="73152" tIns="73152" rIns="73152" bIns="73152">
            <a:spAutoFit/>
          </a:bodyPr>
          <a:lstStyle/>
          <a:p>
            <a:pPr>
              <a:lnSpc>
                <a:spcPct val="114000"/>
              </a:lnSpc>
              <a:spcAft>
                <a:spcPts val="300"/>
              </a:spcAft>
            </a:pPr>
            <a:r>
              <a:rPr sz="860" b="1">
                <a:solidFill>
                  <a:srgbClr val="1E3A8A"/>
                </a:solidFill>
                <a:latin typeface="Microsoft YaHei"/>
              </a:rPr>
              <a:t>▸ </a:t>
            </a:r>
            <a:r>
              <a:rPr sz="860" b="1">
                <a:solidFill>
                  <a:srgbClr val="1E3A8A"/>
                </a:solidFill>
                <a:latin typeface="Microsoft YaHei"/>
              </a:rPr>
              <a:t>数据结构与职责：</a:t>
            </a:r>
            <a:r>
              <a:rPr sz="860">
                <a:solidFill>
                  <a:srgbClr val="1E293B"/>
                </a:solidFill>
                <a:latin typeface="Microsoft YaHei"/>
              </a:rPr>
              <a:t>持有请求前缀哈希、ART 快照与负缓存位图；负责进程内匹配</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访问模式特征：</a:t>
            </a:r>
            <a:r>
              <a:rPr sz="860">
                <a:solidFill>
                  <a:srgbClr val="1E293B"/>
                </a:solidFill>
                <a:latin typeface="Microsoft YaHei"/>
              </a:rPr>
              <a:t>超高频读（数十万 QPS）、极低频写；瓶颈源于多核并发访问同一行引发的 L3 伪共享颠簸</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优化设计要点：</a:t>
            </a:r>
            <a:r>
              <a:rPr sz="860">
                <a:solidFill>
                  <a:srgbClr val="1E293B"/>
                </a:solidFill>
                <a:latin typeface="Microsoft YaHei"/>
              </a:rPr>
              <a:t>强制 alignas(64) 缓存行对齐，RCU 无锁快照读，遍历 P99 &lt; 2µs</a:t>
            </a:r>
          </a:p>
        </p:txBody>
      </p:sp>
      <p:sp>
        <p:nvSpPr>
          <p:cNvPr id="8" name="Rectangle 7"/>
          <p:cNvSpPr/>
          <p:nvPr/>
        </p:nvSpPr>
        <p:spPr>
          <a:xfrm>
            <a:off x="3328416"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28416" y="1078992"/>
            <a:ext cx="265176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8144"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2. 节点代理状态层</a:t>
            </a:r>
          </a:p>
          <a:p>
            <a:pPr algn="r">
              <a:defRPr sz="950" b="1">
                <a:solidFill>
                  <a:srgbClr val="BFDBFE"/>
                </a:solidFill>
                <a:latin typeface="Microsoft YaHei"/>
              </a:defRPr>
            </a:pPr>
            <a:r>
              <a:t>[节点专属守护]</a:t>
            </a:r>
          </a:p>
        </p:txBody>
      </p:sp>
      <p:sp>
        <p:nvSpPr>
          <p:cNvPr id="11" name="TextBox 10"/>
          <p:cNvSpPr txBox="1"/>
          <p:nvPr/>
        </p:nvSpPr>
        <p:spPr>
          <a:xfrm>
            <a:off x="3328416" y="1444752"/>
            <a:ext cx="2651760" cy="2468880"/>
          </a:xfrm>
          <a:prstGeom prst="rect">
            <a:avLst/>
          </a:prstGeom>
          <a:noFill/>
        </p:spPr>
        <p:txBody>
          <a:bodyPr wrap="square" lIns="73152" tIns="73152" rIns="73152" bIns="73152">
            <a:spAutoFit/>
          </a:bodyPr>
          <a:lstStyle/>
          <a:p>
            <a:pPr>
              <a:lnSpc>
                <a:spcPct val="114000"/>
              </a:lnSpc>
              <a:spcAft>
                <a:spcPts val="300"/>
              </a:spcAft>
            </a:pPr>
            <a:r>
              <a:rPr sz="860" b="1">
                <a:solidFill>
                  <a:srgbClr val="1E3A8A"/>
                </a:solidFill>
                <a:latin typeface="Microsoft YaHei"/>
              </a:rPr>
              <a:t>▸ </a:t>
            </a:r>
            <a:r>
              <a:rPr sz="860" b="1">
                <a:solidFill>
                  <a:srgbClr val="1E3A8A"/>
                </a:solidFill>
                <a:latin typeface="Microsoft YaHei"/>
              </a:rPr>
              <a:t>数据结构与职责：</a:t>
            </a:r>
            <a:r>
              <a:rPr sz="860">
                <a:solidFill>
                  <a:srgbClr val="1E293B"/>
                </a:solidFill>
                <a:latin typeface="Microsoft YaHei"/>
              </a:rPr>
              <a:t>维护对象持有权表、介质物理块分配表与租约 Epoch 代际仲裁表；管理单节点资源分配</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访问模式特征：</a:t>
            </a:r>
            <a:r>
              <a:rPr sz="860">
                <a:solidFill>
                  <a:srgbClr val="1E293B"/>
                </a:solidFill>
                <a:latin typeface="Microsoft YaHei"/>
              </a:rPr>
              <a:t>高频读（租约有效性校验）、中频改（计数增减与续期）；瓶颈源于跨进程 IPC 与原子锁争用</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优化设计要点：</a:t>
            </a:r>
            <a:r>
              <a:rPr sz="860">
                <a:solidFill>
                  <a:srgbClr val="1E293B"/>
                </a:solidFill>
                <a:latin typeface="Microsoft YaHei"/>
              </a:rPr>
              <a:t>基于 POSIX 共享内存与分段锁 (Striped Locks)，本地批量预留计数，核验 P99 &lt; 50µs</a:t>
            </a:r>
          </a:p>
        </p:txBody>
      </p:sp>
      <p:sp>
        <p:nvSpPr>
          <p:cNvPr id="12" name="Rectangle 11"/>
          <p:cNvSpPr/>
          <p:nvPr/>
        </p:nvSpPr>
        <p:spPr>
          <a:xfrm>
            <a:off x="6199632"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078992"/>
            <a:ext cx="265176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3. 分布式分片目录</a:t>
            </a:r>
          </a:p>
          <a:p>
            <a:pPr algn="r">
              <a:defRPr sz="950" b="1">
                <a:solidFill>
                  <a:srgbClr val="BFDBFE"/>
                </a:solidFill>
                <a:latin typeface="Microsoft YaHei"/>
              </a:defRPr>
            </a:pPr>
            <a:r>
              <a:t>[3节点高可用共识]</a:t>
            </a:r>
          </a:p>
        </p:txBody>
      </p:sp>
      <p:sp>
        <p:nvSpPr>
          <p:cNvPr id="15" name="TextBox 14"/>
          <p:cNvSpPr txBox="1"/>
          <p:nvPr/>
        </p:nvSpPr>
        <p:spPr>
          <a:xfrm>
            <a:off x="6199632" y="1444752"/>
            <a:ext cx="2651760" cy="2468880"/>
          </a:xfrm>
          <a:prstGeom prst="rect">
            <a:avLst/>
          </a:prstGeom>
          <a:noFill/>
        </p:spPr>
        <p:txBody>
          <a:bodyPr wrap="square" lIns="73152" tIns="73152" rIns="73152" bIns="73152">
            <a:spAutoFit/>
          </a:bodyPr>
          <a:lstStyle/>
          <a:p>
            <a:pPr>
              <a:lnSpc>
                <a:spcPct val="114000"/>
              </a:lnSpc>
              <a:spcAft>
                <a:spcPts val="300"/>
              </a:spcAft>
            </a:pPr>
            <a:r>
              <a:rPr sz="860" b="1">
                <a:solidFill>
                  <a:srgbClr val="1E3A8A"/>
                </a:solidFill>
                <a:latin typeface="Microsoft YaHei"/>
              </a:rPr>
              <a:t>▸ </a:t>
            </a:r>
            <a:r>
              <a:rPr sz="860" b="1">
                <a:solidFill>
                  <a:srgbClr val="1E3A8A"/>
                </a:solidFill>
                <a:latin typeface="Microsoft YaHei"/>
              </a:rPr>
              <a:t>数据结构与职责：</a:t>
            </a:r>
            <a:r>
              <a:rPr sz="860">
                <a:solidFill>
                  <a:srgbClr val="1E293B"/>
                </a:solidFill>
                <a:latin typeface="Microsoft YaHei"/>
              </a:rPr>
              <a:t>管理 1024 槽哈希分片与多副本视图；跨节点寻址，不碰正文</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访问模式特征：</a:t>
            </a:r>
            <a:r>
              <a:rPr sz="860">
                <a:solidFill>
                  <a:srgbClr val="1E293B"/>
                </a:solidFill>
                <a:latin typeface="Microsoft YaHei"/>
              </a:rPr>
              <a:t>高频读（前缀检索）、低频写（新对象发布）；瓶颈源于突发并发查询引发目录出端口 Incast 拥塞</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优化设计要点：</a:t>
            </a:r>
            <a:r>
              <a:rPr sz="860">
                <a:solidFill>
                  <a:srgbClr val="1E293B"/>
                </a:solidFill>
                <a:latin typeface="Microsoft YaHei"/>
              </a:rPr>
              <a:t>单写多读分离（Follower 并发只读、Leader Raft 提交），计算节点二级缓存削峰 80%</a:t>
            </a:r>
          </a:p>
        </p:txBody>
      </p:sp>
      <p:sp>
        <p:nvSpPr>
          <p:cNvPr id="16" name="Rectangle 15"/>
          <p:cNvSpPr/>
          <p:nvPr/>
        </p:nvSpPr>
        <p:spPr>
          <a:xfrm>
            <a:off x="9070848"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70848" y="1078992"/>
            <a:ext cx="2651760" cy="34747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0576"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4. 持久一致配置层</a:t>
            </a:r>
          </a:p>
          <a:p>
            <a:pPr algn="r">
              <a:defRPr sz="950" b="1">
                <a:solidFill>
                  <a:srgbClr val="BFDBFE"/>
                </a:solidFill>
                <a:latin typeface="Microsoft YaHei"/>
              </a:defRPr>
            </a:pPr>
            <a:r>
              <a:t>[独立管理节点集群]</a:t>
            </a:r>
          </a:p>
        </p:txBody>
      </p:sp>
      <p:sp>
        <p:nvSpPr>
          <p:cNvPr id="19" name="TextBox 18"/>
          <p:cNvSpPr txBox="1"/>
          <p:nvPr/>
        </p:nvSpPr>
        <p:spPr>
          <a:xfrm>
            <a:off x="9070848" y="1444752"/>
            <a:ext cx="2651760" cy="2468880"/>
          </a:xfrm>
          <a:prstGeom prst="rect">
            <a:avLst/>
          </a:prstGeom>
          <a:noFill/>
        </p:spPr>
        <p:txBody>
          <a:bodyPr wrap="square" lIns="73152" tIns="73152" rIns="73152" bIns="73152">
            <a:spAutoFit/>
          </a:bodyPr>
          <a:lstStyle/>
          <a:p>
            <a:pPr>
              <a:lnSpc>
                <a:spcPct val="114000"/>
              </a:lnSpc>
              <a:spcAft>
                <a:spcPts val="300"/>
              </a:spcAft>
            </a:pPr>
            <a:r>
              <a:rPr sz="860" b="1">
                <a:solidFill>
                  <a:srgbClr val="1E3A8A"/>
                </a:solidFill>
                <a:latin typeface="Microsoft YaHei"/>
              </a:rPr>
              <a:t>▸ </a:t>
            </a:r>
            <a:r>
              <a:rPr sz="860" b="1">
                <a:solidFill>
                  <a:srgbClr val="1E3A8A"/>
                </a:solidFill>
                <a:latin typeface="Microsoft YaHei"/>
              </a:rPr>
              <a:t>数据结构与职责：</a:t>
            </a:r>
            <a:r>
              <a:rPr sz="860">
                <a:solidFill>
                  <a:srgbClr val="1E293B"/>
                </a:solidFill>
                <a:latin typeface="Microsoft YaHei"/>
              </a:rPr>
              <a:t>保存集群静态拓扑、心跳凭据与租户密钥；全局静态配置管理</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访问模式特征：</a:t>
            </a:r>
            <a:r>
              <a:rPr sz="860">
                <a:solidFill>
                  <a:srgbClr val="1E293B"/>
                </a:solidFill>
                <a:latin typeface="Microsoft YaHei"/>
              </a:rPr>
              <a:t>极低频读写（冷启动、节点上下线）；误入热路径发起阻塞 RPC 将恶化 P99</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优化设计要点：</a:t>
            </a:r>
            <a:r>
              <a:rPr sz="860">
                <a:solidFill>
                  <a:srgbClr val="1E293B"/>
                </a:solidFill>
                <a:latin typeface="Microsoft YaHei"/>
              </a:rPr>
              <a:t>热路径严格物理禁入，节点启动一次性载入内存快照，网络分区与选举抖动不传导至在线推理</a:t>
            </a:r>
          </a:p>
        </p:txBody>
      </p:sp>
      <p:sp>
        <p:nvSpPr>
          <p:cNvPr id="20" name="Rectangle 19"/>
          <p:cNvSpPr/>
          <p:nvPr/>
        </p:nvSpPr>
        <p:spPr>
          <a:xfrm>
            <a:off x="457200"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041648"/>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在线推理高并发四大瓶颈场景与架构防线</a:t>
            </a:r>
          </a:p>
          <a:p>
            <a:pPr algn="r">
              <a:defRPr sz="950" b="1">
                <a:solidFill>
                  <a:srgbClr val="BFDBFE"/>
                </a:solidFill>
                <a:latin typeface="Microsoft YaHei"/>
              </a:defRPr>
            </a:pPr>
            <a:r>
              <a:t>[业务特征深度剖析]</a:t>
            </a:r>
          </a:p>
        </p:txBody>
      </p:sp>
      <p:sp>
        <p:nvSpPr>
          <p:cNvPr id="23" name="TextBox 22"/>
          <p:cNvSpPr txBox="1"/>
          <p:nvPr/>
        </p:nvSpPr>
        <p:spPr>
          <a:xfrm>
            <a:off x="457200"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a:t>
            </a:r>
            <a:r>
              <a:rPr sz="860" b="1">
                <a:solidFill>
                  <a:srgbClr val="1E3A8A"/>
                </a:solidFill>
                <a:latin typeface="Microsoft YaHei"/>
              </a:rPr>
              <a:t>突发长系统前缀并发复用：</a:t>
            </a:r>
            <a:r>
              <a:rPr sz="860">
                <a:solidFill>
                  <a:srgbClr val="1E293B"/>
                </a:solidFill>
                <a:latin typeface="Microsoft YaHei"/>
              </a:rPr>
              <a:t>数百请求并发检索相同前缀引发目录节点突发 Incast 拥塞 ｜ 防线：1024 槽哈希打散 + 本地二级缓存削峰 80%</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短输出长上下文并发 Prefill：</a:t>
            </a:r>
            <a:r>
              <a:rPr sz="860">
                <a:solidFill>
                  <a:srgbClr val="1E293B"/>
                </a:solidFill>
                <a:latin typeface="Microsoft YaHei"/>
              </a:rPr>
              <a:t>多卡多核并发访问本地前缀树导致 CPU L3 缓存行伪共享颠簸 ｜ 防线：元数据强制 alignas(64) 对齐 + RCU 无锁只读遍历</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跨节点加载频繁申请租约：</a:t>
            </a:r>
            <a:r>
              <a:rPr sz="860">
                <a:solidFill>
                  <a:srgbClr val="1E293B"/>
                </a:solidFill>
                <a:latin typeface="Microsoft YaHei"/>
              </a:rPr>
              <a:t>高 QPS 跨进程 IPC 调用消耗 50~200µs 穿透预算 ｜ 防线：控制面直接内嵌工作进程 + POSIX 共享内存分段操作 (&lt;50µs)</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客户端异常断连与超时取消：</a:t>
            </a:r>
            <a:r>
              <a:rPr sz="860">
                <a:solidFill>
                  <a:srgbClr val="1E293B"/>
                </a:solidFill>
                <a:latin typeface="Microsoft YaHei"/>
              </a:rPr>
              <a:t>异步硬件搬运与前台算子生命周期错位引发显存脏写 ｜ 防线：逻辑取消与底层硬件排空彻底解耦，在途 DMA 未完成禁止复用显存</a:t>
            </a:r>
          </a:p>
        </p:txBody>
      </p:sp>
      <p:sp>
        <p:nvSpPr>
          <p:cNvPr id="24" name="Rectangle 23"/>
          <p:cNvSpPr/>
          <p:nvPr/>
        </p:nvSpPr>
        <p:spPr>
          <a:xfrm>
            <a:off x="6199632"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99632" y="4041648"/>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具体元数据表读写分离与一致性保障机制</a:t>
            </a:r>
          </a:p>
          <a:p>
            <a:pPr algn="r">
              <a:defRPr sz="950" b="1">
                <a:solidFill>
                  <a:srgbClr val="BFDBFE"/>
                </a:solidFill>
                <a:latin typeface="Microsoft YaHei"/>
              </a:defRPr>
            </a:pPr>
            <a:r>
              <a:t>[核心表项对账机制]</a:t>
            </a:r>
          </a:p>
        </p:txBody>
      </p:sp>
      <p:sp>
        <p:nvSpPr>
          <p:cNvPr id="27" name="TextBox 26"/>
          <p:cNvSpPr txBox="1"/>
          <p:nvPr/>
        </p:nvSpPr>
        <p:spPr>
          <a:xfrm>
            <a:off x="6199632"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a:t>
            </a:r>
            <a:r>
              <a:rPr sz="860" b="1">
                <a:solidFill>
                  <a:srgbClr val="1E3A8A"/>
                </a:solidFill>
                <a:latin typeface="Microsoft YaHei"/>
              </a:rPr>
              <a:t>全局分片路由表 (Slot-&gt;NodeMap)：</a:t>
            </a:r>
            <a:r>
              <a:rPr sz="860">
                <a:solidFill>
                  <a:srgbClr val="1E293B"/>
                </a:solidFill>
                <a:latin typeface="Microsoft YaHei"/>
              </a:rPr>
              <a:t>单写多读，基于 Raft 日志线性一致同步；Follower 节点构建不可变只读内存镜像并发响应查询</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节点对象持有权表 (OwnershipTable)：</a:t>
            </a:r>
            <a:r>
              <a:rPr sz="860">
                <a:solidFill>
                  <a:srgbClr val="1E293B"/>
                </a:solidFill>
                <a:latin typeface="Microsoft YaHei"/>
              </a:rPr>
              <a:t>以 64B POD Extent 描述符存储，写端原子 CAS 指针翻转发布，读端零锁并发，消除跨语言反序列化</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租约代际状态表 (LeaseEpochTable)：</a:t>
            </a:r>
            <a:r>
              <a:rPr sz="860">
                <a:solidFill>
                  <a:srgbClr val="1E293B"/>
                </a:solidFill>
                <a:latin typeface="Microsoft YaHei"/>
              </a:rPr>
              <a:t>对象生命周期强绑定 Epoch 代际编号；节点故障、重启或网络断开时租约自然过期失效，底层自动阻断陈旧数据读取</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物理扇区分配位图 (SectorBitmap)：</a:t>
            </a:r>
            <a:r>
              <a:rPr sz="860">
                <a:solidFill>
                  <a:srgbClr val="1E293B"/>
                </a:solidFill>
                <a:latin typeface="Microsoft YaHei"/>
              </a:rPr>
              <a:t>管理 4KB 对齐的 NVMe 裸盘扇区，采用无锁原子位图操作，前台分配与后台异步垃圾回收互不阻塞</a:t>
            </a:r>
          </a:p>
        </p:txBody>
      </p:sp>
      <p:sp>
        <p:nvSpPr>
          <p:cNvPr id="28" name="Rectangle 2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元数据解耦四大权威源职责，通过 alignas(64) 对齐与无锁快照消除伪共享；控制面采用共享内存彻底消除跨进程 IPC 损耗。</a:t>
            </a:r>
            <a:r>
              <a:rPr sz="1150" b="1">
                <a:solidFill>
                  <a:srgbClr val="DC2626"/>
                </a:solidFill>
                <a:latin typeface="Microsoft YaHei"/>
              </a:rPr>
              <a:t>
在线热路径严格物理隔离 etcd，确保高并发微秒级响应稳定性。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专题五：对象全生命周期状态机与两阶段发布/RCU双层延迟回收</a:t>
            </a:r>
          </a:p>
          <a:p>
            <a:pPr>
              <a:spcBef>
                <a:spcPts val="300"/>
              </a:spcBef>
              <a:defRPr sz="1100">
                <a:solidFill>
                  <a:srgbClr val="475569"/>
                </a:solidFill>
                <a:latin typeface="Microsoft YaHei"/>
              </a:defRPr>
            </a:pPr>
            <a:r>
              <a:t>正文发布后严格不可变，两阶段发布防范半写脏块，通过 CPU 读者与硬件在途 I/O 双层宽限期保障安全释放</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07 / 15 页</a:t>
            </a:r>
          </a:p>
        </p:txBody>
      </p:sp>
      <p:sp>
        <p:nvSpPr>
          <p:cNvPr id="4" name="Rectangle 3"/>
          <p:cNvSpPr/>
          <p:nvPr/>
        </p:nvSpPr>
        <p:spPr>
          <a:xfrm>
            <a:off x="457200" y="1078992"/>
            <a:ext cx="2103120" cy="2834640"/>
          </a:xfrm>
          <a:prstGeom prst="rect">
            <a:avLst/>
          </a:prstGeom>
          <a:solidFill>
            <a:srgbClr val="F0F9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78992"/>
            <a:ext cx="2103120" cy="3291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① PREPARING (私有写入)</a:t>
            </a:r>
          </a:p>
        </p:txBody>
      </p:sp>
      <p:sp>
        <p:nvSpPr>
          <p:cNvPr id="7" name="TextBox 6"/>
          <p:cNvSpPr txBox="1"/>
          <p:nvPr/>
        </p:nvSpPr>
        <p:spPr>
          <a:xfrm>
            <a:off x="457200" y="1426464"/>
            <a:ext cx="2103120" cy="2468880"/>
          </a:xfrm>
          <a:prstGeom prst="rect">
            <a:avLst/>
          </a:prstGeom>
          <a:noFill/>
        </p:spPr>
        <p:txBody>
          <a:bodyPr wrap="square" lIns="73152" tIns="73152" rIns="73152" bIns="73152">
            <a:spAutoFit/>
          </a:bodyPr>
          <a:lstStyle/>
          <a:p>
            <a:pPr>
              <a:lnSpc>
                <a:spcPct val="112000"/>
              </a:lnSpc>
              <a:spcAft>
                <a:spcPts val="250"/>
              </a:spcAft>
            </a:pPr>
            <a:r>
              <a:rPr sz="850" b="1">
                <a:solidFill>
                  <a:srgbClr val="1E3A8A"/>
                </a:solidFill>
                <a:latin typeface="Microsoft YaHei"/>
              </a:rPr>
              <a:t>▸ </a:t>
            </a:r>
            <a:r>
              <a:rPr sz="850" b="1">
                <a:solidFill>
                  <a:srgbClr val="1E3A8A"/>
                </a:solidFill>
                <a:latin typeface="Microsoft YaHei"/>
              </a:rPr>
              <a:t>针对对象：</a:t>
            </a:r>
            <a:r>
              <a:rPr sz="850">
                <a:solidFill>
                  <a:srgbClr val="1E293B"/>
                </a:solidFill>
                <a:latin typeface="Microsoft YaHei"/>
              </a:rPr>
              <a:t>推理算子新生成的 KV 显存块</a:t>
            </a:r>
          </a:p>
          <a:p>
            <a:pPr>
              <a:lnSpc>
                <a:spcPct val="112000"/>
              </a:lnSpc>
              <a:spcAft>
                <a:spcPts val="250"/>
              </a:spcAft>
            </a:pPr>
            <a:r>
              <a:rPr sz="850" b="1">
                <a:solidFill>
                  <a:srgbClr val="1E3A8A"/>
                </a:solidFill>
                <a:latin typeface="Microsoft YaHei"/>
              </a:rPr>
              <a:t>▸ </a:t>
            </a:r>
            <a:r>
              <a:rPr sz="850" b="1">
                <a:solidFill>
                  <a:srgbClr val="1E3A8A"/>
                </a:solidFill>
                <a:latin typeface="Microsoft YaHei"/>
              </a:rPr>
              <a:t>执行动作：</a:t>
            </a:r>
            <a:r>
              <a:rPr sz="850">
                <a:solidFill>
                  <a:srgbClr val="1E293B"/>
                </a:solidFill>
                <a:latin typeface="Microsoft YaHei"/>
              </a:rPr>
              <a:t>算子在私有显存空间写入数据，并等待底座硬件返回 CQE 完成中断证据</a:t>
            </a:r>
          </a:p>
          <a:p>
            <a:pPr>
              <a:lnSpc>
                <a:spcPct val="112000"/>
              </a:lnSpc>
              <a:spcAft>
                <a:spcPts val="250"/>
              </a:spcAft>
            </a:pPr>
            <a:r>
              <a:rPr sz="850" b="1">
                <a:solidFill>
                  <a:srgbClr val="1E3A8A"/>
                </a:solidFill>
                <a:latin typeface="Microsoft YaHei"/>
              </a:rPr>
              <a:t>▸ </a:t>
            </a:r>
            <a:r>
              <a:rPr sz="850" b="1">
                <a:solidFill>
                  <a:srgbClr val="1E3A8A"/>
                </a:solidFill>
                <a:latin typeface="Microsoft YaHei"/>
              </a:rPr>
              <a:t>达成目标：</a:t>
            </a:r>
            <a:r>
              <a:rPr sz="850">
                <a:solidFill>
                  <a:srgbClr val="1E293B"/>
                </a:solidFill>
                <a:latin typeface="Microsoft YaHei"/>
              </a:rPr>
              <a:t>完成物理写入确认，未获完成证据前对外部绝对不可见</a:t>
            </a:r>
          </a:p>
        </p:txBody>
      </p:sp>
      <p:sp>
        <p:nvSpPr>
          <p:cNvPr id="8" name="Rectangle 7"/>
          <p:cNvSpPr/>
          <p:nvPr/>
        </p:nvSpPr>
        <p:spPr>
          <a:xfrm>
            <a:off x="2743200" y="1078992"/>
            <a:ext cx="2103120" cy="2834640"/>
          </a:xfrm>
          <a:prstGeom prst="rect">
            <a:avLst/>
          </a:prstGeom>
          <a:solidFill>
            <a:srgbClr val="F5F3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0" y="1078992"/>
            <a:ext cx="2103120" cy="329184"/>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52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② COMMITTED (硬件就绪)</a:t>
            </a:r>
          </a:p>
        </p:txBody>
      </p:sp>
      <p:sp>
        <p:nvSpPr>
          <p:cNvPr id="11" name="TextBox 10"/>
          <p:cNvSpPr txBox="1"/>
          <p:nvPr/>
        </p:nvSpPr>
        <p:spPr>
          <a:xfrm>
            <a:off x="2743200" y="1426464"/>
            <a:ext cx="2103120" cy="2468880"/>
          </a:xfrm>
          <a:prstGeom prst="rect">
            <a:avLst/>
          </a:prstGeom>
          <a:noFill/>
        </p:spPr>
        <p:txBody>
          <a:bodyPr wrap="square" lIns="73152" tIns="73152" rIns="73152" bIns="73152">
            <a:spAutoFit/>
          </a:bodyPr>
          <a:lstStyle/>
          <a:p>
            <a:pPr>
              <a:lnSpc>
                <a:spcPct val="112000"/>
              </a:lnSpc>
              <a:spcAft>
                <a:spcPts val="250"/>
              </a:spcAft>
            </a:pPr>
            <a:r>
              <a:rPr sz="850" b="1">
                <a:solidFill>
                  <a:srgbClr val="1E3A8A"/>
                </a:solidFill>
                <a:latin typeface="Microsoft YaHei"/>
              </a:rPr>
              <a:t>▸ </a:t>
            </a:r>
            <a:r>
              <a:rPr sz="850" b="1">
                <a:solidFill>
                  <a:srgbClr val="1E3A8A"/>
                </a:solidFill>
                <a:latin typeface="Microsoft YaHei"/>
              </a:rPr>
              <a:t>针对对象：</a:t>
            </a:r>
            <a:r>
              <a:rPr sz="850">
                <a:solidFill>
                  <a:srgbClr val="1E293B"/>
                </a:solidFill>
                <a:latin typeface="Microsoft YaHei"/>
              </a:rPr>
              <a:t>底层已完成写入确认的物理显存块</a:t>
            </a:r>
          </a:p>
          <a:p>
            <a:pPr>
              <a:lnSpc>
                <a:spcPct val="112000"/>
              </a:lnSpc>
              <a:spcAft>
                <a:spcPts val="250"/>
              </a:spcAft>
            </a:pPr>
            <a:r>
              <a:rPr sz="850" b="1">
                <a:solidFill>
                  <a:srgbClr val="1E3A8A"/>
                </a:solidFill>
                <a:latin typeface="Microsoft YaHei"/>
              </a:rPr>
              <a:t>▸ </a:t>
            </a:r>
            <a:r>
              <a:rPr sz="850" b="1">
                <a:solidFill>
                  <a:srgbClr val="1E3A8A"/>
                </a:solidFill>
                <a:latin typeface="Microsoft YaHei"/>
              </a:rPr>
              <a:t>执行动作：</a:t>
            </a:r>
            <a:r>
              <a:rPr sz="850">
                <a:solidFill>
                  <a:srgbClr val="1E293B"/>
                </a:solidFill>
                <a:latin typeface="Microsoft YaHei"/>
              </a:rPr>
              <a:t>对该块的模型版本、词表哈希、提示词模板等 6 维语义进行前置合法性检查</a:t>
            </a:r>
          </a:p>
          <a:p>
            <a:pPr>
              <a:lnSpc>
                <a:spcPct val="112000"/>
              </a:lnSpc>
              <a:spcAft>
                <a:spcPts val="250"/>
              </a:spcAft>
            </a:pPr>
            <a:r>
              <a:rPr sz="850" b="1">
                <a:solidFill>
                  <a:srgbClr val="1E3A8A"/>
                </a:solidFill>
                <a:latin typeface="Microsoft YaHei"/>
              </a:rPr>
              <a:t>▸ </a:t>
            </a:r>
            <a:r>
              <a:rPr sz="850" b="1">
                <a:solidFill>
                  <a:srgbClr val="1E3A8A"/>
                </a:solidFill>
                <a:latin typeface="Microsoft YaHei"/>
              </a:rPr>
              <a:t>达成目标：</a:t>
            </a:r>
            <a:r>
              <a:rPr sz="850">
                <a:solidFill>
                  <a:srgbClr val="1E293B"/>
                </a:solidFill>
                <a:latin typeface="Microsoft YaHei"/>
              </a:rPr>
              <a:t>确保数据完整无逻辑错，为全局发布做好准备</a:t>
            </a:r>
          </a:p>
        </p:txBody>
      </p:sp>
      <p:sp>
        <p:nvSpPr>
          <p:cNvPr id="12" name="Rectangle 11"/>
          <p:cNvSpPr/>
          <p:nvPr/>
        </p:nvSpPr>
        <p:spPr>
          <a:xfrm>
            <a:off x="5029200" y="1078992"/>
            <a:ext cx="2103120" cy="2834640"/>
          </a:xfrm>
          <a:prstGeom prst="rect">
            <a:avLst/>
          </a:prstGeom>
          <a:solidFill>
            <a:srgbClr val="ECFDF5"/>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0" y="1078992"/>
            <a:ext cx="2103120" cy="329184"/>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38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③ PUBLISHED (全局只读)</a:t>
            </a:r>
          </a:p>
        </p:txBody>
      </p:sp>
      <p:sp>
        <p:nvSpPr>
          <p:cNvPr id="15" name="TextBox 14"/>
          <p:cNvSpPr txBox="1"/>
          <p:nvPr/>
        </p:nvSpPr>
        <p:spPr>
          <a:xfrm>
            <a:off x="5029200" y="1426464"/>
            <a:ext cx="2103120" cy="2468880"/>
          </a:xfrm>
          <a:prstGeom prst="rect">
            <a:avLst/>
          </a:prstGeom>
          <a:noFill/>
        </p:spPr>
        <p:txBody>
          <a:bodyPr wrap="square" lIns="73152" tIns="73152" rIns="73152" bIns="73152">
            <a:spAutoFit/>
          </a:bodyPr>
          <a:lstStyle/>
          <a:p>
            <a:pPr>
              <a:lnSpc>
                <a:spcPct val="112000"/>
              </a:lnSpc>
              <a:spcAft>
                <a:spcPts val="250"/>
              </a:spcAft>
            </a:pPr>
            <a:r>
              <a:rPr sz="850" b="1">
                <a:solidFill>
                  <a:srgbClr val="1E3A8A"/>
                </a:solidFill>
                <a:latin typeface="Microsoft YaHei"/>
              </a:rPr>
              <a:t>▸ </a:t>
            </a:r>
            <a:r>
              <a:rPr sz="850" b="1">
                <a:solidFill>
                  <a:srgbClr val="1E3A8A"/>
                </a:solidFill>
                <a:latin typeface="Microsoft YaHei"/>
              </a:rPr>
              <a:t>针对对象：</a:t>
            </a:r>
            <a:r>
              <a:rPr sz="850">
                <a:solidFill>
                  <a:srgbClr val="1E293B"/>
                </a:solidFill>
                <a:latin typeface="Microsoft YaHei"/>
              </a:rPr>
              <a:t>通过 6 维语义一致性校验的合格缓存块</a:t>
            </a:r>
          </a:p>
          <a:p>
            <a:pPr>
              <a:lnSpc>
                <a:spcPct val="112000"/>
              </a:lnSpc>
              <a:spcAft>
                <a:spcPts val="250"/>
              </a:spcAft>
            </a:pPr>
            <a:r>
              <a:rPr sz="850" b="1">
                <a:solidFill>
                  <a:srgbClr val="1E3A8A"/>
                </a:solidFill>
                <a:latin typeface="Microsoft YaHei"/>
              </a:rPr>
              <a:t>▸ </a:t>
            </a:r>
            <a:r>
              <a:rPr sz="850" b="1">
                <a:solidFill>
                  <a:srgbClr val="1E3A8A"/>
                </a:solidFill>
                <a:latin typeface="Microsoft YaHei"/>
              </a:rPr>
              <a:t>执行动作：</a:t>
            </a:r>
            <a:r>
              <a:rPr sz="850">
                <a:solidFill>
                  <a:srgbClr val="1E293B"/>
                </a:solidFill>
                <a:latin typeface="Microsoft YaHei"/>
              </a:rPr>
              <a:t>原子翻转 Ready 就绪位，向分片目录注册全局可读句柄，正文严格物理只读</a:t>
            </a:r>
          </a:p>
          <a:p>
            <a:pPr>
              <a:lnSpc>
                <a:spcPct val="112000"/>
              </a:lnSpc>
              <a:spcAft>
                <a:spcPts val="250"/>
              </a:spcAft>
            </a:pPr>
            <a:r>
              <a:rPr sz="850" b="1">
                <a:solidFill>
                  <a:srgbClr val="1E3A8A"/>
                </a:solidFill>
                <a:latin typeface="Microsoft YaHei"/>
              </a:rPr>
              <a:t>▸ </a:t>
            </a:r>
            <a:r>
              <a:rPr sz="850" b="1">
                <a:solidFill>
                  <a:srgbClr val="1E3A8A"/>
                </a:solidFill>
                <a:latin typeface="Microsoft YaHei"/>
              </a:rPr>
              <a:t>达成目标：</a:t>
            </a:r>
            <a:r>
              <a:rPr sz="850">
                <a:solidFill>
                  <a:srgbClr val="1E293B"/>
                </a:solidFill>
                <a:latin typeface="Microsoft YaHei"/>
              </a:rPr>
              <a:t>允许集群内各推理进程并发挂载与安全复用，杜绝半写脏块</a:t>
            </a:r>
          </a:p>
        </p:txBody>
      </p:sp>
      <p:sp>
        <p:nvSpPr>
          <p:cNvPr id="16" name="Rectangle 15"/>
          <p:cNvSpPr/>
          <p:nvPr/>
        </p:nvSpPr>
        <p:spPr>
          <a:xfrm>
            <a:off x="7315200" y="1078992"/>
            <a:ext cx="2103120" cy="2834640"/>
          </a:xfrm>
          <a:prstGeom prst="rect">
            <a:avLst/>
          </a:prstGeom>
          <a:solidFill>
            <a:srgbClr val="FFFBEB"/>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0" y="1078992"/>
            <a:ext cx="2103120" cy="329184"/>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24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④ TOMBSTONE (逻辑软删除)</a:t>
            </a:r>
          </a:p>
        </p:txBody>
      </p:sp>
      <p:sp>
        <p:nvSpPr>
          <p:cNvPr id="19" name="TextBox 18"/>
          <p:cNvSpPr txBox="1"/>
          <p:nvPr/>
        </p:nvSpPr>
        <p:spPr>
          <a:xfrm>
            <a:off x="7315200" y="1426464"/>
            <a:ext cx="2103120" cy="2468880"/>
          </a:xfrm>
          <a:prstGeom prst="rect">
            <a:avLst/>
          </a:prstGeom>
          <a:noFill/>
        </p:spPr>
        <p:txBody>
          <a:bodyPr wrap="square" lIns="73152" tIns="73152" rIns="73152" bIns="73152">
            <a:spAutoFit/>
          </a:bodyPr>
          <a:lstStyle/>
          <a:p>
            <a:pPr>
              <a:lnSpc>
                <a:spcPct val="112000"/>
              </a:lnSpc>
              <a:spcAft>
                <a:spcPts val="250"/>
              </a:spcAft>
            </a:pPr>
            <a:r>
              <a:rPr sz="850" b="1">
                <a:solidFill>
                  <a:srgbClr val="1E3A8A"/>
                </a:solidFill>
                <a:latin typeface="Microsoft YaHei"/>
              </a:rPr>
              <a:t>▸ </a:t>
            </a:r>
            <a:r>
              <a:rPr sz="850" b="1">
                <a:solidFill>
                  <a:srgbClr val="1E3A8A"/>
                </a:solidFill>
                <a:latin typeface="Microsoft YaHei"/>
              </a:rPr>
              <a:t>针对对象：</a:t>
            </a:r>
            <a:r>
              <a:rPr sz="850">
                <a:solidFill>
                  <a:srgbClr val="1E293B"/>
                </a:solidFill>
                <a:latin typeface="Microsoft YaHei"/>
              </a:rPr>
              <a:t>因淘汰或失效的陈旧缓存块</a:t>
            </a:r>
          </a:p>
          <a:p>
            <a:pPr>
              <a:lnSpc>
                <a:spcPct val="112000"/>
              </a:lnSpc>
              <a:spcAft>
                <a:spcPts val="250"/>
              </a:spcAft>
            </a:pPr>
            <a:r>
              <a:rPr sz="850" b="1">
                <a:solidFill>
                  <a:srgbClr val="1E3A8A"/>
                </a:solidFill>
                <a:latin typeface="Microsoft YaHei"/>
              </a:rPr>
              <a:t>▸ </a:t>
            </a:r>
            <a:r>
              <a:rPr sz="850" b="1">
                <a:solidFill>
                  <a:srgbClr val="1E3A8A"/>
                </a:solidFill>
                <a:latin typeface="Microsoft YaHei"/>
              </a:rPr>
              <a:t>执行动作：</a:t>
            </a:r>
            <a:r>
              <a:rPr sz="850">
                <a:solidFill>
                  <a:srgbClr val="1E293B"/>
                </a:solidFill>
                <a:latin typeface="Microsoft YaHei"/>
              </a:rPr>
              <a:t>原子 CAS 将状态置为 TOMBSTONE 墓碑，从目录中注销并冻结持有权</a:t>
            </a:r>
          </a:p>
          <a:p>
            <a:pPr>
              <a:lnSpc>
                <a:spcPct val="112000"/>
              </a:lnSpc>
              <a:spcAft>
                <a:spcPts val="250"/>
              </a:spcAft>
            </a:pPr>
            <a:r>
              <a:rPr sz="850" b="1">
                <a:solidFill>
                  <a:srgbClr val="1E3A8A"/>
                </a:solidFill>
                <a:latin typeface="Microsoft YaHei"/>
              </a:rPr>
              <a:t>▸ </a:t>
            </a:r>
            <a:r>
              <a:rPr sz="850" b="1">
                <a:solidFill>
                  <a:srgbClr val="1E3A8A"/>
                </a:solidFill>
                <a:latin typeface="Microsoft YaHei"/>
              </a:rPr>
              <a:t>达成目标：</a:t>
            </a:r>
            <a:r>
              <a:rPr sz="850">
                <a:solidFill>
                  <a:srgbClr val="1E293B"/>
                </a:solidFill>
                <a:latin typeface="Microsoft YaHei"/>
              </a:rPr>
              <a:t>立即阻断新请求引用，但暂不释放底层物理显存</a:t>
            </a:r>
          </a:p>
        </p:txBody>
      </p:sp>
      <p:sp>
        <p:nvSpPr>
          <p:cNvPr id="20" name="Rectangle 19"/>
          <p:cNvSpPr/>
          <p:nvPr/>
        </p:nvSpPr>
        <p:spPr>
          <a:xfrm>
            <a:off x="9601200" y="1078992"/>
            <a:ext cx="2103120" cy="2834640"/>
          </a:xfrm>
          <a:prstGeom prst="rect">
            <a:avLst/>
          </a:prstGeom>
          <a:solidFill>
            <a:srgbClr val="FEF2F2"/>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601200" y="1078992"/>
            <a:ext cx="2103120" cy="32918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0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⑤ FREE (显存安全释放)</a:t>
            </a:r>
          </a:p>
        </p:txBody>
      </p:sp>
      <p:sp>
        <p:nvSpPr>
          <p:cNvPr id="23" name="TextBox 22"/>
          <p:cNvSpPr txBox="1"/>
          <p:nvPr/>
        </p:nvSpPr>
        <p:spPr>
          <a:xfrm>
            <a:off x="9601200" y="1426464"/>
            <a:ext cx="2103120" cy="2468880"/>
          </a:xfrm>
          <a:prstGeom prst="rect">
            <a:avLst/>
          </a:prstGeom>
          <a:noFill/>
        </p:spPr>
        <p:txBody>
          <a:bodyPr wrap="square" lIns="73152" tIns="73152" rIns="73152" bIns="73152">
            <a:spAutoFit/>
          </a:bodyPr>
          <a:lstStyle/>
          <a:p>
            <a:pPr>
              <a:lnSpc>
                <a:spcPct val="112000"/>
              </a:lnSpc>
              <a:spcAft>
                <a:spcPts val="250"/>
              </a:spcAft>
            </a:pPr>
            <a:r>
              <a:rPr sz="850" b="1">
                <a:solidFill>
                  <a:srgbClr val="1E3A8A"/>
                </a:solidFill>
                <a:latin typeface="Microsoft YaHei"/>
              </a:rPr>
              <a:t>▸ </a:t>
            </a:r>
            <a:r>
              <a:rPr sz="850" b="1">
                <a:solidFill>
                  <a:srgbClr val="1E3A8A"/>
                </a:solidFill>
                <a:latin typeface="Microsoft YaHei"/>
              </a:rPr>
              <a:t>针对对象：</a:t>
            </a:r>
            <a:r>
              <a:rPr sz="850">
                <a:solidFill>
                  <a:srgbClr val="1E293B"/>
                </a:solidFill>
                <a:latin typeface="Microsoft YaHei"/>
              </a:rPr>
              <a:t>标记墓碑且宽限期已彻底结束的废弃块</a:t>
            </a:r>
          </a:p>
          <a:p>
            <a:pPr>
              <a:lnSpc>
                <a:spcPct val="112000"/>
              </a:lnSpc>
              <a:spcAft>
                <a:spcPts val="250"/>
              </a:spcAft>
            </a:pPr>
            <a:r>
              <a:rPr sz="850" b="1">
                <a:solidFill>
                  <a:srgbClr val="1E3A8A"/>
                </a:solidFill>
                <a:latin typeface="Microsoft YaHei"/>
              </a:rPr>
              <a:t>▸ </a:t>
            </a:r>
            <a:r>
              <a:rPr sz="850" b="1">
                <a:solidFill>
                  <a:srgbClr val="1E3A8A"/>
                </a:solidFill>
                <a:latin typeface="Microsoft YaHei"/>
              </a:rPr>
              <a:t>执行动作：</a:t>
            </a:r>
            <a:r>
              <a:rPr sz="850">
                <a:solidFill>
                  <a:srgbClr val="1E293B"/>
                </a:solidFill>
                <a:latin typeface="Microsoft YaHei"/>
              </a:rPr>
              <a:t>严格等待 CPU 读线程全部退出且底层硬件在途 DMA 彻底排空后回收</a:t>
            </a:r>
          </a:p>
          <a:p>
            <a:pPr>
              <a:lnSpc>
                <a:spcPct val="112000"/>
              </a:lnSpc>
              <a:spcAft>
                <a:spcPts val="250"/>
              </a:spcAft>
            </a:pPr>
            <a:r>
              <a:rPr sz="850" b="1">
                <a:solidFill>
                  <a:srgbClr val="1E3A8A"/>
                </a:solidFill>
                <a:latin typeface="Microsoft YaHei"/>
              </a:rPr>
              <a:t>▸ </a:t>
            </a:r>
            <a:r>
              <a:rPr sz="850" b="1">
                <a:solidFill>
                  <a:srgbClr val="1E3A8A"/>
                </a:solidFill>
                <a:latin typeface="Microsoft YaHei"/>
              </a:rPr>
              <a:t>达成目标：</a:t>
            </a:r>
            <a:r>
              <a:rPr sz="850">
                <a:solidFill>
                  <a:srgbClr val="1E293B"/>
                </a:solidFill>
                <a:latin typeface="Microsoft YaHei"/>
              </a:rPr>
              <a:t>物理显存安全回收入池，彻底消除 Use-After-Free 内存踩踏</a:t>
            </a:r>
          </a:p>
        </p:txBody>
      </p:sp>
      <p:sp>
        <p:nvSpPr>
          <p:cNvPr id="24" name="Rectangle 23"/>
          <p:cNvSpPr/>
          <p:nvPr/>
        </p:nvSpPr>
        <p:spPr>
          <a:xfrm>
            <a:off x="457200"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041648"/>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两阶段安全发布机制 (Two-Phase Commit &amp; Publication)</a:t>
            </a:r>
          </a:p>
          <a:p>
            <a:pPr algn="r">
              <a:defRPr sz="950" b="1">
                <a:solidFill>
                  <a:srgbClr val="BFDBFE"/>
                </a:solidFill>
                <a:latin typeface="Microsoft YaHei"/>
              </a:defRPr>
            </a:pPr>
            <a:r>
              <a:t>[杜绝半写脏块]</a:t>
            </a:r>
          </a:p>
        </p:txBody>
      </p:sp>
      <p:sp>
        <p:nvSpPr>
          <p:cNvPr id="27" name="TextBox 26"/>
          <p:cNvSpPr txBox="1"/>
          <p:nvPr/>
        </p:nvSpPr>
        <p:spPr>
          <a:xfrm>
            <a:off x="457200"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a:t>
            </a:r>
            <a:r>
              <a:rPr sz="860" b="1">
                <a:solidFill>
                  <a:srgbClr val="1E3A8A"/>
                </a:solidFill>
                <a:latin typeface="Microsoft YaHei"/>
              </a:rPr>
              <a:t>机制设计意图：</a:t>
            </a:r>
            <a:r>
              <a:rPr sz="860">
                <a:solidFill>
                  <a:srgbClr val="1E293B"/>
                </a:solidFill>
                <a:latin typeface="Microsoft YaHei"/>
              </a:rPr>
              <a:t>在 Prefill 阶段算子生成 KV 块时，正文处于私有写入状态。若立刻发布，下游消费者可能读到刚写了一半的残缺数据，导致注意力算子崩溃或生成乱码</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架构防线：</a:t>
            </a:r>
            <a:r>
              <a:rPr sz="860">
                <a:solidFill>
                  <a:srgbClr val="1E293B"/>
                </a:solidFill>
                <a:latin typeface="Microsoft YaHei"/>
              </a:rPr>
              <a:t>物理写入阶段状态为 PREPARING，仅在底层 DMA 完成且收到硬件 CQE 证据后置为 COMMITTED；经 6 维语义校验合格才原子翻转 Ready 就绪位发布为 PUBLISHED</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安全不变量：</a:t>
            </a:r>
            <a:r>
              <a:rPr sz="860">
                <a:solidFill>
                  <a:srgbClr val="1E293B"/>
                </a:solidFill>
                <a:latin typeface="Microsoft YaHei"/>
              </a:rPr>
              <a:t>未取得硬件落盘证据前对外部完全不可见，彻底杜绝下游消费未写完的半写脏块</a:t>
            </a:r>
          </a:p>
        </p:txBody>
      </p:sp>
      <p:sp>
        <p:nvSpPr>
          <p:cNvPr id="28" name="Rectangle 27"/>
          <p:cNvSpPr/>
          <p:nvPr/>
        </p:nvSpPr>
        <p:spPr>
          <a:xfrm>
            <a:off x="6199632"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9632" y="4041648"/>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0"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RCU 双层宽限期延迟回收机制 (RCU Grace Period Arbitration)</a:t>
            </a:r>
          </a:p>
          <a:p>
            <a:pPr algn="r">
              <a:defRPr sz="950" b="1">
                <a:solidFill>
                  <a:srgbClr val="BFDBFE"/>
                </a:solidFill>
                <a:latin typeface="Microsoft YaHei"/>
              </a:defRPr>
            </a:pPr>
            <a:r>
              <a:t>[消除 UAF 内存踩踏]</a:t>
            </a:r>
          </a:p>
        </p:txBody>
      </p:sp>
      <p:sp>
        <p:nvSpPr>
          <p:cNvPr id="31" name="TextBox 30"/>
          <p:cNvSpPr txBox="1"/>
          <p:nvPr/>
        </p:nvSpPr>
        <p:spPr>
          <a:xfrm>
            <a:off x="6199632"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a:t>
            </a:r>
            <a:r>
              <a:rPr sz="860" b="1">
                <a:solidFill>
                  <a:srgbClr val="1E3A8A"/>
                </a:solidFill>
                <a:latin typeface="Microsoft YaHei"/>
              </a:rPr>
              <a:t>机制设计意图：</a:t>
            </a:r>
            <a:r>
              <a:rPr sz="860">
                <a:solidFill>
                  <a:srgbClr val="1E293B"/>
                </a:solidFill>
                <a:latin typeface="Microsoft YaHei"/>
              </a:rPr>
              <a:t>跨节点远端直读或本地算子可能仍在读取淘汰块；若直接释放，被新请求复用后将引发致命的 Use-After-Free 内存踩踏与系统异常</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架构防线：</a:t>
            </a:r>
            <a:r>
              <a:rPr sz="860">
                <a:solidFill>
                  <a:srgbClr val="1E293B"/>
                </a:solidFill>
                <a:latin typeface="Microsoft YaHei"/>
              </a:rPr>
              <a:t>淘汰时先置 TOMBSTONE 墓碑阻断新引用，物理释放 (FREE) 必须跨越双层屏障：① 监听所有 Host CPU 读线程退出 RCU 临界区；② 监听 NPU Stream Event 与在途 DMA 彻底排空</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安全不变量：</a:t>
            </a:r>
            <a:r>
              <a:rPr sz="860">
                <a:solidFill>
                  <a:srgbClr val="1E293B"/>
                </a:solidFill>
                <a:latin typeface="Microsoft YaHei"/>
              </a:rPr>
              <a:t>双层宽限期确认结束前严禁重置显存物理页，彻底消除并发悬空指针与脏写踩踏风险</a:t>
            </a:r>
          </a:p>
        </p:txBody>
      </p:sp>
      <p:sp>
        <p:nvSpPr>
          <p:cNvPr id="32" name="Rectangle 31"/>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不可变对象发布后正文物理只读，严格执行两阶段发布以杜绝下游消费未写完脏块；淘汰时先置墓碑阻断新引用。</a:t>
            </a:r>
            <a:r>
              <a:rPr sz="1150" b="1">
                <a:solidFill>
                  <a:srgbClr val="DC2626"/>
                </a:solidFill>
                <a:latin typeface="Microsoft YaHei"/>
              </a:rPr>
              <a:t>
显存物理回收必须满足 Host CPU 读线程退出与硬件在途 I/O 排空双层宽限期，彻底消除 Use-After-Free 踩踏风险。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专题六：三面物理隔离与 Payload Bypass DDR 硬件直通路</a:t>
            </a:r>
          </a:p>
          <a:p>
            <a:pPr>
              <a:spcBef>
                <a:spcPts val="300"/>
              </a:spcBef>
              <a:defRPr sz="1100">
                <a:solidFill>
                  <a:srgbClr val="475569"/>
                </a:solidFill>
                <a:latin typeface="Microsoft YaHei"/>
              </a:defRPr>
            </a:pPr>
            <a:r>
              <a:t>管理面、控制面、数据面三面物理资源严格正交，数据直接流转于网卡/SSD 与显存之间完全绕过主机内存</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08 / 15 页</a:t>
            </a:r>
          </a:p>
        </p:txBody>
      </p:sp>
      <p:sp>
        <p:nvSpPr>
          <p:cNvPr id="4" name="Rectangle 3"/>
          <p:cNvSpPr/>
          <p:nvPr/>
        </p:nvSpPr>
        <p:spPr>
          <a:xfrm>
            <a:off x="457200" y="1078992"/>
            <a:ext cx="361188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78992"/>
            <a:ext cx="36118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1. 管理面物理隔离 (Management Plane)</a:t>
            </a:r>
          </a:p>
        </p:txBody>
      </p:sp>
      <p:sp>
        <p:nvSpPr>
          <p:cNvPr id="7" name="TextBox 6"/>
          <p:cNvSpPr txBox="1"/>
          <p:nvPr/>
        </p:nvSpPr>
        <p:spPr>
          <a:xfrm>
            <a:off x="457200" y="1444752"/>
            <a:ext cx="3611880" cy="2468880"/>
          </a:xfrm>
          <a:prstGeom prst="rect">
            <a:avLst/>
          </a:prstGeom>
          <a:noFill/>
        </p:spPr>
        <p:txBody>
          <a:bodyPr wrap="square" lIns="73152" tIns="73152" rIns="73152" bIns="73152">
            <a:spAutoFit/>
          </a:bodyPr>
          <a:lstStyle/>
          <a:p>
            <a:pPr>
              <a:lnSpc>
                <a:spcPct val="112000"/>
              </a:lnSpc>
              <a:spcAft>
                <a:spcPts val="250"/>
              </a:spcAft>
            </a:pPr>
            <a:r>
              <a:rPr sz="860" b="1">
                <a:solidFill>
                  <a:srgbClr val="1E3A8A"/>
                </a:solidFill>
                <a:latin typeface="Microsoft YaHei"/>
              </a:rPr>
              <a:t>▸ </a:t>
            </a:r>
            <a:r>
              <a:rPr sz="860" b="1">
                <a:solidFill>
                  <a:srgbClr val="1E3A8A"/>
                </a:solidFill>
                <a:latin typeface="Microsoft YaHei"/>
              </a:rPr>
              <a:t>部署形态：</a:t>
            </a:r>
            <a:r>
              <a:rPr sz="860">
                <a:solidFill>
                  <a:srgbClr val="1E293B"/>
                </a:solidFill>
                <a:latin typeface="Microsoft YaHei"/>
              </a:rPr>
              <a:t>etcd 持久集群与 kvc-controller 部署于独立管理节点，端口物理隔离</a:t>
            </a:r>
          </a:p>
          <a:p>
            <a:pPr>
              <a:lnSpc>
                <a:spcPct val="112000"/>
              </a:lnSpc>
              <a:spcAft>
                <a:spcPts val="250"/>
              </a:spcAft>
            </a:pPr>
            <a:r>
              <a:rPr sz="860" b="1">
                <a:solidFill>
                  <a:srgbClr val="1E3A8A"/>
                </a:solidFill>
                <a:latin typeface="Microsoft YaHei"/>
              </a:rPr>
              <a:t>▸ </a:t>
            </a:r>
            <a:r>
              <a:rPr sz="860" b="1">
                <a:solidFill>
                  <a:srgbClr val="1E3A8A"/>
                </a:solidFill>
                <a:latin typeface="Microsoft YaHei"/>
              </a:rPr>
              <a:t>核心职责：</a:t>
            </a:r>
            <a:r>
              <a:rPr sz="860">
                <a:solidFill>
                  <a:srgbClr val="1E293B"/>
                </a:solidFill>
                <a:latin typeface="Microsoft YaHei"/>
              </a:rPr>
              <a:t>负责集群拓扑维护、容量配额治理与冷分层策略下发</a:t>
            </a:r>
          </a:p>
          <a:p>
            <a:pPr>
              <a:lnSpc>
                <a:spcPct val="112000"/>
              </a:lnSpc>
              <a:spcAft>
                <a:spcPts val="250"/>
              </a:spcAft>
            </a:pPr>
            <a:r>
              <a:rPr sz="860" b="1">
                <a:solidFill>
                  <a:srgbClr val="1E3A8A"/>
                </a:solidFill>
                <a:latin typeface="Microsoft YaHei"/>
              </a:rPr>
              <a:t>▸ </a:t>
            </a:r>
            <a:r>
              <a:rPr sz="860" b="1">
                <a:solidFill>
                  <a:srgbClr val="1E3A8A"/>
                </a:solidFill>
                <a:latin typeface="Microsoft YaHei"/>
              </a:rPr>
              <a:t>隔离特征：</a:t>
            </a:r>
            <a:r>
              <a:rPr sz="860">
                <a:solidFill>
                  <a:srgbClr val="1E293B"/>
                </a:solidFill>
                <a:latin typeface="Microsoft YaHei"/>
              </a:rPr>
              <a:t>极低频访问，绝不进入在线单请求关键路径；管理面故障由本地快照兜底</a:t>
            </a:r>
          </a:p>
        </p:txBody>
      </p:sp>
      <p:sp>
        <p:nvSpPr>
          <p:cNvPr id="8" name="Rectangle 7"/>
          <p:cNvSpPr/>
          <p:nvPr/>
        </p:nvSpPr>
        <p:spPr>
          <a:xfrm>
            <a:off x="4288536" y="1078992"/>
            <a:ext cx="361188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88536" y="1078992"/>
            <a:ext cx="361188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98264"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2. 控制面微秒决策 (Control Plane)</a:t>
            </a:r>
          </a:p>
        </p:txBody>
      </p:sp>
      <p:sp>
        <p:nvSpPr>
          <p:cNvPr id="11" name="TextBox 10"/>
          <p:cNvSpPr txBox="1"/>
          <p:nvPr/>
        </p:nvSpPr>
        <p:spPr>
          <a:xfrm>
            <a:off x="4288536" y="1444752"/>
            <a:ext cx="3611880" cy="2468880"/>
          </a:xfrm>
          <a:prstGeom prst="rect">
            <a:avLst/>
          </a:prstGeom>
          <a:noFill/>
        </p:spPr>
        <p:txBody>
          <a:bodyPr wrap="square" lIns="73152" tIns="73152" rIns="73152" bIns="73152">
            <a:spAutoFit/>
          </a:bodyPr>
          <a:lstStyle/>
          <a:p>
            <a:pPr>
              <a:lnSpc>
                <a:spcPct val="112000"/>
              </a:lnSpc>
              <a:spcAft>
                <a:spcPts val="250"/>
              </a:spcAft>
            </a:pPr>
            <a:r>
              <a:rPr sz="860" b="1">
                <a:solidFill>
                  <a:srgbClr val="1E3A8A"/>
                </a:solidFill>
                <a:latin typeface="Microsoft YaHei"/>
              </a:rPr>
              <a:t>▸ </a:t>
            </a:r>
            <a:r>
              <a:rPr sz="860" b="1">
                <a:solidFill>
                  <a:srgbClr val="1E3A8A"/>
                </a:solidFill>
                <a:latin typeface="Microsoft YaHei"/>
              </a:rPr>
              <a:t>部署形态：</a:t>
            </a:r>
            <a:r>
              <a:rPr sz="860">
                <a:solidFill>
                  <a:srgbClr val="1E293B"/>
                </a:solidFill>
                <a:latin typeface="Microsoft YaHei"/>
              </a:rPr>
              <a:t>libkvc_runtime 嵌入工作进程，kvc-node 独占绑定计算节点物理核</a:t>
            </a:r>
          </a:p>
          <a:p>
            <a:pPr>
              <a:lnSpc>
                <a:spcPct val="112000"/>
              </a:lnSpc>
              <a:spcAft>
                <a:spcPts val="250"/>
              </a:spcAft>
            </a:pPr>
            <a:r>
              <a:rPr sz="860" b="1">
                <a:solidFill>
                  <a:srgbClr val="1E3A8A"/>
                </a:solidFill>
                <a:latin typeface="Microsoft YaHei"/>
              </a:rPr>
              <a:t>▸ </a:t>
            </a:r>
            <a:r>
              <a:rPr sz="860" b="1">
                <a:solidFill>
                  <a:srgbClr val="1E3A8A"/>
                </a:solidFill>
                <a:latin typeface="Microsoft YaHei"/>
              </a:rPr>
              <a:t>核心职责：</a:t>
            </a:r>
            <a:r>
              <a:rPr sz="860">
                <a:solidFill>
                  <a:srgbClr val="1E293B"/>
                </a:solidFill>
                <a:latin typeface="Microsoft YaHei"/>
              </a:rPr>
              <a:t>依托无锁 ART 树与 QueryPlan 成本模型，信令交互全在内存微秒完成 (P99 &lt; 5µs)</a:t>
            </a:r>
          </a:p>
          <a:p>
            <a:pPr>
              <a:lnSpc>
                <a:spcPct val="112000"/>
              </a:lnSpc>
              <a:spcAft>
                <a:spcPts val="250"/>
              </a:spcAft>
            </a:pPr>
            <a:r>
              <a:rPr sz="860" b="1">
                <a:solidFill>
                  <a:srgbClr val="1E3A8A"/>
                </a:solidFill>
                <a:latin typeface="Microsoft YaHei"/>
              </a:rPr>
              <a:t>▸ </a:t>
            </a:r>
            <a:r>
              <a:rPr sz="860" b="1">
                <a:solidFill>
                  <a:srgbClr val="1E3A8A"/>
                </a:solidFill>
                <a:latin typeface="Microsoft YaHei"/>
              </a:rPr>
              <a:t>隔离特征：</a:t>
            </a:r>
            <a:r>
              <a:rPr sz="860">
                <a:solidFill>
                  <a:srgbClr val="1E293B"/>
                </a:solidFill>
                <a:latin typeface="Microsoft YaHei"/>
              </a:rPr>
              <a:t>负责哈希检索与租约校验，仅处理信令，不搬运数据</a:t>
            </a:r>
          </a:p>
        </p:txBody>
      </p:sp>
      <p:sp>
        <p:nvSpPr>
          <p:cNvPr id="12" name="Rectangle 11"/>
          <p:cNvSpPr/>
          <p:nvPr/>
        </p:nvSpPr>
        <p:spPr>
          <a:xfrm>
            <a:off x="8119872" y="1078992"/>
            <a:ext cx="361188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19872" y="1078992"/>
            <a:ext cx="361188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3. 数据面零拷贝与三介质分层</a:t>
            </a:r>
          </a:p>
        </p:txBody>
      </p:sp>
      <p:sp>
        <p:nvSpPr>
          <p:cNvPr id="15" name="TextBox 14"/>
          <p:cNvSpPr txBox="1"/>
          <p:nvPr/>
        </p:nvSpPr>
        <p:spPr>
          <a:xfrm>
            <a:off x="8119872" y="1444752"/>
            <a:ext cx="3611880" cy="2468880"/>
          </a:xfrm>
          <a:prstGeom prst="rect">
            <a:avLst/>
          </a:prstGeom>
          <a:noFill/>
        </p:spPr>
        <p:txBody>
          <a:bodyPr wrap="square" lIns="73152" tIns="73152" rIns="73152" bIns="73152">
            <a:spAutoFit/>
          </a:bodyPr>
          <a:lstStyle/>
          <a:p>
            <a:pPr>
              <a:lnSpc>
                <a:spcPct val="112000"/>
              </a:lnSpc>
              <a:spcAft>
                <a:spcPts val="250"/>
              </a:spcAft>
            </a:pPr>
            <a:r>
              <a:rPr sz="860" b="1">
                <a:solidFill>
                  <a:srgbClr val="1E3A8A"/>
                </a:solidFill>
                <a:latin typeface="Microsoft YaHei"/>
              </a:rPr>
              <a:t>▸ </a:t>
            </a:r>
            <a:r>
              <a:rPr sz="860" b="1">
                <a:solidFill>
                  <a:srgbClr val="1E3A8A"/>
                </a:solidFill>
                <a:latin typeface="Microsoft YaHei"/>
              </a:rPr>
              <a:t>NPU HBM 显存：</a:t>
            </a:r>
            <a:r>
              <a:rPr sz="860">
                <a:solidFill>
                  <a:srgbClr val="1E293B"/>
                </a:solidFill>
                <a:latin typeface="Microsoft YaHei"/>
              </a:rPr>
              <a:t>存放当前模型前向推理即时执行的热数据，算子直接寻址</a:t>
            </a:r>
          </a:p>
          <a:p>
            <a:pPr>
              <a:lnSpc>
                <a:spcPct val="112000"/>
              </a:lnSpc>
              <a:spcAft>
                <a:spcPts val="250"/>
              </a:spcAft>
            </a:pPr>
            <a:r>
              <a:rPr sz="860" b="1">
                <a:solidFill>
                  <a:srgbClr val="1E3A8A"/>
                </a:solidFill>
                <a:latin typeface="Microsoft YaHei"/>
              </a:rPr>
              <a:t>▸ </a:t>
            </a:r>
            <a:r>
              <a:rPr sz="860" b="1">
                <a:solidFill>
                  <a:srgbClr val="1E3A8A"/>
                </a:solidFill>
                <a:latin typeface="Microsoft YaHei"/>
              </a:rPr>
              <a:t>Host DDR 内存：</a:t>
            </a:r>
            <a:r>
              <a:rPr sz="860">
                <a:solidFill>
                  <a:srgbClr val="1E293B"/>
                </a:solidFill>
                <a:latin typeface="Microsoft YaHei"/>
              </a:rPr>
              <a:t>百 GB 级高吞吐热/温缓存扩展，存放高频前缀与会话，通过 PCIe 极速搬运</a:t>
            </a:r>
          </a:p>
          <a:p>
            <a:pPr>
              <a:lnSpc>
                <a:spcPct val="112000"/>
              </a:lnSpc>
              <a:spcAft>
                <a:spcPts val="250"/>
              </a:spcAft>
            </a:pPr>
            <a:r>
              <a:rPr sz="860" b="1">
                <a:solidFill>
                  <a:srgbClr val="1E3A8A"/>
                </a:solidFill>
                <a:latin typeface="Microsoft YaHei"/>
              </a:rPr>
              <a:t>▸ </a:t>
            </a:r>
            <a:r>
              <a:rPr sz="860" b="1">
                <a:solidFill>
                  <a:srgbClr val="1E3A8A"/>
                </a:solidFill>
                <a:latin typeface="Microsoft YaHei"/>
              </a:rPr>
              <a:t>NVMe SSD 裸盘：</a:t>
            </a:r>
            <a:r>
              <a:rPr sz="860">
                <a:solidFill>
                  <a:srgbClr val="1E293B"/>
                </a:solidFill>
                <a:latin typeface="Microsoft YaHei"/>
              </a:rPr>
              <a:t>TB 级海量冷数据异步持久化沉淀，提供大容量低成本冷缓存池</a:t>
            </a:r>
          </a:p>
          <a:p>
            <a:pPr>
              <a:lnSpc>
                <a:spcPct val="112000"/>
              </a:lnSpc>
              <a:spcAft>
                <a:spcPts val="250"/>
              </a:spcAft>
            </a:pPr>
            <a:r>
              <a:rPr sz="860" b="1">
                <a:solidFill>
                  <a:srgbClr val="1E3A8A"/>
                </a:solidFill>
                <a:latin typeface="Microsoft YaHei"/>
              </a:rPr>
              <a:t>▸ </a:t>
            </a:r>
            <a:r>
              <a:rPr sz="860" b="1">
                <a:solidFill>
                  <a:srgbClr val="1E3A8A"/>
                </a:solidFill>
                <a:latin typeface="Microsoft YaHei"/>
              </a:rPr>
              <a:t>直通路机制：</a:t>
            </a:r>
            <a:r>
              <a:rPr sz="860">
                <a:solidFill>
                  <a:srgbClr val="1E293B"/>
                </a:solidFill>
                <a:latin typeface="Microsoft YaHei"/>
              </a:rPr>
              <a:t>硬件 DMA 直达显存，绕过主机内存 (Bypass DDR)，消除 CPU 内存争用</a:t>
            </a:r>
          </a:p>
        </p:txBody>
      </p:sp>
      <p:sp>
        <p:nvSpPr>
          <p:cNvPr id="16" name="Rectangle 15"/>
          <p:cNvSpPr/>
          <p:nvPr/>
        </p:nvSpPr>
        <p:spPr>
          <a:xfrm>
            <a:off x="457200"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4041648"/>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RoCE 网络硬件 QoS 双轨与微秒自适应退避</a:t>
            </a:r>
          </a:p>
          <a:p>
            <a:pPr algn="r">
              <a:defRPr sz="950" b="1">
                <a:solidFill>
                  <a:srgbClr val="BFDBFE"/>
                </a:solidFill>
                <a:latin typeface="Microsoft YaHei"/>
              </a:defRPr>
            </a:pPr>
            <a:r>
              <a:t>[尾部时延保障]</a:t>
            </a:r>
          </a:p>
        </p:txBody>
      </p:sp>
      <p:sp>
        <p:nvSpPr>
          <p:cNvPr id="19" name="TextBox 18"/>
          <p:cNvSpPr txBox="1"/>
          <p:nvPr/>
        </p:nvSpPr>
        <p:spPr>
          <a:xfrm>
            <a:off x="457200"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a:t>
            </a:r>
            <a:r>
              <a:rPr sz="860" b="1">
                <a:solidFill>
                  <a:srgbClr val="1E3A8A"/>
                </a:solidFill>
                <a:latin typeface="Microsoft YaHei"/>
              </a:rPr>
              <a:t>硬件队列映射：</a:t>
            </a:r>
            <a:r>
              <a:rPr sz="860">
                <a:solidFill>
                  <a:srgbClr val="1E293B"/>
                </a:solidFill>
                <a:latin typeface="Microsoft YaHei"/>
              </a:rPr>
              <a:t>借助 DSCP/CoS 映射，将在线高优推理流量严格绑定至 RoCE 硬件最高优先级的 TC0 队列</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后台流量限制：</a:t>
            </a:r>
            <a:r>
              <a:rPr sz="860">
                <a:solidFill>
                  <a:srgbClr val="1E293B"/>
                </a:solidFill>
                <a:latin typeface="Microsoft YaHei"/>
              </a:rPr>
              <a:t>将后台冷数据换出与分层存储流量限制在 TC1 队列，绝不抢占高优通道带宽</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微秒自适应退避：</a:t>
            </a:r>
            <a:r>
              <a:rPr sz="860">
                <a:solidFill>
                  <a:srgbClr val="1E293B"/>
                </a:solidFill>
                <a:latin typeface="Microsoft YaHei"/>
              </a:rPr>
              <a:t>应用层 Worker.step() 动态监测网络排队；一旦检测到排队立即退避限流 50%~100%，保障前台 TPOT 干扰率 &lt; 3%</a:t>
            </a:r>
          </a:p>
        </p:txBody>
      </p:sp>
      <p:sp>
        <p:nvSpPr>
          <p:cNvPr id="20" name="Rectangle 19"/>
          <p:cNvSpPr/>
          <p:nvPr/>
        </p:nvSpPr>
        <p:spPr>
          <a:xfrm>
            <a:off x="6199632"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4041648"/>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软硬双轨协同与 Raw Direct 纯软主路径</a:t>
            </a:r>
          </a:p>
          <a:p>
            <a:pPr algn="r">
              <a:defRPr sz="950" b="1">
                <a:solidFill>
                  <a:srgbClr val="BFDBFE"/>
                </a:solidFill>
                <a:latin typeface="Microsoft YaHei"/>
              </a:defRPr>
            </a:pPr>
            <a:r>
              <a:t>[架构演进与去依赖]</a:t>
            </a:r>
          </a:p>
        </p:txBody>
      </p:sp>
      <p:sp>
        <p:nvSpPr>
          <p:cNvPr id="23" name="TextBox 22"/>
          <p:cNvSpPr txBox="1"/>
          <p:nvPr/>
        </p:nvSpPr>
        <p:spPr>
          <a:xfrm>
            <a:off x="6199632"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a:t>
            </a:r>
            <a:r>
              <a:rPr sz="860" b="1">
                <a:solidFill>
                  <a:srgbClr val="1E3A8A"/>
                </a:solidFill>
                <a:latin typeface="Microsoft YaHei"/>
              </a:rPr>
              <a:t>纯软主路径底座：</a:t>
            </a:r>
            <a:r>
              <a:rPr sz="860">
                <a:solidFill>
                  <a:srgbClr val="1E293B"/>
                </a:solidFill>
                <a:latin typeface="Microsoft YaHei"/>
              </a:rPr>
              <a:t>以标准驱动纯软直达 (Raw Direct) 作为主路径底座，不依赖专用硬件协处理器，降低系统复杂度与外部依赖</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条件硬件加速轨：</a:t>
            </a:r>
            <a:r>
              <a:rPr sz="860">
                <a:solidFill>
                  <a:srgbClr val="1E293B"/>
                </a:solidFill>
                <a:latin typeface="Microsoft YaHei"/>
              </a:rPr>
              <a:t>将 DPU 硬件卸载（加解密、CRC 校验、数据压缩）设计为条件加速轨，主路径与加速轨解耦演进</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综合成本对账：</a:t>
            </a:r>
            <a:r>
              <a:rPr sz="860">
                <a:solidFill>
                  <a:srgbClr val="1E293B"/>
                </a:solidFill>
                <a:latin typeface="Microsoft YaHei"/>
              </a:rPr>
              <a:t>通过同等负载实测对比，量化评估 Host CPU 软件与 DPU 硬件综合开销，确保架构平稳演进</a:t>
            </a:r>
          </a:p>
        </p:txBody>
      </p:sp>
      <p:sp>
        <p:nvSpPr>
          <p:cNvPr id="24" name="Rectangle 23"/>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管理面、控制面与数据面三面物理资源严格正交，数据流通过硬件 DMA 直达显存并绕过主机内存 (Payload Bypass DDR)。</a:t>
            </a:r>
            <a:r>
              <a:rPr sz="1150" b="1">
                <a:solidFill>
                  <a:srgbClr val="DC2626"/>
                </a:solidFill>
                <a:latin typeface="Microsoft YaHei"/>
              </a:rPr>
              <a:t>
NPU 显存热执行、Host DDR 热温缓存扩展与 NVMe SSD 异步沉淀构成三介质分层体系；网络 QoS 双轨保障前台 TPOT 干扰率 &lt; 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专题七：12 类业务场景推拉模式映射与物理排空屏障</a:t>
            </a:r>
          </a:p>
          <a:p>
            <a:pPr>
              <a:spcBef>
                <a:spcPts val="300"/>
              </a:spcBef>
              <a:defRPr sz="1100">
                <a:solidFill>
                  <a:srgbClr val="475569"/>
                </a:solidFill>
                <a:latin typeface="Microsoft YaHei"/>
              </a:defRPr>
            </a:pPr>
            <a:r>
              <a:t>区分确定性热点异步推送与突发长尾按需拉取，前置净收益评估与硬件排空屏障保障显存安全</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09 / 15 页</a:t>
            </a:r>
          </a:p>
        </p:txBody>
      </p:sp>
      <p:sp>
        <p:nvSpPr>
          <p:cNvPr id="4" name="Rectangle 3"/>
          <p:cNvSpPr/>
          <p:nvPr/>
        </p:nvSpPr>
        <p:spPr>
          <a:xfrm>
            <a:off x="457200" y="1078992"/>
            <a:ext cx="11277295"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8_kvc_inference_scenarios_and_causal_chains.png"/>
          <p:cNvPicPr>
            <a:picLocks noChangeAspect="1"/>
          </p:cNvPicPr>
          <p:nvPr/>
        </p:nvPicPr>
        <p:blipFill>
          <a:blip r:embed="rId2"/>
          <a:stretch>
            <a:fillRect/>
          </a:stretch>
        </p:blipFill>
        <p:spPr>
          <a:xfrm>
            <a:off x="493776" y="1090148"/>
            <a:ext cx="11204143" cy="4659415"/>
          </a:xfrm>
          <a:prstGeom prst="rect">
            <a:avLst/>
          </a:prstGeom>
        </p:spPr>
      </p:pic>
      <p:sp>
        <p:nvSpPr>
          <p:cNvPr id="6" name="Rectangle 5"/>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确定性高频热点走异步提前推送，突发长尾走微秒按需拉取；严格执行拉取与加载总开销小于本地直接重算的准入门限。</a:t>
            </a:r>
            <a:r>
              <a:rPr sz="1150" b="1">
                <a:solidFill>
                  <a:srgbClr val="DC2626"/>
                </a:solidFill>
                <a:latin typeface="Microsoft YaHei"/>
              </a:rPr>
              <a:t>
客户端取消或超时请求必须等待底层硬件在途 DMA 彻底物理排空后方可复用缓冲区，坚决杜绝野指针与显存踩踏。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专题八：底层通信库 (KPCL) 责任边界、四大通信流与流量调度</a:t>
            </a:r>
          </a:p>
          <a:p>
            <a:pPr>
              <a:spcBef>
                <a:spcPts val="300"/>
              </a:spcBef>
              <a:defRPr sz="1100">
                <a:solidFill>
                  <a:srgbClr val="475569"/>
                </a:solidFill>
                <a:latin typeface="Microsoft YaHei"/>
              </a:defRPr>
            </a:pPr>
            <a:r>
              <a:t>明确 KVC 存储池调度与 KPCL 原厂通信底座接口契约，四大通信流模式与 F1~F8 流量画像消除拥塞</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10 / 15 页</a:t>
            </a:r>
          </a:p>
        </p:txBody>
      </p:sp>
      <p:sp>
        <p:nvSpPr>
          <p:cNvPr id="4" name="Rectangle 3"/>
          <p:cNvSpPr/>
          <p:nvPr/>
        </p:nvSpPr>
        <p:spPr>
          <a:xfrm>
            <a:off x="457200" y="1078992"/>
            <a:ext cx="11277295"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9_kvc_kpcl_traffic_scheduling_architecture.png"/>
          <p:cNvPicPr>
            <a:picLocks noChangeAspect="1"/>
          </p:cNvPicPr>
          <p:nvPr/>
        </p:nvPicPr>
        <p:blipFill>
          <a:blip r:embed="rId2"/>
          <a:stretch>
            <a:fillRect/>
          </a:stretch>
        </p:blipFill>
        <p:spPr>
          <a:xfrm>
            <a:off x="493776" y="1090148"/>
            <a:ext cx="11204143" cy="4659415"/>
          </a:xfrm>
          <a:prstGeom prst="rect">
            <a:avLst/>
          </a:prstGeom>
        </p:spPr>
      </p:pic>
      <p:sp>
        <p:nvSpPr>
          <p:cNvPr id="6" name="Rectangle 5"/>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KVC 与 KPCL 严格按语义决策与通信执行解耦，KPCL 提供 1µs 级非阻塞异步 API 契约；四大通信流严格物理映射至独立通道。</a:t>
            </a:r>
            <a:r>
              <a:rPr sz="1150" b="1">
                <a:solidFill>
                  <a:srgbClr val="DC2626"/>
                </a:solidFill>
                <a:latin typeface="Microsoft YaHei"/>
              </a:rPr>
              <a:t>
F1~F8 流量画像消除队列互斥与死锁；任何硬件数据传输完成必须以底层 CQE 可见性证据为准，确保状态强一致。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专题九：端到端 TTFT DAG 关键路径流水线与 120ms 预算拆解</a:t>
            </a:r>
          </a:p>
          <a:p>
            <a:pPr>
              <a:spcBef>
                <a:spcPts val="300"/>
              </a:spcBef>
              <a:defRPr sz="1100">
                <a:solidFill>
                  <a:srgbClr val="475569"/>
                </a:solidFill>
                <a:latin typeface="Microsoft YaHei"/>
              </a:defRPr>
            </a:pPr>
            <a:r>
              <a:t>控制面各阶段单调时钟硬预算控制，NPU Stream/Event 异步流水消除 85% 首字等待气泡</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11 / 15 页</a:t>
            </a:r>
          </a:p>
        </p:txBody>
      </p:sp>
      <p:sp>
        <p:nvSpPr>
          <p:cNvPr id="4" name="Rectangle 3"/>
          <p:cNvSpPr/>
          <p:nvPr/>
        </p:nvSpPr>
        <p:spPr>
          <a:xfrm>
            <a:off x="457200" y="1078992"/>
            <a:ext cx="6949440"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10_kvc_ttft_dag_pipeline_and_budget.png"/>
          <p:cNvPicPr>
            <a:picLocks noChangeAspect="1"/>
          </p:cNvPicPr>
          <p:nvPr/>
        </p:nvPicPr>
        <p:blipFill>
          <a:blip r:embed="rId2"/>
          <a:stretch>
            <a:fillRect/>
          </a:stretch>
        </p:blipFill>
        <p:spPr>
          <a:xfrm>
            <a:off x="493776" y="1169434"/>
            <a:ext cx="6876288" cy="4500843"/>
          </a:xfrm>
          <a:prstGeom prst="rect">
            <a:avLst/>
          </a:prstGeom>
        </p:spPr>
      </p:pic>
      <p:sp>
        <p:nvSpPr>
          <p:cNvPr id="6" name="Rectangle 5"/>
          <p:cNvSpPr/>
          <p:nvPr/>
        </p:nvSpPr>
        <p:spPr>
          <a:xfrm>
            <a:off x="7543800" y="1078992"/>
            <a:ext cx="418795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43800" y="1078992"/>
            <a:ext cx="4187952"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8" y="1115568"/>
            <a:ext cx="3968496" cy="274320"/>
          </a:xfrm>
          <a:prstGeom prst="rect">
            <a:avLst/>
          </a:prstGeom>
          <a:noFill/>
        </p:spPr>
        <p:txBody>
          <a:bodyPr wrap="none" lIns="0" tIns="0" rIns="0" bIns="0">
            <a:spAutoFit/>
          </a:bodyPr>
          <a:lstStyle/>
          <a:p>
            <a:pPr>
              <a:defRPr sz="1120" b="1">
                <a:solidFill>
                  <a:srgbClr val="FFFFFF"/>
                </a:solidFill>
                <a:latin typeface="Microsoft YaHei"/>
              </a:defRPr>
            </a:pPr>
            <a:r>
              <a:t>120ms 预算来源、业务收益与预算分解</a:t>
            </a:r>
          </a:p>
        </p:txBody>
      </p:sp>
      <p:sp>
        <p:nvSpPr>
          <p:cNvPr id="9" name="TextBox 8"/>
          <p:cNvSpPr txBox="1"/>
          <p:nvPr/>
        </p:nvSpPr>
        <p:spPr>
          <a:xfrm>
            <a:off x="7543800" y="1444752"/>
            <a:ext cx="4187952" cy="4297680"/>
          </a:xfrm>
          <a:prstGeom prst="rect">
            <a:avLst/>
          </a:prstGeom>
          <a:noFill/>
        </p:spPr>
        <p:txBody>
          <a:bodyPr wrap="square" lIns="73152" tIns="73152" rIns="73152" bIns="73152">
            <a:spAutoFit/>
          </a:bodyPr>
          <a:lstStyle/>
          <a:p>
            <a:pPr>
              <a:lnSpc>
                <a:spcPct val="112000"/>
              </a:lnSpc>
              <a:spcAft>
                <a:spcPts val="260"/>
              </a:spcAft>
            </a:pPr>
            <a:r>
              <a:rPr sz="840" b="1">
                <a:solidFill>
                  <a:srgbClr val="1E3A8A"/>
                </a:solidFill>
                <a:latin typeface="Microsoft YaHei"/>
              </a:rPr>
              <a:t>▸ </a:t>
            </a:r>
            <a:r>
              <a:rPr sz="840" b="1">
                <a:solidFill>
                  <a:srgbClr val="1E3A8A"/>
                </a:solidFill>
                <a:latin typeface="Microsoft YaHei"/>
              </a:rPr>
              <a:t>1. 为什么是 120ms 目标预算 (业务 SLO 倒推)：</a:t>
            </a:r>
            <a:r>
              <a:rPr sz="840">
                <a:solidFill>
                  <a:srgbClr val="1E293B"/>
                </a:solidFill>
                <a:latin typeface="Microsoft YaHei"/>
              </a:rPr>
              <a:t>大模型交互式对话要求首字响应 TTFT &lt; 500ms；在典型 32K Prompt 场景下直接重算耗时达 350~450ms，逼近 SLO 极限。为此倒推将 KVC 发现、传输、挂载总时延严格锁定在 120ms 预算内</a:t>
            </a:r>
          </a:p>
          <a:p>
            <a:pPr>
              <a:lnSpc>
                <a:spcPct val="112000"/>
              </a:lnSpc>
              <a:spcAft>
                <a:spcPts val="260"/>
              </a:spcAft>
            </a:pPr>
            <a:r>
              <a:rPr sz="840" b="1">
                <a:solidFill>
                  <a:srgbClr val="1E3A8A"/>
                </a:solidFill>
                <a:latin typeface="Microsoft YaHei"/>
              </a:rPr>
              <a:t>▸ </a:t>
            </a:r>
            <a:r>
              <a:rPr sz="840" b="1">
                <a:solidFill>
                  <a:srgbClr val="1E3A8A"/>
                </a:solidFill>
                <a:latin typeface="Microsoft YaHei"/>
              </a:rPr>
              <a:t>2. 对业务指标的具体改善收益：</a:t>
            </a:r>
            <a:r>
              <a:rPr sz="840">
                <a:solidFill>
                  <a:srgbClr val="1E293B"/>
                </a:solidFill>
                <a:latin typeface="Microsoft YaHei"/>
              </a:rPr>
              <a:t>• TTFT 降低 ≥ 60%：端到端首字延迟从 350~450ms 压缩至 120ms (加载) + 15ms (残余 Prefill) ≈ 135ms；
• QPS 提升 30%~50%：消除数百毫秒 Prefill 矩阵乘算力占用，NPU 算力即时投入 Decode 生成；
• TPOT 干扰 &lt; 3%：通过 120ms 异步 DAG 边算边传与 QoS 隔离，避免算力抢占，输出平稳无卡顿</a:t>
            </a:r>
          </a:p>
          <a:p>
            <a:pPr>
              <a:lnSpc>
                <a:spcPct val="112000"/>
              </a:lnSpc>
              <a:spcAft>
                <a:spcPts val="260"/>
              </a:spcAft>
            </a:pPr>
            <a:r>
              <a:rPr sz="840" b="1">
                <a:solidFill>
                  <a:srgbClr val="1E3A8A"/>
                </a:solidFill>
                <a:latin typeface="Microsoft YaHei"/>
              </a:rPr>
              <a:t>▸ </a:t>
            </a:r>
            <a:r>
              <a:rPr sz="840" b="1">
                <a:solidFill>
                  <a:srgbClr val="1E3A8A"/>
                </a:solidFill>
                <a:latin typeface="Microsoft YaHei"/>
              </a:rPr>
              <a:t>3. 120ms 端到端硬预算分解：</a:t>
            </a:r>
            <a:r>
              <a:rPr sz="840">
                <a:solidFill>
                  <a:srgbClr val="1E293B"/>
                </a:solidFill>
                <a:latin typeface="Microsoft YaHei"/>
              </a:rPr>
              <a:t>• 控制面快路径 (10ms)：意图下发 2ms + 目录发现 3ms + 6 维语义校验 2ms + 决策选路 3ms；
• 数据面极速直达 (95ms)：RDMA 零拷贝传输 + Layer 0 提前点火边算边传，流水重叠率 ≥ 85%；
• 多卡对账与挂载 (15ms)：硬件 CQE 对账与 TP=8 原子同步 5ms + PagedAttention 块表挂载 10ms</a:t>
            </a:r>
          </a:p>
          <a:p>
            <a:pPr>
              <a:lnSpc>
                <a:spcPct val="112000"/>
              </a:lnSpc>
              <a:spcAft>
                <a:spcPts val="260"/>
              </a:spcAft>
            </a:pPr>
            <a:r>
              <a:rPr sz="840" b="1">
                <a:solidFill>
                  <a:srgbClr val="1E3A8A"/>
                </a:solidFill>
                <a:latin typeface="Microsoft YaHei"/>
              </a:rPr>
              <a:t>▸ </a:t>
            </a:r>
            <a:r>
              <a:rPr sz="840" b="1">
                <a:solidFill>
                  <a:srgbClr val="1E3A8A"/>
                </a:solidFill>
                <a:latin typeface="Microsoft YaHei"/>
              </a:rPr>
              <a:t>4. 推导算例属性界定：</a:t>
            </a:r>
            <a:r>
              <a:rPr sz="840">
                <a:solidFill>
                  <a:srgbClr val="1E293B"/>
                </a:solidFill>
                <a:latin typeface="Microsoft YaHei"/>
              </a:rPr>
              <a:t>本预算用于指导各子系统微秒级门限设定的工程推导模型，任一环节超时立即熔断回退重算，绝非既成实测数据，以客观实测为准</a:t>
            </a:r>
          </a:p>
        </p:txBody>
      </p:sp>
      <p:sp>
        <p:nvSpPr>
          <p:cNvPr id="10" name="Rectangle 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端到端时延以并集上界分解控制，控制面各子阶段设定单调时钟硬预算；NPU 边算边传异步流水消除 85% 等待气泡。</a:t>
            </a:r>
            <a:r>
              <a:rPr sz="1150" b="1">
                <a:solidFill>
                  <a:srgbClr val="DC2626"/>
                </a:solidFill>
                <a:latin typeface="Microsoft YaHei"/>
              </a:rPr>
              <a:t>
Layer 0 首层映射最高优先级提前点火以掩盖传输延迟；120ms 目标预算算例严格用于指导自上而下系统工程分解。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专题十：TP=8 张量并行原子协同机制与 QoS 干扰抑制架构</a:t>
            </a:r>
          </a:p>
          <a:p>
            <a:pPr>
              <a:spcBef>
                <a:spcPts val="300"/>
              </a:spcBef>
              <a:defRPr sz="1100">
                <a:solidFill>
                  <a:srgbClr val="475569"/>
                </a:solidFill>
                <a:latin typeface="Microsoft YaHei"/>
              </a:defRPr>
            </a:pPr>
            <a:r>
              <a:t>单次原子 Doorbell 消除多卡时序差与偏斜，前后台 QoS 双层退避保障尾部时延稳定性</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12 / 15 页</a:t>
            </a:r>
          </a:p>
        </p:txBody>
      </p:sp>
      <p:sp>
        <p:nvSpPr>
          <p:cNvPr id="4" name="Rectangle 3"/>
          <p:cNvSpPr/>
          <p:nvPr/>
        </p:nvSpPr>
        <p:spPr>
          <a:xfrm>
            <a:off x="457200" y="1078992"/>
            <a:ext cx="6949440"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11_kvc_tp8_atomic_coordination_and_qos.png"/>
          <p:cNvPicPr>
            <a:picLocks noChangeAspect="1"/>
          </p:cNvPicPr>
          <p:nvPr/>
        </p:nvPicPr>
        <p:blipFill>
          <a:blip r:embed="rId2"/>
          <a:stretch>
            <a:fillRect/>
          </a:stretch>
        </p:blipFill>
        <p:spPr>
          <a:xfrm>
            <a:off x="493776" y="1169434"/>
            <a:ext cx="6876288" cy="4500843"/>
          </a:xfrm>
          <a:prstGeom prst="rect">
            <a:avLst/>
          </a:prstGeom>
        </p:spPr>
      </p:pic>
      <p:sp>
        <p:nvSpPr>
          <p:cNvPr id="6" name="Rectangle 5"/>
          <p:cNvSpPr/>
          <p:nvPr/>
        </p:nvSpPr>
        <p:spPr>
          <a:xfrm>
            <a:off x="7543800" y="1078992"/>
            <a:ext cx="418795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43800" y="1078992"/>
            <a:ext cx="4187952"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8" y="1115568"/>
            <a:ext cx="3968496" cy="274320"/>
          </a:xfrm>
          <a:prstGeom prst="rect">
            <a:avLst/>
          </a:prstGeom>
          <a:noFill/>
        </p:spPr>
        <p:txBody>
          <a:bodyPr wrap="none" lIns="0" tIns="0" rIns="0" bIns="0">
            <a:spAutoFit/>
          </a:bodyPr>
          <a:lstStyle/>
          <a:p>
            <a:pPr>
              <a:defRPr sz="1120" b="1">
                <a:solidFill>
                  <a:srgbClr val="FFFFFF"/>
                </a:solidFill>
                <a:latin typeface="Microsoft YaHei"/>
              </a:defRPr>
            </a:pPr>
            <a:r>
              <a:t>TP=8 原子协同与尾部延迟控制</a:t>
            </a:r>
          </a:p>
        </p:txBody>
      </p:sp>
      <p:sp>
        <p:nvSpPr>
          <p:cNvPr id="9" name="TextBox 8"/>
          <p:cNvSpPr txBox="1"/>
          <p:nvPr/>
        </p:nvSpPr>
        <p:spPr>
          <a:xfrm>
            <a:off x="7543800" y="1444752"/>
            <a:ext cx="4187952" cy="4297680"/>
          </a:xfrm>
          <a:prstGeom prst="rect">
            <a:avLst/>
          </a:prstGeom>
          <a:noFill/>
        </p:spPr>
        <p:txBody>
          <a:bodyPr wrap="square" lIns="73152" tIns="73152" rIns="73152" bIns="73152">
            <a:spAutoFit/>
          </a:bodyPr>
          <a:lstStyle/>
          <a:p>
            <a:pPr>
              <a:lnSpc>
                <a:spcPct val="112000"/>
              </a:lnSpc>
              <a:spcAft>
                <a:spcPts val="280"/>
              </a:spcAft>
            </a:pPr>
            <a:r>
              <a:rPr sz="850" b="1">
                <a:solidFill>
                  <a:srgbClr val="1E3A8A"/>
                </a:solidFill>
                <a:latin typeface="Microsoft YaHei"/>
              </a:rPr>
              <a:t>▸ </a:t>
            </a:r>
            <a:r>
              <a:rPr sz="850" b="1">
                <a:solidFill>
                  <a:srgbClr val="1E3A8A"/>
                </a:solidFill>
                <a:latin typeface="Microsoft YaHei"/>
              </a:rPr>
              <a:t>1. TP=8 木桶短板效应原理：</a:t>
            </a:r>
            <a:r>
              <a:rPr sz="850">
                <a:solidFill>
                  <a:srgbClr val="1E293B"/>
                </a:solidFill>
                <a:latin typeface="Microsoft YaHei"/>
              </a:rPr>
              <a:t>张量并行切分至 8 张卡，计算需等待全部卡完成加载；慢节点将引发气泡并放大尾部时延</a:t>
            </a:r>
          </a:p>
          <a:p>
            <a:pPr>
              <a:lnSpc>
                <a:spcPct val="112000"/>
              </a:lnSpc>
              <a:spcAft>
                <a:spcPts val="280"/>
              </a:spcAft>
            </a:pPr>
            <a:r>
              <a:rPr sz="850" b="1">
                <a:solidFill>
                  <a:srgbClr val="1E3A8A"/>
                </a:solidFill>
                <a:latin typeface="Microsoft YaHei"/>
              </a:rPr>
              <a:t>▸ </a:t>
            </a:r>
            <a:r>
              <a:rPr sz="850" b="1">
                <a:solidFill>
                  <a:srgbClr val="1E3A8A"/>
                </a:solidFill>
                <a:latin typeface="Microsoft YaHei"/>
              </a:rPr>
              <a:t>2. 单次原子 Doorbell 同步：</a:t>
            </a:r>
            <a:r>
              <a:rPr sz="850">
                <a:solidFill>
                  <a:srgbClr val="1E293B"/>
                </a:solidFill>
                <a:latin typeface="Microsoft YaHei"/>
              </a:rPr>
              <a:t>8 卡独立完成加载后在 POSIX 共享内存中原子汇聚 (0xFF)；协调卡仅下发单次硬件原子 Doorbell 触发同步，消除多卡时序偏差，组内同步 P99 &lt; 100µs</a:t>
            </a:r>
          </a:p>
          <a:p>
            <a:pPr>
              <a:lnSpc>
                <a:spcPct val="112000"/>
              </a:lnSpc>
              <a:spcAft>
                <a:spcPts val="280"/>
              </a:spcAft>
            </a:pPr>
            <a:r>
              <a:rPr sz="850" b="1">
                <a:solidFill>
                  <a:srgbClr val="1E3A8A"/>
                </a:solidFill>
                <a:latin typeface="Microsoft YaHei"/>
              </a:rPr>
              <a:t>▸ </a:t>
            </a:r>
            <a:r>
              <a:rPr sz="850" b="1">
                <a:solidFill>
                  <a:srgbClr val="1E3A8A"/>
                </a:solidFill>
                <a:latin typeface="Microsoft YaHei"/>
              </a:rPr>
              <a:t>3. 偏斜系数收敛机制：</a:t>
            </a:r>
            <a:r>
              <a:rPr sz="850">
                <a:solidFill>
                  <a:srgbClr val="1E293B"/>
                </a:solidFill>
                <a:latin typeface="Microsoft YaHei"/>
              </a:rPr>
              <a:t>任一单卡在租约或加载中超时，触发全局协调一致回退，绝不发生通信死锁；偏斜系数收敛至 Skew_P99 &lt; 1.15，彻底消除多卡等待空转</a:t>
            </a:r>
          </a:p>
          <a:p>
            <a:pPr>
              <a:lnSpc>
                <a:spcPct val="112000"/>
              </a:lnSpc>
              <a:spcAft>
                <a:spcPts val="280"/>
              </a:spcAft>
            </a:pPr>
            <a:r>
              <a:rPr sz="850" b="1">
                <a:solidFill>
                  <a:srgbClr val="1E3A8A"/>
                </a:solidFill>
                <a:latin typeface="Microsoft YaHei"/>
              </a:rPr>
              <a:t>▸ </a:t>
            </a:r>
            <a:r>
              <a:rPr sz="850" b="1">
                <a:solidFill>
                  <a:srgbClr val="1E3A8A"/>
                </a:solidFill>
                <a:latin typeface="Microsoft YaHei"/>
              </a:rPr>
              <a:t>4. SemanticQoS 双轨队列隔离：</a:t>
            </a:r>
            <a:r>
              <a:rPr sz="850">
                <a:solidFill>
                  <a:srgbClr val="1E293B"/>
                </a:solidFill>
                <a:latin typeface="Microsoft YaHei"/>
              </a:rPr>
              <a:t>通过 DSCP 映射将在线推理独占绑定至 RoCE 硬件最高优先级的 TC0 队列；后台冷数据换出与分层流向限制在 TC1 队列</a:t>
            </a:r>
          </a:p>
          <a:p>
            <a:pPr>
              <a:lnSpc>
                <a:spcPct val="112000"/>
              </a:lnSpc>
              <a:spcAft>
                <a:spcPts val="280"/>
              </a:spcAft>
            </a:pPr>
            <a:r>
              <a:rPr sz="850" b="1">
                <a:solidFill>
                  <a:srgbClr val="1E3A8A"/>
                </a:solidFill>
                <a:latin typeface="Microsoft YaHei"/>
              </a:rPr>
              <a:t>▸ </a:t>
            </a:r>
            <a:r>
              <a:rPr sz="850" b="1">
                <a:solidFill>
                  <a:srgbClr val="1E3A8A"/>
                </a:solidFill>
                <a:latin typeface="Microsoft YaHei"/>
              </a:rPr>
              <a:t>5. 微秒级自适应退避门限：</a:t>
            </a:r>
            <a:r>
              <a:rPr sz="850">
                <a:solidFill>
                  <a:srgbClr val="1E293B"/>
                </a:solidFill>
                <a:latin typeface="Microsoft YaHei"/>
              </a:rPr>
              <a:t>Worker.step() 动态监测网络排队；一旦检测到排队立即主动限流后台换出 50%~100% 带宽，确保前台在线推理 TPOT 干扰率严格控制在 3% 以内</a:t>
            </a:r>
          </a:p>
        </p:txBody>
      </p:sp>
      <p:sp>
        <p:nvSpPr>
          <p:cNvPr id="10" name="Rectangle 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张量并行 (TP=8) 偏斜从提交源头收敛，共享内存单次原子 Doorbell 消除多卡时序差，组内状态同步耗时 P99 &lt; 100µs。</a:t>
            </a:r>
            <a:r>
              <a:rPr sz="1150" b="1">
                <a:solidFill>
                  <a:srgbClr val="DC2626"/>
                </a:solidFill>
                <a:latin typeface="Microsoft YaHei"/>
              </a:rPr>
              <a:t>
Layer 0 首层提前下发有效掩盖传输延迟；结合硬件 DSCP 隔离与微秒自适应退避，保障前台在线推理 TPOT 干扰率 &lt;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专题十一：三面可靠性隔离体系与 ViewGuard 容错跳出</a:t>
            </a:r>
          </a:p>
          <a:p>
            <a:pPr>
              <a:spcBef>
                <a:spcPts val="300"/>
              </a:spcBef>
              <a:defRPr sz="1100">
                <a:solidFill>
                  <a:srgbClr val="475569"/>
                </a:solidFill>
                <a:latin typeface="Microsoft YaHei"/>
              </a:defRPr>
            </a:pPr>
            <a:r>
              <a:t>管理层脑裂不影响在线推理，控制面超时主动回退，ViewGuard 跨节点直读异常在 500µs 内安全回退</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13 / 15 页</a:t>
            </a:r>
          </a:p>
        </p:txBody>
      </p:sp>
      <p:sp>
        <p:nvSpPr>
          <p:cNvPr id="4" name="Rectangle 3"/>
          <p:cNvSpPr/>
          <p:nvPr/>
        </p:nvSpPr>
        <p:spPr>
          <a:xfrm>
            <a:off x="457200" y="1078992"/>
            <a:ext cx="361188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78992"/>
            <a:ext cx="36118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1. 管理面故障域隔离 (Management)</a:t>
            </a:r>
          </a:p>
        </p:txBody>
      </p:sp>
      <p:sp>
        <p:nvSpPr>
          <p:cNvPr id="7" name="TextBox 6"/>
          <p:cNvSpPr txBox="1"/>
          <p:nvPr/>
        </p:nvSpPr>
        <p:spPr>
          <a:xfrm>
            <a:off x="457200" y="1444752"/>
            <a:ext cx="3611880" cy="4297680"/>
          </a:xfrm>
          <a:prstGeom prst="rect">
            <a:avLst/>
          </a:prstGeom>
          <a:noFill/>
        </p:spPr>
        <p:txBody>
          <a:bodyPr wrap="square" lIns="73152" tIns="73152" rIns="73152" bIns="73152">
            <a:spAutoFit/>
          </a:bodyPr>
          <a:lstStyle/>
          <a:p>
            <a:pPr>
              <a:lnSpc>
                <a:spcPct val="116000"/>
              </a:lnSpc>
              <a:spcAft>
                <a:spcPts val="350"/>
              </a:spcAft>
            </a:pPr>
            <a:r>
              <a:rPr sz="919" b="1">
                <a:solidFill>
                  <a:srgbClr val="1E3A8A"/>
                </a:solidFill>
                <a:latin typeface="Microsoft YaHei"/>
              </a:rPr>
              <a:t>▸ </a:t>
            </a:r>
            <a:r>
              <a:rPr sz="919" b="1">
                <a:solidFill>
                  <a:srgbClr val="1E3A8A"/>
                </a:solidFill>
                <a:latin typeface="Microsoft YaHei"/>
              </a:rPr>
              <a:t>典型故障特征：</a:t>
            </a:r>
            <a:r>
              <a:rPr sz="919">
                <a:solidFill>
                  <a:srgbClr val="1E293B"/>
                </a:solidFill>
                <a:latin typeface="Microsoft YaHei"/>
              </a:rPr>
              <a:t>etcd 脑裂、管理网络分区、选举抖动或 Controller 主备切换</a:t>
            </a:r>
          </a:p>
          <a:p>
            <a:pPr>
              <a:lnSpc>
                <a:spcPct val="116000"/>
              </a:lnSpc>
              <a:spcAft>
                <a:spcPts val="350"/>
              </a:spcAft>
            </a:pPr>
            <a:r>
              <a:rPr sz="919" b="1">
                <a:solidFill>
                  <a:srgbClr val="1E3A8A"/>
                </a:solidFill>
                <a:latin typeface="Microsoft YaHei"/>
              </a:rPr>
              <a:t>▸ </a:t>
            </a:r>
            <a:r>
              <a:rPr sz="919" b="1">
                <a:solidFill>
                  <a:srgbClr val="1E3A8A"/>
                </a:solidFill>
                <a:latin typeface="Microsoft YaHei"/>
              </a:rPr>
              <a:t>物理隔离设计：</a:t>
            </a:r>
            <a:r>
              <a:rPr sz="919">
                <a:solidFill>
                  <a:srgbClr val="1E293B"/>
                </a:solidFill>
                <a:latin typeface="Microsoft YaHei"/>
              </a:rPr>
              <a:t>管理服务独立物理节点部署，仅负责静态拓扑与配额，绝不参与在线单请求路径</a:t>
            </a:r>
          </a:p>
          <a:p>
            <a:pPr>
              <a:lnSpc>
                <a:spcPct val="116000"/>
              </a:lnSpc>
              <a:spcAft>
                <a:spcPts val="350"/>
              </a:spcAft>
            </a:pPr>
            <a:r>
              <a:rPr sz="919" b="1">
                <a:solidFill>
                  <a:srgbClr val="1E3A8A"/>
                </a:solidFill>
                <a:latin typeface="Microsoft YaHei"/>
              </a:rPr>
              <a:t>▸ </a:t>
            </a:r>
            <a:r>
              <a:rPr sz="919" b="1">
                <a:solidFill>
                  <a:srgbClr val="1E3A8A"/>
                </a:solidFill>
                <a:latin typeface="Microsoft YaHei"/>
              </a:rPr>
              <a:t>容错与本地兜底：</a:t>
            </a:r>
            <a:r>
              <a:rPr sz="919">
                <a:solidFill>
                  <a:srgbClr val="1E293B"/>
                </a:solidFill>
                <a:latin typeface="Microsoft YaHei"/>
              </a:rPr>
              <a:t>节点代理 (kvc-node) 启动时已全量同步配置并持有只读内存快照；管理面故障期间，计算节点完全依靠本地快照继续提供微秒级服务，业务完全无感</a:t>
            </a:r>
          </a:p>
        </p:txBody>
      </p:sp>
      <p:sp>
        <p:nvSpPr>
          <p:cNvPr id="8" name="Rectangle 7"/>
          <p:cNvSpPr/>
          <p:nvPr/>
        </p:nvSpPr>
        <p:spPr>
          <a:xfrm>
            <a:off x="4288536" y="1078992"/>
            <a:ext cx="361188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88536" y="1078992"/>
            <a:ext cx="361188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98264"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2. 控制面微秒级超时熔断 (Control)</a:t>
            </a:r>
          </a:p>
        </p:txBody>
      </p:sp>
      <p:sp>
        <p:nvSpPr>
          <p:cNvPr id="11" name="TextBox 10"/>
          <p:cNvSpPr txBox="1"/>
          <p:nvPr/>
        </p:nvSpPr>
        <p:spPr>
          <a:xfrm>
            <a:off x="4288536" y="1444752"/>
            <a:ext cx="3611880" cy="4297680"/>
          </a:xfrm>
          <a:prstGeom prst="rect">
            <a:avLst/>
          </a:prstGeom>
          <a:noFill/>
        </p:spPr>
        <p:txBody>
          <a:bodyPr wrap="square" lIns="73152" tIns="73152" rIns="73152" bIns="73152">
            <a:spAutoFit/>
          </a:bodyPr>
          <a:lstStyle/>
          <a:p>
            <a:pPr>
              <a:lnSpc>
                <a:spcPct val="116000"/>
              </a:lnSpc>
              <a:spcAft>
                <a:spcPts val="350"/>
              </a:spcAft>
            </a:pPr>
            <a:r>
              <a:rPr sz="919" b="1">
                <a:solidFill>
                  <a:srgbClr val="1E3A8A"/>
                </a:solidFill>
                <a:latin typeface="Microsoft YaHei"/>
              </a:rPr>
              <a:t>▸ </a:t>
            </a:r>
            <a:r>
              <a:rPr sz="919" b="1">
                <a:solidFill>
                  <a:srgbClr val="1E3A8A"/>
                </a:solidFill>
                <a:latin typeface="Microsoft YaHei"/>
              </a:rPr>
              <a:t>典型故障特征：</a:t>
            </a:r>
            <a:r>
              <a:rPr sz="919">
                <a:solidFill>
                  <a:srgbClr val="1E293B"/>
                </a:solidFill>
                <a:latin typeface="Microsoft YaHei"/>
              </a:rPr>
              <a:t>分片目录 RPC 抖动、跨节点网络拥塞或单卡租约申请超时</a:t>
            </a:r>
          </a:p>
          <a:p>
            <a:pPr>
              <a:lnSpc>
                <a:spcPct val="116000"/>
              </a:lnSpc>
              <a:spcAft>
                <a:spcPts val="350"/>
              </a:spcAft>
            </a:pPr>
            <a:r>
              <a:rPr sz="919" b="1">
                <a:solidFill>
                  <a:srgbClr val="1E3A8A"/>
                </a:solidFill>
                <a:latin typeface="Microsoft YaHei"/>
              </a:rPr>
              <a:t>▸ </a:t>
            </a:r>
            <a:r>
              <a:rPr sz="919" b="1">
                <a:solidFill>
                  <a:srgbClr val="1E3A8A"/>
                </a:solidFill>
                <a:latin typeface="Microsoft YaHei"/>
              </a:rPr>
              <a:t>硬门限控制机制：</a:t>
            </a:r>
            <a:r>
              <a:rPr sz="919">
                <a:solidFill>
                  <a:srgbClr val="1E293B"/>
                </a:solidFill>
                <a:latin typeface="Microsoft YaHei"/>
              </a:rPr>
              <a:t>控制面各子阶段严格设定单调时钟硬门限（微秒级超时监控）</a:t>
            </a:r>
          </a:p>
          <a:p>
            <a:pPr>
              <a:lnSpc>
                <a:spcPct val="116000"/>
              </a:lnSpc>
              <a:spcAft>
                <a:spcPts val="350"/>
              </a:spcAft>
            </a:pPr>
            <a:r>
              <a:rPr sz="919" b="1">
                <a:solidFill>
                  <a:srgbClr val="1E3A8A"/>
                </a:solidFill>
                <a:latin typeface="Microsoft YaHei"/>
              </a:rPr>
              <a:t>▸ </a:t>
            </a:r>
            <a:r>
              <a:rPr sz="919" b="1">
                <a:solidFill>
                  <a:srgbClr val="1E3A8A"/>
                </a:solidFill>
                <a:latin typeface="Microsoft YaHei"/>
              </a:rPr>
              <a:t>主动熔断与回退：</a:t>
            </a:r>
            <a:r>
              <a:rPr sz="919">
                <a:solidFill>
                  <a:srgbClr val="1E293B"/>
                </a:solidFill>
                <a:latin typeface="Microsoft YaHei"/>
              </a:rPr>
              <a:t>一旦探测到目录查询或租约响应超过门限（如 5µs / 2ms），触发熔断器主动丢弃本次加载，零时延无缝回退至本地直接重新计算，杜绝控制面阻塞拖垮首字延迟</a:t>
            </a:r>
          </a:p>
        </p:txBody>
      </p:sp>
      <p:sp>
        <p:nvSpPr>
          <p:cNvPr id="12" name="Rectangle 11"/>
          <p:cNvSpPr/>
          <p:nvPr/>
        </p:nvSpPr>
        <p:spPr>
          <a:xfrm>
            <a:off x="8119872" y="1078992"/>
            <a:ext cx="361188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19872" y="1078992"/>
            <a:ext cx="361188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3. 数据面 ViewGuard 500µs 极速跳出</a:t>
            </a:r>
          </a:p>
        </p:txBody>
      </p:sp>
      <p:sp>
        <p:nvSpPr>
          <p:cNvPr id="15" name="TextBox 14"/>
          <p:cNvSpPr txBox="1"/>
          <p:nvPr/>
        </p:nvSpPr>
        <p:spPr>
          <a:xfrm>
            <a:off x="8119872" y="1444752"/>
            <a:ext cx="3611880" cy="4297680"/>
          </a:xfrm>
          <a:prstGeom prst="rect">
            <a:avLst/>
          </a:prstGeom>
          <a:noFill/>
        </p:spPr>
        <p:txBody>
          <a:bodyPr wrap="square" lIns="73152" tIns="73152" rIns="73152" bIns="73152">
            <a:spAutoFit/>
          </a:bodyPr>
          <a:lstStyle/>
          <a:p>
            <a:pPr>
              <a:lnSpc>
                <a:spcPct val="116000"/>
              </a:lnSpc>
              <a:spcAft>
                <a:spcPts val="350"/>
              </a:spcAft>
            </a:pPr>
            <a:r>
              <a:rPr sz="919" b="1">
                <a:solidFill>
                  <a:srgbClr val="1E3A8A"/>
                </a:solidFill>
                <a:latin typeface="Microsoft YaHei"/>
              </a:rPr>
              <a:t>▸ </a:t>
            </a:r>
            <a:r>
              <a:rPr sz="919" b="1">
                <a:solidFill>
                  <a:srgbClr val="1E3A8A"/>
                </a:solidFill>
                <a:latin typeface="Microsoft YaHei"/>
              </a:rPr>
              <a:t>典型故障特征：</a:t>
            </a:r>
            <a:r>
              <a:rPr sz="919">
                <a:solidFill>
                  <a:srgbClr val="1E293B"/>
                </a:solidFill>
                <a:latin typeface="Microsoft YaHei"/>
              </a:rPr>
              <a:t>跨节点远端直读 (Direct-View) 时远端突发掉电或断网，引发本地 SIGBUS 缺页总线错误</a:t>
            </a:r>
          </a:p>
          <a:p>
            <a:pPr>
              <a:lnSpc>
                <a:spcPct val="116000"/>
              </a:lnSpc>
              <a:spcAft>
                <a:spcPts val="350"/>
              </a:spcAft>
            </a:pPr>
            <a:r>
              <a:rPr sz="919" b="1">
                <a:solidFill>
                  <a:srgbClr val="1E3A8A"/>
                </a:solidFill>
                <a:latin typeface="Microsoft YaHei"/>
              </a:rPr>
              <a:t>▸ </a:t>
            </a:r>
            <a:r>
              <a:rPr sz="919" b="1">
                <a:solidFill>
                  <a:srgbClr val="1E3A8A"/>
                </a:solidFill>
                <a:latin typeface="Microsoft YaHei"/>
              </a:rPr>
              <a:t>用户态信号拦截：</a:t>
            </a:r>
            <a:r>
              <a:rPr sz="919">
                <a:solidFill>
                  <a:srgbClr val="1E293B"/>
                </a:solidFill>
                <a:latin typeface="Microsoft YaHei"/>
              </a:rPr>
              <a:t>注册专门的信号捕获机制，微秒级拦截 SIGBUS，阻断错误向底层算子扩散</a:t>
            </a:r>
          </a:p>
          <a:p>
            <a:pPr>
              <a:lnSpc>
                <a:spcPct val="116000"/>
              </a:lnSpc>
              <a:spcAft>
                <a:spcPts val="350"/>
              </a:spcAft>
            </a:pPr>
            <a:r>
              <a:rPr sz="919" b="1">
                <a:solidFill>
                  <a:srgbClr val="1E3A8A"/>
                </a:solidFill>
                <a:latin typeface="Microsoft YaHei"/>
              </a:rPr>
              <a:t>▸ </a:t>
            </a:r>
            <a:r>
              <a:rPr sz="919" b="1">
                <a:solidFill>
                  <a:srgbClr val="1E3A8A"/>
                </a:solidFill>
                <a:latin typeface="Microsoft YaHei"/>
              </a:rPr>
              <a:t>500µs 跳出恢复：</a:t>
            </a:r>
            <a:r>
              <a:rPr sz="919">
                <a:solidFill>
                  <a:srgbClr val="1E293B"/>
                </a:solidFill>
                <a:latin typeface="Microsoft YaHei"/>
              </a:rPr>
              <a:t>在 500µs 内撤销异常内存映射，通知算子回退本地重算</a:t>
            </a:r>
          </a:p>
          <a:p>
            <a:pPr>
              <a:lnSpc>
                <a:spcPct val="116000"/>
              </a:lnSpc>
              <a:spcAft>
                <a:spcPts val="350"/>
              </a:spcAft>
            </a:pPr>
            <a:r>
              <a:rPr sz="919" b="1">
                <a:solidFill>
                  <a:srgbClr val="1E3A8A"/>
                </a:solidFill>
                <a:latin typeface="Microsoft YaHei"/>
              </a:rPr>
              <a:t>▸ </a:t>
            </a:r>
            <a:r>
              <a:rPr sz="919" b="1">
                <a:solidFill>
                  <a:srgbClr val="1E3A8A"/>
                </a:solidFill>
                <a:latin typeface="Microsoft YaHei"/>
              </a:rPr>
              <a:t>四级优雅降级链：</a:t>
            </a:r>
            <a:r>
              <a:rPr sz="919">
                <a:solidFill>
                  <a:srgbClr val="1E293B"/>
                </a:solidFill>
                <a:latin typeface="Microsoft YaHei"/>
              </a:rPr>
              <a:t>遵循【远端直读 -&gt; 本地显存拷贝 -&gt; DDR 缓冲 -&gt; 本地直接重算】四级优雅降级，保障业务连续性</a:t>
            </a:r>
          </a:p>
        </p:txBody>
      </p:sp>
      <p:sp>
        <p:nvSpPr>
          <p:cNvPr id="16" name="Rectangle 15"/>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三面故障域严格正交物理隔离，管理面脑裂与控制面超时绝不扩散至在线推理；跨节点远端直读必须受 ViewGuard 租约守卫保护。</a:t>
            </a:r>
            <a:r>
              <a:rPr sz="1150" b="1">
                <a:solidFill>
                  <a:srgbClr val="DC2626"/>
                </a:solidFill>
                <a:latin typeface="Microsoft YaHei"/>
              </a:rPr>
              <a:t>
底层 SIGBUS 缺页异常在用户态微秒级拦截，500µs 内极速跳出并安全回退至本地重算，保障在线推理业务高可用与连续性。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专题十二：四个核心验证阶段 (E0~E3) 演进路线与 38 条 SR 需求矩阵</a:t>
            </a:r>
          </a:p>
          <a:p>
            <a:pPr>
              <a:spcBef>
                <a:spcPts val="300"/>
              </a:spcBef>
              <a:defRPr sz="1100">
                <a:solidFill>
                  <a:srgbClr val="475569"/>
                </a:solidFill>
                <a:latin typeface="Microsoft YaHei"/>
              </a:defRPr>
            </a:pPr>
            <a:r>
              <a:t>四个核心验证阶段建立坚固证据闭环，全量 38 条 SR 需求精准分层映射，确立纯软主路径与条件加速轨</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14 / 15 页</a:t>
            </a:r>
          </a:p>
        </p:txBody>
      </p:sp>
      <p:sp>
        <p:nvSpPr>
          <p:cNvPr id="4" name="Rectangle 3"/>
          <p:cNvSpPr/>
          <p:nvPr/>
        </p:nvSpPr>
        <p:spPr>
          <a:xfrm>
            <a:off x="457200"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78992"/>
            <a:ext cx="265176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E0 业务收益前提确认</a:t>
            </a:r>
          </a:p>
          <a:p>
            <a:pPr algn="r">
              <a:defRPr sz="950" b="1">
                <a:solidFill>
                  <a:srgbClr val="BFDBFE"/>
                </a:solidFill>
                <a:latin typeface="Microsoft YaHei"/>
              </a:defRPr>
            </a:pPr>
            <a:r>
              <a:t>[净收益与协议上限]</a:t>
            </a:r>
          </a:p>
        </p:txBody>
      </p:sp>
      <p:sp>
        <p:nvSpPr>
          <p:cNvPr id="7" name="TextBox 6"/>
          <p:cNvSpPr txBox="1"/>
          <p:nvPr/>
        </p:nvSpPr>
        <p:spPr>
          <a:xfrm>
            <a:off x="457200" y="1444752"/>
            <a:ext cx="2651760" cy="2468880"/>
          </a:xfrm>
          <a:prstGeom prst="rect">
            <a:avLst/>
          </a:prstGeom>
          <a:noFill/>
        </p:spPr>
        <p:txBody>
          <a:bodyPr wrap="square" lIns="73152" tIns="73152" rIns="73152" bIns="73152">
            <a:spAutoFit/>
          </a:bodyPr>
          <a:lstStyle/>
          <a:p>
            <a:pPr>
              <a:lnSpc>
                <a:spcPct val="114000"/>
              </a:lnSpc>
              <a:spcAft>
                <a:spcPts val="300"/>
              </a:spcAft>
            </a:pPr>
            <a:r>
              <a:rPr sz="860" b="1">
                <a:solidFill>
                  <a:srgbClr val="1E3A8A"/>
                </a:solidFill>
                <a:latin typeface="Microsoft YaHei"/>
              </a:rPr>
              <a:t>▸ </a:t>
            </a:r>
            <a:r>
              <a:rPr sz="860" b="1">
                <a:solidFill>
                  <a:srgbClr val="1E3A8A"/>
                </a:solidFill>
                <a:latin typeface="Microsoft YaHei"/>
              </a:rPr>
              <a:t>验证目标：</a:t>
            </a:r>
            <a:r>
              <a:rPr sz="860">
                <a:solidFill>
                  <a:srgbClr val="1E293B"/>
                </a:solidFill>
                <a:latin typeface="Microsoft YaHei"/>
              </a:rPr>
              <a:t>验证 Saved-Prefill 净收益在各复用率下的存在边界，探明 UBMEM 协议加速上限</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准入门槛：</a:t>
            </a:r>
            <a:r>
              <a:rPr sz="860">
                <a:solidFill>
                  <a:srgbClr val="1E293B"/>
                </a:solidFill>
                <a:latin typeface="Microsoft YaHei"/>
              </a:rPr>
              <a:t>净收益显著存在，远端拉取总开销 &lt; 本地直接重算耗时</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需求承接：</a:t>
            </a:r>
            <a:r>
              <a:rPr sz="860">
                <a:solidFill>
                  <a:srgbClr val="1E293B"/>
                </a:solidFill>
                <a:latin typeface="Microsoft YaHei"/>
              </a:rPr>
              <a:t>承接 L1 框架适配层 SR23-01-01~06 共 6 条 SR 需求闭环</a:t>
            </a:r>
          </a:p>
        </p:txBody>
      </p:sp>
      <p:sp>
        <p:nvSpPr>
          <p:cNvPr id="8" name="Rectangle 7"/>
          <p:cNvSpPr/>
          <p:nvPr/>
        </p:nvSpPr>
        <p:spPr>
          <a:xfrm>
            <a:off x="3328416"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28416" y="1078992"/>
            <a:ext cx="265176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8144"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E1 核心数据路径打通</a:t>
            </a:r>
          </a:p>
          <a:p>
            <a:pPr algn="r">
              <a:defRPr sz="950" b="1">
                <a:solidFill>
                  <a:srgbClr val="BFDBFE"/>
                </a:solidFill>
                <a:latin typeface="Microsoft YaHei"/>
              </a:defRPr>
            </a:pPr>
            <a:r>
              <a:t>[零拷贝与多卡同步]</a:t>
            </a:r>
          </a:p>
        </p:txBody>
      </p:sp>
      <p:sp>
        <p:nvSpPr>
          <p:cNvPr id="11" name="TextBox 10"/>
          <p:cNvSpPr txBox="1"/>
          <p:nvPr/>
        </p:nvSpPr>
        <p:spPr>
          <a:xfrm>
            <a:off x="3328416" y="1444752"/>
            <a:ext cx="2651760" cy="2468880"/>
          </a:xfrm>
          <a:prstGeom prst="rect">
            <a:avLst/>
          </a:prstGeom>
          <a:noFill/>
        </p:spPr>
        <p:txBody>
          <a:bodyPr wrap="square" lIns="73152" tIns="73152" rIns="73152" bIns="73152">
            <a:spAutoFit/>
          </a:bodyPr>
          <a:lstStyle/>
          <a:p>
            <a:pPr>
              <a:lnSpc>
                <a:spcPct val="114000"/>
              </a:lnSpc>
              <a:spcAft>
                <a:spcPts val="300"/>
              </a:spcAft>
            </a:pPr>
            <a:r>
              <a:rPr sz="860" b="1">
                <a:solidFill>
                  <a:srgbClr val="1E3A8A"/>
                </a:solidFill>
                <a:latin typeface="Microsoft YaHei"/>
              </a:rPr>
              <a:t>▸ </a:t>
            </a:r>
            <a:r>
              <a:rPr sz="860" b="1">
                <a:solidFill>
                  <a:srgbClr val="1E3A8A"/>
                </a:solidFill>
                <a:latin typeface="Microsoft YaHei"/>
              </a:rPr>
              <a:t>验证目标：</a:t>
            </a:r>
            <a:r>
              <a:rPr sz="860">
                <a:solidFill>
                  <a:srgbClr val="1E293B"/>
                </a:solidFill>
                <a:latin typeface="Microsoft YaHei"/>
              </a:rPr>
              <a:t>打通 Host CPU 零数据拷贝底座、64B POD 描述符编译与 TP=8 多卡原子同步</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准入门槛：</a:t>
            </a:r>
            <a:r>
              <a:rPr sz="860">
                <a:solidFill>
                  <a:srgbClr val="1E293B"/>
                </a:solidFill>
                <a:latin typeface="Microsoft YaHei"/>
              </a:rPr>
              <a:t>Host CPU 零数据拷贝，TP=8 同步 P99 &lt; 100µs，0 错误消费</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需求承接：</a:t>
            </a:r>
            <a:r>
              <a:rPr sz="860">
                <a:solidFill>
                  <a:srgbClr val="1E293B"/>
                </a:solidFill>
                <a:latin typeface="Microsoft YaHei"/>
              </a:rPr>
              <a:t>承接 L3 传输管理层 SR23-01-21~29 共 9 条 SR 需求闭环</a:t>
            </a:r>
          </a:p>
        </p:txBody>
      </p:sp>
      <p:sp>
        <p:nvSpPr>
          <p:cNvPr id="12" name="Rectangle 11"/>
          <p:cNvSpPr/>
          <p:nvPr/>
        </p:nvSpPr>
        <p:spPr>
          <a:xfrm>
            <a:off x="6199632"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078992"/>
            <a:ext cx="265176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E2 动态调度与分层扩容</a:t>
            </a:r>
          </a:p>
          <a:p>
            <a:pPr algn="r">
              <a:defRPr sz="950" b="1">
                <a:solidFill>
                  <a:srgbClr val="BFDBFE"/>
                </a:solidFill>
                <a:latin typeface="Microsoft YaHei"/>
              </a:defRPr>
            </a:pPr>
            <a:r>
              <a:t>[微秒决策与SSD直达]</a:t>
            </a:r>
          </a:p>
        </p:txBody>
      </p:sp>
      <p:sp>
        <p:nvSpPr>
          <p:cNvPr id="15" name="TextBox 14"/>
          <p:cNvSpPr txBox="1"/>
          <p:nvPr/>
        </p:nvSpPr>
        <p:spPr>
          <a:xfrm>
            <a:off x="6199632" y="1444752"/>
            <a:ext cx="2651760" cy="2468880"/>
          </a:xfrm>
          <a:prstGeom prst="rect">
            <a:avLst/>
          </a:prstGeom>
          <a:noFill/>
        </p:spPr>
        <p:txBody>
          <a:bodyPr wrap="square" lIns="73152" tIns="73152" rIns="73152" bIns="73152">
            <a:spAutoFit/>
          </a:bodyPr>
          <a:lstStyle/>
          <a:p>
            <a:pPr>
              <a:lnSpc>
                <a:spcPct val="114000"/>
              </a:lnSpc>
              <a:spcAft>
                <a:spcPts val="300"/>
              </a:spcAft>
            </a:pPr>
            <a:r>
              <a:rPr sz="860" b="1">
                <a:solidFill>
                  <a:srgbClr val="1E3A8A"/>
                </a:solidFill>
                <a:latin typeface="Microsoft YaHei"/>
              </a:rPr>
              <a:t>▸ </a:t>
            </a:r>
            <a:r>
              <a:rPr sz="860" b="1">
                <a:solidFill>
                  <a:srgbClr val="1E3A8A"/>
                </a:solidFill>
                <a:latin typeface="Microsoft YaHei"/>
              </a:rPr>
              <a:t>验证目标：</a:t>
            </a:r>
            <a:r>
              <a:rPr sz="860">
                <a:solidFill>
                  <a:srgbClr val="1E293B"/>
                </a:solidFill>
                <a:latin typeface="Microsoft YaHei"/>
              </a:rPr>
              <a:t>验证 QueryPlan 选路、ViewGuard 容错跳出与 NVMe SSD 直达扩容</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准入门槛：</a:t>
            </a:r>
            <a:r>
              <a:rPr sz="860">
                <a:solidFill>
                  <a:srgbClr val="1E293B"/>
                </a:solidFill>
                <a:latin typeface="Microsoft YaHei"/>
              </a:rPr>
              <a:t>决策准确率 ≥ 95%，SIGBUS 跳出 &lt; 500µs，SSD 直达绕过主机内存</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需求承接：</a:t>
            </a:r>
            <a:r>
              <a:rPr sz="860">
                <a:solidFill>
                  <a:srgbClr val="1E293B"/>
                </a:solidFill>
                <a:latin typeface="Microsoft YaHei"/>
              </a:rPr>
              <a:t>承接 L2 核心调度层 SR23-01-07~20 共 14 条 SR 需求闭环</a:t>
            </a:r>
          </a:p>
        </p:txBody>
      </p:sp>
      <p:sp>
        <p:nvSpPr>
          <p:cNvPr id="16" name="Rectangle 15"/>
          <p:cNvSpPr/>
          <p:nvPr/>
        </p:nvSpPr>
        <p:spPr>
          <a:xfrm>
            <a:off x="9070848"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70848" y="1078992"/>
            <a:ext cx="2651760" cy="34747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0576"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E3 全链路混压总门禁</a:t>
            </a:r>
          </a:p>
          <a:p>
            <a:pPr algn="r">
              <a:defRPr sz="950" b="1">
                <a:solidFill>
                  <a:srgbClr val="BFDBFE"/>
                </a:solidFill>
                <a:latin typeface="Microsoft YaHei"/>
              </a:defRPr>
            </a:pPr>
            <a:r>
              <a:t>[真实集群端到端混压]</a:t>
            </a:r>
          </a:p>
        </p:txBody>
      </p:sp>
      <p:sp>
        <p:nvSpPr>
          <p:cNvPr id="19" name="TextBox 18"/>
          <p:cNvSpPr txBox="1"/>
          <p:nvPr/>
        </p:nvSpPr>
        <p:spPr>
          <a:xfrm>
            <a:off x="9070848" y="1444752"/>
            <a:ext cx="2651760" cy="2468880"/>
          </a:xfrm>
          <a:prstGeom prst="rect">
            <a:avLst/>
          </a:prstGeom>
          <a:noFill/>
        </p:spPr>
        <p:txBody>
          <a:bodyPr wrap="square" lIns="73152" tIns="73152" rIns="73152" bIns="73152">
            <a:spAutoFit/>
          </a:bodyPr>
          <a:lstStyle/>
          <a:p>
            <a:pPr>
              <a:lnSpc>
                <a:spcPct val="114000"/>
              </a:lnSpc>
              <a:spcAft>
                <a:spcPts val="300"/>
              </a:spcAft>
            </a:pPr>
            <a:r>
              <a:rPr sz="860" b="1">
                <a:solidFill>
                  <a:srgbClr val="1E3A8A"/>
                </a:solidFill>
                <a:latin typeface="Microsoft YaHei"/>
              </a:rPr>
              <a:t>▸ </a:t>
            </a:r>
            <a:r>
              <a:rPr sz="860" b="1">
                <a:solidFill>
                  <a:srgbClr val="1E3A8A"/>
                </a:solidFill>
                <a:latin typeface="Microsoft YaHei"/>
              </a:rPr>
              <a:t>验证目标：</a:t>
            </a:r>
            <a:r>
              <a:rPr sz="860">
                <a:solidFill>
                  <a:srgbClr val="1E293B"/>
                </a:solidFill>
                <a:latin typeface="Microsoft YaHei"/>
              </a:rPr>
              <a:t>真实双节点集群下，前台在线推理与后台满载 I/O 极限混压验证</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准入门槛：</a:t>
            </a:r>
            <a:r>
              <a:rPr sz="860">
                <a:solidFill>
                  <a:srgbClr val="1E293B"/>
                </a:solidFill>
                <a:latin typeface="Microsoft YaHei"/>
              </a:rPr>
              <a:t>全链路 TTFT 降低 ≥ 20%，系统 QPS 提升 ≥ 10%，前台 TPOT 干扰率 &lt; 3%</a:t>
            </a:r>
          </a:p>
          <a:p>
            <a:pPr>
              <a:lnSpc>
                <a:spcPct val="114000"/>
              </a:lnSpc>
              <a:spcAft>
                <a:spcPts val="300"/>
              </a:spcAft>
            </a:pPr>
            <a:r>
              <a:rPr sz="860" b="1">
                <a:solidFill>
                  <a:srgbClr val="1E3A8A"/>
                </a:solidFill>
                <a:latin typeface="Microsoft YaHei"/>
              </a:rPr>
              <a:t>▸ </a:t>
            </a:r>
            <a:r>
              <a:rPr sz="860" b="1">
                <a:solidFill>
                  <a:srgbClr val="1E3A8A"/>
                </a:solidFill>
                <a:latin typeface="Microsoft YaHei"/>
              </a:rPr>
              <a:t>需求承接：</a:t>
            </a:r>
            <a:r>
              <a:rPr sz="860">
                <a:solidFill>
                  <a:srgbClr val="1E293B"/>
                </a:solidFill>
                <a:latin typeface="Microsoft YaHei"/>
              </a:rPr>
              <a:t>承接管理与辅助保障层 SR23-01-30~38 共 9 条 SR 需求闭环</a:t>
            </a:r>
          </a:p>
        </p:txBody>
      </p:sp>
      <p:sp>
        <p:nvSpPr>
          <p:cNvPr id="20" name="Rectangle 19"/>
          <p:cNvSpPr/>
          <p:nvPr/>
        </p:nvSpPr>
        <p:spPr>
          <a:xfrm>
            <a:off x="457200"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041648"/>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主路径纯软直达与去依赖科学证伪</a:t>
            </a:r>
          </a:p>
          <a:p>
            <a:pPr algn="r">
              <a:defRPr sz="950" b="1">
                <a:solidFill>
                  <a:srgbClr val="BFDBFE"/>
                </a:solidFill>
                <a:latin typeface="Microsoft YaHei"/>
              </a:defRPr>
            </a:pPr>
            <a:r>
              <a:t>[架构去依赖]</a:t>
            </a:r>
          </a:p>
        </p:txBody>
      </p:sp>
      <p:sp>
        <p:nvSpPr>
          <p:cNvPr id="23" name="TextBox 22"/>
          <p:cNvSpPr txBox="1"/>
          <p:nvPr/>
        </p:nvSpPr>
        <p:spPr>
          <a:xfrm>
            <a:off x="457200"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a:t>
            </a:r>
            <a:r>
              <a:rPr sz="860" b="1">
                <a:solidFill>
                  <a:srgbClr val="1E3A8A"/>
                </a:solidFill>
                <a:latin typeface="Microsoft YaHei"/>
              </a:rPr>
              <a:t>纯软主路径底座：</a:t>
            </a:r>
            <a:r>
              <a:rPr sz="860">
                <a:solidFill>
                  <a:srgbClr val="1E293B"/>
                </a:solidFill>
                <a:latin typeface="Microsoft YaHei"/>
              </a:rPr>
              <a:t>以标准驱动纯软直达为主路径底座，保证不依赖特定协处理器与专用硬件即可稳定运行</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条件加速轨定位：</a:t>
            </a:r>
            <a:r>
              <a:rPr sz="860">
                <a:solidFill>
                  <a:srgbClr val="1E293B"/>
                </a:solidFill>
                <a:latin typeface="Microsoft YaHei"/>
              </a:rPr>
              <a:t>网卡硬件多播、硬件 Atomic Remap 与 DPU 卸载定位为条件加速轨，主路径与加速轨解耦演进</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科学证伪结论：</a:t>
            </a:r>
            <a:r>
              <a:rPr sz="860">
                <a:solidFill>
                  <a:srgbClr val="1E293B"/>
                </a:solidFill>
                <a:latin typeface="Microsoft YaHei"/>
              </a:rPr>
              <a:t>严密证伪硬件强依赖风险，确保在外部协处理器不可用时，系统平稳回退至纯软主路径</a:t>
            </a:r>
          </a:p>
        </p:txBody>
      </p:sp>
      <p:sp>
        <p:nvSpPr>
          <p:cNvPr id="24" name="Rectangle 23"/>
          <p:cNvSpPr/>
          <p:nvPr/>
        </p:nvSpPr>
        <p:spPr>
          <a:xfrm>
            <a:off x="6199632"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99632" y="4041648"/>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研产测一体化四大交付资产闭环</a:t>
            </a:r>
          </a:p>
          <a:p>
            <a:pPr algn="r">
              <a:defRPr sz="950" b="1">
                <a:solidFill>
                  <a:srgbClr val="BFDBFE"/>
                </a:solidFill>
                <a:latin typeface="Microsoft YaHei"/>
              </a:defRPr>
            </a:pPr>
            <a:r>
              <a:t>[生产级交付]</a:t>
            </a:r>
          </a:p>
        </p:txBody>
      </p:sp>
      <p:sp>
        <p:nvSpPr>
          <p:cNvPr id="27" name="TextBox 26"/>
          <p:cNvSpPr txBox="1"/>
          <p:nvPr/>
        </p:nvSpPr>
        <p:spPr>
          <a:xfrm>
            <a:off x="6199632"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a:t>
            </a:r>
            <a:r>
              <a:rPr sz="860" b="1">
                <a:solidFill>
                  <a:srgbClr val="1E3A8A"/>
                </a:solidFill>
                <a:latin typeface="Microsoft YaHei"/>
              </a:rPr>
              <a:t>生产级代码资产：</a:t>
            </a:r>
            <a:r>
              <a:rPr sz="860">
                <a:solidFill>
                  <a:srgbClr val="1E293B"/>
                </a:solidFill>
                <a:latin typeface="Microsoft YaHei"/>
              </a:rPr>
              <a:t>交付 C/C++ 原生核心库、POSIX 共享内存运行时、微秒级驱动桩与全套单元测试套件</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白皮书级规范资产：</a:t>
            </a:r>
            <a:r>
              <a:rPr sz="860">
                <a:solidFill>
                  <a:srgbClr val="1E293B"/>
                </a:solidFill>
                <a:latin typeface="Microsoft YaHei"/>
              </a:rPr>
              <a:t>输出《系统架构设计说明书》、《KPCL 通信驱动 API 契约》与部署实施手册</a:t>
            </a:r>
          </a:p>
          <a:p>
            <a:pPr>
              <a:lnSpc>
                <a:spcPct val="112000"/>
              </a:lnSpc>
              <a:spcAft>
                <a:spcPts val="200"/>
              </a:spcAft>
            </a:pPr>
            <a:r>
              <a:rPr sz="860" b="1">
                <a:solidFill>
                  <a:srgbClr val="1E3A8A"/>
                </a:solidFill>
                <a:latin typeface="Microsoft YaHei"/>
              </a:rPr>
              <a:t>▸ </a:t>
            </a:r>
            <a:r>
              <a:rPr sz="860" b="1">
                <a:solidFill>
                  <a:srgbClr val="1E3A8A"/>
                </a:solidFill>
                <a:latin typeface="Microsoft YaHei"/>
              </a:rPr>
              <a:t>客观实测数据资产：</a:t>
            </a:r>
            <a:r>
              <a:rPr sz="860">
                <a:solidFill>
                  <a:srgbClr val="1E293B"/>
                </a:solidFill>
                <a:latin typeface="Microsoft YaHei"/>
              </a:rPr>
              <a:t>交付 12 份标准验证报告、真实拓扑 CSV 事件与微秒级追踪监控曲线</a:t>
            </a:r>
          </a:p>
        </p:txBody>
      </p:sp>
      <p:sp>
        <p:nvSpPr>
          <p:cNvPr id="28" name="Rectangle 2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执行显存严格归推理框架管理拥有；主路径基于标准驱动纯软直达，硬件加速解耦演进；架构分层精准承接全量 38 条 SR 需求。</a:t>
            </a:r>
            <a:r>
              <a:rPr sz="1150" b="1">
                <a:solidFill>
                  <a:srgbClr val="DC2626"/>
                </a:solidFill>
                <a:latin typeface="Microsoft YaHei"/>
              </a:rPr>
              <a:t>
严格执行 E0~E3 渐进式阶段门禁准入标准，严禁未达标合并上线；以真实双节点集群客观实测数据为准，确保工程高质量交付。</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工程化收官总结：技术立项核心共识、生产级交付资产与落地保障承诺</a:t>
            </a:r>
          </a:p>
          <a:p>
            <a:pPr>
              <a:spcBef>
                <a:spcPts val="300"/>
              </a:spcBef>
              <a:defRPr sz="1100">
                <a:solidFill>
                  <a:srgbClr val="475569"/>
                </a:solidFill>
                <a:latin typeface="Microsoft YaHei"/>
              </a:defRPr>
            </a:pPr>
            <a:r>
              <a:t>基于第一性原理分析系统瓶颈 · 阶段门禁保障工程质量 · 打造面向国产 AI 硬件的统一存储底座</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15 / 15 页</a:t>
            </a:r>
          </a:p>
        </p:txBody>
      </p:sp>
      <p:sp>
        <p:nvSpPr>
          <p:cNvPr id="4" name="Rectangle 3"/>
          <p:cNvSpPr/>
          <p:nvPr/>
        </p:nvSpPr>
        <p:spPr>
          <a:xfrm>
            <a:off x="457200" y="1078992"/>
            <a:ext cx="265176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78992"/>
            <a:ext cx="265176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1. 原厂软硬件协同底座</a:t>
            </a:r>
          </a:p>
          <a:p>
            <a:pPr algn="r">
              <a:defRPr sz="950" b="1">
                <a:solidFill>
                  <a:srgbClr val="BFDBFE"/>
                </a:solidFill>
                <a:latin typeface="Microsoft YaHei"/>
              </a:defRPr>
            </a:pPr>
            <a:r>
              <a:t>[架构定位]</a:t>
            </a:r>
          </a:p>
        </p:txBody>
      </p:sp>
      <p:sp>
        <p:nvSpPr>
          <p:cNvPr id="7" name="TextBox 6"/>
          <p:cNvSpPr txBox="1"/>
          <p:nvPr/>
        </p:nvSpPr>
        <p:spPr>
          <a:xfrm>
            <a:off x="457200" y="1444752"/>
            <a:ext cx="2651760" cy="2450592"/>
          </a:xfrm>
          <a:prstGeom prst="rect">
            <a:avLst/>
          </a:prstGeom>
          <a:noFill/>
        </p:spPr>
        <p:txBody>
          <a:bodyPr wrap="square" lIns="73152" tIns="73152" rIns="73152" bIns="73152">
            <a:spAutoFit/>
          </a:bodyPr>
          <a:lstStyle/>
          <a:p>
            <a:pPr>
              <a:lnSpc>
                <a:spcPct val="115000"/>
              </a:lnSpc>
              <a:spcAft>
                <a:spcPts val="450"/>
              </a:spcAft>
            </a:pPr>
            <a:r>
              <a:rPr sz="919" b="1">
                <a:solidFill>
                  <a:srgbClr val="1E3A8A"/>
                </a:solidFill>
                <a:latin typeface="Microsoft YaHei"/>
              </a:rPr>
              <a:t>▸ </a:t>
            </a:r>
            <a:r>
              <a:rPr sz="919" b="1">
                <a:solidFill>
                  <a:srgbClr val="1E3A8A"/>
                </a:solidFill>
                <a:latin typeface="Microsoft YaHei"/>
              </a:rPr>
              <a:t>执行显存归属：</a:t>
            </a:r>
            <a:r>
              <a:rPr sz="919">
                <a:solidFill>
                  <a:srgbClr val="1E293B"/>
                </a:solidFill>
                <a:latin typeface="Microsoft YaHei"/>
              </a:rPr>
              <a:t>框架独占执行 HBM 块表，KVC 逻辑统一跨节点不可变存储池</a:t>
            </a:r>
          </a:p>
          <a:p>
            <a:pPr>
              <a:lnSpc>
                <a:spcPct val="115000"/>
              </a:lnSpc>
              <a:spcAft>
                <a:spcPts val="450"/>
              </a:spcAft>
            </a:pPr>
            <a:r>
              <a:rPr sz="919" b="1">
                <a:solidFill>
                  <a:srgbClr val="1E3A8A"/>
                </a:solidFill>
                <a:latin typeface="Microsoft YaHei"/>
              </a:rPr>
              <a:t>▸ </a:t>
            </a:r>
            <a:r>
              <a:rPr sz="919" b="1">
                <a:solidFill>
                  <a:srgbClr val="1E3A8A"/>
                </a:solidFill>
                <a:latin typeface="Microsoft YaHei"/>
              </a:rPr>
              <a:t>底层总线封装：</a:t>
            </a:r>
            <a:r>
              <a:rPr sz="919">
                <a:solidFill>
                  <a:srgbClr val="1E293B"/>
                </a:solidFill>
                <a:latin typeface="Microsoft YaHei"/>
              </a:rPr>
              <a:t>以原厂通信库 (KPCL) 封装硬件驱动，屏蔽底层异构细节</a:t>
            </a:r>
          </a:p>
          <a:p>
            <a:pPr>
              <a:lnSpc>
                <a:spcPct val="115000"/>
              </a:lnSpc>
              <a:spcAft>
                <a:spcPts val="450"/>
              </a:spcAft>
            </a:pPr>
            <a:r>
              <a:rPr sz="919" b="1">
                <a:solidFill>
                  <a:srgbClr val="1E3A8A"/>
                </a:solidFill>
                <a:latin typeface="Microsoft YaHei"/>
              </a:rPr>
              <a:t>▸ </a:t>
            </a:r>
            <a:r>
              <a:rPr sz="919" b="1">
                <a:solidFill>
                  <a:srgbClr val="1E3A8A"/>
                </a:solidFill>
                <a:latin typeface="Microsoft YaHei"/>
              </a:rPr>
              <a:t>主路径纯软直达：</a:t>
            </a:r>
            <a:r>
              <a:rPr sz="919">
                <a:solidFill>
                  <a:srgbClr val="1E293B"/>
                </a:solidFill>
                <a:latin typeface="Microsoft YaHei"/>
              </a:rPr>
              <a:t>基于标准驱动直达，硬件加速解耦演进，降低外部依赖</a:t>
            </a:r>
          </a:p>
        </p:txBody>
      </p:sp>
      <p:sp>
        <p:nvSpPr>
          <p:cNvPr id="8" name="Rectangle 7"/>
          <p:cNvSpPr/>
          <p:nvPr/>
        </p:nvSpPr>
        <p:spPr>
          <a:xfrm>
            <a:off x="3328416" y="1078992"/>
            <a:ext cx="265176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28416" y="1078992"/>
            <a:ext cx="2651760" cy="3474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38144"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2. 前置微秒动态决策</a:t>
            </a:r>
          </a:p>
          <a:p>
            <a:pPr algn="r">
              <a:defRPr sz="950" b="1">
                <a:solidFill>
                  <a:srgbClr val="BFDBFE"/>
                </a:solidFill>
                <a:latin typeface="Microsoft YaHei"/>
              </a:defRPr>
            </a:pPr>
            <a:r>
              <a:t>[净加速收益]</a:t>
            </a:r>
          </a:p>
        </p:txBody>
      </p:sp>
      <p:sp>
        <p:nvSpPr>
          <p:cNvPr id="11" name="TextBox 10"/>
          <p:cNvSpPr txBox="1"/>
          <p:nvPr/>
        </p:nvSpPr>
        <p:spPr>
          <a:xfrm>
            <a:off x="3328416" y="1444752"/>
            <a:ext cx="2651760" cy="2450592"/>
          </a:xfrm>
          <a:prstGeom prst="rect">
            <a:avLst/>
          </a:prstGeom>
          <a:noFill/>
        </p:spPr>
        <p:txBody>
          <a:bodyPr wrap="square" lIns="73152" tIns="73152" rIns="73152" bIns="73152">
            <a:spAutoFit/>
          </a:bodyPr>
          <a:lstStyle/>
          <a:p>
            <a:pPr>
              <a:lnSpc>
                <a:spcPct val="115000"/>
              </a:lnSpc>
              <a:spcAft>
                <a:spcPts val="450"/>
              </a:spcAft>
            </a:pPr>
            <a:r>
              <a:rPr sz="919" b="1">
                <a:solidFill>
                  <a:srgbClr val="1E3A8A"/>
                </a:solidFill>
                <a:latin typeface="Microsoft YaHei"/>
              </a:rPr>
              <a:t>▸ </a:t>
            </a:r>
            <a:r>
              <a:rPr sz="919" b="1">
                <a:solidFill>
                  <a:srgbClr val="1E3A8A"/>
                </a:solidFill>
                <a:latin typeface="Microsoft YaHei"/>
              </a:rPr>
              <a:t>净收益前置门禁：</a:t>
            </a:r>
            <a:r>
              <a:rPr sz="919">
                <a:solidFill>
                  <a:srgbClr val="1E293B"/>
                </a:solidFill>
                <a:latin typeface="Microsoft YaHei"/>
              </a:rPr>
              <a:t>拉取加载总开销 &lt; 本地直接重算耗时，否则主动回退本地重算</a:t>
            </a:r>
          </a:p>
          <a:p>
            <a:pPr>
              <a:lnSpc>
                <a:spcPct val="115000"/>
              </a:lnSpc>
              <a:spcAft>
                <a:spcPts val="450"/>
              </a:spcAft>
            </a:pPr>
            <a:r>
              <a:rPr sz="919" b="1">
                <a:solidFill>
                  <a:srgbClr val="1E3A8A"/>
                </a:solidFill>
                <a:latin typeface="Microsoft YaHei"/>
              </a:rPr>
              <a:t>▸ </a:t>
            </a:r>
            <a:r>
              <a:rPr sz="919" b="1">
                <a:solidFill>
                  <a:srgbClr val="1E3A8A"/>
                </a:solidFill>
                <a:latin typeface="Microsoft YaHei"/>
              </a:rPr>
              <a:t>无锁快路径匹配：</a:t>
            </a:r>
            <a:r>
              <a:rPr sz="919">
                <a:solidFill>
                  <a:srgbClr val="1E293B"/>
                </a:solidFill>
                <a:latin typeface="Microsoft YaHei"/>
              </a:rPr>
              <a:t>ART 基数树快照遍历 P99 &lt; 2µs，QueryPlan 动态微秒选路</a:t>
            </a:r>
          </a:p>
          <a:p>
            <a:pPr>
              <a:lnSpc>
                <a:spcPct val="115000"/>
              </a:lnSpc>
              <a:spcAft>
                <a:spcPts val="450"/>
              </a:spcAft>
            </a:pPr>
            <a:r>
              <a:rPr sz="919" b="1">
                <a:solidFill>
                  <a:srgbClr val="1E3A8A"/>
                </a:solidFill>
                <a:latin typeface="Microsoft YaHei"/>
              </a:rPr>
              <a:t>▸ </a:t>
            </a:r>
            <a:r>
              <a:rPr sz="919" b="1">
                <a:solidFill>
                  <a:srgbClr val="1E3A8A"/>
                </a:solidFill>
                <a:latin typeface="Microsoft YaHei"/>
              </a:rPr>
              <a:t>Host 零数据拷贝：</a:t>
            </a:r>
            <a:r>
              <a:rPr sz="919">
                <a:solidFill>
                  <a:srgbClr val="1E293B"/>
                </a:solidFill>
                <a:latin typeface="Microsoft YaHei"/>
              </a:rPr>
              <a:t>基础路径 CPU 仅下发 64B POD 描述符，数据经 DMA 直达 NPU HBM</a:t>
            </a:r>
          </a:p>
        </p:txBody>
      </p:sp>
      <p:sp>
        <p:nvSpPr>
          <p:cNvPr id="12" name="Rectangle 11"/>
          <p:cNvSpPr/>
          <p:nvPr/>
        </p:nvSpPr>
        <p:spPr>
          <a:xfrm>
            <a:off x="6199632" y="1078992"/>
            <a:ext cx="265176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078992"/>
            <a:ext cx="265176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3. 生产级安全一致性</a:t>
            </a:r>
          </a:p>
          <a:p>
            <a:pPr algn="r">
              <a:defRPr sz="950" b="1">
                <a:solidFill>
                  <a:srgbClr val="BFDBFE"/>
                </a:solidFill>
                <a:latin typeface="Microsoft YaHei"/>
              </a:defRPr>
            </a:pPr>
            <a:r>
              <a:t>[数据安全校验]</a:t>
            </a:r>
          </a:p>
        </p:txBody>
      </p:sp>
      <p:sp>
        <p:nvSpPr>
          <p:cNvPr id="15" name="TextBox 14"/>
          <p:cNvSpPr txBox="1"/>
          <p:nvPr/>
        </p:nvSpPr>
        <p:spPr>
          <a:xfrm>
            <a:off x="6199632" y="1444752"/>
            <a:ext cx="2651760" cy="2450592"/>
          </a:xfrm>
          <a:prstGeom prst="rect">
            <a:avLst/>
          </a:prstGeom>
          <a:noFill/>
        </p:spPr>
        <p:txBody>
          <a:bodyPr wrap="square" lIns="73152" tIns="73152" rIns="73152" bIns="73152">
            <a:spAutoFit/>
          </a:bodyPr>
          <a:lstStyle/>
          <a:p>
            <a:pPr>
              <a:lnSpc>
                <a:spcPct val="115000"/>
              </a:lnSpc>
              <a:spcAft>
                <a:spcPts val="450"/>
              </a:spcAft>
            </a:pPr>
            <a:r>
              <a:rPr sz="919" b="1">
                <a:solidFill>
                  <a:srgbClr val="1E3A8A"/>
                </a:solidFill>
                <a:latin typeface="Microsoft YaHei"/>
              </a:rPr>
              <a:t>▸ </a:t>
            </a:r>
            <a:r>
              <a:rPr sz="919" b="1">
                <a:solidFill>
                  <a:srgbClr val="1E3A8A"/>
                </a:solidFill>
                <a:latin typeface="Microsoft YaHei"/>
              </a:rPr>
              <a:t>6 维语义强校验：</a:t>
            </a:r>
            <a:r>
              <a:rPr sz="919">
                <a:solidFill>
                  <a:srgbClr val="1E293B"/>
                </a:solidFill>
                <a:latin typeface="Microsoft YaHei"/>
              </a:rPr>
              <a:t>严格核验模型、词表、模板与租约，杜绝非法失效数据消费</a:t>
            </a:r>
          </a:p>
          <a:p>
            <a:pPr>
              <a:lnSpc>
                <a:spcPct val="115000"/>
              </a:lnSpc>
              <a:spcAft>
                <a:spcPts val="450"/>
              </a:spcAft>
            </a:pPr>
            <a:r>
              <a:rPr sz="919" b="1">
                <a:solidFill>
                  <a:srgbClr val="1E3A8A"/>
                </a:solidFill>
                <a:latin typeface="Microsoft YaHei"/>
              </a:rPr>
              <a:t>▸ </a:t>
            </a:r>
            <a:r>
              <a:rPr sz="919" b="1">
                <a:solidFill>
                  <a:srgbClr val="1E3A8A"/>
                </a:solidFill>
                <a:latin typeface="Microsoft YaHei"/>
              </a:rPr>
              <a:t>ViewGuard 500µs：</a:t>
            </a:r>
            <a:r>
              <a:rPr sz="919">
                <a:solidFill>
                  <a:srgbClr val="1E293B"/>
                </a:solidFill>
                <a:latin typeface="Microsoft YaHei"/>
              </a:rPr>
              <a:t>跨节点直读捕获 SIGBUS 异常在 500µs 内跳出并回滚本地重算</a:t>
            </a:r>
          </a:p>
          <a:p>
            <a:pPr>
              <a:lnSpc>
                <a:spcPct val="115000"/>
              </a:lnSpc>
              <a:spcAft>
                <a:spcPts val="450"/>
              </a:spcAft>
            </a:pPr>
            <a:r>
              <a:rPr sz="919" b="1">
                <a:solidFill>
                  <a:srgbClr val="1E3A8A"/>
                </a:solidFill>
                <a:latin typeface="Microsoft YaHei"/>
              </a:rPr>
              <a:t>▸ </a:t>
            </a:r>
            <a:r>
              <a:rPr sz="919" b="1">
                <a:solidFill>
                  <a:srgbClr val="1E3A8A"/>
                </a:solidFill>
                <a:latin typeface="Microsoft YaHei"/>
              </a:rPr>
              <a:t>RCU 双层宽限期：</a:t>
            </a:r>
            <a:r>
              <a:rPr sz="919">
                <a:solidFill>
                  <a:srgbClr val="1E293B"/>
                </a:solidFill>
                <a:latin typeface="Microsoft YaHei"/>
              </a:rPr>
              <a:t>CPU 读者退出与硬件在途 I/O 排空双层仲裁，保障显存安全释放</a:t>
            </a:r>
          </a:p>
        </p:txBody>
      </p:sp>
      <p:sp>
        <p:nvSpPr>
          <p:cNvPr id="16" name="Rectangle 15"/>
          <p:cNvSpPr/>
          <p:nvPr/>
        </p:nvSpPr>
        <p:spPr>
          <a:xfrm>
            <a:off x="9070848" y="1078992"/>
            <a:ext cx="265176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70848" y="1078992"/>
            <a:ext cx="2651760" cy="34747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0576"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4. 阶段门禁与质量闭环</a:t>
            </a:r>
          </a:p>
          <a:p>
            <a:pPr algn="r">
              <a:defRPr sz="950" b="1">
                <a:solidFill>
                  <a:srgbClr val="BFDBFE"/>
                </a:solidFill>
                <a:latin typeface="Microsoft YaHei"/>
              </a:defRPr>
            </a:pPr>
            <a:r>
              <a:t>[工程推进]</a:t>
            </a:r>
          </a:p>
        </p:txBody>
      </p:sp>
      <p:sp>
        <p:nvSpPr>
          <p:cNvPr id="19" name="TextBox 18"/>
          <p:cNvSpPr txBox="1"/>
          <p:nvPr/>
        </p:nvSpPr>
        <p:spPr>
          <a:xfrm>
            <a:off x="9070848" y="1444752"/>
            <a:ext cx="2651760" cy="2450592"/>
          </a:xfrm>
          <a:prstGeom prst="rect">
            <a:avLst/>
          </a:prstGeom>
          <a:noFill/>
        </p:spPr>
        <p:txBody>
          <a:bodyPr wrap="square" lIns="73152" tIns="73152" rIns="73152" bIns="73152">
            <a:spAutoFit/>
          </a:bodyPr>
          <a:lstStyle/>
          <a:p>
            <a:pPr>
              <a:lnSpc>
                <a:spcPct val="115000"/>
              </a:lnSpc>
              <a:spcAft>
                <a:spcPts val="450"/>
              </a:spcAft>
            </a:pPr>
            <a:r>
              <a:rPr sz="919" b="1">
                <a:solidFill>
                  <a:srgbClr val="1E3A8A"/>
                </a:solidFill>
                <a:latin typeface="Microsoft YaHei"/>
              </a:rPr>
              <a:t>▸ </a:t>
            </a:r>
            <a:r>
              <a:rPr sz="919" b="1">
                <a:solidFill>
                  <a:srgbClr val="1E3A8A"/>
                </a:solidFill>
                <a:latin typeface="Microsoft YaHei"/>
              </a:rPr>
              <a:t>E0~E3 渐进门限：</a:t>
            </a:r>
            <a:r>
              <a:rPr sz="919">
                <a:solidFill>
                  <a:srgbClr val="1E293B"/>
                </a:solidFill>
                <a:latin typeface="Microsoft YaHei"/>
              </a:rPr>
              <a:t>严格按收益确认、底座打通、调度决策与端到端混压四阶段演进</a:t>
            </a:r>
          </a:p>
          <a:p>
            <a:pPr>
              <a:lnSpc>
                <a:spcPct val="115000"/>
              </a:lnSpc>
              <a:spcAft>
                <a:spcPts val="450"/>
              </a:spcAft>
            </a:pPr>
            <a:r>
              <a:rPr sz="919" b="1">
                <a:solidFill>
                  <a:srgbClr val="1E3A8A"/>
                </a:solidFill>
                <a:latin typeface="Microsoft YaHei"/>
              </a:rPr>
              <a:t>▸ </a:t>
            </a:r>
            <a:r>
              <a:rPr sz="919" b="1">
                <a:solidFill>
                  <a:srgbClr val="1E3A8A"/>
                </a:solidFill>
                <a:latin typeface="Microsoft YaHei"/>
              </a:rPr>
              <a:t>严苛混压门禁：</a:t>
            </a:r>
            <a:r>
              <a:rPr sz="919">
                <a:solidFill>
                  <a:srgbClr val="1E293B"/>
                </a:solidFill>
                <a:latin typeface="Microsoft YaHei"/>
              </a:rPr>
              <a:t>前后台混压下 TTFT 降幅 ≥ 20%，QPS 提升 ≥ 10%，TPOT 干扰 &lt; 3%</a:t>
            </a:r>
          </a:p>
          <a:p>
            <a:pPr>
              <a:lnSpc>
                <a:spcPct val="115000"/>
              </a:lnSpc>
              <a:spcAft>
                <a:spcPts val="450"/>
              </a:spcAft>
            </a:pPr>
            <a:r>
              <a:rPr sz="919" b="1">
                <a:solidFill>
                  <a:srgbClr val="1E3A8A"/>
                </a:solidFill>
                <a:latin typeface="Microsoft YaHei"/>
              </a:rPr>
              <a:t>▸ </a:t>
            </a:r>
            <a:r>
              <a:rPr sz="919" b="1">
                <a:solidFill>
                  <a:srgbClr val="1E3A8A"/>
                </a:solidFill>
                <a:latin typeface="Microsoft YaHei"/>
              </a:rPr>
              <a:t>研产测一体化：</a:t>
            </a:r>
            <a:r>
              <a:rPr sz="919">
                <a:solidFill>
                  <a:srgbClr val="1E293B"/>
                </a:solidFill>
                <a:latin typeface="Microsoft YaHei"/>
              </a:rPr>
              <a:t>代码、规范、实测数据与核心专利同步闭环交付，以客观实测为依据</a:t>
            </a:r>
          </a:p>
        </p:txBody>
      </p:sp>
      <p:sp>
        <p:nvSpPr>
          <p:cNvPr id="20" name="Rectangle 19"/>
          <p:cNvSpPr/>
          <p:nvPr/>
        </p:nvSpPr>
        <p:spPr>
          <a:xfrm>
            <a:off x="457200" y="4069080"/>
            <a:ext cx="5532120" cy="1691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069080"/>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105656"/>
            <a:ext cx="5312664" cy="246888"/>
          </a:xfrm>
          <a:prstGeom prst="rect">
            <a:avLst/>
          </a:prstGeom>
          <a:noFill/>
        </p:spPr>
        <p:txBody>
          <a:bodyPr wrap="none" lIns="0" tIns="0" rIns="0" bIns="0">
            <a:spAutoFit/>
          </a:bodyPr>
          <a:lstStyle/>
          <a:p>
            <a:pPr>
              <a:defRPr sz="1080" b="1">
                <a:solidFill>
                  <a:srgbClr val="FFFFFF"/>
                </a:solidFill>
                <a:latin typeface="Microsoft YaHei"/>
              </a:defRPr>
            </a:pPr>
            <a:r>
              <a:t>四大生产级核心交付资产</a:t>
            </a:r>
          </a:p>
          <a:p>
            <a:pPr algn="r">
              <a:defRPr sz="950" b="1">
                <a:solidFill>
                  <a:srgbClr val="BFDBFE"/>
                </a:solidFill>
                <a:latin typeface="Microsoft YaHei"/>
              </a:defRPr>
            </a:pPr>
            <a:r>
              <a:t>[研产测一体化交付]</a:t>
            </a:r>
          </a:p>
        </p:txBody>
      </p:sp>
      <p:sp>
        <p:nvSpPr>
          <p:cNvPr id="23" name="TextBox 22"/>
          <p:cNvSpPr txBox="1"/>
          <p:nvPr/>
        </p:nvSpPr>
        <p:spPr>
          <a:xfrm>
            <a:off x="457200" y="4398264"/>
            <a:ext cx="5532120" cy="1344168"/>
          </a:xfrm>
          <a:prstGeom prst="rect">
            <a:avLst/>
          </a:prstGeom>
          <a:noFill/>
        </p:spPr>
        <p:txBody>
          <a:bodyPr wrap="square" lIns="73152" tIns="73152" rIns="73152" bIns="73152">
            <a:spAutoFit/>
          </a:bodyPr>
          <a:lstStyle/>
          <a:p>
            <a:pPr>
              <a:lnSpc>
                <a:spcPct val="112000"/>
              </a:lnSpc>
              <a:spcAft>
                <a:spcPts val="250"/>
              </a:spcAft>
            </a:pPr>
            <a:r>
              <a:rPr sz="900" b="1">
                <a:solidFill>
                  <a:srgbClr val="1E3A8A"/>
                </a:solidFill>
                <a:latin typeface="Microsoft YaHei"/>
              </a:rPr>
              <a:t>▸ </a:t>
            </a:r>
            <a:r>
              <a:rPr sz="900" b="1">
                <a:solidFill>
                  <a:srgbClr val="1E3A8A"/>
                </a:solidFill>
                <a:latin typeface="Microsoft YaHei"/>
              </a:rPr>
              <a:t>代码资产：</a:t>
            </a:r>
            <a:r>
              <a:rPr sz="900">
                <a:solidFill>
                  <a:srgbClr val="1E293B"/>
                </a:solidFill>
                <a:latin typeface="Microsoft YaHei"/>
              </a:rPr>
              <a:t>交付全套微秒级 C/C++ 原生核心库、POSIX 共享内存运行时与单元测试套件</a:t>
            </a:r>
          </a:p>
          <a:p>
            <a:pPr>
              <a:lnSpc>
                <a:spcPct val="112000"/>
              </a:lnSpc>
              <a:spcAft>
                <a:spcPts val="250"/>
              </a:spcAft>
            </a:pPr>
            <a:r>
              <a:rPr sz="900" b="1">
                <a:solidFill>
                  <a:srgbClr val="1E3A8A"/>
                </a:solidFill>
                <a:latin typeface="Microsoft YaHei"/>
              </a:rPr>
              <a:t>▸ </a:t>
            </a:r>
            <a:r>
              <a:rPr sz="900" b="1">
                <a:solidFill>
                  <a:srgbClr val="1E3A8A"/>
                </a:solidFill>
                <a:latin typeface="Microsoft YaHei"/>
              </a:rPr>
              <a:t>规范资产：</a:t>
            </a:r>
            <a:r>
              <a:rPr sz="900">
                <a:solidFill>
                  <a:srgbClr val="1E293B"/>
                </a:solidFill>
                <a:latin typeface="Microsoft YaHei"/>
              </a:rPr>
              <a:t>输出白皮书级《系统架构设计说明书》、《KPCL 通信驱动 API 契约》与部署规范</a:t>
            </a:r>
          </a:p>
          <a:p>
            <a:pPr>
              <a:lnSpc>
                <a:spcPct val="112000"/>
              </a:lnSpc>
              <a:spcAft>
                <a:spcPts val="250"/>
              </a:spcAft>
            </a:pPr>
            <a:r>
              <a:rPr sz="900" b="1">
                <a:solidFill>
                  <a:srgbClr val="1E3A8A"/>
                </a:solidFill>
                <a:latin typeface="Microsoft YaHei"/>
              </a:rPr>
              <a:t>▸ </a:t>
            </a:r>
            <a:r>
              <a:rPr sz="900" b="1">
                <a:solidFill>
                  <a:srgbClr val="1E3A8A"/>
                </a:solidFill>
                <a:latin typeface="Microsoft YaHei"/>
              </a:rPr>
              <a:t>数据资产：</a:t>
            </a:r>
            <a:r>
              <a:rPr sz="900">
                <a:solidFill>
                  <a:srgbClr val="1E293B"/>
                </a:solidFill>
                <a:latin typeface="Microsoft YaHei"/>
              </a:rPr>
              <a:t>交付 12 份标准验证报告、真实拓扑 CSV 原始事件与微秒级监控追踪曲线</a:t>
            </a:r>
          </a:p>
          <a:p>
            <a:pPr>
              <a:lnSpc>
                <a:spcPct val="112000"/>
              </a:lnSpc>
              <a:spcAft>
                <a:spcPts val="250"/>
              </a:spcAft>
            </a:pPr>
            <a:r>
              <a:rPr sz="900" b="1">
                <a:solidFill>
                  <a:srgbClr val="1E3A8A"/>
                </a:solidFill>
                <a:latin typeface="Microsoft YaHei"/>
              </a:rPr>
              <a:t>▸ </a:t>
            </a:r>
            <a:r>
              <a:rPr sz="900" b="1">
                <a:solidFill>
                  <a:srgbClr val="1E3A8A"/>
                </a:solidFill>
                <a:latin typeface="Microsoft YaHei"/>
              </a:rPr>
              <a:t>专利资产：</a:t>
            </a:r>
            <a:r>
              <a:rPr sz="900">
                <a:solidFill>
                  <a:srgbClr val="1E293B"/>
                </a:solidFill>
                <a:latin typeface="Microsoft YaHei"/>
              </a:rPr>
              <a:t>围绕双流分离、ViewGuard 容错、6维语义校验与 DAG 流水布局多项核心发明专利</a:t>
            </a:r>
          </a:p>
        </p:txBody>
      </p:sp>
      <p:sp>
        <p:nvSpPr>
          <p:cNvPr id="24" name="Rectangle 23"/>
          <p:cNvSpPr/>
          <p:nvPr/>
        </p:nvSpPr>
        <p:spPr>
          <a:xfrm>
            <a:off x="6199632" y="4069080"/>
            <a:ext cx="5532120" cy="1691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99632" y="4069080"/>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105656"/>
            <a:ext cx="5312664" cy="246888"/>
          </a:xfrm>
          <a:prstGeom prst="rect">
            <a:avLst/>
          </a:prstGeom>
          <a:noFill/>
        </p:spPr>
        <p:txBody>
          <a:bodyPr wrap="none" lIns="0" tIns="0" rIns="0" bIns="0">
            <a:spAutoFit/>
          </a:bodyPr>
          <a:lstStyle/>
          <a:p>
            <a:pPr>
              <a:defRPr sz="1080" b="1">
                <a:solidFill>
                  <a:srgbClr val="FFFFFF"/>
                </a:solidFill>
                <a:latin typeface="Microsoft YaHei"/>
              </a:defRPr>
            </a:pPr>
            <a:r>
              <a:t>研发攻坚落地承诺与推进准则</a:t>
            </a:r>
          </a:p>
          <a:p>
            <a:pPr algn="r">
              <a:defRPr sz="950" b="1">
                <a:solidFill>
                  <a:srgbClr val="BFDBFE"/>
                </a:solidFill>
                <a:latin typeface="Microsoft YaHei"/>
              </a:defRPr>
            </a:pPr>
            <a:r>
              <a:t>[专家担当与底线思维]</a:t>
            </a:r>
          </a:p>
        </p:txBody>
      </p:sp>
      <p:sp>
        <p:nvSpPr>
          <p:cNvPr id="27" name="TextBox 26"/>
          <p:cNvSpPr txBox="1"/>
          <p:nvPr/>
        </p:nvSpPr>
        <p:spPr>
          <a:xfrm>
            <a:off x="6199632" y="4398264"/>
            <a:ext cx="5532120" cy="1344168"/>
          </a:xfrm>
          <a:prstGeom prst="rect">
            <a:avLst/>
          </a:prstGeom>
          <a:noFill/>
        </p:spPr>
        <p:txBody>
          <a:bodyPr wrap="square" lIns="73152" tIns="73152" rIns="73152" bIns="73152">
            <a:spAutoFit/>
          </a:bodyPr>
          <a:lstStyle/>
          <a:p>
            <a:pPr>
              <a:lnSpc>
                <a:spcPct val="112000"/>
              </a:lnSpc>
              <a:spcAft>
                <a:spcPts val="250"/>
              </a:spcAft>
            </a:pPr>
            <a:r>
              <a:rPr sz="900" b="1">
                <a:solidFill>
                  <a:srgbClr val="1E3A8A"/>
                </a:solidFill>
                <a:latin typeface="Microsoft YaHei"/>
              </a:rPr>
              <a:t>▸ </a:t>
            </a:r>
            <a:r>
              <a:rPr sz="900" b="1">
                <a:solidFill>
                  <a:srgbClr val="1E3A8A"/>
                </a:solidFill>
                <a:latin typeface="Microsoft YaHei"/>
              </a:rPr>
              <a:t>直面物理瓶颈第一性：</a:t>
            </a:r>
            <a:r>
              <a:rPr sz="900">
                <a:solidFill>
                  <a:srgbClr val="1E293B"/>
                </a:solidFill>
                <a:latin typeface="Microsoft YaHei"/>
              </a:rPr>
              <a:t>从硬件拓扑与网络排队动力学出发，系统性优化多卡加载偏斜与 Incast 拥塞</a:t>
            </a:r>
          </a:p>
          <a:p>
            <a:pPr>
              <a:lnSpc>
                <a:spcPct val="112000"/>
              </a:lnSpc>
              <a:spcAft>
                <a:spcPts val="250"/>
              </a:spcAft>
            </a:pPr>
            <a:r>
              <a:rPr sz="900" b="1">
                <a:solidFill>
                  <a:srgbClr val="1E3A8A"/>
                </a:solidFill>
                <a:latin typeface="Microsoft YaHei"/>
              </a:rPr>
              <a:t>▸ </a:t>
            </a:r>
            <a:r>
              <a:rPr sz="900" b="1">
                <a:solidFill>
                  <a:srgbClr val="1E3A8A"/>
                </a:solidFill>
                <a:latin typeface="Microsoft YaHei"/>
              </a:rPr>
              <a:t>坚守学术与技术诚信：</a:t>
            </a:r>
            <a:r>
              <a:rPr sz="900">
                <a:solidFill>
                  <a:srgbClr val="1E293B"/>
                </a:solidFill>
                <a:latin typeface="Microsoft YaHei"/>
              </a:rPr>
              <a:t>不知为不知，绝不杜撰数据，严格区分已有需求、设计建议与推导算例</a:t>
            </a:r>
          </a:p>
          <a:p>
            <a:pPr>
              <a:lnSpc>
                <a:spcPct val="112000"/>
              </a:lnSpc>
              <a:spcAft>
                <a:spcPts val="250"/>
              </a:spcAft>
            </a:pPr>
            <a:r>
              <a:rPr sz="900" b="1">
                <a:solidFill>
                  <a:srgbClr val="1E3A8A"/>
                </a:solidFill>
                <a:latin typeface="Microsoft YaHei"/>
              </a:rPr>
              <a:t>▸ </a:t>
            </a:r>
            <a:r>
              <a:rPr sz="900" b="1">
                <a:solidFill>
                  <a:srgbClr val="1E3A8A"/>
                </a:solidFill>
                <a:latin typeface="Microsoft YaHei"/>
              </a:rPr>
              <a:t>以客观实测数据为依据：</a:t>
            </a:r>
            <a:r>
              <a:rPr sz="900">
                <a:solidFill>
                  <a:srgbClr val="1E293B"/>
                </a:solidFill>
                <a:latin typeface="Microsoft YaHei"/>
              </a:rPr>
              <a:t>所有指标以真实 2 节点 W2 集群混压测试数据为准，杜绝未经验证的纸面假设</a:t>
            </a:r>
          </a:p>
          <a:p>
            <a:pPr>
              <a:lnSpc>
                <a:spcPct val="112000"/>
              </a:lnSpc>
              <a:spcAft>
                <a:spcPts val="250"/>
              </a:spcAft>
            </a:pPr>
            <a:r>
              <a:rPr sz="900" b="1">
                <a:solidFill>
                  <a:srgbClr val="1E3A8A"/>
                </a:solidFill>
                <a:latin typeface="Microsoft YaHei"/>
              </a:rPr>
              <a:t>▸ </a:t>
            </a:r>
            <a:r>
              <a:rPr sz="900" b="1">
                <a:solidFill>
                  <a:srgbClr val="1E3A8A"/>
                </a:solidFill>
                <a:latin typeface="Microsoft YaHei"/>
              </a:rPr>
              <a:t>阶段门禁准入与风险应对：</a:t>
            </a:r>
            <a:r>
              <a:rPr sz="900">
                <a:solidFill>
                  <a:srgbClr val="1E293B"/>
                </a:solidFill>
                <a:latin typeface="Microsoft YaHei"/>
              </a:rPr>
              <a:t>严格执行 E0~E3 准入与证伪门限，主路径遇阻果断启动备选兜底方案</a:t>
            </a:r>
          </a:p>
        </p:txBody>
      </p:sp>
      <p:sp>
        <p:nvSpPr>
          <p:cNvPr id="28" name="Rectangle 2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基于第一性原理与软硬件协同设计，打造高可靠统一异构 KVCache 存储底座；严格按四个验证阶段推进，确保系统高质量交付。</a:t>
            </a:r>
            <a:r>
              <a:rPr sz="1150" b="1">
                <a:solidFill>
                  <a:srgbClr val="DC2626"/>
                </a:solidFill>
                <a:latin typeface="Microsoft YaHei"/>
              </a:rPr>
              <a:t>
为后续系统工程落地提供扎实技术依据，以客观实测数据为准。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