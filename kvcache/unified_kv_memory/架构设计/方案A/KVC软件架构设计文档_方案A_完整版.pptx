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各位架构专家与一线研发骨干，今天我们针对面向国产 AI 硬件的统一异构 KVCache 存储与调度底座展开软件架构设计方案 A 的技术串讲。本次串讲严格基于前期两份顶层架构设计与技术思考分析讨论稿，彻底摒弃空洞的功能清单罗列，重点向大家交代本软件的顶层设计设想、物理实体责任边界与八个专题的关键设计细节。我们先确立三大设计基石：第一，执行显存（Execution HBM）严格归推理框架管理，KVC 绝不越权接管算子运行时，我们统一的是不可变缓存对象的全局分布、生命周期与安全访问凭证；第二，系统坚决不搞盲目缓存命中，严格坚持前置微秒决策，仅在拉取加载总开销小于本地直接重算耗时且有净收益时才执行加载，数据面由底层硬件 DMA 直通显存，Host CPU 零数据拷贝；第三，在可靠性与数据安全方面，通过 6 维语义校验与 RCU 双层宽限期，避免非法与失效数据被消费。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在深入技术专题之前，我们先界定本设计的范围与材料口径。作为系统架构师，我们深知一线开发团队需要高度清晰、严谨的工程口径。因此在方案 A 中，我们严格区分三种口径：第一类是已有需求，来自受控的 SRS V2.3 与全量需求树，这是我们的输入与交付承诺；第二类是设计建议，包括今天汇报的五大进程实体、24 类元数据组织、9 步时序交互与 KPCL 接口契约，这些是在讨论稿中给出的最佳工程解，等待评审冻结；第三类是预算算例，比如后文出现的 120ms 端到端分解算例，纯粹用于展示如何从业务 SLO 倒推各子系统指标，绝不代表当前硬件已经实测达标。在设计原则上，我们重点关注四大维度：净加速收益驱动、TP=8 多卡协同、HBM-SSD 裸盘直达以及不可变对象的安全回收机制。</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请大家看 Slide 3 的四层软件架构原生矢量图。我们在逻辑上划分为四层契约，在运行物理上划分为三面隔离。L1 连接主流推理框架（vLLM/SGLang），通过虚拟挂载句柄捕获访问意图与剩余预算，此时执行显存依然完全受框架控制。L2 是极速控制面，依托 ART 基数树、QueryPlan 选路引擎与 6 维语义校验器，全部在 Host CPU 上微秒级完成，纯粹处理控制信令，不碰任何正文数据。L3 是分层存储与对象拓扑层，负责将离散物理 Block 贪心合并为 64B POD 描述符，并感知底层硬件拓扑。L4 则是原厂极速通信底座 KPCL，调用 UBMEM、URMA 或 io_uring 裸盘直达。左侧蓝色为微秒控制流，右侧绿色为零拷贝数据流，两者在物理硬件通道与调度优先级上彻底解耦，避免了数据面大块流量干扰控制面微秒决策。</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 Slide 4 中，我们给出了全集群进程物理拓扑图与右侧 5 大进程实体的部署职责定义。系统按照职责范围与高频交互特征划分为不同的进程实体：第一，libkvc_runtime 作为动态链接库直接嵌入 vLLM 或 SGLang 的工作进程中，它的前缀树遍历、哈希计算和 QueryPlan 选路都在本进程地址空间内完成，彻底消除了跨进程 IPC 损耗；第二，kvc-node 是每个计算与存储节点的常驻系统守护进程，独占绑定 2 个 CPU 物理核心，通过 POSIX 共享内存与工作进程交互，掌管本地 HBM、Host DDR 与 NVMe SSD 的扇区分配与租约代际，交互延迟 P99 &lt; 50µs；第三，kvc-directory 组成 3 节点 Raft 一致性集群，维护全局 1024 个哈希槽，但它只负责返回匹配的候选对象 ID 和节点提示，绝不触碰数据传输；第四，etcd 仅用于静态拓扑、心跳与元数据容灾，严禁进入在线单请求路径；第五，kvc-controller 负责异步后台均衡。这种五域分工彻底隔离了管理、控制与数据故障。</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是整个软件最核心的运行时动态流转时序。大家可以看到左侧时序图与右侧详细任务、输入输出卡片的精准映射。整个交互严格经历 9 步因果闭环：第一步，推理框架在 Prefill 阶段前下发访问意图与当前 SLO 剩余预算；第二步，优先查本地 ART 树，未命中则向 kvc-directory 发起批量前缀哈希查询；第三步，分片目录返回匹配的候选对象 ID 与持有节点提示；第四步与第五步至关重要，这是核心的访问控制机制——目录只负责发现候选，真正的消费授权必须向持有副本的节点代理申请租约凭证，通过 6 维语义比对后锁定回收屏障；第六步，运行库调用 QueryPlan，核算拉取加载总开销是否显著小于本地直接重算耗时，若有净收益则编译为 64B POD 描述符；第七步，下发给 KPCL 执行底座通过 DMA 直通目标显存；第八步，等待底层硬件完成队列条目 (CQE) 与 TP=8 多卡原子同步；第九步，安全挂载至 PagedAttention 块表启动推理。任何一步超时或失败，立即主动放弃并回退至本地计算。</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请看 Slide 6，这是解决多核高并发访问瓶颈的元数据四层组织架构。系统在多核高并发下面临元数据锁争用与伪共享挑战。方案 A 明确解耦四大权威源：第一层是进程内极速索引，完全保存在 libkvc_runtime 本地内存中，以不可变 ART 前缀树快照提供无锁读，前缀遍历 P99 &lt; 2µs，关键结构体全部强制 alignas(64) 缓存行对齐，彻底消除了多 CPU 核心并发读取时的 L3 总线锁争用；第二层是节点代理状态层，权威由 kvc-node 持有，以 POSIX 共享内存与只读位图暴露，管理不可变对象的租约代际 Epoch 与介质水位线，跨进程核验 P99 &lt; 50µs，并通过分段锁消除全局冲突；第三层是分布式分片目录层，由 kvc-directory 掌管 1024 个哈希槽，计算节点利用本地二级缓存过滤掉 80% 的重复热点查询，缓解网络 Incast 拥塞；第四层是 etcd 持久配置，仅在启动和节点上下线时低频写入。四层定位泾渭分明，绝不互相混淆。</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揭示了对象全生命周期状态机与显存安全回收的底层工程机制。这里重点包含两项核心设计机制：第一是两阶段安全发布。在 Prefill 阶段算子生成 KV 块时，状态为 PREPARING，此时正文处于私有写入状态；只有当物理数据完全写完、获得底座 DMA 完成证据 CQE 后，才置为 COMMITTED；随后核验 6 维语义合法，才原子翻转 Ready 就绪位并置为 PUBLISHED 允许全局挂载。这一机制避免了半写未完成数据被下游消费！第二是 RCU 双层宽限期安全回收。当对象因淘汰进入 TOMBSTONE 时，原子 CAS 阻断新请求持有；但物理释放扇区（FREE）必须跨越双层屏障：既要等待所有 Host CPU 读线程退出 RCU 临界区，更要等待 NPU Stream Event 与 SSD 在途硬件 I/O 彻底排空（EVACUATING）！这杜绝了底层 DMA 正在向已释放内存写入导致的 Use-After-Free 内存踩踏与异常。</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请看 Slide 8，我们拆解了管理面、控制面与数据面的三面物理隔离以及 Payload Bypass DDR 硬件直通路。在很多开源实现中，数据从 NVMe SSD 读出先经过内核读到 Host DDR，再从 DDR 拷贝到显存，不仅大幅消耗 CPU 内存带宽，还导致严重的跨 NUMA 争用。方案 A 确立了零数据拷贝底座：数据面完全绕过 Host DDR，网卡 RDMA 与 NVMe SSD 裸盘通过 PCIe 总线利用 P2P DMA 直接写入 NPU HBM 显存，Host CPU 零数据拷贝，CPU 仅负责组装并向硬件环形队列提交 Scatter-Gather 描述符！在资源调度上，我们通过 cgroups 与 isolcpus 将 kvc-node 独占绑定物理核；在网络上，利用 DSCP 映射将在线推理流量绑定至 RoCE 硬件最高优 TC0 队列，将换出流量限制在 TC1 队列并配合自适应退避，保障前台 TPOT 干扰率在 3% 以内。</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聚焦业务真实工作负载。我们在前期讨论中将大模型推理抽象归纳为 12 类典型业务场景（S01~S12）。对于 S01~S04 这类高度确定的场景（例如固定系统 Prompt、常驻 Agent 框架引导词），我们采用后台异步提前推送（Push 模式），在模型加载或会话建立时已将 KV 预置到位；而对于 S05~S12 等动态多轮对话、长文档问答等突发长尾场景，则采用实时按需拉取（Pull 模式）。无论哪种模式，都必须在前置核算中通过严格的净加速收益判定门限。同时，本页右侧详细剖析了‘取消请求物理排空屏障’：当客户端突发断开连接或超时取消请求时，若直接释放显存，底层异步传输可能覆盖新分配地址，造成内存踩踏。方案 A 明确要求逻辑取消与物理排空分离，必须下发硬件排空指令并等待完成通知后，才允许复用显存物理块，保障显存重用的物理安全。</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深入到我们与硬件通信团队的关键接口——底层通信库 (KPCL) 的责任边界与四大核心通信流。为避免上层调度与底层网络杂糅，方案 A 对两者进行了明确的职责解耦与接口契约划分：KVC 向上管理不可变对象生命周期、6 维语义一致性校验、目录路由与 QueryPlan 选路；KPCL 独立成库，由通信专家团队主导，向下直接封装 UBMEM 总线、URMA 协议、RoCE 网卡驱动与 io_uring 裸盘。KPCL 向 KVC 暴露统一的极速非阻塞 API，提交描述符耗时 P99 &lt; 1µs，传输完成完全基于 CQE 异步通知。同时，我们将通信流量划分为四大模式（跨卡直读、本地跨卡拷贝、跨节点 RDMA 零拷贝、SSD 裸盘直达）以及 F1~F8 八大流量画像，在网卡和交换机层面配置独立的队列与整形策略，防止后台大块换出流量冲垮前台微秒控制流。</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请大家看 Slide 11，这是系统架构在性能指标上的第一性原理推导：端到端首字生成延迟（TTFT）DAG 关键路径流水线与 120ms 预算拆解。我们首先再次重申诚信红线：这里的 120ms 是基于业务 SLO 目标倒推的‘预算算例’，用于指导一线开发对各模块设定硬性门限，绝不是现阶段已经达成的实测数据！在传统的朴素实现中，前台必须串行等待所有 Layer 的 KV 全部从网络或 SSD 加载到显存后才开始执行 Prefill 算子计算，导致首字延迟高达 200ms 以上。方案 A 采用 NPU Stream/Event 编排构建异步 DAG 流水线：模型 Layer 0 数据强制映射至硬件最高优先级队列提前点火，当 NPU 执行 Layer 0 计算时，KPCL 已经在后台异步加载 Layer 1~N 的数据！这种‘边算边传’流水消除了约 85% 的首字计算等待气泡，使得数据加载与算子执行重叠推进。</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 Slide 12 中，我们直面分布式大模型推理中最关键的物理瓶颈：张量并行 (TP=8) 的 Coflow 木桶偏斜与前后台混压干扰。在大模型 TP=8 场景下，KV 缓存被均匀切分在 8 张卡上，由于算子同步屏障的存在，整体完成时间取决于最慢的那张卡（CCT = max(T1..T8)），任何一张卡的网络排队或调度微小抖动，都会被极大值效应放大，导致偏斜系数显著上升，其余 7 张卡发生等待！方案 A 提出三大手段：第一，8 卡在 POSIX 共享内存中通过 8-bit 原子位图汇聚，协调者仅下发单次原子 Doorbell 触发同步，多卡状态同步耗时 P99 &lt; 100µs，从提交源头消除多卡时序偏差；第二，Layer 0 首层优先级提前下发；第三，前后台混压下，Worker.step() 动态探测排队时延，一旦排队主动将后台换出降速 50%~100%，控制 TPOT 干扰率在 3% 以内。</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交代了高可用可靠性体系与 ViewGuard 容错跳出机制。在分布式系统中，远端直读（Direct-View）虽然省去了本地拷贝开销，但存在远端节点失效引发缺页异常的风险：一旦提供数据的远端节点发生掉电或断网，本地 NPU 在尝试访问映射的远端虚拟地址时，操作系统会抛出 SIGBUS 总线错误，若不处理将导致本地推理进程异常。为此，方案 A 设计了 ViewGuard 视图租约安全守卫机制：我们在用户态注册了专门的 SIGBUS 信号处理句柄，一旦探测到底层总线异常，立即拦截该信号，阻断错误向下游算子扩散；随后在 500µs 内撤销异常内存映射，通知算子安全回退至本地直接重新计算！通过‘远端直读 -&gt; 本地显存拷贝 -&gt; DDR 缓冲 -&gt; 本地重算’四级优雅降级，将硬件与网络故障完全遏制在局部。</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请大家看 Slide 14，这是方案 A 的落地推进路线图与 38 条受控 SR 需求的分层落地矩阵。我们按研发工程演进清晰划分为四个核心验证阶段（E0~E3）：E0 验证 Saved-Prefill 净收益与 UBMEM 协议加速上限；E1 打通 Host CPU 零拷贝底座、64B POD 描述符编译与 TP=8 多卡状态同步；E2 验证 QueryPlan 微秒决策准确性（≥95%）与 ViewGuard 500µs 跳出；E3 在真实 2 节点 W2 集群开展全链路前后台极限混压总门禁（TTFT 降幅 ≥ 20%，QPS 提升 ≥ 10%，TPOT 干扰率 &lt; 3%）。在需求追溯上，受控 SRS V2.3 的全量 38 条 SR 需求全部精准映射到软件四层架构中，无一遗漏。同时我们通过科学证伪，确立了纯软主路径，将外部强依赖风险降至最低。</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最后，我们用 Slide 15 为方案 A 的架构设计串讲做收官总结。回顾整套方案，我们确立了四大立项核心共识：第一，原厂软硬件协同系统定位，执行显存归框架拥有，以 KPCL 屏蔽底层芯片异构；第二，前置微秒动态决策，坚决不盲目加载，确保净加速收益且 Host 零数据拷贝；第三，生产级安全高于一切，6 维语义强校验杜绝错误消费，ViewGuard 500µs 容错跳出，RCU 双层宽限期消除悬空内存；第四，按 E0~E3 严苛门禁分阶段交付。在交付成果上，我们承诺研产测一体化，交付生产级原生核心代码、白皮书级接口规范、12 份标准实测数据字典与核心发明专利。作为系统研发团队，我们将始终坚守第一性原理与技术诚信底线，直面物理瓶颈，杜绝未经实测的纸面假设推导，以扎实代码与实测数据向架构评审完成工程落地验证！感谢大家！</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515600" cy="320040"/>
          </a:xfrm>
          <a:prstGeom prst="rect">
            <a:avLst/>
          </a:prstGeom>
          <a:noFill/>
        </p:spPr>
        <p:txBody>
          <a:bodyPr wrap="none">
            <a:spAutoFit/>
          </a:bodyPr>
          <a:lstStyle/>
          <a:p>
            <a:pPr>
              <a:defRPr sz="1100" b="1">
                <a:solidFill>
                  <a:srgbClr val="2563EB"/>
                </a:solidFill>
                <a:latin typeface="Consolas"/>
              </a:defRPr>
            </a:pPr>
            <a:r>
              <a:t>UNIFIED HETEROGENEOUS KVCACHE MEMORY POOL · SOFTWARE ARCHITECTURE DESIGN (PLAN A)</a:t>
            </a:r>
          </a:p>
        </p:txBody>
      </p:sp>
      <p:sp>
        <p:nvSpPr>
          <p:cNvPr id="3" name="Rectangle 2"/>
          <p:cNvSpPr/>
          <p:nvPr/>
        </p:nvSpPr>
        <p:spPr>
          <a:xfrm>
            <a:off x="457200" y="548640"/>
            <a:ext cx="109728" cy="57607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60120"/>
            <a:ext cx="10789920" cy="1005840"/>
          </a:xfrm>
          <a:prstGeom prst="rect">
            <a:avLst/>
          </a:prstGeom>
          <a:noFill/>
        </p:spPr>
        <p:txBody>
          <a:bodyPr wrap="square">
            <a:spAutoFit/>
          </a:bodyPr>
          <a:lstStyle/>
          <a:p>
            <a:pPr>
              <a:defRPr sz="2800" b="1">
                <a:solidFill>
                  <a:srgbClr val="1E3A8A"/>
                </a:solidFill>
                <a:latin typeface="Microsoft YaHei"/>
              </a:defRPr>
            </a:pPr>
            <a:r>
              <a:t>KVC 软件架构设计文档 · 方案 A</a:t>
            </a:r>
          </a:p>
          <a:p>
            <a:pPr>
              <a:spcBef>
                <a:spcPts val="600"/>
              </a:spcBef>
              <a:defRPr sz="1400" b="1">
                <a:solidFill>
                  <a:srgbClr val="2563EB"/>
                </a:solidFill>
                <a:latin typeface="Microsoft YaHei"/>
              </a:defRPr>
            </a:pPr>
            <a:r>
              <a:t>面向国产 AI 硬件的统一异构 KVCache 存储与调度底座 · 顶层架构设计与八大专题设计设想</a:t>
            </a:r>
          </a:p>
        </p:txBody>
      </p:sp>
      <p:sp>
        <p:nvSpPr>
          <p:cNvPr id="5" name="TextBox 4"/>
          <p:cNvSpPr txBox="1"/>
          <p:nvPr/>
        </p:nvSpPr>
        <p:spPr>
          <a:xfrm>
            <a:off x="731520" y="2057400"/>
            <a:ext cx="10789920" cy="457200"/>
          </a:xfrm>
          <a:prstGeom prst="rect">
            <a:avLst/>
          </a:prstGeom>
          <a:noFill/>
        </p:spPr>
        <p:txBody>
          <a:bodyPr wrap="square">
            <a:spAutoFit/>
          </a:bodyPr>
          <a:lstStyle/>
          <a:p>
            <a:pPr>
              <a:defRPr sz="1100">
                <a:solidFill>
                  <a:srgbClr val="475569"/>
                </a:solidFill>
                <a:latin typeface="Microsoft YaHei"/>
              </a:defRPr>
            </a:pPr>
            <a:r>
              <a:t>KVCache（大模型注意力键值缓存，在自回归生成中保存历史 Key/Value 激活状态张量，用于避免后续 Token 重复计算）原厂软硬件协同软件架构设计与工程落地全景</a:t>
            </a:r>
          </a:p>
        </p:txBody>
      </p:sp>
      <p:sp>
        <p:nvSpPr>
          <p:cNvPr id="6" name="Rectangle 5"/>
          <p:cNvSpPr/>
          <p:nvPr/>
        </p:nvSpPr>
        <p:spPr>
          <a:xfrm>
            <a:off x="731520" y="2697480"/>
            <a:ext cx="3474720" cy="283464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697480"/>
            <a:ext cx="3474720" cy="3657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734056"/>
            <a:ext cx="3255264" cy="292608"/>
          </a:xfrm>
          <a:prstGeom prst="rect">
            <a:avLst/>
          </a:prstGeom>
          <a:noFill/>
        </p:spPr>
        <p:txBody>
          <a:bodyPr wrap="none" lIns="0" tIns="0" rIns="0" bIns="0">
            <a:spAutoFit/>
          </a:bodyPr>
          <a:lstStyle/>
          <a:p>
            <a:pPr>
              <a:defRPr sz="1150" b="1">
                <a:solidFill>
                  <a:srgbClr val="FFFFFF"/>
                </a:solidFill>
                <a:latin typeface="Microsoft YaHei"/>
              </a:defRPr>
            </a:pPr>
            <a:r>
              <a:t>架构定位与责任边界</a:t>
            </a:r>
          </a:p>
          <a:p>
            <a:pPr algn="r">
              <a:defRPr sz="950" b="1">
                <a:solidFill>
                  <a:srgbClr val="BFDBFE"/>
                </a:solidFill>
                <a:latin typeface="Microsoft YaHei"/>
              </a:defRPr>
            </a:pPr>
            <a:r>
              <a:t>执行显存严格归框架拥有</a:t>
            </a:r>
          </a:p>
        </p:txBody>
      </p:sp>
      <p:sp>
        <p:nvSpPr>
          <p:cNvPr id="9" name="TextBox 8"/>
          <p:cNvSpPr txBox="1"/>
          <p:nvPr/>
        </p:nvSpPr>
        <p:spPr>
          <a:xfrm>
            <a:off x="731520" y="3081528"/>
            <a:ext cx="3474720" cy="2423160"/>
          </a:xfrm>
          <a:prstGeom prst="rect">
            <a:avLst/>
          </a:prstGeom>
          <a:noFill/>
        </p:spPr>
        <p:txBody>
          <a:bodyPr wrap="square" lIns="73152" tIns="73152" rIns="73152" bIns="73152">
            <a:spAutoFit/>
          </a:bodyPr>
          <a:lstStyle/>
          <a:p>
            <a:pPr>
              <a:lnSpc>
                <a:spcPct val="116000"/>
              </a:lnSpc>
              <a:spcAft>
                <a:spcPts val="550"/>
              </a:spcAft>
            </a:pPr>
            <a:r>
              <a:rPr sz="1000" b="1">
                <a:solidFill>
                  <a:srgbClr val="1E3A8A"/>
                </a:solidFill>
                <a:latin typeface="Microsoft YaHei"/>
              </a:rPr>
              <a:t>▸ </a:t>
            </a:r>
            <a:r>
              <a:rPr sz="1000" b="1">
                <a:solidFill>
                  <a:srgbClr val="1E3A8A"/>
                </a:solidFill>
                <a:latin typeface="Microsoft YaHei"/>
              </a:rPr>
              <a:t>执行显存归属：</a:t>
            </a:r>
            <a:r>
              <a:rPr sz="1000">
                <a:solidFill>
                  <a:srgbClr val="1E293B"/>
                </a:solidFill>
                <a:latin typeface="Microsoft YaHei"/>
              </a:rPr>
              <a:t>推理框架直接管理执行 HBM 块表，KVC 绝不越权接管算子运行时内部显存分配</a:t>
            </a:r>
          </a:p>
          <a:p>
            <a:pPr>
              <a:lnSpc>
                <a:spcPct val="116000"/>
              </a:lnSpc>
              <a:spcAft>
                <a:spcPts val="550"/>
              </a:spcAft>
            </a:pPr>
            <a:r>
              <a:rPr sz="1000" b="1">
                <a:solidFill>
                  <a:srgbClr val="1E3A8A"/>
                </a:solidFill>
                <a:latin typeface="Microsoft YaHei"/>
              </a:rPr>
              <a:t>▸ </a:t>
            </a:r>
            <a:r>
              <a:rPr sz="1000" b="1">
                <a:solidFill>
                  <a:srgbClr val="1E3A8A"/>
                </a:solidFill>
                <a:latin typeface="Microsoft YaHei"/>
              </a:rPr>
              <a:t>存储池统一范式：</a:t>
            </a:r>
            <a:r>
              <a:rPr sz="1000">
                <a:solidFill>
                  <a:srgbClr val="1E293B"/>
                </a:solidFill>
                <a:latin typeface="Microsoft YaHei"/>
              </a:rPr>
              <a:t>逻辑统一对象身份、全局分布、版本与生命周期，支持跨节点微秒级加载调度</a:t>
            </a:r>
          </a:p>
          <a:p>
            <a:pPr>
              <a:lnSpc>
                <a:spcPct val="116000"/>
              </a:lnSpc>
              <a:spcAft>
                <a:spcPts val="550"/>
              </a:spcAft>
            </a:pPr>
            <a:r>
              <a:rPr sz="1000" b="1">
                <a:solidFill>
                  <a:srgbClr val="1E3A8A"/>
                </a:solidFill>
                <a:latin typeface="Microsoft YaHei"/>
              </a:rPr>
              <a:t>▸ </a:t>
            </a:r>
            <a:r>
              <a:rPr sz="1000" b="1">
                <a:solidFill>
                  <a:srgbClr val="1E3A8A"/>
                </a:solidFill>
                <a:latin typeface="Microsoft YaHei"/>
              </a:rPr>
              <a:t>硬件原厂协同：</a:t>
            </a:r>
            <a:r>
              <a:rPr sz="1000">
                <a:solidFill>
                  <a:srgbClr val="1E293B"/>
                </a:solidFill>
                <a:latin typeface="Microsoft YaHei"/>
              </a:rPr>
              <a:t>以底层通信库 (KPCL) 封装硬件通信能力，屏蔽国产芯片与物理总线异构细节</a:t>
            </a:r>
          </a:p>
        </p:txBody>
      </p:sp>
      <p:sp>
        <p:nvSpPr>
          <p:cNvPr id="10" name="Rectangle 9"/>
          <p:cNvSpPr/>
          <p:nvPr/>
        </p:nvSpPr>
        <p:spPr>
          <a:xfrm>
            <a:off x="4389120" y="2697480"/>
            <a:ext cx="3474720" cy="283464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2697480"/>
            <a:ext cx="3474720" cy="3657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8" y="2734056"/>
            <a:ext cx="3255264" cy="292608"/>
          </a:xfrm>
          <a:prstGeom prst="rect">
            <a:avLst/>
          </a:prstGeom>
          <a:noFill/>
        </p:spPr>
        <p:txBody>
          <a:bodyPr wrap="none" lIns="0" tIns="0" rIns="0" bIns="0">
            <a:spAutoFit/>
          </a:bodyPr>
          <a:lstStyle/>
          <a:p>
            <a:pPr>
              <a:defRPr sz="1150" b="1">
                <a:solidFill>
                  <a:srgbClr val="FFFFFF"/>
                </a:solidFill>
                <a:latin typeface="Microsoft YaHei"/>
              </a:defRPr>
            </a:pPr>
            <a:r>
              <a:t>微秒决策与零拷贝数据面</a:t>
            </a:r>
          </a:p>
          <a:p>
            <a:pPr algn="r">
              <a:defRPr sz="950" b="1">
                <a:solidFill>
                  <a:srgbClr val="BFDBFE"/>
                </a:solidFill>
                <a:latin typeface="Microsoft YaHei"/>
              </a:defRPr>
            </a:pPr>
            <a:r>
              <a:t>驱动确定性净加速收益</a:t>
            </a:r>
          </a:p>
        </p:txBody>
      </p:sp>
      <p:sp>
        <p:nvSpPr>
          <p:cNvPr id="13" name="TextBox 12"/>
          <p:cNvSpPr txBox="1"/>
          <p:nvPr/>
        </p:nvSpPr>
        <p:spPr>
          <a:xfrm>
            <a:off x="4389120" y="3081528"/>
            <a:ext cx="3474720" cy="2423160"/>
          </a:xfrm>
          <a:prstGeom prst="rect">
            <a:avLst/>
          </a:prstGeom>
          <a:noFill/>
        </p:spPr>
        <p:txBody>
          <a:bodyPr wrap="square" lIns="73152" tIns="73152" rIns="73152" bIns="73152">
            <a:spAutoFit/>
          </a:bodyPr>
          <a:lstStyle/>
          <a:p>
            <a:pPr>
              <a:lnSpc>
                <a:spcPct val="116000"/>
              </a:lnSpc>
              <a:spcAft>
                <a:spcPts val="550"/>
              </a:spcAft>
            </a:pPr>
            <a:r>
              <a:rPr sz="1000" b="1">
                <a:solidFill>
                  <a:srgbClr val="1E3A8A"/>
                </a:solidFill>
                <a:latin typeface="Microsoft YaHei"/>
              </a:rPr>
              <a:t>▸ </a:t>
            </a:r>
            <a:r>
              <a:rPr sz="1000" b="1">
                <a:solidFill>
                  <a:srgbClr val="1E3A8A"/>
                </a:solidFill>
                <a:latin typeface="Microsoft YaHei"/>
              </a:rPr>
              <a:t>净加速收益前置：</a:t>
            </a:r>
            <a:r>
              <a:rPr sz="1000">
                <a:solidFill>
                  <a:srgbClr val="1E293B"/>
                </a:solidFill>
                <a:latin typeface="Microsoft YaHei"/>
              </a:rPr>
              <a:t>严格确保拉取与加载总开销 &lt; 本地直接重算耗时，否则主动回退至本地重算</a:t>
            </a:r>
          </a:p>
          <a:p>
            <a:pPr>
              <a:lnSpc>
                <a:spcPct val="116000"/>
              </a:lnSpc>
              <a:spcAft>
                <a:spcPts val="550"/>
              </a:spcAft>
            </a:pPr>
            <a:r>
              <a:rPr sz="1000" b="1">
                <a:solidFill>
                  <a:srgbClr val="1E3A8A"/>
                </a:solidFill>
                <a:latin typeface="Microsoft YaHei"/>
              </a:rPr>
              <a:t>▸ </a:t>
            </a:r>
            <a:r>
              <a:rPr sz="1000" b="1">
                <a:solidFill>
                  <a:srgbClr val="1E3A8A"/>
                </a:solidFill>
                <a:latin typeface="Microsoft YaHei"/>
              </a:rPr>
              <a:t>微秒级选路决策：</a:t>
            </a:r>
            <a:r>
              <a:rPr sz="1000">
                <a:solidFill>
                  <a:srgbClr val="1E293B"/>
                </a:solidFill>
                <a:latin typeface="Microsoft YaHei"/>
              </a:rPr>
              <a:t>无锁 ART 树与成本模型协同，P99 &lt; 5µs 完成全局加载路径与分层介质决策</a:t>
            </a:r>
          </a:p>
          <a:p>
            <a:pPr>
              <a:lnSpc>
                <a:spcPct val="116000"/>
              </a:lnSpc>
              <a:spcAft>
                <a:spcPts val="550"/>
              </a:spcAft>
            </a:pPr>
            <a:r>
              <a:rPr sz="1000" b="1">
                <a:solidFill>
                  <a:srgbClr val="1E3A8A"/>
                </a:solidFill>
                <a:latin typeface="Microsoft YaHei"/>
              </a:rPr>
              <a:t>▸ </a:t>
            </a:r>
            <a:r>
              <a:rPr sz="1000" b="1">
                <a:solidFill>
                  <a:srgbClr val="1E3A8A"/>
                </a:solidFill>
                <a:latin typeface="Microsoft YaHei"/>
              </a:rPr>
              <a:t>Host 零数据拷贝：</a:t>
            </a:r>
            <a:r>
              <a:rPr sz="1000">
                <a:solidFill>
                  <a:srgbClr val="1E293B"/>
                </a:solidFill>
                <a:latin typeface="Microsoft YaHei"/>
              </a:rPr>
              <a:t>CPU 仅下发轻量描述符，数据经 DMA 直达 NPU HBM，消除 CPU 内存搬运</a:t>
            </a:r>
          </a:p>
        </p:txBody>
      </p:sp>
      <p:sp>
        <p:nvSpPr>
          <p:cNvPr id="14" name="Rectangle 13"/>
          <p:cNvSpPr/>
          <p:nvPr/>
        </p:nvSpPr>
        <p:spPr>
          <a:xfrm>
            <a:off x="8046720" y="2697480"/>
            <a:ext cx="3474720" cy="283464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2697480"/>
            <a:ext cx="3474720" cy="365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6448" y="2734056"/>
            <a:ext cx="3255264" cy="292608"/>
          </a:xfrm>
          <a:prstGeom prst="rect">
            <a:avLst/>
          </a:prstGeom>
          <a:noFill/>
        </p:spPr>
        <p:txBody>
          <a:bodyPr wrap="none" lIns="0" tIns="0" rIns="0" bIns="0">
            <a:spAutoFit/>
          </a:bodyPr>
          <a:lstStyle/>
          <a:p>
            <a:pPr>
              <a:defRPr sz="1150" b="1">
                <a:solidFill>
                  <a:srgbClr val="FFFFFF"/>
                </a:solidFill>
                <a:latin typeface="Microsoft YaHei"/>
              </a:defRPr>
            </a:pPr>
            <a:r>
              <a:t>生产级安全与三面可靠性</a:t>
            </a:r>
          </a:p>
          <a:p>
            <a:pPr algn="r">
              <a:defRPr sz="950" b="1">
                <a:solidFill>
                  <a:srgbClr val="BFDBFE"/>
                </a:solidFill>
                <a:latin typeface="Microsoft YaHei"/>
              </a:defRPr>
            </a:pPr>
            <a:r>
              <a:t>保障数据消费语义一致</a:t>
            </a:r>
          </a:p>
        </p:txBody>
      </p:sp>
      <p:sp>
        <p:nvSpPr>
          <p:cNvPr id="17" name="TextBox 16"/>
          <p:cNvSpPr txBox="1"/>
          <p:nvPr/>
        </p:nvSpPr>
        <p:spPr>
          <a:xfrm>
            <a:off x="8046720" y="3081528"/>
            <a:ext cx="3474720" cy="2423160"/>
          </a:xfrm>
          <a:prstGeom prst="rect">
            <a:avLst/>
          </a:prstGeom>
          <a:noFill/>
        </p:spPr>
        <p:txBody>
          <a:bodyPr wrap="square" lIns="73152" tIns="73152" rIns="73152" bIns="73152">
            <a:spAutoFit/>
          </a:bodyPr>
          <a:lstStyle/>
          <a:p>
            <a:pPr>
              <a:lnSpc>
                <a:spcPct val="116000"/>
              </a:lnSpc>
              <a:spcAft>
                <a:spcPts val="550"/>
              </a:spcAft>
            </a:pPr>
            <a:r>
              <a:rPr sz="1000" b="1">
                <a:solidFill>
                  <a:srgbClr val="1E3A8A"/>
                </a:solidFill>
                <a:latin typeface="Microsoft YaHei"/>
              </a:rPr>
              <a:t>▸ </a:t>
            </a:r>
            <a:r>
              <a:rPr sz="1000" b="1">
                <a:solidFill>
                  <a:srgbClr val="1E3A8A"/>
                </a:solidFill>
                <a:latin typeface="Microsoft YaHei"/>
              </a:rPr>
              <a:t>6 维语义强校验：</a:t>
            </a:r>
            <a:r>
              <a:rPr sz="1000">
                <a:solidFill>
                  <a:srgbClr val="1E293B"/>
                </a:solidFill>
                <a:latin typeface="Microsoft YaHei"/>
              </a:rPr>
              <a:t>比对模型/词表/模板/LoRA/Ready位/租约，杜绝陈旧半写失效数据被消费</a:t>
            </a:r>
          </a:p>
          <a:p>
            <a:pPr>
              <a:lnSpc>
                <a:spcPct val="116000"/>
              </a:lnSpc>
              <a:spcAft>
                <a:spcPts val="550"/>
              </a:spcAft>
            </a:pPr>
            <a:r>
              <a:rPr sz="1000" b="1">
                <a:solidFill>
                  <a:srgbClr val="1E3A8A"/>
                </a:solidFill>
                <a:latin typeface="Microsoft YaHei"/>
              </a:rPr>
              <a:t>▸ </a:t>
            </a:r>
            <a:r>
              <a:rPr sz="1000" b="1">
                <a:solidFill>
                  <a:srgbClr val="1E3A8A"/>
                </a:solidFill>
                <a:latin typeface="Microsoft YaHei"/>
              </a:rPr>
              <a:t>ViewGuard 视图守卫：</a:t>
            </a:r>
            <a:r>
              <a:rPr sz="1000">
                <a:solidFill>
                  <a:srgbClr val="1E293B"/>
                </a:solidFill>
                <a:latin typeface="Microsoft YaHei"/>
              </a:rPr>
              <a:t>跨节点直读捕获 SIGBUS 异常并在 500µs 内回退重算，消除节点雪崩</a:t>
            </a:r>
          </a:p>
          <a:p>
            <a:pPr>
              <a:lnSpc>
                <a:spcPct val="116000"/>
              </a:lnSpc>
              <a:spcAft>
                <a:spcPts val="550"/>
              </a:spcAft>
            </a:pPr>
            <a:r>
              <a:rPr sz="1000" b="1">
                <a:solidFill>
                  <a:srgbClr val="1E3A8A"/>
                </a:solidFill>
                <a:latin typeface="Microsoft YaHei"/>
              </a:rPr>
              <a:t>▸ </a:t>
            </a:r>
            <a:r>
              <a:rPr sz="1000" b="1">
                <a:solidFill>
                  <a:srgbClr val="1E3A8A"/>
                </a:solidFill>
                <a:latin typeface="Microsoft YaHei"/>
              </a:rPr>
              <a:t>RCU 双层宽限期：</a:t>
            </a:r>
            <a:r>
              <a:rPr sz="1000">
                <a:solidFill>
                  <a:srgbClr val="1E293B"/>
                </a:solidFill>
                <a:latin typeface="Microsoft YaHei"/>
              </a:rPr>
              <a:t>结合 CPU 读者退出与 NPU Stream Event，实现显存页零停顿安全物理回收</a:t>
            </a:r>
          </a:p>
        </p:txBody>
      </p:sp>
      <p:sp>
        <p:nvSpPr>
          <p:cNvPr id="18" name="TextBox 17"/>
          <p:cNvSpPr txBox="1"/>
          <p:nvPr/>
        </p:nvSpPr>
        <p:spPr>
          <a:xfrm>
            <a:off x="731520" y="5760720"/>
            <a:ext cx="10789920" cy="365760"/>
          </a:xfrm>
          <a:prstGeom prst="rect">
            <a:avLst/>
          </a:prstGeom>
          <a:noFill/>
        </p:spPr>
        <p:txBody>
          <a:bodyPr wrap="none">
            <a:spAutoFit/>
          </a:bodyPr>
          <a:lstStyle/>
          <a:p>
            <a:pPr>
              <a:defRPr sz="1100" b="1">
                <a:solidFill>
                  <a:srgbClr val="1E3A8A"/>
                </a:solidFill>
                <a:latin typeface="Microsoft YaHei"/>
              </a:defRPr>
            </a:pPr>
            <a:r>
              <a:t>面向一线开发团队与架构评审专家 · 方案 A 架构设计串讲 · 讨论稿 · 2026-09-06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设计范围、材料口径与架构设计设想原则</a:t>
            </a:r>
          </a:p>
          <a:p>
            <a:pPr>
              <a:spcBef>
                <a:spcPts val="300"/>
              </a:spcBef>
              <a:defRPr sz="1100">
                <a:solidFill>
                  <a:srgbClr val="475569"/>
                </a:solidFill>
                <a:latin typeface="Microsoft YaHei"/>
              </a:defRPr>
            </a:pPr>
            <a:r>
              <a:t>先界定工程责任边界与安全不变量，严格区分已有需求、设计建议与推导算例</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02 / 15 页</a:t>
            </a:r>
          </a:p>
        </p:txBody>
      </p:sp>
      <p:sp>
        <p:nvSpPr>
          <p:cNvPr id="4" name="Rectangle 3"/>
          <p:cNvSpPr/>
          <p:nvPr/>
        </p:nvSpPr>
        <p:spPr>
          <a:xfrm>
            <a:off x="457200" y="1078992"/>
            <a:ext cx="5532120" cy="228600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78992"/>
            <a:ext cx="5532120" cy="34747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115568"/>
            <a:ext cx="5312664" cy="274320"/>
          </a:xfrm>
          <a:prstGeom prst="rect">
            <a:avLst/>
          </a:prstGeom>
          <a:noFill/>
        </p:spPr>
        <p:txBody>
          <a:bodyPr wrap="none" lIns="0" tIns="0" rIns="0" bIns="0">
            <a:spAutoFit/>
          </a:bodyPr>
          <a:lstStyle/>
          <a:p>
            <a:pPr>
              <a:defRPr sz="1120" b="1">
                <a:solidFill>
                  <a:srgbClr val="FFFFFF"/>
                </a:solidFill>
                <a:latin typeface="Microsoft YaHei"/>
              </a:defRPr>
            </a:pPr>
            <a:r>
              <a:t>1. 本设计文档聚焦解决的架构命题</a:t>
            </a:r>
          </a:p>
          <a:p>
            <a:pPr algn="r">
              <a:defRPr sz="950" b="1">
                <a:solidFill>
                  <a:srgbClr val="BFDBFE"/>
                </a:solidFill>
                <a:latin typeface="Microsoft YaHei"/>
              </a:defRPr>
            </a:pPr>
            <a:r>
              <a:t>[工程责任边界]</a:t>
            </a:r>
          </a:p>
        </p:txBody>
      </p:sp>
      <p:sp>
        <p:nvSpPr>
          <p:cNvPr id="7" name="TextBox 6"/>
          <p:cNvSpPr txBox="1"/>
          <p:nvPr/>
        </p:nvSpPr>
        <p:spPr>
          <a:xfrm>
            <a:off x="457200" y="1444752"/>
            <a:ext cx="5532120" cy="1901952"/>
          </a:xfrm>
          <a:prstGeom prst="rect">
            <a:avLst/>
          </a:prstGeom>
          <a:noFill/>
        </p:spPr>
        <p:txBody>
          <a:bodyPr wrap="square" lIns="73152" tIns="73152" rIns="73152" bIns="73152">
            <a:spAutoFit/>
          </a:bodyPr>
          <a:lstStyle/>
          <a:p>
            <a:pPr>
              <a:lnSpc>
                <a:spcPct val="115000"/>
              </a:lnSpc>
              <a:spcAft>
                <a:spcPts val="420"/>
              </a:spcAft>
            </a:pPr>
            <a:r>
              <a:rPr sz="950" b="1">
                <a:solidFill>
                  <a:srgbClr val="1E3A8A"/>
                </a:solidFill>
                <a:latin typeface="Microsoft YaHei"/>
              </a:rPr>
              <a:t>▸ </a:t>
            </a:r>
            <a:r>
              <a:rPr sz="950" b="1">
                <a:solidFill>
                  <a:srgbClr val="1E3A8A"/>
                </a:solidFill>
                <a:latin typeface="Microsoft YaHei"/>
              </a:rPr>
              <a:t>统一对象抽象：</a:t>
            </a:r>
            <a:r>
              <a:rPr sz="950">
                <a:solidFill>
                  <a:srgbClr val="1E293B"/>
                </a:solidFill>
                <a:latin typeface="Microsoft YaHei"/>
              </a:rPr>
              <a:t>统一跨节点、多介质不可变缓存对象的身份、版本、分布与访问方法</a:t>
            </a:r>
          </a:p>
          <a:p>
            <a:pPr>
              <a:lnSpc>
                <a:spcPct val="115000"/>
              </a:lnSpc>
              <a:spcAft>
                <a:spcPts val="420"/>
              </a:spcAft>
            </a:pPr>
            <a:r>
              <a:rPr sz="950" b="1">
                <a:solidFill>
                  <a:srgbClr val="1E3A8A"/>
                </a:solidFill>
                <a:latin typeface="Microsoft YaHei"/>
              </a:rPr>
              <a:t>▸ </a:t>
            </a:r>
            <a:r>
              <a:rPr sz="950" b="1">
                <a:solidFill>
                  <a:srgbClr val="1E3A8A"/>
                </a:solidFill>
                <a:latin typeface="Microsoft YaHei"/>
              </a:rPr>
              <a:t>进程与部署拓扑：</a:t>
            </a:r>
            <a:r>
              <a:rPr sz="950">
                <a:solidFill>
                  <a:srgbClr val="1E293B"/>
                </a:solidFill>
                <a:latin typeface="Microsoft YaHei"/>
              </a:rPr>
              <a:t>高频控制留在推理进程运行库，资源分配与分片下沉至节点代理和目录服务</a:t>
            </a:r>
          </a:p>
          <a:p>
            <a:pPr>
              <a:lnSpc>
                <a:spcPct val="115000"/>
              </a:lnSpc>
              <a:spcAft>
                <a:spcPts val="420"/>
              </a:spcAft>
            </a:pPr>
            <a:r>
              <a:rPr sz="950" b="1">
                <a:solidFill>
                  <a:srgbClr val="1E3A8A"/>
                </a:solidFill>
                <a:latin typeface="Microsoft YaHei"/>
              </a:rPr>
              <a:t>▸ </a:t>
            </a:r>
            <a:r>
              <a:rPr sz="950" b="1">
                <a:solidFill>
                  <a:srgbClr val="1E3A8A"/>
                </a:solidFill>
                <a:latin typeface="Microsoft YaHei"/>
              </a:rPr>
              <a:t>请求闭环因果链：</a:t>
            </a:r>
            <a:r>
              <a:rPr sz="950">
                <a:solidFill>
                  <a:srgbClr val="1E293B"/>
                </a:solidFill>
                <a:latin typeface="Microsoft YaHei"/>
              </a:rPr>
              <a:t>严格经历意图下发、候选发现、语义校验、收益确认、硬件直达与安全接入</a:t>
            </a:r>
          </a:p>
          <a:p>
            <a:pPr>
              <a:lnSpc>
                <a:spcPct val="115000"/>
              </a:lnSpc>
              <a:spcAft>
                <a:spcPts val="420"/>
              </a:spcAft>
            </a:pPr>
            <a:r>
              <a:rPr sz="950" b="1">
                <a:solidFill>
                  <a:srgbClr val="1E3A8A"/>
                </a:solidFill>
                <a:latin typeface="Microsoft YaHei"/>
              </a:rPr>
              <a:t>▸ </a:t>
            </a:r>
            <a:r>
              <a:rPr sz="950" b="1">
                <a:solidFill>
                  <a:srgbClr val="1E3A8A"/>
                </a:solidFill>
                <a:latin typeface="Microsoft YaHei"/>
              </a:rPr>
              <a:t>物理安全排空：</a:t>
            </a:r>
            <a:r>
              <a:rPr sz="950">
                <a:solidFill>
                  <a:srgbClr val="1E293B"/>
                </a:solidFill>
                <a:latin typeface="Microsoft YaHei"/>
              </a:rPr>
              <a:t>逻辑取消与底层设备排空彻底分离，设备在途 I/O 未完成前禁止复用缓冲区</a:t>
            </a:r>
          </a:p>
        </p:txBody>
      </p:sp>
      <p:sp>
        <p:nvSpPr>
          <p:cNvPr id="8" name="Rectangle 7"/>
          <p:cNvSpPr/>
          <p:nvPr/>
        </p:nvSpPr>
        <p:spPr>
          <a:xfrm>
            <a:off x="6199632" y="1078992"/>
            <a:ext cx="5532120" cy="228600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1078992"/>
            <a:ext cx="5532120" cy="34747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115568"/>
            <a:ext cx="5312664" cy="274320"/>
          </a:xfrm>
          <a:prstGeom prst="rect">
            <a:avLst/>
          </a:prstGeom>
          <a:noFill/>
        </p:spPr>
        <p:txBody>
          <a:bodyPr wrap="none" lIns="0" tIns="0" rIns="0" bIns="0">
            <a:spAutoFit/>
          </a:bodyPr>
          <a:lstStyle/>
          <a:p>
            <a:pPr>
              <a:defRPr sz="1120" b="1">
                <a:solidFill>
                  <a:srgbClr val="FFFFFF"/>
                </a:solidFill>
                <a:latin typeface="Microsoft YaHei"/>
              </a:defRPr>
            </a:pPr>
            <a:r>
              <a:t>2. 三种材料口径严格界定 (诚信红线)</a:t>
            </a:r>
          </a:p>
          <a:p>
            <a:pPr algn="r">
              <a:defRPr sz="950" b="1">
                <a:solidFill>
                  <a:srgbClr val="BFDBFE"/>
                </a:solidFill>
                <a:latin typeface="Microsoft YaHei"/>
              </a:defRPr>
            </a:pPr>
            <a:r>
              <a:t>[拒绝未经实测假设]</a:t>
            </a:r>
          </a:p>
        </p:txBody>
      </p:sp>
      <p:sp>
        <p:nvSpPr>
          <p:cNvPr id="11" name="TextBox 10"/>
          <p:cNvSpPr txBox="1"/>
          <p:nvPr/>
        </p:nvSpPr>
        <p:spPr>
          <a:xfrm>
            <a:off x="6199632" y="1444752"/>
            <a:ext cx="5532120" cy="1901952"/>
          </a:xfrm>
          <a:prstGeom prst="rect">
            <a:avLst/>
          </a:prstGeom>
          <a:noFill/>
        </p:spPr>
        <p:txBody>
          <a:bodyPr wrap="square" lIns="73152" tIns="73152" rIns="73152" bIns="73152">
            <a:spAutoFit/>
          </a:bodyPr>
          <a:lstStyle/>
          <a:p>
            <a:pPr>
              <a:lnSpc>
                <a:spcPct val="115000"/>
              </a:lnSpc>
              <a:spcAft>
                <a:spcPts val="420"/>
              </a:spcAft>
            </a:pPr>
            <a:r>
              <a:rPr sz="950" b="1">
                <a:solidFill>
                  <a:srgbClr val="1E3A8A"/>
                </a:solidFill>
                <a:latin typeface="Microsoft YaHei"/>
              </a:rPr>
              <a:t>▸ </a:t>
            </a:r>
            <a:r>
              <a:rPr sz="950" b="1">
                <a:solidFill>
                  <a:srgbClr val="1E3A8A"/>
                </a:solidFill>
                <a:latin typeface="Microsoft YaHei"/>
              </a:rPr>
              <a:t>已有需求：</a:t>
            </a:r>
            <a:r>
              <a:rPr sz="950">
                <a:solidFill>
                  <a:srgbClr val="1E293B"/>
                </a:solidFill>
                <a:latin typeface="Microsoft YaHei"/>
              </a:rPr>
              <a:t>受控 SRS V2.3、需求树 V2.3.1 明确提出的指标与功能要求（如 144 条正式需求）</a:t>
            </a:r>
          </a:p>
          <a:p>
            <a:pPr>
              <a:lnSpc>
                <a:spcPct val="115000"/>
              </a:lnSpc>
              <a:spcAft>
                <a:spcPts val="420"/>
              </a:spcAft>
            </a:pPr>
            <a:r>
              <a:rPr sz="950" b="1">
                <a:solidFill>
                  <a:srgbClr val="1E3A8A"/>
                </a:solidFill>
                <a:latin typeface="Microsoft YaHei"/>
              </a:rPr>
              <a:t>▸ </a:t>
            </a:r>
            <a:r>
              <a:rPr sz="950" b="1">
                <a:solidFill>
                  <a:srgbClr val="1E3A8A"/>
                </a:solidFill>
                <a:latin typeface="Microsoft YaHei"/>
              </a:rPr>
              <a:t>设计建议：</a:t>
            </a:r>
            <a:r>
              <a:rPr sz="950">
                <a:solidFill>
                  <a:srgbClr val="1E293B"/>
                </a:solidFill>
                <a:latin typeface="Microsoft YaHei"/>
              </a:rPr>
              <a:t>本稿提出的五大进程划分、接口草图、24类数据结构与部署算法，待技术评审冻结</a:t>
            </a:r>
          </a:p>
          <a:p>
            <a:pPr>
              <a:lnSpc>
                <a:spcPct val="115000"/>
              </a:lnSpc>
              <a:spcAft>
                <a:spcPts val="420"/>
              </a:spcAft>
            </a:pPr>
            <a:r>
              <a:rPr sz="950" b="1">
                <a:solidFill>
                  <a:srgbClr val="1E3A8A"/>
                </a:solidFill>
                <a:latin typeface="Microsoft YaHei"/>
              </a:rPr>
              <a:t>▸ </a:t>
            </a:r>
            <a:r>
              <a:rPr sz="950" b="1">
                <a:solidFill>
                  <a:srgbClr val="1E3A8A"/>
                </a:solidFill>
                <a:latin typeface="Microsoft YaHei"/>
              </a:rPr>
              <a:t>预算算例：</a:t>
            </a:r>
            <a:r>
              <a:rPr sz="950">
                <a:solidFill>
                  <a:srgbClr val="1E293B"/>
                </a:solidFill>
                <a:latin typeface="Microsoft YaHei"/>
              </a:rPr>
              <a:t>仅用于演示自上而下的数学推导方法（如 120ms 预算），绝非已实现的硬件实测结论</a:t>
            </a:r>
          </a:p>
          <a:p>
            <a:pPr>
              <a:lnSpc>
                <a:spcPct val="115000"/>
              </a:lnSpc>
              <a:spcAft>
                <a:spcPts val="420"/>
              </a:spcAft>
            </a:pPr>
            <a:r>
              <a:rPr sz="950" b="1">
                <a:solidFill>
                  <a:srgbClr val="1E3A8A"/>
                </a:solidFill>
                <a:latin typeface="Microsoft YaHei"/>
              </a:rPr>
              <a:t>▸ </a:t>
            </a:r>
            <a:r>
              <a:rPr sz="950" b="1">
                <a:solidFill>
                  <a:srgbClr val="1E3A8A"/>
                </a:solidFill>
                <a:latin typeface="Microsoft YaHei"/>
              </a:rPr>
              <a:t>证据分级边界：</a:t>
            </a:r>
            <a:r>
              <a:rPr sz="950">
                <a:solidFill>
                  <a:srgbClr val="1E293B"/>
                </a:solidFill>
                <a:latin typeface="Microsoft YaHei"/>
              </a:rPr>
              <a:t>功能模拟 (W0)、局部设备实测 (W1) 与系统端到端实测 (W2) 严格区分，杜绝混用</a:t>
            </a:r>
          </a:p>
        </p:txBody>
      </p:sp>
      <p:sp>
        <p:nvSpPr>
          <p:cNvPr id="12" name="Rectangle 11"/>
          <p:cNvSpPr/>
          <p:nvPr/>
        </p:nvSpPr>
        <p:spPr>
          <a:xfrm>
            <a:off x="457200" y="3474720"/>
            <a:ext cx="5532120" cy="230428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474720"/>
            <a:ext cx="5532120" cy="34747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511296"/>
            <a:ext cx="5312664" cy="274320"/>
          </a:xfrm>
          <a:prstGeom prst="rect">
            <a:avLst/>
          </a:prstGeom>
          <a:noFill/>
        </p:spPr>
        <p:txBody>
          <a:bodyPr wrap="none" lIns="0" tIns="0" rIns="0" bIns="0">
            <a:spAutoFit/>
          </a:bodyPr>
          <a:lstStyle/>
          <a:p>
            <a:pPr>
              <a:defRPr sz="1120" b="1">
                <a:solidFill>
                  <a:srgbClr val="FFFFFF"/>
                </a:solidFill>
                <a:latin typeface="Microsoft YaHei"/>
              </a:defRPr>
            </a:pPr>
            <a:r>
              <a:t>3. 支撑后续落地的四大核心架构原则</a:t>
            </a:r>
          </a:p>
          <a:p>
            <a:pPr algn="r">
              <a:defRPr sz="950" b="1">
                <a:solidFill>
                  <a:srgbClr val="BFDBFE"/>
                </a:solidFill>
                <a:latin typeface="Microsoft YaHei"/>
              </a:defRPr>
            </a:pPr>
            <a:r>
              <a:t>[设计设想核心]</a:t>
            </a:r>
          </a:p>
        </p:txBody>
      </p:sp>
      <p:sp>
        <p:nvSpPr>
          <p:cNvPr id="15" name="TextBox 14"/>
          <p:cNvSpPr txBox="1"/>
          <p:nvPr/>
        </p:nvSpPr>
        <p:spPr>
          <a:xfrm>
            <a:off x="457200" y="3840480"/>
            <a:ext cx="5532120" cy="1920240"/>
          </a:xfrm>
          <a:prstGeom prst="rect">
            <a:avLst/>
          </a:prstGeom>
          <a:noFill/>
        </p:spPr>
        <p:txBody>
          <a:bodyPr wrap="square" lIns="73152" tIns="73152" rIns="73152" bIns="73152">
            <a:spAutoFit/>
          </a:bodyPr>
          <a:lstStyle/>
          <a:p>
            <a:pPr>
              <a:lnSpc>
                <a:spcPct val="115000"/>
              </a:lnSpc>
              <a:spcAft>
                <a:spcPts val="420"/>
              </a:spcAft>
            </a:pPr>
            <a:r>
              <a:rPr sz="950" b="1">
                <a:solidFill>
                  <a:srgbClr val="1E3A8A"/>
                </a:solidFill>
                <a:latin typeface="Microsoft YaHei"/>
              </a:rPr>
              <a:t>▸ </a:t>
            </a:r>
            <a:r>
              <a:rPr sz="950" b="1">
                <a:solidFill>
                  <a:srgbClr val="1E3A8A"/>
                </a:solidFill>
                <a:latin typeface="Microsoft YaHei"/>
              </a:rPr>
              <a:t>净加速收益驱动：</a:t>
            </a:r>
            <a:r>
              <a:rPr sz="950">
                <a:solidFill>
                  <a:srgbClr val="1E293B"/>
                </a:solidFill>
                <a:latin typeface="Microsoft YaHei"/>
              </a:rPr>
              <a:t>拉取加载开销 &lt; 本地直接重算，且剩余时限满足业务预算，否则主动回退</a:t>
            </a:r>
          </a:p>
          <a:p>
            <a:pPr>
              <a:lnSpc>
                <a:spcPct val="115000"/>
              </a:lnSpc>
              <a:spcAft>
                <a:spcPts val="420"/>
              </a:spcAft>
            </a:pPr>
            <a:r>
              <a:rPr sz="950" b="1">
                <a:solidFill>
                  <a:srgbClr val="1E3A8A"/>
                </a:solidFill>
                <a:latin typeface="Microsoft YaHei"/>
              </a:rPr>
              <a:t>▸ </a:t>
            </a:r>
            <a:r>
              <a:rPr sz="950" b="1">
                <a:solidFill>
                  <a:srgbClr val="1E3A8A"/>
                </a:solidFill>
                <a:latin typeface="Microsoft YaHei"/>
              </a:rPr>
              <a:t>多卡原子协同：</a:t>
            </a:r>
            <a:r>
              <a:rPr sz="950">
                <a:solidFill>
                  <a:srgbClr val="1E293B"/>
                </a:solidFill>
                <a:latin typeface="Microsoft YaHei"/>
              </a:rPr>
              <a:t>张量并行 (TP=8) 引入原子 Doorbell 与共享内存状态同步，消除时序偏斜与死锁</a:t>
            </a:r>
          </a:p>
          <a:p>
            <a:pPr>
              <a:lnSpc>
                <a:spcPct val="115000"/>
              </a:lnSpc>
              <a:spcAft>
                <a:spcPts val="420"/>
              </a:spcAft>
            </a:pPr>
            <a:r>
              <a:rPr sz="950" b="1">
                <a:solidFill>
                  <a:srgbClr val="1E3A8A"/>
                </a:solidFill>
                <a:latin typeface="Microsoft YaHei"/>
              </a:rPr>
              <a:t>▸ </a:t>
            </a:r>
            <a:r>
              <a:rPr sz="950" b="1">
                <a:solidFill>
                  <a:srgbClr val="1E3A8A"/>
                </a:solidFill>
                <a:latin typeface="Microsoft YaHei"/>
              </a:rPr>
              <a:t>拓扑感知非对称分层：</a:t>
            </a:r>
            <a:r>
              <a:rPr sz="950">
                <a:solidFill>
                  <a:srgbClr val="1E293B"/>
                </a:solidFill>
                <a:latin typeface="Microsoft YaHei"/>
              </a:rPr>
              <a:t>以 NPU 显存与 NVMe 裸盘直通为主路径，Host DDR 仅作为条件兜底</a:t>
            </a:r>
          </a:p>
          <a:p>
            <a:pPr>
              <a:lnSpc>
                <a:spcPct val="115000"/>
              </a:lnSpc>
              <a:spcAft>
                <a:spcPts val="420"/>
              </a:spcAft>
            </a:pPr>
            <a:r>
              <a:rPr sz="950" b="1">
                <a:solidFill>
                  <a:srgbClr val="1E3A8A"/>
                </a:solidFill>
                <a:latin typeface="Microsoft YaHei"/>
              </a:rPr>
              <a:t>▸ </a:t>
            </a:r>
            <a:r>
              <a:rPr sz="950" b="1">
                <a:solidFill>
                  <a:srgbClr val="1E3A8A"/>
                </a:solidFill>
                <a:latin typeface="Microsoft YaHei"/>
              </a:rPr>
              <a:t>安全先于性能：</a:t>
            </a:r>
            <a:r>
              <a:rPr sz="950">
                <a:solidFill>
                  <a:srgbClr val="1E293B"/>
                </a:solidFill>
                <a:latin typeface="Microsoft YaHei"/>
              </a:rPr>
              <a:t>对象发布后正文严格不可变，持有权绑定租约与代际，数据先就绪后发布目录</a:t>
            </a:r>
          </a:p>
        </p:txBody>
      </p:sp>
      <p:sp>
        <p:nvSpPr>
          <p:cNvPr id="16" name="Rectangle 15"/>
          <p:cNvSpPr/>
          <p:nvPr/>
        </p:nvSpPr>
        <p:spPr>
          <a:xfrm>
            <a:off x="6199632" y="3474720"/>
            <a:ext cx="5532120" cy="230428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3474720"/>
            <a:ext cx="5532120" cy="3474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3511296"/>
            <a:ext cx="5312664" cy="274320"/>
          </a:xfrm>
          <a:prstGeom prst="rect">
            <a:avLst/>
          </a:prstGeom>
          <a:noFill/>
        </p:spPr>
        <p:txBody>
          <a:bodyPr wrap="none" lIns="0" tIns="0" rIns="0" bIns="0">
            <a:spAutoFit/>
          </a:bodyPr>
          <a:lstStyle/>
          <a:p>
            <a:pPr>
              <a:defRPr sz="1120" b="1">
                <a:solidFill>
                  <a:srgbClr val="FFFFFF"/>
                </a:solidFill>
                <a:latin typeface="Microsoft YaHei"/>
              </a:defRPr>
            </a:pPr>
            <a:r>
              <a:t>4. 系统实现必须遵守的四大工程约束</a:t>
            </a:r>
          </a:p>
          <a:p>
            <a:pPr algn="r">
              <a:defRPr sz="950" b="1">
                <a:solidFill>
                  <a:srgbClr val="BFDBFE"/>
                </a:solidFill>
                <a:latin typeface="Microsoft YaHei"/>
              </a:defRPr>
            </a:pPr>
            <a:r>
              <a:t>[生产级底线]</a:t>
            </a:r>
          </a:p>
        </p:txBody>
      </p:sp>
      <p:sp>
        <p:nvSpPr>
          <p:cNvPr id="19" name="TextBox 18"/>
          <p:cNvSpPr txBox="1"/>
          <p:nvPr/>
        </p:nvSpPr>
        <p:spPr>
          <a:xfrm>
            <a:off x="6199632" y="3840480"/>
            <a:ext cx="5532120" cy="1920240"/>
          </a:xfrm>
          <a:prstGeom prst="rect">
            <a:avLst/>
          </a:prstGeom>
          <a:noFill/>
        </p:spPr>
        <p:txBody>
          <a:bodyPr wrap="square" lIns="73152" tIns="73152" rIns="73152" bIns="73152">
            <a:spAutoFit/>
          </a:bodyPr>
          <a:lstStyle/>
          <a:p>
            <a:pPr>
              <a:lnSpc>
                <a:spcPct val="115000"/>
              </a:lnSpc>
              <a:spcAft>
                <a:spcPts val="420"/>
              </a:spcAft>
            </a:pPr>
            <a:r>
              <a:rPr sz="950" b="1">
                <a:solidFill>
                  <a:srgbClr val="1E3A8A"/>
                </a:solidFill>
                <a:latin typeface="Microsoft YaHei"/>
              </a:rPr>
              <a:t>▸ </a:t>
            </a:r>
            <a:r>
              <a:rPr sz="950" b="1">
                <a:solidFill>
                  <a:srgbClr val="1E3A8A"/>
                </a:solidFill>
                <a:latin typeface="Microsoft YaHei"/>
              </a:rPr>
              <a:t>越权越界红线：</a:t>
            </a:r>
            <a:r>
              <a:rPr sz="950">
                <a:solidFill>
                  <a:srgbClr val="1E293B"/>
                </a:solidFill>
                <a:latin typeface="Microsoft YaHei"/>
              </a:rPr>
              <a:t>严禁越权接管推理框架算子显存分配；执行显存归框架，KVC 仅调度外部存储池</a:t>
            </a:r>
          </a:p>
          <a:p>
            <a:pPr>
              <a:lnSpc>
                <a:spcPct val="115000"/>
              </a:lnSpc>
              <a:spcAft>
                <a:spcPts val="420"/>
              </a:spcAft>
            </a:pPr>
            <a:r>
              <a:rPr sz="950" b="1">
                <a:solidFill>
                  <a:srgbClr val="1E3A8A"/>
                </a:solidFill>
                <a:latin typeface="Microsoft YaHei"/>
              </a:rPr>
              <a:t>▸ </a:t>
            </a:r>
            <a:r>
              <a:rPr sz="950" b="1">
                <a:solidFill>
                  <a:srgbClr val="1E3A8A"/>
                </a:solidFill>
                <a:latin typeface="Microsoft YaHei"/>
              </a:rPr>
              <a:t>数据搬运红线：</a:t>
            </a:r>
            <a:r>
              <a:rPr sz="950">
                <a:solidFill>
                  <a:srgbClr val="1E293B"/>
                </a:solidFill>
                <a:latin typeface="Microsoft YaHei"/>
              </a:rPr>
              <a:t>Host CPU 仅负责控制信令下发，绝对不参与正文搬运，严格实现零数据拷贝</a:t>
            </a:r>
          </a:p>
          <a:p>
            <a:pPr>
              <a:lnSpc>
                <a:spcPct val="115000"/>
              </a:lnSpc>
              <a:spcAft>
                <a:spcPts val="420"/>
              </a:spcAft>
            </a:pPr>
            <a:r>
              <a:rPr sz="950" b="1">
                <a:solidFill>
                  <a:srgbClr val="1E3A8A"/>
                </a:solidFill>
                <a:latin typeface="Microsoft YaHei"/>
              </a:rPr>
              <a:t>▸ </a:t>
            </a:r>
            <a:r>
              <a:rPr sz="950" b="1">
                <a:solidFill>
                  <a:srgbClr val="1E3A8A"/>
                </a:solidFill>
                <a:latin typeface="Microsoft YaHei"/>
              </a:rPr>
              <a:t>错误消费红线：</a:t>
            </a:r>
            <a:r>
              <a:rPr sz="950">
                <a:solidFill>
                  <a:srgbClr val="1E293B"/>
                </a:solidFill>
                <a:latin typeface="Microsoft YaHei"/>
              </a:rPr>
              <a:t>6 维语义校验未通过或租约失效数据绝对禁止挂载接入，杜绝脏读与半写块</a:t>
            </a:r>
          </a:p>
          <a:p>
            <a:pPr>
              <a:lnSpc>
                <a:spcPct val="115000"/>
              </a:lnSpc>
              <a:spcAft>
                <a:spcPts val="420"/>
              </a:spcAft>
            </a:pPr>
            <a:r>
              <a:rPr sz="950" b="1">
                <a:solidFill>
                  <a:srgbClr val="1E3A8A"/>
                </a:solidFill>
                <a:latin typeface="Microsoft YaHei"/>
              </a:rPr>
              <a:t>▸ </a:t>
            </a:r>
            <a:r>
              <a:rPr sz="950" b="1">
                <a:solidFill>
                  <a:srgbClr val="1E3A8A"/>
                </a:solidFill>
                <a:latin typeface="Microsoft YaHei"/>
              </a:rPr>
              <a:t>架构去依赖红线：</a:t>
            </a:r>
            <a:r>
              <a:rPr sz="950">
                <a:solidFill>
                  <a:srgbClr val="1E293B"/>
                </a:solidFill>
                <a:latin typeface="Microsoft YaHei"/>
              </a:rPr>
              <a:t>坚守标准驱动纯软主路径，网卡多播与 DPU 硬件卸载仅作为条件加速轨</a:t>
            </a:r>
          </a:p>
        </p:txBody>
      </p:sp>
      <p:sp>
        <p:nvSpPr>
          <p:cNvPr id="20" name="Rectangle 19"/>
          <p:cNvSpPr/>
          <p:nvPr/>
        </p:nvSpPr>
        <p:spPr>
          <a:xfrm>
            <a:off x="457200" y="5897880"/>
            <a:ext cx="11277295" cy="62179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97880"/>
            <a:ext cx="73152" cy="62179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89320"/>
            <a:ext cx="11002975" cy="438912"/>
          </a:xfrm>
          <a:prstGeom prst="rect">
            <a:avLst/>
          </a:prstGeom>
          <a:noFill/>
        </p:spPr>
        <p:txBody>
          <a:bodyPr wrap="square" lIns="0" tIns="0" rIns="0" bIns="0">
            <a:spAutoFit/>
          </a:bodyPr>
          <a:lstStyle/>
          <a:p>
            <a:pPr>
              <a:lnSpc>
                <a:spcPct val="115000"/>
              </a:lnSpc>
            </a:pPr>
            <a:r>
              <a:rPr sz="1200" b="1">
                <a:solidFill>
                  <a:srgbClr val="2563EB"/>
                </a:solidFill>
                <a:latin typeface="Microsoft YaHei"/>
              </a:rPr>
              <a:t>【核心结论】 </a:t>
            </a:r>
            <a:r>
              <a:rPr sz="1150" b="1">
                <a:solidFill>
                  <a:srgbClr val="1E293B"/>
                </a:solidFill>
                <a:latin typeface="Microsoft YaHei"/>
              </a:rPr>
              <a:t>坚持工程诚信红线，严禁杜撰实测结论；以第一性原理分析系统瓶颈与时延构成，严格区分实测指标与推导算例，明确工程设计基线。</a:t>
            </a:r>
            <a:r>
              <a:rPr sz="1150" b="1">
                <a:solidFill>
                  <a:srgbClr val="DC2626"/>
                </a:solidFill>
                <a:latin typeface="Microsoft YaHei"/>
              </a:rPr>
              <a:t>
待验证指标严禁写成既成性能结论。</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专题一：软件四层架构全景与管理、控制、数据三面分工</a:t>
            </a:r>
          </a:p>
          <a:p>
            <a:pPr>
              <a:spcBef>
                <a:spcPts val="300"/>
              </a:spcBef>
              <a:defRPr sz="1100">
                <a:solidFill>
                  <a:srgbClr val="475569"/>
                </a:solidFill>
                <a:latin typeface="Microsoft YaHei"/>
              </a:defRPr>
            </a:pPr>
            <a:r>
              <a:t>四层用于接口契约责任分解，三面用于物理隔离；两者正交解耦，严禁混同为常驻进程数量</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03 / 15 页</a:t>
            </a:r>
          </a:p>
        </p:txBody>
      </p:sp>
      <p:sp>
        <p:nvSpPr>
          <p:cNvPr id="4" name="Rectangle 3"/>
          <p:cNvSpPr/>
          <p:nvPr/>
        </p:nvSpPr>
        <p:spPr>
          <a:xfrm>
            <a:off x="457200" y="1078992"/>
            <a:ext cx="8412480" cy="4681728"/>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170432"/>
            <a:ext cx="530352" cy="4498848"/>
          </a:xfrm>
          <a:prstGeom prst="rect">
            <a:avLst/>
          </a:prstGeom>
          <a:solidFill>
            <a:srgbClr val="F0F9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defRPr sz="880" b="1">
                <a:solidFill>
                  <a:srgbClr val="2563EB"/>
                </a:solidFill>
                <a:latin typeface="Microsoft YaHei"/>
              </a:defRPr>
            </a:pPr>
            <a:r>
              <a:t>微</a:t>
            </a:r>
            <a:br/>
            <a:r>
              <a:t>秒</a:t>
            </a:r>
            <a:br/>
            <a:r>
              <a:t>控</a:t>
            </a:r>
            <a:br/>
            <a:r>
              <a:t>制</a:t>
            </a:r>
            <a:br/>
            <a:r>
              <a:t>流</a:t>
            </a:r>
            <a:br/>
            <a:br/>
            <a:r>
              <a:t>信</a:t>
            </a:r>
            <a:br/>
            <a:r>
              <a:t>令</a:t>
            </a:r>
            <a:br/>
            <a:r>
              <a:t>快</a:t>
            </a:r>
            <a:br/>
            <a:r>
              <a:t>路</a:t>
            </a:r>
            <a:br/>
            <a:r>
              <a:t>径</a:t>
            </a:r>
            <a:br/>
            <a:br/>
            <a:r>
              <a:t>P99</a:t>
            </a:r>
            <a:br/>
            <a:r>
              <a:t>&lt;</a:t>
            </a:r>
            <a:br/>
            <a:r>
              <a:t>5µs</a:t>
            </a:r>
          </a:p>
        </p:txBody>
      </p:sp>
      <p:sp>
        <p:nvSpPr>
          <p:cNvPr id="6" name="Rectangle 5"/>
          <p:cNvSpPr/>
          <p:nvPr/>
        </p:nvSpPr>
        <p:spPr>
          <a:xfrm>
            <a:off x="8247888" y="1170432"/>
            <a:ext cx="530352" cy="4498848"/>
          </a:xfrm>
          <a:prstGeom prst="rect">
            <a:avLst/>
          </a:prstGeom>
          <a:solidFill>
            <a:srgbClr val="ECFDF5"/>
          </a:solidFill>
          <a:ln w="1524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defRPr sz="880" b="1">
                <a:solidFill>
                  <a:srgbClr val="059669"/>
                </a:solidFill>
                <a:latin typeface="Microsoft YaHei"/>
              </a:defRPr>
            </a:pPr>
            <a:r>
              <a:t>零</a:t>
            </a:r>
            <a:br/>
            <a:r>
              <a:t>拷</a:t>
            </a:r>
            <a:br/>
            <a:r>
              <a:t>贝</a:t>
            </a:r>
            <a:br/>
            <a:r>
              <a:t>数</a:t>
            </a:r>
            <a:br/>
            <a:r>
              <a:t>据</a:t>
            </a:r>
            <a:br/>
            <a:r>
              <a:t>流</a:t>
            </a:r>
            <a:br/>
            <a:br/>
            <a:r>
              <a:t>硬</a:t>
            </a:r>
            <a:br/>
            <a:r>
              <a:t>件</a:t>
            </a:r>
            <a:br/>
            <a:r>
              <a:t>直</a:t>
            </a:r>
            <a:br/>
            <a:r>
              <a:t>通</a:t>
            </a:r>
            <a:br/>
            <a:br/>
            <a:r>
              <a:t>CPU</a:t>
            </a:r>
            <a:br/>
            <a:r>
              <a:t>零</a:t>
            </a:r>
            <a:br/>
            <a:r>
              <a:t>拷</a:t>
            </a:r>
            <a:br/>
            <a:r>
              <a:t>贝</a:t>
            </a:r>
          </a:p>
        </p:txBody>
      </p:sp>
      <p:sp>
        <p:nvSpPr>
          <p:cNvPr id="7" name="Rectangle 6"/>
          <p:cNvSpPr/>
          <p:nvPr/>
        </p:nvSpPr>
        <p:spPr>
          <a:xfrm>
            <a:off x="1170432" y="1170432"/>
            <a:ext cx="6986016" cy="1024128"/>
          </a:xfrm>
          <a:prstGeom prst="rect">
            <a:avLst/>
          </a:prstGeom>
          <a:solidFill>
            <a:srgbClr val="F0F9FF"/>
          </a:solidFill>
          <a:ln w="1524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70432" y="1170432"/>
            <a:ext cx="6986016" cy="2560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1207008"/>
            <a:ext cx="6766560" cy="182880"/>
          </a:xfrm>
          <a:prstGeom prst="rect">
            <a:avLst/>
          </a:prstGeom>
          <a:noFill/>
        </p:spPr>
        <p:txBody>
          <a:bodyPr wrap="none" lIns="0" tIns="0" rIns="0" bIns="0">
            <a:spAutoFit/>
          </a:bodyPr>
          <a:lstStyle/>
          <a:p>
            <a:pPr>
              <a:defRPr sz="950" b="1">
                <a:solidFill>
                  <a:srgbClr val="FFFFFF"/>
                </a:solidFill>
                <a:latin typeface="Microsoft YaHei"/>
              </a:defRPr>
            </a:pPr>
            <a:r>
              <a:t>L1 框架适配层 (接入层) · 进程内运行库 libkvc_runtime · 框架拥有执行显存</a:t>
            </a:r>
          </a:p>
        </p:txBody>
      </p:sp>
      <p:sp>
        <p:nvSpPr>
          <p:cNvPr id="10" name="Rectangle 9"/>
          <p:cNvSpPr/>
          <p:nvPr/>
        </p:nvSpPr>
        <p:spPr>
          <a:xfrm>
            <a:off x="1243584" y="1481328"/>
            <a:ext cx="2249424" cy="65836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defRPr sz="880" b="1">
                <a:solidFill>
                  <a:srgbClr val="1E3A8A"/>
                </a:solidFill>
                <a:latin typeface="Microsoft YaHei"/>
              </a:defRPr>
            </a:pPr>
            <a:r>
              <a:t>虚拟挂载与访问意图</a:t>
            </a:r>
          </a:p>
          <a:p>
            <a:pPr>
              <a:spcBef>
                <a:spcPts val="200"/>
              </a:spcBef>
              <a:defRPr sz="780">
                <a:solidFill>
                  <a:srgbClr val="475569"/>
                </a:solidFill>
                <a:latin typeface="Microsoft YaHei"/>
              </a:defRPr>
            </a:pPr>
            <a:r>
              <a:t>KVAccessIntent 挂载句柄</a:t>
            </a:r>
            <a:br/>
            <a:r>
              <a:t>推理框架独占运行时显存分配</a:t>
            </a:r>
          </a:p>
        </p:txBody>
      </p:sp>
      <p:sp>
        <p:nvSpPr>
          <p:cNvPr id="11" name="Rectangle 10"/>
          <p:cNvSpPr/>
          <p:nvPr/>
        </p:nvSpPr>
        <p:spPr>
          <a:xfrm>
            <a:off x="3538728" y="1481328"/>
            <a:ext cx="2249424" cy="65836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defRPr sz="880" b="1">
                <a:solidFill>
                  <a:srgbClr val="1E3A8A"/>
                </a:solidFill>
                <a:latin typeface="Microsoft YaHei"/>
              </a:defRPr>
            </a:pPr>
            <a:r>
              <a:t>前缀预算与准入控制</a:t>
            </a:r>
          </a:p>
          <a:p>
            <a:pPr>
              <a:spcBef>
                <a:spcPts val="200"/>
              </a:spcBef>
              <a:defRPr sz="780">
                <a:solidFill>
                  <a:srgbClr val="475569"/>
                </a:solidFill>
                <a:latin typeface="Microsoft YaHei"/>
              </a:defRPr>
            </a:pPr>
            <a:r>
              <a:t>Token 序列 64位哈希提取</a:t>
            </a:r>
            <a:br/>
            <a:r>
              <a:t>SLO 剩余预算前置核验</a:t>
            </a:r>
          </a:p>
        </p:txBody>
      </p:sp>
      <p:sp>
        <p:nvSpPr>
          <p:cNvPr id="12" name="Rectangle 11"/>
          <p:cNvSpPr/>
          <p:nvPr/>
        </p:nvSpPr>
        <p:spPr>
          <a:xfrm>
            <a:off x="5833872" y="1481328"/>
            <a:ext cx="2249424" cy="65836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defRPr sz="880" b="1">
                <a:solidFill>
                  <a:srgbClr val="1E3A8A"/>
                </a:solidFill>
                <a:latin typeface="Microsoft YaHei"/>
              </a:defRPr>
            </a:pPr>
            <a:r>
              <a:t>缓存感知路由与多卡协同</a:t>
            </a:r>
          </a:p>
          <a:p>
            <a:pPr>
              <a:spcBef>
                <a:spcPts val="200"/>
              </a:spcBef>
              <a:defRPr sz="780">
                <a:solidFill>
                  <a:srgbClr val="475569"/>
                </a:solidFill>
                <a:latin typeface="Microsoft YaHei"/>
              </a:defRPr>
            </a:pPr>
            <a:r>
              <a:t>前缀匹配度评分与算力路由</a:t>
            </a:r>
            <a:br/>
            <a:r>
              <a:t>TP=8 RankConsensus 组内协同</a:t>
            </a:r>
          </a:p>
        </p:txBody>
      </p:sp>
      <p:sp>
        <p:nvSpPr>
          <p:cNvPr id="13" name="Rectangle 12"/>
          <p:cNvSpPr/>
          <p:nvPr/>
        </p:nvSpPr>
        <p:spPr>
          <a:xfrm>
            <a:off x="1170432" y="2286000"/>
            <a:ext cx="6986016" cy="1097280"/>
          </a:xfrm>
          <a:prstGeom prst="rect">
            <a:avLst/>
          </a:prstGeom>
          <a:solidFill>
            <a:srgbClr val="F5F3FF"/>
          </a:solidFill>
          <a:ln w="1524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70432" y="2286000"/>
            <a:ext cx="6986016" cy="25603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80160" y="2322576"/>
            <a:ext cx="6766560" cy="182880"/>
          </a:xfrm>
          <a:prstGeom prst="rect">
            <a:avLst/>
          </a:prstGeom>
          <a:noFill/>
        </p:spPr>
        <p:txBody>
          <a:bodyPr wrap="none" lIns="0" tIns="0" rIns="0" bIns="0">
            <a:spAutoFit/>
          </a:bodyPr>
          <a:lstStyle/>
          <a:p>
            <a:pPr>
              <a:defRPr sz="950" b="1">
                <a:solidFill>
                  <a:srgbClr val="FFFFFF"/>
                </a:solidFill>
                <a:latin typeface="Microsoft YaHei"/>
              </a:defRPr>
            </a:pPr>
            <a:r>
              <a:t>L2 核心调度与控制面 · 查询决策引擎与分片目录 · 微秒级纯信令处理</a:t>
            </a:r>
          </a:p>
        </p:txBody>
      </p:sp>
      <p:sp>
        <p:nvSpPr>
          <p:cNvPr id="16" name="Rectangle 15"/>
          <p:cNvSpPr/>
          <p:nvPr/>
        </p:nvSpPr>
        <p:spPr>
          <a:xfrm>
            <a:off x="1243584" y="2596896"/>
            <a:ext cx="1673352" cy="731520"/>
          </a:xfrm>
          <a:prstGeom prst="rect">
            <a:avLst/>
          </a:prstGeom>
          <a:solidFill>
            <a:srgbClr val="FFFF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defRPr sz="880" b="1">
                <a:solidFill>
                  <a:srgbClr val="6D28D9"/>
                </a:solidFill>
                <a:latin typeface="Microsoft YaHei"/>
              </a:defRPr>
            </a:pPr>
            <a:r>
              <a:t>ART 无锁前缀树</a:t>
            </a:r>
          </a:p>
          <a:p>
            <a:pPr>
              <a:spcBef>
                <a:spcPts val="200"/>
              </a:spcBef>
              <a:defRPr sz="780">
                <a:solidFill>
                  <a:srgbClr val="475569"/>
                </a:solidFill>
                <a:latin typeface="Microsoft YaHei"/>
              </a:defRPr>
            </a:pPr>
            <a:r>
              <a:t>自适应基数树快照</a:t>
            </a:r>
            <a:br/>
            <a:r>
              <a:t>P99 &lt; 2µs 本地遍历</a:t>
            </a:r>
          </a:p>
        </p:txBody>
      </p:sp>
      <p:sp>
        <p:nvSpPr>
          <p:cNvPr id="17" name="Rectangle 16"/>
          <p:cNvSpPr/>
          <p:nvPr/>
        </p:nvSpPr>
        <p:spPr>
          <a:xfrm>
            <a:off x="2962656" y="2596896"/>
            <a:ext cx="1673352" cy="731520"/>
          </a:xfrm>
          <a:prstGeom prst="rect">
            <a:avLst/>
          </a:prstGeom>
          <a:solidFill>
            <a:srgbClr val="FFFF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defRPr sz="880" b="1">
                <a:solidFill>
                  <a:srgbClr val="6D28D9"/>
                </a:solidFill>
                <a:latin typeface="Microsoft YaHei"/>
              </a:defRPr>
            </a:pPr>
            <a:r>
              <a:t>QueryPlan 选路决策</a:t>
            </a:r>
          </a:p>
          <a:p>
            <a:pPr>
              <a:spcBef>
                <a:spcPts val="200"/>
              </a:spcBef>
              <a:defRPr sz="780">
                <a:solidFill>
                  <a:srgbClr val="475569"/>
                </a:solidFill>
                <a:latin typeface="Microsoft YaHei"/>
              </a:defRPr>
            </a:pPr>
            <a:r>
              <a:t>CostEvaluator 成本模型</a:t>
            </a:r>
            <a:br/>
            <a:r>
              <a:t>净加速收益前置确认</a:t>
            </a:r>
          </a:p>
        </p:txBody>
      </p:sp>
      <p:sp>
        <p:nvSpPr>
          <p:cNvPr id="18" name="Rectangle 17"/>
          <p:cNvSpPr/>
          <p:nvPr/>
        </p:nvSpPr>
        <p:spPr>
          <a:xfrm>
            <a:off x="4681728" y="2596896"/>
            <a:ext cx="1673352" cy="731520"/>
          </a:xfrm>
          <a:prstGeom prst="rect">
            <a:avLst/>
          </a:prstGeom>
          <a:solidFill>
            <a:srgbClr val="FFFF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defRPr sz="880" b="1">
                <a:solidFill>
                  <a:srgbClr val="6D28D9"/>
                </a:solidFill>
                <a:latin typeface="Microsoft YaHei"/>
              </a:defRPr>
            </a:pPr>
            <a:r>
              <a:t>6维语义校验引擎</a:t>
            </a:r>
          </a:p>
          <a:p>
            <a:pPr>
              <a:spcBef>
                <a:spcPts val="200"/>
              </a:spcBef>
              <a:defRPr sz="780">
                <a:solidFill>
                  <a:srgbClr val="475569"/>
                </a:solidFill>
                <a:latin typeface="Microsoft YaHei"/>
              </a:defRPr>
            </a:pPr>
            <a:r>
              <a:t>ConsumeEligibility</a:t>
            </a:r>
            <a:br/>
            <a:r>
              <a:t>模型/词表/租约零错误消费</a:t>
            </a:r>
          </a:p>
        </p:txBody>
      </p:sp>
      <p:sp>
        <p:nvSpPr>
          <p:cNvPr id="19" name="Rectangle 18"/>
          <p:cNvSpPr/>
          <p:nvPr/>
        </p:nvSpPr>
        <p:spPr>
          <a:xfrm>
            <a:off x="6400800" y="2596896"/>
            <a:ext cx="1673352" cy="731520"/>
          </a:xfrm>
          <a:prstGeom prst="rect">
            <a:avLst/>
          </a:prstGeom>
          <a:solidFill>
            <a:srgbClr val="FFFF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defRPr sz="880" b="1">
                <a:solidFill>
                  <a:srgbClr val="6D28D9"/>
                </a:solidFill>
                <a:latin typeface="Microsoft YaHei"/>
              </a:defRPr>
            </a:pPr>
            <a:r>
              <a:t>分片目录集群</a:t>
            </a:r>
          </a:p>
          <a:p>
            <a:pPr>
              <a:spcBef>
                <a:spcPts val="200"/>
              </a:spcBef>
              <a:defRPr sz="780">
                <a:solidFill>
                  <a:srgbClr val="475569"/>
                </a:solidFill>
                <a:latin typeface="Microsoft YaHei"/>
              </a:defRPr>
            </a:pPr>
            <a:r>
              <a:t>kvc-directory Raft 多数派</a:t>
            </a:r>
            <a:br/>
            <a:r>
              <a:t>Slot 0..1023 哈希分片发现</a:t>
            </a:r>
          </a:p>
        </p:txBody>
      </p:sp>
      <p:sp>
        <p:nvSpPr>
          <p:cNvPr id="20" name="Rectangle 19"/>
          <p:cNvSpPr/>
          <p:nvPr/>
        </p:nvSpPr>
        <p:spPr>
          <a:xfrm>
            <a:off x="1170432" y="3474720"/>
            <a:ext cx="6986016" cy="1097280"/>
          </a:xfrm>
          <a:prstGeom prst="rect">
            <a:avLst/>
          </a:prstGeom>
          <a:solidFill>
            <a:srgbClr val="ECFDF5"/>
          </a:solidFill>
          <a:ln w="1524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70432" y="3474720"/>
            <a:ext cx="6986016" cy="2560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3511296"/>
            <a:ext cx="6766560" cy="182880"/>
          </a:xfrm>
          <a:prstGeom prst="rect">
            <a:avLst/>
          </a:prstGeom>
          <a:noFill/>
        </p:spPr>
        <p:txBody>
          <a:bodyPr wrap="none" lIns="0" tIns="0" rIns="0" bIns="0">
            <a:spAutoFit/>
          </a:bodyPr>
          <a:lstStyle/>
          <a:p>
            <a:pPr>
              <a:defRPr sz="950" b="1">
                <a:solidFill>
                  <a:srgbClr val="FFFFFF"/>
                </a:solidFill>
                <a:latin typeface="Microsoft YaHei"/>
              </a:defRPr>
            </a:pPr>
            <a:r>
              <a:t>L3 原厂极速底座 (KPCL) · 统一总线通信与分层存储 · Host Payload 零拷贝</a:t>
            </a:r>
          </a:p>
        </p:txBody>
      </p:sp>
      <p:sp>
        <p:nvSpPr>
          <p:cNvPr id="23" name="Rectangle 22"/>
          <p:cNvSpPr/>
          <p:nvPr/>
        </p:nvSpPr>
        <p:spPr>
          <a:xfrm>
            <a:off x="1243584" y="3785616"/>
            <a:ext cx="1673352" cy="731520"/>
          </a:xfrm>
          <a:prstGeom prst="rect">
            <a:avLst/>
          </a:prstGeom>
          <a:solidFill>
            <a:srgbClr val="FFFFFF"/>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defRPr sz="880" b="1">
                <a:solidFill>
                  <a:srgbClr val="059669"/>
                </a:solidFill>
                <a:latin typeface="Microsoft YaHei"/>
              </a:defRPr>
            </a:pPr>
            <a:r>
              <a:t>连续块清单描述符</a:t>
            </a:r>
          </a:p>
          <a:p>
            <a:pPr>
              <a:spcBef>
                <a:spcPts val="200"/>
              </a:spcBef>
              <a:defRPr sz="780">
                <a:solidFill>
                  <a:srgbClr val="475569"/>
                </a:solidFill>
                <a:latin typeface="Microsoft YaHei"/>
              </a:defRPr>
            </a:pPr>
            <a:r>
              <a:t>64B POD Extent 描述符</a:t>
            </a:r>
            <a:br/>
            <a:r>
              <a:t>O(N) 贪心合并降低开销</a:t>
            </a:r>
          </a:p>
        </p:txBody>
      </p:sp>
      <p:sp>
        <p:nvSpPr>
          <p:cNvPr id="24" name="Rectangle 23"/>
          <p:cNvSpPr/>
          <p:nvPr/>
        </p:nvSpPr>
        <p:spPr>
          <a:xfrm>
            <a:off x="2962656" y="3785616"/>
            <a:ext cx="1673352" cy="731520"/>
          </a:xfrm>
          <a:prstGeom prst="rect">
            <a:avLst/>
          </a:prstGeom>
          <a:solidFill>
            <a:srgbClr val="FFFFFF"/>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defRPr sz="880" b="1">
                <a:solidFill>
                  <a:srgbClr val="059669"/>
                </a:solidFill>
                <a:latin typeface="Microsoft YaHei"/>
              </a:defRPr>
            </a:pPr>
            <a:r>
              <a:t>异步 DAG 边算边传</a:t>
            </a:r>
          </a:p>
          <a:p>
            <a:pPr>
              <a:spcBef>
                <a:spcPts val="200"/>
              </a:spcBef>
              <a:defRPr sz="780">
                <a:solidFill>
                  <a:srgbClr val="475569"/>
                </a:solidFill>
                <a:latin typeface="Microsoft YaHei"/>
              </a:defRPr>
            </a:pPr>
            <a:r>
              <a:t>NPU Stream/Event 编排</a:t>
            </a:r>
            <a:br/>
            <a:r>
              <a:t>消灭 85% 首字等待气泡</a:t>
            </a:r>
          </a:p>
        </p:txBody>
      </p:sp>
      <p:sp>
        <p:nvSpPr>
          <p:cNvPr id="25" name="Rectangle 24"/>
          <p:cNvSpPr/>
          <p:nvPr/>
        </p:nvSpPr>
        <p:spPr>
          <a:xfrm>
            <a:off x="4681728" y="3785616"/>
            <a:ext cx="1673352" cy="731520"/>
          </a:xfrm>
          <a:prstGeom prst="rect">
            <a:avLst/>
          </a:prstGeom>
          <a:solidFill>
            <a:srgbClr val="FFFFFF"/>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defRPr sz="880" b="1">
                <a:solidFill>
                  <a:srgbClr val="059669"/>
                </a:solidFill>
                <a:latin typeface="Microsoft YaHei"/>
              </a:defRPr>
            </a:pPr>
            <a:r>
              <a:t>UBMEM 直读与 URMA</a:t>
            </a:r>
          </a:p>
          <a:p>
            <a:pPr>
              <a:spcBef>
                <a:spcPts val="200"/>
              </a:spcBef>
              <a:defRPr sz="780">
                <a:solidFill>
                  <a:srgbClr val="475569"/>
                </a:solidFill>
                <a:latin typeface="Microsoft YaHei"/>
              </a:defRPr>
            </a:pPr>
            <a:r>
              <a:t>Direct-View 跨卡直读</a:t>
            </a:r>
            <a:br/>
            <a:r>
              <a:t>DMA 直达 NPU HBM 显存</a:t>
            </a:r>
          </a:p>
        </p:txBody>
      </p:sp>
      <p:sp>
        <p:nvSpPr>
          <p:cNvPr id="26" name="Rectangle 25"/>
          <p:cNvSpPr/>
          <p:nvPr/>
        </p:nvSpPr>
        <p:spPr>
          <a:xfrm>
            <a:off x="6400800" y="3785616"/>
            <a:ext cx="1673352" cy="731520"/>
          </a:xfrm>
          <a:prstGeom prst="rect">
            <a:avLst/>
          </a:prstGeom>
          <a:solidFill>
            <a:srgbClr val="FFFFFF"/>
          </a:solidFill>
          <a:ln w="1270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defRPr sz="880" b="1">
                <a:solidFill>
                  <a:srgbClr val="059669"/>
                </a:solidFill>
                <a:latin typeface="Microsoft YaHei"/>
              </a:defRPr>
            </a:pPr>
            <a:r>
              <a:t>HBM-SSD 裸盘直达</a:t>
            </a:r>
          </a:p>
          <a:p>
            <a:pPr>
              <a:spcBef>
                <a:spcPts val="200"/>
              </a:spcBef>
              <a:defRPr sz="780">
                <a:solidFill>
                  <a:srgbClr val="475569"/>
                </a:solidFill>
                <a:latin typeface="Microsoft YaHei"/>
              </a:defRPr>
            </a:pPr>
            <a:r>
              <a:t>Payload Bypass DDR</a:t>
            </a:r>
            <a:br/>
            <a:r>
              <a:t>io_uring 裸盘直通容量扩充</a:t>
            </a:r>
          </a:p>
        </p:txBody>
      </p:sp>
      <p:sp>
        <p:nvSpPr>
          <p:cNvPr id="27" name="Rectangle 26"/>
          <p:cNvSpPr/>
          <p:nvPr/>
        </p:nvSpPr>
        <p:spPr>
          <a:xfrm>
            <a:off x="1170432" y="4663440"/>
            <a:ext cx="6986016" cy="1005840"/>
          </a:xfrm>
          <a:prstGeom prst="rect">
            <a:avLst/>
          </a:prstGeom>
          <a:solidFill>
            <a:srgbClr val="FFFBEB"/>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70432" y="4663440"/>
            <a:ext cx="6986016" cy="25603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80160" y="4700016"/>
            <a:ext cx="6766560" cy="182880"/>
          </a:xfrm>
          <a:prstGeom prst="rect">
            <a:avLst/>
          </a:prstGeom>
          <a:noFill/>
        </p:spPr>
        <p:txBody>
          <a:bodyPr wrap="none" lIns="0" tIns="0" rIns="0" bIns="0">
            <a:spAutoFit/>
          </a:bodyPr>
          <a:lstStyle/>
          <a:p>
            <a:pPr>
              <a:defRPr sz="950" b="1">
                <a:solidFill>
                  <a:srgbClr val="FFFFFF"/>
                </a:solidFill>
                <a:latin typeface="Microsoft YaHei"/>
              </a:defRPr>
            </a:pPr>
            <a:r>
              <a:t>管理与可靠性保障 · etcd 持久配置 / 节点代理 kvc-node / 遥测探针</a:t>
            </a:r>
          </a:p>
        </p:txBody>
      </p:sp>
      <p:sp>
        <p:nvSpPr>
          <p:cNvPr id="30" name="Rectangle 29"/>
          <p:cNvSpPr/>
          <p:nvPr/>
        </p:nvSpPr>
        <p:spPr>
          <a:xfrm>
            <a:off x="1243584" y="4974336"/>
            <a:ext cx="1673352" cy="640080"/>
          </a:xfrm>
          <a:prstGeom prst="rect">
            <a:avLst/>
          </a:prstGeom>
          <a:solidFill>
            <a:srgbClr val="FFFFFF"/>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defRPr sz="880" b="1">
                <a:solidFill>
                  <a:srgbClr val="B45309"/>
                </a:solidFill>
                <a:latin typeface="Microsoft YaHei"/>
              </a:defRPr>
            </a:pPr>
            <a:r>
              <a:t>etcd 静态拓扑集群</a:t>
            </a:r>
          </a:p>
          <a:p>
            <a:pPr>
              <a:spcBef>
                <a:spcPts val="200"/>
              </a:spcBef>
              <a:defRPr sz="780">
                <a:solidFill>
                  <a:srgbClr val="475569"/>
                </a:solidFill>
                <a:latin typeface="Microsoft YaHei"/>
              </a:defRPr>
            </a:pPr>
            <a:r>
              <a:t>集群网络物理拓扑与配额</a:t>
            </a:r>
            <a:br/>
            <a:r>
              <a:t>极低频写入，绝不入热路径</a:t>
            </a:r>
          </a:p>
        </p:txBody>
      </p:sp>
      <p:sp>
        <p:nvSpPr>
          <p:cNvPr id="31" name="Rectangle 30"/>
          <p:cNvSpPr/>
          <p:nvPr/>
        </p:nvSpPr>
        <p:spPr>
          <a:xfrm>
            <a:off x="2962656" y="4974336"/>
            <a:ext cx="1673352" cy="640080"/>
          </a:xfrm>
          <a:prstGeom prst="rect">
            <a:avLst/>
          </a:prstGeom>
          <a:solidFill>
            <a:srgbClr val="FFFFFF"/>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defRPr sz="880" b="1">
                <a:solidFill>
                  <a:srgbClr val="B45309"/>
                </a:solidFill>
                <a:latin typeface="Microsoft YaHei"/>
              </a:defRPr>
            </a:pPr>
            <a:r>
              <a:t>节点代理 kvc-node</a:t>
            </a:r>
          </a:p>
          <a:p>
            <a:pPr>
              <a:spcBef>
                <a:spcPts val="200"/>
              </a:spcBef>
              <a:defRPr sz="780">
                <a:solidFill>
                  <a:srgbClr val="475569"/>
                </a:solidFill>
                <a:latin typeface="Microsoft YaHei"/>
              </a:defRPr>
            </a:pPr>
            <a:r>
              <a:t>POSIX 共享内存租约 Epoch</a:t>
            </a:r>
            <a:br/>
            <a:r>
              <a:t>能力矩阵快照与介质分配</a:t>
            </a:r>
          </a:p>
        </p:txBody>
      </p:sp>
      <p:sp>
        <p:nvSpPr>
          <p:cNvPr id="32" name="Rectangle 31"/>
          <p:cNvSpPr/>
          <p:nvPr/>
        </p:nvSpPr>
        <p:spPr>
          <a:xfrm>
            <a:off x="4681728" y="4974336"/>
            <a:ext cx="1673352" cy="640080"/>
          </a:xfrm>
          <a:prstGeom prst="rect">
            <a:avLst/>
          </a:prstGeom>
          <a:solidFill>
            <a:srgbClr val="FFFFFF"/>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defRPr sz="880" b="1">
                <a:solidFill>
                  <a:srgbClr val="B45309"/>
                </a:solidFill>
                <a:latin typeface="Microsoft YaHei"/>
              </a:defRPr>
            </a:pPr>
            <a:r>
              <a:t>ViewGuard 容错守卫</a:t>
            </a:r>
          </a:p>
          <a:p>
            <a:pPr>
              <a:spcBef>
                <a:spcPts val="200"/>
              </a:spcBef>
              <a:defRPr sz="780">
                <a:solidFill>
                  <a:srgbClr val="475569"/>
                </a:solidFill>
                <a:latin typeface="Microsoft YaHei"/>
              </a:defRPr>
            </a:pPr>
            <a:r>
              <a:t>跨节点直读 SIGBUS 捕获</a:t>
            </a:r>
            <a:br/>
            <a:r>
              <a:t>500µs 极速跳出回退本地重算</a:t>
            </a:r>
          </a:p>
        </p:txBody>
      </p:sp>
      <p:sp>
        <p:nvSpPr>
          <p:cNvPr id="33" name="Rectangle 32"/>
          <p:cNvSpPr/>
          <p:nvPr/>
        </p:nvSpPr>
        <p:spPr>
          <a:xfrm>
            <a:off x="6400800" y="4974336"/>
            <a:ext cx="1673352" cy="640080"/>
          </a:xfrm>
          <a:prstGeom prst="rect">
            <a:avLst/>
          </a:prstGeom>
          <a:solidFill>
            <a:srgbClr val="FFFFFF"/>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defRPr sz="880" b="1">
                <a:solidFill>
                  <a:srgbClr val="B45309"/>
                </a:solidFill>
                <a:latin typeface="Microsoft YaHei"/>
              </a:defRPr>
            </a:pPr>
            <a:r>
              <a:t>遥测探针与 QoS 隔离</a:t>
            </a:r>
          </a:p>
          <a:p>
            <a:pPr>
              <a:spcBef>
                <a:spcPts val="200"/>
              </a:spcBef>
              <a:defRPr sz="780">
                <a:solidFill>
                  <a:srgbClr val="475569"/>
                </a:solidFill>
                <a:latin typeface="Microsoft YaHei"/>
              </a:defRPr>
            </a:pPr>
            <a:r>
              <a:t>Telemetry 微秒级探针</a:t>
            </a:r>
            <a:br/>
            <a:r>
              <a:t>TC0/TC1 硬件优先级映射</a:t>
            </a:r>
          </a:p>
        </p:txBody>
      </p:sp>
      <p:sp>
        <p:nvSpPr>
          <p:cNvPr id="34" name="Rectangle 33"/>
          <p:cNvSpPr/>
          <p:nvPr/>
        </p:nvSpPr>
        <p:spPr>
          <a:xfrm>
            <a:off x="9006840" y="1078992"/>
            <a:ext cx="2724912" cy="468172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006840" y="1078992"/>
            <a:ext cx="2724912" cy="365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16568" y="1115568"/>
            <a:ext cx="2505456" cy="292608"/>
          </a:xfrm>
          <a:prstGeom prst="rect">
            <a:avLst/>
          </a:prstGeom>
          <a:noFill/>
        </p:spPr>
        <p:txBody>
          <a:bodyPr wrap="none" lIns="0" tIns="0" rIns="0" bIns="0">
            <a:spAutoFit/>
          </a:bodyPr>
          <a:lstStyle/>
          <a:p>
            <a:pPr>
              <a:defRPr sz="1150" b="1">
                <a:solidFill>
                  <a:srgbClr val="FFFFFF"/>
                </a:solidFill>
                <a:latin typeface="Microsoft YaHei"/>
              </a:defRPr>
            </a:pPr>
            <a:r>
              <a:t>核心架构边界与职责划分</a:t>
            </a:r>
          </a:p>
        </p:txBody>
      </p:sp>
      <p:sp>
        <p:nvSpPr>
          <p:cNvPr id="37" name="TextBox 36"/>
          <p:cNvSpPr txBox="1"/>
          <p:nvPr/>
        </p:nvSpPr>
        <p:spPr>
          <a:xfrm>
            <a:off x="9006840" y="1463040"/>
            <a:ext cx="2724912" cy="4270248"/>
          </a:xfrm>
          <a:prstGeom prst="rect">
            <a:avLst/>
          </a:prstGeom>
          <a:noFill/>
        </p:spPr>
        <p:txBody>
          <a:bodyPr wrap="square" lIns="73152" tIns="73152" rIns="73152" bIns="73152">
            <a:spAutoFit/>
          </a:bodyPr>
          <a:lstStyle/>
          <a:p>
            <a:pPr>
              <a:lnSpc>
                <a:spcPct val="115000"/>
              </a:lnSpc>
              <a:spcAft>
                <a:spcPts val="420"/>
              </a:spcAft>
            </a:pPr>
            <a:r>
              <a:rPr sz="919" b="1">
                <a:solidFill>
                  <a:srgbClr val="1E3A8A"/>
                </a:solidFill>
                <a:latin typeface="Microsoft YaHei"/>
              </a:rPr>
              <a:t>▸ </a:t>
            </a:r>
            <a:r>
              <a:rPr sz="919" b="1">
                <a:solidFill>
                  <a:srgbClr val="1E3A8A"/>
                </a:solidFill>
                <a:latin typeface="Microsoft YaHei"/>
              </a:rPr>
              <a:t>L1 框架接入层：</a:t>
            </a:r>
            <a:r>
              <a:rPr sz="919">
                <a:solidFill>
                  <a:srgbClr val="1E293B"/>
                </a:solidFill>
                <a:latin typeface="Microsoft YaHei"/>
              </a:rPr>
              <a:t>提供访问意图、剩余预算与目标缓冲，框架继续拥有执行显存</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L2 控制决策层：</a:t>
            </a:r>
            <a:r>
              <a:rPr sz="919">
                <a:solidFill>
                  <a:srgbClr val="1E293B"/>
                </a:solidFill>
                <a:latin typeface="Microsoft YaHei"/>
              </a:rPr>
              <a:t>快速查前缀、核验6维语义与管理租约，微秒决策且不碰正文</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L3 分层存储层：</a:t>
            </a:r>
            <a:r>
              <a:rPr sz="919">
                <a:solidFill>
                  <a:srgbClr val="1E293B"/>
                </a:solidFill>
                <a:latin typeface="Microsoft YaHei"/>
              </a:rPr>
              <a:t>维护不可变对象、连续块清单 (ExtentManifest) 与分层状态机</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L4 极速传输层：</a:t>
            </a:r>
            <a:r>
              <a:rPr sz="919">
                <a:solidFill>
                  <a:srgbClr val="1E293B"/>
                </a:solidFill>
                <a:latin typeface="Microsoft YaHei"/>
              </a:rPr>
              <a:t>通信库封装异构底层总线与裸盘，以 Host 零拷贝直达显存</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三面物理隔离：</a:t>
            </a:r>
            <a:r>
              <a:rPr sz="919">
                <a:solidFill>
                  <a:srgbClr val="1E293B"/>
                </a:solidFill>
                <a:latin typeface="Microsoft YaHei"/>
              </a:rPr>
              <a:t>管理层不进单请求路径；控制面读写分离；数据面前后台硬件队列隔离</a:t>
            </a:r>
          </a:p>
        </p:txBody>
      </p:sp>
      <p:sp>
        <p:nvSpPr>
          <p:cNvPr id="38" name="Rectangle 37"/>
          <p:cNvSpPr/>
          <p:nvPr/>
        </p:nvSpPr>
        <p:spPr>
          <a:xfrm>
            <a:off x="457200" y="5897880"/>
            <a:ext cx="11277295" cy="62179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 y="5897880"/>
            <a:ext cx="73152" cy="62179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1792" y="5989320"/>
            <a:ext cx="11002975" cy="438912"/>
          </a:xfrm>
          <a:prstGeom prst="rect">
            <a:avLst/>
          </a:prstGeom>
          <a:noFill/>
        </p:spPr>
        <p:txBody>
          <a:bodyPr wrap="square" lIns="0" tIns="0" rIns="0" bIns="0">
            <a:spAutoFit/>
          </a:bodyPr>
          <a:lstStyle/>
          <a:p>
            <a:pPr>
              <a:lnSpc>
                <a:spcPct val="115000"/>
              </a:lnSpc>
            </a:pPr>
            <a:r>
              <a:rPr sz="1200" b="1">
                <a:solidFill>
                  <a:srgbClr val="2563EB"/>
                </a:solidFill>
                <a:latin typeface="Microsoft YaHei"/>
              </a:rPr>
              <a:t>【核心结论】 </a:t>
            </a:r>
            <a:r>
              <a:rPr sz="1150" b="1">
                <a:solidFill>
                  <a:srgbClr val="1E293B"/>
                </a:solidFill>
                <a:latin typeface="Microsoft YaHei"/>
              </a:rPr>
              <a:t>控制面微秒决策与数据面零拷贝双流分离；执行 HBM 归框架，KVC 负责跨节点分层调度。</a:t>
            </a:r>
            <a:r>
              <a:rPr sz="1150" b="1">
                <a:solidFill>
                  <a:srgbClr val="DC2626"/>
                </a:solidFill>
                <a:latin typeface="Microsoft YaHei"/>
              </a:rPr>
              <a:t>
Host CPU 负责控制下发，数据搬运通过硬件直通绕过主机内存。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专题二：分布式拓扑与五大进程实体分布与交互模型</a:t>
            </a:r>
          </a:p>
          <a:p>
            <a:pPr>
              <a:spcBef>
                <a:spcPts val="300"/>
              </a:spcBef>
              <a:defRPr sz="1100">
                <a:solidFill>
                  <a:srgbClr val="475569"/>
                </a:solidFill>
                <a:latin typeface="Microsoft YaHei"/>
              </a:defRPr>
            </a:pPr>
            <a:r>
              <a:t>控制面下沉至推理工作进程内部降低 IPC 损耗，资源分配与分片目录解耦为独立守护进程</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04 / 15 页</a:t>
            </a:r>
          </a:p>
        </p:txBody>
      </p:sp>
      <p:sp>
        <p:nvSpPr>
          <p:cNvPr id="4" name="Rectangle 3"/>
          <p:cNvSpPr/>
          <p:nvPr/>
        </p:nvSpPr>
        <p:spPr>
          <a:xfrm>
            <a:off x="457200" y="1078992"/>
            <a:ext cx="8412480" cy="468172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2_kvc_cluster_topology_and_processes.png"/>
          <p:cNvPicPr>
            <a:picLocks noChangeAspect="1"/>
          </p:cNvPicPr>
          <p:nvPr/>
        </p:nvPicPr>
        <p:blipFill>
          <a:blip r:embed="rId2"/>
          <a:stretch>
            <a:fillRect/>
          </a:stretch>
        </p:blipFill>
        <p:spPr>
          <a:xfrm>
            <a:off x="493776" y="1321698"/>
            <a:ext cx="8339328" cy="4196315"/>
          </a:xfrm>
          <a:prstGeom prst="rect">
            <a:avLst/>
          </a:prstGeom>
        </p:spPr>
      </p:pic>
      <p:sp>
        <p:nvSpPr>
          <p:cNvPr id="6" name="Rectangle 5"/>
          <p:cNvSpPr/>
          <p:nvPr/>
        </p:nvSpPr>
        <p:spPr>
          <a:xfrm>
            <a:off x="9006840" y="1078992"/>
            <a:ext cx="2724912" cy="468172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06840" y="1078992"/>
            <a:ext cx="2724912" cy="365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16568" y="1115568"/>
            <a:ext cx="2505456" cy="292608"/>
          </a:xfrm>
          <a:prstGeom prst="rect">
            <a:avLst/>
          </a:prstGeom>
          <a:noFill/>
        </p:spPr>
        <p:txBody>
          <a:bodyPr wrap="none" lIns="0" tIns="0" rIns="0" bIns="0">
            <a:spAutoFit/>
          </a:bodyPr>
          <a:lstStyle/>
          <a:p>
            <a:pPr>
              <a:defRPr sz="1150" b="1">
                <a:solidFill>
                  <a:srgbClr val="FFFFFF"/>
                </a:solidFill>
                <a:latin typeface="Microsoft YaHei"/>
              </a:defRPr>
            </a:pPr>
            <a:r>
              <a:t>五大核心进程实体与职责</a:t>
            </a:r>
          </a:p>
        </p:txBody>
      </p:sp>
      <p:sp>
        <p:nvSpPr>
          <p:cNvPr id="9" name="TextBox 8"/>
          <p:cNvSpPr txBox="1"/>
          <p:nvPr/>
        </p:nvSpPr>
        <p:spPr>
          <a:xfrm>
            <a:off x="9006840" y="1463040"/>
            <a:ext cx="2724912" cy="4270248"/>
          </a:xfrm>
          <a:prstGeom prst="rect">
            <a:avLst/>
          </a:prstGeom>
          <a:noFill/>
        </p:spPr>
        <p:txBody>
          <a:bodyPr wrap="square" lIns="73152" tIns="73152" rIns="73152" bIns="73152">
            <a:spAutoFit/>
          </a:bodyPr>
          <a:lstStyle/>
          <a:p>
            <a:pPr>
              <a:lnSpc>
                <a:spcPct val="115000"/>
              </a:lnSpc>
              <a:spcAft>
                <a:spcPts val="420"/>
              </a:spcAft>
            </a:pPr>
            <a:r>
              <a:rPr sz="919" b="1">
                <a:solidFill>
                  <a:srgbClr val="1E3A8A"/>
                </a:solidFill>
                <a:latin typeface="Microsoft YaHei"/>
              </a:rPr>
              <a:t>▸ </a:t>
            </a:r>
            <a:r>
              <a:rPr sz="919" b="1">
                <a:solidFill>
                  <a:srgbClr val="1E3A8A"/>
                </a:solidFill>
                <a:latin typeface="Microsoft YaHei"/>
              </a:rPr>
              <a:t>1. libkvc_runtime (运行库)：</a:t>
            </a:r>
            <a:r>
              <a:rPr sz="919">
                <a:solidFill>
                  <a:srgbClr val="1E293B"/>
                </a:solidFill>
                <a:latin typeface="Microsoft YaHei"/>
              </a:rPr>
              <a:t>嵌入推理框架工作进程内存中；负责本地前缀哈希、ART 树快照匹配与微秒决策；零 IPC 开销</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2. kvc-node (节点代理)：</a:t>
            </a:r>
            <a:r>
              <a:rPr sz="919">
                <a:solidFill>
                  <a:srgbClr val="1E293B"/>
                </a:solidFill>
                <a:latin typeface="Microsoft YaHei"/>
              </a:rPr>
              <a:t>每台计算/存储节点独占部署守护进程；独占物理绑核；负责跨进程共享内存租约 Epoch 管理与介质分配；P99 &lt; 50µs</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3. kvc-directory (分片目录)：</a:t>
            </a:r>
            <a:r>
              <a:rPr sz="919">
                <a:solidFill>
                  <a:srgbClr val="1E293B"/>
                </a:solidFill>
                <a:latin typeface="Microsoft YaHei"/>
              </a:rPr>
              <a:t>3 节点 Raft 集群独立部署；管理 Slot 0..1023 哈希分片与对象副本视图；仅供发现，不碰正文；P99 &lt; 200µs</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4. etcd (持久配置集群)：</a:t>
            </a:r>
            <a:r>
              <a:rPr sz="919">
                <a:solidFill>
                  <a:srgbClr val="1E293B"/>
                </a:solidFill>
                <a:latin typeface="Microsoft YaHei"/>
              </a:rPr>
              <a:t>独立部署；保存静态网络拓扑、节点心跳与配额规则；系统启动一次性加载，绝对禁止进入单请求关键路径</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5. kvc-controller (管理控制器)：</a:t>
            </a:r>
            <a:r>
              <a:rPr sz="919">
                <a:solidFill>
                  <a:srgbClr val="1E293B"/>
                </a:solidFill>
                <a:latin typeface="Microsoft YaHei"/>
              </a:rPr>
              <a:t>主备高可用部署；负责后台容量均衡、冷热迁移策略下发与指标汇总；异步流转，不干扰在线推理</a:t>
            </a:r>
          </a:p>
        </p:txBody>
      </p:sp>
      <p:sp>
        <p:nvSpPr>
          <p:cNvPr id="10" name="Rectangle 9"/>
          <p:cNvSpPr/>
          <p:nvPr/>
        </p:nvSpPr>
        <p:spPr>
          <a:xfrm>
            <a:off x="457200" y="5897880"/>
            <a:ext cx="11277295" cy="62179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5897880"/>
            <a:ext cx="73152" cy="62179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989320"/>
            <a:ext cx="11002975" cy="438912"/>
          </a:xfrm>
          <a:prstGeom prst="rect">
            <a:avLst/>
          </a:prstGeom>
          <a:noFill/>
        </p:spPr>
        <p:txBody>
          <a:bodyPr wrap="square" lIns="0" tIns="0" rIns="0" bIns="0">
            <a:spAutoFit/>
          </a:bodyPr>
          <a:lstStyle/>
          <a:p>
            <a:pPr>
              <a:lnSpc>
                <a:spcPct val="115000"/>
              </a:lnSpc>
            </a:pPr>
            <a:r>
              <a:rPr sz="1200" b="1">
                <a:solidFill>
                  <a:srgbClr val="2563EB"/>
                </a:solidFill>
                <a:latin typeface="Microsoft YaHei"/>
              </a:rPr>
              <a:t>【核心结论】 </a:t>
            </a:r>
            <a:r>
              <a:rPr sz="1150" b="1">
                <a:solidFill>
                  <a:srgbClr val="1E293B"/>
                </a:solidFill>
                <a:latin typeface="Microsoft YaHei"/>
              </a:rPr>
              <a:t>高频控制由推理进程内运行库承载，资源管理与分片下沉至节点代理与目录，管理面不参与单请求转发。</a:t>
            </a:r>
            <a:r>
              <a:rPr sz="1150" b="1">
                <a:solidFill>
                  <a:srgbClr val="DC2626"/>
                </a:solidFill>
                <a:latin typeface="Microsoft YaHei"/>
              </a:rPr>
              <a:t>
在线推理高频路径绕开持久化存储。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专题三：推理请求从前缀查询到安全接入 9 步微秒时序</a:t>
            </a:r>
          </a:p>
          <a:p>
            <a:pPr>
              <a:spcBef>
                <a:spcPts val="300"/>
              </a:spcBef>
              <a:defRPr sz="1100">
                <a:solidFill>
                  <a:srgbClr val="475569"/>
                </a:solidFill>
                <a:latin typeface="Microsoft YaHei"/>
              </a:defRPr>
            </a:pPr>
            <a:r>
              <a:t>严格经历意图下发、候选发现、语义校验、成本决策、硬件直达与安全挂载 9 步闭环</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05 / 15 页</a:t>
            </a:r>
          </a:p>
        </p:txBody>
      </p:sp>
      <p:sp>
        <p:nvSpPr>
          <p:cNvPr id="4" name="Rectangle 3"/>
          <p:cNvSpPr/>
          <p:nvPr/>
        </p:nvSpPr>
        <p:spPr>
          <a:xfrm>
            <a:off x="457200" y="1078992"/>
            <a:ext cx="8412480" cy="468172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3_kvc_request_to_attach_sequence_flow.png"/>
          <p:cNvPicPr>
            <a:picLocks noChangeAspect="1"/>
          </p:cNvPicPr>
          <p:nvPr/>
        </p:nvPicPr>
        <p:blipFill>
          <a:blip r:embed="rId2"/>
          <a:stretch>
            <a:fillRect/>
          </a:stretch>
        </p:blipFill>
        <p:spPr>
          <a:xfrm>
            <a:off x="493776" y="1300766"/>
            <a:ext cx="8339328" cy="4238180"/>
          </a:xfrm>
          <a:prstGeom prst="rect">
            <a:avLst/>
          </a:prstGeom>
        </p:spPr>
      </p:pic>
      <p:sp>
        <p:nvSpPr>
          <p:cNvPr id="6" name="Rectangle 5"/>
          <p:cNvSpPr/>
          <p:nvPr/>
        </p:nvSpPr>
        <p:spPr>
          <a:xfrm>
            <a:off x="9006840" y="1078992"/>
            <a:ext cx="2724912" cy="468172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06840" y="1078992"/>
            <a:ext cx="2724912" cy="365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16568" y="1115568"/>
            <a:ext cx="2505456" cy="292608"/>
          </a:xfrm>
          <a:prstGeom prst="rect">
            <a:avLst/>
          </a:prstGeom>
          <a:noFill/>
        </p:spPr>
        <p:txBody>
          <a:bodyPr wrap="none" lIns="0" tIns="0" rIns="0" bIns="0">
            <a:spAutoFit/>
          </a:bodyPr>
          <a:lstStyle/>
          <a:p>
            <a:pPr>
              <a:defRPr sz="1150" b="1">
                <a:solidFill>
                  <a:srgbClr val="FFFFFF"/>
                </a:solidFill>
                <a:latin typeface="Microsoft YaHei"/>
              </a:defRPr>
            </a:pPr>
            <a:r>
              <a:t>9 步时序因果链与输入输出</a:t>
            </a:r>
          </a:p>
        </p:txBody>
      </p:sp>
      <p:sp>
        <p:nvSpPr>
          <p:cNvPr id="9" name="TextBox 8"/>
          <p:cNvSpPr txBox="1"/>
          <p:nvPr/>
        </p:nvSpPr>
        <p:spPr>
          <a:xfrm>
            <a:off x="9006840" y="1463040"/>
            <a:ext cx="2724912" cy="4270248"/>
          </a:xfrm>
          <a:prstGeom prst="rect">
            <a:avLst/>
          </a:prstGeom>
          <a:noFill/>
        </p:spPr>
        <p:txBody>
          <a:bodyPr wrap="square" lIns="73152" tIns="73152" rIns="73152" bIns="73152">
            <a:spAutoFit/>
          </a:bodyPr>
          <a:lstStyle/>
          <a:p>
            <a:pPr>
              <a:lnSpc>
                <a:spcPct val="115000"/>
              </a:lnSpc>
              <a:spcAft>
                <a:spcPts val="420"/>
              </a:spcAft>
            </a:pPr>
            <a:r>
              <a:rPr sz="919" b="1">
                <a:solidFill>
                  <a:srgbClr val="1E3A8A"/>
                </a:solidFill>
                <a:latin typeface="Microsoft YaHei"/>
              </a:rPr>
              <a:t>▸ </a:t>
            </a:r>
            <a:r>
              <a:rPr sz="919" b="1">
                <a:solidFill>
                  <a:srgbClr val="1E3A8A"/>
                </a:solidFill>
                <a:latin typeface="Microsoft YaHei"/>
              </a:rPr>
              <a:t>① 下发意图：</a:t>
            </a:r>
            <a:r>
              <a:rPr sz="919">
                <a:solidFill>
                  <a:srgbClr val="1E293B"/>
                </a:solidFill>
                <a:latin typeface="Microsoft YaHei"/>
              </a:rPr>
              <a:t>框架注册意图 ｜ 输入=Prompt Token 与 SLO 预算 ｜ 输出=KVAccessIntent 句柄</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② 前缀查询：</a:t>
            </a:r>
            <a:r>
              <a:rPr sz="919">
                <a:solidFill>
                  <a:srgbClr val="1E293B"/>
                </a:solidFill>
                <a:latin typeface="Microsoft YaHei"/>
              </a:rPr>
              <a:t>本地未命中查目录 ｜ 输入=前缀哈希序列 ｜ 输出=目录查询 RPC 请求</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③ 匹配候选：</a:t>
            </a:r>
            <a:r>
              <a:rPr sz="919">
                <a:solidFill>
                  <a:srgbClr val="1E293B"/>
                </a:solidFill>
                <a:latin typeface="Microsoft YaHei"/>
              </a:rPr>
              <a:t>定位远端副本 ｜ 输入=全局哈希槽分片 ｜ 输出=候选对象 ID 与副本提示</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④ 申请租约：</a:t>
            </a:r>
            <a:r>
              <a:rPr sz="919">
                <a:solidFill>
                  <a:srgbClr val="1E293B"/>
                </a:solidFill>
                <a:latin typeface="Microsoft YaHei"/>
              </a:rPr>
              <a:t>校验 6 维语义资格 ｜ 输入=模型/词表/模板哈希 ｜ 输出=租约申请请求</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⑤ 授予租约：</a:t>
            </a:r>
            <a:r>
              <a:rPr sz="919">
                <a:solidFill>
                  <a:srgbClr val="1E293B"/>
                </a:solidFill>
                <a:latin typeface="Microsoft YaHei"/>
              </a:rPr>
              <a:t>锁定回收屏障 ｜ 输入=对象代际 Epoch ｜ 输出=安全访问凭证 LeaseToken</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⑥ 成本决策：</a:t>
            </a:r>
            <a:r>
              <a:rPr sz="919">
                <a:solidFill>
                  <a:srgbClr val="1E293B"/>
                </a:solidFill>
                <a:latin typeface="Microsoft YaHei"/>
              </a:rPr>
              <a:t>QueryPlan 净收益核算 ｜ 输入=链路能力矩阵 ｜ 输出=最优路径描述符</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⑦ 散聚传输：</a:t>
            </a:r>
            <a:r>
              <a:rPr sz="919">
                <a:solidFill>
                  <a:srgbClr val="1E293B"/>
                </a:solidFill>
                <a:latin typeface="Microsoft YaHei"/>
              </a:rPr>
              <a:t>KPCL 驱动 DMA 直达 ｜ 输入=64B POD 描述符 ｜ 输出=显存传输完成 CQE</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⑧ 完成对账：</a:t>
            </a:r>
            <a:r>
              <a:rPr sz="919">
                <a:solidFill>
                  <a:srgbClr val="1E293B"/>
                </a:solidFill>
                <a:latin typeface="Microsoft YaHei"/>
              </a:rPr>
              <a:t>可见性核验与多卡同步 ｜ 输入=硬件完成中断 ｜ 输出=RankConsensus 就绪</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⑨ 安全挂载：</a:t>
            </a:r>
            <a:r>
              <a:rPr sz="919">
                <a:solidFill>
                  <a:srgbClr val="1E293B"/>
                </a:solidFill>
                <a:latin typeface="Microsoft YaHei"/>
              </a:rPr>
              <a:t>块表生效并启动推理 ｜ 输入=已校验物理块 ｜ 输出=PagedAttention 映射</a:t>
            </a:r>
          </a:p>
        </p:txBody>
      </p:sp>
      <p:sp>
        <p:nvSpPr>
          <p:cNvPr id="10" name="Rectangle 9"/>
          <p:cNvSpPr/>
          <p:nvPr/>
        </p:nvSpPr>
        <p:spPr>
          <a:xfrm>
            <a:off x="457200" y="5897880"/>
            <a:ext cx="11277295" cy="62179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5897880"/>
            <a:ext cx="73152" cy="62179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989320"/>
            <a:ext cx="11002975" cy="438912"/>
          </a:xfrm>
          <a:prstGeom prst="rect">
            <a:avLst/>
          </a:prstGeom>
          <a:noFill/>
        </p:spPr>
        <p:txBody>
          <a:bodyPr wrap="square" lIns="0" tIns="0" rIns="0" bIns="0">
            <a:spAutoFit/>
          </a:bodyPr>
          <a:lstStyle/>
          <a:p>
            <a:pPr>
              <a:lnSpc>
                <a:spcPct val="115000"/>
              </a:lnSpc>
            </a:pPr>
            <a:r>
              <a:rPr sz="1200" b="1">
                <a:solidFill>
                  <a:srgbClr val="2563EB"/>
                </a:solidFill>
                <a:latin typeface="Microsoft YaHei"/>
              </a:rPr>
              <a:t>【核心结论】 </a:t>
            </a:r>
            <a:r>
              <a:rPr sz="1150" b="1">
                <a:solidFill>
                  <a:srgbClr val="1E293B"/>
                </a:solidFill>
                <a:latin typeface="Microsoft YaHei"/>
              </a:rPr>
              <a:t>目录发现与消费授权严格分离；目标显存仅在收到硬件完成与可见性证据后方可接入；超时或失败主动回退至本地重算。</a:t>
            </a:r>
            <a:r>
              <a:rPr sz="1150" b="1">
                <a:solidFill>
                  <a:srgbClr val="DC2626"/>
                </a:solidFill>
                <a:latin typeface="Microsoft YaHei"/>
              </a:rPr>
              <a:t>
数据接入必须通过租约校验与硬件可见性对账。</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专题四：元数据体系与四层分级组织架构</a:t>
            </a:r>
          </a:p>
          <a:p>
            <a:pPr>
              <a:spcBef>
                <a:spcPts val="300"/>
              </a:spcBef>
              <a:defRPr sz="1100">
                <a:solidFill>
                  <a:srgbClr val="475569"/>
                </a:solidFill>
                <a:latin typeface="Microsoft YaHei"/>
              </a:defRPr>
            </a:pPr>
            <a:r>
              <a:t>四大权威源职责解耦，多核无锁只读快照与 alignas(64) 缓存行对齐消除伪共享争用</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06 / 15 页</a:t>
            </a:r>
          </a:p>
        </p:txBody>
      </p:sp>
      <p:sp>
        <p:nvSpPr>
          <p:cNvPr id="4" name="Rectangle 3"/>
          <p:cNvSpPr/>
          <p:nvPr/>
        </p:nvSpPr>
        <p:spPr>
          <a:xfrm>
            <a:off x="457200" y="1078992"/>
            <a:ext cx="8412480" cy="468172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6_kvc_metadata_hierarchy_and_lookup_flow.png"/>
          <p:cNvPicPr>
            <a:picLocks noChangeAspect="1"/>
          </p:cNvPicPr>
          <p:nvPr/>
        </p:nvPicPr>
        <p:blipFill>
          <a:blip r:embed="rId2"/>
          <a:stretch>
            <a:fillRect/>
          </a:stretch>
        </p:blipFill>
        <p:spPr>
          <a:xfrm>
            <a:off x="493776" y="1300766"/>
            <a:ext cx="8339328" cy="4238180"/>
          </a:xfrm>
          <a:prstGeom prst="rect">
            <a:avLst/>
          </a:prstGeom>
        </p:spPr>
      </p:pic>
      <p:sp>
        <p:nvSpPr>
          <p:cNvPr id="6" name="Rectangle 5"/>
          <p:cNvSpPr/>
          <p:nvPr/>
        </p:nvSpPr>
        <p:spPr>
          <a:xfrm>
            <a:off x="9006840" y="1078992"/>
            <a:ext cx="2724912" cy="468172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06840" y="1078992"/>
            <a:ext cx="2724912" cy="365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16568" y="1115568"/>
            <a:ext cx="2505456" cy="292608"/>
          </a:xfrm>
          <a:prstGeom prst="rect">
            <a:avLst/>
          </a:prstGeom>
          <a:noFill/>
        </p:spPr>
        <p:txBody>
          <a:bodyPr wrap="none" lIns="0" tIns="0" rIns="0" bIns="0">
            <a:spAutoFit/>
          </a:bodyPr>
          <a:lstStyle/>
          <a:p>
            <a:pPr>
              <a:defRPr sz="1150" b="1">
                <a:solidFill>
                  <a:srgbClr val="FFFFFF"/>
                </a:solidFill>
                <a:latin typeface="Microsoft YaHei"/>
              </a:defRPr>
            </a:pPr>
            <a:r>
              <a:t>四大权威源与访问模型解析</a:t>
            </a:r>
          </a:p>
        </p:txBody>
      </p:sp>
      <p:sp>
        <p:nvSpPr>
          <p:cNvPr id="9" name="TextBox 8"/>
          <p:cNvSpPr txBox="1"/>
          <p:nvPr/>
        </p:nvSpPr>
        <p:spPr>
          <a:xfrm>
            <a:off x="9006840" y="1463040"/>
            <a:ext cx="2724912" cy="4270248"/>
          </a:xfrm>
          <a:prstGeom prst="rect">
            <a:avLst/>
          </a:prstGeom>
          <a:noFill/>
        </p:spPr>
        <p:txBody>
          <a:bodyPr wrap="square" lIns="73152" tIns="73152" rIns="73152" bIns="73152">
            <a:spAutoFit/>
          </a:bodyPr>
          <a:lstStyle/>
          <a:p>
            <a:pPr>
              <a:lnSpc>
                <a:spcPct val="115000"/>
              </a:lnSpc>
              <a:spcAft>
                <a:spcPts val="420"/>
              </a:spcAft>
            </a:pPr>
            <a:r>
              <a:rPr sz="919" b="1">
                <a:solidFill>
                  <a:srgbClr val="1E3A8A"/>
                </a:solidFill>
                <a:latin typeface="Microsoft YaHei"/>
              </a:rPr>
              <a:t>▸ </a:t>
            </a:r>
            <a:r>
              <a:rPr sz="919" b="1">
                <a:solidFill>
                  <a:srgbClr val="1E3A8A"/>
                </a:solidFill>
                <a:latin typeface="Microsoft YaHei"/>
              </a:rPr>
              <a:t>1. 本地极速索引 (libkvc)：</a:t>
            </a:r>
            <a:r>
              <a:rPr sz="919">
                <a:solidFill>
                  <a:srgbClr val="1E293B"/>
                </a:solidFill>
                <a:latin typeface="Microsoft YaHei"/>
              </a:rPr>
              <a:t>权威源=工作进程内存 ｜ Token 64位哈希与 ART 快照 ｜ 无锁只读 P99 &lt; 2µs ｜ alignas(64) 对齐消除伪共享</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2. 节点代理状态 (kvc-node)：</a:t>
            </a:r>
            <a:r>
              <a:rPr sz="919">
                <a:solidFill>
                  <a:srgbClr val="1E293B"/>
                </a:solidFill>
                <a:latin typeface="Microsoft YaHei"/>
              </a:rPr>
              <a:t>权威源=节点专属守护进程 ｜ 不可变对象持有权与租约 Epoch ｜ POSIX 共享内存 P99 &lt; 50µs ｜ 分段锁防冲突</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3. 分片目录集群 (directory)：</a:t>
            </a:r>
            <a:r>
              <a:rPr sz="919">
                <a:solidFill>
                  <a:srgbClr val="1E293B"/>
                </a:solidFill>
                <a:latin typeface="Microsoft YaHei"/>
              </a:rPr>
              <a:t>权威源=3 节点 Raft 集群 ｜ 全局 Slot 0..1023 哈希分片 ｜ Follower 只读镜像 P99 &lt; 200µs ｜ 二级缓存削峰 80%</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4. 持久一致配置 (etcd)：</a:t>
            </a:r>
            <a:r>
              <a:rPr sz="919">
                <a:solidFill>
                  <a:srgbClr val="1E293B"/>
                </a:solidFill>
                <a:latin typeface="Microsoft YaHei"/>
              </a:rPr>
              <a:t>权威源=etcd 独立物理节点 ｜ 静态网络拓扑与存活心跳 ｜ 低频强一致事务 ｜ 严禁入在线热路径，脑裂本地快照降级</a:t>
            </a:r>
          </a:p>
        </p:txBody>
      </p:sp>
      <p:sp>
        <p:nvSpPr>
          <p:cNvPr id="10" name="Rectangle 9"/>
          <p:cNvSpPr/>
          <p:nvPr/>
        </p:nvSpPr>
        <p:spPr>
          <a:xfrm>
            <a:off x="457200" y="5897880"/>
            <a:ext cx="11277295" cy="62179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5897880"/>
            <a:ext cx="73152" cy="62179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989320"/>
            <a:ext cx="11002975" cy="438912"/>
          </a:xfrm>
          <a:prstGeom prst="rect">
            <a:avLst/>
          </a:prstGeom>
          <a:noFill/>
        </p:spPr>
        <p:txBody>
          <a:bodyPr wrap="square" lIns="0" tIns="0" rIns="0" bIns="0">
            <a:spAutoFit/>
          </a:bodyPr>
          <a:lstStyle/>
          <a:p>
            <a:pPr>
              <a:lnSpc>
                <a:spcPct val="115000"/>
              </a:lnSpc>
            </a:pPr>
            <a:r>
              <a:rPr sz="1200" b="1">
                <a:solidFill>
                  <a:srgbClr val="2563EB"/>
                </a:solidFill>
                <a:latin typeface="Microsoft YaHei"/>
              </a:rPr>
              <a:t>【核心结论】 </a:t>
            </a:r>
            <a:r>
              <a:rPr sz="1150" b="1">
                <a:solidFill>
                  <a:srgbClr val="1E293B"/>
                </a:solidFill>
                <a:latin typeface="Microsoft YaHei"/>
              </a:rPr>
              <a:t>元数据清晰划分权威写入、本地查询与持久化三者职责；关键结构体强制 alignas(64) 对齐，消除伪共享争用。</a:t>
            </a:r>
            <a:r>
              <a:rPr sz="1150" b="1">
                <a:solidFill>
                  <a:srgbClr val="DC2626"/>
                </a:solidFill>
                <a:latin typeface="Microsoft YaHei"/>
              </a:rPr>
              <a:t>
高频控制面采用 POSIX 共享内存与无锁原子位图。</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专题五：对象全生命周期状态机与两阶段发布/RCU双层延迟回收</a:t>
            </a:r>
          </a:p>
          <a:p>
            <a:pPr>
              <a:spcBef>
                <a:spcPts val="300"/>
              </a:spcBef>
              <a:defRPr sz="1100">
                <a:solidFill>
                  <a:srgbClr val="475569"/>
                </a:solidFill>
                <a:latin typeface="Microsoft YaHei"/>
              </a:defRPr>
            </a:pPr>
            <a:r>
              <a:t>正文发布后严格不可变，两阶段发布防范半写脏块，通过 CPU 读者与硬件在途 I/O 双层宽限期保障安全释放</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07 / 15 页</a:t>
            </a:r>
          </a:p>
        </p:txBody>
      </p:sp>
      <p:sp>
        <p:nvSpPr>
          <p:cNvPr id="4" name="Rectangle 3"/>
          <p:cNvSpPr/>
          <p:nvPr/>
        </p:nvSpPr>
        <p:spPr>
          <a:xfrm>
            <a:off x="457200" y="1078992"/>
            <a:ext cx="8412480" cy="468172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4_kvc_object_lifecycle_and_rcu_gc.png"/>
          <p:cNvPicPr>
            <a:picLocks noChangeAspect="1"/>
          </p:cNvPicPr>
          <p:nvPr/>
        </p:nvPicPr>
        <p:blipFill>
          <a:blip r:embed="rId2"/>
          <a:stretch>
            <a:fillRect/>
          </a:stretch>
        </p:blipFill>
        <p:spPr>
          <a:xfrm>
            <a:off x="493776" y="1300766"/>
            <a:ext cx="8339328" cy="4238180"/>
          </a:xfrm>
          <a:prstGeom prst="rect">
            <a:avLst/>
          </a:prstGeom>
        </p:spPr>
      </p:pic>
      <p:sp>
        <p:nvSpPr>
          <p:cNvPr id="6" name="Rectangle 5"/>
          <p:cNvSpPr/>
          <p:nvPr/>
        </p:nvSpPr>
        <p:spPr>
          <a:xfrm>
            <a:off x="9006840" y="1078992"/>
            <a:ext cx="2724912" cy="468172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06840" y="1078992"/>
            <a:ext cx="2724912" cy="365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16568" y="1115568"/>
            <a:ext cx="2505456" cy="292608"/>
          </a:xfrm>
          <a:prstGeom prst="rect">
            <a:avLst/>
          </a:prstGeom>
          <a:noFill/>
        </p:spPr>
        <p:txBody>
          <a:bodyPr wrap="none" lIns="0" tIns="0" rIns="0" bIns="0">
            <a:spAutoFit/>
          </a:bodyPr>
          <a:lstStyle/>
          <a:p>
            <a:pPr>
              <a:defRPr sz="1150" b="1">
                <a:solidFill>
                  <a:srgbClr val="FFFFFF"/>
                </a:solidFill>
                <a:latin typeface="Microsoft YaHei"/>
              </a:defRPr>
            </a:pPr>
            <a:r>
              <a:t>对象生命周期与安全回收机制</a:t>
            </a:r>
          </a:p>
        </p:txBody>
      </p:sp>
      <p:sp>
        <p:nvSpPr>
          <p:cNvPr id="9" name="TextBox 8"/>
          <p:cNvSpPr txBox="1"/>
          <p:nvPr/>
        </p:nvSpPr>
        <p:spPr>
          <a:xfrm>
            <a:off x="9006840" y="1463040"/>
            <a:ext cx="2724912" cy="4270248"/>
          </a:xfrm>
          <a:prstGeom prst="rect">
            <a:avLst/>
          </a:prstGeom>
          <a:noFill/>
        </p:spPr>
        <p:txBody>
          <a:bodyPr wrap="square" lIns="73152" tIns="73152" rIns="73152" bIns="73152">
            <a:spAutoFit/>
          </a:bodyPr>
          <a:lstStyle/>
          <a:p>
            <a:pPr>
              <a:lnSpc>
                <a:spcPct val="115000"/>
              </a:lnSpc>
              <a:spcAft>
                <a:spcPts val="420"/>
              </a:spcAft>
            </a:pPr>
            <a:r>
              <a:rPr sz="919" b="1">
                <a:solidFill>
                  <a:srgbClr val="1E3A8A"/>
                </a:solidFill>
                <a:latin typeface="Microsoft YaHei"/>
              </a:rPr>
              <a:t>▸ </a:t>
            </a:r>
            <a:r>
              <a:rPr sz="919" b="1">
                <a:solidFill>
                  <a:srgbClr val="1E3A8A"/>
                </a:solidFill>
                <a:latin typeface="Microsoft YaHei"/>
              </a:rPr>
              <a:t>正文发布后严格不可变：</a:t>
            </a:r>
            <a:r>
              <a:rPr sz="919">
                <a:solidFill>
                  <a:srgbClr val="1E293B"/>
                </a:solidFill>
                <a:latin typeface="Microsoft YaHei"/>
              </a:rPr>
              <a:t>对象正文一旦通过 PREPARING -&gt; COMMITTED 提交，正文内容物理只读，消除原地写覆盖与并发写冲突</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两阶段安全发布：</a:t>
            </a:r>
            <a:r>
              <a:rPr sz="919">
                <a:solidFill>
                  <a:srgbClr val="1E293B"/>
                </a:solidFill>
                <a:latin typeface="Microsoft YaHei"/>
              </a:rPr>
              <a:t>Phase 1 数据面 DMA 传输完成并获取硬件完成证据 (CQE)；Phase 2 校验通过后原子翻转 Ready 就绪位并注册目录，避免读取未完成脏块</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逻辑墓碑与租约代际：</a:t>
            </a:r>
            <a:r>
              <a:rPr sz="919">
                <a:solidFill>
                  <a:srgbClr val="1E293B"/>
                </a:solidFill>
                <a:latin typeface="Microsoft YaHei"/>
              </a:rPr>
              <a:t>对象失效或触发 LRU 淘汰时，原子 CAS 置为 TOMBSTONE 状态，阻断任何新请求持有引用；历史持有者继续依租约代际完成生命周期</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RCU 双层宽限期仲裁：</a:t>
            </a:r>
            <a:r>
              <a:rPr sz="919">
                <a:solidFill>
                  <a:srgbClr val="1E293B"/>
                </a:solidFill>
                <a:latin typeface="Microsoft YaHei"/>
              </a:rPr>
              <a:t>Layer 1 等待 Host CPU 所有读线程退出临界区；Layer 2 等待底层网卡与 SSD 硬件在途 DMA/I/O 流彻底排空；双层屏障就绪后物理释放</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生产级安全底线：</a:t>
            </a:r>
            <a:r>
              <a:rPr sz="919">
                <a:solidFill>
                  <a:srgbClr val="1E293B"/>
                </a:solidFill>
                <a:latin typeface="Microsoft YaHei"/>
              </a:rPr>
              <a:t>防范 UAF 内存越界与悬空指针，保障数据安全与状态一致</a:t>
            </a:r>
          </a:p>
        </p:txBody>
      </p:sp>
      <p:sp>
        <p:nvSpPr>
          <p:cNvPr id="10" name="Rectangle 9"/>
          <p:cNvSpPr/>
          <p:nvPr/>
        </p:nvSpPr>
        <p:spPr>
          <a:xfrm>
            <a:off x="457200" y="5897880"/>
            <a:ext cx="11277295" cy="62179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5897880"/>
            <a:ext cx="73152" cy="62179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989320"/>
            <a:ext cx="11002975" cy="438912"/>
          </a:xfrm>
          <a:prstGeom prst="rect">
            <a:avLst/>
          </a:prstGeom>
          <a:noFill/>
        </p:spPr>
        <p:txBody>
          <a:bodyPr wrap="square" lIns="0" tIns="0" rIns="0" bIns="0">
            <a:spAutoFit/>
          </a:bodyPr>
          <a:lstStyle/>
          <a:p>
            <a:pPr>
              <a:lnSpc>
                <a:spcPct val="115000"/>
              </a:lnSpc>
            </a:pPr>
            <a:r>
              <a:rPr sz="1200" b="1">
                <a:solidFill>
                  <a:srgbClr val="2563EB"/>
                </a:solidFill>
                <a:latin typeface="Microsoft YaHei"/>
              </a:rPr>
              <a:t>【核心结论】 </a:t>
            </a:r>
            <a:r>
              <a:rPr sz="1150" b="1">
                <a:solidFill>
                  <a:srgbClr val="1E293B"/>
                </a:solidFill>
                <a:latin typeface="Microsoft YaHei"/>
              </a:rPr>
              <a:t>对象一旦提交发布则正文严格不可变，杜绝原地修改；物理释放必须等待 Host CPU 读线程退出与底层硬件在途 I/O 排空双层宽限期。</a:t>
            </a:r>
            <a:r>
              <a:rPr sz="1150" b="1">
                <a:solidFill>
                  <a:srgbClr val="DC2626"/>
                </a:solidFill>
                <a:latin typeface="Microsoft YaHei"/>
              </a:rPr>
              <a:t>
消除 Use-After-Free 与悬空引用风险。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专题六：三面物理隔离与 Payload Bypass DDR 硬件直通路</a:t>
            </a:r>
          </a:p>
          <a:p>
            <a:pPr>
              <a:spcBef>
                <a:spcPts val="300"/>
              </a:spcBef>
              <a:defRPr sz="1100">
                <a:solidFill>
                  <a:srgbClr val="475569"/>
                </a:solidFill>
                <a:latin typeface="Microsoft YaHei"/>
              </a:defRPr>
            </a:pPr>
            <a:r>
              <a:t>管理面、控制面、数据面三面物理资源严格正交，数据直接流转于网卡/SSD 与显存之间完全绕过主机内存</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08 / 15 页</a:t>
            </a:r>
          </a:p>
        </p:txBody>
      </p:sp>
      <p:sp>
        <p:nvSpPr>
          <p:cNvPr id="4" name="Rectangle 3"/>
          <p:cNvSpPr/>
          <p:nvPr/>
        </p:nvSpPr>
        <p:spPr>
          <a:xfrm>
            <a:off x="457200" y="1078992"/>
            <a:ext cx="8412480" cy="468172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7_kvc_three_layer_isolation_and_datapath.png"/>
          <p:cNvPicPr>
            <a:picLocks noChangeAspect="1"/>
          </p:cNvPicPr>
          <p:nvPr/>
        </p:nvPicPr>
        <p:blipFill>
          <a:blip r:embed="rId2"/>
          <a:stretch>
            <a:fillRect/>
          </a:stretch>
        </p:blipFill>
        <p:spPr>
          <a:xfrm>
            <a:off x="493776" y="1300766"/>
            <a:ext cx="8339328" cy="4238180"/>
          </a:xfrm>
          <a:prstGeom prst="rect">
            <a:avLst/>
          </a:prstGeom>
        </p:spPr>
      </p:pic>
      <p:sp>
        <p:nvSpPr>
          <p:cNvPr id="6" name="Rectangle 5"/>
          <p:cNvSpPr/>
          <p:nvPr/>
        </p:nvSpPr>
        <p:spPr>
          <a:xfrm>
            <a:off x="9006840" y="1078992"/>
            <a:ext cx="2724912" cy="468172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06840" y="1078992"/>
            <a:ext cx="2724912" cy="365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16568" y="1115568"/>
            <a:ext cx="2505456" cy="292608"/>
          </a:xfrm>
          <a:prstGeom prst="rect">
            <a:avLst/>
          </a:prstGeom>
          <a:noFill/>
        </p:spPr>
        <p:txBody>
          <a:bodyPr wrap="none" lIns="0" tIns="0" rIns="0" bIns="0">
            <a:spAutoFit/>
          </a:bodyPr>
          <a:lstStyle/>
          <a:p>
            <a:pPr>
              <a:defRPr sz="1150" b="1">
                <a:solidFill>
                  <a:srgbClr val="FFFFFF"/>
                </a:solidFill>
                <a:latin typeface="Microsoft YaHei"/>
              </a:defRPr>
            </a:pPr>
            <a:r>
              <a:t>三面物理隔离与直达通路解析</a:t>
            </a:r>
          </a:p>
        </p:txBody>
      </p:sp>
      <p:sp>
        <p:nvSpPr>
          <p:cNvPr id="9" name="TextBox 8"/>
          <p:cNvSpPr txBox="1"/>
          <p:nvPr/>
        </p:nvSpPr>
        <p:spPr>
          <a:xfrm>
            <a:off x="9006840" y="1463040"/>
            <a:ext cx="2724912" cy="4270248"/>
          </a:xfrm>
          <a:prstGeom prst="rect">
            <a:avLst/>
          </a:prstGeom>
          <a:noFill/>
        </p:spPr>
        <p:txBody>
          <a:bodyPr wrap="square" lIns="73152" tIns="73152" rIns="73152" bIns="73152">
            <a:spAutoFit/>
          </a:bodyPr>
          <a:lstStyle/>
          <a:p>
            <a:pPr>
              <a:lnSpc>
                <a:spcPct val="115000"/>
              </a:lnSpc>
              <a:spcAft>
                <a:spcPts val="420"/>
              </a:spcAft>
            </a:pPr>
            <a:r>
              <a:rPr sz="919" b="1">
                <a:solidFill>
                  <a:srgbClr val="1E3A8A"/>
                </a:solidFill>
                <a:latin typeface="Microsoft YaHei"/>
              </a:rPr>
              <a:t>▸ </a:t>
            </a:r>
            <a:r>
              <a:rPr sz="919" b="1">
                <a:solidFill>
                  <a:srgbClr val="1E3A8A"/>
                </a:solidFill>
                <a:latin typeface="Microsoft YaHei"/>
              </a:rPr>
              <a:t>管理面物理隔离：</a:t>
            </a:r>
            <a:r>
              <a:rPr sz="919">
                <a:solidFill>
                  <a:srgbClr val="1E293B"/>
                </a:solidFill>
                <a:latin typeface="Microsoft YaHei"/>
              </a:rPr>
              <a:t>etcd 与 Controller 独立节点部署；仅负责拓扑维护与后台均衡；心跳超时由节点代理本地兜底，故障完全不传导至在线业务</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控制面微秒决策：</a:t>
            </a:r>
            <a:r>
              <a:rPr sz="919">
                <a:solidFill>
                  <a:srgbClr val="1E293B"/>
                </a:solidFill>
                <a:latin typeface="Microsoft YaHei"/>
              </a:rPr>
              <a:t>libkvc 独占绑定计算核；依托无锁 ART 树与共享内存，信令交互全在内存微秒完成，P99 &lt; 5µs，严格不承载正文搬运</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数据面零拷贝直通：</a:t>
            </a:r>
            <a:r>
              <a:rPr sz="919">
                <a:solidFill>
                  <a:srgbClr val="1E293B"/>
                </a:solidFill>
                <a:latin typeface="Microsoft YaHei"/>
              </a:rPr>
              <a:t>数据直接在 NPU HBM 与 NVMe SSD/网卡间通过 PCIe DMA 流转，Host CPU 零数据拷贝（CPU 仅负责下发控制指令，不参与正文搬运）</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网络硬件 QoS 双轨：</a:t>
            </a:r>
            <a:r>
              <a:rPr sz="919">
                <a:solidFill>
                  <a:srgbClr val="1E293B"/>
                </a:solidFill>
                <a:latin typeface="Microsoft YaHei"/>
              </a:rPr>
              <a:t>借助 DSCP/CoS 映射，在线前台高优流量绑定 TC0 队列；后台冷数据换出与分层绑定 TC1 队列，确保前台 TPOT 干扰率 &lt; 3%</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介质非对称分层：</a:t>
            </a:r>
            <a:r>
              <a:rPr sz="919">
                <a:solidFill>
                  <a:srgbClr val="1E293B"/>
                </a:solidFill>
                <a:latin typeface="Microsoft YaHei"/>
              </a:rPr>
              <a:t>以 NPU 显存热执行与 NVMe 裸盘冷沉淀为主路径；Host DDR 仅作容灾缓冲，消除多级总线争用</a:t>
            </a:r>
          </a:p>
        </p:txBody>
      </p:sp>
      <p:sp>
        <p:nvSpPr>
          <p:cNvPr id="10" name="Rectangle 9"/>
          <p:cNvSpPr/>
          <p:nvPr/>
        </p:nvSpPr>
        <p:spPr>
          <a:xfrm>
            <a:off x="457200" y="5897880"/>
            <a:ext cx="11277295" cy="62179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5897880"/>
            <a:ext cx="73152" cy="62179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989320"/>
            <a:ext cx="11002975" cy="438912"/>
          </a:xfrm>
          <a:prstGeom prst="rect">
            <a:avLst/>
          </a:prstGeom>
          <a:noFill/>
        </p:spPr>
        <p:txBody>
          <a:bodyPr wrap="square" lIns="0" tIns="0" rIns="0" bIns="0">
            <a:spAutoFit/>
          </a:bodyPr>
          <a:lstStyle/>
          <a:p>
            <a:pPr>
              <a:lnSpc>
                <a:spcPct val="115000"/>
              </a:lnSpc>
            </a:pPr>
            <a:r>
              <a:rPr sz="1200" b="1">
                <a:solidFill>
                  <a:srgbClr val="2563EB"/>
                </a:solidFill>
                <a:latin typeface="Microsoft YaHei"/>
              </a:rPr>
              <a:t>【核心结论】 </a:t>
            </a:r>
            <a:r>
              <a:rPr sz="1150" b="1">
                <a:solidFill>
                  <a:srgbClr val="1E293B"/>
                </a:solidFill>
                <a:latin typeface="Microsoft YaHei"/>
              </a:rPr>
              <a:t>数据流严格绕过主机内存 (Payload Bypass DDR)，Host CPU 仅负责控制调度不碰正文；硬件 QoS 队列杜绝后台数据流干扰前台在线推理。</a:t>
            </a:r>
            <a:r>
              <a:rPr sz="1150" b="1">
                <a:solidFill>
                  <a:srgbClr val="DC2626"/>
                </a:solidFill>
                <a:latin typeface="Microsoft YaHei"/>
              </a:rPr>
              <a:t>
主路径以 NPU HBM 与 NVMe SSD 裸盘直达为主。</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专题七：12 类业务场景推拉模式映射与物理排空屏障</a:t>
            </a:r>
          </a:p>
          <a:p>
            <a:pPr>
              <a:spcBef>
                <a:spcPts val="300"/>
              </a:spcBef>
              <a:defRPr sz="1100">
                <a:solidFill>
                  <a:srgbClr val="475569"/>
                </a:solidFill>
                <a:latin typeface="Microsoft YaHei"/>
              </a:defRPr>
            </a:pPr>
            <a:r>
              <a:t>区分确定性热点异步推送与突发长尾按需拉取，前置净收益评估与硬件排空屏障保障显存安全</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09 / 15 页</a:t>
            </a:r>
          </a:p>
        </p:txBody>
      </p:sp>
      <p:sp>
        <p:nvSpPr>
          <p:cNvPr id="4" name="Rectangle 3"/>
          <p:cNvSpPr/>
          <p:nvPr/>
        </p:nvSpPr>
        <p:spPr>
          <a:xfrm>
            <a:off x="457200" y="1078992"/>
            <a:ext cx="8412480" cy="468172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8_kvc_inference_scenarios_and_causal_chains.png"/>
          <p:cNvPicPr>
            <a:picLocks noChangeAspect="1"/>
          </p:cNvPicPr>
          <p:nvPr/>
        </p:nvPicPr>
        <p:blipFill>
          <a:blip r:embed="rId2"/>
          <a:stretch>
            <a:fillRect/>
          </a:stretch>
        </p:blipFill>
        <p:spPr>
          <a:xfrm>
            <a:off x="493776" y="1300766"/>
            <a:ext cx="8339328" cy="4238180"/>
          </a:xfrm>
          <a:prstGeom prst="rect">
            <a:avLst/>
          </a:prstGeom>
        </p:spPr>
      </p:pic>
      <p:sp>
        <p:nvSpPr>
          <p:cNvPr id="6" name="Rectangle 5"/>
          <p:cNvSpPr/>
          <p:nvPr/>
        </p:nvSpPr>
        <p:spPr>
          <a:xfrm>
            <a:off x="9006840" y="1078992"/>
            <a:ext cx="2724912" cy="468172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06840" y="1078992"/>
            <a:ext cx="2724912" cy="365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16568" y="1115568"/>
            <a:ext cx="2505456" cy="292608"/>
          </a:xfrm>
          <a:prstGeom prst="rect">
            <a:avLst/>
          </a:prstGeom>
          <a:noFill/>
        </p:spPr>
        <p:txBody>
          <a:bodyPr wrap="none" lIns="0" tIns="0" rIns="0" bIns="0">
            <a:spAutoFit/>
          </a:bodyPr>
          <a:lstStyle/>
          <a:p>
            <a:pPr>
              <a:defRPr sz="1150" b="1">
                <a:solidFill>
                  <a:srgbClr val="FFFFFF"/>
                </a:solidFill>
                <a:latin typeface="Microsoft YaHei"/>
              </a:defRPr>
            </a:pPr>
            <a:r>
              <a:t>场景映射与因果链闭环解析</a:t>
            </a:r>
          </a:p>
        </p:txBody>
      </p:sp>
      <p:sp>
        <p:nvSpPr>
          <p:cNvPr id="9" name="TextBox 8"/>
          <p:cNvSpPr txBox="1"/>
          <p:nvPr/>
        </p:nvSpPr>
        <p:spPr>
          <a:xfrm>
            <a:off x="9006840" y="1463040"/>
            <a:ext cx="2724912" cy="4270248"/>
          </a:xfrm>
          <a:prstGeom prst="rect">
            <a:avLst/>
          </a:prstGeom>
          <a:noFill/>
        </p:spPr>
        <p:txBody>
          <a:bodyPr wrap="square" lIns="73152" tIns="73152" rIns="73152" bIns="73152">
            <a:spAutoFit/>
          </a:bodyPr>
          <a:lstStyle/>
          <a:p>
            <a:pPr>
              <a:lnSpc>
                <a:spcPct val="115000"/>
              </a:lnSpc>
              <a:spcAft>
                <a:spcPts val="420"/>
              </a:spcAft>
            </a:pPr>
            <a:r>
              <a:rPr sz="919" b="1">
                <a:solidFill>
                  <a:srgbClr val="1E3A8A"/>
                </a:solidFill>
                <a:latin typeface="Microsoft YaHei"/>
              </a:rPr>
              <a:t>▸ </a:t>
            </a:r>
            <a:r>
              <a:rPr sz="919" b="1">
                <a:solidFill>
                  <a:srgbClr val="1E3A8A"/>
                </a:solidFill>
                <a:latin typeface="Microsoft YaHei"/>
              </a:rPr>
              <a:t>12 类场景推拉模式映射：</a:t>
            </a:r>
            <a:r>
              <a:rPr sz="919">
                <a:solidFill>
                  <a:srgbClr val="1E293B"/>
                </a:solidFill>
                <a:latin typeface="Microsoft YaHei"/>
              </a:rPr>
              <a:t>S01~S04 确定性场景（固定 Prompt、系统级 Agent）走提前异步 Push 推送；S05~S12 突发长尾场景走动态按需 Pull 拉取</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前置动态选路决策：</a:t>
            </a:r>
            <a:r>
              <a:rPr sz="919">
                <a:solidFill>
                  <a:srgbClr val="1E293B"/>
                </a:solidFill>
                <a:latin typeface="Microsoft YaHei"/>
              </a:rPr>
              <a:t>QueryPlan 实时比对：拉取加载总开销 &lt; 本地直接重算耗时；仅在获得明确净加速收益时执行加载，否则主动回退至本地重算</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请求因果链闭环：</a:t>
            </a:r>
            <a:r>
              <a:rPr sz="919">
                <a:solidFill>
                  <a:srgbClr val="1E293B"/>
                </a:solidFill>
                <a:latin typeface="Microsoft YaHei"/>
              </a:rPr>
              <a:t>严格经历“意图下发 -&gt; 候选发现 -&gt; 语义校验 -&gt; 成本决策 -&gt; 硬件直达 -&gt; 完成对账 -&gt; 安全接入”7 大物理因果阶段，无一缺漏</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物理排空屏障：</a:t>
            </a:r>
            <a:r>
              <a:rPr sz="919">
                <a:solidFill>
                  <a:srgbClr val="1E293B"/>
                </a:solidFill>
                <a:latin typeface="Microsoft YaHei"/>
              </a:rPr>
              <a:t>客户端取消或超时时触发硬件排空屏障；设备未完成在途 DMA 前严禁复用显存，杜绝野指针</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自适应降级兜底：</a:t>
            </a:r>
            <a:r>
              <a:rPr sz="919">
                <a:solidFill>
                  <a:srgbClr val="1E293B"/>
                </a:solidFill>
                <a:latin typeface="Microsoft YaHei"/>
              </a:rPr>
              <a:t>目录抖动或链路拥塞时 5µs 内主动熔断切回本地重算，保障首字延迟 TTFT</a:t>
            </a:r>
          </a:p>
        </p:txBody>
      </p:sp>
      <p:sp>
        <p:nvSpPr>
          <p:cNvPr id="10" name="Rectangle 9"/>
          <p:cNvSpPr/>
          <p:nvPr/>
        </p:nvSpPr>
        <p:spPr>
          <a:xfrm>
            <a:off x="457200" y="5897880"/>
            <a:ext cx="11277295" cy="62179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5897880"/>
            <a:ext cx="73152" cy="62179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989320"/>
            <a:ext cx="11002975" cy="438912"/>
          </a:xfrm>
          <a:prstGeom prst="rect">
            <a:avLst/>
          </a:prstGeom>
          <a:noFill/>
        </p:spPr>
        <p:txBody>
          <a:bodyPr wrap="square" lIns="0" tIns="0" rIns="0" bIns="0">
            <a:spAutoFit/>
          </a:bodyPr>
          <a:lstStyle/>
          <a:p>
            <a:pPr>
              <a:lnSpc>
                <a:spcPct val="115000"/>
              </a:lnSpc>
            </a:pPr>
            <a:r>
              <a:rPr sz="1200" b="1">
                <a:solidFill>
                  <a:srgbClr val="2563EB"/>
                </a:solidFill>
                <a:latin typeface="Microsoft YaHei"/>
              </a:rPr>
              <a:t>【核心结论】 </a:t>
            </a:r>
            <a:r>
              <a:rPr sz="1150" b="1">
                <a:solidFill>
                  <a:srgbClr val="1E293B"/>
                </a:solidFill>
                <a:latin typeface="Microsoft YaHei"/>
              </a:rPr>
              <a:t>确定性高频热点走异步提前推送，突发长尾走微秒按需拉取；取消请求必须等待底层硬件在途 DMA 物理排空后方可复用缓冲区。</a:t>
            </a:r>
            <a:r>
              <a:rPr sz="1150" b="1">
                <a:solidFill>
                  <a:srgbClr val="DC2626"/>
                </a:solidFill>
                <a:latin typeface="Microsoft YaHei"/>
              </a:rPr>
              <a:t>
严格执行拉取开销小于本地直接重算的准入判定。</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专题八：底层通信库 (KPCL) 责任边界、四大通信流与流量调度</a:t>
            </a:r>
          </a:p>
          <a:p>
            <a:pPr>
              <a:spcBef>
                <a:spcPts val="300"/>
              </a:spcBef>
              <a:defRPr sz="1100">
                <a:solidFill>
                  <a:srgbClr val="475569"/>
                </a:solidFill>
                <a:latin typeface="Microsoft YaHei"/>
              </a:defRPr>
            </a:pPr>
            <a:r>
              <a:t>明确 KVC 存储池调度与 KPCL 原厂通信底座接口契约，四大通信流模式与 F1~F8 流量画像消除拥塞</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10 / 15 页</a:t>
            </a:r>
          </a:p>
        </p:txBody>
      </p:sp>
      <p:sp>
        <p:nvSpPr>
          <p:cNvPr id="4" name="Rectangle 3"/>
          <p:cNvSpPr/>
          <p:nvPr/>
        </p:nvSpPr>
        <p:spPr>
          <a:xfrm>
            <a:off x="457200" y="1078992"/>
            <a:ext cx="8412480" cy="468172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9_kvc_kpcl_traffic_scheduling_architecture.png"/>
          <p:cNvPicPr>
            <a:picLocks noChangeAspect="1"/>
          </p:cNvPicPr>
          <p:nvPr/>
        </p:nvPicPr>
        <p:blipFill>
          <a:blip r:embed="rId2"/>
          <a:stretch>
            <a:fillRect/>
          </a:stretch>
        </p:blipFill>
        <p:spPr>
          <a:xfrm>
            <a:off x="493776" y="1300766"/>
            <a:ext cx="8339328" cy="4238180"/>
          </a:xfrm>
          <a:prstGeom prst="rect">
            <a:avLst/>
          </a:prstGeom>
        </p:spPr>
      </p:pic>
      <p:sp>
        <p:nvSpPr>
          <p:cNvPr id="6" name="Rectangle 5"/>
          <p:cNvSpPr/>
          <p:nvPr/>
        </p:nvSpPr>
        <p:spPr>
          <a:xfrm>
            <a:off x="9006840" y="1078992"/>
            <a:ext cx="2724912" cy="468172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06840" y="1078992"/>
            <a:ext cx="2724912" cy="365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16568" y="1115568"/>
            <a:ext cx="2505456" cy="292608"/>
          </a:xfrm>
          <a:prstGeom prst="rect">
            <a:avLst/>
          </a:prstGeom>
          <a:noFill/>
        </p:spPr>
        <p:txBody>
          <a:bodyPr wrap="none" lIns="0" tIns="0" rIns="0" bIns="0">
            <a:spAutoFit/>
          </a:bodyPr>
          <a:lstStyle/>
          <a:p>
            <a:pPr>
              <a:defRPr sz="1150" b="1">
                <a:solidFill>
                  <a:srgbClr val="FFFFFF"/>
                </a:solidFill>
                <a:latin typeface="Microsoft YaHei"/>
              </a:defRPr>
            </a:pPr>
            <a:r>
              <a:t>通信契约责任边界与流调度模型</a:t>
            </a:r>
          </a:p>
        </p:txBody>
      </p:sp>
      <p:sp>
        <p:nvSpPr>
          <p:cNvPr id="9" name="TextBox 8"/>
          <p:cNvSpPr txBox="1"/>
          <p:nvPr/>
        </p:nvSpPr>
        <p:spPr>
          <a:xfrm>
            <a:off x="9006840" y="1463040"/>
            <a:ext cx="2724912" cy="4270248"/>
          </a:xfrm>
          <a:prstGeom prst="rect">
            <a:avLst/>
          </a:prstGeom>
          <a:noFill/>
        </p:spPr>
        <p:txBody>
          <a:bodyPr wrap="square" lIns="73152" tIns="73152" rIns="73152" bIns="73152">
            <a:spAutoFit/>
          </a:bodyPr>
          <a:lstStyle/>
          <a:p>
            <a:pPr>
              <a:lnSpc>
                <a:spcPct val="115000"/>
              </a:lnSpc>
              <a:spcAft>
                <a:spcPts val="420"/>
              </a:spcAft>
            </a:pPr>
            <a:r>
              <a:rPr sz="919" b="1">
                <a:solidFill>
                  <a:srgbClr val="1E3A8A"/>
                </a:solidFill>
                <a:latin typeface="Microsoft YaHei"/>
              </a:rPr>
              <a:t>▸ </a:t>
            </a:r>
            <a:r>
              <a:rPr sz="919" b="1">
                <a:solidFill>
                  <a:srgbClr val="1E3A8A"/>
                </a:solidFill>
                <a:latin typeface="Microsoft YaHei"/>
              </a:rPr>
              <a:t>KVC 与 KPCL 责任边界：</a:t>
            </a:r>
            <a:r>
              <a:rPr sz="919">
                <a:solidFill>
                  <a:srgbClr val="1E293B"/>
                </a:solidFill>
                <a:latin typeface="Microsoft YaHei"/>
              </a:rPr>
              <a:t>KVC 负责语义校验、目录拓扑、生命周期与调度选路；KPCL 独立负责底层驱动封装、硬件描述符提交与通信流控</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四大通信流模式：</a:t>
            </a:r>
            <a:r>
              <a:rPr sz="919">
                <a:solidFill>
                  <a:srgbClr val="1E293B"/>
                </a:solidFill>
                <a:latin typeface="Microsoft YaHei"/>
              </a:rPr>
              <a:t>包含模式 1 跨卡远端直读、模式 2 本地跨卡拷贝、模式 3 跨节点 RDMA 零拷贝与模式 4 NVMe 裸盘直达</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1µs 级硬件 API 契约：</a:t>
            </a:r>
            <a:r>
              <a:rPr sz="919">
                <a:solidFill>
                  <a:srgbClr val="1E293B"/>
                </a:solidFill>
                <a:latin typeface="Microsoft YaHei"/>
              </a:rPr>
              <a:t>KPCL 接口采用非阻塞异步风格，Submit 函数耗时 P99 &lt; 1µs；通过完成队列条目 (CQE) 异步反馈传输证据</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F1~F8 调度模型：</a:t>
            </a:r>
            <a:r>
              <a:rPr sz="919">
                <a:solidFill>
                  <a:srgbClr val="1E293B"/>
                </a:solidFill>
                <a:latin typeface="Microsoft YaHei"/>
              </a:rPr>
              <a:t>划分固定热点广播、动态单播、换出卸载等 8 类流量画像，严格映射至不同硬件队列与优先级通道，消除流量互斥</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硬件抽象与解耦：</a:t>
            </a:r>
            <a:r>
              <a:rPr sz="919">
                <a:solidFill>
                  <a:srgbClr val="1E293B"/>
                </a:solidFill>
                <a:latin typeface="Microsoft YaHei"/>
              </a:rPr>
              <a:t>严格屏蔽昇腾/英伟达等国产与异构芯片底层驱动差异，为主路径纯软直达与条件硬件卸载提供标准统一通信抽象</a:t>
            </a:r>
          </a:p>
        </p:txBody>
      </p:sp>
      <p:sp>
        <p:nvSpPr>
          <p:cNvPr id="10" name="Rectangle 9"/>
          <p:cNvSpPr/>
          <p:nvPr/>
        </p:nvSpPr>
        <p:spPr>
          <a:xfrm>
            <a:off x="457200" y="5897880"/>
            <a:ext cx="11277295" cy="62179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5897880"/>
            <a:ext cx="73152" cy="62179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989320"/>
            <a:ext cx="11002975" cy="438912"/>
          </a:xfrm>
          <a:prstGeom prst="rect">
            <a:avLst/>
          </a:prstGeom>
          <a:noFill/>
        </p:spPr>
        <p:txBody>
          <a:bodyPr wrap="square" lIns="0" tIns="0" rIns="0" bIns="0">
            <a:spAutoFit/>
          </a:bodyPr>
          <a:lstStyle/>
          <a:p>
            <a:pPr>
              <a:lnSpc>
                <a:spcPct val="115000"/>
              </a:lnSpc>
            </a:pPr>
            <a:r>
              <a:rPr sz="1200" b="1">
                <a:solidFill>
                  <a:srgbClr val="2563EB"/>
                </a:solidFill>
                <a:latin typeface="Microsoft YaHei"/>
              </a:rPr>
              <a:t>【核心结论】 </a:t>
            </a:r>
            <a:r>
              <a:rPr sz="1150" b="1">
                <a:solidFill>
                  <a:srgbClr val="1E293B"/>
                </a:solidFill>
                <a:latin typeface="Microsoft YaHei"/>
              </a:rPr>
              <a:t>KVC 与 KPCL 严格按语义决策与通信执行解耦，KPCL 提供 1µs 级非阻塞异步契约；四大通信流严格物理映射，消除链路互斥与死锁。</a:t>
            </a:r>
            <a:r>
              <a:rPr sz="1150" b="1">
                <a:solidFill>
                  <a:srgbClr val="DC2626"/>
                </a:solidFill>
                <a:latin typeface="Microsoft YaHei"/>
              </a:rPr>
              <a:t>
任何硬件传输完成必须以 CQE 可见性证据为准。</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专题九：端到端 TTFT DAG 关键路径流水线与 120ms 预算拆解</a:t>
            </a:r>
          </a:p>
          <a:p>
            <a:pPr>
              <a:spcBef>
                <a:spcPts val="300"/>
              </a:spcBef>
              <a:defRPr sz="1100">
                <a:solidFill>
                  <a:srgbClr val="475569"/>
                </a:solidFill>
                <a:latin typeface="Microsoft YaHei"/>
              </a:defRPr>
            </a:pPr>
            <a:r>
              <a:t>控制面各阶段单调时钟硬预算控制，NPU Stream/Event 异步流水消除 85% 首字等待气泡</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11 / 15 页</a:t>
            </a:r>
          </a:p>
        </p:txBody>
      </p:sp>
      <p:sp>
        <p:nvSpPr>
          <p:cNvPr id="4" name="Rectangle 3"/>
          <p:cNvSpPr/>
          <p:nvPr/>
        </p:nvSpPr>
        <p:spPr>
          <a:xfrm>
            <a:off x="457200" y="1078992"/>
            <a:ext cx="8412480" cy="468172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10_kvc_ttft_dag_pipeline_and_budget.png"/>
          <p:cNvPicPr>
            <a:picLocks noChangeAspect="1"/>
          </p:cNvPicPr>
          <p:nvPr/>
        </p:nvPicPr>
        <p:blipFill>
          <a:blip r:embed="rId2"/>
          <a:stretch>
            <a:fillRect/>
          </a:stretch>
        </p:blipFill>
        <p:spPr>
          <a:xfrm>
            <a:off x="493776" y="1300766"/>
            <a:ext cx="8339328" cy="4238180"/>
          </a:xfrm>
          <a:prstGeom prst="rect">
            <a:avLst/>
          </a:prstGeom>
        </p:spPr>
      </p:pic>
      <p:sp>
        <p:nvSpPr>
          <p:cNvPr id="6" name="Rectangle 5"/>
          <p:cNvSpPr/>
          <p:nvPr/>
        </p:nvSpPr>
        <p:spPr>
          <a:xfrm>
            <a:off x="9006840" y="1078992"/>
            <a:ext cx="2724912" cy="468172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06840" y="1078992"/>
            <a:ext cx="2724912" cy="365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16568" y="1115568"/>
            <a:ext cx="2505456" cy="292608"/>
          </a:xfrm>
          <a:prstGeom prst="rect">
            <a:avLst/>
          </a:prstGeom>
          <a:noFill/>
        </p:spPr>
        <p:txBody>
          <a:bodyPr wrap="none" lIns="0" tIns="0" rIns="0" bIns="0">
            <a:spAutoFit/>
          </a:bodyPr>
          <a:lstStyle/>
          <a:p>
            <a:pPr>
              <a:defRPr sz="1150" b="1">
                <a:solidFill>
                  <a:srgbClr val="FFFFFF"/>
                </a:solidFill>
                <a:latin typeface="Microsoft YaHei"/>
              </a:defRPr>
            </a:pPr>
            <a:r>
              <a:t>TTFT 关键路径与 120ms 预算拆解</a:t>
            </a:r>
          </a:p>
        </p:txBody>
      </p:sp>
      <p:sp>
        <p:nvSpPr>
          <p:cNvPr id="9" name="TextBox 8"/>
          <p:cNvSpPr txBox="1"/>
          <p:nvPr/>
        </p:nvSpPr>
        <p:spPr>
          <a:xfrm>
            <a:off x="9006840" y="1463040"/>
            <a:ext cx="2724912" cy="4270248"/>
          </a:xfrm>
          <a:prstGeom prst="rect">
            <a:avLst/>
          </a:prstGeom>
          <a:noFill/>
        </p:spPr>
        <p:txBody>
          <a:bodyPr wrap="square" lIns="73152" tIns="73152" rIns="73152" bIns="73152">
            <a:spAutoFit/>
          </a:bodyPr>
          <a:lstStyle/>
          <a:p>
            <a:pPr>
              <a:lnSpc>
                <a:spcPct val="115000"/>
              </a:lnSpc>
              <a:spcAft>
                <a:spcPts val="420"/>
              </a:spcAft>
            </a:pPr>
            <a:r>
              <a:rPr sz="919" b="1">
                <a:solidFill>
                  <a:srgbClr val="1E3A8A"/>
                </a:solidFill>
                <a:latin typeface="Microsoft YaHei"/>
              </a:rPr>
              <a:t>▸ </a:t>
            </a:r>
            <a:r>
              <a:rPr sz="919" b="1">
                <a:solidFill>
                  <a:srgbClr val="1E3A8A"/>
                </a:solidFill>
                <a:latin typeface="Microsoft YaHei"/>
              </a:rPr>
              <a:t>TTFT 120ms 预算拆解：</a:t>
            </a:r>
            <a:r>
              <a:rPr sz="919">
                <a:solidFill>
                  <a:srgbClr val="1E293B"/>
                </a:solidFill>
                <a:latin typeface="Microsoft YaHei"/>
              </a:rPr>
              <a:t>意图下发 2ms + 目录发现 3ms + 租约校验 2ms + 决策编译 3ms + 数据加载 95ms + 接入同步 5ms + 算子计算 10ms = 120ms</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串行加载 vs 边算边传：</a:t>
            </a:r>
            <a:r>
              <a:rPr sz="919">
                <a:solidFill>
                  <a:srgbClr val="1E293B"/>
                </a:solidFill>
                <a:latin typeface="Microsoft YaHei"/>
              </a:rPr>
              <a:t>传统串行等待所有层 KV 加载完毕再计算需耗时 200ms+；DAG 流水边算边传消除 85% 等待气泡，时延收敛至 120ms 内</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Layer 0 提前点火：</a:t>
            </a:r>
            <a:r>
              <a:rPr sz="919">
                <a:solidFill>
                  <a:srgbClr val="1E293B"/>
                </a:solidFill>
                <a:latin typeface="Microsoft YaHei"/>
              </a:rPr>
              <a:t>第 0 层数据无前置依赖，映射至 TC0 提前点火；算子计算 Layer 0 时异步并行加载后序层</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关键路径并集上界分解：</a:t>
            </a:r>
            <a:r>
              <a:rPr sz="919">
                <a:solidFill>
                  <a:srgbClr val="1E293B"/>
                </a:solidFill>
                <a:latin typeface="Microsoft YaHei"/>
              </a:rPr>
              <a:t>控制面各阶段严格设定单调时钟硬门限；任一子阶段超时立即中断并安全回退，防止局部抖动穿透到整体 TTFT</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算例属性与诚信界定：</a:t>
            </a:r>
            <a:r>
              <a:rPr sz="919">
                <a:solidFill>
                  <a:srgbClr val="1E293B"/>
                </a:solidFill>
                <a:latin typeface="Microsoft YaHei"/>
              </a:rPr>
              <a:t>120ms 为指导工程实现的目标预算算例（推导模型），严禁直接宣称为已实现的硬件实测结论，以客观实测为准</a:t>
            </a:r>
          </a:p>
        </p:txBody>
      </p:sp>
      <p:sp>
        <p:nvSpPr>
          <p:cNvPr id="10" name="Rectangle 9"/>
          <p:cNvSpPr/>
          <p:nvPr/>
        </p:nvSpPr>
        <p:spPr>
          <a:xfrm>
            <a:off x="457200" y="5897880"/>
            <a:ext cx="11277295" cy="62179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5897880"/>
            <a:ext cx="73152" cy="62179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989320"/>
            <a:ext cx="11002975" cy="438912"/>
          </a:xfrm>
          <a:prstGeom prst="rect">
            <a:avLst/>
          </a:prstGeom>
          <a:noFill/>
        </p:spPr>
        <p:txBody>
          <a:bodyPr wrap="square" lIns="0" tIns="0" rIns="0" bIns="0">
            <a:spAutoFit/>
          </a:bodyPr>
          <a:lstStyle/>
          <a:p>
            <a:pPr>
              <a:lnSpc>
                <a:spcPct val="115000"/>
              </a:lnSpc>
            </a:pPr>
            <a:r>
              <a:rPr sz="1200" b="1">
                <a:solidFill>
                  <a:srgbClr val="2563EB"/>
                </a:solidFill>
                <a:latin typeface="Microsoft YaHei"/>
              </a:rPr>
              <a:t>【核心结论】 </a:t>
            </a:r>
            <a:r>
              <a:rPr sz="1150" b="1">
                <a:solidFill>
                  <a:srgbClr val="1E293B"/>
                </a:solidFill>
                <a:latin typeface="Microsoft YaHei"/>
              </a:rPr>
              <a:t>端到端时延以并集上界分解控制，各子阶段设定单调时钟硬预算；异步边算边传流水消除 85% 气泡，Layer 0 首层提前下发掩盖传输延迟。</a:t>
            </a:r>
            <a:r>
              <a:rPr sz="1150" b="1">
                <a:solidFill>
                  <a:srgbClr val="DC2626"/>
                </a:solidFill>
                <a:latin typeface="Microsoft YaHei"/>
              </a:rPr>
              <a:t>
120ms 预算算例用于指导系统自上而下工程实现。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专题十：TP=8 张量并行原子协同机制与 QoS 干扰抑制架构</a:t>
            </a:r>
          </a:p>
          <a:p>
            <a:pPr>
              <a:spcBef>
                <a:spcPts val="300"/>
              </a:spcBef>
              <a:defRPr sz="1100">
                <a:solidFill>
                  <a:srgbClr val="475569"/>
                </a:solidFill>
                <a:latin typeface="Microsoft YaHei"/>
              </a:defRPr>
            </a:pPr>
            <a:r>
              <a:t>单次原子 Doorbell 消除多卡时序差与偏斜，前后台 QoS 双层退避保障尾部时延稳定性</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12 / 15 页</a:t>
            </a:r>
          </a:p>
        </p:txBody>
      </p:sp>
      <p:sp>
        <p:nvSpPr>
          <p:cNvPr id="4" name="Rectangle 3"/>
          <p:cNvSpPr/>
          <p:nvPr/>
        </p:nvSpPr>
        <p:spPr>
          <a:xfrm>
            <a:off x="457200" y="1078992"/>
            <a:ext cx="8412480" cy="468172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11_kvc_tp8_atomic_coordination_and_qos.png"/>
          <p:cNvPicPr>
            <a:picLocks noChangeAspect="1"/>
          </p:cNvPicPr>
          <p:nvPr/>
        </p:nvPicPr>
        <p:blipFill>
          <a:blip r:embed="rId2"/>
          <a:stretch>
            <a:fillRect/>
          </a:stretch>
        </p:blipFill>
        <p:spPr>
          <a:xfrm>
            <a:off x="493776" y="1300766"/>
            <a:ext cx="8339328" cy="4238180"/>
          </a:xfrm>
          <a:prstGeom prst="rect">
            <a:avLst/>
          </a:prstGeom>
        </p:spPr>
      </p:pic>
      <p:sp>
        <p:nvSpPr>
          <p:cNvPr id="6" name="Rectangle 5"/>
          <p:cNvSpPr/>
          <p:nvPr/>
        </p:nvSpPr>
        <p:spPr>
          <a:xfrm>
            <a:off x="9006840" y="1078992"/>
            <a:ext cx="2724912" cy="468172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06840" y="1078992"/>
            <a:ext cx="2724912" cy="365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16568" y="1115568"/>
            <a:ext cx="2505456" cy="292608"/>
          </a:xfrm>
          <a:prstGeom prst="rect">
            <a:avLst/>
          </a:prstGeom>
          <a:noFill/>
        </p:spPr>
        <p:txBody>
          <a:bodyPr wrap="none" lIns="0" tIns="0" rIns="0" bIns="0">
            <a:spAutoFit/>
          </a:bodyPr>
          <a:lstStyle/>
          <a:p>
            <a:pPr>
              <a:defRPr sz="1150" b="1">
                <a:solidFill>
                  <a:srgbClr val="FFFFFF"/>
                </a:solidFill>
                <a:latin typeface="Microsoft YaHei"/>
              </a:defRPr>
            </a:pPr>
            <a:r>
              <a:t>TP=8 原子协同与尾部延迟控制</a:t>
            </a:r>
          </a:p>
        </p:txBody>
      </p:sp>
      <p:sp>
        <p:nvSpPr>
          <p:cNvPr id="9" name="TextBox 8"/>
          <p:cNvSpPr txBox="1"/>
          <p:nvPr/>
        </p:nvSpPr>
        <p:spPr>
          <a:xfrm>
            <a:off x="9006840" y="1463040"/>
            <a:ext cx="2724912" cy="4270248"/>
          </a:xfrm>
          <a:prstGeom prst="rect">
            <a:avLst/>
          </a:prstGeom>
          <a:noFill/>
        </p:spPr>
        <p:txBody>
          <a:bodyPr wrap="square" lIns="73152" tIns="73152" rIns="73152" bIns="73152">
            <a:spAutoFit/>
          </a:bodyPr>
          <a:lstStyle/>
          <a:p>
            <a:pPr>
              <a:lnSpc>
                <a:spcPct val="115000"/>
              </a:lnSpc>
              <a:spcAft>
                <a:spcPts val="420"/>
              </a:spcAft>
            </a:pPr>
            <a:r>
              <a:rPr sz="919" b="1">
                <a:solidFill>
                  <a:srgbClr val="1E3A8A"/>
                </a:solidFill>
                <a:latin typeface="Microsoft YaHei"/>
              </a:rPr>
              <a:t>▸ </a:t>
            </a:r>
            <a:r>
              <a:rPr sz="919" b="1">
                <a:solidFill>
                  <a:srgbClr val="1E3A8A"/>
                </a:solidFill>
                <a:latin typeface="Microsoft YaHei"/>
              </a:rPr>
              <a:t>TP=8 木桶短板效应：</a:t>
            </a:r>
            <a:r>
              <a:rPr sz="919">
                <a:solidFill>
                  <a:srgbClr val="1E293B"/>
                </a:solidFill>
                <a:latin typeface="Microsoft YaHei"/>
              </a:rPr>
              <a:t>张量并行切分在 8 张卡上，每一层算子必须等 8 卡全部加载完成；单个慢节点 (Straggler) 将引发尾部时延非线性放大</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单次原子 Doorbell 同步：</a:t>
            </a:r>
            <a:r>
              <a:rPr sz="919">
                <a:solidFill>
                  <a:srgbClr val="1E293B"/>
                </a:solidFill>
                <a:latin typeface="Microsoft YaHei"/>
              </a:rPr>
              <a:t>8 卡在 POSIX 共享内存中原子汇聚 (0xFF)；协调者仅下发单次原子 Doorbell 同步触发，消除多卡时序偏差</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组内同步极速门限：</a:t>
            </a:r>
            <a:r>
              <a:rPr sz="919">
                <a:solidFill>
                  <a:srgbClr val="1E293B"/>
                </a:solidFill>
                <a:latin typeface="Microsoft YaHei"/>
              </a:rPr>
              <a:t>TP=8 组内状态同步耗时 P99 &lt; 100µs；任一单卡在租约或加载中超时，触发全局协调一致回退，绝不发生通信死锁</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SemanticQoS 双层隔离：</a:t>
            </a:r>
            <a:r>
              <a:rPr sz="919">
                <a:solidFill>
                  <a:srgbClr val="1E293B"/>
                </a:solidFill>
                <a:latin typeface="Microsoft YaHei"/>
              </a:rPr>
              <a:t>DSCP 硬件映射保障在线推理独占 TC0 队列；Worker.step() 自适应探测排队，一旦排队限流 50%~100% 换出流量</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3% 尾部干扰严格包络：</a:t>
            </a:r>
            <a:r>
              <a:rPr sz="919">
                <a:solidFill>
                  <a:srgbClr val="1E293B"/>
                </a:solidFill>
                <a:latin typeface="Microsoft YaHei"/>
              </a:rPr>
              <a:t>在前台在线推理 TPOT P99 为 20ms 的极限压力下，后台满载数据换出对前台时延的干扰率控制在 0.6ms (&lt; 3%) 以内</a:t>
            </a:r>
          </a:p>
        </p:txBody>
      </p:sp>
      <p:sp>
        <p:nvSpPr>
          <p:cNvPr id="10" name="Rectangle 9"/>
          <p:cNvSpPr/>
          <p:nvPr/>
        </p:nvSpPr>
        <p:spPr>
          <a:xfrm>
            <a:off x="457200" y="5897880"/>
            <a:ext cx="11277295" cy="62179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5897880"/>
            <a:ext cx="73152" cy="62179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989320"/>
            <a:ext cx="11002975" cy="438912"/>
          </a:xfrm>
          <a:prstGeom prst="rect">
            <a:avLst/>
          </a:prstGeom>
          <a:noFill/>
        </p:spPr>
        <p:txBody>
          <a:bodyPr wrap="square" lIns="0" tIns="0" rIns="0" bIns="0">
            <a:spAutoFit/>
          </a:bodyPr>
          <a:lstStyle/>
          <a:p>
            <a:pPr>
              <a:lnSpc>
                <a:spcPct val="115000"/>
              </a:lnSpc>
            </a:pPr>
            <a:r>
              <a:rPr sz="1200" b="1">
                <a:solidFill>
                  <a:srgbClr val="2563EB"/>
                </a:solidFill>
                <a:latin typeface="Microsoft YaHei"/>
              </a:rPr>
              <a:t>【核心结论】 </a:t>
            </a:r>
            <a:r>
              <a:rPr sz="1150" b="1">
                <a:solidFill>
                  <a:srgbClr val="1E293B"/>
                </a:solidFill>
                <a:latin typeface="Microsoft YaHei"/>
              </a:rPr>
              <a:t>TP=8 偏斜从提交源头收敛，单次原子 Doorbell 消除多卡时序差；Layer 0 提前下发掩盖延迟，微秒自适应退避控制干扰率 &lt; 3%。</a:t>
            </a:r>
            <a:r>
              <a:rPr sz="1150" b="1">
                <a:solidFill>
                  <a:srgbClr val="DC2626"/>
                </a:solidFill>
                <a:latin typeface="Microsoft YaHei"/>
              </a:rPr>
              <a:t>
张量并行多卡状态同步耗时 P99 &lt; 100µs。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专题十一：三面可靠性隔离体系与 ViewGuard 容错跳出</a:t>
            </a:r>
          </a:p>
          <a:p>
            <a:pPr>
              <a:spcBef>
                <a:spcPts val="300"/>
              </a:spcBef>
              <a:defRPr sz="1100">
                <a:solidFill>
                  <a:srgbClr val="475569"/>
                </a:solidFill>
                <a:latin typeface="Microsoft YaHei"/>
              </a:defRPr>
            </a:pPr>
            <a:r>
              <a:t>管理层脑裂不影响在线推理，控制面超时主动回退，ViewGuard 跨节点直读异常在 500µs 内安全回退</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13 / 15 页</a:t>
            </a:r>
          </a:p>
        </p:txBody>
      </p:sp>
      <p:sp>
        <p:nvSpPr>
          <p:cNvPr id="4" name="Rectangle 3"/>
          <p:cNvSpPr/>
          <p:nvPr/>
        </p:nvSpPr>
        <p:spPr>
          <a:xfrm>
            <a:off x="457200" y="1078992"/>
            <a:ext cx="8412480" cy="468172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12_kvc_viewguard_and_failure_recovery_flow.png"/>
          <p:cNvPicPr>
            <a:picLocks noChangeAspect="1"/>
          </p:cNvPicPr>
          <p:nvPr/>
        </p:nvPicPr>
        <p:blipFill>
          <a:blip r:embed="rId2"/>
          <a:stretch>
            <a:fillRect/>
          </a:stretch>
        </p:blipFill>
        <p:spPr>
          <a:xfrm>
            <a:off x="493776" y="1300766"/>
            <a:ext cx="8339328" cy="4238180"/>
          </a:xfrm>
          <a:prstGeom prst="rect">
            <a:avLst/>
          </a:prstGeom>
        </p:spPr>
      </p:pic>
      <p:sp>
        <p:nvSpPr>
          <p:cNvPr id="6" name="Rectangle 5"/>
          <p:cNvSpPr/>
          <p:nvPr/>
        </p:nvSpPr>
        <p:spPr>
          <a:xfrm>
            <a:off x="9006840" y="1078992"/>
            <a:ext cx="2724912" cy="468172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06840" y="1078992"/>
            <a:ext cx="2724912" cy="365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16568" y="1115568"/>
            <a:ext cx="2505456" cy="292608"/>
          </a:xfrm>
          <a:prstGeom prst="rect">
            <a:avLst/>
          </a:prstGeom>
          <a:noFill/>
        </p:spPr>
        <p:txBody>
          <a:bodyPr wrap="none" lIns="0" tIns="0" rIns="0" bIns="0">
            <a:spAutoFit/>
          </a:bodyPr>
          <a:lstStyle/>
          <a:p>
            <a:pPr>
              <a:defRPr sz="1150" b="1">
                <a:solidFill>
                  <a:srgbClr val="FFFFFF"/>
                </a:solidFill>
                <a:latin typeface="Microsoft YaHei"/>
              </a:defRPr>
            </a:pPr>
            <a:r>
              <a:t>三面故障域隔离与 ViewGuard 容错</a:t>
            </a:r>
          </a:p>
        </p:txBody>
      </p:sp>
      <p:sp>
        <p:nvSpPr>
          <p:cNvPr id="9" name="TextBox 8"/>
          <p:cNvSpPr txBox="1"/>
          <p:nvPr/>
        </p:nvSpPr>
        <p:spPr>
          <a:xfrm>
            <a:off x="9006840" y="1463040"/>
            <a:ext cx="2724912" cy="4270248"/>
          </a:xfrm>
          <a:prstGeom prst="rect">
            <a:avLst/>
          </a:prstGeom>
          <a:noFill/>
        </p:spPr>
        <p:txBody>
          <a:bodyPr wrap="square" lIns="73152" tIns="73152" rIns="73152" bIns="73152">
            <a:spAutoFit/>
          </a:bodyPr>
          <a:lstStyle/>
          <a:p>
            <a:pPr>
              <a:lnSpc>
                <a:spcPct val="115000"/>
              </a:lnSpc>
              <a:spcAft>
                <a:spcPts val="420"/>
              </a:spcAft>
            </a:pPr>
            <a:r>
              <a:rPr sz="919" b="1">
                <a:solidFill>
                  <a:srgbClr val="1E3A8A"/>
                </a:solidFill>
                <a:latin typeface="Microsoft YaHei"/>
              </a:rPr>
              <a:t>▸ </a:t>
            </a:r>
            <a:r>
              <a:rPr sz="919" b="1">
                <a:solidFill>
                  <a:srgbClr val="1E3A8A"/>
                </a:solidFill>
                <a:latin typeface="Microsoft YaHei"/>
              </a:rPr>
              <a:t>三面独立故障域：</a:t>
            </a:r>
            <a:r>
              <a:rPr sz="919">
                <a:solidFill>
                  <a:srgbClr val="1E293B"/>
                </a:solidFill>
                <a:latin typeface="Microsoft YaHei"/>
              </a:rPr>
              <a:t>管理面脑裂完全不影响在线推理；控制面调用超时 5µs 主动熔断；数据面硬件挂死触发排空屏障并释放缓冲区</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ViewGuard 视图租约守卫：</a:t>
            </a:r>
            <a:r>
              <a:rPr sz="919">
                <a:solidFill>
                  <a:srgbClr val="1E293B"/>
                </a:solidFill>
                <a:latin typeface="Microsoft YaHei"/>
              </a:rPr>
              <a:t>负责跨节点远端直读 (Direct-View) 的生命周期与租约有效性监控；微秒级探测远端节点心跳与内存映射状态</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SIGBUS 异常极速捕获：</a:t>
            </a:r>
            <a:r>
              <a:rPr sz="919">
                <a:solidFill>
                  <a:srgbClr val="1E293B"/>
                </a:solidFill>
                <a:latin typeface="Microsoft YaHei"/>
              </a:rPr>
              <a:t>当远端节点突发掉电或网络瞬间中断引发 SIGBUS 内存缺页总线错误时，用户态信号处理程序捕获异常，避免进程崩溃</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500µs 极速跳出恢复：</a:t>
            </a:r>
            <a:r>
              <a:rPr sz="919">
                <a:solidFill>
                  <a:srgbClr val="1E293B"/>
                </a:solidFill>
                <a:latin typeface="Microsoft YaHei"/>
              </a:rPr>
              <a:t>捕获异常后微秒级阻断错误扩散，撤销远端映射，在 500µs 内无缝跳出并安全回退至本地重新计算，业务完全无感</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无级故障降级链条：</a:t>
            </a:r>
            <a:r>
              <a:rPr sz="919">
                <a:solidFill>
                  <a:srgbClr val="1E293B"/>
                </a:solidFill>
                <a:latin typeface="Microsoft YaHei"/>
              </a:rPr>
              <a:t>遵循远端直读、本地显存拷贝、本地 DDR 缓冲与本地直接重算四级优雅降级策略，保障推理业务可用性与连续性</a:t>
            </a:r>
          </a:p>
        </p:txBody>
      </p:sp>
      <p:sp>
        <p:nvSpPr>
          <p:cNvPr id="10" name="Rectangle 9"/>
          <p:cNvSpPr/>
          <p:nvPr/>
        </p:nvSpPr>
        <p:spPr>
          <a:xfrm>
            <a:off x="457200" y="5897880"/>
            <a:ext cx="11277295" cy="62179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5897880"/>
            <a:ext cx="73152" cy="62179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989320"/>
            <a:ext cx="11002975" cy="438912"/>
          </a:xfrm>
          <a:prstGeom prst="rect">
            <a:avLst/>
          </a:prstGeom>
          <a:noFill/>
        </p:spPr>
        <p:txBody>
          <a:bodyPr wrap="square" lIns="0" tIns="0" rIns="0" bIns="0">
            <a:spAutoFit/>
          </a:bodyPr>
          <a:lstStyle/>
          <a:p>
            <a:pPr>
              <a:lnSpc>
                <a:spcPct val="115000"/>
              </a:lnSpc>
            </a:pPr>
            <a:r>
              <a:rPr sz="1200" b="1">
                <a:solidFill>
                  <a:srgbClr val="2563EB"/>
                </a:solidFill>
                <a:latin typeface="Microsoft YaHei"/>
              </a:rPr>
              <a:t>【核心结论】 </a:t>
            </a:r>
            <a:r>
              <a:rPr sz="1150" b="1">
                <a:solidFill>
                  <a:srgbClr val="1E293B"/>
                </a:solidFill>
                <a:latin typeface="Microsoft YaHei"/>
              </a:rPr>
              <a:t>单点硬件与网络故障严格遏制在局部故障域；跨节点直读必须配备 ViewGuard 信号捕获机制，500µs 内极速跳出回退。</a:t>
            </a:r>
            <a:r>
              <a:rPr sz="1150" b="1">
                <a:solidFill>
                  <a:srgbClr val="DC2626"/>
                </a:solidFill>
                <a:latin typeface="Microsoft YaHei"/>
              </a:rPr>
              <a:t>
避免单点故障扩散，保障推理业务高可用与连续性。</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专题十二：四个核心验证阶段 (E0~E3) 演进路线与 38 条 SR 需求矩阵</a:t>
            </a:r>
          </a:p>
          <a:p>
            <a:pPr>
              <a:spcBef>
                <a:spcPts val="300"/>
              </a:spcBef>
              <a:defRPr sz="1100">
                <a:solidFill>
                  <a:srgbClr val="475569"/>
                </a:solidFill>
                <a:latin typeface="Microsoft YaHei"/>
              </a:defRPr>
            </a:pPr>
            <a:r>
              <a:t>四个核心验证阶段建立坚固证据闭环，全量 38 条 SR 需求精准分层映射，确立纯软主路径与条件加速轨</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14 / 15 页</a:t>
            </a:r>
          </a:p>
        </p:txBody>
      </p:sp>
      <p:sp>
        <p:nvSpPr>
          <p:cNvPr id="4" name="Rectangle 3"/>
          <p:cNvSpPr/>
          <p:nvPr/>
        </p:nvSpPr>
        <p:spPr>
          <a:xfrm>
            <a:off x="457200" y="1078992"/>
            <a:ext cx="8412480" cy="468172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13_kvc_e0_e3_roadmap_and_sr_mapping.png"/>
          <p:cNvPicPr>
            <a:picLocks noChangeAspect="1"/>
          </p:cNvPicPr>
          <p:nvPr/>
        </p:nvPicPr>
        <p:blipFill>
          <a:blip r:embed="rId2"/>
          <a:stretch>
            <a:fillRect/>
          </a:stretch>
        </p:blipFill>
        <p:spPr>
          <a:xfrm>
            <a:off x="493776" y="1300766"/>
            <a:ext cx="8339328" cy="4238180"/>
          </a:xfrm>
          <a:prstGeom prst="rect">
            <a:avLst/>
          </a:prstGeom>
        </p:spPr>
      </p:pic>
      <p:sp>
        <p:nvSpPr>
          <p:cNvPr id="6" name="Rectangle 5"/>
          <p:cNvSpPr/>
          <p:nvPr/>
        </p:nvSpPr>
        <p:spPr>
          <a:xfrm>
            <a:off x="9006840" y="1078992"/>
            <a:ext cx="2724912" cy="4681728"/>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06840" y="1078992"/>
            <a:ext cx="2724912" cy="365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16568" y="1115568"/>
            <a:ext cx="2505456" cy="292608"/>
          </a:xfrm>
          <a:prstGeom prst="rect">
            <a:avLst/>
          </a:prstGeom>
          <a:noFill/>
        </p:spPr>
        <p:txBody>
          <a:bodyPr wrap="none" lIns="0" tIns="0" rIns="0" bIns="0">
            <a:spAutoFit/>
          </a:bodyPr>
          <a:lstStyle/>
          <a:p>
            <a:pPr>
              <a:defRPr sz="1150" b="1">
                <a:solidFill>
                  <a:srgbClr val="FFFFFF"/>
                </a:solidFill>
                <a:latin typeface="Microsoft YaHei"/>
              </a:defRPr>
            </a:pPr>
            <a:r>
              <a:t>E0~E3 路线图与需求矩阵落地</a:t>
            </a:r>
          </a:p>
        </p:txBody>
      </p:sp>
      <p:sp>
        <p:nvSpPr>
          <p:cNvPr id="9" name="TextBox 8"/>
          <p:cNvSpPr txBox="1"/>
          <p:nvPr/>
        </p:nvSpPr>
        <p:spPr>
          <a:xfrm>
            <a:off x="9006840" y="1463040"/>
            <a:ext cx="2724912" cy="4270248"/>
          </a:xfrm>
          <a:prstGeom prst="rect">
            <a:avLst/>
          </a:prstGeom>
          <a:noFill/>
        </p:spPr>
        <p:txBody>
          <a:bodyPr wrap="square" lIns="73152" tIns="73152" rIns="73152" bIns="73152">
            <a:spAutoFit/>
          </a:bodyPr>
          <a:lstStyle/>
          <a:p>
            <a:pPr>
              <a:lnSpc>
                <a:spcPct val="115000"/>
              </a:lnSpc>
              <a:spcAft>
                <a:spcPts val="420"/>
              </a:spcAft>
            </a:pPr>
            <a:r>
              <a:rPr sz="919" b="1">
                <a:solidFill>
                  <a:srgbClr val="1E3A8A"/>
                </a:solidFill>
                <a:latin typeface="Microsoft YaHei"/>
              </a:rPr>
              <a:t>▸ </a:t>
            </a:r>
            <a:r>
              <a:rPr sz="919" b="1">
                <a:solidFill>
                  <a:srgbClr val="1E3A8A"/>
                </a:solidFill>
                <a:latin typeface="Microsoft YaHei"/>
              </a:rPr>
              <a:t>E0~E3 四个核心验证阶段：</a:t>
            </a:r>
            <a:r>
              <a:rPr sz="919">
                <a:solidFill>
                  <a:srgbClr val="1E293B"/>
                </a:solidFill>
                <a:latin typeface="Microsoft YaHei"/>
              </a:rPr>
              <a:t>E0 收益确认 (Saved-Prefill 净收益与协议上限)；E1 底座打通 (零拷贝与 TP=8 同步)；E2 调度决策与扩容；E3 混压门禁</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全量 38 条 SR 闭环落地：</a:t>
            </a:r>
            <a:r>
              <a:rPr sz="919">
                <a:solidFill>
                  <a:srgbClr val="1E293B"/>
                </a:solidFill>
                <a:latin typeface="Microsoft YaHei"/>
              </a:rPr>
              <a:t>L1 适配层承接 6 条 SR；L2 核心调度层承接 14 条 SR；L3 极速底座承接 9 条 SR；辅助保障层承接 9 条 SR，无一遗漏</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渐进式准入门槛：</a:t>
            </a:r>
            <a:r>
              <a:rPr sz="919">
                <a:solidFill>
                  <a:srgbClr val="1E293B"/>
                </a:solidFill>
                <a:latin typeface="Microsoft YaHei"/>
              </a:rPr>
              <a:t>必须逐阶段达成量化门限：E1 实现 Host 零拷贝与 0 错误消费；E2 决策准确率≥95%且 500µs 跳出；E3 混压下 TTFT 降幅≥20% 且干扰&lt;3%</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去依赖与条件证伪：</a:t>
            </a:r>
            <a:r>
              <a:rPr sz="919">
                <a:solidFill>
                  <a:srgbClr val="1E293B"/>
                </a:solidFill>
                <a:latin typeface="Microsoft YaHei"/>
              </a:rPr>
              <a:t>针对硬件多播与 DPU 硬件卸载开展科学证伪 ｜ 确立标准驱动纯软主路径 ｜ 杜绝外部强依赖风险</a:t>
            </a:r>
          </a:p>
          <a:p>
            <a:pPr>
              <a:lnSpc>
                <a:spcPct val="115000"/>
              </a:lnSpc>
              <a:spcAft>
                <a:spcPts val="420"/>
              </a:spcAft>
            </a:pPr>
            <a:r>
              <a:rPr sz="919" b="1">
                <a:solidFill>
                  <a:srgbClr val="1E3A8A"/>
                </a:solidFill>
                <a:latin typeface="Microsoft YaHei"/>
              </a:rPr>
              <a:t>▸ </a:t>
            </a:r>
            <a:r>
              <a:rPr sz="919" b="1">
                <a:solidFill>
                  <a:srgbClr val="1E3A8A"/>
                </a:solidFill>
                <a:latin typeface="Microsoft YaHei"/>
              </a:rPr>
              <a:t>工程化闭环交付：</a:t>
            </a:r>
            <a:r>
              <a:rPr sz="919">
                <a:solidFill>
                  <a:srgbClr val="1E293B"/>
                </a:solidFill>
                <a:latin typeface="Microsoft YaHei"/>
              </a:rPr>
              <a:t>产出生产级源码、白皮书级接口规范、12份实测数据字典与高价值核心发明专利，实现研产测一体化落地</a:t>
            </a:r>
          </a:p>
        </p:txBody>
      </p:sp>
      <p:sp>
        <p:nvSpPr>
          <p:cNvPr id="10" name="Rectangle 9"/>
          <p:cNvSpPr/>
          <p:nvPr/>
        </p:nvSpPr>
        <p:spPr>
          <a:xfrm>
            <a:off x="457200" y="5897880"/>
            <a:ext cx="11277295" cy="62179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5897880"/>
            <a:ext cx="73152" cy="62179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989320"/>
            <a:ext cx="11002975" cy="438912"/>
          </a:xfrm>
          <a:prstGeom prst="rect">
            <a:avLst/>
          </a:prstGeom>
          <a:noFill/>
        </p:spPr>
        <p:txBody>
          <a:bodyPr wrap="square" lIns="0" tIns="0" rIns="0" bIns="0">
            <a:spAutoFit/>
          </a:bodyPr>
          <a:lstStyle/>
          <a:p>
            <a:pPr>
              <a:lnSpc>
                <a:spcPct val="115000"/>
              </a:lnSpc>
            </a:pPr>
            <a:r>
              <a:rPr sz="1200" b="1">
                <a:solidFill>
                  <a:srgbClr val="2563EB"/>
                </a:solidFill>
                <a:latin typeface="Microsoft YaHei"/>
              </a:rPr>
              <a:t>【核心结论】 </a:t>
            </a:r>
            <a:r>
              <a:rPr sz="1150" b="1">
                <a:solidFill>
                  <a:srgbClr val="1E293B"/>
                </a:solidFill>
                <a:latin typeface="Microsoft YaHei"/>
              </a:rPr>
              <a:t>执行显存严格归推理框架管理拥有；主路径基于标准驱动纯软直达，硬件加速解耦演进；分层精准承接全量 38 条 SR 需求。</a:t>
            </a:r>
            <a:r>
              <a:rPr sz="1150" b="1">
                <a:solidFill>
                  <a:srgbClr val="DC2626"/>
                </a:solidFill>
                <a:latin typeface="Microsoft YaHei"/>
              </a:rPr>
              <a:t>
严格执行阶段门禁准入标准，杜绝未达标合并上线。</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工程化收官总结：技术立项核心共识、生产级交付资产与落地保障承诺</a:t>
            </a:r>
          </a:p>
          <a:p>
            <a:pPr>
              <a:spcBef>
                <a:spcPts val="300"/>
              </a:spcBef>
              <a:defRPr sz="1100">
                <a:solidFill>
                  <a:srgbClr val="475569"/>
                </a:solidFill>
                <a:latin typeface="Microsoft YaHei"/>
              </a:defRPr>
            </a:pPr>
            <a:r>
              <a:t>基于第一性原理分析系统瓶颈 · 阶段门禁保障工程质量 · 打造面向国产 AI 硬件的统一存储底座</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15 / 15 页</a:t>
            </a:r>
          </a:p>
        </p:txBody>
      </p:sp>
      <p:sp>
        <p:nvSpPr>
          <p:cNvPr id="4" name="Rectangle 3"/>
          <p:cNvSpPr/>
          <p:nvPr/>
        </p:nvSpPr>
        <p:spPr>
          <a:xfrm>
            <a:off x="457200" y="1078992"/>
            <a:ext cx="2651760" cy="283464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78992"/>
            <a:ext cx="2651760" cy="34747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115568"/>
            <a:ext cx="2432304" cy="274320"/>
          </a:xfrm>
          <a:prstGeom prst="rect">
            <a:avLst/>
          </a:prstGeom>
          <a:noFill/>
        </p:spPr>
        <p:txBody>
          <a:bodyPr wrap="none" lIns="0" tIns="0" rIns="0" bIns="0">
            <a:spAutoFit/>
          </a:bodyPr>
          <a:lstStyle/>
          <a:p>
            <a:pPr>
              <a:defRPr sz="1050" b="1">
                <a:solidFill>
                  <a:srgbClr val="FFFFFF"/>
                </a:solidFill>
                <a:latin typeface="Microsoft YaHei"/>
              </a:defRPr>
            </a:pPr>
            <a:r>
              <a:t>1. 原厂软硬件协同底座</a:t>
            </a:r>
          </a:p>
          <a:p>
            <a:pPr algn="r">
              <a:defRPr sz="950" b="1">
                <a:solidFill>
                  <a:srgbClr val="BFDBFE"/>
                </a:solidFill>
                <a:latin typeface="Microsoft YaHei"/>
              </a:defRPr>
            </a:pPr>
            <a:r>
              <a:t>[架构定位]</a:t>
            </a:r>
          </a:p>
        </p:txBody>
      </p:sp>
      <p:sp>
        <p:nvSpPr>
          <p:cNvPr id="7" name="TextBox 6"/>
          <p:cNvSpPr txBox="1"/>
          <p:nvPr/>
        </p:nvSpPr>
        <p:spPr>
          <a:xfrm>
            <a:off x="457200" y="1444752"/>
            <a:ext cx="2651760" cy="2450592"/>
          </a:xfrm>
          <a:prstGeom prst="rect">
            <a:avLst/>
          </a:prstGeom>
          <a:noFill/>
        </p:spPr>
        <p:txBody>
          <a:bodyPr wrap="square" lIns="73152" tIns="73152" rIns="73152" bIns="73152">
            <a:spAutoFit/>
          </a:bodyPr>
          <a:lstStyle/>
          <a:p>
            <a:pPr>
              <a:lnSpc>
                <a:spcPct val="115000"/>
              </a:lnSpc>
              <a:spcAft>
                <a:spcPts val="450"/>
              </a:spcAft>
            </a:pPr>
            <a:r>
              <a:rPr sz="919" b="1">
                <a:solidFill>
                  <a:srgbClr val="1E3A8A"/>
                </a:solidFill>
                <a:latin typeface="Microsoft YaHei"/>
              </a:rPr>
              <a:t>▸ </a:t>
            </a:r>
            <a:r>
              <a:rPr sz="919" b="1">
                <a:solidFill>
                  <a:srgbClr val="1E3A8A"/>
                </a:solidFill>
                <a:latin typeface="Microsoft YaHei"/>
              </a:rPr>
              <a:t>执行显存归属：</a:t>
            </a:r>
            <a:r>
              <a:rPr sz="919">
                <a:solidFill>
                  <a:srgbClr val="1E293B"/>
                </a:solidFill>
                <a:latin typeface="Microsoft YaHei"/>
              </a:rPr>
              <a:t>框架独占执行 HBM 块表，KVC 逻辑统一跨节点不可变存储池</a:t>
            </a:r>
          </a:p>
          <a:p>
            <a:pPr>
              <a:lnSpc>
                <a:spcPct val="115000"/>
              </a:lnSpc>
              <a:spcAft>
                <a:spcPts val="450"/>
              </a:spcAft>
            </a:pPr>
            <a:r>
              <a:rPr sz="919" b="1">
                <a:solidFill>
                  <a:srgbClr val="1E3A8A"/>
                </a:solidFill>
                <a:latin typeface="Microsoft YaHei"/>
              </a:rPr>
              <a:t>▸ </a:t>
            </a:r>
            <a:r>
              <a:rPr sz="919" b="1">
                <a:solidFill>
                  <a:srgbClr val="1E3A8A"/>
                </a:solidFill>
                <a:latin typeface="Microsoft YaHei"/>
              </a:rPr>
              <a:t>底层总线封装：</a:t>
            </a:r>
            <a:r>
              <a:rPr sz="919">
                <a:solidFill>
                  <a:srgbClr val="1E293B"/>
                </a:solidFill>
                <a:latin typeface="Microsoft YaHei"/>
              </a:rPr>
              <a:t>以原厂通信库 (KPCL) 封装硬件驱动，屏蔽底层异构细节</a:t>
            </a:r>
          </a:p>
          <a:p>
            <a:pPr>
              <a:lnSpc>
                <a:spcPct val="115000"/>
              </a:lnSpc>
              <a:spcAft>
                <a:spcPts val="450"/>
              </a:spcAft>
            </a:pPr>
            <a:r>
              <a:rPr sz="919" b="1">
                <a:solidFill>
                  <a:srgbClr val="1E3A8A"/>
                </a:solidFill>
                <a:latin typeface="Microsoft YaHei"/>
              </a:rPr>
              <a:t>▸ </a:t>
            </a:r>
            <a:r>
              <a:rPr sz="919" b="1">
                <a:solidFill>
                  <a:srgbClr val="1E3A8A"/>
                </a:solidFill>
                <a:latin typeface="Microsoft YaHei"/>
              </a:rPr>
              <a:t>主路径纯软直达：</a:t>
            </a:r>
            <a:r>
              <a:rPr sz="919">
                <a:solidFill>
                  <a:srgbClr val="1E293B"/>
                </a:solidFill>
                <a:latin typeface="Microsoft YaHei"/>
              </a:rPr>
              <a:t>基于标准驱动直达，硬件加速解耦演进，降低外部依赖</a:t>
            </a:r>
          </a:p>
        </p:txBody>
      </p:sp>
      <p:sp>
        <p:nvSpPr>
          <p:cNvPr id="8" name="Rectangle 7"/>
          <p:cNvSpPr/>
          <p:nvPr/>
        </p:nvSpPr>
        <p:spPr>
          <a:xfrm>
            <a:off x="3328416" y="1078992"/>
            <a:ext cx="2651760" cy="283464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28416" y="1078992"/>
            <a:ext cx="2651760" cy="3474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8144" y="1115568"/>
            <a:ext cx="2432304" cy="274320"/>
          </a:xfrm>
          <a:prstGeom prst="rect">
            <a:avLst/>
          </a:prstGeom>
          <a:noFill/>
        </p:spPr>
        <p:txBody>
          <a:bodyPr wrap="none" lIns="0" tIns="0" rIns="0" bIns="0">
            <a:spAutoFit/>
          </a:bodyPr>
          <a:lstStyle/>
          <a:p>
            <a:pPr>
              <a:defRPr sz="1050" b="1">
                <a:solidFill>
                  <a:srgbClr val="FFFFFF"/>
                </a:solidFill>
                <a:latin typeface="Microsoft YaHei"/>
              </a:defRPr>
            </a:pPr>
            <a:r>
              <a:t>2. 前置微秒动态决策</a:t>
            </a:r>
          </a:p>
          <a:p>
            <a:pPr algn="r">
              <a:defRPr sz="950" b="1">
                <a:solidFill>
                  <a:srgbClr val="BFDBFE"/>
                </a:solidFill>
                <a:latin typeface="Microsoft YaHei"/>
              </a:defRPr>
            </a:pPr>
            <a:r>
              <a:t>[净加速收益]</a:t>
            </a:r>
          </a:p>
        </p:txBody>
      </p:sp>
      <p:sp>
        <p:nvSpPr>
          <p:cNvPr id="11" name="TextBox 10"/>
          <p:cNvSpPr txBox="1"/>
          <p:nvPr/>
        </p:nvSpPr>
        <p:spPr>
          <a:xfrm>
            <a:off x="3328416" y="1444752"/>
            <a:ext cx="2651760" cy="2450592"/>
          </a:xfrm>
          <a:prstGeom prst="rect">
            <a:avLst/>
          </a:prstGeom>
          <a:noFill/>
        </p:spPr>
        <p:txBody>
          <a:bodyPr wrap="square" lIns="73152" tIns="73152" rIns="73152" bIns="73152">
            <a:spAutoFit/>
          </a:bodyPr>
          <a:lstStyle/>
          <a:p>
            <a:pPr>
              <a:lnSpc>
                <a:spcPct val="115000"/>
              </a:lnSpc>
              <a:spcAft>
                <a:spcPts val="450"/>
              </a:spcAft>
            </a:pPr>
            <a:r>
              <a:rPr sz="919" b="1">
                <a:solidFill>
                  <a:srgbClr val="1E3A8A"/>
                </a:solidFill>
                <a:latin typeface="Microsoft YaHei"/>
              </a:rPr>
              <a:t>▸ </a:t>
            </a:r>
            <a:r>
              <a:rPr sz="919" b="1">
                <a:solidFill>
                  <a:srgbClr val="1E3A8A"/>
                </a:solidFill>
                <a:latin typeface="Microsoft YaHei"/>
              </a:rPr>
              <a:t>净收益前置门禁：</a:t>
            </a:r>
            <a:r>
              <a:rPr sz="919">
                <a:solidFill>
                  <a:srgbClr val="1E293B"/>
                </a:solidFill>
                <a:latin typeface="Microsoft YaHei"/>
              </a:rPr>
              <a:t>拉取加载总开销 &lt; 本地直接重算耗时，否则主动回退本地重算</a:t>
            </a:r>
          </a:p>
          <a:p>
            <a:pPr>
              <a:lnSpc>
                <a:spcPct val="115000"/>
              </a:lnSpc>
              <a:spcAft>
                <a:spcPts val="450"/>
              </a:spcAft>
            </a:pPr>
            <a:r>
              <a:rPr sz="919" b="1">
                <a:solidFill>
                  <a:srgbClr val="1E3A8A"/>
                </a:solidFill>
                <a:latin typeface="Microsoft YaHei"/>
              </a:rPr>
              <a:t>▸ </a:t>
            </a:r>
            <a:r>
              <a:rPr sz="919" b="1">
                <a:solidFill>
                  <a:srgbClr val="1E3A8A"/>
                </a:solidFill>
                <a:latin typeface="Microsoft YaHei"/>
              </a:rPr>
              <a:t>无锁快路径匹配：</a:t>
            </a:r>
            <a:r>
              <a:rPr sz="919">
                <a:solidFill>
                  <a:srgbClr val="1E293B"/>
                </a:solidFill>
                <a:latin typeface="Microsoft YaHei"/>
              </a:rPr>
              <a:t>ART 基数树快照遍历 P99 &lt; 2µs，QueryPlan 动态微秒选路</a:t>
            </a:r>
          </a:p>
          <a:p>
            <a:pPr>
              <a:lnSpc>
                <a:spcPct val="115000"/>
              </a:lnSpc>
              <a:spcAft>
                <a:spcPts val="450"/>
              </a:spcAft>
            </a:pPr>
            <a:r>
              <a:rPr sz="919" b="1">
                <a:solidFill>
                  <a:srgbClr val="1E3A8A"/>
                </a:solidFill>
                <a:latin typeface="Microsoft YaHei"/>
              </a:rPr>
              <a:t>▸ </a:t>
            </a:r>
            <a:r>
              <a:rPr sz="919" b="1">
                <a:solidFill>
                  <a:srgbClr val="1E3A8A"/>
                </a:solidFill>
                <a:latin typeface="Microsoft YaHei"/>
              </a:rPr>
              <a:t>Host 零数据拷贝：</a:t>
            </a:r>
            <a:r>
              <a:rPr sz="919">
                <a:solidFill>
                  <a:srgbClr val="1E293B"/>
                </a:solidFill>
                <a:latin typeface="Microsoft YaHei"/>
              </a:rPr>
              <a:t>CPU 仅下发 64B POD 描述符，数据经 DMA 直达 NPU HBM</a:t>
            </a:r>
          </a:p>
        </p:txBody>
      </p:sp>
      <p:sp>
        <p:nvSpPr>
          <p:cNvPr id="12" name="Rectangle 11"/>
          <p:cNvSpPr/>
          <p:nvPr/>
        </p:nvSpPr>
        <p:spPr>
          <a:xfrm>
            <a:off x="6199632" y="1078992"/>
            <a:ext cx="2651760" cy="283464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078992"/>
            <a:ext cx="2651760" cy="34747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115568"/>
            <a:ext cx="2432304" cy="274320"/>
          </a:xfrm>
          <a:prstGeom prst="rect">
            <a:avLst/>
          </a:prstGeom>
          <a:noFill/>
        </p:spPr>
        <p:txBody>
          <a:bodyPr wrap="none" lIns="0" tIns="0" rIns="0" bIns="0">
            <a:spAutoFit/>
          </a:bodyPr>
          <a:lstStyle/>
          <a:p>
            <a:pPr>
              <a:defRPr sz="1050" b="1">
                <a:solidFill>
                  <a:srgbClr val="FFFFFF"/>
                </a:solidFill>
                <a:latin typeface="Microsoft YaHei"/>
              </a:defRPr>
            </a:pPr>
            <a:r>
              <a:t>3. 生产级安全一致性</a:t>
            </a:r>
          </a:p>
          <a:p>
            <a:pPr algn="r">
              <a:defRPr sz="950" b="1">
                <a:solidFill>
                  <a:srgbClr val="BFDBFE"/>
                </a:solidFill>
                <a:latin typeface="Microsoft YaHei"/>
              </a:defRPr>
            </a:pPr>
            <a:r>
              <a:t>[数据安全校验]</a:t>
            </a:r>
          </a:p>
        </p:txBody>
      </p:sp>
      <p:sp>
        <p:nvSpPr>
          <p:cNvPr id="15" name="TextBox 14"/>
          <p:cNvSpPr txBox="1"/>
          <p:nvPr/>
        </p:nvSpPr>
        <p:spPr>
          <a:xfrm>
            <a:off x="6199632" y="1444752"/>
            <a:ext cx="2651760" cy="2450592"/>
          </a:xfrm>
          <a:prstGeom prst="rect">
            <a:avLst/>
          </a:prstGeom>
          <a:noFill/>
        </p:spPr>
        <p:txBody>
          <a:bodyPr wrap="square" lIns="73152" tIns="73152" rIns="73152" bIns="73152">
            <a:spAutoFit/>
          </a:bodyPr>
          <a:lstStyle/>
          <a:p>
            <a:pPr>
              <a:lnSpc>
                <a:spcPct val="115000"/>
              </a:lnSpc>
              <a:spcAft>
                <a:spcPts val="450"/>
              </a:spcAft>
            </a:pPr>
            <a:r>
              <a:rPr sz="919" b="1">
                <a:solidFill>
                  <a:srgbClr val="1E3A8A"/>
                </a:solidFill>
                <a:latin typeface="Microsoft YaHei"/>
              </a:rPr>
              <a:t>▸ </a:t>
            </a:r>
            <a:r>
              <a:rPr sz="919" b="1">
                <a:solidFill>
                  <a:srgbClr val="1E3A8A"/>
                </a:solidFill>
                <a:latin typeface="Microsoft YaHei"/>
              </a:rPr>
              <a:t>6 维语义强校验：</a:t>
            </a:r>
            <a:r>
              <a:rPr sz="919">
                <a:solidFill>
                  <a:srgbClr val="1E293B"/>
                </a:solidFill>
                <a:latin typeface="Microsoft YaHei"/>
              </a:rPr>
              <a:t>比对模型/词表/模板/LoRA/Ready位/租约，防范非法与失效数据消费</a:t>
            </a:r>
          </a:p>
          <a:p>
            <a:pPr>
              <a:lnSpc>
                <a:spcPct val="115000"/>
              </a:lnSpc>
              <a:spcAft>
                <a:spcPts val="450"/>
              </a:spcAft>
            </a:pPr>
            <a:r>
              <a:rPr sz="919" b="1">
                <a:solidFill>
                  <a:srgbClr val="1E3A8A"/>
                </a:solidFill>
                <a:latin typeface="Microsoft YaHei"/>
              </a:rPr>
              <a:t>▸ </a:t>
            </a:r>
            <a:r>
              <a:rPr sz="919" b="1">
                <a:solidFill>
                  <a:srgbClr val="1E3A8A"/>
                </a:solidFill>
                <a:latin typeface="Microsoft YaHei"/>
              </a:rPr>
              <a:t>ViewGuard 500µs：</a:t>
            </a:r>
            <a:r>
              <a:rPr sz="919">
                <a:solidFill>
                  <a:srgbClr val="1E293B"/>
                </a:solidFill>
                <a:latin typeface="Microsoft YaHei"/>
              </a:rPr>
              <a:t>跨节点直读捕获 SIGBUS 异常在 500µs 内跳出并回滚本地重算</a:t>
            </a:r>
          </a:p>
          <a:p>
            <a:pPr>
              <a:lnSpc>
                <a:spcPct val="115000"/>
              </a:lnSpc>
              <a:spcAft>
                <a:spcPts val="450"/>
              </a:spcAft>
            </a:pPr>
            <a:r>
              <a:rPr sz="919" b="1">
                <a:solidFill>
                  <a:srgbClr val="1E3A8A"/>
                </a:solidFill>
                <a:latin typeface="Microsoft YaHei"/>
              </a:rPr>
              <a:t>▸ </a:t>
            </a:r>
            <a:r>
              <a:rPr sz="919" b="1">
                <a:solidFill>
                  <a:srgbClr val="1E3A8A"/>
                </a:solidFill>
                <a:latin typeface="Microsoft YaHei"/>
              </a:rPr>
              <a:t>RCU 双层宽限期：</a:t>
            </a:r>
            <a:r>
              <a:rPr sz="919">
                <a:solidFill>
                  <a:srgbClr val="1E293B"/>
                </a:solidFill>
                <a:latin typeface="Microsoft YaHei"/>
              </a:rPr>
              <a:t>CPU 读者退出与硬件在途 I/O 排空双层仲裁，保障显存安全释放</a:t>
            </a:r>
          </a:p>
        </p:txBody>
      </p:sp>
      <p:sp>
        <p:nvSpPr>
          <p:cNvPr id="16" name="Rectangle 15"/>
          <p:cNvSpPr/>
          <p:nvPr/>
        </p:nvSpPr>
        <p:spPr>
          <a:xfrm>
            <a:off x="9070848" y="1078992"/>
            <a:ext cx="2651760" cy="283464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70848" y="1078992"/>
            <a:ext cx="2651760" cy="34747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0576" y="1115568"/>
            <a:ext cx="2432304" cy="274320"/>
          </a:xfrm>
          <a:prstGeom prst="rect">
            <a:avLst/>
          </a:prstGeom>
          <a:noFill/>
        </p:spPr>
        <p:txBody>
          <a:bodyPr wrap="none" lIns="0" tIns="0" rIns="0" bIns="0">
            <a:spAutoFit/>
          </a:bodyPr>
          <a:lstStyle/>
          <a:p>
            <a:pPr>
              <a:defRPr sz="1050" b="1">
                <a:solidFill>
                  <a:srgbClr val="FFFFFF"/>
                </a:solidFill>
                <a:latin typeface="Microsoft YaHei"/>
              </a:defRPr>
            </a:pPr>
            <a:r>
              <a:t>4. 阶段门禁与质量闭环</a:t>
            </a:r>
          </a:p>
          <a:p>
            <a:pPr algn="r">
              <a:defRPr sz="950" b="1">
                <a:solidFill>
                  <a:srgbClr val="BFDBFE"/>
                </a:solidFill>
                <a:latin typeface="Microsoft YaHei"/>
              </a:defRPr>
            </a:pPr>
            <a:r>
              <a:t>[工程推进]</a:t>
            </a:r>
          </a:p>
        </p:txBody>
      </p:sp>
      <p:sp>
        <p:nvSpPr>
          <p:cNvPr id="19" name="TextBox 18"/>
          <p:cNvSpPr txBox="1"/>
          <p:nvPr/>
        </p:nvSpPr>
        <p:spPr>
          <a:xfrm>
            <a:off x="9070848" y="1444752"/>
            <a:ext cx="2651760" cy="2450592"/>
          </a:xfrm>
          <a:prstGeom prst="rect">
            <a:avLst/>
          </a:prstGeom>
          <a:noFill/>
        </p:spPr>
        <p:txBody>
          <a:bodyPr wrap="square" lIns="73152" tIns="73152" rIns="73152" bIns="73152">
            <a:spAutoFit/>
          </a:bodyPr>
          <a:lstStyle/>
          <a:p>
            <a:pPr>
              <a:lnSpc>
                <a:spcPct val="115000"/>
              </a:lnSpc>
              <a:spcAft>
                <a:spcPts val="450"/>
              </a:spcAft>
            </a:pPr>
            <a:r>
              <a:rPr sz="919" b="1">
                <a:solidFill>
                  <a:srgbClr val="1E3A8A"/>
                </a:solidFill>
                <a:latin typeface="Microsoft YaHei"/>
              </a:rPr>
              <a:t>▸ </a:t>
            </a:r>
            <a:r>
              <a:rPr sz="919" b="1">
                <a:solidFill>
                  <a:srgbClr val="1E3A8A"/>
                </a:solidFill>
                <a:latin typeface="Microsoft YaHei"/>
              </a:rPr>
              <a:t>E0~E3 渐进门限：</a:t>
            </a:r>
            <a:r>
              <a:rPr sz="919">
                <a:solidFill>
                  <a:srgbClr val="1E293B"/>
                </a:solidFill>
                <a:latin typeface="Microsoft YaHei"/>
              </a:rPr>
              <a:t>严格按收益确认、底座打通、调度决策与端到端混压四阶段演进</a:t>
            </a:r>
          </a:p>
          <a:p>
            <a:pPr>
              <a:lnSpc>
                <a:spcPct val="115000"/>
              </a:lnSpc>
              <a:spcAft>
                <a:spcPts val="450"/>
              </a:spcAft>
            </a:pPr>
            <a:r>
              <a:rPr sz="919" b="1">
                <a:solidFill>
                  <a:srgbClr val="1E3A8A"/>
                </a:solidFill>
                <a:latin typeface="Microsoft YaHei"/>
              </a:rPr>
              <a:t>▸ </a:t>
            </a:r>
            <a:r>
              <a:rPr sz="919" b="1">
                <a:solidFill>
                  <a:srgbClr val="1E3A8A"/>
                </a:solidFill>
                <a:latin typeface="Microsoft YaHei"/>
              </a:rPr>
              <a:t>严苛混压门禁：</a:t>
            </a:r>
            <a:r>
              <a:rPr sz="919">
                <a:solidFill>
                  <a:srgbClr val="1E293B"/>
                </a:solidFill>
                <a:latin typeface="Microsoft YaHei"/>
              </a:rPr>
              <a:t>前后台混压下 TTFT 降幅 ≥ 20%，QPS 提升 ≥ 10%，TPOT 干扰 &lt; 3%</a:t>
            </a:r>
          </a:p>
          <a:p>
            <a:pPr>
              <a:lnSpc>
                <a:spcPct val="115000"/>
              </a:lnSpc>
              <a:spcAft>
                <a:spcPts val="450"/>
              </a:spcAft>
            </a:pPr>
            <a:r>
              <a:rPr sz="919" b="1">
                <a:solidFill>
                  <a:srgbClr val="1E3A8A"/>
                </a:solidFill>
                <a:latin typeface="Microsoft YaHei"/>
              </a:rPr>
              <a:t>▸ </a:t>
            </a:r>
            <a:r>
              <a:rPr sz="919" b="1">
                <a:solidFill>
                  <a:srgbClr val="1E3A8A"/>
                </a:solidFill>
                <a:latin typeface="Microsoft YaHei"/>
              </a:rPr>
              <a:t>研产测一体化：</a:t>
            </a:r>
            <a:r>
              <a:rPr sz="919">
                <a:solidFill>
                  <a:srgbClr val="1E293B"/>
                </a:solidFill>
                <a:latin typeface="Microsoft YaHei"/>
              </a:rPr>
              <a:t>代码、规范、实测数据与核心专利同步闭环交付，以客观实测为依据</a:t>
            </a:r>
          </a:p>
        </p:txBody>
      </p:sp>
      <p:sp>
        <p:nvSpPr>
          <p:cNvPr id="20" name="Rectangle 19"/>
          <p:cNvSpPr/>
          <p:nvPr/>
        </p:nvSpPr>
        <p:spPr>
          <a:xfrm>
            <a:off x="457200" y="4069080"/>
            <a:ext cx="5532120" cy="169164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069080"/>
            <a:ext cx="5532120" cy="3200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105656"/>
            <a:ext cx="5312664" cy="246888"/>
          </a:xfrm>
          <a:prstGeom prst="rect">
            <a:avLst/>
          </a:prstGeom>
          <a:noFill/>
        </p:spPr>
        <p:txBody>
          <a:bodyPr wrap="none" lIns="0" tIns="0" rIns="0" bIns="0">
            <a:spAutoFit/>
          </a:bodyPr>
          <a:lstStyle/>
          <a:p>
            <a:pPr>
              <a:defRPr sz="1080" b="1">
                <a:solidFill>
                  <a:srgbClr val="FFFFFF"/>
                </a:solidFill>
                <a:latin typeface="Microsoft YaHei"/>
              </a:defRPr>
            </a:pPr>
            <a:r>
              <a:t>四大生产级核心交付资产</a:t>
            </a:r>
          </a:p>
          <a:p>
            <a:pPr algn="r">
              <a:defRPr sz="950" b="1">
                <a:solidFill>
                  <a:srgbClr val="BFDBFE"/>
                </a:solidFill>
                <a:latin typeface="Microsoft YaHei"/>
              </a:defRPr>
            </a:pPr>
            <a:r>
              <a:t>[研产测一体化交付]</a:t>
            </a:r>
          </a:p>
        </p:txBody>
      </p:sp>
      <p:sp>
        <p:nvSpPr>
          <p:cNvPr id="23" name="TextBox 22"/>
          <p:cNvSpPr txBox="1"/>
          <p:nvPr/>
        </p:nvSpPr>
        <p:spPr>
          <a:xfrm>
            <a:off x="457200" y="4398264"/>
            <a:ext cx="5532120" cy="1344168"/>
          </a:xfrm>
          <a:prstGeom prst="rect">
            <a:avLst/>
          </a:prstGeom>
          <a:noFill/>
        </p:spPr>
        <p:txBody>
          <a:bodyPr wrap="square" lIns="73152" tIns="73152" rIns="73152" bIns="73152">
            <a:spAutoFit/>
          </a:bodyPr>
          <a:lstStyle/>
          <a:p>
            <a:pPr>
              <a:lnSpc>
                <a:spcPct val="112000"/>
              </a:lnSpc>
              <a:spcAft>
                <a:spcPts val="250"/>
              </a:spcAft>
            </a:pPr>
            <a:r>
              <a:rPr sz="900" b="1">
                <a:solidFill>
                  <a:srgbClr val="1E3A8A"/>
                </a:solidFill>
                <a:latin typeface="Microsoft YaHei"/>
              </a:rPr>
              <a:t>▸ </a:t>
            </a:r>
            <a:r>
              <a:rPr sz="900" b="1">
                <a:solidFill>
                  <a:srgbClr val="1E3A8A"/>
                </a:solidFill>
                <a:latin typeface="Microsoft YaHei"/>
              </a:rPr>
              <a:t>代码资产：</a:t>
            </a:r>
            <a:r>
              <a:rPr sz="900">
                <a:solidFill>
                  <a:srgbClr val="1E293B"/>
                </a:solidFill>
                <a:latin typeface="Microsoft YaHei"/>
              </a:rPr>
              <a:t>交付全套微秒级 C/C++ 原生核心库、POSIX 共享内存运行时与单元测试套件</a:t>
            </a:r>
          </a:p>
          <a:p>
            <a:pPr>
              <a:lnSpc>
                <a:spcPct val="112000"/>
              </a:lnSpc>
              <a:spcAft>
                <a:spcPts val="250"/>
              </a:spcAft>
            </a:pPr>
            <a:r>
              <a:rPr sz="900" b="1">
                <a:solidFill>
                  <a:srgbClr val="1E3A8A"/>
                </a:solidFill>
                <a:latin typeface="Microsoft YaHei"/>
              </a:rPr>
              <a:t>▸ </a:t>
            </a:r>
            <a:r>
              <a:rPr sz="900" b="1">
                <a:solidFill>
                  <a:srgbClr val="1E3A8A"/>
                </a:solidFill>
                <a:latin typeface="Microsoft YaHei"/>
              </a:rPr>
              <a:t>规范资产：</a:t>
            </a:r>
            <a:r>
              <a:rPr sz="900">
                <a:solidFill>
                  <a:srgbClr val="1E293B"/>
                </a:solidFill>
                <a:latin typeface="Microsoft YaHei"/>
              </a:rPr>
              <a:t>输出白皮书级《系统架构设计说明书》、《KPCL 通信驱动 API 契约》与部署规范</a:t>
            </a:r>
          </a:p>
          <a:p>
            <a:pPr>
              <a:lnSpc>
                <a:spcPct val="112000"/>
              </a:lnSpc>
              <a:spcAft>
                <a:spcPts val="250"/>
              </a:spcAft>
            </a:pPr>
            <a:r>
              <a:rPr sz="900" b="1">
                <a:solidFill>
                  <a:srgbClr val="1E3A8A"/>
                </a:solidFill>
                <a:latin typeface="Microsoft YaHei"/>
              </a:rPr>
              <a:t>▸ </a:t>
            </a:r>
            <a:r>
              <a:rPr sz="900" b="1">
                <a:solidFill>
                  <a:srgbClr val="1E3A8A"/>
                </a:solidFill>
                <a:latin typeface="Microsoft YaHei"/>
              </a:rPr>
              <a:t>数据资产：</a:t>
            </a:r>
            <a:r>
              <a:rPr sz="900">
                <a:solidFill>
                  <a:srgbClr val="1E293B"/>
                </a:solidFill>
                <a:latin typeface="Microsoft YaHei"/>
              </a:rPr>
              <a:t>交付 12 份标准验证报告、真实拓扑 CSV 原始事件与微秒级监控追踪曲线</a:t>
            </a:r>
          </a:p>
          <a:p>
            <a:pPr>
              <a:lnSpc>
                <a:spcPct val="112000"/>
              </a:lnSpc>
              <a:spcAft>
                <a:spcPts val="250"/>
              </a:spcAft>
            </a:pPr>
            <a:r>
              <a:rPr sz="900" b="1">
                <a:solidFill>
                  <a:srgbClr val="1E3A8A"/>
                </a:solidFill>
                <a:latin typeface="Microsoft YaHei"/>
              </a:rPr>
              <a:t>▸ </a:t>
            </a:r>
            <a:r>
              <a:rPr sz="900" b="1">
                <a:solidFill>
                  <a:srgbClr val="1E3A8A"/>
                </a:solidFill>
                <a:latin typeface="Microsoft YaHei"/>
              </a:rPr>
              <a:t>专利资产：</a:t>
            </a:r>
            <a:r>
              <a:rPr sz="900">
                <a:solidFill>
                  <a:srgbClr val="1E293B"/>
                </a:solidFill>
                <a:latin typeface="Microsoft YaHei"/>
              </a:rPr>
              <a:t>围绕双流分离、ViewGuard 容错、6维语义校验与 DAG 流水布局多项核心发明专利</a:t>
            </a:r>
          </a:p>
        </p:txBody>
      </p:sp>
      <p:sp>
        <p:nvSpPr>
          <p:cNvPr id="24" name="Rectangle 23"/>
          <p:cNvSpPr/>
          <p:nvPr/>
        </p:nvSpPr>
        <p:spPr>
          <a:xfrm>
            <a:off x="6199632" y="4069080"/>
            <a:ext cx="5532120" cy="169164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9632" y="4069080"/>
            <a:ext cx="5532120" cy="3200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4105656"/>
            <a:ext cx="5312664" cy="246888"/>
          </a:xfrm>
          <a:prstGeom prst="rect">
            <a:avLst/>
          </a:prstGeom>
          <a:noFill/>
        </p:spPr>
        <p:txBody>
          <a:bodyPr wrap="none" lIns="0" tIns="0" rIns="0" bIns="0">
            <a:spAutoFit/>
          </a:bodyPr>
          <a:lstStyle/>
          <a:p>
            <a:pPr>
              <a:defRPr sz="1080" b="1">
                <a:solidFill>
                  <a:srgbClr val="FFFFFF"/>
                </a:solidFill>
                <a:latin typeface="Microsoft YaHei"/>
              </a:defRPr>
            </a:pPr>
            <a:r>
              <a:t>研发攻坚落地承诺与推进准则</a:t>
            </a:r>
          </a:p>
          <a:p>
            <a:pPr algn="r">
              <a:defRPr sz="950" b="1">
                <a:solidFill>
                  <a:srgbClr val="BFDBFE"/>
                </a:solidFill>
                <a:latin typeface="Microsoft YaHei"/>
              </a:defRPr>
            </a:pPr>
            <a:r>
              <a:t>[专家担当与底线思维]</a:t>
            </a:r>
          </a:p>
        </p:txBody>
      </p:sp>
      <p:sp>
        <p:nvSpPr>
          <p:cNvPr id="27" name="TextBox 26"/>
          <p:cNvSpPr txBox="1"/>
          <p:nvPr/>
        </p:nvSpPr>
        <p:spPr>
          <a:xfrm>
            <a:off x="6199632" y="4398264"/>
            <a:ext cx="5532120" cy="1344168"/>
          </a:xfrm>
          <a:prstGeom prst="rect">
            <a:avLst/>
          </a:prstGeom>
          <a:noFill/>
        </p:spPr>
        <p:txBody>
          <a:bodyPr wrap="square" lIns="73152" tIns="73152" rIns="73152" bIns="73152">
            <a:spAutoFit/>
          </a:bodyPr>
          <a:lstStyle/>
          <a:p>
            <a:pPr>
              <a:lnSpc>
                <a:spcPct val="112000"/>
              </a:lnSpc>
              <a:spcAft>
                <a:spcPts val="250"/>
              </a:spcAft>
            </a:pPr>
            <a:r>
              <a:rPr sz="900" b="1">
                <a:solidFill>
                  <a:srgbClr val="1E3A8A"/>
                </a:solidFill>
                <a:latin typeface="Microsoft YaHei"/>
              </a:rPr>
              <a:t>▸ </a:t>
            </a:r>
            <a:r>
              <a:rPr sz="900" b="1">
                <a:solidFill>
                  <a:srgbClr val="1E3A8A"/>
                </a:solidFill>
                <a:latin typeface="Microsoft YaHei"/>
              </a:rPr>
              <a:t>直面物理瓶颈第一性：</a:t>
            </a:r>
            <a:r>
              <a:rPr sz="900">
                <a:solidFill>
                  <a:srgbClr val="1E293B"/>
                </a:solidFill>
                <a:latin typeface="Microsoft YaHei"/>
              </a:rPr>
              <a:t>从硬件拓扑与网络排队动力学出发，系统性优化多卡加载偏斜与 Incast 拥塞</a:t>
            </a:r>
          </a:p>
          <a:p>
            <a:pPr>
              <a:lnSpc>
                <a:spcPct val="112000"/>
              </a:lnSpc>
              <a:spcAft>
                <a:spcPts val="250"/>
              </a:spcAft>
            </a:pPr>
            <a:r>
              <a:rPr sz="900" b="1">
                <a:solidFill>
                  <a:srgbClr val="1E3A8A"/>
                </a:solidFill>
                <a:latin typeface="Microsoft YaHei"/>
              </a:rPr>
              <a:t>▸ </a:t>
            </a:r>
            <a:r>
              <a:rPr sz="900" b="1">
                <a:solidFill>
                  <a:srgbClr val="1E3A8A"/>
                </a:solidFill>
                <a:latin typeface="Microsoft YaHei"/>
              </a:rPr>
              <a:t>坚守学术与技术诚信：</a:t>
            </a:r>
            <a:r>
              <a:rPr sz="900">
                <a:solidFill>
                  <a:srgbClr val="1E293B"/>
                </a:solidFill>
                <a:latin typeface="Microsoft YaHei"/>
              </a:rPr>
              <a:t>不知为不知，绝不杜撰数据，严格区分已有需求、设计建议与推导算例</a:t>
            </a:r>
          </a:p>
          <a:p>
            <a:pPr>
              <a:lnSpc>
                <a:spcPct val="112000"/>
              </a:lnSpc>
              <a:spcAft>
                <a:spcPts val="250"/>
              </a:spcAft>
            </a:pPr>
            <a:r>
              <a:rPr sz="900" b="1">
                <a:solidFill>
                  <a:srgbClr val="1E3A8A"/>
                </a:solidFill>
                <a:latin typeface="Microsoft YaHei"/>
              </a:rPr>
              <a:t>▸ </a:t>
            </a:r>
            <a:r>
              <a:rPr sz="900" b="1">
                <a:solidFill>
                  <a:srgbClr val="1E3A8A"/>
                </a:solidFill>
                <a:latin typeface="Microsoft YaHei"/>
              </a:rPr>
              <a:t>以客观实测数据为依据：</a:t>
            </a:r>
            <a:r>
              <a:rPr sz="900">
                <a:solidFill>
                  <a:srgbClr val="1E293B"/>
                </a:solidFill>
                <a:latin typeface="Microsoft YaHei"/>
              </a:rPr>
              <a:t>所有指标以真实 2 节点 W2 集群混压测试数据为准，杜绝未经验证的纸面假设</a:t>
            </a:r>
          </a:p>
          <a:p>
            <a:pPr>
              <a:lnSpc>
                <a:spcPct val="112000"/>
              </a:lnSpc>
              <a:spcAft>
                <a:spcPts val="250"/>
              </a:spcAft>
            </a:pPr>
            <a:r>
              <a:rPr sz="900" b="1">
                <a:solidFill>
                  <a:srgbClr val="1E3A8A"/>
                </a:solidFill>
                <a:latin typeface="Microsoft YaHei"/>
              </a:rPr>
              <a:t>▸ </a:t>
            </a:r>
            <a:r>
              <a:rPr sz="900" b="1">
                <a:solidFill>
                  <a:srgbClr val="1E3A8A"/>
                </a:solidFill>
                <a:latin typeface="Microsoft YaHei"/>
              </a:rPr>
              <a:t>阶段门禁准入与风险应对：</a:t>
            </a:r>
            <a:r>
              <a:rPr sz="900">
                <a:solidFill>
                  <a:srgbClr val="1E293B"/>
                </a:solidFill>
                <a:latin typeface="Microsoft YaHei"/>
              </a:rPr>
              <a:t>严格执行 E0~E3 准入与证伪门限，主路径遇阻果断启动备选兜底方案</a:t>
            </a:r>
          </a:p>
        </p:txBody>
      </p:sp>
      <p:sp>
        <p:nvSpPr>
          <p:cNvPr id="28" name="Rectangle 27"/>
          <p:cNvSpPr/>
          <p:nvPr/>
        </p:nvSpPr>
        <p:spPr>
          <a:xfrm>
            <a:off x="457200" y="5897880"/>
            <a:ext cx="11277295" cy="62179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5897880"/>
            <a:ext cx="73152" cy="62179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5989320"/>
            <a:ext cx="11002975" cy="438912"/>
          </a:xfrm>
          <a:prstGeom prst="rect">
            <a:avLst/>
          </a:prstGeom>
          <a:noFill/>
        </p:spPr>
        <p:txBody>
          <a:bodyPr wrap="square" lIns="0" tIns="0" rIns="0" bIns="0">
            <a:spAutoFit/>
          </a:bodyPr>
          <a:lstStyle/>
          <a:p>
            <a:pPr>
              <a:lnSpc>
                <a:spcPct val="115000"/>
              </a:lnSpc>
            </a:pPr>
            <a:r>
              <a:rPr sz="1200" b="1">
                <a:solidFill>
                  <a:srgbClr val="2563EB"/>
                </a:solidFill>
                <a:latin typeface="Microsoft YaHei"/>
              </a:rPr>
              <a:t>【核心结论】 </a:t>
            </a:r>
            <a:r>
              <a:rPr sz="1150" b="1">
                <a:solidFill>
                  <a:srgbClr val="1E293B"/>
                </a:solidFill>
                <a:latin typeface="Microsoft YaHei"/>
              </a:rPr>
              <a:t>基于第一性原理与软硬件协同设计，打造高可靠统一异构 KVCache 存储底座；严格按四个验证阶段推进，确保系统高质量交付。</a:t>
            </a:r>
            <a:r>
              <a:rPr sz="1150" b="1">
                <a:solidFill>
                  <a:srgbClr val="DC2626"/>
                </a:solidFill>
                <a:latin typeface="Microsoft YaHei"/>
              </a:rPr>
              <a:t>
为后续系统工程落地提供扎实技术依据，以客观实测数据为准。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