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Consolas"/>
              </a:defRPr>
            </a:pPr>
            <a:r>
              <a:t>UNIFIED HETEROGENEOUS KVCACHE MEMORY POOL · SOFTWARE ARCHITECTURE DESIGN (PLAN A)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109728" cy="5760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6012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Microsoft YaHei"/>
              </a:defRPr>
            </a:pPr>
            <a:r>
              <a:t>KVC 软件架构设计文档 · 方案 A</a:t>
            </a:r>
          </a:p>
          <a:p>
            <a:pPr>
              <a:spcBef>
                <a:spcPts val="600"/>
              </a:spcBef>
              <a:defRPr sz="1400" b="1">
                <a:solidFill>
                  <a:srgbClr val="2563EB"/>
                </a:solidFill>
                <a:latin typeface="Microsoft YaHei"/>
              </a:defRPr>
            </a:pPr>
            <a:r>
              <a:t>面向国产 AI 硬件的统一异构 KVCache 存储与调度底座 · 顶层架构设计与八大专题设计设想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574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75569"/>
                </a:solidFill>
                <a:latin typeface="Microsoft YaHei"/>
              </a:defRPr>
            </a:pPr>
            <a:r>
              <a:t>KVCache（大模型注意力键值缓存，在自回归生成中保存历史 Key/Value 激活状态张量，用于避免后续 Token 重复计算）原厂软硬件协同软件架构设计与工程落地全景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697480"/>
            <a:ext cx="347472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697480"/>
            <a:ext cx="3474720" cy="3657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734056"/>
            <a:ext cx="3255264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架构定位与责任边界</a:t>
            </a:r>
          </a:p>
          <a:p>
            <a:pPr algn="r">
              <a:defRPr sz="950" b="1">
                <a:solidFill>
                  <a:srgbClr val="BFDBFE"/>
                </a:solidFill>
                <a:latin typeface="Microsoft YaHei"/>
              </a:defRPr>
            </a:pPr>
            <a:r>
              <a:t>执行显存严格归框架拥有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81528"/>
            <a:ext cx="3474720" cy="2423160"/>
          </a:xfrm>
          <a:prstGeom prst="rect">
            <a:avLst/>
          </a:prstGeom>
          <a:noFill/>
        </p:spPr>
        <p:txBody>
          <a:bodyPr wrap="square" lIns="73152" tIns="73152" rIns="73152" bIns="73152">
            <a:spAutoFit/>
          </a:bodyPr>
          <a:lstStyle/>
          <a:p>
            <a:pPr>
              <a:lnSpc>
                <a:spcPct val="116000"/>
              </a:lnSpc>
              <a:spcAft>
                <a:spcPts val="550"/>
              </a:spcAft>
            </a:pPr>
            <a:r>
              <a:rPr sz="100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1000" b="1">
                <a:solidFill>
                  <a:srgbClr val="1E3A8A"/>
                </a:solidFill>
                <a:latin typeface="Microsoft YaHei"/>
              </a:rPr>
              <a:t>执行显存归属：</a:t>
            </a:r>
            <a:r>
              <a:rPr sz="1000">
                <a:solidFill>
                  <a:srgbClr val="1E293B"/>
                </a:solidFill>
                <a:latin typeface="Microsoft YaHei"/>
              </a:rPr>
              <a:t>推理框架直接管理执行 HBM 块表，KVC 绝不越权接管算子运行时内部显存分配</a:t>
            </a:r>
          </a:p>
          <a:p>
            <a:pPr>
              <a:lnSpc>
                <a:spcPct val="116000"/>
              </a:lnSpc>
              <a:spcAft>
                <a:spcPts val="550"/>
              </a:spcAft>
            </a:pPr>
            <a:r>
              <a:rPr sz="100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1000" b="1">
                <a:solidFill>
                  <a:srgbClr val="1E3A8A"/>
                </a:solidFill>
                <a:latin typeface="Microsoft YaHei"/>
              </a:rPr>
              <a:t>存储池统一范式：</a:t>
            </a:r>
            <a:r>
              <a:rPr sz="1000">
                <a:solidFill>
                  <a:srgbClr val="1E293B"/>
                </a:solidFill>
                <a:latin typeface="Microsoft YaHei"/>
              </a:rPr>
              <a:t>逻辑统一对象身份、全局分布、版本与生命周期，支持跨节点微秒级加载调度</a:t>
            </a:r>
          </a:p>
          <a:p>
            <a:pPr>
              <a:lnSpc>
                <a:spcPct val="116000"/>
              </a:lnSpc>
              <a:spcAft>
                <a:spcPts val="550"/>
              </a:spcAft>
            </a:pPr>
            <a:r>
              <a:rPr sz="100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1000" b="1">
                <a:solidFill>
                  <a:srgbClr val="1E3A8A"/>
                </a:solidFill>
                <a:latin typeface="Microsoft YaHei"/>
              </a:rPr>
              <a:t>硬件原厂协同：</a:t>
            </a:r>
            <a:r>
              <a:rPr sz="1000">
                <a:solidFill>
                  <a:srgbClr val="1E293B"/>
                </a:solidFill>
                <a:latin typeface="Microsoft YaHei"/>
              </a:rPr>
              <a:t>以底层通信库 (KPCL) 封装硬件驱动，屏蔽底层总线异构细节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2697480"/>
            <a:ext cx="347472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2697480"/>
            <a:ext cx="3474720" cy="3657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8848" y="2734056"/>
            <a:ext cx="3255264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微秒决策与零拷贝数据面</a:t>
            </a:r>
          </a:p>
          <a:p>
            <a:pPr algn="r">
              <a:defRPr sz="950" b="1">
                <a:solidFill>
                  <a:srgbClr val="BFDBFE"/>
                </a:solidFill>
                <a:latin typeface="Microsoft YaHei"/>
              </a:defRPr>
            </a:pPr>
            <a:r>
              <a:t>驱动确定性净加速收益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081528"/>
            <a:ext cx="3474720" cy="2423160"/>
          </a:xfrm>
          <a:prstGeom prst="rect">
            <a:avLst/>
          </a:prstGeom>
          <a:noFill/>
        </p:spPr>
        <p:txBody>
          <a:bodyPr wrap="square" lIns="73152" tIns="73152" rIns="73152" bIns="73152">
            <a:spAutoFit/>
          </a:bodyPr>
          <a:lstStyle/>
          <a:p>
            <a:pPr>
              <a:lnSpc>
                <a:spcPct val="116000"/>
              </a:lnSpc>
              <a:spcAft>
                <a:spcPts val="550"/>
              </a:spcAft>
            </a:pPr>
            <a:r>
              <a:rPr sz="100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1000" b="1">
                <a:solidFill>
                  <a:srgbClr val="1E3A8A"/>
                </a:solidFill>
                <a:latin typeface="Microsoft YaHei"/>
              </a:rPr>
              <a:t>净加速收益前置：</a:t>
            </a:r>
            <a:r>
              <a:rPr sz="1000">
                <a:solidFill>
                  <a:srgbClr val="1E293B"/>
                </a:solidFill>
                <a:latin typeface="Microsoft YaHei"/>
              </a:rPr>
              <a:t>严格确保拉取与加载总开销 &lt; 本地直接重算耗时，否则主动回退至本地重算</a:t>
            </a:r>
          </a:p>
          <a:p>
            <a:pPr>
              <a:lnSpc>
                <a:spcPct val="116000"/>
              </a:lnSpc>
              <a:spcAft>
                <a:spcPts val="550"/>
              </a:spcAft>
            </a:pPr>
            <a:r>
              <a:rPr sz="100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1000" b="1">
                <a:solidFill>
                  <a:srgbClr val="1E3A8A"/>
                </a:solidFill>
                <a:latin typeface="Microsoft YaHei"/>
              </a:rPr>
              <a:t>微秒级选路决策：</a:t>
            </a:r>
            <a:r>
              <a:rPr sz="1000">
                <a:solidFill>
                  <a:srgbClr val="1E293B"/>
                </a:solidFill>
                <a:latin typeface="Microsoft YaHei"/>
              </a:rPr>
              <a:t>无锁 ART 树与成本模型协同，P99 &lt; 5µs 完成全局加载路径与分层介质决策</a:t>
            </a:r>
          </a:p>
          <a:p>
            <a:pPr>
              <a:lnSpc>
                <a:spcPct val="116000"/>
              </a:lnSpc>
              <a:spcAft>
                <a:spcPts val="550"/>
              </a:spcAft>
            </a:pPr>
            <a:r>
              <a:rPr sz="100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1000" b="1">
                <a:solidFill>
                  <a:srgbClr val="1E3A8A"/>
                </a:solidFill>
                <a:latin typeface="Microsoft YaHei"/>
              </a:rPr>
              <a:t>Host 零数据拷贝：</a:t>
            </a:r>
            <a:r>
              <a:rPr sz="1000">
                <a:solidFill>
                  <a:srgbClr val="1E293B"/>
                </a:solidFill>
                <a:latin typeface="Microsoft YaHei"/>
              </a:rPr>
              <a:t>在基础直达路径中 CPU 仅下发描述符，数据经 DMA 直达显存，消除 CPU 内存搬运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2697480"/>
            <a:ext cx="347472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2697480"/>
            <a:ext cx="347472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6448" y="2734056"/>
            <a:ext cx="3255264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生产级安全与三面可靠性</a:t>
            </a:r>
          </a:p>
          <a:p>
            <a:pPr algn="r">
              <a:defRPr sz="950" b="1">
                <a:solidFill>
                  <a:srgbClr val="BFDBFE"/>
                </a:solidFill>
                <a:latin typeface="Microsoft YaHei"/>
              </a:defRPr>
            </a:pPr>
            <a:r>
              <a:t>保障数据消费语义一致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081528"/>
            <a:ext cx="3474720" cy="2423160"/>
          </a:xfrm>
          <a:prstGeom prst="rect">
            <a:avLst/>
          </a:prstGeom>
          <a:noFill/>
        </p:spPr>
        <p:txBody>
          <a:bodyPr wrap="square" lIns="73152" tIns="73152" rIns="73152" bIns="73152">
            <a:spAutoFit/>
          </a:bodyPr>
          <a:lstStyle/>
          <a:p>
            <a:pPr>
              <a:lnSpc>
                <a:spcPct val="116000"/>
              </a:lnSpc>
              <a:spcAft>
                <a:spcPts val="550"/>
              </a:spcAft>
            </a:pPr>
            <a:r>
              <a:rPr sz="100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1000" b="1">
                <a:solidFill>
                  <a:srgbClr val="1E3A8A"/>
                </a:solidFill>
                <a:latin typeface="Microsoft YaHei"/>
              </a:rPr>
              <a:t>6 维语义强校验：</a:t>
            </a:r>
            <a:r>
              <a:rPr sz="1000">
                <a:solidFill>
                  <a:srgbClr val="1E293B"/>
                </a:solidFill>
                <a:latin typeface="Microsoft YaHei"/>
              </a:rPr>
              <a:t>比对模型/词表/模板/LoRA/Ready位/租约，杜绝陈旧半写失效数据被消费</a:t>
            </a:r>
          </a:p>
          <a:p>
            <a:pPr>
              <a:lnSpc>
                <a:spcPct val="116000"/>
              </a:lnSpc>
              <a:spcAft>
                <a:spcPts val="550"/>
              </a:spcAft>
            </a:pPr>
            <a:r>
              <a:rPr sz="100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1000" b="1">
                <a:solidFill>
                  <a:srgbClr val="1E3A8A"/>
                </a:solidFill>
                <a:latin typeface="Microsoft YaHei"/>
              </a:rPr>
              <a:t>ViewGuard 视图守卫：</a:t>
            </a:r>
            <a:r>
              <a:rPr sz="1000">
                <a:solidFill>
                  <a:srgbClr val="1E293B"/>
                </a:solidFill>
                <a:latin typeface="Microsoft YaHei"/>
              </a:rPr>
              <a:t>跨节点直读捕获 SIGBUS 异常并在 500µs 内回退重算，消除节点雪崩</a:t>
            </a:r>
          </a:p>
          <a:p>
            <a:pPr>
              <a:lnSpc>
                <a:spcPct val="116000"/>
              </a:lnSpc>
              <a:spcAft>
                <a:spcPts val="550"/>
              </a:spcAft>
            </a:pPr>
            <a:r>
              <a:rPr sz="100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1000" b="1">
                <a:solidFill>
                  <a:srgbClr val="1E3A8A"/>
                </a:solidFill>
                <a:latin typeface="Microsoft YaHei"/>
              </a:rPr>
              <a:t>RCU 双层宽限期：</a:t>
            </a:r>
            <a:r>
              <a:rPr sz="1000">
                <a:solidFill>
                  <a:srgbClr val="1E293B"/>
                </a:solidFill>
                <a:latin typeface="Microsoft YaHei"/>
              </a:rPr>
              <a:t>在后台显存页迁移时，通过监听 CPU 读者退出与 NPU 流事件确认读操作结束，安全释放物理显存，前台读请求零停顿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76072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3A8A"/>
                </a:solidFill>
                <a:latin typeface="Microsoft YaHei"/>
              </a:defRPr>
            </a:pPr>
            <a:r>
              <a:t>面向一线开发团队与架构评审专家 · 方案 A 架构设计串讲 · 讨论稿 · 2026-09-06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8755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Microsoft YaHei"/>
              </a:defRPr>
            </a:pPr>
            <a:r>
              <a:t>设计范围、材料口径与架构设计设想原则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Microsoft YaHei"/>
              </a:defRPr>
            </a:pPr>
            <a:r>
              <a:t>先界定工程责任边界与安全不变量，严格区分已有需求、设计建议与推导算例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20040"/>
            <a:ext cx="131033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50" b="1">
                <a:solidFill>
                  <a:srgbClr val="2563EB"/>
                </a:solidFill>
                <a:latin typeface="Microsoft YaHei"/>
              </a:defRPr>
            </a:pPr>
            <a:r>
              <a:t>第 02 / 15 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55321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78992"/>
            <a:ext cx="5532120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5312664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20" b="1">
                <a:solidFill>
                  <a:srgbClr val="FFFFFF"/>
                </a:solidFill>
                <a:latin typeface="Microsoft YaHei"/>
              </a:defRPr>
            </a:pPr>
            <a:r>
              <a:t>1. 本设计文档聚焦解决的架构命题</a:t>
            </a:r>
          </a:p>
          <a:p>
            <a:pPr algn="r">
              <a:defRPr sz="950" b="1">
                <a:solidFill>
                  <a:srgbClr val="BFDBFE"/>
                </a:solidFill>
                <a:latin typeface="Microsoft YaHei"/>
              </a:defRPr>
            </a:pPr>
            <a:r>
              <a:t>[工程责任边界]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44752"/>
            <a:ext cx="5532120" cy="1901952"/>
          </a:xfrm>
          <a:prstGeom prst="rect">
            <a:avLst/>
          </a:prstGeom>
          <a:noFill/>
        </p:spPr>
        <p:txBody>
          <a:bodyPr wrap="square" lIns="73152" tIns="73152" rIns="73152" bIns="73152">
            <a:spAutoFit/>
          </a:bodyPr>
          <a:lstStyle/>
          <a:p>
            <a:pPr>
              <a:lnSpc>
                <a:spcPct val="116000"/>
              </a:lnSpc>
              <a:spcAft>
                <a:spcPts val="420"/>
              </a:spcAft>
            </a:pPr>
            <a:r>
              <a:rPr sz="1019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1019" b="1">
                <a:solidFill>
                  <a:srgbClr val="1E3A8A"/>
                </a:solidFill>
                <a:latin typeface="Microsoft YaHei"/>
              </a:rPr>
              <a:t>统一对象抽象：</a:t>
            </a:r>
            <a:r>
              <a:rPr sz="1019">
                <a:solidFill>
                  <a:srgbClr val="1E293B"/>
                </a:solidFill>
                <a:latin typeface="Microsoft YaHei"/>
              </a:rPr>
              <a:t>统一跨节点、多介质不可变缓存对象的身份、版本、分布与访问方法</a:t>
            </a:r>
          </a:p>
          <a:p>
            <a:pPr>
              <a:lnSpc>
                <a:spcPct val="116000"/>
              </a:lnSpc>
              <a:spcAft>
                <a:spcPts val="420"/>
              </a:spcAft>
            </a:pPr>
            <a:r>
              <a:rPr sz="1019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1019" b="1">
                <a:solidFill>
                  <a:srgbClr val="1E3A8A"/>
                </a:solidFill>
                <a:latin typeface="Microsoft YaHei"/>
              </a:rPr>
              <a:t>进程与部署拓扑：</a:t>
            </a:r>
            <a:r>
              <a:rPr sz="1019">
                <a:solidFill>
                  <a:srgbClr val="1E293B"/>
                </a:solidFill>
                <a:latin typeface="Microsoft YaHei"/>
              </a:rPr>
              <a:t>推理进程内运行库直接处理高频缓存查询与加载，节点代理负责本地资源管理，分布式目录服务负责全局元数据路由</a:t>
            </a:r>
          </a:p>
          <a:p>
            <a:pPr>
              <a:lnSpc>
                <a:spcPct val="116000"/>
              </a:lnSpc>
              <a:spcAft>
                <a:spcPts val="420"/>
              </a:spcAft>
            </a:pPr>
            <a:r>
              <a:rPr sz="1019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1019" b="1">
                <a:solidFill>
                  <a:srgbClr val="1E3A8A"/>
                </a:solidFill>
                <a:latin typeface="Microsoft YaHei"/>
              </a:rPr>
              <a:t>请求闭环因果链：</a:t>
            </a:r>
            <a:r>
              <a:rPr sz="1019">
                <a:solidFill>
                  <a:srgbClr val="1E293B"/>
                </a:solidFill>
                <a:latin typeface="Microsoft YaHei"/>
              </a:rPr>
              <a:t>严格经历意图下发、候选发现、校验、决策、直达与安全挂载闭环</a:t>
            </a:r>
          </a:p>
          <a:p>
            <a:pPr>
              <a:lnSpc>
                <a:spcPct val="116000"/>
              </a:lnSpc>
              <a:spcAft>
                <a:spcPts val="420"/>
              </a:spcAft>
            </a:pPr>
            <a:r>
              <a:rPr sz="1019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1019" b="1">
                <a:solidFill>
                  <a:srgbClr val="1E3A8A"/>
                </a:solidFill>
                <a:latin typeface="Microsoft YaHei"/>
              </a:rPr>
              <a:t>物理安全排空：</a:t>
            </a:r>
            <a:r>
              <a:rPr sz="1019">
                <a:solidFill>
                  <a:srgbClr val="1E293B"/>
                </a:solidFill>
                <a:latin typeface="Microsoft YaHei"/>
              </a:rPr>
              <a:t>逻辑取消与底层设备排空彻底分离，设备在途 I/O 未完成前禁止复用缓冲区</a:t>
            </a:r>
          </a:p>
        </p:txBody>
      </p:sp>
      <p:sp>
        <p:nvSpPr>
          <p:cNvPr id="8" name="Rectangle 7"/>
          <p:cNvSpPr/>
          <p:nvPr/>
        </p:nvSpPr>
        <p:spPr>
          <a:xfrm>
            <a:off x="6199632" y="1078992"/>
            <a:ext cx="55321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99632" y="1078992"/>
            <a:ext cx="5532120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115568"/>
            <a:ext cx="5312664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20" b="1">
                <a:solidFill>
                  <a:srgbClr val="FFFFFF"/>
                </a:solidFill>
                <a:latin typeface="Microsoft YaHei"/>
              </a:defRPr>
            </a:pPr>
            <a:r>
              <a:t>2. 三种材料口径严格界定 (诚信红线)</a:t>
            </a:r>
          </a:p>
          <a:p>
            <a:pPr algn="r">
              <a:defRPr sz="950" b="1">
                <a:solidFill>
                  <a:srgbClr val="BFDBFE"/>
                </a:solidFill>
                <a:latin typeface="Microsoft YaHei"/>
              </a:defRPr>
            </a:pPr>
            <a:r>
              <a:t>[拒绝未经实测假设]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99632" y="1444752"/>
            <a:ext cx="5532120" cy="1901952"/>
          </a:xfrm>
          <a:prstGeom prst="rect">
            <a:avLst/>
          </a:prstGeom>
          <a:noFill/>
        </p:spPr>
        <p:txBody>
          <a:bodyPr wrap="square" lIns="73152" tIns="73152" rIns="73152" bIns="73152">
            <a:spAutoFit/>
          </a:bodyPr>
          <a:lstStyle/>
          <a:p>
            <a:pPr>
              <a:lnSpc>
                <a:spcPct val="116000"/>
              </a:lnSpc>
              <a:spcAft>
                <a:spcPts val="420"/>
              </a:spcAft>
            </a:pPr>
            <a:r>
              <a:rPr sz="1019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1019" b="1">
                <a:solidFill>
                  <a:srgbClr val="1E3A8A"/>
                </a:solidFill>
                <a:latin typeface="Microsoft YaHei"/>
              </a:rPr>
              <a:t>已有需求：</a:t>
            </a:r>
            <a:r>
              <a:rPr sz="1019">
                <a:solidFill>
                  <a:srgbClr val="1E293B"/>
                </a:solidFill>
                <a:latin typeface="Microsoft YaHei"/>
              </a:rPr>
              <a:t>受控 SRS V2.3 明确提出的指标与功能，共 144 条正式需求</a:t>
            </a:r>
          </a:p>
          <a:p>
            <a:pPr>
              <a:lnSpc>
                <a:spcPct val="116000"/>
              </a:lnSpc>
              <a:spcAft>
                <a:spcPts val="420"/>
              </a:spcAft>
            </a:pPr>
            <a:r>
              <a:rPr sz="1019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1019" b="1">
                <a:solidFill>
                  <a:srgbClr val="1E3A8A"/>
                </a:solidFill>
                <a:latin typeface="Microsoft YaHei"/>
              </a:rPr>
              <a:t>设计建议：</a:t>
            </a:r>
            <a:r>
              <a:rPr sz="1019">
                <a:solidFill>
                  <a:srgbClr val="1E293B"/>
                </a:solidFill>
                <a:latin typeface="Microsoft YaHei"/>
              </a:rPr>
              <a:t>本稿提出的五大进程、接口契约与数据结构，待技术评审冻结</a:t>
            </a:r>
          </a:p>
          <a:p>
            <a:pPr>
              <a:lnSpc>
                <a:spcPct val="116000"/>
              </a:lnSpc>
              <a:spcAft>
                <a:spcPts val="420"/>
              </a:spcAft>
            </a:pPr>
            <a:r>
              <a:rPr sz="1019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1019" b="1">
                <a:solidFill>
                  <a:srgbClr val="1E3A8A"/>
                </a:solidFill>
                <a:latin typeface="Microsoft YaHei"/>
              </a:rPr>
              <a:t>预算算例：</a:t>
            </a:r>
            <a:r>
              <a:rPr sz="1019">
                <a:solidFill>
                  <a:srgbClr val="1E293B"/>
                </a:solidFill>
                <a:latin typeface="Microsoft YaHei"/>
              </a:rPr>
              <a:t>仅演示自上而下推导方法（如 120ms 预算），绝非已实测硬件结论</a:t>
            </a:r>
          </a:p>
          <a:p>
            <a:pPr>
              <a:lnSpc>
                <a:spcPct val="116000"/>
              </a:lnSpc>
              <a:spcAft>
                <a:spcPts val="420"/>
              </a:spcAft>
            </a:pPr>
            <a:r>
              <a:rPr sz="1019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1019" b="1">
                <a:solidFill>
                  <a:srgbClr val="1E3A8A"/>
                </a:solidFill>
                <a:latin typeface="Microsoft YaHei"/>
              </a:rPr>
              <a:t>证据分级边界：</a:t>
            </a:r>
            <a:r>
              <a:rPr sz="1019">
                <a:solidFill>
                  <a:srgbClr val="1E293B"/>
                </a:solidFill>
                <a:latin typeface="Microsoft YaHei"/>
              </a:rPr>
              <a:t>功能模拟 (W0)、单设备 (W1) 与端到端 (W2) 严格区分，杜绝混用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474720"/>
            <a:ext cx="5532120" cy="2304288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474720"/>
            <a:ext cx="5532120" cy="3474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511296"/>
            <a:ext cx="5312664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20" b="1">
                <a:solidFill>
                  <a:srgbClr val="FFFFFF"/>
                </a:solidFill>
                <a:latin typeface="Microsoft YaHei"/>
              </a:defRPr>
            </a:pPr>
            <a:r>
              <a:t>3. 支撑后续落地的四大核心架构原则</a:t>
            </a:r>
          </a:p>
          <a:p>
            <a:pPr algn="r">
              <a:defRPr sz="950" b="1">
                <a:solidFill>
                  <a:srgbClr val="BFDBFE"/>
                </a:solidFill>
                <a:latin typeface="Microsoft YaHei"/>
              </a:defRPr>
            </a:pPr>
            <a:r>
              <a:t>[设计设想核心]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840480"/>
            <a:ext cx="5532120" cy="1920240"/>
          </a:xfrm>
          <a:prstGeom prst="rect">
            <a:avLst/>
          </a:prstGeom>
          <a:noFill/>
        </p:spPr>
        <p:txBody>
          <a:bodyPr wrap="square" lIns="73152" tIns="73152" rIns="73152" bIns="73152">
            <a:spAutoFit/>
          </a:bodyPr>
          <a:lstStyle/>
          <a:p>
            <a:pPr>
              <a:lnSpc>
                <a:spcPct val="116000"/>
              </a:lnSpc>
              <a:spcAft>
                <a:spcPts val="420"/>
              </a:spcAft>
            </a:pPr>
            <a:r>
              <a:rPr sz="1019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1019" b="1">
                <a:solidFill>
                  <a:srgbClr val="1E3A8A"/>
                </a:solidFill>
                <a:latin typeface="Microsoft YaHei"/>
              </a:rPr>
              <a:t>净加速收益驱动：</a:t>
            </a:r>
            <a:r>
              <a:rPr sz="1019">
                <a:solidFill>
                  <a:srgbClr val="1E293B"/>
                </a:solidFill>
                <a:latin typeface="Microsoft YaHei"/>
              </a:rPr>
              <a:t>拉取加载开销 &lt; 本地重算耗时，且满足业务预算，否则主动回退</a:t>
            </a:r>
          </a:p>
          <a:p>
            <a:pPr>
              <a:lnSpc>
                <a:spcPct val="116000"/>
              </a:lnSpc>
              <a:spcAft>
                <a:spcPts val="420"/>
              </a:spcAft>
            </a:pPr>
            <a:r>
              <a:rPr sz="1019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1019" b="1">
                <a:solidFill>
                  <a:srgbClr val="1E3A8A"/>
                </a:solidFill>
                <a:latin typeface="Microsoft YaHei"/>
              </a:rPr>
              <a:t>多卡原子协同：</a:t>
            </a:r>
            <a:r>
              <a:rPr sz="1019">
                <a:solidFill>
                  <a:srgbClr val="1E293B"/>
                </a:solidFill>
                <a:latin typeface="Microsoft YaHei"/>
              </a:rPr>
              <a:t>TP=8 引入原子 Doorbell 与内存同步，消除偏斜与死锁</a:t>
            </a:r>
          </a:p>
          <a:p>
            <a:pPr>
              <a:lnSpc>
                <a:spcPct val="116000"/>
              </a:lnSpc>
              <a:spcAft>
                <a:spcPts val="420"/>
              </a:spcAft>
            </a:pPr>
            <a:r>
              <a:rPr sz="1019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1019" b="1">
                <a:solidFill>
                  <a:srgbClr val="1E3A8A"/>
                </a:solidFill>
                <a:latin typeface="Microsoft YaHei"/>
              </a:rPr>
              <a:t>三介质分层存储：</a:t>
            </a:r>
            <a:r>
              <a:rPr sz="1019">
                <a:solidFill>
                  <a:srgbClr val="1E293B"/>
                </a:solidFill>
                <a:latin typeface="Microsoft YaHei"/>
              </a:rPr>
              <a:t>显存热执行、DDR 热温缓存扩展与 SSD 异步持久化</a:t>
            </a:r>
          </a:p>
          <a:p>
            <a:pPr>
              <a:lnSpc>
                <a:spcPct val="116000"/>
              </a:lnSpc>
              <a:spcAft>
                <a:spcPts val="420"/>
              </a:spcAft>
            </a:pPr>
            <a:r>
              <a:rPr sz="1019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1019" b="1">
                <a:solidFill>
                  <a:srgbClr val="1E3A8A"/>
                </a:solidFill>
                <a:latin typeface="Microsoft YaHei"/>
              </a:rPr>
              <a:t>安全先于性能：</a:t>
            </a:r>
            <a:r>
              <a:rPr sz="1019">
                <a:solidFill>
                  <a:srgbClr val="1E293B"/>
                </a:solidFill>
                <a:latin typeface="Microsoft YaHei"/>
              </a:rPr>
              <a:t>对象正文严格只读，持有权绑定租约，数据就绪后再发布目录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9632" y="3474720"/>
            <a:ext cx="5532120" cy="2304288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9632" y="3474720"/>
            <a:ext cx="5532120" cy="347472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3511296"/>
            <a:ext cx="5312664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20" b="1">
                <a:solidFill>
                  <a:srgbClr val="FFFFFF"/>
                </a:solidFill>
                <a:latin typeface="Microsoft YaHei"/>
              </a:defRPr>
            </a:pPr>
            <a:r>
              <a:t>4. 系统实现必须遵守的四大工程约束</a:t>
            </a:r>
          </a:p>
          <a:p>
            <a:pPr algn="r">
              <a:defRPr sz="950" b="1">
                <a:solidFill>
                  <a:srgbClr val="BFDBFE"/>
                </a:solidFill>
                <a:latin typeface="Microsoft YaHei"/>
              </a:defRPr>
            </a:pPr>
            <a:r>
              <a:t>[生产级底线]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9632" y="3840480"/>
            <a:ext cx="5532120" cy="1920240"/>
          </a:xfrm>
          <a:prstGeom prst="rect">
            <a:avLst/>
          </a:prstGeom>
          <a:noFill/>
        </p:spPr>
        <p:txBody>
          <a:bodyPr wrap="square" lIns="73152" tIns="73152" rIns="73152" bIns="73152">
            <a:spAutoFit/>
          </a:bodyPr>
          <a:lstStyle/>
          <a:p>
            <a:pPr>
              <a:lnSpc>
                <a:spcPct val="116000"/>
              </a:lnSpc>
              <a:spcAft>
                <a:spcPts val="420"/>
              </a:spcAft>
            </a:pPr>
            <a:r>
              <a:rPr sz="1019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1019" b="1">
                <a:solidFill>
                  <a:srgbClr val="1E3A8A"/>
                </a:solidFill>
                <a:latin typeface="Microsoft YaHei"/>
              </a:rPr>
              <a:t>越权越界红线：</a:t>
            </a:r>
            <a:r>
              <a:rPr sz="1019">
                <a:solidFill>
                  <a:srgbClr val="1E293B"/>
                </a:solidFill>
                <a:latin typeface="Microsoft YaHei"/>
              </a:rPr>
              <a:t>严禁接管框架算子显存；执行显存归框架，KVC 仅调度外部池</a:t>
            </a:r>
          </a:p>
          <a:p>
            <a:pPr>
              <a:lnSpc>
                <a:spcPct val="116000"/>
              </a:lnSpc>
              <a:spcAft>
                <a:spcPts val="420"/>
              </a:spcAft>
            </a:pPr>
            <a:r>
              <a:rPr sz="1019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1019" b="1">
                <a:solidFill>
                  <a:srgbClr val="1E3A8A"/>
                </a:solidFill>
                <a:latin typeface="Microsoft YaHei"/>
              </a:rPr>
              <a:t>数据搬运准则：</a:t>
            </a:r>
            <a:r>
              <a:rPr sz="1019">
                <a:solidFill>
                  <a:srgbClr val="1E293B"/>
                </a:solidFill>
                <a:latin typeface="Microsoft YaHei"/>
              </a:rPr>
              <a:t>基础直达路径 CPU 零拷贝；加解密与压缩实测评估 CPU 与 DPU 开销</a:t>
            </a:r>
          </a:p>
          <a:p>
            <a:pPr>
              <a:lnSpc>
                <a:spcPct val="116000"/>
              </a:lnSpc>
              <a:spcAft>
                <a:spcPts val="420"/>
              </a:spcAft>
            </a:pPr>
            <a:r>
              <a:rPr sz="1019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1019" b="1">
                <a:solidFill>
                  <a:srgbClr val="1E3A8A"/>
                </a:solidFill>
                <a:latin typeface="Microsoft YaHei"/>
              </a:rPr>
              <a:t>错误消费红线：</a:t>
            </a:r>
            <a:r>
              <a:rPr sz="1019">
                <a:solidFill>
                  <a:srgbClr val="1E293B"/>
                </a:solidFill>
                <a:latin typeface="Microsoft YaHei"/>
              </a:rPr>
              <a:t>6 维语义校验未通过或租约失效数据绝对禁止挂载接入，杜绝脏读与半写块</a:t>
            </a:r>
          </a:p>
          <a:p>
            <a:pPr>
              <a:lnSpc>
                <a:spcPct val="116000"/>
              </a:lnSpc>
              <a:spcAft>
                <a:spcPts val="420"/>
              </a:spcAft>
            </a:pPr>
            <a:r>
              <a:rPr sz="1019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1019" b="1">
                <a:solidFill>
                  <a:srgbClr val="1E3A8A"/>
                </a:solidFill>
                <a:latin typeface="Microsoft YaHei"/>
              </a:rPr>
              <a:t>架构去依赖红线：</a:t>
            </a:r>
            <a:r>
              <a:rPr sz="1019">
                <a:solidFill>
                  <a:srgbClr val="1E293B"/>
                </a:solidFill>
                <a:latin typeface="Microsoft YaHei"/>
              </a:rPr>
              <a:t>坚守标准驱动纯软主路径，网卡多播与 DPU 硬件卸载仅作为条件加速轨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897880"/>
            <a:ext cx="11277295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5897880"/>
            <a:ext cx="73152" cy="62179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5989320"/>
            <a:ext cx="11002975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Microsoft YaHei"/>
              </a:rPr>
              <a:t>【核心结论】 </a:t>
            </a:r>
            <a:r>
              <a:rPr sz="1150" b="1">
                <a:solidFill>
                  <a:srgbClr val="1E293B"/>
                </a:solidFill>
                <a:latin typeface="Microsoft YaHei"/>
              </a:rPr>
              <a:t>坚持工程诚信红线，严禁杜撰实测结论；以第一性原理分析系统瓶颈与时延构成，严格区分实测指标与推导算例，明确工程设计基线。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
待验证指标严禁写成既成性能结论。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8755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Microsoft YaHei"/>
              </a:defRPr>
            </a:pPr>
            <a:r>
              <a:t>专题一：软件四层架构全景与管理、控制、数据三面分工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Microsoft YaHei"/>
              </a:defRPr>
            </a:pPr>
            <a:r>
              <a:t>四层用于接口契约责任分解，三面用于物理隔离；两者正交解耦，严禁混同为常驻进程数量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20040"/>
            <a:ext cx="131033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50" b="1">
                <a:solidFill>
                  <a:srgbClr val="2563EB"/>
                </a:solidFill>
                <a:latin typeface="Microsoft YaHei"/>
              </a:defRPr>
            </a:pPr>
            <a:r>
              <a:t>第 03 / 15 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8412480" cy="468172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530352" cy="4498848"/>
          </a:xfrm>
          <a:prstGeom prst="rect">
            <a:avLst/>
          </a:prstGeom>
          <a:solidFill>
            <a:srgbClr val="F0F9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880" b="1">
                <a:solidFill>
                  <a:srgbClr val="2563EB"/>
                </a:solidFill>
                <a:latin typeface="Microsoft YaHei"/>
              </a:defRPr>
            </a:pPr>
            <a:r>
              <a:t>微</a:t>
            </a:r>
            <a:br/>
            <a:r>
              <a:t>秒</a:t>
            </a:r>
            <a:br/>
            <a:r>
              <a:t>控</a:t>
            </a:r>
            <a:br/>
            <a:r>
              <a:t>制</a:t>
            </a:r>
            <a:br/>
            <a:r>
              <a:t>流</a:t>
            </a:r>
            <a:br/>
            <a:br/>
            <a:r>
              <a:t>信</a:t>
            </a:r>
            <a:br/>
            <a:r>
              <a:t>令</a:t>
            </a:r>
            <a:br/>
            <a:r>
              <a:t>快</a:t>
            </a:r>
            <a:br/>
            <a:r>
              <a:t>路</a:t>
            </a:r>
            <a:br/>
            <a:r>
              <a:t>径</a:t>
            </a:r>
            <a:br/>
            <a:br/>
            <a:r>
              <a:t>P99</a:t>
            </a:r>
            <a:br/>
            <a:r>
              <a:t>&lt;</a:t>
            </a:r>
            <a:br/>
            <a:r>
              <a:t>5µs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47888" y="1170432"/>
            <a:ext cx="530352" cy="4498848"/>
          </a:xfrm>
          <a:prstGeom prst="rect">
            <a:avLst/>
          </a:prstGeom>
          <a:solidFill>
            <a:srgbClr val="ECFDF5"/>
          </a:solidFill>
          <a:ln w="1524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defRPr sz="880" b="1">
                <a:solidFill>
                  <a:srgbClr val="059669"/>
                </a:solidFill>
                <a:latin typeface="Microsoft YaHei"/>
              </a:defRPr>
            </a:pPr>
            <a:r>
              <a:t>零</a:t>
            </a:r>
            <a:br/>
            <a:r>
              <a:t>拷</a:t>
            </a:r>
            <a:br/>
            <a:r>
              <a:t>贝</a:t>
            </a:r>
            <a:br/>
            <a:r>
              <a:t>数</a:t>
            </a:r>
            <a:br/>
            <a:r>
              <a:t>据</a:t>
            </a:r>
            <a:br/>
            <a:r>
              <a:t>流</a:t>
            </a:r>
            <a:br/>
            <a:br/>
            <a:r>
              <a:t>硬</a:t>
            </a:r>
            <a:br/>
            <a:r>
              <a:t>件</a:t>
            </a:r>
            <a:br/>
            <a:r>
              <a:t>直</a:t>
            </a:r>
            <a:br/>
            <a:r>
              <a:t>通</a:t>
            </a:r>
            <a:br/>
            <a:br/>
            <a:r>
              <a:t>CPU</a:t>
            </a:r>
            <a:br/>
            <a:r>
              <a:t>零</a:t>
            </a:r>
            <a:br/>
            <a:r>
              <a:t>拷</a:t>
            </a:r>
            <a:br/>
            <a:r>
              <a:t>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70432" y="1170432"/>
            <a:ext cx="6986016" cy="1024128"/>
          </a:xfrm>
          <a:prstGeom prst="rect">
            <a:avLst/>
          </a:prstGeom>
          <a:solidFill>
            <a:srgbClr val="F0F9FF"/>
          </a:solidFill>
          <a:ln w="1524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70432" y="1170432"/>
            <a:ext cx="6986016" cy="25603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1207008"/>
            <a:ext cx="676656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Microsoft YaHei"/>
              </a:defRPr>
            </a:pPr>
            <a:r>
              <a:t>L1 框架适配层 (接入层) · 进程内运行库 libkvc_runtime · 框架拥有执行显存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43584" y="1481328"/>
            <a:ext cx="2249424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defRPr sz="880" b="1">
                <a:solidFill>
                  <a:srgbClr val="1E3A8A"/>
                </a:solidFill>
                <a:latin typeface="Microsoft YaHei"/>
              </a:defRPr>
            </a:pPr>
            <a:r>
              <a:t>虚拟挂载与访问意图</a:t>
            </a:r>
          </a:p>
          <a:p>
            <a:pPr>
              <a:spcBef>
                <a:spcPts val="200"/>
              </a:spcBef>
              <a:defRPr sz="780">
                <a:solidFill>
                  <a:srgbClr val="475569"/>
                </a:solidFill>
                <a:latin typeface="Microsoft YaHei"/>
              </a:defRPr>
            </a:pPr>
            <a:r>
              <a:t>KVAccessIntent 挂载句柄</a:t>
            </a:r>
            <a:br/>
            <a:r>
              <a:t>推理框架独占运行时显存分配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38728" y="1481328"/>
            <a:ext cx="2249424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defRPr sz="880" b="1">
                <a:solidFill>
                  <a:srgbClr val="1E3A8A"/>
                </a:solidFill>
                <a:latin typeface="Microsoft YaHei"/>
              </a:defRPr>
            </a:pPr>
            <a:r>
              <a:t>前缀预算与准入控制</a:t>
            </a:r>
          </a:p>
          <a:p>
            <a:pPr>
              <a:spcBef>
                <a:spcPts val="200"/>
              </a:spcBef>
              <a:defRPr sz="780">
                <a:solidFill>
                  <a:srgbClr val="475569"/>
                </a:solidFill>
                <a:latin typeface="Microsoft YaHei"/>
              </a:defRPr>
            </a:pPr>
            <a:r>
              <a:t>Token 序列 64位哈希提取</a:t>
            </a:r>
            <a:br/>
            <a:r>
              <a:t>SLO 剩余预算前置核验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33872" y="1481328"/>
            <a:ext cx="2249424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defRPr sz="880" b="1">
                <a:solidFill>
                  <a:srgbClr val="1E3A8A"/>
                </a:solidFill>
                <a:latin typeface="Microsoft YaHei"/>
              </a:defRPr>
            </a:pPr>
            <a:r>
              <a:t>缓存感知路由与多卡协同</a:t>
            </a:r>
          </a:p>
          <a:p>
            <a:pPr>
              <a:spcBef>
                <a:spcPts val="200"/>
              </a:spcBef>
              <a:defRPr sz="780">
                <a:solidFill>
                  <a:srgbClr val="475569"/>
                </a:solidFill>
                <a:latin typeface="Microsoft YaHei"/>
              </a:defRPr>
            </a:pPr>
            <a:r>
              <a:t>前缀匹配度评分与算力路由</a:t>
            </a:r>
            <a:br/>
            <a:r>
              <a:t>TP=8 RankConsensus 组内协同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70432" y="2286000"/>
            <a:ext cx="6986016" cy="1097280"/>
          </a:xfrm>
          <a:prstGeom prst="rect">
            <a:avLst/>
          </a:prstGeom>
          <a:solidFill>
            <a:srgbClr val="F5F3FF"/>
          </a:solidFill>
          <a:ln w="1524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432" y="2286000"/>
            <a:ext cx="6986016" cy="25603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2322576"/>
            <a:ext cx="676656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Microsoft YaHei"/>
              </a:defRPr>
            </a:pPr>
            <a:r>
              <a:t>L2 核心调度与控制面 · 查询决策引擎与分片目录 · 微秒级纯信令处理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43584" y="2596896"/>
            <a:ext cx="167335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defRPr sz="880" b="1">
                <a:solidFill>
                  <a:srgbClr val="6D28D9"/>
                </a:solidFill>
                <a:latin typeface="Microsoft YaHei"/>
              </a:defRPr>
            </a:pPr>
            <a:r>
              <a:t>ART 无锁前缀树</a:t>
            </a:r>
          </a:p>
          <a:p>
            <a:pPr>
              <a:spcBef>
                <a:spcPts val="200"/>
              </a:spcBef>
              <a:defRPr sz="780">
                <a:solidFill>
                  <a:srgbClr val="475569"/>
                </a:solidFill>
                <a:latin typeface="Microsoft YaHei"/>
              </a:defRPr>
            </a:pPr>
            <a:r>
              <a:t>自适应基数树快照</a:t>
            </a:r>
            <a:br/>
            <a:r>
              <a:t>P99 &lt; 2µs 本地遍历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62656" y="2596896"/>
            <a:ext cx="167335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defRPr sz="880" b="1">
                <a:solidFill>
                  <a:srgbClr val="6D28D9"/>
                </a:solidFill>
                <a:latin typeface="Microsoft YaHei"/>
              </a:defRPr>
            </a:pPr>
            <a:r>
              <a:t>QueryPlan 选路决策</a:t>
            </a:r>
          </a:p>
          <a:p>
            <a:pPr>
              <a:spcBef>
                <a:spcPts val="200"/>
              </a:spcBef>
              <a:defRPr sz="780">
                <a:solidFill>
                  <a:srgbClr val="475569"/>
                </a:solidFill>
                <a:latin typeface="Microsoft YaHei"/>
              </a:defRPr>
            </a:pPr>
            <a:r>
              <a:t>CostEvaluator 成本模型</a:t>
            </a:r>
            <a:br/>
            <a:r>
              <a:t>净加速收益前置确认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81728" y="2596896"/>
            <a:ext cx="167335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defRPr sz="880" b="1">
                <a:solidFill>
                  <a:srgbClr val="6D28D9"/>
                </a:solidFill>
                <a:latin typeface="Microsoft YaHei"/>
              </a:defRPr>
            </a:pPr>
            <a:r>
              <a:t>6维语义校验引擎</a:t>
            </a:r>
          </a:p>
          <a:p>
            <a:pPr>
              <a:spcBef>
                <a:spcPts val="200"/>
              </a:spcBef>
              <a:defRPr sz="780">
                <a:solidFill>
                  <a:srgbClr val="475569"/>
                </a:solidFill>
                <a:latin typeface="Microsoft YaHei"/>
              </a:defRPr>
            </a:pPr>
            <a:r>
              <a:t>ConsumeEligibility</a:t>
            </a:r>
            <a:br/>
            <a:r>
              <a:t>模型/词表/租约零错误消费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596896"/>
            <a:ext cx="167335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defRPr sz="880" b="1">
                <a:solidFill>
                  <a:srgbClr val="6D28D9"/>
                </a:solidFill>
                <a:latin typeface="Microsoft YaHei"/>
              </a:defRPr>
            </a:pPr>
            <a:r>
              <a:t>分片目录集群</a:t>
            </a:r>
          </a:p>
          <a:p>
            <a:pPr>
              <a:spcBef>
                <a:spcPts val="200"/>
              </a:spcBef>
              <a:defRPr sz="780">
                <a:solidFill>
                  <a:srgbClr val="475569"/>
                </a:solidFill>
                <a:latin typeface="Microsoft YaHei"/>
              </a:defRPr>
            </a:pPr>
            <a:r>
              <a:t>kvc-directory 3节点共识</a:t>
            </a:r>
            <a:br/>
            <a:r>
              <a:t>Slot 0..1023 哈希分片发现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70432" y="3474720"/>
            <a:ext cx="6986016" cy="1097280"/>
          </a:xfrm>
          <a:prstGeom prst="rect">
            <a:avLst/>
          </a:prstGeom>
          <a:solidFill>
            <a:srgbClr val="ECFDF5"/>
          </a:solidFill>
          <a:ln w="1524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70432" y="3474720"/>
            <a:ext cx="6986016" cy="25603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80160" y="3511296"/>
            <a:ext cx="676656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Microsoft YaHei"/>
              </a:defRPr>
            </a:pPr>
            <a:r>
              <a:t>L3 原厂极速底座 (KPCL) · 统一总线通信与分层存储 · Host CPU 零数据拷贝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43584" y="3785616"/>
            <a:ext cx="167335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defRPr sz="880" b="1">
                <a:solidFill>
                  <a:srgbClr val="059669"/>
                </a:solidFill>
                <a:latin typeface="Microsoft YaHei"/>
              </a:defRPr>
            </a:pPr>
            <a:r>
              <a:t>连续块清单描述符</a:t>
            </a:r>
          </a:p>
          <a:p>
            <a:pPr>
              <a:spcBef>
                <a:spcPts val="200"/>
              </a:spcBef>
              <a:defRPr sz="780">
                <a:solidFill>
                  <a:srgbClr val="475569"/>
                </a:solidFill>
                <a:latin typeface="Microsoft YaHei"/>
              </a:defRPr>
            </a:pPr>
            <a:r>
              <a:t>64B POD Extent 描述符</a:t>
            </a:r>
            <a:br/>
            <a:r>
              <a:t>O(N) 贪心合并降低开销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62656" y="3785616"/>
            <a:ext cx="167335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defRPr sz="880" b="1">
                <a:solidFill>
                  <a:srgbClr val="059669"/>
                </a:solidFill>
                <a:latin typeface="Microsoft YaHei"/>
              </a:defRPr>
            </a:pPr>
            <a:r>
              <a:t>异步 DAG 边算边传</a:t>
            </a:r>
          </a:p>
          <a:p>
            <a:pPr>
              <a:spcBef>
                <a:spcPts val="200"/>
              </a:spcBef>
              <a:defRPr sz="780">
                <a:solidFill>
                  <a:srgbClr val="475569"/>
                </a:solidFill>
                <a:latin typeface="Microsoft YaHei"/>
              </a:defRPr>
            </a:pPr>
            <a:r>
              <a:t>NPU Stream/Event 编排</a:t>
            </a:r>
            <a:br/>
            <a:r>
              <a:t>消灭 85% 首字等待气泡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81728" y="3785616"/>
            <a:ext cx="167335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defRPr sz="880" b="1">
                <a:solidFill>
                  <a:srgbClr val="059669"/>
                </a:solidFill>
                <a:latin typeface="Microsoft YaHei"/>
              </a:defRPr>
            </a:pPr>
            <a:r>
              <a:t>UBMEM 直读与 URMA</a:t>
            </a:r>
          </a:p>
          <a:p>
            <a:pPr>
              <a:spcBef>
                <a:spcPts val="200"/>
              </a:spcBef>
              <a:defRPr sz="780">
                <a:solidFill>
                  <a:srgbClr val="475569"/>
                </a:solidFill>
                <a:latin typeface="Microsoft YaHei"/>
              </a:defRPr>
            </a:pPr>
            <a:r>
              <a:t>Direct-View 跨卡直读</a:t>
            </a:r>
            <a:br/>
            <a:r>
              <a:t>DMA 直达 NPU HBM 显存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3785616"/>
            <a:ext cx="167335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defRPr sz="880" b="1">
                <a:solidFill>
                  <a:srgbClr val="059669"/>
                </a:solidFill>
                <a:latin typeface="Microsoft YaHei"/>
              </a:defRPr>
            </a:pPr>
            <a:r>
              <a:t>三介质分层存储</a:t>
            </a:r>
          </a:p>
          <a:p>
            <a:pPr>
              <a:spcBef>
                <a:spcPts val="200"/>
              </a:spcBef>
              <a:defRPr sz="780">
                <a:solidFill>
                  <a:srgbClr val="475569"/>
                </a:solidFill>
                <a:latin typeface="Microsoft YaHei"/>
              </a:defRPr>
            </a:pPr>
            <a:r>
              <a:t>HBM热执行 / DDR温扩展</a:t>
            </a:r>
            <a:br/>
            <a:r>
              <a:t>NVMe SSD 裸盘冷沉淀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70432" y="4663440"/>
            <a:ext cx="6986016" cy="1005840"/>
          </a:xfrm>
          <a:prstGeom prst="rect">
            <a:avLst/>
          </a:prstGeom>
          <a:solidFill>
            <a:srgbClr val="FFFBEB"/>
          </a:solidFill>
          <a:ln w="1524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70432" y="4663440"/>
            <a:ext cx="6986016" cy="256032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80160" y="4700016"/>
            <a:ext cx="676656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Microsoft YaHei"/>
              </a:defRPr>
            </a:pPr>
            <a:r>
              <a:t>管理与可靠性保障 · etcd 持久配置 / 节点代理 kvc-node / 遥测探针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243584" y="4974336"/>
            <a:ext cx="1673352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defRPr sz="880" b="1">
                <a:solidFill>
                  <a:srgbClr val="B45309"/>
                </a:solidFill>
                <a:latin typeface="Microsoft YaHei"/>
              </a:defRPr>
            </a:pPr>
            <a:r>
              <a:t>etcd 静态拓扑集群</a:t>
            </a:r>
          </a:p>
          <a:p>
            <a:pPr>
              <a:spcBef>
                <a:spcPts val="200"/>
              </a:spcBef>
              <a:defRPr sz="780">
                <a:solidFill>
                  <a:srgbClr val="475569"/>
                </a:solidFill>
                <a:latin typeface="Microsoft YaHei"/>
              </a:defRPr>
            </a:pPr>
            <a:r>
              <a:t>集群网络物理拓扑与配额</a:t>
            </a:r>
            <a:br/>
            <a:r>
              <a:t>极低频写入，绝不入热路径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62656" y="4974336"/>
            <a:ext cx="1673352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defRPr sz="880" b="1">
                <a:solidFill>
                  <a:srgbClr val="B45309"/>
                </a:solidFill>
                <a:latin typeface="Microsoft YaHei"/>
              </a:defRPr>
            </a:pPr>
            <a:r>
              <a:t>节点代理 kvc-node</a:t>
            </a:r>
          </a:p>
          <a:p>
            <a:pPr>
              <a:spcBef>
                <a:spcPts val="200"/>
              </a:spcBef>
              <a:defRPr sz="780">
                <a:solidFill>
                  <a:srgbClr val="475569"/>
                </a:solidFill>
                <a:latin typeface="Microsoft YaHei"/>
              </a:defRPr>
            </a:pPr>
            <a:r>
              <a:t>POSIX 共享内存租约 Epoch</a:t>
            </a:r>
            <a:br/>
            <a:r>
              <a:t>能力矩阵快照与介质分配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81728" y="4974336"/>
            <a:ext cx="1673352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defRPr sz="880" b="1">
                <a:solidFill>
                  <a:srgbClr val="B45309"/>
                </a:solidFill>
                <a:latin typeface="Microsoft YaHei"/>
              </a:defRPr>
            </a:pPr>
            <a:r>
              <a:t>ViewGuard 容错守卫</a:t>
            </a:r>
          </a:p>
          <a:p>
            <a:pPr>
              <a:spcBef>
                <a:spcPts val="200"/>
              </a:spcBef>
              <a:defRPr sz="780">
                <a:solidFill>
                  <a:srgbClr val="475569"/>
                </a:solidFill>
                <a:latin typeface="Microsoft YaHei"/>
              </a:defRPr>
            </a:pPr>
            <a:r>
              <a:t>跨节点直读 SIGBUS 捕获</a:t>
            </a:r>
            <a:br/>
            <a:r>
              <a:t>500µs 极速跳出回退本地重算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4974336"/>
            <a:ext cx="1673352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defRPr sz="880" b="1">
                <a:solidFill>
                  <a:srgbClr val="B45309"/>
                </a:solidFill>
                <a:latin typeface="Microsoft YaHei"/>
              </a:defRPr>
            </a:pPr>
            <a:r>
              <a:t>遥测探针与 QoS 隔离</a:t>
            </a:r>
          </a:p>
          <a:p>
            <a:pPr>
              <a:spcBef>
                <a:spcPts val="200"/>
              </a:spcBef>
              <a:defRPr sz="780">
                <a:solidFill>
                  <a:srgbClr val="475569"/>
                </a:solidFill>
                <a:latin typeface="Microsoft YaHei"/>
              </a:defRPr>
            </a:pPr>
            <a:r>
              <a:t>Telemetry 微秒级探针</a:t>
            </a:r>
            <a:br/>
            <a:r>
              <a:t>TC0/TC1 硬件优先级映射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006840" y="1078992"/>
            <a:ext cx="2724912" cy="46817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006840" y="1078992"/>
            <a:ext cx="2724912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16568" y="1115568"/>
            <a:ext cx="2505456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核心架构边界与职责划分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06840" y="1463040"/>
            <a:ext cx="2724912" cy="4270248"/>
          </a:xfrm>
          <a:prstGeom prst="rect">
            <a:avLst/>
          </a:prstGeom>
          <a:noFill/>
        </p:spPr>
        <p:txBody>
          <a:bodyPr wrap="square" lIns="73152" tIns="73152" rIns="73152" bIns="73152">
            <a:spAutoFit/>
          </a:bodyPr>
          <a:lstStyle/>
          <a:p>
            <a:pPr>
              <a:lnSpc>
                <a:spcPct val="115000"/>
              </a:lnSpc>
              <a:spcAft>
                <a:spcPts val="420"/>
              </a:spcAft>
            </a:pPr>
            <a:r>
              <a:rPr sz="919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919" b="1">
                <a:solidFill>
                  <a:srgbClr val="1E3A8A"/>
                </a:solidFill>
                <a:latin typeface="Microsoft YaHei"/>
              </a:rPr>
              <a:t>L1 框架接入层：</a:t>
            </a:r>
            <a:r>
              <a:rPr sz="919">
                <a:solidFill>
                  <a:srgbClr val="1E293B"/>
                </a:solidFill>
                <a:latin typeface="Microsoft YaHei"/>
              </a:rPr>
              <a:t>提供访问意图、剩余预算与目标缓冲，框架继续拥有执行显存</a:t>
            </a:r>
          </a:p>
          <a:p>
            <a:pPr>
              <a:lnSpc>
                <a:spcPct val="115000"/>
              </a:lnSpc>
              <a:spcAft>
                <a:spcPts val="420"/>
              </a:spcAft>
            </a:pPr>
            <a:r>
              <a:rPr sz="919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919" b="1">
                <a:solidFill>
                  <a:srgbClr val="1E3A8A"/>
                </a:solidFill>
                <a:latin typeface="Microsoft YaHei"/>
              </a:rPr>
              <a:t>L2 控制决策层：</a:t>
            </a:r>
            <a:r>
              <a:rPr sz="919">
                <a:solidFill>
                  <a:srgbClr val="1E293B"/>
                </a:solidFill>
                <a:latin typeface="Microsoft YaHei"/>
              </a:rPr>
              <a:t>快速查前缀、核验6维语义与管理租约，微秒决策且不碰正文</a:t>
            </a:r>
          </a:p>
          <a:p>
            <a:pPr>
              <a:lnSpc>
                <a:spcPct val="115000"/>
              </a:lnSpc>
              <a:spcAft>
                <a:spcPts val="420"/>
              </a:spcAft>
            </a:pPr>
            <a:r>
              <a:rPr sz="919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919" b="1">
                <a:solidFill>
                  <a:srgbClr val="1E3A8A"/>
                </a:solidFill>
                <a:latin typeface="Microsoft YaHei"/>
              </a:rPr>
              <a:t>L3 分层存储层：</a:t>
            </a:r>
            <a:r>
              <a:rPr sz="919">
                <a:solidFill>
                  <a:srgbClr val="1E293B"/>
                </a:solidFill>
                <a:latin typeface="Microsoft YaHei"/>
              </a:rPr>
              <a:t>维护不可变对象、连续块描述符 (ExtentManifest) 与三介质状态机</a:t>
            </a:r>
          </a:p>
          <a:p>
            <a:pPr>
              <a:lnSpc>
                <a:spcPct val="115000"/>
              </a:lnSpc>
              <a:spcAft>
                <a:spcPts val="420"/>
              </a:spcAft>
            </a:pPr>
            <a:r>
              <a:rPr sz="919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919" b="1">
                <a:solidFill>
                  <a:srgbClr val="1E3A8A"/>
                </a:solidFill>
                <a:latin typeface="Microsoft YaHei"/>
              </a:rPr>
              <a:t>L4 极速传输层：</a:t>
            </a:r>
            <a:r>
              <a:rPr sz="919">
                <a:solidFill>
                  <a:srgbClr val="1E293B"/>
                </a:solidFill>
                <a:latin typeface="Microsoft YaHei"/>
              </a:rPr>
              <a:t>通信库封装异构底层总线与裸盘，以 DMA 直达显存，Host 零数据拷贝</a:t>
            </a:r>
          </a:p>
          <a:p>
            <a:pPr>
              <a:lnSpc>
                <a:spcPct val="115000"/>
              </a:lnSpc>
              <a:spcAft>
                <a:spcPts val="420"/>
              </a:spcAft>
            </a:pPr>
            <a:r>
              <a:rPr sz="919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919" b="1">
                <a:solidFill>
                  <a:srgbClr val="1E3A8A"/>
                </a:solidFill>
                <a:latin typeface="Microsoft YaHei"/>
              </a:rPr>
              <a:t>三面物理隔离：</a:t>
            </a:r>
            <a:r>
              <a:rPr sz="919">
                <a:solidFill>
                  <a:srgbClr val="1E293B"/>
                </a:solidFill>
                <a:latin typeface="Microsoft YaHei"/>
              </a:rPr>
              <a:t>管理层不进单请求路径；控制面读写分离；数据面前后台硬件队列隔离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5897880"/>
            <a:ext cx="11277295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5897880"/>
            <a:ext cx="73152" cy="62179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1792" y="5989320"/>
            <a:ext cx="11002975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Microsoft YaHei"/>
              </a:rPr>
              <a:t>【核心结论】 </a:t>
            </a:r>
            <a:r>
              <a:rPr sz="1150" b="1">
                <a:solidFill>
                  <a:srgbClr val="1E293B"/>
                </a:solidFill>
                <a:latin typeface="Microsoft YaHei"/>
              </a:rPr>
              <a:t>控制面微秒决策与数据面零拷贝双流分离；执行 HBM 归框架，KVC 负责跨节点分层调度。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
Host CPU 负责控制下发，数据搬运通过硬件直通绕过主机内存。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8755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Microsoft YaHei"/>
              </a:defRPr>
            </a:pPr>
            <a:r>
              <a:t>专题二：分布式拓扑与五大进程实体分布与交互模型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Microsoft YaHei"/>
              </a:defRPr>
            </a:pPr>
            <a:r>
              <a:t>控制面下沉至推理工作进程内部降低 IPC 损耗，资源分配与分片目录解耦为独立守护进程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20040"/>
            <a:ext cx="131033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50" b="1">
                <a:solidFill>
                  <a:srgbClr val="2563EB"/>
                </a:solidFill>
                <a:latin typeface="Microsoft YaHei"/>
              </a:defRPr>
            </a:pPr>
            <a:r>
              <a:t>第 04 / 15 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3429000" cy="4681728"/>
          </a:xfrm>
          <a:prstGeom prst="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78992"/>
            <a:ext cx="3429000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3209544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t>管理与全局共识集群 · CPU 控制节点</a:t>
            </a:r>
          </a:p>
          <a:p>
            <a:pPr algn="r">
              <a:defRPr sz="950" b="1">
                <a:solidFill>
                  <a:srgbClr val="BFDBFE"/>
                </a:solidFill>
                <a:latin typeface="Microsoft YaHei"/>
              </a:defRPr>
            </a:pPr>
            <a:r>
              <a:t>[不参与单请求数据转发]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463040"/>
            <a:ext cx="3282696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463040"/>
            <a:ext cx="3282696" cy="2743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99616"/>
            <a:ext cx="306324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80" b="1">
                <a:solidFill>
                  <a:srgbClr val="FFFFFF"/>
                </a:solidFill>
                <a:latin typeface="Microsoft YaHei"/>
              </a:defRPr>
            </a:pPr>
            <a:r>
              <a:t>1. kvc-controller (全局管控服务)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755648"/>
            <a:ext cx="3282696" cy="1042416"/>
          </a:xfrm>
          <a:prstGeom prst="rect">
            <a:avLst/>
          </a:prstGeom>
          <a:noFill/>
        </p:spPr>
        <p:txBody>
          <a:bodyPr wrap="square" lIns="73152" tIns="73152" rIns="73152" bIns="73152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部署形态：</a:t>
            </a:r>
            <a:r>
              <a:rPr sz="860">
                <a:solidFill>
                  <a:srgbClr val="1E293B"/>
                </a:solidFill>
                <a:latin typeface="Microsoft YaHei"/>
              </a:rPr>
              <a:t>主备高可用服务进程，独立管理节点部署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核心职责：</a:t>
            </a:r>
            <a:r>
              <a:rPr sz="860">
                <a:solidFill>
                  <a:srgbClr val="1E293B"/>
                </a:solidFill>
                <a:latin typeface="Microsoft YaHei"/>
              </a:rPr>
              <a:t>负责集群容量配额治理、节点健康心跳汇总与后台温冷分层迁移策略下发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隔离特征：</a:t>
            </a:r>
            <a:r>
              <a:rPr sz="860">
                <a:solidFill>
                  <a:srgbClr val="1E293B"/>
                </a:solidFill>
                <a:latin typeface="Microsoft YaHei"/>
              </a:rPr>
              <a:t>完全基于后台异步流转，绝不进入单请求转发，不干扰在线推理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889504"/>
            <a:ext cx="3282696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889504"/>
            <a:ext cx="3282696" cy="27432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926080"/>
            <a:ext cx="306324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80" b="1">
                <a:solidFill>
                  <a:srgbClr val="FFFFFF"/>
                </a:solidFill>
                <a:latin typeface="Microsoft YaHei"/>
              </a:defRPr>
            </a:pPr>
            <a:r>
              <a:t>2. kvc-directory (分布式目录服务)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182112"/>
            <a:ext cx="3282696" cy="1042416"/>
          </a:xfrm>
          <a:prstGeom prst="rect">
            <a:avLst/>
          </a:prstGeom>
          <a:noFill/>
        </p:spPr>
        <p:txBody>
          <a:bodyPr wrap="square" lIns="73152" tIns="73152" rIns="73152" bIns="73152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部署形态：</a:t>
            </a:r>
            <a:r>
              <a:rPr sz="860">
                <a:solidFill>
                  <a:srgbClr val="1E293B"/>
                </a:solidFill>
                <a:latin typeface="Microsoft YaHei"/>
              </a:rPr>
              <a:t>3 节点高可用元数据共识服务，独立部署于 CPU 管理节点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核心职责：</a:t>
            </a:r>
            <a:r>
              <a:rPr sz="860">
                <a:solidFill>
                  <a:srgbClr val="1E293B"/>
                </a:solidFill>
                <a:latin typeface="Microsoft YaHei"/>
              </a:rPr>
              <a:t>管理 Slot 0..1023 哈希分片路由与对象多副本只读视图，仅供发现，不碰正文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时延指标：</a:t>
            </a:r>
            <a:r>
              <a:rPr sz="860">
                <a:solidFill>
                  <a:srgbClr val="1E293B"/>
                </a:solidFill>
                <a:latin typeface="Microsoft YaHei"/>
              </a:rPr>
              <a:t>前缀查询检索 P99 &lt; 200µs，结合计算节点本地二级缓存削峰 80%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" y="4315968"/>
            <a:ext cx="3282696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0352" y="4315968"/>
            <a:ext cx="3282696" cy="27432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352544"/>
            <a:ext cx="306324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80" b="1">
                <a:solidFill>
                  <a:srgbClr val="FFFFFF"/>
                </a:solidFill>
                <a:latin typeface="Microsoft YaHei"/>
              </a:defRPr>
            </a:pPr>
            <a:r>
              <a:t>3. etcd (持久配置与注册集群)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4608576"/>
            <a:ext cx="3282696" cy="1042416"/>
          </a:xfrm>
          <a:prstGeom prst="rect">
            <a:avLst/>
          </a:prstGeom>
          <a:noFill/>
        </p:spPr>
        <p:txBody>
          <a:bodyPr wrap="square" lIns="73152" tIns="73152" rIns="73152" bIns="73152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部署形态：</a:t>
            </a:r>
            <a:r>
              <a:rPr sz="860">
                <a:solidFill>
                  <a:srgbClr val="1E293B"/>
                </a:solidFill>
                <a:latin typeface="Microsoft YaHei"/>
              </a:rPr>
              <a:t>独立管理集群部署，保存静态拓扑与租户配额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核心职责：</a:t>
            </a:r>
            <a:r>
              <a:rPr sz="860">
                <a:solidFill>
                  <a:srgbClr val="1E293B"/>
                </a:solidFill>
                <a:latin typeface="Microsoft YaHei"/>
              </a:rPr>
              <a:t>维护网络物理拓扑与节点配置，系统启动时一次性载入内存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隔离特征：</a:t>
            </a:r>
            <a:r>
              <a:rPr sz="860">
                <a:solidFill>
                  <a:srgbClr val="1E293B"/>
                </a:solidFill>
                <a:latin typeface="Microsoft YaHei"/>
              </a:rPr>
              <a:t>热路径绝对禁入！管理面脑裂或网络分区由节点代理本地快照平稳兜底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50791" y="1078992"/>
            <a:ext cx="7680960" cy="4681728"/>
          </a:xfrm>
          <a:prstGeom prst="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050791" y="1078992"/>
            <a:ext cx="7680960" cy="3474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60519" y="1115568"/>
            <a:ext cx="7461504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t>AI 计算加速节点集群 · 异构协同与分层存储实体</a:t>
            </a:r>
          </a:p>
          <a:p>
            <a:pPr algn="r">
              <a:defRPr sz="950" b="1">
                <a:solidFill>
                  <a:srgbClr val="BFDBFE"/>
                </a:solidFill>
                <a:latin typeface="Microsoft YaHei"/>
              </a:defRPr>
            </a:pPr>
            <a:r>
              <a:t>[每节点配备 Host CPU + NPU 芯片 + 三介质存储]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23943" y="1463040"/>
            <a:ext cx="7534656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23943" y="1463040"/>
            <a:ext cx="7534656" cy="2743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33671" y="1499616"/>
            <a:ext cx="731520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80" b="1">
                <a:solidFill>
                  <a:srgbClr val="FFFFFF"/>
                </a:solidFill>
                <a:latin typeface="Microsoft YaHei"/>
              </a:defRPr>
            </a:pPr>
            <a:r>
              <a:t>Host CPU 主机侧 · 进程内运行库与节点守护代理 (微秒控制信令面)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78807" y="1773936"/>
            <a:ext cx="2438400" cy="1682496"/>
          </a:xfrm>
          <a:prstGeom prst="rect">
            <a:avLst/>
          </a:prstGeom>
          <a:solidFill>
            <a:srgbClr val="F0F9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78807" y="1773936"/>
            <a:ext cx="2438400" cy="2560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88535" y="1810512"/>
            <a:ext cx="2218944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19" b="1">
                <a:solidFill>
                  <a:srgbClr val="FFFFFF"/>
                </a:solidFill>
                <a:latin typeface="Microsoft YaHei"/>
              </a:defRPr>
            </a:pPr>
            <a:r>
              <a:t>推理框架进程 (vLLM/SGLang)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78807" y="2048256"/>
            <a:ext cx="2438400" cy="1371600"/>
          </a:xfrm>
          <a:prstGeom prst="rect">
            <a:avLst/>
          </a:prstGeom>
          <a:noFill/>
        </p:spPr>
        <p:txBody>
          <a:bodyPr wrap="square" lIns="73152" tIns="73152" rIns="73152" bIns="73152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4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40" b="1">
                <a:solidFill>
                  <a:srgbClr val="1E3A8A"/>
                </a:solidFill>
                <a:latin typeface="Microsoft YaHei"/>
              </a:rPr>
              <a:t>部署位置：</a:t>
            </a:r>
            <a:r>
              <a:rPr sz="840">
                <a:solidFill>
                  <a:srgbClr val="1E293B"/>
                </a:solidFill>
                <a:latin typeface="Microsoft YaHei"/>
              </a:rPr>
              <a:t>计算节点用户态主进程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4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40" b="1">
                <a:solidFill>
                  <a:srgbClr val="1E3A8A"/>
                </a:solidFill>
                <a:latin typeface="Microsoft YaHei"/>
              </a:rPr>
              <a:t>核心职责：</a:t>
            </a:r>
            <a:r>
              <a:rPr sz="840">
                <a:solidFill>
                  <a:srgbClr val="1E293B"/>
                </a:solidFill>
                <a:latin typeface="Microsoft YaHei"/>
              </a:rPr>
              <a:t>模型前向推理、请求接纳与 Token 生成，独占当前任务的运行时执行显存，绝不被外部越权接管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2071" y="1773936"/>
            <a:ext cx="2438400" cy="1682496"/>
          </a:xfrm>
          <a:prstGeom prst="rect">
            <a:avLst/>
          </a:prstGeom>
          <a:solidFill>
            <a:srgbClr val="F5F3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672071" y="1773936"/>
            <a:ext cx="2438400" cy="25603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81799" y="1810512"/>
            <a:ext cx="2218944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19" b="1">
                <a:solidFill>
                  <a:srgbClr val="FFFFFF"/>
                </a:solidFill>
                <a:latin typeface="Microsoft YaHei"/>
              </a:defRPr>
            </a:pPr>
            <a:r>
              <a:t>libkvc_runtime (客户端运行库)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2071" y="2048256"/>
            <a:ext cx="2438400" cy="1371600"/>
          </a:xfrm>
          <a:prstGeom prst="rect">
            <a:avLst/>
          </a:prstGeom>
          <a:noFill/>
        </p:spPr>
        <p:txBody>
          <a:bodyPr wrap="square" lIns="73152" tIns="73152" rIns="73152" bIns="73152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4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40" b="1">
                <a:solidFill>
                  <a:srgbClr val="1E3A8A"/>
                </a:solidFill>
                <a:latin typeface="Microsoft YaHei"/>
              </a:rPr>
              <a:t>部署位置：</a:t>
            </a:r>
            <a:r>
              <a:rPr sz="840">
                <a:solidFill>
                  <a:srgbClr val="1E293B"/>
                </a:solidFill>
                <a:latin typeface="Microsoft YaHei"/>
              </a:rPr>
              <a:t>以动态库直接嵌入推理进程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4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40" b="1">
                <a:solidFill>
                  <a:srgbClr val="1E3A8A"/>
                </a:solidFill>
                <a:latin typeface="Microsoft YaHei"/>
              </a:rPr>
              <a:t>核心职责：</a:t>
            </a:r>
            <a:r>
              <a:rPr sz="840">
                <a:solidFill>
                  <a:srgbClr val="1E293B"/>
                </a:solidFill>
                <a:latin typeface="Microsoft YaHei"/>
              </a:rPr>
              <a:t>本地前缀哈希、无锁 ART 树匹配与 QueryPlan 选路决策；进程内直接执行，零跨进程 IPC 损耗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65335" y="1773936"/>
            <a:ext cx="2438400" cy="1682496"/>
          </a:xfrm>
          <a:prstGeom prst="rect">
            <a:avLst/>
          </a:prstGeom>
          <a:solidFill>
            <a:srgbClr val="ECFDF5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65335" y="1773936"/>
            <a:ext cx="2438400" cy="256032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75063" y="1810512"/>
            <a:ext cx="2218944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19" b="1">
                <a:solidFill>
                  <a:srgbClr val="FFFFFF"/>
                </a:solidFill>
                <a:latin typeface="Microsoft YaHei"/>
              </a:defRPr>
            </a:pPr>
            <a:r>
              <a:t>kvc-node (节点资源代理)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5335" y="2048256"/>
            <a:ext cx="2438400" cy="1371600"/>
          </a:xfrm>
          <a:prstGeom prst="rect">
            <a:avLst/>
          </a:prstGeom>
          <a:noFill/>
        </p:spPr>
        <p:txBody>
          <a:bodyPr wrap="square" lIns="73152" tIns="73152" rIns="73152" bIns="73152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4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40" b="1">
                <a:solidFill>
                  <a:srgbClr val="1E3A8A"/>
                </a:solidFill>
                <a:latin typeface="Microsoft YaHei"/>
              </a:rPr>
              <a:t>部署位置：</a:t>
            </a:r>
            <a:r>
              <a:rPr sz="840">
                <a:solidFill>
                  <a:srgbClr val="1E293B"/>
                </a:solidFill>
                <a:latin typeface="Microsoft YaHei"/>
              </a:rPr>
              <a:t>每节点独立常驻守护进程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4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40" b="1">
                <a:solidFill>
                  <a:srgbClr val="1E3A8A"/>
                </a:solidFill>
                <a:latin typeface="Microsoft YaHei"/>
              </a:rPr>
              <a:t>核心职责：</a:t>
            </a:r>
            <a:r>
              <a:rPr sz="840">
                <a:solidFill>
                  <a:srgbClr val="1E293B"/>
                </a:solidFill>
                <a:latin typeface="Microsoft YaHei"/>
              </a:rPr>
              <a:t>独占绑核；管理本地 POSIX 共享内存、租约代际 (Epoch) 仲裁与多介质块分配；核验 P99 &lt; 50µs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23943" y="3566160"/>
            <a:ext cx="7534656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23943" y="3566160"/>
            <a:ext cx="7534656" cy="2743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33671" y="3602736"/>
            <a:ext cx="731520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80" b="1">
                <a:solidFill>
                  <a:srgbClr val="FFFFFF"/>
                </a:solidFill>
                <a:latin typeface="Microsoft YaHei"/>
              </a:defRPr>
            </a:pPr>
            <a:r>
              <a:t>硬件通信底座与三介质存储层 · 零数据拷贝直通通路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78807" y="3877056"/>
            <a:ext cx="3685032" cy="1755648"/>
          </a:xfrm>
          <a:prstGeom prst="rect">
            <a:avLst/>
          </a:prstGeom>
          <a:solidFill>
            <a:srgbClr val="ECFDF5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178807" y="3877056"/>
            <a:ext cx="3685032" cy="256032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288535" y="3913632"/>
            <a:ext cx="3465576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19" b="1">
                <a:solidFill>
                  <a:srgbClr val="FFFFFF"/>
                </a:solidFill>
                <a:latin typeface="Microsoft YaHei"/>
              </a:defRPr>
            </a:pPr>
            <a:r>
              <a:t>KPCL 原厂硬件通信底座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78807" y="4151376"/>
            <a:ext cx="3685032" cy="1444752"/>
          </a:xfrm>
          <a:prstGeom prst="rect">
            <a:avLst/>
          </a:prstGeom>
          <a:noFill/>
        </p:spPr>
        <p:txBody>
          <a:bodyPr wrap="square" lIns="73152" tIns="73152" rIns="73152" bIns="73152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4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40" b="1">
                <a:solidFill>
                  <a:srgbClr val="1E3A8A"/>
                </a:solidFill>
                <a:latin typeface="Microsoft YaHei"/>
              </a:rPr>
              <a:t>驱动封装：</a:t>
            </a:r>
            <a:r>
              <a:rPr sz="840">
                <a:solidFill>
                  <a:srgbClr val="1E293B"/>
                </a:solidFill>
                <a:latin typeface="Microsoft YaHei"/>
              </a:rPr>
              <a:t>封装 UBMEM 总线直读、URMA RDMA 与 PCIe DMA 驱动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4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40" b="1">
                <a:solidFill>
                  <a:srgbClr val="1E3A8A"/>
                </a:solidFill>
                <a:latin typeface="Microsoft YaHei"/>
              </a:rPr>
              <a:t>API 契约：</a:t>
            </a:r>
            <a:r>
              <a:rPr sz="840">
                <a:solidFill>
                  <a:srgbClr val="1E293B"/>
                </a:solidFill>
                <a:latin typeface="Microsoft YaHei"/>
              </a:rPr>
              <a:t>提供 1µs 级非阻塞异步提交接口，硬件完成 CQE 异步通知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4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40" b="1">
                <a:solidFill>
                  <a:srgbClr val="1E3A8A"/>
                </a:solidFill>
                <a:latin typeface="Microsoft YaHei"/>
              </a:rPr>
              <a:t>零拷贝直达：</a:t>
            </a:r>
            <a:r>
              <a:rPr sz="840">
                <a:solidFill>
                  <a:srgbClr val="1E293B"/>
                </a:solidFill>
                <a:latin typeface="Microsoft YaHei"/>
              </a:rPr>
              <a:t>控制信令与正文分离，数据流经 DMA 直通显存，消除 CPU 搬运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918703" y="3877056"/>
            <a:ext cx="3685032" cy="1755648"/>
          </a:xfrm>
          <a:prstGeom prst="rect">
            <a:avLst/>
          </a:prstGeom>
          <a:solidFill>
            <a:srgbClr val="F0F9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918703" y="3877056"/>
            <a:ext cx="3685032" cy="2560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28431" y="3913632"/>
            <a:ext cx="3465576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19" b="1">
                <a:solidFill>
                  <a:srgbClr val="FFFFFF"/>
                </a:solidFill>
                <a:latin typeface="Microsoft YaHei"/>
              </a:defRPr>
            </a:pPr>
            <a:r>
              <a:t>三介质分层存储体系 (HBM / DDR / SSD)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18703" y="4151376"/>
            <a:ext cx="3685032" cy="1444752"/>
          </a:xfrm>
          <a:prstGeom prst="rect">
            <a:avLst/>
          </a:prstGeom>
          <a:noFill/>
        </p:spPr>
        <p:txBody>
          <a:bodyPr wrap="square" lIns="73152" tIns="73152" rIns="73152" bIns="73152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4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40" b="1">
                <a:solidFill>
                  <a:srgbClr val="1E3A8A"/>
                </a:solidFill>
                <a:latin typeface="Microsoft YaHei"/>
              </a:rPr>
              <a:t>NPU HBM 显存：</a:t>
            </a:r>
            <a:r>
              <a:rPr sz="840">
                <a:solidFill>
                  <a:srgbClr val="1E293B"/>
                </a:solidFill>
                <a:latin typeface="Microsoft YaHei"/>
              </a:rPr>
              <a:t>存放当前推理即时执行的热数据，算子直接寻址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4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40" b="1">
                <a:solidFill>
                  <a:srgbClr val="1E3A8A"/>
                </a:solidFill>
                <a:latin typeface="Microsoft YaHei"/>
              </a:rPr>
              <a:t>Host DDR 内存：</a:t>
            </a:r>
            <a:r>
              <a:rPr sz="840">
                <a:solidFill>
                  <a:srgbClr val="1E293B"/>
                </a:solidFill>
                <a:latin typeface="Microsoft YaHei"/>
              </a:rPr>
              <a:t>百 GB 级高吞吐温缓存扩展，缓存高频前缀，通过 PCIe 直达加载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4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40" b="1">
                <a:solidFill>
                  <a:srgbClr val="1E3A8A"/>
                </a:solidFill>
                <a:latin typeface="Microsoft YaHei"/>
              </a:rPr>
              <a:t>NVMe SSD 裸盘：</a:t>
            </a:r>
            <a:r>
              <a:rPr sz="840">
                <a:solidFill>
                  <a:srgbClr val="1E293B"/>
                </a:solidFill>
                <a:latin typeface="Microsoft YaHei"/>
              </a:rPr>
              <a:t>TB 级海量冷数据异步持久化沉淀，提供大容量低成本冷缓存池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5897880"/>
            <a:ext cx="11277295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57200" y="5897880"/>
            <a:ext cx="73152" cy="62179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1792" y="5989320"/>
            <a:ext cx="11002975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Microsoft YaHei"/>
              </a:rPr>
              <a:t>【核心结论】 </a:t>
            </a:r>
            <a:r>
              <a:rPr sz="1150" b="1">
                <a:solidFill>
                  <a:srgbClr val="1E293B"/>
                </a:solidFill>
                <a:latin typeface="Microsoft YaHei"/>
              </a:rPr>
              <a:t>高频控制由推理内嵌库承载（零 IPC 开销），资源管理与分片路由下沉至节点代理与目录服务；管理面不参与单请求转发。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
在线推理热路径严格绕开持久化存储，实现控制面与管理面物理级故障隔离；数据流由硬件 DMA 直通显存。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8755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Microsoft YaHei"/>
              </a:defRPr>
            </a:pPr>
            <a:r>
              <a:t>专题三：推理请求从前缀查询到安全接入 9 步微秒时序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Microsoft YaHei"/>
              </a:defRPr>
            </a:pPr>
            <a:r>
              <a:t>严格经历意图下发、候选发现、语义校验、成本决策、硬件直达与安全挂载 9 步闭环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20040"/>
            <a:ext cx="131033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50" b="1">
                <a:solidFill>
                  <a:srgbClr val="2563EB"/>
                </a:solidFill>
                <a:latin typeface="Microsoft YaHei"/>
              </a:defRPr>
            </a:pPr>
            <a:r>
              <a:t>第 05 / 15 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6949440" cy="4681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3_kvc_request_to_attach_sequence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1169434"/>
            <a:ext cx="6876288" cy="450084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543800" y="1078992"/>
            <a:ext cx="4187952" cy="46817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543800" y="1078992"/>
            <a:ext cx="4187952" cy="3474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53528" y="1115568"/>
            <a:ext cx="3968496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20" b="1">
                <a:solidFill>
                  <a:srgbClr val="FFFFFF"/>
                </a:solidFill>
                <a:latin typeface="Microsoft YaHei"/>
              </a:defRPr>
            </a:pPr>
            <a:r>
              <a:t>9 步时序因果链、性能瓶颈与优化手段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0" y="1444752"/>
            <a:ext cx="4187952" cy="4297680"/>
          </a:xfrm>
          <a:prstGeom prst="rect">
            <a:avLst/>
          </a:prstGeom>
          <a:noFill/>
        </p:spPr>
        <p:txBody>
          <a:bodyPr wrap="square" lIns="73152" tIns="73152" rIns="73152" bIns="73152">
            <a:spAutoFit/>
          </a:bodyPr>
          <a:lstStyle/>
          <a:p>
            <a:pPr>
              <a:lnSpc>
                <a:spcPct val="112000"/>
              </a:lnSpc>
              <a:spcAft>
                <a:spcPts val="240"/>
              </a:spcAft>
            </a:pPr>
            <a:r>
              <a:rPr sz="819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19" b="1">
                <a:solidFill>
                  <a:srgbClr val="1E3A8A"/>
                </a:solidFill>
                <a:latin typeface="Microsoft YaHei"/>
              </a:rPr>
              <a:t>① 注册意图与预算：</a:t>
            </a:r>
            <a:r>
              <a:rPr sz="819">
                <a:solidFill>
                  <a:srgbClr val="1E293B"/>
                </a:solidFill>
                <a:latin typeface="Microsoft YaHei"/>
              </a:rPr>
              <a:t>瓶颈：频繁跨进程 RPC 导致微秒级穿透 ｜ 优化：进程内运行库轻量创建虚拟挂载句柄，零 IPC 损耗</a:t>
            </a:r>
          </a:p>
          <a:p>
            <a:pPr>
              <a:lnSpc>
                <a:spcPct val="112000"/>
              </a:lnSpc>
              <a:spcAft>
                <a:spcPts val="240"/>
              </a:spcAft>
            </a:pPr>
            <a:r>
              <a:rPr sz="819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19" b="1">
                <a:solidFill>
                  <a:srgbClr val="1E3A8A"/>
                </a:solidFill>
                <a:latin typeface="Microsoft YaHei"/>
              </a:rPr>
              <a:t>② 批量前缀查询：</a:t>
            </a:r>
            <a:r>
              <a:rPr sz="819">
                <a:solidFill>
                  <a:srgbClr val="1E293B"/>
                </a:solidFill>
                <a:latin typeface="Microsoft YaHei"/>
              </a:rPr>
              <a:t>瓶颈：单 Token 串行回溯匹配慢且易打满目录 ｜ 优化：多 Token 批量哈希，工作进程本地二级缓存削峰 80%</a:t>
            </a:r>
          </a:p>
          <a:p>
            <a:pPr>
              <a:lnSpc>
                <a:spcPct val="112000"/>
              </a:lnSpc>
              <a:spcAft>
                <a:spcPts val="240"/>
              </a:spcAft>
            </a:pPr>
            <a:r>
              <a:rPr sz="819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19" b="1">
                <a:solidFill>
                  <a:srgbClr val="1E3A8A"/>
                </a:solidFill>
                <a:latin typeface="Microsoft YaHei"/>
              </a:rPr>
              <a:t>③ 匹配候选定位：</a:t>
            </a:r>
            <a:r>
              <a:rPr sz="819">
                <a:solidFill>
                  <a:srgbClr val="1E293B"/>
                </a:solidFill>
                <a:latin typeface="Microsoft YaHei"/>
              </a:rPr>
              <a:t>瓶颈：集中式目录锁争用与广播网络风暴 ｜ 优化：1024 槽哈希分片，Follower 只读内存镜像并发检索 (P99 &lt; 200µs)</a:t>
            </a:r>
          </a:p>
          <a:p>
            <a:pPr>
              <a:lnSpc>
                <a:spcPct val="112000"/>
              </a:lnSpc>
              <a:spcAft>
                <a:spcPts val="240"/>
              </a:spcAft>
            </a:pPr>
            <a:r>
              <a:rPr sz="819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19" b="1">
                <a:solidFill>
                  <a:srgbClr val="1E3A8A"/>
                </a:solidFill>
                <a:latin typeface="Microsoft YaHei"/>
              </a:rPr>
              <a:t>④ 申请语义租约：</a:t>
            </a:r>
            <a:r>
              <a:rPr sz="819">
                <a:solidFill>
                  <a:srgbClr val="1E293B"/>
                </a:solidFill>
                <a:latin typeface="Microsoft YaHei"/>
              </a:rPr>
              <a:t>瓶颈：高频并发申请引发全局原子变量总线争用 ｜ 优化：POSIX 共享内存分段锁与无锁位图，本地批量预留引用计数</a:t>
            </a:r>
          </a:p>
          <a:p>
            <a:pPr>
              <a:lnSpc>
                <a:spcPct val="112000"/>
              </a:lnSpc>
              <a:spcAft>
                <a:spcPts val="240"/>
              </a:spcAft>
            </a:pPr>
            <a:r>
              <a:rPr sz="819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19" b="1">
                <a:solidFill>
                  <a:srgbClr val="1E3A8A"/>
                </a:solidFill>
                <a:latin typeface="Microsoft YaHei"/>
              </a:rPr>
              <a:t>⑤ 授权与锁回收：</a:t>
            </a:r>
            <a:r>
              <a:rPr sz="819">
                <a:solidFill>
                  <a:srgbClr val="1E293B"/>
                </a:solidFill>
                <a:latin typeface="Microsoft YaHei"/>
              </a:rPr>
              <a:t>瓶颈：读写冲突导致读到失效脏块或被 GC 回收 ｜ 优化：核验 6 维语义一致性后签发 LeaseToken，锁定回收屏障</a:t>
            </a:r>
          </a:p>
          <a:p>
            <a:pPr>
              <a:lnSpc>
                <a:spcPct val="112000"/>
              </a:lnSpc>
              <a:spcAft>
                <a:spcPts val="240"/>
              </a:spcAft>
            </a:pPr>
            <a:r>
              <a:rPr sz="819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19" b="1">
                <a:solidFill>
                  <a:srgbClr val="1E3A8A"/>
                </a:solidFill>
                <a:latin typeface="Microsoft YaHei"/>
              </a:rPr>
              <a:t>⑥ 成本决策编译：</a:t>
            </a:r>
            <a:r>
              <a:rPr sz="819">
                <a:solidFill>
                  <a:srgbClr val="1E293B"/>
                </a:solidFill>
                <a:latin typeface="Microsoft YaHei"/>
              </a:rPr>
              <a:t>瓶颈：离散物理块反复跨语言序列化 ｜ 优化：QueryPlan 成本模型核验净收益，O(N) 贪心合并为 64B POD 描述符</a:t>
            </a:r>
          </a:p>
          <a:p>
            <a:pPr>
              <a:lnSpc>
                <a:spcPct val="112000"/>
              </a:lnSpc>
              <a:spcAft>
                <a:spcPts val="240"/>
              </a:spcAft>
            </a:pPr>
            <a:r>
              <a:rPr sz="819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19" b="1">
                <a:solidFill>
                  <a:srgbClr val="1E3A8A"/>
                </a:solidFill>
                <a:latin typeface="Microsoft YaHei"/>
              </a:rPr>
              <a:t>⑦ 散聚传输直达：</a:t>
            </a:r>
            <a:r>
              <a:rPr sz="819">
                <a:solidFill>
                  <a:srgbClr val="1E293B"/>
                </a:solidFill>
                <a:latin typeface="Microsoft YaHei"/>
              </a:rPr>
              <a:t>瓶颈：CPU 搬运导致 DDR 带宽打满与总线争用 ｜ 优化：KPCL 驱动 RDMA/DMA 直通显存，绕过主机内存 (Bypass DDR)</a:t>
            </a:r>
          </a:p>
          <a:p>
            <a:pPr>
              <a:lnSpc>
                <a:spcPct val="112000"/>
              </a:lnSpc>
              <a:spcAft>
                <a:spcPts val="240"/>
              </a:spcAft>
            </a:pPr>
            <a:r>
              <a:rPr sz="819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19" b="1">
                <a:solidFill>
                  <a:srgbClr val="1E3A8A"/>
                </a:solidFill>
                <a:latin typeface="Microsoft YaHei"/>
              </a:rPr>
              <a:t>⑧ 可见性多卡对账：</a:t>
            </a:r>
            <a:r>
              <a:rPr sz="819">
                <a:solidFill>
                  <a:srgbClr val="1E293B"/>
                </a:solidFill>
                <a:latin typeface="Microsoft YaHei"/>
              </a:rPr>
              <a:t>瓶颈：TP=8 多卡时序差引发木桶等待与死锁 ｜ 优化：硬件 CQE 中断与共享内存单次原子 Doorbell 同步完成状态 (P99 &lt; 100µs)</a:t>
            </a:r>
          </a:p>
          <a:p>
            <a:pPr>
              <a:lnSpc>
                <a:spcPct val="112000"/>
              </a:lnSpc>
              <a:spcAft>
                <a:spcPts val="240"/>
              </a:spcAft>
            </a:pPr>
            <a:r>
              <a:rPr sz="819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19" b="1">
                <a:solidFill>
                  <a:srgbClr val="1E3A8A"/>
                </a:solidFill>
                <a:latin typeface="Microsoft YaHei"/>
              </a:rPr>
              <a:t>⑨ 安全生效挂载：</a:t>
            </a:r>
            <a:r>
              <a:rPr sz="819">
                <a:solidFill>
                  <a:srgbClr val="1E293B"/>
                </a:solidFill>
                <a:latin typeface="Microsoft YaHei"/>
              </a:rPr>
              <a:t>瓶颈：显存越界踩踏或挂载未完成块 ｜ 优化：核验硬件传输证据后原子挂载至 PagedAttention 块表，失败主动回退重算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897880"/>
            <a:ext cx="11277295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5897880"/>
            <a:ext cx="73152" cy="62179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5989320"/>
            <a:ext cx="11002975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Microsoft YaHei"/>
              </a:rPr>
              <a:t>【核心结论】 </a:t>
            </a:r>
            <a:r>
              <a:rPr sz="1150" b="1">
                <a:solidFill>
                  <a:srgbClr val="1E293B"/>
                </a:solidFill>
                <a:latin typeface="Microsoft YaHei"/>
              </a:rPr>
              <a:t>目录候选发现与消费授权严格分离，数据接入前必须通过 6 维语义租约校验与硬件 CQE 可见性证据对账；全流程经历 9 步微秒因果链闭环。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
任一环节超时或校验失败立即主动熔断并安全回退至本地重算，保障首字时延稳定性。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8755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Microsoft YaHei"/>
              </a:defRPr>
            </a:pPr>
            <a:r>
              <a:t>专题四：元数据体系与四层分级组织架构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Microsoft YaHei"/>
              </a:defRPr>
            </a:pPr>
            <a:r>
              <a:t>核心元数据源与数据结构职责解耦，多核无锁快照与 alignas(64) 缓存行对齐消除伪共享争用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20040"/>
            <a:ext cx="131033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50" b="1">
                <a:solidFill>
                  <a:srgbClr val="2563EB"/>
                </a:solidFill>
                <a:latin typeface="Microsoft YaHei"/>
              </a:defRPr>
            </a:pPr>
            <a:r>
              <a:t>第 06 / 15 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2651760" cy="2852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78992"/>
            <a:ext cx="2651760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2432304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t>1. 本地极速索引层</a:t>
            </a:r>
          </a:p>
          <a:p>
            <a:pPr algn="r">
              <a:defRPr sz="950" b="1">
                <a:solidFill>
                  <a:srgbClr val="BFDBFE"/>
                </a:solidFill>
                <a:latin typeface="Microsoft YaHei"/>
              </a:defRPr>
            </a:pPr>
            <a:r>
              <a:t>[工作进程内存]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44752"/>
            <a:ext cx="2651760" cy="2468880"/>
          </a:xfrm>
          <a:prstGeom prst="rect">
            <a:avLst/>
          </a:prstGeom>
          <a:noFill/>
        </p:spPr>
        <p:txBody>
          <a:bodyPr wrap="square" lIns="73152" tIns="73152" rIns="73152" bIns="73152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数据结构与职责：</a:t>
            </a:r>
            <a:r>
              <a:rPr sz="860">
                <a:solidFill>
                  <a:srgbClr val="1E293B"/>
                </a:solidFill>
                <a:latin typeface="Microsoft YaHei"/>
              </a:rPr>
              <a:t>持有请求前缀哈希、ART 快照与负缓存位图；负责进程内匹配</a:t>
            </a:r>
          </a:p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访问模式特征：</a:t>
            </a:r>
            <a:r>
              <a:rPr sz="860">
                <a:solidFill>
                  <a:srgbClr val="1E293B"/>
                </a:solidFill>
                <a:latin typeface="Microsoft YaHei"/>
              </a:rPr>
              <a:t>超高频读（数十万 QPS）、极低频写；瓶颈源于多核并发访问同一行引发的 L3 伪共享颠簸</a:t>
            </a:r>
          </a:p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优化设计要点：</a:t>
            </a:r>
            <a:r>
              <a:rPr sz="860">
                <a:solidFill>
                  <a:srgbClr val="1E293B"/>
                </a:solidFill>
                <a:latin typeface="Microsoft YaHei"/>
              </a:rPr>
              <a:t>强制 alignas(64) 缓存行对齐，RCU 无锁快照读，遍历 P99 &lt; 2µs</a:t>
            </a:r>
          </a:p>
        </p:txBody>
      </p:sp>
      <p:sp>
        <p:nvSpPr>
          <p:cNvPr id="8" name="Rectangle 7"/>
          <p:cNvSpPr/>
          <p:nvPr/>
        </p:nvSpPr>
        <p:spPr>
          <a:xfrm>
            <a:off x="3328416" y="1078992"/>
            <a:ext cx="2651760" cy="2852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28416" y="1078992"/>
            <a:ext cx="2651760" cy="347472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38144" y="1115568"/>
            <a:ext cx="2432304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t>2. 节点代理状态层</a:t>
            </a:r>
          </a:p>
          <a:p>
            <a:pPr algn="r">
              <a:defRPr sz="950" b="1">
                <a:solidFill>
                  <a:srgbClr val="BFDBFE"/>
                </a:solidFill>
                <a:latin typeface="Microsoft YaHei"/>
              </a:defRPr>
            </a:pPr>
            <a:r>
              <a:t>[节点专属守护]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28416" y="1444752"/>
            <a:ext cx="2651760" cy="2468880"/>
          </a:xfrm>
          <a:prstGeom prst="rect">
            <a:avLst/>
          </a:prstGeom>
          <a:noFill/>
        </p:spPr>
        <p:txBody>
          <a:bodyPr wrap="square" lIns="73152" tIns="73152" rIns="73152" bIns="73152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数据结构与职责：</a:t>
            </a:r>
            <a:r>
              <a:rPr sz="860">
                <a:solidFill>
                  <a:srgbClr val="1E293B"/>
                </a:solidFill>
                <a:latin typeface="Microsoft YaHei"/>
              </a:rPr>
              <a:t>维护对象持有权表、介质物理块分配表与租约 Epoch 代际仲裁表；管理单节点资源分配</a:t>
            </a:r>
          </a:p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访问模式特征：</a:t>
            </a:r>
            <a:r>
              <a:rPr sz="860">
                <a:solidFill>
                  <a:srgbClr val="1E293B"/>
                </a:solidFill>
                <a:latin typeface="Microsoft YaHei"/>
              </a:rPr>
              <a:t>高频读（租约有效性校验）、中频改（计数增减与续期）；瓶颈源于跨进程 IPC 与原子锁争用</a:t>
            </a:r>
          </a:p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优化设计要点：</a:t>
            </a:r>
            <a:r>
              <a:rPr sz="860">
                <a:solidFill>
                  <a:srgbClr val="1E293B"/>
                </a:solidFill>
                <a:latin typeface="Microsoft YaHei"/>
              </a:rPr>
              <a:t>基于 POSIX 共享内存与分段锁 (Striped Locks)，本地批量预留计数，核验 P99 &lt; 50µs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9632" y="1078992"/>
            <a:ext cx="2651760" cy="2852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9632" y="1078992"/>
            <a:ext cx="2651760" cy="3474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115568"/>
            <a:ext cx="2432304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t>3. 分布式分片目录</a:t>
            </a:r>
          </a:p>
          <a:p>
            <a:pPr algn="r">
              <a:defRPr sz="950" b="1">
                <a:solidFill>
                  <a:srgbClr val="BFDBFE"/>
                </a:solidFill>
                <a:latin typeface="Microsoft YaHei"/>
              </a:defRPr>
            </a:pPr>
            <a:r>
              <a:t>[3节点高可用共识]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9632" y="1444752"/>
            <a:ext cx="2651760" cy="2468880"/>
          </a:xfrm>
          <a:prstGeom prst="rect">
            <a:avLst/>
          </a:prstGeom>
          <a:noFill/>
        </p:spPr>
        <p:txBody>
          <a:bodyPr wrap="square" lIns="73152" tIns="73152" rIns="73152" bIns="73152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数据结构与职责：</a:t>
            </a:r>
            <a:r>
              <a:rPr sz="860">
                <a:solidFill>
                  <a:srgbClr val="1E293B"/>
                </a:solidFill>
                <a:latin typeface="Microsoft YaHei"/>
              </a:rPr>
              <a:t>管理 1024 槽哈希分片与多副本视图；跨节点寻址，不碰正文</a:t>
            </a:r>
          </a:p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访问模式特征：</a:t>
            </a:r>
            <a:r>
              <a:rPr sz="860">
                <a:solidFill>
                  <a:srgbClr val="1E293B"/>
                </a:solidFill>
                <a:latin typeface="Microsoft YaHei"/>
              </a:rPr>
              <a:t>高频读（前缀检索）、低频写（新对象发布）；瓶颈源于突发并发查询引发目录出端口 Incast 拥塞</a:t>
            </a:r>
          </a:p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优化设计要点：</a:t>
            </a:r>
            <a:r>
              <a:rPr sz="860">
                <a:solidFill>
                  <a:srgbClr val="1E293B"/>
                </a:solidFill>
                <a:latin typeface="Microsoft YaHei"/>
              </a:rPr>
              <a:t>单写多读分离（Follower 并发只读、Leader Raft 提交），计算节点二级缓存削峰 80%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70848" y="1078992"/>
            <a:ext cx="2651760" cy="2852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070848" y="1078992"/>
            <a:ext cx="2651760" cy="347472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80576" y="1115568"/>
            <a:ext cx="2432304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t>4. 持久一致配置层</a:t>
            </a:r>
          </a:p>
          <a:p>
            <a:pPr algn="r">
              <a:defRPr sz="950" b="1">
                <a:solidFill>
                  <a:srgbClr val="BFDBFE"/>
                </a:solidFill>
                <a:latin typeface="Microsoft YaHei"/>
              </a:defRPr>
            </a:pPr>
            <a:r>
              <a:t>[独立管理节点集群]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0848" y="1444752"/>
            <a:ext cx="2651760" cy="2468880"/>
          </a:xfrm>
          <a:prstGeom prst="rect">
            <a:avLst/>
          </a:prstGeom>
          <a:noFill/>
        </p:spPr>
        <p:txBody>
          <a:bodyPr wrap="square" lIns="73152" tIns="73152" rIns="73152" bIns="73152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数据结构与职责：</a:t>
            </a:r>
            <a:r>
              <a:rPr sz="860">
                <a:solidFill>
                  <a:srgbClr val="1E293B"/>
                </a:solidFill>
                <a:latin typeface="Microsoft YaHei"/>
              </a:rPr>
              <a:t>保存集群静态拓扑、心跳凭据与租户密钥；全局静态配置管理</a:t>
            </a:r>
          </a:p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访问模式特征：</a:t>
            </a:r>
            <a:r>
              <a:rPr sz="860">
                <a:solidFill>
                  <a:srgbClr val="1E293B"/>
                </a:solidFill>
                <a:latin typeface="Microsoft YaHei"/>
              </a:rPr>
              <a:t>极低频读写（冷启动、节点上下线）；误入热路径发起阻塞 RPC 将恶化 P99</a:t>
            </a:r>
          </a:p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优化设计要点：</a:t>
            </a:r>
            <a:r>
              <a:rPr sz="860">
                <a:solidFill>
                  <a:srgbClr val="1E293B"/>
                </a:solidFill>
                <a:latin typeface="Microsoft YaHei"/>
              </a:rPr>
              <a:t>热路径严格物理禁入，节点启动一次性载入内存快照，网络分区与选举抖动不传导至在线推理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041648"/>
            <a:ext cx="5532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041648"/>
            <a:ext cx="5532120" cy="3200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4078224"/>
            <a:ext cx="5312664" cy="246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t>在线推理高并发四大瓶颈场景与架构防线</a:t>
            </a:r>
          </a:p>
          <a:p>
            <a:pPr algn="r">
              <a:defRPr sz="950" b="1">
                <a:solidFill>
                  <a:srgbClr val="BFDBFE"/>
                </a:solidFill>
                <a:latin typeface="Microsoft YaHei"/>
              </a:defRPr>
            </a:pPr>
            <a:r>
              <a:t>[业务特征深度剖析]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370832"/>
            <a:ext cx="5532120" cy="1389888"/>
          </a:xfrm>
          <a:prstGeom prst="rect">
            <a:avLst/>
          </a:prstGeom>
          <a:noFill/>
        </p:spPr>
        <p:txBody>
          <a:bodyPr wrap="square" lIns="73152" tIns="73152" rIns="73152" bIns="73152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突发长系统前缀并发复用：</a:t>
            </a:r>
            <a:r>
              <a:rPr sz="860">
                <a:solidFill>
                  <a:srgbClr val="1E293B"/>
                </a:solidFill>
                <a:latin typeface="Microsoft YaHei"/>
              </a:rPr>
              <a:t>数百请求并发检索相同前缀引发目录节点突发 Incast 拥塞 ｜ 防线：1024 槽哈希打散 + 本地二级缓存削峰 80%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短输出长上下文并发 Prefill：</a:t>
            </a:r>
            <a:r>
              <a:rPr sz="860">
                <a:solidFill>
                  <a:srgbClr val="1E293B"/>
                </a:solidFill>
                <a:latin typeface="Microsoft YaHei"/>
              </a:rPr>
              <a:t>多卡多核并发访问本地前缀树导致 CPU L3 缓存行伪共享颠簸 ｜ 防线：元数据强制 alignas(64) 对齐 + RCU 无锁只读遍历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跨节点加载频繁申请租约：</a:t>
            </a:r>
            <a:r>
              <a:rPr sz="860">
                <a:solidFill>
                  <a:srgbClr val="1E293B"/>
                </a:solidFill>
                <a:latin typeface="Microsoft YaHei"/>
              </a:rPr>
              <a:t>高 QPS 跨进程 IPC 调用消耗 50~200µs 穿透预算 ｜ 防线：控制面直接内嵌工作进程 + POSIX 共享内存分段操作 (&lt;50µs)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客户端异常断连与超时取消：</a:t>
            </a:r>
            <a:r>
              <a:rPr sz="860">
                <a:solidFill>
                  <a:srgbClr val="1E293B"/>
                </a:solidFill>
                <a:latin typeface="Microsoft YaHei"/>
              </a:rPr>
              <a:t>异步硬件搬运与前台算子生命周期错位引发显存脏写 ｜ 防线：逻辑取消与底层硬件排空彻底解耦，在途 DMA 未完成禁止复用显存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9632" y="4041648"/>
            <a:ext cx="5532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9632" y="4041648"/>
            <a:ext cx="5532120" cy="32004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4078224"/>
            <a:ext cx="5312664" cy="246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t>具体元数据表读写分离与一致性保障机制</a:t>
            </a:r>
          </a:p>
          <a:p>
            <a:pPr algn="r">
              <a:defRPr sz="950" b="1">
                <a:solidFill>
                  <a:srgbClr val="BFDBFE"/>
                </a:solidFill>
                <a:latin typeface="Microsoft YaHei"/>
              </a:defRPr>
            </a:pPr>
            <a:r>
              <a:t>[核心表项对账机制]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99632" y="4370832"/>
            <a:ext cx="5532120" cy="1389888"/>
          </a:xfrm>
          <a:prstGeom prst="rect">
            <a:avLst/>
          </a:prstGeom>
          <a:noFill/>
        </p:spPr>
        <p:txBody>
          <a:bodyPr wrap="square" lIns="73152" tIns="73152" rIns="73152" bIns="73152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全局分片路由表 (Slot-&gt;NodeMap)：</a:t>
            </a:r>
            <a:r>
              <a:rPr sz="860">
                <a:solidFill>
                  <a:srgbClr val="1E293B"/>
                </a:solidFill>
                <a:latin typeface="Microsoft YaHei"/>
              </a:rPr>
              <a:t>单写多读，基于 Raft 日志线性一致同步；Follower 节点构建不可变只读内存镜像并发响应查询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节点对象持有权表 (OwnershipTable)：</a:t>
            </a:r>
            <a:r>
              <a:rPr sz="860">
                <a:solidFill>
                  <a:srgbClr val="1E293B"/>
                </a:solidFill>
                <a:latin typeface="Microsoft YaHei"/>
              </a:rPr>
              <a:t>以 64B POD Extent 描述符存储，写端原子 CAS 指针翻转发布，读端零锁并发，消除跨语言反序列化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租约代际状态表 (LeaseEpochTable)：</a:t>
            </a:r>
            <a:r>
              <a:rPr sz="860">
                <a:solidFill>
                  <a:srgbClr val="1E293B"/>
                </a:solidFill>
                <a:latin typeface="Microsoft YaHei"/>
              </a:rPr>
              <a:t>对象生命周期强绑定 Epoch 代际编号；节点故障、重启或网络断开时租约自然过期失效，底层自动阻断陈旧数据读取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物理扇区分配位图 (SectorBitmap)：</a:t>
            </a:r>
            <a:r>
              <a:rPr sz="860">
                <a:solidFill>
                  <a:srgbClr val="1E293B"/>
                </a:solidFill>
                <a:latin typeface="Microsoft YaHei"/>
              </a:rPr>
              <a:t>管理 4KB 对齐的 NVMe 裸盘扇区，采用无锁原子位图操作，前台分配与后台异步垃圾回收互不阻塞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897880"/>
            <a:ext cx="11277295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5897880"/>
            <a:ext cx="73152" cy="62179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5989320"/>
            <a:ext cx="11002975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Microsoft YaHei"/>
              </a:rPr>
              <a:t>【核心结论】 </a:t>
            </a:r>
            <a:r>
              <a:rPr sz="1150" b="1">
                <a:solidFill>
                  <a:srgbClr val="1E293B"/>
                </a:solidFill>
                <a:latin typeface="Microsoft YaHei"/>
              </a:rPr>
              <a:t>元数据解耦四大权威源职责，通过 alignas(64) 对齐与无锁快照消除伪共享；控制面采用共享内存彻底消除跨进程 IPC 损耗。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
在线热路径严格物理隔离 etcd，确保高并发微秒级响应稳定性。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8755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Microsoft YaHei"/>
              </a:defRPr>
            </a:pPr>
            <a:r>
              <a:t>专题五：对象全生命周期状态机与两阶段发布/RCU双层延迟回收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Microsoft YaHei"/>
              </a:defRPr>
            </a:pPr>
            <a:r>
              <a:t>正文发布后严格不可变，两阶段发布防范半写脏块，通过 CPU 读者与硬件在途 I/O 双层宽限期保障安全释放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20040"/>
            <a:ext cx="131033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50" b="1">
                <a:solidFill>
                  <a:srgbClr val="2563EB"/>
                </a:solidFill>
                <a:latin typeface="Microsoft YaHei"/>
              </a:defRPr>
            </a:pPr>
            <a:r>
              <a:t>第 07 / 15 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2103120" cy="2834640"/>
          </a:xfrm>
          <a:prstGeom prst="rect">
            <a:avLst/>
          </a:prstGeom>
          <a:solidFill>
            <a:srgbClr val="F0F9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78992"/>
            <a:ext cx="2103120" cy="32918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883664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80" b="1">
                <a:solidFill>
                  <a:srgbClr val="FFFFFF"/>
                </a:solidFill>
                <a:latin typeface="Microsoft YaHei"/>
              </a:defRPr>
            </a:pPr>
            <a:r>
              <a:t>① PREPARING (私有写入)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26464"/>
            <a:ext cx="2103120" cy="2468880"/>
          </a:xfrm>
          <a:prstGeom prst="rect">
            <a:avLst/>
          </a:prstGeom>
          <a:noFill/>
        </p:spPr>
        <p:txBody>
          <a:bodyPr wrap="square" lIns="73152" tIns="73152" rIns="73152" bIns="73152">
            <a:spAutoFit/>
          </a:bodyPr>
          <a:lstStyle/>
          <a:p>
            <a:pPr>
              <a:lnSpc>
                <a:spcPct val="112000"/>
              </a:lnSpc>
              <a:spcAft>
                <a:spcPts val="250"/>
              </a:spcAft>
            </a:pPr>
            <a:r>
              <a:rPr sz="85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50" b="1">
                <a:solidFill>
                  <a:srgbClr val="1E3A8A"/>
                </a:solidFill>
                <a:latin typeface="Microsoft YaHei"/>
              </a:rPr>
              <a:t>针对对象：</a:t>
            </a:r>
            <a:r>
              <a:rPr sz="850">
                <a:solidFill>
                  <a:srgbClr val="1E293B"/>
                </a:solidFill>
                <a:latin typeface="Microsoft YaHei"/>
              </a:rPr>
              <a:t>推理算子新生成的 KV 显存块</a:t>
            </a:r>
          </a:p>
          <a:p>
            <a:pPr>
              <a:lnSpc>
                <a:spcPct val="112000"/>
              </a:lnSpc>
              <a:spcAft>
                <a:spcPts val="250"/>
              </a:spcAft>
            </a:pPr>
            <a:r>
              <a:rPr sz="85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50" b="1">
                <a:solidFill>
                  <a:srgbClr val="1E3A8A"/>
                </a:solidFill>
                <a:latin typeface="Microsoft YaHei"/>
              </a:rPr>
              <a:t>执行动作：</a:t>
            </a:r>
            <a:r>
              <a:rPr sz="850">
                <a:solidFill>
                  <a:srgbClr val="1E293B"/>
                </a:solidFill>
                <a:latin typeface="Microsoft YaHei"/>
              </a:rPr>
              <a:t>算子在私有显存空间写入数据，并等待底座硬件返回 CQE 完成中断证据</a:t>
            </a:r>
          </a:p>
          <a:p>
            <a:pPr>
              <a:lnSpc>
                <a:spcPct val="112000"/>
              </a:lnSpc>
              <a:spcAft>
                <a:spcPts val="250"/>
              </a:spcAft>
            </a:pPr>
            <a:r>
              <a:rPr sz="85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50" b="1">
                <a:solidFill>
                  <a:srgbClr val="1E3A8A"/>
                </a:solidFill>
                <a:latin typeface="Microsoft YaHei"/>
              </a:rPr>
              <a:t>达成目标：</a:t>
            </a:r>
            <a:r>
              <a:rPr sz="850">
                <a:solidFill>
                  <a:srgbClr val="1E293B"/>
                </a:solidFill>
                <a:latin typeface="Microsoft YaHei"/>
              </a:rPr>
              <a:t>完成物理写入确认，未获完成证据前对外部绝对不可见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0" y="1078992"/>
            <a:ext cx="2103120" cy="2834640"/>
          </a:xfrm>
          <a:prstGeom prst="rect">
            <a:avLst/>
          </a:prstGeom>
          <a:solidFill>
            <a:srgbClr val="F5F3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0" y="1078992"/>
            <a:ext cx="210312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52928" y="1115568"/>
            <a:ext cx="1883664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80" b="1">
                <a:solidFill>
                  <a:srgbClr val="FFFFFF"/>
                </a:solidFill>
                <a:latin typeface="Microsoft YaHei"/>
              </a:defRPr>
            </a:pPr>
            <a:r>
              <a:t>② COMMITTED (硬件就绪)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426464"/>
            <a:ext cx="2103120" cy="2468880"/>
          </a:xfrm>
          <a:prstGeom prst="rect">
            <a:avLst/>
          </a:prstGeom>
          <a:noFill/>
        </p:spPr>
        <p:txBody>
          <a:bodyPr wrap="square" lIns="73152" tIns="73152" rIns="73152" bIns="73152">
            <a:spAutoFit/>
          </a:bodyPr>
          <a:lstStyle/>
          <a:p>
            <a:pPr>
              <a:lnSpc>
                <a:spcPct val="112000"/>
              </a:lnSpc>
              <a:spcAft>
                <a:spcPts val="250"/>
              </a:spcAft>
            </a:pPr>
            <a:r>
              <a:rPr sz="85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50" b="1">
                <a:solidFill>
                  <a:srgbClr val="1E3A8A"/>
                </a:solidFill>
                <a:latin typeface="Microsoft YaHei"/>
              </a:rPr>
              <a:t>针对对象：</a:t>
            </a:r>
            <a:r>
              <a:rPr sz="850">
                <a:solidFill>
                  <a:srgbClr val="1E293B"/>
                </a:solidFill>
                <a:latin typeface="Microsoft YaHei"/>
              </a:rPr>
              <a:t>底层已完成写入确认的物理显存块</a:t>
            </a:r>
          </a:p>
          <a:p>
            <a:pPr>
              <a:lnSpc>
                <a:spcPct val="112000"/>
              </a:lnSpc>
              <a:spcAft>
                <a:spcPts val="250"/>
              </a:spcAft>
            </a:pPr>
            <a:r>
              <a:rPr sz="85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50" b="1">
                <a:solidFill>
                  <a:srgbClr val="1E3A8A"/>
                </a:solidFill>
                <a:latin typeface="Microsoft YaHei"/>
              </a:rPr>
              <a:t>执行动作：</a:t>
            </a:r>
            <a:r>
              <a:rPr sz="850">
                <a:solidFill>
                  <a:srgbClr val="1E293B"/>
                </a:solidFill>
                <a:latin typeface="Microsoft YaHei"/>
              </a:rPr>
              <a:t>对该块的模型版本、词表哈希、提示词模板等 6 维语义进行前置合法性检查</a:t>
            </a:r>
          </a:p>
          <a:p>
            <a:pPr>
              <a:lnSpc>
                <a:spcPct val="112000"/>
              </a:lnSpc>
              <a:spcAft>
                <a:spcPts val="250"/>
              </a:spcAft>
            </a:pPr>
            <a:r>
              <a:rPr sz="85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50" b="1">
                <a:solidFill>
                  <a:srgbClr val="1E3A8A"/>
                </a:solidFill>
                <a:latin typeface="Microsoft YaHei"/>
              </a:rPr>
              <a:t>达成目标：</a:t>
            </a:r>
            <a:r>
              <a:rPr sz="850">
                <a:solidFill>
                  <a:srgbClr val="1E293B"/>
                </a:solidFill>
                <a:latin typeface="Microsoft YaHei"/>
              </a:rPr>
              <a:t>确保数据完整无逻辑错，为全局发布做好准备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0" y="1078992"/>
            <a:ext cx="2103120" cy="2834640"/>
          </a:xfrm>
          <a:prstGeom prst="rect">
            <a:avLst/>
          </a:prstGeom>
          <a:solidFill>
            <a:srgbClr val="ECFDF5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1078992"/>
            <a:ext cx="2103120" cy="329184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38928" y="1115568"/>
            <a:ext cx="1883664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80" b="1">
                <a:solidFill>
                  <a:srgbClr val="FFFFFF"/>
                </a:solidFill>
                <a:latin typeface="Microsoft YaHei"/>
              </a:defRPr>
            </a:pPr>
            <a:r>
              <a:t>③ PUBLISHED (全局只读)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1426464"/>
            <a:ext cx="2103120" cy="2468880"/>
          </a:xfrm>
          <a:prstGeom prst="rect">
            <a:avLst/>
          </a:prstGeom>
          <a:noFill/>
        </p:spPr>
        <p:txBody>
          <a:bodyPr wrap="square" lIns="73152" tIns="73152" rIns="73152" bIns="73152">
            <a:spAutoFit/>
          </a:bodyPr>
          <a:lstStyle/>
          <a:p>
            <a:pPr>
              <a:lnSpc>
                <a:spcPct val="112000"/>
              </a:lnSpc>
              <a:spcAft>
                <a:spcPts val="250"/>
              </a:spcAft>
            </a:pPr>
            <a:r>
              <a:rPr sz="85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50" b="1">
                <a:solidFill>
                  <a:srgbClr val="1E3A8A"/>
                </a:solidFill>
                <a:latin typeface="Microsoft YaHei"/>
              </a:rPr>
              <a:t>针对对象：</a:t>
            </a:r>
            <a:r>
              <a:rPr sz="850">
                <a:solidFill>
                  <a:srgbClr val="1E293B"/>
                </a:solidFill>
                <a:latin typeface="Microsoft YaHei"/>
              </a:rPr>
              <a:t>通过 6 维语义一致性校验的合格缓存块</a:t>
            </a:r>
          </a:p>
          <a:p>
            <a:pPr>
              <a:lnSpc>
                <a:spcPct val="112000"/>
              </a:lnSpc>
              <a:spcAft>
                <a:spcPts val="250"/>
              </a:spcAft>
            </a:pPr>
            <a:r>
              <a:rPr sz="85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50" b="1">
                <a:solidFill>
                  <a:srgbClr val="1E3A8A"/>
                </a:solidFill>
                <a:latin typeface="Microsoft YaHei"/>
              </a:rPr>
              <a:t>执行动作：</a:t>
            </a:r>
            <a:r>
              <a:rPr sz="850">
                <a:solidFill>
                  <a:srgbClr val="1E293B"/>
                </a:solidFill>
                <a:latin typeface="Microsoft YaHei"/>
              </a:rPr>
              <a:t>原子翻转 Ready 就绪位，向分片目录注册全局可读句柄，正文严格物理只读</a:t>
            </a:r>
          </a:p>
          <a:p>
            <a:pPr>
              <a:lnSpc>
                <a:spcPct val="112000"/>
              </a:lnSpc>
              <a:spcAft>
                <a:spcPts val="250"/>
              </a:spcAft>
            </a:pPr>
            <a:r>
              <a:rPr sz="85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50" b="1">
                <a:solidFill>
                  <a:srgbClr val="1E3A8A"/>
                </a:solidFill>
                <a:latin typeface="Microsoft YaHei"/>
              </a:rPr>
              <a:t>达成目标：</a:t>
            </a:r>
            <a:r>
              <a:rPr sz="850">
                <a:solidFill>
                  <a:srgbClr val="1E293B"/>
                </a:solidFill>
                <a:latin typeface="Microsoft YaHei"/>
              </a:rPr>
              <a:t>允许集群内各推理进程并发挂载与安全复用，杜绝半写脏块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0" y="1078992"/>
            <a:ext cx="2103120" cy="2834640"/>
          </a:xfrm>
          <a:prstGeom prst="rect">
            <a:avLst/>
          </a:prstGeom>
          <a:solidFill>
            <a:srgbClr val="FFFBEB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0" y="1078992"/>
            <a:ext cx="2103120" cy="329184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24928" y="1115568"/>
            <a:ext cx="1883664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80" b="1">
                <a:solidFill>
                  <a:srgbClr val="FFFFFF"/>
                </a:solidFill>
                <a:latin typeface="Microsoft YaHei"/>
              </a:defRPr>
            </a:pPr>
            <a:r>
              <a:t>④ TOMBSTONE (逻辑软删除)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1426464"/>
            <a:ext cx="2103120" cy="2468880"/>
          </a:xfrm>
          <a:prstGeom prst="rect">
            <a:avLst/>
          </a:prstGeom>
          <a:noFill/>
        </p:spPr>
        <p:txBody>
          <a:bodyPr wrap="square" lIns="73152" tIns="73152" rIns="73152" bIns="73152">
            <a:spAutoFit/>
          </a:bodyPr>
          <a:lstStyle/>
          <a:p>
            <a:pPr>
              <a:lnSpc>
                <a:spcPct val="112000"/>
              </a:lnSpc>
              <a:spcAft>
                <a:spcPts val="250"/>
              </a:spcAft>
            </a:pPr>
            <a:r>
              <a:rPr sz="85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50" b="1">
                <a:solidFill>
                  <a:srgbClr val="1E3A8A"/>
                </a:solidFill>
                <a:latin typeface="Microsoft YaHei"/>
              </a:rPr>
              <a:t>针对对象：</a:t>
            </a:r>
            <a:r>
              <a:rPr sz="850">
                <a:solidFill>
                  <a:srgbClr val="1E293B"/>
                </a:solidFill>
                <a:latin typeface="Microsoft YaHei"/>
              </a:rPr>
              <a:t>因淘汰或失效的陈旧缓存块</a:t>
            </a:r>
          </a:p>
          <a:p>
            <a:pPr>
              <a:lnSpc>
                <a:spcPct val="112000"/>
              </a:lnSpc>
              <a:spcAft>
                <a:spcPts val="250"/>
              </a:spcAft>
            </a:pPr>
            <a:r>
              <a:rPr sz="85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50" b="1">
                <a:solidFill>
                  <a:srgbClr val="1E3A8A"/>
                </a:solidFill>
                <a:latin typeface="Microsoft YaHei"/>
              </a:rPr>
              <a:t>执行动作：</a:t>
            </a:r>
            <a:r>
              <a:rPr sz="850">
                <a:solidFill>
                  <a:srgbClr val="1E293B"/>
                </a:solidFill>
                <a:latin typeface="Microsoft YaHei"/>
              </a:rPr>
              <a:t>原子 CAS 将状态置为 TOMBSTONE 墓碑，从目录中注销并冻结持有权</a:t>
            </a:r>
          </a:p>
          <a:p>
            <a:pPr>
              <a:lnSpc>
                <a:spcPct val="112000"/>
              </a:lnSpc>
              <a:spcAft>
                <a:spcPts val="250"/>
              </a:spcAft>
            </a:pPr>
            <a:r>
              <a:rPr sz="85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50" b="1">
                <a:solidFill>
                  <a:srgbClr val="1E3A8A"/>
                </a:solidFill>
                <a:latin typeface="Microsoft YaHei"/>
              </a:rPr>
              <a:t>达成目标：</a:t>
            </a:r>
            <a:r>
              <a:rPr sz="850">
                <a:solidFill>
                  <a:srgbClr val="1E293B"/>
                </a:solidFill>
                <a:latin typeface="Microsoft YaHei"/>
              </a:rPr>
              <a:t>立即阻断新请求引用，但暂不释放底层物理显存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0" y="1078992"/>
            <a:ext cx="2103120" cy="2834640"/>
          </a:xfrm>
          <a:prstGeom prst="rect">
            <a:avLst/>
          </a:prstGeom>
          <a:solidFill>
            <a:srgbClr val="FEF2F2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601200" y="1078992"/>
            <a:ext cx="2103120" cy="32918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10928" y="1115568"/>
            <a:ext cx="1883664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80" b="1">
                <a:solidFill>
                  <a:srgbClr val="FFFFFF"/>
                </a:solidFill>
                <a:latin typeface="Microsoft YaHei"/>
              </a:defRPr>
            </a:pPr>
            <a:r>
              <a:t>⑤ FREE (显存安全释放)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1426464"/>
            <a:ext cx="2103120" cy="2468880"/>
          </a:xfrm>
          <a:prstGeom prst="rect">
            <a:avLst/>
          </a:prstGeom>
          <a:noFill/>
        </p:spPr>
        <p:txBody>
          <a:bodyPr wrap="square" lIns="73152" tIns="73152" rIns="73152" bIns="73152">
            <a:spAutoFit/>
          </a:bodyPr>
          <a:lstStyle/>
          <a:p>
            <a:pPr>
              <a:lnSpc>
                <a:spcPct val="112000"/>
              </a:lnSpc>
              <a:spcAft>
                <a:spcPts val="250"/>
              </a:spcAft>
            </a:pPr>
            <a:r>
              <a:rPr sz="85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50" b="1">
                <a:solidFill>
                  <a:srgbClr val="1E3A8A"/>
                </a:solidFill>
                <a:latin typeface="Microsoft YaHei"/>
              </a:rPr>
              <a:t>针对对象：</a:t>
            </a:r>
            <a:r>
              <a:rPr sz="850">
                <a:solidFill>
                  <a:srgbClr val="1E293B"/>
                </a:solidFill>
                <a:latin typeface="Microsoft YaHei"/>
              </a:rPr>
              <a:t>标记墓碑且宽限期已彻底结束的废弃块</a:t>
            </a:r>
          </a:p>
          <a:p>
            <a:pPr>
              <a:lnSpc>
                <a:spcPct val="112000"/>
              </a:lnSpc>
              <a:spcAft>
                <a:spcPts val="250"/>
              </a:spcAft>
            </a:pPr>
            <a:r>
              <a:rPr sz="85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50" b="1">
                <a:solidFill>
                  <a:srgbClr val="1E3A8A"/>
                </a:solidFill>
                <a:latin typeface="Microsoft YaHei"/>
              </a:rPr>
              <a:t>执行动作：</a:t>
            </a:r>
            <a:r>
              <a:rPr sz="850">
                <a:solidFill>
                  <a:srgbClr val="1E293B"/>
                </a:solidFill>
                <a:latin typeface="Microsoft YaHei"/>
              </a:rPr>
              <a:t>严格等待 CPU 读线程全部退出且底层硬件在途 DMA 彻底排空后回收</a:t>
            </a:r>
          </a:p>
          <a:p>
            <a:pPr>
              <a:lnSpc>
                <a:spcPct val="112000"/>
              </a:lnSpc>
              <a:spcAft>
                <a:spcPts val="250"/>
              </a:spcAft>
            </a:pPr>
            <a:r>
              <a:rPr sz="85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50" b="1">
                <a:solidFill>
                  <a:srgbClr val="1E3A8A"/>
                </a:solidFill>
                <a:latin typeface="Microsoft YaHei"/>
              </a:rPr>
              <a:t>达成目标：</a:t>
            </a:r>
            <a:r>
              <a:rPr sz="850">
                <a:solidFill>
                  <a:srgbClr val="1E293B"/>
                </a:solidFill>
                <a:latin typeface="Microsoft YaHei"/>
              </a:rPr>
              <a:t>物理显存安全回收入池，彻底消除 Use-After-Free 内存踩踏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041648"/>
            <a:ext cx="5532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4041648"/>
            <a:ext cx="5532120" cy="3200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4078224"/>
            <a:ext cx="5312664" cy="246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t>两阶段安全发布机制 (Two-Phase Commit &amp; Publication)</a:t>
            </a:r>
          </a:p>
          <a:p>
            <a:pPr algn="r">
              <a:defRPr sz="950" b="1">
                <a:solidFill>
                  <a:srgbClr val="BFDBFE"/>
                </a:solidFill>
                <a:latin typeface="Microsoft YaHei"/>
              </a:defRPr>
            </a:pPr>
            <a:r>
              <a:t>[杜绝半写脏块]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370832"/>
            <a:ext cx="5532120" cy="1389888"/>
          </a:xfrm>
          <a:prstGeom prst="rect">
            <a:avLst/>
          </a:prstGeom>
          <a:noFill/>
        </p:spPr>
        <p:txBody>
          <a:bodyPr wrap="square" lIns="73152" tIns="73152" rIns="73152" bIns="73152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机制设计意图：</a:t>
            </a:r>
            <a:r>
              <a:rPr sz="860">
                <a:solidFill>
                  <a:srgbClr val="1E293B"/>
                </a:solidFill>
                <a:latin typeface="Microsoft YaHei"/>
              </a:rPr>
              <a:t>在 Prefill 阶段算子生成 KV 块时，正文处于私有写入状态。若立刻发布，下游消费者可能读到刚写了一半的残缺数据，导致注意力算子崩溃或生成乱码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架构防线：</a:t>
            </a:r>
            <a:r>
              <a:rPr sz="860">
                <a:solidFill>
                  <a:srgbClr val="1E293B"/>
                </a:solidFill>
                <a:latin typeface="Microsoft YaHei"/>
              </a:rPr>
              <a:t>物理写入阶段状态为 PREPARING，仅在底层 DMA 完成且收到硬件 CQE 证据后置为 COMMITTED；经 6 维语义校验合格才原子翻转 Ready 就绪位发布为 PUBLISHED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安全不变量：</a:t>
            </a:r>
            <a:r>
              <a:rPr sz="860">
                <a:solidFill>
                  <a:srgbClr val="1E293B"/>
                </a:solidFill>
                <a:latin typeface="Microsoft YaHei"/>
              </a:rPr>
              <a:t>未取得硬件落盘证据前对外部完全不可见，彻底杜绝下游消费未写完的半写脏块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99632" y="4041648"/>
            <a:ext cx="5532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99632" y="4041648"/>
            <a:ext cx="5532120" cy="32004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4078224"/>
            <a:ext cx="5312664" cy="246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t>RCU 双层宽限期延迟回收机制 (RCU Grace Period Arbitration)</a:t>
            </a:r>
          </a:p>
          <a:p>
            <a:pPr algn="r">
              <a:defRPr sz="950" b="1">
                <a:solidFill>
                  <a:srgbClr val="BFDBFE"/>
                </a:solidFill>
                <a:latin typeface="Microsoft YaHei"/>
              </a:defRPr>
            </a:pPr>
            <a:r>
              <a:t>[消除 UAF 内存踩踏]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99632" y="4370832"/>
            <a:ext cx="5532120" cy="1389888"/>
          </a:xfrm>
          <a:prstGeom prst="rect">
            <a:avLst/>
          </a:prstGeom>
          <a:noFill/>
        </p:spPr>
        <p:txBody>
          <a:bodyPr wrap="square" lIns="73152" tIns="73152" rIns="73152" bIns="73152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机制设计意图：</a:t>
            </a:r>
            <a:r>
              <a:rPr sz="860">
                <a:solidFill>
                  <a:srgbClr val="1E293B"/>
                </a:solidFill>
                <a:latin typeface="Microsoft YaHei"/>
              </a:rPr>
              <a:t>跨节点远端直读或本地算子可能仍在读取淘汰块；若直接释放，被新请求复用后将引发致命的 Use-After-Free 内存踩踏与系统异常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架构防线：</a:t>
            </a:r>
            <a:r>
              <a:rPr sz="860">
                <a:solidFill>
                  <a:srgbClr val="1E293B"/>
                </a:solidFill>
                <a:latin typeface="Microsoft YaHei"/>
              </a:rPr>
              <a:t>淘汰时先置 TOMBSTONE 墓碑阻断新引用，物理释放 (FREE) 必须跨越双层屏障：① 监听所有 Host CPU 读线程退出 RCU 临界区；② 监听 NPU Stream Event 与在途 DMA 彻底排空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安全不变量：</a:t>
            </a:r>
            <a:r>
              <a:rPr sz="860">
                <a:solidFill>
                  <a:srgbClr val="1E293B"/>
                </a:solidFill>
                <a:latin typeface="Microsoft YaHei"/>
              </a:rPr>
              <a:t>双层宽限期确认结束前严禁重置显存物理页，彻底消除并发悬空指针与脏写踩踏风险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5897880"/>
            <a:ext cx="11277295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5897880"/>
            <a:ext cx="73152" cy="62179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792" y="5989320"/>
            <a:ext cx="11002975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Microsoft YaHei"/>
              </a:rPr>
              <a:t>【核心结论】 </a:t>
            </a:r>
            <a:r>
              <a:rPr sz="1150" b="1">
                <a:solidFill>
                  <a:srgbClr val="1E293B"/>
                </a:solidFill>
                <a:latin typeface="Microsoft YaHei"/>
              </a:rPr>
              <a:t>不可变对象发布后正文物理只读，严格执行两阶段发布以杜绝下游消费未写完脏块；淘汰时先置墓碑阻断新引用。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
显存物理回收必须满足 Host CPU 读线程退出与硬件在途 I/O 排空双层宽限期，彻底消除 Use-After-Free 踩踏风险。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8755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Microsoft YaHei"/>
              </a:defRPr>
            </a:pPr>
            <a:r>
              <a:t>专题六：三面物理隔离与 Payload Bypass DDR 硬件直通路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Microsoft YaHei"/>
              </a:defRPr>
            </a:pPr>
            <a:r>
              <a:t>管理面、控制面、数据面三面物理资源严格正交，数据直接流转于网卡/SSD 与显存之间完全绕过主机内存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20040"/>
            <a:ext cx="131033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50" b="1">
                <a:solidFill>
                  <a:srgbClr val="2563EB"/>
                </a:solidFill>
                <a:latin typeface="Microsoft YaHei"/>
              </a:defRPr>
            </a:pPr>
            <a:r>
              <a:t>第 08 / 15 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3611880" cy="2852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78992"/>
            <a:ext cx="3611880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3392424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t>1. 管理面物理隔离 (Management Plane)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44752"/>
            <a:ext cx="3611880" cy="2468880"/>
          </a:xfrm>
          <a:prstGeom prst="rect">
            <a:avLst/>
          </a:prstGeom>
          <a:noFill/>
        </p:spPr>
        <p:txBody>
          <a:bodyPr wrap="square" lIns="73152" tIns="73152" rIns="73152" bIns="73152">
            <a:spAutoFit/>
          </a:bodyPr>
          <a:lstStyle/>
          <a:p>
            <a:pPr>
              <a:lnSpc>
                <a:spcPct val="112000"/>
              </a:lnSpc>
              <a:spcAft>
                <a:spcPts val="25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部署形态：</a:t>
            </a:r>
            <a:r>
              <a:rPr sz="860">
                <a:solidFill>
                  <a:srgbClr val="1E293B"/>
                </a:solidFill>
                <a:latin typeface="Microsoft YaHei"/>
              </a:rPr>
              <a:t>etcd 持久集群与 kvc-controller 部署于独立管理节点，端口物理隔离</a:t>
            </a:r>
          </a:p>
          <a:p>
            <a:pPr>
              <a:lnSpc>
                <a:spcPct val="112000"/>
              </a:lnSpc>
              <a:spcAft>
                <a:spcPts val="25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核心职责：</a:t>
            </a:r>
            <a:r>
              <a:rPr sz="860">
                <a:solidFill>
                  <a:srgbClr val="1E293B"/>
                </a:solidFill>
                <a:latin typeface="Microsoft YaHei"/>
              </a:rPr>
              <a:t>负责集群拓扑维护、容量配额治理与冷分层策略下发</a:t>
            </a:r>
          </a:p>
          <a:p>
            <a:pPr>
              <a:lnSpc>
                <a:spcPct val="112000"/>
              </a:lnSpc>
              <a:spcAft>
                <a:spcPts val="25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隔离特征：</a:t>
            </a:r>
            <a:r>
              <a:rPr sz="860">
                <a:solidFill>
                  <a:srgbClr val="1E293B"/>
                </a:solidFill>
                <a:latin typeface="Microsoft YaHei"/>
              </a:rPr>
              <a:t>极低频访问，绝不进入在线单请求关键路径；管理面故障由本地快照兜底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4288536" y="1078992"/>
            <a:ext cx="3611880" cy="2852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8536" y="1078992"/>
            <a:ext cx="3611880" cy="3474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8264" y="1115568"/>
            <a:ext cx="3392424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t>2. 控制面微秒决策 (Control Plane)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88536" y="1444752"/>
            <a:ext cx="3611880" cy="2468880"/>
          </a:xfrm>
          <a:prstGeom prst="rect">
            <a:avLst/>
          </a:prstGeom>
          <a:noFill/>
        </p:spPr>
        <p:txBody>
          <a:bodyPr wrap="square" lIns="73152" tIns="73152" rIns="73152" bIns="73152">
            <a:spAutoFit/>
          </a:bodyPr>
          <a:lstStyle/>
          <a:p>
            <a:pPr>
              <a:lnSpc>
                <a:spcPct val="112000"/>
              </a:lnSpc>
              <a:spcAft>
                <a:spcPts val="25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部署形态：</a:t>
            </a:r>
            <a:r>
              <a:rPr sz="860">
                <a:solidFill>
                  <a:srgbClr val="1E293B"/>
                </a:solidFill>
                <a:latin typeface="Microsoft YaHei"/>
              </a:rPr>
              <a:t>libkvc_runtime 嵌入工作进程，kvc-node 独占绑定计算节点物理核</a:t>
            </a:r>
          </a:p>
          <a:p>
            <a:pPr>
              <a:lnSpc>
                <a:spcPct val="112000"/>
              </a:lnSpc>
              <a:spcAft>
                <a:spcPts val="25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核心职责：</a:t>
            </a:r>
            <a:r>
              <a:rPr sz="860">
                <a:solidFill>
                  <a:srgbClr val="1E293B"/>
                </a:solidFill>
                <a:latin typeface="Microsoft YaHei"/>
              </a:rPr>
              <a:t>依托无锁 ART 树与 QueryPlan 成本模型，信令交互全在内存微秒完成 (P99 &lt; 5µs)</a:t>
            </a:r>
          </a:p>
          <a:p>
            <a:pPr>
              <a:lnSpc>
                <a:spcPct val="112000"/>
              </a:lnSpc>
              <a:spcAft>
                <a:spcPts val="25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隔离特征：</a:t>
            </a:r>
            <a:r>
              <a:rPr sz="860">
                <a:solidFill>
                  <a:srgbClr val="1E293B"/>
                </a:solidFill>
                <a:latin typeface="Microsoft YaHei"/>
              </a:rPr>
              <a:t>负责哈希检索与租约校验，仅处理信令，不搬运数据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19872" y="1078992"/>
            <a:ext cx="3611880" cy="2852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9872" y="1078992"/>
            <a:ext cx="3611880" cy="347472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115568"/>
            <a:ext cx="3392424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t>3. 数据面零拷贝与三介质分层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19872" y="1444752"/>
            <a:ext cx="3611880" cy="2468880"/>
          </a:xfrm>
          <a:prstGeom prst="rect">
            <a:avLst/>
          </a:prstGeom>
          <a:noFill/>
        </p:spPr>
        <p:txBody>
          <a:bodyPr wrap="square" lIns="73152" tIns="73152" rIns="73152" bIns="73152">
            <a:spAutoFit/>
          </a:bodyPr>
          <a:lstStyle/>
          <a:p>
            <a:pPr>
              <a:lnSpc>
                <a:spcPct val="112000"/>
              </a:lnSpc>
              <a:spcAft>
                <a:spcPts val="25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NPU HBM 显存：</a:t>
            </a:r>
            <a:r>
              <a:rPr sz="860">
                <a:solidFill>
                  <a:srgbClr val="1E293B"/>
                </a:solidFill>
                <a:latin typeface="Microsoft YaHei"/>
              </a:rPr>
              <a:t>存放当前模型前向推理即时执行的热数据，算子直接寻址</a:t>
            </a:r>
          </a:p>
          <a:p>
            <a:pPr>
              <a:lnSpc>
                <a:spcPct val="112000"/>
              </a:lnSpc>
              <a:spcAft>
                <a:spcPts val="25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Host DDR 内存：</a:t>
            </a:r>
            <a:r>
              <a:rPr sz="860">
                <a:solidFill>
                  <a:srgbClr val="1E293B"/>
                </a:solidFill>
                <a:latin typeface="Microsoft YaHei"/>
              </a:rPr>
              <a:t>百 GB 级高吞吐热/温缓存扩展，存放高频前缀与会话，通过 PCIe 极速搬运</a:t>
            </a:r>
          </a:p>
          <a:p>
            <a:pPr>
              <a:lnSpc>
                <a:spcPct val="112000"/>
              </a:lnSpc>
              <a:spcAft>
                <a:spcPts val="25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NVMe SSD 裸盘：</a:t>
            </a:r>
            <a:r>
              <a:rPr sz="860">
                <a:solidFill>
                  <a:srgbClr val="1E293B"/>
                </a:solidFill>
                <a:latin typeface="Microsoft YaHei"/>
              </a:rPr>
              <a:t>TB 级海量冷数据异步持久化沉淀，提供大容量低成本冷缓存池</a:t>
            </a:r>
          </a:p>
          <a:p>
            <a:pPr>
              <a:lnSpc>
                <a:spcPct val="112000"/>
              </a:lnSpc>
              <a:spcAft>
                <a:spcPts val="25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直通路机制：</a:t>
            </a:r>
            <a:r>
              <a:rPr sz="860">
                <a:solidFill>
                  <a:srgbClr val="1E293B"/>
                </a:solidFill>
                <a:latin typeface="Microsoft YaHei"/>
              </a:rPr>
              <a:t>硬件 DMA 直达显存，绕过主机内存 (Bypass DDR)，消除 CPU 内存争用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041648"/>
            <a:ext cx="5532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4041648"/>
            <a:ext cx="5532120" cy="3200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4078224"/>
            <a:ext cx="5312664" cy="246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t>RoCE 网络硬件 QoS 双轨与微秒自适应退避</a:t>
            </a:r>
          </a:p>
          <a:p>
            <a:pPr algn="r">
              <a:defRPr sz="950" b="1">
                <a:solidFill>
                  <a:srgbClr val="BFDBFE"/>
                </a:solidFill>
                <a:latin typeface="Microsoft YaHei"/>
              </a:defRPr>
            </a:pPr>
            <a:r>
              <a:t>[尾部时延保障]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370832"/>
            <a:ext cx="5532120" cy="1389888"/>
          </a:xfrm>
          <a:prstGeom prst="rect">
            <a:avLst/>
          </a:prstGeom>
          <a:noFill/>
        </p:spPr>
        <p:txBody>
          <a:bodyPr wrap="square" lIns="73152" tIns="73152" rIns="73152" bIns="73152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硬件队列映射：</a:t>
            </a:r>
            <a:r>
              <a:rPr sz="860">
                <a:solidFill>
                  <a:srgbClr val="1E293B"/>
                </a:solidFill>
                <a:latin typeface="Microsoft YaHei"/>
              </a:rPr>
              <a:t>借助 DSCP/CoS 映射，将在线高优推理流量严格绑定至 RoCE 硬件最高优先级的 TC0 队列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后台流量限制：</a:t>
            </a:r>
            <a:r>
              <a:rPr sz="860">
                <a:solidFill>
                  <a:srgbClr val="1E293B"/>
                </a:solidFill>
                <a:latin typeface="Microsoft YaHei"/>
              </a:rPr>
              <a:t>将后台冷数据换出与分层存储流量限制在 TC1 队列，绝不抢占高优通道带宽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微秒自适应退避：</a:t>
            </a:r>
            <a:r>
              <a:rPr sz="860">
                <a:solidFill>
                  <a:srgbClr val="1E293B"/>
                </a:solidFill>
                <a:latin typeface="Microsoft YaHei"/>
              </a:rPr>
              <a:t>应用层 Worker.step() 动态监测网络排队；一旦检测到排队立即退避限流 50%~100%，保障前台 TPOT 干扰率 &lt; 3%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9632" y="4041648"/>
            <a:ext cx="5532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99632" y="4041648"/>
            <a:ext cx="5532120" cy="32004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4078224"/>
            <a:ext cx="5312664" cy="246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t>软硬双轨协同与 Raw Direct 纯软主路径</a:t>
            </a:r>
          </a:p>
          <a:p>
            <a:pPr algn="r">
              <a:defRPr sz="950" b="1">
                <a:solidFill>
                  <a:srgbClr val="BFDBFE"/>
                </a:solidFill>
                <a:latin typeface="Microsoft YaHei"/>
              </a:defRPr>
            </a:pPr>
            <a:r>
              <a:t>[架构演进与去依赖]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99632" y="4370832"/>
            <a:ext cx="5532120" cy="1389888"/>
          </a:xfrm>
          <a:prstGeom prst="rect">
            <a:avLst/>
          </a:prstGeom>
          <a:noFill/>
        </p:spPr>
        <p:txBody>
          <a:bodyPr wrap="square" lIns="73152" tIns="73152" rIns="73152" bIns="73152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纯软主路径底座：</a:t>
            </a:r>
            <a:r>
              <a:rPr sz="860">
                <a:solidFill>
                  <a:srgbClr val="1E293B"/>
                </a:solidFill>
                <a:latin typeface="Microsoft YaHei"/>
              </a:rPr>
              <a:t>以标准驱动纯软直达 (Raw Direct) 作为主路径底座，不依赖专用硬件协处理器，降低系统复杂度与外部依赖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条件硬件加速轨：</a:t>
            </a:r>
            <a:r>
              <a:rPr sz="860">
                <a:solidFill>
                  <a:srgbClr val="1E293B"/>
                </a:solidFill>
                <a:latin typeface="Microsoft YaHei"/>
              </a:rPr>
              <a:t>将 DPU 硬件卸载（加解密、CRC 校验、数据压缩）设计为条件加速轨，主路径与加速轨解耦演进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综合成本对账：</a:t>
            </a:r>
            <a:r>
              <a:rPr sz="860">
                <a:solidFill>
                  <a:srgbClr val="1E293B"/>
                </a:solidFill>
                <a:latin typeface="Microsoft YaHei"/>
              </a:rPr>
              <a:t>通过同等负载实测对比，量化评估 Host CPU 软件与 DPU 硬件综合开销，确保架构平稳演进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897880"/>
            <a:ext cx="11277295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5897880"/>
            <a:ext cx="73152" cy="62179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" y="5989320"/>
            <a:ext cx="11002975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Microsoft YaHei"/>
              </a:rPr>
              <a:t>【核心结论】 </a:t>
            </a:r>
            <a:r>
              <a:rPr sz="1150" b="1">
                <a:solidFill>
                  <a:srgbClr val="1E293B"/>
                </a:solidFill>
                <a:latin typeface="Microsoft YaHei"/>
              </a:rPr>
              <a:t>管理面、控制面与数据面三面物理资源严格正交，数据流通过硬件 DMA 直达显存并绕过主机内存 (Payload Bypass DDR)。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
NPU 显存热执行、Host DDR 热温缓存扩展与 NVMe SSD 异步沉淀构成三介质分层体系；网络 QoS 双轨保障前台 TPOT 干扰率 &lt; 3%。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8755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Microsoft YaHei"/>
              </a:defRPr>
            </a:pPr>
            <a:r>
              <a:t>专题七：12 类业务场景推拉模式映射与物理排空屏障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Microsoft YaHei"/>
              </a:defRPr>
            </a:pPr>
            <a:r>
              <a:t>区分确定性热点异步推送与突发长尾按需拉取，前置净收益评估与硬件排空屏障保障显存安全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20040"/>
            <a:ext cx="131033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50" b="1">
                <a:solidFill>
                  <a:srgbClr val="2563EB"/>
                </a:solidFill>
                <a:latin typeface="Microsoft YaHei"/>
              </a:defRPr>
            </a:pPr>
            <a:r>
              <a:t>第 09 / 15 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77295" cy="4681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8_kvc_inference_scenarios_and_causal_chai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1090148"/>
            <a:ext cx="11204143" cy="465941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5897880"/>
            <a:ext cx="11277295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5897880"/>
            <a:ext cx="73152" cy="62179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5989320"/>
            <a:ext cx="11002975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Microsoft YaHei"/>
              </a:rPr>
              <a:t>【核心结论】 </a:t>
            </a:r>
            <a:r>
              <a:rPr sz="1150" b="1">
                <a:solidFill>
                  <a:srgbClr val="1E293B"/>
                </a:solidFill>
                <a:latin typeface="Microsoft YaHei"/>
              </a:rPr>
              <a:t>确定性高频热点走异步提前推送，突发长尾走微秒按需拉取；严格执行拉取与加载总开销小于本地直接重算的准入门限。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
客户端取消或超时请求必须等待底层硬件在途 DMA 彻底物理排空后方可复用缓冲区，坚决杜绝野指针与显存踩踏。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8755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Microsoft YaHei"/>
              </a:defRPr>
            </a:pPr>
            <a:r>
              <a:t>专题八：底层通信库 (KPCL) 责任边界、四大通信流与流量调度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Microsoft YaHei"/>
              </a:defRPr>
            </a:pPr>
            <a:r>
              <a:t>明确 KVC 存储池调度与 KPCL 原厂通信底座接口契约，四大通信流模式与 F1~F8 流量画像消除拥塞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20040"/>
            <a:ext cx="131033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50" b="1">
                <a:solidFill>
                  <a:srgbClr val="2563EB"/>
                </a:solidFill>
                <a:latin typeface="Microsoft YaHei"/>
              </a:defRPr>
            </a:pPr>
            <a:r>
              <a:t>第 10 / 15 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77295" cy="4681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9_kvc_kpcl_traffic_schedulin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1090148"/>
            <a:ext cx="11204143" cy="465941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5897880"/>
            <a:ext cx="11277295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5897880"/>
            <a:ext cx="73152" cy="62179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5989320"/>
            <a:ext cx="11002975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Microsoft YaHei"/>
              </a:rPr>
              <a:t>【核心结论】 </a:t>
            </a:r>
            <a:r>
              <a:rPr sz="1150" b="1">
                <a:solidFill>
                  <a:srgbClr val="1E293B"/>
                </a:solidFill>
                <a:latin typeface="Microsoft YaHei"/>
              </a:rPr>
              <a:t>KVC 与 KPCL 严格按语义决策与通信执行解耦，KPCL 提供 1µs 级非阻塞异步 API 契约；四大通信流严格物理映射至独立通道。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
F1~F8 流量画像消除队列互斥与死锁；任何硬件数据传输完成必须以底层 CQE 可见性证据为准，确保状态强一致。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8755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Microsoft YaHei"/>
              </a:defRPr>
            </a:pPr>
            <a:r>
              <a:t>专题九：端到端 TTFT DAG 关键路径流水线与 120ms 预算拆解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Microsoft YaHei"/>
              </a:defRPr>
            </a:pPr>
            <a:r>
              <a:t>控制面各阶段单调时钟硬预算控制，NPU Stream/Event 异步流水消除 85% 首字等待气泡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20040"/>
            <a:ext cx="131033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50" b="1">
                <a:solidFill>
                  <a:srgbClr val="2563EB"/>
                </a:solidFill>
                <a:latin typeface="Microsoft YaHei"/>
              </a:defRPr>
            </a:pPr>
            <a:r>
              <a:t>第 11 / 15 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6949440" cy="4681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0_kvc_ttft_dag_pipeline_and_bud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1169434"/>
            <a:ext cx="6876288" cy="450084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543800" y="1078992"/>
            <a:ext cx="4187952" cy="46817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543800" y="1078992"/>
            <a:ext cx="4187952" cy="3474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53528" y="1115568"/>
            <a:ext cx="3968496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20" b="1">
                <a:solidFill>
                  <a:srgbClr val="FFFFFF"/>
                </a:solidFill>
                <a:latin typeface="Microsoft YaHei"/>
              </a:defRPr>
            </a:pPr>
            <a:r>
              <a:t>120ms 预算来源、业务收益与预算分解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0" y="1444752"/>
            <a:ext cx="4187952" cy="4297680"/>
          </a:xfrm>
          <a:prstGeom prst="rect">
            <a:avLst/>
          </a:prstGeom>
          <a:noFill/>
        </p:spPr>
        <p:txBody>
          <a:bodyPr wrap="square" lIns="73152" tIns="73152" rIns="73152" bIns="73152">
            <a:spAutoFit/>
          </a:bodyPr>
          <a:lstStyle/>
          <a:p>
            <a:pPr>
              <a:lnSpc>
                <a:spcPct val="112000"/>
              </a:lnSpc>
              <a:spcAft>
                <a:spcPts val="260"/>
              </a:spcAft>
            </a:pPr>
            <a:r>
              <a:rPr sz="84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40" b="1">
                <a:solidFill>
                  <a:srgbClr val="1E3A8A"/>
                </a:solidFill>
                <a:latin typeface="Microsoft YaHei"/>
              </a:rPr>
              <a:t>1. 为什么是 120ms 目标预算 (业务 SLO 倒推)：</a:t>
            </a:r>
            <a:r>
              <a:rPr sz="840">
                <a:solidFill>
                  <a:srgbClr val="1E293B"/>
                </a:solidFill>
                <a:latin typeface="Microsoft YaHei"/>
              </a:rPr>
              <a:t>大模型交互式对话要求首字响应 TTFT &lt; 500ms；在典型 32K Prompt 场景下直接重算耗时达 350~450ms，逼近 SLO 极限。为此倒推将 KVC 发现、传输、挂载总时延严格锁定在 120ms 预算内</a:t>
            </a:r>
          </a:p>
          <a:p>
            <a:pPr>
              <a:lnSpc>
                <a:spcPct val="112000"/>
              </a:lnSpc>
              <a:spcAft>
                <a:spcPts val="260"/>
              </a:spcAft>
            </a:pPr>
            <a:r>
              <a:rPr sz="84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40" b="1">
                <a:solidFill>
                  <a:srgbClr val="1E3A8A"/>
                </a:solidFill>
                <a:latin typeface="Microsoft YaHei"/>
              </a:rPr>
              <a:t>2. 对业务指标的具体改善收益：</a:t>
            </a:r>
            <a:r>
              <a:rPr sz="840">
                <a:solidFill>
                  <a:srgbClr val="1E293B"/>
                </a:solidFill>
                <a:latin typeface="Microsoft YaHei"/>
              </a:rPr>
              <a:t>• TTFT 降低 ≥ 60%：端到端首字延迟从 350~450ms 压缩至 120ms (加载) + 15ms (残余 Prefill) ≈ 135ms；
• QPS 提升 30%~50%：消除数百毫秒 Prefill 矩阵乘算力占用，NPU 算力即时投入 Decode 生成；
• TPOT 干扰 &lt; 3%：通过 120ms 异步 DAG 边算边传与 QoS 隔离，避免算力抢占，输出平稳无卡顿</a:t>
            </a:r>
          </a:p>
          <a:p>
            <a:pPr>
              <a:lnSpc>
                <a:spcPct val="112000"/>
              </a:lnSpc>
              <a:spcAft>
                <a:spcPts val="260"/>
              </a:spcAft>
            </a:pPr>
            <a:r>
              <a:rPr sz="84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40" b="1">
                <a:solidFill>
                  <a:srgbClr val="1E3A8A"/>
                </a:solidFill>
                <a:latin typeface="Microsoft YaHei"/>
              </a:rPr>
              <a:t>3. 120ms 端到端硬预算分解：</a:t>
            </a:r>
            <a:r>
              <a:rPr sz="840">
                <a:solidFill>
                  <a:srgbClr val="1E293B"/>
                </a:solidFill>
                <a:latin typeface="Microsoft YaHei"/>
              </a:rPr>
              <a:t>• 控制面快路径 (10ms)：意图下发 2ms + 目录发现 3ms + 6 维语义校验 2ms + 决策选路 3ms；
• 数据面极速直达 (95ms)：RDMA 零拷贝传输 + Layer 0 提前点火边算边传，流水重叠率 ≥ 85%；
• 多卡对账与挂载 (15ms)：硬件 CQE 对账与 TP=8 原子同步 5ms + PagedAttention 块表挂载 10ms</a:t>
            </a:r>
          </a:p>
          <a:p>
            <a:pPr>
              <a:lnSpc>
                <a:spcPct val="112000"/>
              </a:lnSpc>
              <a:spcAft>
                <a:spcPts val="260"/>
              </a:spcAft>
            </a:pPr>
            <a:r>
              <a:rPr sz="84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40" b="1">
                <a:solidFill>
                  <a:srgbClr val="1E3A8A"/>
                </a:solidFill>
                <a:latin typeface="Microsoft YaHei"/>
              </a:rPr>
              <a:t>4. 推导算例属性界定：</a:t>
            </a:r>
            <a:r>
              <a:rPr sz="840">
                <a:solidFill>
                  <a:srgbClr val="1E293B"/>
                </a:solidFill>
                <a:latin typeface="Microsoft YaHei"/>
              </a:rPr>
              <a:t>本预算用于指导各子系统微秒级门限设定的工程推导模型，任一环节超时立即熔断回退重算，绝非既成实测数据，以客观实测为准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897880"/>
            <a:ext cx="11277295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5897880"/>
            <a:ext cx="73152" cy="62179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5989320"/>
            <a:ext cx="11002975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Microsoft YaHei"/>
              </a:rPr>
              <a:t>【核心结论】 </a:t>
            </a:r>
            <a:r>
              <a:rPr sz="1150" b="1">
                <a:solidFill>
                  <a:srgbClr val="1E293B"/>
                </a:solidFill>
                <a:latin typeface="Microsoft YaHei"/>
              </a:rPr>
              <a:t>端到端时延以并集上界分解控制，控制面各子阶段设定单调时钟硬预算；NPU 边算边传异步流水消除 85% 等待气泡。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
Layer 0 首层映射最高优先级提前点火以掩盖传输延迟；120ms 目标预算算例严格用于指导自上而下系统工程分解。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8755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Microsoft YaHei"/>
              </a:defRPr>
            </a:pPr>
            <a:r>
              <a:t>专题十：TP=8 张量并行原子协同机制与 QoS 干扰抑制架构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Microsoft YaHei"/>
              </a:defRPr>
            </a:pPr>
            <a:r>
              <a:t>单次原子 Doorbell 消除多卡时序差与偏斜，前后台 QoS 双层退避保障尾部时延稳定性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20040"/>
            <a:ext cx="131033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50" b="1">
                <a:solidFill>
                  <a:srgbClr val="2563EB"/>
                </a:solidFill>
                <a:latin typeface="Microsoft YaHei"/>
              </a:defRPr>
            </a:pPr>
            <a:r>
              <a:t>第 12 / 15 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6949440" cy="4681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1_kvc_tp8_atomic_coordination_and_q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1169434"/>
            <a:ext cx="6876288" cy="450084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543800" y="1078992"/>
            <a:ext cx="4187952" cy="46817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543800" y="1078992"/>
            <a:ext cx="4187952" cy="3474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53528" y="1115568"/>
            <a:ext cx="3968496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20" b="1">
                <a:solidFill>
                  <a:srgbClr val="FFFFFF"/>
                </a:solidFill>
                <a:latin typeface="Microsoft YaHei"/>
              </a:defRPr>
            </a:pPr>
            <a:r>
              <a:t>TP=8 原子协同与尾部延迟控制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0" y="1444752"/>
            <a:ext cx="4187952" cy="4297680"/>
          </a:xfrm>
          <a:prstGeom prst="rect">
            <a:avLst/>
          </a:prstGeom>
          <a:noFill/>
        </p:spPr>
        <p:txBody>
          <a:bodyPr wrap="square" lIns="73152" tIns="73152" rIns="73152" bIns="73152">
            <a:spAutoFit/>
          </a:bodyPr>
          <a:lstStyle/>
          <a:p>
            <a:pPr>
              <a:lnSpc>
                <a:spcPct val="112000"/>
              </a:lnSpc>
              <a:spcAft>
                <a:spcPts val="280"/>
              </a:spcAft>
            </a:pPr>
            <a:r>
              <a:rPr sz="85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50" b="1">
                <a:solidFill>
                  <a:srgbClr val="1E3A8A"/>
                </a:solidFill>
                <a:latin typeface="Microsoft YaHei"/>
              </a:rPr>
              <a:t>1. TP=8 木桶短板效应原理：</a:t>
            </a:r>
            <a:r>
              <a:rPr sz="850">
                <a:solidFill>
                  <a:srgbClr val="1E293B"/>
                </a:solidFill>
                <a:latin typeface="Microsoft YaHei"/>
              </a:rPr>
              <a:t>张量并行切分至 8 张卡，计算需等待全部卡完成加载；慢节点将引发气泡并放大尾部时延</a:t>
            </a:r>
          </a:p>
          <a:p>
            <a:pPr>
              <a:lnSpc>
                <a:spcPct val="112000"/>
              </a:lnSpc>
              <a:spcAft>
                <a:spcPts val="280"/>
              </a:spcAft>
            </a:pPr>
            <a:r>
              <a:rPr sz="85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50" b="1">
                <a:solidFill>
                  <a:srgbClr val="1E3A8A"/>
                </a:solidFill>
                <a:latin typeface="Microsoft YaHei"/>
              </a:rPr>
              <a:t>2. 单次原子 Doorbell 同步：</a:t>
            </a:r>
            <a:r>
              <a:rPr sz="850">
                <a:solidFill>
                  <a:srgbClr val="1E293B"/>
                </a:solidFill>
                <a:latin typeface="Microsoft YaHei"/>
              </a:rPr>
              <a:t>8 卡独立完成加载后在 POSIX 共享内存中原子汇聚 (0xFF)；协调卡仅下发单次硬件原子 Doorbell 触发同步，消除多卡时序偏差，组内同步 P99 &lt; 100µs</a:t>
            </a:r>
          </a:p>
          <a:p>
            <a:pPr>
              <a:lnSpc>
                <a:spcPct val="112000"/>
              </a:lnSpc>
              <a:spcAft>
                <a:spcPts val="280"/>
              </a:spcAft>
            </a:pPr>
            <a:r>
              <a:rPr sz="85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50" b="1">
                <a:solidFill>
                  <a:srgbClr val="1E3A8A"/>
                </a:solidFill>
                <a:latin typeface="Microsoft YaHei"/>
              </a:rPr>
              <a:t>3. 偏斜系数收敛机制：</a:t>
            </a:r>
            <a:r>
              <a:rPr sz="850">
                <a:solidFill>
                  <a:srgbClr val="1E293B"/>
                </a:solidFill>
                <a:latin typeface="Microsoft YaHei"/>
              </a:rPr>
              <a:t>任一单卡在租约或加载中超时，触发全局协调一致回退，绝不发生通信死锁；偏斜系数收敛至 Skew_P99 &lt; 1.15，彻底消除多卡等待空转</a:t>
            </a:r>
          </a:p>
          <a:p>
            <a:pPr>
              <a:lnSpc>
                <a:spcPct val="112000"/>
              </a:lnSpc>
              <a:spcAft>
                <a:spcPts val="280"/>
              </a:spcAft>
            </a:pPr>
            <a:r>
              <a:rPr sz="85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50" b="1">
                <a:solidFill>
                  <a:srgbClr val="1E3A8A"/>
                </a:solidFill>
                <a:latin typeface="Microsoft YaHei"/>
              </a:rPr>
              <a:t>4. SemanticQoS 双轨队列隔离：</a:t>
            </a:r>
            <a:r>
              <a:rPr sz="850">
                <a:solidFill>
                  <a:srgbClr val="1E293B"/>
                </a:solidFill>
                <a:latin typeface="Microsoft YaHei"/>
              </a:rPr>
              <a:t>通过 DSCP 映射将在线推理独占绑定至 RoCE 硬件最高优先级的 TC0 队列；后台冷数据换出与分层流向限制在 TC1 队列</a:t>
            </a:r>
          </a:p>
          <a:p>
            <a:pPr>
              <a:lnSpc>
                <a:spcPct val="112000"/>
              </a:lnSpc>
              <a:spcAft>
                <a:spcPts val="280"/>
              </a:spcAft>
            </a:pPr>
            <a:r>
              <a:rPr sz="85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50" b="1">
                <a:solidFill>
                  <a:srgbClr val="1E3A8A"/>
                </a:solidFill>
                <a:latin typeface="Microsoft YaHei"/>
              </a:rPr>
              <a:t>5. 微秒级自适应退避门限：</a:t>
            </a:r>
            <a:r>
              <a:rPr sz="850">
                <a:solidFill>
                  <a:srgbClr val="1E293B"/>
                </a:solidFill>
                <a:latin typeface="Microsoft YaHei"/>
              </a:rPr>
              <a:t>Worker.step() 动态监测网络排队；一旦检测到排队立即主动限流后台换出 50%~100% 带宽，确保前台在线推理 TPOT 干扰率严格控制在 3% 以内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897880"/>
            <a:ext cx="11277295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5897880"/>
            <a:ext cx="73152" cy="62179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5989320"/>
            <a:ext cx="11002975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Microsoft YaHei"/>
              </a:rPr>
              <a:t>【核心结论】 </a:t>
            </a:r>
            <a:r>
              <a:rPr sz="1150" b="1">
                <a:solidFill>
                  <a:srgbClr val="1E293B"/>
                </a:solidFill>
                <a:latin typeface="Microsoft YaHei"/>
              </a:rPr>
              <a:t>张量并行 (TP=8) 偏斜从提交源头收敛，共享内存单次原子 Doorbell 消除多卡时序差，组内状态同步耗时 P99 &lt; 100µs。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
Layer 0 首层提前下发有效掩盖传输延迟；结合硬件 DSCP 隔离与微秒自适应退避，保障前台在线推理 TPOT 干扰率 &lt; 3%。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8755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Microsoft YaHei"/>
              </a:defRPr>
            </a:pPr>
            <a:r>
              <a:t>专题十一：三面可靠性隔离体系与 ViewGuard 容错跳出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Microsoft YaHei"/>
              </a:defRPr>
            </a:pPr>
            <a:r>
              <a:t>管理层脑裂不影响在线推理，控制面超时主动回退，ViewGuard 跨节点直读异常在 500µs 内安全回退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20040"/>
            <a:ext cx="131033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50" b="1">
                <a:solidFill>
                  <a:srgbClr val="2563EB"/>
                </a:solidFill>
                <a:latin typeface="Microsoft YaHei"/>
              </a:defRPr>
            </a:pPr>
            <a:r>
              <a:t>第 13 / 15 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3611880" cy="46817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78992"/>
            <a:ext cx="3611880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3392424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t>1. 管理面故障域隔离 (Management)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44752"/>
            <a:ext cx="3611880" cy="4297680"/>
          </a:xfrm>
          <a:prstGeom prst="rect">
            <a:avLst/>
          </a:prstGeom>
          <a:noFill/>
        </p:spPr>
        <p:txBody>
          <a:bodyPr wrap="square" lIns="73152" tIns="73152" rIns="73152" bIns="73152">
            <a:spAutoFit/>
          </a:bodyPr>
          <a:lstStyle/>
          <a:p>
            <a:pPr>
              <a:lnSpc>
                <a:spcPct val="116000"/>
              </a:lnSpc>
              <a:spcAft>
                <a:spcPts val="350"/>
              </a:spcAft>
            </a:pPr>
            <a:r>
              <a:rPr sz="919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919" b="1">
                <a:solidFill>
                  <a:srgbClr val="1E3A8A"/>
                </a:solidFill>
                <a:latin typeface="Microsoft YaHei"/>
              </a:rPr>
              <a:t>典型故障特征：</a:t>
            </a:r>
            <a:r>
              <a:rPr sz="919">
                <a:solidFill>
                  <a:srgbClr val="1E293B"/>
                </a:solidFill>
                <a:latin typeface="Microsoft YaHei"/>
              </a:rPr>
              <a:t>etcd 脑裂、管理网络分区、选举抖动或 Controller 主备切换</a:t>
            </a:r>
          </a:p>
          <a:p>
            <a:pPr>
              <a:lnSpc>
                <a:spcPct val="116000"/>
              </a:lnSpc>
              <a:spcAft>
                <a:spcPts val="350"/>
              </a:spcAft>
            </a:pPr>
            <a:r>
              <a:rPr sz="919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919" b="1">
                <a:solidFill>
                  <a:srgbClr val="1E3A8A"/>
                </a:solidFill>
                <a:latin typeface="Microsoft YaHei"/>
              </a:rPr>
              <a:t>物理隔离设计：</a:t>
            </a:r>
            <a:r>
              <a:rPr sz="919">
                <a:solidFill>
                  <a:srgbClr val="1E293B"/>
                </a:solidFill>
                <a:latin typeface="Microsoft YaHei"/>
              </a:rPr>
              <a:t>管理服务独立物理节点部署，仅负责静态拓扑与配额，绝不参与在线单请求路径</a:t>
            </a:r>
          </a:p>
          <a:p>
            <a:pPr>
              <a:lnSpc>
                <a:spcPct val="116000"/>
              </a:lnSpc>
              <a:spcAft>
                <a:spcPts val="350"/>
              </a:spcAft>
            </a:pPr>
            <a:r>
              <a:rPr sz="919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919" b="1">
                <a:solidFill>
                  <a:srgbClr val="1E3A8A"/>
                </a:solidFill>
                <a:latin typeface="Microsoft YaHei"/>
              </a:rPr>
              <a:t>容错与本地兜底：</a:t>
            </a:r>
            <a:r>
              <a:rPr sz="919">
                <a:solidFill>
                  <a:srgbClr val="1E293B"/>
                </a:solidFill>
                <a:latin typeface="Microsoft YaHei"/>
              </a:rPr>
              <a:t>节点代理 (kvc-node) 启动时已全量同步配置并持有只读内存快照；管理面故障期间，计算节点完全依靠本地快照继续提供微秒级服务，业务完全无感</a:t>
            </a:r>
          </a:p>
        </p:txBody>
      </p:sp>
      <p:sp>
        <p:nvSpPr>
          <p:cNvPr id="8" name="Rectangle 7"/>
          <p:cNvSpPr/>
          <p:nvPr/>
        </p:nvSpPr>
        <p:spPr>
          <a:xfrm>
            <a:off x="4288536" y="1078992"/>
            <a:ext cx="3611880" cy="46817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8536" y="1078992"/>
            <a:ext cx="3611880" cy="3474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8264" y="1115568"/>
            <a:ext cx="3392424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t>2. 控制面微秒级超时熔断 (Control)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88536" y="1444752"/>
            <a:ext cx="3611880" cy="4297680"/>
          </a:xfrm>
          <a:prstGeom prst="rect">
            <a:avLst/>
          </a:prstGeom>
          <a:noFill/>
        </p:spPr>
        <p:txBody>
          <a:bodyPr wrap="square" lIns="73152" tIns="73152" rIns="73152" bIns="73152">
            <a:spAutoFit/>
          </a:bodyPr>
          <a:lstStyle/>
          <a:p>
            <a:pPr>
              <a:lnSpc>
                <a:spcPct val="116000"/>
              </a:lnSpc>
              <a:spcAft>
                <a:spcPts val="350"/>
              </a:spcAft>
            </a:pPr>
            <a:r>
              <a:rPr sz="919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919" b="1">
                <a:solidFill>
                  <a:srgbClr val="1E3A8A"/>
                </a:solidFill>
                <a:latin typeface="Microsoft YaHei"/>
              </a:rPr>
              <a:t>典型故障特征：</a:t>
            </a:r>
            <a:r>
              <a:rPr sz="919">
                <a:solidFill>
                  <a:srgbClr val="1E293B"/>
                </a:solidFill>
                <a:latin typeface="Microsoft YaHei"/>
              </a:rPr>
              <a:t>分片目录 RPC 抖动、跨节点网络拥塞或单卡租约申请超时</a:t>
            </a:r>
          </a:p>
          <a:p>
            <a:pPr>
              <a:lnSpc>
                <a:spcPct val="116000"/>
              </a:lnSpc>
              <a:spcAft>
                <a:spcPts val="350"/>
              </a:spcAft>
            </a:pPr>
            <a:r>
              <a:rPr sz="919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919" b="1">
                <a:solidFill>
                  <a:srgbClr val="1E3A8A"/>
                </a:solidFill>
                <a:latin typeface="Microsoft YaHei"/>
              </a:rPr>
              <a:t>硬门限控制机制：</a:t>
            </a:r>
            <a:r>
              <a:rPr sz="919">
                <a:solidFill>
                  <a:srgbClr val="1E293B"/>
                </a:solidFill>
                <a:latin typeface="Microsoft YaHei"/>
              </a:rPr>
              <a:t>控制面各子阶段严格设定单调时钟硬门限（微秒级超时监控）</a:t>
            </a:r>
          </a:p>
          <a:p>
            <a:pPr>
              <a:lnSpc>
                <a:spcPct val="116000"/>
              </a:lnSpc>
              <a:spcAft>
                <a:spcPts val="350"/>
              </a:spcAft>
            </a:pPr>
            <a:r>
              <a:rPr sz="919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919" b="1">
                <a:solidFill>
                  <a:srgbClr val="1E3A8A"/>
                </a:solidFill>
                <a:latin typeface="Microsoft YaHei"/>
              </a:rPr>
              <a:t>主动熔断与回退：</a:t>
            </a:r>
            <a:r>
              <a:rPr sz="919">
                <a:solidFill>
                  <a:srgbClr val="1E293B"/>
                </a:solidFill>
                <a:latin typeface="Microsoft YaHei"/>
              </a:rPr>
              <a:t>一旦探测到目录查询或租约响应超过门限（如 5µs / 2ms），触发熔断器主动丢弃本次加载，零时延无缝回退至本地直接重新计算，杜绝控制面阻塞拖垮首字延迟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19872" y="1078992"/>
            <a:ext cx="3611880" cy="46817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9872" y="1078992"/>
            <a:ext cx="3611880" cy="347472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115568"/>
            <a:ext cx="3392424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t>3. 数据面 ViewGuard 500µs 极速跳出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19872" y="1444752"/>
            <a:ext cx="3611880" cy="4297680"/>
          </a:xfrm>
          <a:prstGeom prst="rect">
            <a:avLst/>
          </a:prstGeom>
          <a:noFill/>
        </p:spPr>
        <p:txBody>
          <a:bodyPr wrap="square" lIns="73152" tIns="73152" rIns="73152" bIns="73152">
            <a:spAutoFit/>
          </a:bodyPr>
          <a:lstStyle/>
          <a:p>
            <a:pPr>
              <a:lnSpc>
                <a:spcPct val="116000"/>
              </a:lnSpc>
              <a:spcAft>
                <a:spcPts val="350"/>
              </a:spcAft>
            </a:pPr>
            <a:r>
              <a:rPr sz="919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919" b="1">
                <a:solidFill>
                  <a:srgbClr val="1E3A8A"/>
                </a:solidFill>
                <a:latin typeface="Microsoft YaHei"/>
              </a:rPr>
              <a:t>典型故障特征：</a:t>
            </a:r>
            <a:r>
              <a:rPr sz="919">
                <a:solidFill>
                  <a:srgbClr val="1E293B"/>
                </a:solidFill>
                <a:latin typeface="Microsoft YaHei"/>
              </a:rPr>
              <a:t>跨节点远端直读 (Direct-View) 时远端突发掉电或断网，引发本地 SIGBUS 缺页总线错误</a:t>
            </a:r>
          </a:p>
          <a:p>
            <a:pPr>
              <a:lnSpc>
                <a:spcPct val="116000"/>
              </a:lnSpc>
              <a:spcAft>
                <a:spcPts val="350"/>
              </a:spcAft>
            </a:pPr>
            <a:r>
              <a:rPr sz="919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919" b="1">
                <a:solidFill>
                  <a:srgbClr val="1E3A8A"/>
                </a:solidFill>
                <a:latin typeface="Microsoft YaHei"/>
              </a:rPr>
              <a:t>用户态信号拦截：</a:t>
            </a:r>
            <a:r>
              <a:rPr sz="919">
                <a:solidFill>
                  <a:srgbClr val="1E293B"/>
                </a:solidFill>
                <a:latin typeface="Microsoft YaHei"/>
              </a:rPr>
              <a:t>注册专门的信号捕获机制，微秒级拦截 SIGBUS，阻断错误向底层算子扩散</a:t>
            </a:r>
          </a:p>
          <a:p>
            <a:pPr>
              <a:lnSpc>
                <a:spcPct val="116000"/>
              </a:lnSpc>
              <a:spcAft>
                <a:spcPts val="350"/>
              </a:spcAft>
            </a:pPr>
            <a:r>
              <a:rPr sz="919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919" b="1">
                <a:solidFill>
                  <a:srgbClr val="1E3A8A"/>
                </a:solidFill>
                <a:latin typeface="Microsoft YaHei"/>
              </a:rPr>
              <a:t>500µs 跳出恢复：</a:t>
            </a:r>
            <a:r>
              <a:rPr sz="919">
                <a:solidFill>
                  <a:srgbClr val="1E293B"/>
                </a:solidFill>
                <a:latin typeface="Microsoft YaHei"/>
              </a:rPr>
              <a:t>在 500µs 内撤销异常内存映射，通知算子回退本地重算</a:t>
            </a:r>
          </a:p>
          <a:p>
            <a:pPr>
              <a:lnSpc>
                <a:spcPct val="116000"/>
              </a:lnSpc>
              <a:spcAft>
                <a:spcPts val="350"/>
              </a:spcAft>
            </a:pPr>
            <a:r>
              <a:rPr sz="919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919" b="1">
                <a:solidFill>
                  <a:srgbClr val="1E3A8A"/>
                </a:solidFill>
                <a:latin typeface="Microsoft YaHei"/>
              </a:rPr>
              <a:t>四级优雅降级链：</a:t>
            </a:r>
            <a:r>
              <a:rPr sz="919">
                <a:solidFill>
                  <a:srgbClr val="1E293B"/>
                </a:solidFill>
                <a:latin typeface="Microsoft YaHei"/>
              </a:rPr>
              <a:t>遵循【远端直读 -&gt; 本地显存拷贝 -&gt; DDR 缓冲 -&gt; 本地直接重算】四级优雅降级，保障业务连续性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897880"/>
            <a:ext cx="11277295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5897880"/>
            <a:ext cx="73152" cy="62179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5989320"/>
            <a:ext cx="11002975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Microsoft YaHei"/>
              </a:rPr>
              <a:t>【核心结论】 </a:t>
            </a:r>
            <a:r>
              <a:rPr sz="1150" b="1">
                <a:solidFill>
                  <a:srgbClr val="1E293B"/>
                </a:solidFill>
                <a:latin typeface="Microsoft YaHei"/>
              </a:rPr>
              <a:t>三面故障域严格正交物理隔离，管理面脑裂与控制面超时绝不扩散至在线推理；跨节点远端直读必须受 ViewGuard 租约守卫保护。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
底层 SIGBUS 缺页异常在用户态微秒级拦截，500µs 内极速跳出并安全回退至本地重算，保障在线推理业务高可用与连续性。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8755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Microsoft YaHei"/>
              </a:defRPr>
            </a:pPr>
            <a:r>
              <a:t>专题十二：四个核心验证阶段 (E0~E3) 演进路线与 38 条 SR 需求矩阵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Microsoft YaHei"/>
              </a:defRPr>
            </a:pPr>
            <a:r>
              <a:t>四个核心验证阶段建立坚固证据闭环，全量 38 条 SR 需求精准分层映射，确立纯软主路径与条件加速轨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20040"/>
            <a:ext cx="131033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50" b="1">
                <a:solidFill>
                  <a:srgbClr val="2563EB"/>
                </a:solidFill>
                <a:latin typeface="Microsoft YaHei"/>
              </a:defRPr>
            </a:pPr>
            <a:r>
              <a:t>第 14 / 15 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2651760" cy="2852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78992"/>
            <a:ext cx="2651760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2432304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t>E0 业务收益前提确认</a:t>
            </a:r>
          </a:p>
          <a:p>
            <a:pPr algn="r">
              <a:defRPr sz="950" b="1">
                <a:solidFill>
                  <a:srgbClr val="BFDBFE"/>
                </a:solidFill>
                <a:latin typeface="Microsoft YaHei"/>
              </a:defRPr>
            </a:pPr>
            <a:r>
              <a:t>[净收益与协议上限]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44752"/>
            <a:ext cx="2651760" cy="2468880"/>
          </a:xfrm>
          <a:prstGeom prst="rect">
            <a:avLst/>
          </a:prstGeom>
          <a:noFill/>
        </p:spPr>
        <p:txBody>
          <a:bodyPr wrap="square" lIns="73152" tIns="73152" rIns="73152" bIns="73152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验证目标：</a:t>
            </a:r>
            <a:r>
              <a:rPr sz="860">
                <a:solidFill>
                  <a:srgbClr val="1E293B"/>
                </a:solidFill>
                <a:latin typeface="Microsoft YaHei"/>
              </a:rPr>
              <a:t>验证 Saved-Prefill 净收益在各复用率下的存在边界，探明 UBMEM 协议加速上限</a:t>
            </a:r>
          </a:p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准入门槛：</a:t>
            </a:r>
            <a:r>
              <a:rPr sz="860">
                <a:solidFill>
                  <a:srgbClr val="1E293B"/>
                </a:solidFill>
                <a:latin typeface="Microsoft YaHei"/>
              </a:rPr>
              <a:t>净收益显著存在，远端拉取总开销 &lt; 本地直接重算耗时</a:t>
            </a:r>
          </a:p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需求承接：</a:t>
            </a:r>
            <a:r>
              <a:rPr sz="860">
                <a:solidFill>
                  <a:srgbClr val="1E293B"/>
                </a:solidFill>
                <a:latin typeface="Microsoft YaHei"/>
              </a:rPr>
              <a:t>承接 L1 框架适配层 SR23-01-01~06 共 6 条 SR 需求闭环</a:t>
            </a:r>
          </a:p>
        </p:txBody>
      </p:sp>
      <p:sp>
        <p:nvSpPr>
          <p:cNvPr id="8" name="Rectangle 7"/>
          <p:cNvSpPr/>
          <p:nvPr/>
        </p:nvSpPr>
        <p:spPr>
          <a:xfrm>
            <a:off x="3328416" y="1078992"/>
            <a:ext cx="2651760" cy="2852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28416" y="1078992"/>
            <a:ext cx="2651760" cy="347472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38144" y="1115568"/>
            <a:ext cx="2432304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t>E1 核心数据路径打通</a:t>
            </a:r>
          </a:p>
          <a:p>
            <a:pPr algn="r">
              <a:defRPr sz="950" b="1">
                <a:solidFill>
                  <a:srgbClr val="BFDBFE"/>
                </a:solidFill>
                <a:latin typeface="Microsoft YaHei"/>
              </a:defRPr>
            </a:pPr>
            <a:r>
              <a:t>[零拷贝与多卡同步]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28416" y="1444752"/>
            <a:ext cx="2651760" cy="2468880"/>
          </a:xfrm>
          <a:prstGeom prst="rect">
            <a:avLst/>
          </a:prstGeom>
          <a:noFill/>
        </p:spPr>
        <p:txBody>
          <a:bodyPr wrap="square" lIns="73152" tIns="73152" rIns="73152" bIns="73152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验证目标：</a:t>
            </a:r>
            <a:r>
              <a:rPr sz="860">
                <a:solidFill>
                  <a:srgbClr val="1E293B"/>
                </a:solidFill>
                <a:latin typeface="Microsoft YaHei"/>
              </a:rPr>
              <a:t>打通 Host CPU 零数据拷贝底座、64B POD 描述符编译与 TP=8 多卡原子同步</a:t>
            </a:r>
          </a:p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准入门槛：</a:t>
            </a:r>
            <a:r>
              <a:rPr sz="860">
                <a:solidFill>
                  <a:srgbClr val="1E293B"/>
                </a:solidFill>
                <a:latin typeface="Microsoft YaHei"/>
              </a:rPr>
              <a:t>Host CPU 零数据拷贝，TP=8 同步 P99 &lt; 100µs，0 错误消费</a:t>
            </a:r>
          </a:p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需求承接：</a:t>
            </a:r>
            <a:r>
              <a:rPr sz="860">
                <a:solidFill>
                  <a:srgbClr val="1E293B"/>
                </a:solidFill>
                <a:latin typeface="Microsoft YaHei"/>
              </a:rPr>
              <a:t>承接 L3 传输管理层 SR23-01-21~29 共 9 条 SR 需求闭环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9632" y="1078992"/>
            <a:ext cx="2651760" cy="2852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9632" y="1078992"/>
            <a:ext cx="2651760" cy="3474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115568"/>
            <a:ext cx="2432304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t>E2 动态调度与分层扩容</a:t>
            </a:r>
          </a:p>
          <a:p>
            <a:pPr algn="r">
              <a:defRPr sz="950" b="1">
                <a:solidFill>
                  <a:srgbClr val="BFDBFE"/>
                </a:solidFill>
                <a:latin typeface="Microsoft YaHei"/>
              </a:defRPr>
            </a:pPr>
            <a:r>
              <a:t>[微秒决策与SSD直达]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9632" y="1444752"/>
            <a:ext cx="2651760" cy="2468880"/>
          </a:xfrm>
          <a:prstGeom prst="rect">
            <a:avLst/>
          </a:prstGeom>
          <a:noFill/>
        </p:spPr>
        <p:txBody>
          <a:bodyPr wrap="square" lIns="73152" tIns="73152" rIns="73152" bIns="73152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验证目标：</a:t>
            </a:r>
            <a:r>
              <a:rPr sz="860">
                <a:solidFill>
                  <a:srgbClr val="1E293B"/>
                </a:solidFill>
                <a:latin typeface="Microsoft YaHei"/>
              </a:rPr>
              <a:t>验证 QueryPlan 选路、ViewGuard 容错跳出与 NVMe SSD 直达扩容</a:t>
            </a:r>
          </a:p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准入门槛：</a:t>
            </a:r>
            <a:r>
              <a:rPr sz="860">
                <a:solidFill>
                  <a:srgbClr val="1E293B"/>
                </a:solidFill>
                <a:latin typeface="Microsoft YaHei"/>
              </a:rPr>
              <a:t>决策准确率 ≥ 95%，SIGBUS 跳出 &lt; 500µs，SSD 直达绕过主机内存</a:t>
            </a:r>
          </a:p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需求承接：</a:t>
            </a:r>
            <a:r>
              <a:rPr sz="860">
                <a:solidFill>
                  <a:srgbClr val="1E293B"/>
                </a:solidFill>
                <a:latin typeface="Microsoft YaHei"/>
              </a:rPr>
              <a:t>承接 L2 核心调度层 SR23-01-07~20 共 14 条 SR 需求闭环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70848" y="1078992"/>
            <a:ext cx="2651760" cy="2852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070848" y="1078992"/>
            <a:ext cx="2651760" cy="347472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80576" y="1115568"/>
            <a:ext cx="2432304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t>E3 全链路混压总门禁</a:t>
            </a:r>
          </a:p>
          <a:p>
            <a:pPr algn="r">
              <a:defRPr sz="950" b="1">
                <a:solidFill>
                  <a:srgbClr val="BFDBFE"/>
                </a:solidFill>
                <a:latin typeface="Microsoft YaHei"/>
              </a:defRPr>
            </a:pPr>
            <a:r>
              <a:t>[真实集群端到端混压]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0848" y="1444752"/>
            <a:ext cx="2651760" cy="2468880"/>
          </a:xfrm>
          <a:prstGeom prst="rect">
            <a:avLst/>
          </a:prstGeom>
          <a:noFill/>
        </p:spPr>
        <p:txBody>
          <a:bodyPr wrap="square" lIns="73152" tIns="73152" rIns="73152" bIns="73152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验证目标：</a:t>
            </a:r>
            <a:r>
              <a:rPr sz="860">
                <a:solidFill>
                  <a:srgbClr val="1E293B"/>
                </a:solidFill>
                <a:latin typeface="Microsoft YaHei"/>
              </a:rPr>
              <a:t>真实双节点集群下，前台在线推理与后台满载 I/O 极限混压验证</a:t>
            </a:r>
          </a:p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准入门槛：</a:t>
            </a:r>
            <a:r>
              <a:rPr sz="860">
                <a:solidFill>
                  <a:srgbClr val="1E293B"/>
                </a:solidFill>
                <a:latin typeface="Microsoft YaHei"/>
              </a:rPr>
              <a:t>全链路 TTFT 降低 ≥ 20%，系统 QPS 提升 ≥ 10%，前台 TPOT 干扰率 &lt; 3%</a:t>
            </a:r>
          </a:p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需求承接：</a:t>
            </a:r>
            <a:r>
              <a:rPr sz="860">
                <a:solidFill>
                  <a:srgbClr val="1E293B"/>
                </a:solidFill>
                <a:latin typeface="Microsoft YaHei"/>
              </a:rPr>
              <a:t>承接管理与辅助保障层 SR23-01-30~38 共 9 条 SR 需求闭环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041648"/>
            <a:ext cx="5532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041648"/>
            <a:ext cx="5532120" cy="3200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4078224"/>
            <a:ext cx="5312664" cy="246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t>主路径纯软直达与去依赖科学证伪</a:t>
            </a:r>
          </a:p>
          <a:p>
            <a:pPr algn="r">
              <a:defRPr sz="950" b="1">
                <a:solidFill>
                  <a:srgbClr val="BFDBFE"/>
                </a:solidFill>
                <a:latin typeface="Microsoft YaHei"/>
              </a:defRPr>
            </a:pPr>
            <a:r>
              <a:t>[架构去依赖]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370832"/>
            <a:ext cx="5532120" cy="1389888"/>
          </a:xfrm>
          <a:prstGeom prst="rect">
            <a:avLst/>
          </a:prstGeom>
          <a:noFill/>
        </p:spPr>
        <p:txBody>
          <a:bodyPr wrap="square" lIns="73152" tIns="73152" rIns="73152" bIns="73152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纯软主路径底座：</a:t>
            </a:r>
            <a:r>
              <a:rPr sz="860">
                <a:solidFill>
                  <a:srgbClr val="1E293B"/>
                </a:solidFill>
                <a:latin typeface="Microsoft YaHei"/>
              </a:rPr>
              <a:t>以标准驱动纯软直达为主路径底座，保证不依赖特定协处理器与专用硬件即可稳定运行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条件加速轨定位：</a:t>
            </a:r>
            <a:r>
              <a:rPr sz="860">
                <a:solidFill>
                  <a:srgbClr val="1E293B"/>
                </a:solidFill>
                <a:latin typeface="Microsoft YaHei"/>
              </a:rPr>
              <a:t>网卡硬件多播、硬件 Atomic Remap 与 DPU 卸载定位为条件加速轨，主路径与加速轨解耦演进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科学证伪结论：</a:t>
            </a:r>
            <a:r>
              <a:rPr sz="860">
                <a:solidFill>
                  <a:srgbClr val="1E293B"/>
                </a:solidFill>
                <a:latin typeface="Microsoft YaHei"/>
              </a:rPr>
              <a:t>严密证伪硬件强依赖风险，确保在外部协处理器不可用时，系统平稳回退至纯软主路径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9632" y="4041648"/>
            <a:ext cx="5532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9632" y="4041648"/>
            <a:ext cx="5532120" cy="32004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4078224"/>
            <a:ext cx="5312664" cy="246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t>研产测一体化四大交付资产闭环</a:t>
            </a:r>
          </a:p>
          <a:p>
            <a:pPr algn="r">
              <a:defRPr sz="950" b="1">
                <a:solidFill>
                  <a:srgbClr val="BFDBFE"/>
                </a:solidFill>
                <a:latin typeface="Microsoft YaHei"/>
              </a:defRPr>
            </a:pPr>
            <a:r>
              <a:t>[生产级交付]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99632" y="4370832"/>
            <a:ext cx="5532120" cy="1389888"/>
          </a:xfrm>
          <a:prstGeom prst="rect">
            <a:avLst/>
          </a:prstGeom>
          <a:noFill/>
        </p:spPr>
        <p:txBody>
          <a:bodyPr wrap="square" lIns="73152" tIns="73152" rIns="73152" bIns="73152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生产级代码资产：</a:t>
            </a:r>
            <a:r>
              <a:rPr sz="860">
                <a:solidFill>
                  <a:srgbClr val="1E293B"/>
                </a:solidFill>
                <a:latin typeface="Microsoft YaHei"/>
              </a:rPr>
              <a:t>交付 C/C++ 原生核心库、POSIX 共享内存运行时、微秒级驱动桩与全套单元测试套件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白皮书级规范资产：</a:t>
            </a:r>
            <a:r>
              <a:rPr sz="860">
                <a:solidFill>
                  <a:srgbClr val="1E293B"/>
                </a:solidFill>
                <a:latin typeface="Microsoft YaHei"/>
              </a:rPr>
              <a:t>输出《系统架构设计说明书》、《KPCL 通信驱动 API 契约》与部署实施手册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6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860" b="1">
                <a:solidFill>
                  <a:srgbClr val="1E3A8A"/>
                </a:solidFill>
                <a:latin typeface="Microsoft YaHei"/>
              </a:rPr>
              <a:t>客观实测数据资产：</a:t>
            </a:r>
            <a:r>
              <a:rPr sz="860">
                <a:solidFill>
                  <a:srgbClr val="1E293B"/>
                </a:solidFill>
                <a:latin typeface="Microsoft YaHei"/>
              </a:rPr>
              <a:t>交付 12 份标准验证报告、真实拓扑 CSV 事件与微秒级追踪监控曲线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897880"/>
            <a:ext cx="11277295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5897880"/>
            <a:ext cx="73152" cy="62179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5989320"/>
            <a:ext cx="11002975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Microsoft YaHei"/>
              </a:rPr>
              <a:t>【核心结论】 </a:t>
            </a:r>
            <a:r>
              <a:rPr sz="1150" b="1">
                <a:solidFill>
                  <a:srgbClr val="1E293B"/>
                </a:solidFill>
                <a:latin typeface="Microsoft YaHei"/>
              </a:rPr>
              <a:t>执行显存严格归推理框架管理拥有；主路径基于标准驱动纯软直达，硬件加速解耦演进；架构分层精准承接全量 38 条 SR 需求。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
严格执行 E0~E3 渐进式阶段门禁准入标准，严禁未达标合并上线；以真实双节点集群客观实测数据为准，确保工程高质量交付。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8755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Microsoft YaHei"/>
              </a:defRPr>
            </a:pPr>
            <a:r>
              <a:t>工程化收官总结：技术立项核心共识、生产级交付资产与落地保障承诺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Microsoft YaHei"/>
              </a:defRPr>
            </a:pPr>
            <a:r>
              <a:t>基于第一性原理分析系统瓶颈 · 阶段门禁保障工程质量 · 打造面向国产 AI 硬件的统一存储底座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20040"/>
            <a:ext cx="131033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50" b="1">
                <a:solidFill>
                  <a:srgbClr val="2563EB"/>
                </a:solidFill>
                <a:latin typeface="Microsoft YaHei"/>
              </a:defRPr>
            </a:pPr>
            <a:r>
              <a:t>第 15 / 15 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78992"/>
            <a:ext cx="2651760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2432304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t>1. 原厂软硬件协同底座</a:t>
            </a:r>
          </a:p>
          <a:p>
            <a:pPr algn="r">
              <a:defRPr sz="950" b="1">
                <a:solidFill>
                  <a:srgbClr val="BFDBFE"/>
                </a:solidFill>
                <a:latin typeface="Microsoft YaHei"/>
              </a:defRPr>
            </a:pPr>
            <a:r>
              <a:t>[架构定位]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44752"/>
            <a:ext cx="2651760" cy="2450592"/>
          </a:xfrm>
          <a:prstGeom prst="rect">
            <a:avLst/>
          </a:prstGeom>
          <a:noFill/>
        </p:spPr>
        <p:txBody>
          <a:bodyPr wrap="square" lIns="73152" tIns="73152" rIns="73152" bIns="73152">
            <a:spAutoFit/>
          </a:bodyPr>
          <a:lstStyle/>
          <a:p>
            <a:pPr>
              <a:lnSpc>
                <a:spcPct val="115000"/>
              </a:lnSpc>
              <a:spcAft>
                <a:spcPts val="450"/>
              </a:spcAft>
            </a:pPr>
            <a:r>
              <a:rPr sz="919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919" b="1">
                <a:solidFill>
                  <a:srgbClr val="1E3A8A"/>
                </a:solidFill>
                <a:latin typeface="Microsoft YaHei"/>
              </a:rPr>
              <a:t>执行显存归属：</a:t>
            </a:r>
            <a:r>
              <a:rPr sz="919">
                <a:solidFill>
                  <a:srgbClr val="1E293B"/>
                </a:solidFill>
                <a:latin typeface="Microsoft YaHei"/>
              </a:rPr>
              <a:t>框架独占执行 HBM 块表，KVC 逻辑统一跨节点不可变存储池</a:t>
            </a:r>
          </a:p>
          <a:p>
            <a:pPr>
              <a:lnSpc>
                <a:spcPct val="115000"/>
              </a:lnSpc>
              <a:spcAft>
                <a:spcPts val="450"/>
              </a:spcAft>
            </a:pPr>
            <a:r>
              <a:rPr sz="919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919" b="1">
                <a:solidFill>
                  <a:srgbClr val="1E3A8A"/>
                </a:solidFill>
                <a:latin typeface="Microsoft YaHei"/>
              </a:rPr>
              <a:t>底层总线封装：</a:t>
            </a:r>
            <a:r>
              <a:rPr sz="919">
                <a:solidFill>
                  <a:srgbClr val="1E293B"/>
                </a:solidFill>
                <a:latin typeface="Microsoft YaHei"/>
              </a:rPr>
              <a:t>以原厂通信库 (KPCL) 封装硬件驱动，屏蔽底层异构细节</a:t>
            </a:r>
          </a:p>
          <a:p>
            <a:pPr>
              <a:lnSpc>
                <a:spcPct val="115000"/>
              </a:lnSpc>
              <a:spcAft>
                <a:spcPts val="450"/>
              </a:spcAft>
            </a:pPr>
            <a:r>
              <a:rPr sz="919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919" b="1">
                <a:solidFill>
                  <a:srgbClr val="1E3A8A"/>
                </a:solidFill>
                <a:latin typeface="Microsoft YaHei"/>
              </a:rPr>
              <a:t>主路径纯软直达：</a:t>
            </a:r>
            <a:r>
              <a:rPr sz="919">
                <a:solidFill>
                  <a:srgbClr val="1E293B"/>
                </a:solidFill>
                <a:latin typeface="Microsoft YaHei"/>
              </a:rPr>
              <a:t>基于标准驱动直达，硬件加速解耦演进，降低外部依赖</a:t>
            </a:r>
          </a:p>
        </p:txBody>
      </p:sp>
      <p:sp>
        <p:nvSpPr>
          <p:cNvPr id="8" name="Rectangle 7"/>
          <p:cNvSpPr/>
          <p:nvPr/>
        </p:nvSpPr>
        <p:spPr>
          <a:xfrm>
            <a:off x="3328416" y="1078992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28416" y="1078992"/>
            <a:ext cx="2651760" cy="3474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38144" y="1115568"/>
            <a:ext cx="2432304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t>2. 前置微秒动态决策</a:t>
            </a:r>
          </a:p>
          <a:p>
            <a:pPr algn="r">
              <a:defRPr sz="950" b="1">
                <a:solidFill>
                  <a:srgbClr val="BFDBFE"/>
                </a:solidFill>
                <a:latin typeface="Microsoft YaHei"/>
              </a:defRPr>
            </a:pPr>
            <a:r>
              <a:t>[净加速收益]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28416" y="1444752"/>
            <a:ext cx="2651760" cy="2450592"/>
          </a:xfrm>
          <a:prstGeom prst="rect">
            <a:avLst/>
          </a:prstGeom>
          <a:noFill/>
        </p:spPr>
        <p:txBody>
          <a:bodyPr wrap="square" lIns="73152" tIns="73152" rIns="73152" bIns="73152">
            <a:spAutoFit/>
          </a:bodyPr>
          <a:lstStyle/>
          <a:p>
            <a:pPr>
              <a:lnSpc>
                <a:spcPct val="115000"/>
              </a:lnSpc>
              <a:spcAft>
                <a:spcPts val="450"/>
              </a:spcAft>
            </a:pPr>
            <a:r>
              <a:rPr sz="919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919" b="1">
                <a:solidFill>
                  <a:srgbClr val="1E3A8A"/>
                </a:solidFill>
                <a:latin typeface="Microsoft YaHei"/>
              </a:rPr>
              <a:t>净收益前置门禁：</a:t>
            </a:r>
            <a:r>
              <a:rPr sz="919">
                <a:solidFill>
                  <a:srgbClr val="1E293B"/>
                </a:solidFill>
                <a:latin typeface="Microsoft YaHei"/>
              </a:rPr>
              <a:t>拉取加载总开销 &lt; 本地直接重算耗时，否则主动回退本地重算</a:t>
            </a:r>
          </a:p>
          <a:p>
            <a:pPr>
              <a:lnSpc>
                <a:spcPct val="115000"/>
              </a:lnSpc>
              <a:spcAft>
                <a:spcPts val="450"/>
              </a:spcAft>
            </a:pPr>
            <a:r>
              <a:rPr sz="919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919" b="1">
                <a:solidFill>
                  <a:srgbClr val="1E3A8A"/>
                </a:solidFill>
                <a:latin typeface="Microsoft YaHei"/>
              </a:rPr>
              <a:t>无锁快路径匹配：</a:t>
            </a:r>
            <a:r>
              <a:rPr sz="919">
                <a:solidFill>
                  <a:srgbClr val="1E293B"/>
                </a:solidFill>
                <a:latin typeface="Microsoft YaHei"/>
              </a:rPr>
              <a:t>ART 基数树快照遍历 P99 &lt; 2µs，QueryPlan 动态微秒选路</a:t>
            </a:r>
          </a:p>
          <a:p>
            <a:pPr>
              <a:lnSpc>
                <a:spcPct val="115000"/>
              </a:lnSpc>
              <a:spcAft>
                <a:spcPts val="450"/>
              </a:spcAft>
            </a:pPr>
            <a:r>
              <a:rPr sz="919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919" b="1">
                <a:solidFill>
                  <a:srgbClr val="1E3A8A"/>
                </a:solidFill>
                <a:latin typeface="Microsoft YaHei"/>
              </a:rPr>
              <a:t>Host 零数据拷贝：</a:t>
            </a:r>
            <a:r>
              <a:rPr sz="919">
                <a:solidFill>
                  <a:srgbClr val="1E293B"/>
                </a:solidFill>
                <a:latin typeface="Microsoft YaHei"/>
              </a:rPr>
              <a:t>基础路径 CPU 仅下发 64B POD 描述符，数据经 DMA 直达 NPU HBM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9632" y="1078992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9632" y="1078992"/>
            <a:ext cx="2651760" cy="3474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115568"/>
            <a:ext cx="2432304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t>3. 生产级安全一致性</a:t>
            </a:r>
          </a:p>
          <a:p>
            <a:pPr algn="r">
              <a:defRPr sz="950" b="1">
                <a:solidFill>
                  <a:srgbClr val="BFDBFE"/>
                </a:solidFill>
                <a:latin typeface="Microsoft YaHei"/>
              </a:defRPr>
            </a:pPr>
            <a:r>
              <a:t>[数据安全校验]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9632" y="1444752"/>
            <a:ext cx="2651760" cy="2450592"/>
          </a:xfrm>
          <a:prstGeom prst="rect">
            <a:avLst/>
          </a:prstGeom>
          <a:noFill/>
        </p:spPr>
        <p:txBody>
          <a:bodyPr wrap="square" lIns="73152" tIns="73152" rIns="73152" bIns="73152">
            <a:spAutoFit/>
          </a:bodyPr>
          <a:lstStyle/>
          <a:p>
            <a:pPr>
              <a:lnSpc>
                <a:spcPct val="115000"/>
              </a:lnSpc>
              <a:spcAft>
                <a:spcPts val="450"/>
              </a:spcAft>
            </a:pPr>
            <a:r>
              <a:rPr sz="919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919" b="1">
                <a:solidFill>
                  <a:srgbClr val="1E3A8A"/>
                </a:solidFill>
                <a:latin typeface="Microsoft YaHei"/>
              </a:rPr>
              <a:t>6 维语义强校验：</a:t>
            </a:r>
            <a:r>
              <a:rPr sz="919">
                <a:solidFill>
                  <a:srgbClr val="1E293B"/>
                </a:solidFill>
                <a:latin typeface="Microsoft YaHei"/>
              </a:rPr>
              <a:t>严格核验模型、词表、模板与租约，杜绝非法失效数据消费</a:t>
            </a:r>
          </a:p>
          <a:p>
            <a:pPr>
              <a:lnSpc>
                <a:spcPct val="115000"/>
              </a:lnSpc>
              <a:spcAft>
                <a:spcPts val="450"/>
              </a:spcAft>
            </a:pPr>
            <a:r>
              <a:rPr sz="919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919" b="1">
                <a:solidFill>
                  <a:srgbClr val="1E3A8A"/>
                </a:solidFill>
                <a:latin typeface="Microsoft YaHei"/>
              </a:rPr>
              <a:t>ViewGuard 500µs：</a:t>
            </a:r>
            <a:r>
              <a:rPr sz="919">
                <a:solidFill>
                  <a:srgbClr val="1E293B"/>
                </a:solidFill>
                <a:latin typeface="Microsoft YaHei"/>
              </a:rPr>
              <a:t>跨节点直读捕获 SIGBUS 异常在 500µs 内跳出并回滚本地重算</a:t>
            </a:r>
          </a:p>
          <a:p>
            <a:pPr>
              <a:lnSpc>
                <a:spcPct val="115000"/>
              </a:lnSpc>
              <a:spcAft>
                <a:spcPts val="450"/>
              </a:spcAft>
            </a:pPr>
            <a:r>
              <a:rPr sz="919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919" b="1">
                <a:solidFill>
                  <a:srgbClr val="1E3A8A"/>
                </a:solidFill>
                <a:latin typeface="Microsoft YaHei"/>
              </a:rPr>
              <a:t>RCU 双层宽限期：</a:t>
            </a:r>
            <a:r>
              <a:rPr sz="919">
                <a:solidFill>
                  <a:srgbClr val="1E293B"/>
                </a:solidFill>
                <a:latin typeface="Microsoft YaHei"/>
              </a:rPr>
              <a:t>CPU 读者退出与硬件在途 I/O 排空双层仲裁，保障显存安全释放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70848" y="1078992"/>
            <a:ext cx="2651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070848" y="1078992"/>
            <a:ext cx="2651760" cy="34747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80576" y="1115568"/>
            <a:ext cx="2432304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t>4. 阶段门禁与质量闭环</a:t>
            </a:r>
          </a:p>
          <a:p>
            <a:pPr algn="r">
              <a:defRPr sz="950" b="1">
                <a:solidFill>
                  <a:srgbClr val="BFDBFE"/>
                </a:solidFill>
                <a:latin typeface="Microsoft YaHei"/>
              </a:defRPr>
            </a:pPr>
            <a:r>
              <a:t>[工程推进]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0848" y="1444752"/>
            <a:ext cx="2651760" cy="2450592"/>
          </a:xfrm>
          <a:prstGeom prst="rect">
            <a:avLst/>
          </a:prstGeom>
          <a:noFill/>
        </p:spPr>
        <p:txBody>
          <a:bodyPr wrap="square" lIns="73152" tIns="73152" rIns="73152" bIns="73152">
            <a:spAutoFit/>
          </a:bodyPr>
          <a:lstStyle/>
          <a:p>
            <a:pPr>
              <a:lnSpc>
                <a:spcPct val="115000"/>
              </a:lnSpc>
              <a:spcAft>
                <a:spcPts val="450"/>
              </a:spcAft>
            </a:pPr>
            <a:r>
              <a:rPr sz="919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919" b="1">
                <a:solidFill>
                  <a:srgbClr val="1E3A8A"/>
                </a:solidFill>
                <a:latin typeface="Microsoft YaHei"/>
              </a:rPr>
              <a:t>E0~E3 渐进门限：</a:t>
            </a:r>
            <a:r>
              <a:rPr sz="919">
                <a:solidFill>
                  <a:srgbClr val="1E293B"/>
                </a:solidFill>
                <a:latin typeface="Microsoft YaHei"/>
              </a:rPr>
              <a:t>严格按收益确认、底座打通、调度决策与端到端混压四阶段演进</a:t>
            </a:r>
          </a:p>
          <a:p>
            <a:pPr>
              <a:lnSpc>
                <a:spcPct val="115000"/>
              </a:lnSpc>
              <a:spcAft>
                <a:spcPts val="450"/>
              </a:spcAft>
            </a:pPr>
            <a:r>
              <a:rPr sz="919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919" b="1">
                <a:solidFill>
                  <a:srgbClr val="1E3A8A"/>
                </a:solidFill>
                <a:latin typeface="Microsoft YaHei"/>
              </a:rPr>
              <a:t>严苛混压门禁：</a:t>
            </a:r>
            <a:r>
              <a:rPr sz="919">
                <a:solidFill>
                  <a:srgbClr val="1E293B"/>
                </a:solidFill>
                <a:latin typeface="Microsoft YaHei"/>
              </a:rPr>
              <a:t>前后台混压下 TTFT 降幅 ≥ 20%，QPS 提升 ≥ 10%，TPOT 干扰 &lt; 3%</a:t>
            </a:r>
          </a:p>
          <a:p>
            <a:pPr>
              <a:lnSpc>
                <a:spcPct val="115000"/>
              </a:lnSpc>
              <a:spcAft>
                <a:spcPts val="450"/>
              </a:spcAft>
            </a:pPr>
            <a:r>
              <a:rPr sz="919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919" b="1">
                <a:solidFill>
                  <a:srgbClr val="1E3A8A"/>
                </a:solidFill>
                <a:latin typeface="Microsoft YaHei"/>
              </a:rPr>
              <a:t>研产测一体化：</a:t>
            </a:r>
            <a:r>
              <a:rPr sz="919">
                <a:solidFill>
                  <a:srgbClr val="1E293B"/>
                </a:solidFill>
                <a:latin typeface="Microsoft YaHei"/>
              </a:rPr>
              <a:t>代码、规范、实测数据与核心专利同步闭环交付，以客观实测为依据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069080"/>
            <a:ext cx="55321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069080"/>
            <a:ext cx="5532120" cy="3200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4105656"/>
            <a:ext cx="5312664" cy="246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80" b="1">
                <a:solidFill>
                  <a:srgbClr val="FFFFFF"/>
                </a:solidFill>
                <a:latin typeface="Microsoft YaHei"/>
              </a:defRPr>
            </a:pPr>
            <a:r>
              <a:t>四大生产级核心交付资产</a:t>
            </a:r>
          </a:p>
          <a:p>
            <a:pPr algn="r">
              <a:defRPr sz="950" b="1">
                <a:solidFill>
                  <a:srgbClr val="BFDBFE"/>
                </a:solidFill>
                <a:latin typeface="Microsoft YaHei"/>
              </a:defRPr>
            </a:pPr>
            <a:r>
              <a:t>[研产测一体化交付]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398264"/>
            <a:ext cx="5532120" cy="1344168"/>
          </a:xfrm>
          <a:prstGeom prst="rect">
            <a:avLst/>
          </a:prstGeom>
          <a:noFill/>
        </p:spPr>
        <p:txBody>
          <a:bodyPr wrap="square" lIns="73152" tIns="73152" rIns="73152" bIns="73152">
            <a:spAutoFit/>
          </a:bodyPr>
          <a:lstStyle/>
          <a:p>
            <a:pPr>
              <a:lnSpc>
                <a:spcPct val="112000"/>
              </a:lnSpc>
              <a:spcAft>
                <a:spcPts val="250"/>
              </a:spcAft>
            </a:pPr>
            <a:r>
              <a:rPr sz="90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900" b="1">
                <a:solidFill>
                  <a:srgbClr val="1E3A8A"/>
                </a:solidFill>
                <a:latin typeface="Microsoft YaHei"/>
              </a:rPr>
              <a:t>代码资产：</a:t>
            </a:r>
            <a:r>
              <a:rPr sz="900">
                <a:solidFill>
                  <a:srgbClr val="1E293B"/>
                </a:solidFill>
                <a:latin typeface="Microsoft YaHei"/>
              </a:rPr>
              <a:t>交付全套微秒级 C/C++ 原生核心库、POSIX 共享内存运行时与单元测试套件</a:t>
            </a:r>
          </a:p>
          <a:p>
            <a:pPr>
              <a:lnSpc>
                <a:spcPct val="112000"/>
              </a:lnSpc>
              <a:spcAft>
                <a:spcPts val="250"/>
              </a:spcAft>
            </a:pPr>
            <a:r>
              <a:rPr sz="90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900" b="1">
                <a:solidFill>
                  <a:srgbClr val="1E3A8A"/>
                </a:solidFill>
                <a:latin typeface="Microsoft YaHei"/>
              </a:rPr>
              <a:t>规范资产：</a:t>
            </a:r>
            <a:r>
              <a:rPr sz="900">
                <a:solidFill>
                  <a:srgbClr val="1E293B"/>
                </a:solidFill>
                <a:latin typeface="Microsoft YaHei"/>
              </a:rPr>
              <a:t>输出白皮书级《系统架构设计说明书》、《KPCL 通信驱动 API 契约》与部署规范</a:t>
            </a:r>
          </a:p>
          <a:p>
            <a:pPr>
              <a:lnSpc>
                <a:spcPct val="112000"/>
              </a:lnSpc>
              <a:spcAft>
                <a:spcPts val="250"/>
              </a:spcAft>
            </a:pPr>
            <a:r>
              <a:rPr sz="90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900" b="1">
                <a:solidFill>
                  <a:srgbClr val="1E3A8A"/>
                </a:solidFill>
                <a:latin typeface="Microsoft YaHei"/>
              </a:rPr>
              <a:t>数据资产：</a:t>
            </a:r>
            <a:r>
              <a:rPr sz="900">
                <a:solidFill>
                  <a:srgbClr val="1E293B"/>
                </a:solidFill>
                <a:latin typeface="Microsoft YaHei"/>
              </a:rPr>
              <a:t>交付 12 份标准验证报告、真实拓扑 CSV 原始事件与微秒级监控追踪曲线</a:t>
            </a:r>
          </a:p>
          <a:p>
            <a:pPr>
              <a:lnSpc>
                <a:spcPct val="112000"/>
              </a:lnSpc>
              <a:spcAft>
                <a:spcPts val="250"/>
              </a:spcAft>
            </a:pPr>
            <a:r>
              <a:rPr sz="90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900" b="1">
                <a:solidFill>
                  <a:srgbClr val="1E3A8A"/>
                </a:solidFill>
                <a:latin typeface="Microsoft YaHei"/>
              </a:rPr>
              <a:t>专利资产：</a:t>
            </a:r>
            <a:r>
              <a:rPr sz="900">
                <a:solidFill>
                  <a:srgbClr val="1E293B"/>
                </a:solidFill>
                <a:latin typeface="Microsoft YaHei"/>
              </a:rPr>
              <a:t>围绕双流分离、ViewGuard 容错、6维语义校验与 DAG 流水布局多项核心发明专利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9632" y="4069080"/>
            <a:ext cx="55321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9632" y="4069080"/>
            <a:ext cx="5532120" cy="32004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4105656"/>
            <a:ext cx="5312664" cy="246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80" b="1">
                <a:solidFill>
                  <a:srgbClr val="FFFFFF"/>
                </a:solidFill>
                <a:latin typeface="Microsoft YaHei"/>
              </a:defRPr>
            </a:pPr>
            <a:r>
              <a:t>研发攻坚落地承诺与推进准则</a:t>
            </a:r>
          </a:p>
          <a:p>
            <a:pPr algn="r">
              <a:defRPr sz="950" b="1">
                <a:solidFill>
                  <a:srgbClr val="BFDBFE"/>
                </a:solidFill>
                <a:latin typeface="Microsoft YaHei"/>
              </a:defRPr>
            </a:pPr>
            <a:r>
              <a:t>[专家担当与底线思维]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99632" y="4398264"/>
            <a:ext cx="5532120" cy="1344168"/>
          </a:xfrm>
          <a:prstGeom prst="rect">
            <a:avLst/>
          </a:prstGeom>
          <a:noFill/>
        </p:spPr>
        <p:txBody>
          <a:bodyPr wrap="square" lIns="73152" tIns="73152" rIns="73152" bIns="73152">
            <a:spAutoFit/>
          </a:bodyPr>
          <a:lstStyle/>
          <a:p>
            <a:pPr>
              <a:lnSpc>
                <a:spcPct val="112000"/>
              </a:lnSpc>
              <a:spcAft>
                <a:spcPts val="250"/>
              </a:spcAft>
            </a:pPr>
            <a:r>
              <a:rPr sz="90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900" b="1">
                <a:solidFill>
                  <a:srgbClr val="1E3A8A"/>
                </a:solidFill>
                <a:latin typeface="Microsoft YaHei"/>
              </a:rPr>
              <a:t>直面物理瓶颈第一性：</a:t>
            </a:r>
            <a:r>
              <a:rPr sz="900">
                <a:solidFill>
                  <a:srgbClr val="1E293B"/>
                </a:solidFill>
                <a:latin typeface="Microsoft YaHei"/>
              </a:rPr>
              <a:t>从硬件拓扑与网络排队动力学出发，系统性优化多卡加载偏斜与 Incast 拥塞</a:t>
            </a:r>
          </a:p>
          <a:p>
            <a:pPr>
              <a:lnSpc>
                <a:spcPct val="112000"/>
              </a:lnSpc>
              <a:spcAft>
                <a:spcPts val="250"/>
              </a:spcAft>
            </a:pPr>
            <a:r>
              <a:rPr sz="90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900" b="1">
                <a:solidFill>
                  <a:srgbClr val="1E3A8A"/>
                </a:solidFill>
                <a:latin typeface="Microsoft YaHei"/>
              </a:rPr>
              <a:t>坚守学术与技术诚信：</a:t>
            </a:r>
            <a:r>
              <a:rPr sz="900">
                <a:solidFill>
                  <a:srgbClr val="1E293B"/>
                </a:solidFill>
                <a:latin typeface="Microsoft YaHei"/>
              </a:rPr>
              <a:t>不知为不知，绝不杜撰数据，严格区分已有需求、设计建议与推导算例</a:t>
            </a:r>
          </a:p>
          <a:p>
            <a:pPr>
              <a:lnSpc>
                <a:spcPct val="112000"/>
              </a:lnSpc>
              <a:spcAft>
                <a:spcPts val="250"/>
              </a:spcAft>
            </a:pPr>
            <a:r>
              <a:rPr sz="90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900" b="1">
                <a:solidFill>
                  <a:srgbClr val="1E3A8A"/>
                </a:solidFill>
                <a:latin typeface="Microsoft YaHei"/>
              </a:rPr>
              <a:t>以客观实测数据为依据：</a:t>
            </a:r>
            <a:r>
              <a:rPr sz="900">
                <a:solidFill>
                  <a:srgbClr val="1E293B"/>
                </a:solidFill>
                <a:latin typeface="Microsoft YaHei"/>
              </a:rPr>
              <a:t>所有指标以真实 2 节点 W2 集群混压测试数据为准，杜绝未经验证的纸面假设</a:t>
            </a:r>
          </a:p>
          <a:p>
            <a:pPr>
              <a:lnSpc>
                <a:spcPct val="112000"/>
              </a:lnSpc>
              <a:spcAft>
                <a:spcPts val="250"/>
              </a:spcAft>
            </a:pPr>
            <a:r>
              <a:rPr sz="900" b="1">
                <a:solidFill>
                  <a:srgbClr val="1E3A8A"/>
                </a:solidFill>
                <a:latin typeface="Microsoft YaHei"/>
              </a:rPr>
              <a:t>▸ </a:t>
            </a:r>
            <a:r>
              <a:rPr sz="900" b="1">
                <a:solidFill>
                  <a:srgbClr val="1E3A8A"/>
                </a:solidFill>
                <a:latin typeface="Microsoft YaHei"/>
              </a:rPr>
              <a:t>阶段门禁准入与风险应对：</a:t>
            </a:r>
            <a:r>
              <a:rPr sz="900">
                <a:solidFill>
                  <a:srgbClr val="1E293B"/>
                </a:solidFill>
                <a:latin typeface="Microsoft YaHei"/>
              </a:rPr>
              <a:t>严格执行 E0~E3 准入与证伪门限，主路径遇阻果断启动备选兜底方案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897880"/>
            <a:ext cx="11277295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5897880"/>
            <a:ext cx="73152" cy="62179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5989320"/>
            <a:ext cx="11002975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Microsoft YaHei"/>
              </a:rPr>
              <a:t>【核心结论】 </a:t>
            </a:r>
            <a:r>
              <a:rPr sz="1150" b="1">
                <a:solidFill>
                  <a:srgbClr val="1E293B"/>
                </a:solidFill>
                <a:latin typeface="Microsoft YaHei"/>
              </a:rPr>
              <a:t>基于第一性原理与软硬件协同设计，打造高可靠统一异构 KVCache 存储底座；严格按四个验证阶段推进，确保系统高质量交付。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
为后续系统工程落地提供扎实技术依据，以客观实测数据为准。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