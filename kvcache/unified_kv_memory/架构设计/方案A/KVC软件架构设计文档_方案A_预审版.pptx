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7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16512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548640"/>
            <a:ext cx="10515600" cy="320040"/>
          </a:xfrm>
          <a:prstGeom prst="rect">
            <a:avLst/>
          </a:prstGeom>
          <a:noFill/>
        </p:spPr>
        <p:txBody>
          <a:bodyPr wrap="none">
            <a:spAutoFit/>
          </a:bodyPr>
          <a:lstStyle/>
          <a:p>
            <a:pPr>
              <a:defRPr sz="1100" b="1">
                <a:solidFill>
                  <a:srgbClr val="2563EB"/>
                </a:solidFill>
                <a:latin typeface="Consolas"/>
              </a:defRPr>
            </a:pPr>
            <a:r>
              <a:t>UNIFIED HETEROGENEOUS KVCACHE MEMORY POOL · SOFTWARE ARCHITECTURE DESIGN (PLAN A)</a:t>
            </a:r>
          </a:p>
        </p:txBody>
      </p:sp>
      <p:sp>
        <p:nvSpPr>
          <p:cNvPr id="3" name="Rectangle 2"/>
          <p:cNvSpPr/>
          <p:nvPr/>
        </p:nvSpPr>
        <p:spPr>
          <a:xfrm>
            <a:off x="457200" y="548640"/>
            <a:ext cx="109728" cy="57607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960120"/>
            <a:ext cx="10789920" cy="1005840"/>
          </a:xfrm>
          <a:prstGeom prst="rect">
            <a:avLst/>
          </a:prstGeom>
          <a:noFill/>
        </p:spPr>
        <p:txBody>
          <a:bodyPr wrap="square">
            <a:spAutoFit/>
          </a:bodyPr>
          <a:lstStyle/>
          <a:p>
            <a:pPr>
              <a:defRPr sz="2800" b="1">
                <a:solidFill>
                  <a:srgbClr val="1E3A8A"/>
                </a:solidFill>
                <a:latin typeface="Microsoft YaHei"/>
              </a:defRPr>
            </a:pPr>
            <a:r>
              <a:t>KVC 软件架构设计文档 · 方案 A</a:t>
            </a:r>
          </a:p>
          <a:p>
            <a:pPr>
              <a:spcBef>
                <a:spcPts val="600"/>
              </a:spcBef>
              <a:defRPr sz="1400" b="1">
                <a:solidFill>
                  <a:srgbClr val="2563EB"/>
                </a:solidFill>
                <a:latin typeface="Microsoft YaHei"/>
              </a:defRPr>
            </a:pPr>
            <a:r>
              <a:t>面向国产 AI 硬件的统一异构 KVCache 存储与调度底座 · 顶层架构设计与八大专题设计设想</a:t>
            </a:r>
          </a:p>
        </p:txBody>
      </p:sp>
      <p:sp>
        <p:nvSpPr>
          <p:cNvPr id="5" name="TextBox 4"/>
          <p:cNvSpPr txBox="1"/>
          <p:nvPr/>
        </p:nvSpPr>
        <p:spPr>
          <a:xfrm>
            <a:off x="731520" y="2057400"/>
            <a:ext cx="10789920" cy="261610"/>
          </a:xfrm>
          <a:prstGeom prst="rect">
            <a:avLst/>
          </a:prstGeom>
          <a:noFill/>
        </p:spPr>
        <p:txBody>
          <a:bodyPr wrap="square">
            <a:spAutoFit/>
          </a:bodyPr>
          <a:lstStyle/>
          <a:p>
            <a:pPr>
              <a:defRPr sz="1100">
                <a:solidFill>
                  <a:srgbClr val="475569"/>
                </a:solidFill>
                <a:latin typeface="Microsoft YaHei"/>
              </a:defRPr>
            </a:pPr>
            <a:r>
              <a:rPr smtClean="0"/>
              <a:t>KVCache</a:t>
            </a:r>
            <a:r>
              <a:rPr lang="en-US" smtClean="0"/>
              <a:t> </a:t>
            </a:r>
            <a:r>
              <a:rPr smtClean="0"/>
              <a:t>软硬件协同软件架构设计与工程落地全景</a:t>
            </a:r>
            <a:endParaRPr/>
          </a:p>
        </p:txBody>
      </p:sp>
      <p:sp>
        <p:nvSpPr>
          <p:cNvPr id="6" name="Rectangle 5"/>
          <p:cNvSpPr/>
          <p:nvPr/>
        </p:nvSpPr>
        <p:spPr>
          <a:xfrm>
            <a:off x="731520" y="2697480"/>
            <a:ext cx="347472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2697480"/>
            <a:ext cx="3474720" cy="3657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1248" y="2734056"/>
            <a:ext cx="3255264" cy="292608"/>
          </a:xfrm>
          <a:prstGeom prst="rect">
            <a:avLst/>
          </a:prstGeom>
          <a:noFill/>
        </p:spPr>
        <p:txBody>
          <a:bodyPr wrap="none" lIns="0" tIns="0" rIns="0" bIns="0">
            <a:spAutoFit/>
          </a:bodyPr>
          <a:lstStyle/>
          <a:p>
            <a:pPr>
              <a:defRPr sz="1150" b="1">
                <a:solidFill>
                  <a:srgbClr val="FFFFFF"/>
                </a:solidFill>
                <a:latin typeface="Microsoft YaHei"/>
              </a:defRPr>
            </a:pPr>
            <a:r>
              <a:t>架构定位与责任边界</a:t>
            </a:r>
          </a:p>
          <a:p>
            <a:pPr algn="r">
              <a:defRPr sz="950" b="1">
                <a:solidFill>
                  <a:srgbClr val="BFDBFE"/>
                </a:solidFill>
                <a:latin typeface="Microsoft YaHei"/>
              </a:defRPr>
            </a:pPr>
            <a:r>
              <a:t>执行显存严格归框架拥有</a:t>
            </a:r>
          </a:p>
        </p:txBody>
      </p:sp>
      <p:sp>
        <p:nvSpPr>
          <p:cNvPr id="9" name="TextBox 8"/>
          <p:cNvSpPr txBox="1"/>
          <p:nvPr/>
        </p:nvSpPr>
        <p:spPr>
          <a:xfrm>
            <a:off x="731520" y="3081528"/>
            <a:ext cx="3474720" cy="2423160"/>
          </a:xfrm>
          <a:prstGeom prst="rect">
            <a:avLst/>
          </a:prstGeom>
          <a:noFill/>
        </p:spPr>
        <p:txBody>
          <a:bodyPr wrap="square" lIns="73152" tIns="73152" rIns="73152" bIns="73152">
            <a:spAutoFit/>
          </a:bodyPr>
          <a:lstStyle/>
          <a:p>
            <a:pPr>
              <a:lnSpc>
                <a:spcPct val="116000"/>
              </a:lnSpc>
              <a:spcAft>
                <a:spcPts val="550"/>
              </a:spcAft>
            </a:pPr>
            <a:r>
              <a:rPr sz="1000" b="1">
                <a:solidFill>
                  <a:srgbClr val="1E3A8A"/>
                </a:solidFill>
                <a:latin typeface="Microsoft YaHei"/>
              </a:rPr>
              <a:t>▸ 执行显存归属：</a:t>
            </a:r>
            <a:r>
              <a:rPr sz="1000">
                <a:solidFill>
                  <a:srgbClr val="1E293B"/>
                </a:solidFill>
                <a:latin typeface="Microsoft YaHei"/>
              </a:rPr>
              <a:t>推理框架直接管理执行 HBM 块表，KVC 绝不越权接管算子运行时内部显存分配</a:t>
            </a:r>
          </a:p>
          <a:p>
            <a:pPr>
              <a:lnSpc>
                <a:spcPct val="116000"/>
              </a:lnSpc>
              <a:spcAft>
                <a:spcPts val="550"/>
              </a:spcAft>
            </a:pPr>
            <a:r>
              <a:rPr sz="1000" b="1">
                <a:solidFill>
                  <a:srgbClr val="1E3A8A"/>
                </a:solidFill>
                <a:latin typeface="Microsoft YaHei"/>
              </a:rPr>
              <a:t>▸ 存储池统一范式：</a:t>
            </a:r>
            <a:r>
              <a:rPr sz="1000">
                <a:solidFill>
                  <a:srgbClr val="1E293B"/>
                </a:solidFill>
                <a:latin typeface="Microsoft YaHei"/>
              </a:rPr>
              <a:t>逻辑统一对象身份、全局分布、版本与生命周期，支持跨节点微秒级加载调度</a:t>
            </a:r>
          </a:p>
          <a:p>
            <a:pPr>
              <a:lnSpc>
                <a:spcPct val="116000"/>
              </a:lnSpc>
              <a:spcAft>
                <a:spcPts val="550"/>
              </a:spcAft>
            </a:pPr>
            <a:r>
              <a:rPr sz="1000" b="1">
                <a:solidFill>
                  <a:srgbClr val="1E3A8A"/>
                </a:solidFill>
                <a:latin typeface="Microsoft YaHei"/>
              </a:rPr>
              <a:t>▸ 硬件原厂协同：</a:t>
            </a:r>
            <a:r>
              <a:rPr sz="1000">
                <a:solidFill>
                  <a:srgbClr val="1E293B"/>
                </a:solidFill>
                <a:latin typeface="Microsoft YaHei"/>
              </a:rPr>
              <a:t>以底层通信库 (KPCL) 封装硬件驱动，屏蔽底层总线异构细节</a:t>
            </a:r>
          </a:p>
        </p:txBody>
      </p:sp>
      <p:sp>
        <p:nvSpPr>
          <p:cNvPr id="10" name="Rectangle 9"/>
          <p:cNvSpPr/>
          <p:nvPr/>
        </p:nvSpPr>
        <p:spPr>
          <a:xfrm>
            <a:off x="4389120" y="2697480"/>
            <a:ext cx="347472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9120" y="2697480"/>
            <a:ext cx="3474720" cy="3657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98848" y="2734056"/>
            <a:ext cx="3255264" cy="292608"/>
          </a:xfrm>
          <a:prstGeom prst="rect">
            <a:avLst/>
          </a:prstGeom>
          <a:noFill/>
        </p:spPr>
        <p:txBody>
          <a:bodyPr wrap="none" lIns="0" tIns="0" rIns="0" bIns="0">
            <a:spAutoFit/>
          </a:bodyPr>
          <a:lstStyle/>
          <a:p>
            <a:pPr>
              <a:defRPr sz="1150" b="1">
                <a:solidFill>
                  <a:srgbClr val="FFFFFF"/>
                </a:solidFill>
                <a:latin typeface="Microsoft YaHei"/>
              </a:defRPr>
            </a:pPr>
            <a:r>
              <a:t>微秒决策与零拷贝数据面</a:t>
            </a:r>
          </a:p>
          <a:p>
            <a:pPr algn="r">
              <a:defRPr sz="950" b="1">
                <a:solidFill>
                  <a:srgbClr val="BFDBFE"/>
                </a:solidFill>
                <a:latin typeface="Microsoft YaHei"/>
              </a:defRPr>
            </a:pPr>
            <a:r>
              <a:t>驱动确定性净加速收益</a:t>
            </a:r>
          </a:p>
        </p:txBody>
      </p:sp>
      <p:sp>
        <p:nvSpPr>
          <p:cNvPr id="13" name="TextBox 12"/>
          <p:cNvSpPr txBox="1"/>
          <p:nvPr/>
        </p:nvSpPr>
        <p:spPr>
          <a:xfrm>
            <a:off x="4389120" y="3081528"/>
            <a:ext cx="3474720" cy="2423160"/>
          </a:xfrm>
          <a:prstGeom prst="rect">
            <a:avLst/>
          </a:prstGeom>
          <a:noFill/>
        </p:spPr>
        <p:txBody>
          <a:bodyPr wrap="square" lIns="73152" tIns="73152" rIns="73152" bIns="73152">
            <a:spAutoFit/>
          </a:bodyPr>
          <a:lstStyle/>
          <a:p>
            <a:pPr>
              <a:lnSpc>
                <a:spcPct val="116000"/>
              </a:lnSpc>
              <a:spcAft>
                <a:spcPts val="550"/>
              </a:spcAft>
            </a:pPr>
            <a:r>
              <a:rPr sz="1000" b="1">
                <a:solidFill>
                  <a:srgbClr val="1E3A8A"/>
                </a:solidFill>
                <a:latin typeface="Microsoft YaHei"/>
              </a:rPr>
              <a:t>▸ 净加速收益前置：</a:t>
            </a:r>
            <a:r>
              <a:rPr sz="1000">
                <a:solidFill>
                  <a:srgbClr val="1E293B"/>
                </a:solidFill>
                <a:latin typeface="Microsoft YaHei"/>
              </a:rPr>
              <a:t>严格确保拉取与加载总开销 &lt; 本地直接重算耗时，否则主动回退至本地重算</a:t>
            </a:r>
          </a:p>
          <a:p>
            <a:pPr>
              <a:lnSpc>
                <a:spcPct val="116000"/>
              </a:lnSpc>
              <a:spcAft>
                <a:spcPts val="550"/>
              </a:spcAft>
            </a:pPr>
            <a:r>
              <a:rPr sz="1000" b="1">
                <a:solidFill>
                  <a:srgbClr val="1E3A8A"/>
                </a:solidFill>
                <a:latin typeface="Microsoft YaHei"/>
              </a:rPr>
              <a:t>▸ 微秒级选路决策：</a:t>
            </a:r>
            <a:r>
              <a:rPr sz="1000">
                <a:solidFill>
                  <a:srgbClr val="1E293B"/>
                </a:solidFill>
                <a:latin typeface="Microsoft YaHei"/>
              </a:rPr>
              <a:t>无锁 ART 树与成本模型协同，P99 &lt; 5µs 完成全局加载路径与分层介质决策</a:t>
            </a:r>
          </a:p>
          <a:p>
            <a:pPr>
              <a:lnSpc>
                <a:spcPct val="116000"/>
              </a:lnSpc>
              <a:spcAft>
                <a:spcPts val="550"/>
              </a:spcAft>
            </a:pPr>
            <a:r>
              <a:rPr sz="1000" b="1">
                <a:solidFill>
                  <a:srgbClr val="1E3A8A"/>
                </a:solidFill>
                <a:latin typeface="Microsoft YaHei"/>
              </a:rPr>
              <a:t>▸ Host 零数据拷贝：</a:t>
            </a:r>
            <a:r>
              <a:rPr sz="1000">
                <a:solidFill>
                  <a:srgbClr val="1E293B"/>
                </a:solidFill>
                <a:latin typeface="Microsoft YaHei"/>
              </a:rPr>
              <a:t>在基础直达路径中 CPU 仅下发描述符，数据经 DMA 直达显存，消除 CPU 内存搬运</a:t>
            </a:r>
          </a:p>
        </p:txBody>
      </p:sp>
      <p:sp>
        <p:nvSpPr>
          <p:cNvPr id="14" name="Rectangle 13"/>
          <p:cNvSpPr/>
          <p:nvPr/>
        </p:nvSpPr>
        <p:spPr>
          <a:xfrm>
            <a:off x="8046720" y="2697480"/>
            <a:ext cx="347472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46720" y="2697480"/>
            <a:ext cx="3474720"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56448" y="2734056"/>
            <a:ext cx="3255264" cy="292608"/>
          </a:xfrm>
          <a:prstGeom prst="rect">
            <a:avLst/>
          </a:prstGeom>
          <a:noFill/>
        </p:spPr>
        <p:txBody>
          <a:bodyPr wrap="none" lIns="0" tIns="0" rIns="0" bIns="0">
            <a:spAutoFit/>
          </a:bodyPr>
          <a:lstStyle/>
          <a:p>
            <a:pPr>
              <a:defRPr sz="1150" b="1">
                <a:solidFill>
                  <a:srgbClr val="FFFFFF"/>
                </a:solidFill>
                <a:latin typeface="Microsoft YaHei"/>
              </a:defRPr>
            </a:pPr>
            <a:r>
              <a:t>生产级安全与三面可靠性</a:t>
            </a:r>
          </a:p>
          <a:p>
            <a:pPr algn="r">
              <a:defRPr sz="950" b="1">
                <a:solidFill>
                  <a:srgbClr val="BFDBFE"/>
                </a:solidFill>
                <a:latin typeface="Microsoft YaHei"/>
              </a:defRPr>
            </a:pPr>
            <a:r>
              <a:t>保障数据消费语义一致</a:t>
            </a:r>
          </a:p>
        </p:txBody>
      </p:sp>
      <p:sp>
        <p:nvSpPr>
          <p:cNvPr id="17" name="TextBox 16"/>
          <p:cNvSpPr txBox="1"/>
          <p:nvPr/>
        </p:nvSpPr>
        <p:spPr>
          <a:xfrm>
            <a:off x="8046720" y="3081528"/>
            <a:ext cx="3474720" cy="2423160"/>
          </a:xfrm>
          <a:prstGeom prst="rect">
            <a:avLst/>
          </a:prstGeom>
          <a:noFill/>
        </p:spPr>
        <p:txBody>
          <a:bodyPr wrap="square" lIns="73152" tIns="73152" rIns="73152" bIns="73152">
            <a:spAutoFit/>
          </a:bodyPr>
          <a:lstStyle/>
          <a:p>
            <a:pPr>
              <a:lnSpc>
                <a:spcPct val="116000"/>
              </a:lnSpc>
              <a:spcAft>
                <a:spcPts val="550"/>
              </a:spcAft>
            </a:pPr>
            <a:r>
              <a:rPr sz="1000" b="1">
                <a:solidFill>
                  <a:srgbClr val="1E3A8A"/>
                </a:solidFill>
                <a:latin typeface="Microsoft YaHei"/>
              </a:rPr>
              <a:t>▸ 6 维语义强校验：</a:t>
            </a:r>
            <a:r>
              <a:rPr sz="1000">
                <a:solidFill>
                  <a:srgbClr val="1E293B"/>
                </a:solidFill>
                <a:latin typeface="Microsoft YaHei"/>
              </a:rPr>
              <a:t>比对模型/词表/模板/LoRA/Ready位/租约，杜绝陈旧半写失效数据被消费</a:t>
            </a:r>
          </a:p>
          <a:p>
            <a:pPr>
              <a:lnSpc>
                <a:spcPct val="116000"/>
              </a:lnSpc>
              <a:spcAft>
                <a:spcPts val="550"/>
              </a:spcAft>
            </a:pPr>
            <a:r>
              <a:rPr sz="1000" b="1">
                <a:solidFill>
                  <a:srgbClr val="1E3A8A"/>
                </a:solidFill>
                <a:latin typeface="Microsoft YaHei"/>
              </a:rPr>
              <a:t>▸ ViewGuard 视图守卫：</a:t>
            </a:r>
            <a:r>
              <a:rPr sz="1000">
                <a:solidFill>
                  <a:srgbClr val="1E293B"/>
                </a:solidFill>
                <a:latin typeface="Microsoft YaHei"/>
              </a:rPr>
              <a:t>跨节点直读捕获 SIGBUS 异常并在 500µs 内回退重算，消除节点雪崩</a:t>
            </a:r>
          </a:p>
          <a:p>
            <a:pPr>
              <a:lnSpc>
                <a:spcPct val="116000"/>
              </a:lnSpc>
              <a:spcAft>
                <a:spcPts val="550"/>
              </a:spcAft>
            </a:pPr>
            <a:r>
              <a:rPr sz="1000" b="1">
                <a:solidFill>
                  <a:srgbClr val="1E3A8A"/>
                </a:solidFill>
                <a:latin typeface="Microsoft YaHei"/>
              </a:rPr>
              <a:t>▸ RCU 双层宽限期：</a:t>
            </a:r>
            <a:r>
              <a:rPr sz="1000">
                <a:solidFill>
                  <a:srgbClr val="1E293B"/>
                </a:solidFill>
                <a:latin typeface="Microsoft YaHei"/>
              </a:rPr>
              <a:t>在后台显存页迁移时，通过监听 CPU 读者退出与 NPU 流事件确认读操作结束，安全释放物理显存，前台读请求零停顿</a:t>
            </a:r>
          </a:p>
        </p:txBody>
      </p:sp>
      <p:sp>
        <p:nvSpPr>
          <p:cNvPr id="18" name="TextBox 17"/>
          <p:cNvSpPr txBox="1"/>
          <p:nvPr/>
        </p:nvSpPr>
        <p:spPr>
          <a:xfrm>
            <a:off x="731520" y="5760720"/>
            <a:ext cx="10789920" cy="365760"/>
          </a:xfrm>
          <a:prstGeom prst="rect">
            <a:avLst/>
          </a:prstGeom>
          <a:noFill/>
        </p:spPr>
        <p:txBody>
          <a:bodyPr wrap="none">
            <a:spAutoFit/>
          </a:bodyPr>
          <a:lstStyle/>
          <a:p>
            <a:pPr>
              <a:defRPr sz="1100" b="1">
                <a:solidFill>
                  <a:srgbClr val="1E3A8A"/>
                </a:solidFill>
                <a:latin typeface="Microsoft YaHei"/>
              </a:defRPr>
            </a:pPr>
            <a:r>
              <a:t>面向一线开发团队与架构评审专家 · 方案 A 架构设计串讲 · 讨论稿 · 2026-09-06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汇报提纲：五大核心模块与全景技术脉络</a:t>
            </a:r>
          </a:p>
          <a:p>
            <a:pPr>
              <a:spcBef>
                <a:spcPts val="300"/>
              </a:spcBef>
              <a:defRPr sz="1100">
                <a:solidFill>
                  <a:srgbClr val="475569"/>
                </a:solidFill>
                <a:latin typeface="Microsoft YaHei"/>
              </a:defRPr>
            </a:pPr>
            <a:r>
              <a:t>从架构定位、执行因果链到原厂通信契约与端到端指标，建立清晰完整的落地验证全景</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02 / 16 页</a:t>
            </a:r>
          </a:p>
        </p:txBody>
      </p:sp>
      <p:sp>
        <p:nvSpPr>
          <p:cNvPr id="4" name="Rectangle 3"/>
          <p:cNvSpPr/>
          <p:nvPr/>
        </p:nvSpPr>
        <p:spPr>
          <a:xfrm>
            <a:off x="457200" y="1078992"/>
            <a:ext cx="210312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210312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1883664" cy="274320"/>
          </a:xfrm>
          <a:prstGeom prst="rect">
            <a:avLst/>
          </a:prstGeom>
          <a:noFill/>
        </p:spPr>
        <p:txBody>
          <a:bodyPr wrap="none" lIns="0" tIns="0" rIns="0" bIns="0">
            <a:spAutoFit/>
          </a:bodyPr>
          <a:lstStyle/>
          <a:p>
            <a:pPr>
              <a:defRPr sz="1050" b="1">
                <a:solidFill>
                  <a:srgbClr val="FFFFFF"/>
                </a:solidFill>
                <a:latin typeface="Microsoft YaHei"/>
              </a:defRPr>
            </a:pPr>
            <a:r>
              <a:t>模块一：架构定位与实体</a:t>
            </a:r>
          </a:p>
          <a:p>
            <a:pPr algn="r">
              <a:defRPr sz="950" b="1">
                <a:solidFill>
                  <a:srgbClr val="BFDBFE"/>
                </a:solidFill>
                <a:latin typeface="Microsoft YaHei"/>
              </a:defRPr>
            </a:pPr>
            <a:r>
              <a:t>[Slide 03~05]</a:t>
            </a:r>
          </a:p>
        </p:txBody>
      </p:sp>
      <p:sp>
        <p:nvSpPr>
          <p:cNvPr id="7" name="TextBox 6"/>
          <p:cNvSpPr txBox="1"/>
          <p:nvPr/>
        </p:nvSpPr>
        <p:spPr>
          <a:xfrm>
            <a:off x="457200" y="1444752"/>
            <a:ext cx="2103120" cy="4297680"/>
          </a:xfrm>
          <a:prstGeom prst="rect">
            <a:avLst/>
          </a:prstGeom>
          <a:noFill/>
        </p:spPr>
        <p:txBody>
          <a:bodyPr wrap="square" lIns="73152" tIns="73152" rIns="73152" bIns="73152">
            <a:spAutoFit/>
          </a:bodyPr>
          <a:lstStyle/>
          <a:p>
            <a:pPr>
              <a:lnSpc>
                <a:spcPct val="116000"/>
              </a:lnSpc>
              <a:spcAft>
                <a:spcPts val="500"/>
              </a:spcAft>
            </a:pPr>
            <a:r>
              <a:rPr sz="919" b="1">
                <a:solidFill>
                  <a:srgbClr val="1E3A8A"/>
                </a:solidFill>
                <a:latin typeface="Microsoft YaHei"/>
              </a:rPr>
              <a:t>▸ 03 范围原则：</a:t>
            </a:r>
            <a:r>
              <a:rPr sz="919">
                <a:solidFill>
                  <a:srgbClr val="1E293B"/>
                </a:solidFill>
                <a:latin typeface="Microsoft YaHei"/>
              </a:rPr>
              <a:t>严格界定三类口径，确立架构原则与工程底线</a:t>
            </a:r>
          </a:p>
          <a:p>
            <a:pPr>
              <a:lnSpc>
                <a:spcPct val="116000"/>
              </a:lnSpc>
              <a:spcAft>
                <a:spcPts val="500"/>
              </a:spcAft>
            </a:pPr>
            <a:r>
              <a:rPr sz="919" b="1">
                <a:solidFill>
                  <a:srgbClr val="1E3A8A"/>
                </a:solidFill>
                <a:latin typeface="Microsoft YaHei"/>
              </a:rPr>
              <a:t>▸ 04 架构四层全景：</a:t>
            </a:r>
            <a:r>
              <a:rPr sz="919">
                <a:solidFill>
                  <a:srgbClr val="1E293B"/>
                </a:solidFill>
                <a:latin typeface="Microsoft YaHei"/>
              </a:rPr>
              <a:t>四层职责清晰分解，管理控制数据三面解耦</a:t>
            </a:r>
          </a:p>
          <a:p>
            <a:pPr>
              <a:lnSpc>
                <a:spcPct val="116000"/>
              </a:lnSpc>
              <a:spcAft>
                <a:spcPts val="500"/>
              </a:spcAft>
            </a:pPr>
            <a:r>
              <a:rPr sz="919" b="1">
                <a:solidFill>
                  <a:srgbClr val="1E3A8A"/>
                </a:solidFill>
                <a:latin typeface="Microsoft YaHei"/>
              </a:rPr>
              <a:t>▸ 05 进程实体拓扑：</a:t>
            </a:r>
            <a:r>
              <a:rPr sz="919">
                <a:solidFill>
                  <a:srgbClr val="1E293B"/>
                </a:solidFill>
                <a:latin typeface="Microsoft YaHei"/>
              </a:rPr>
              <a:t>控制下沉推理进程，节点代理掌管共享内存</a:t>
            </a:r>
          </a:p>
          <a:p>
            <a:pPr>
              <a:lnSpc>
                <a:spcPct val="116000"/>
              </a:lnSpc>
              <a:spcAft>
                <a:spcPts val="500"/>
              </a:spcAft>
            </a:pPr>
            <a:r>
              <a:rPr sz="919" b="1">
                <a:solidFill>
                  <a:srgbClr val="1E3A8A"/>
                </a:solidFill>
                <a:latin typeface="Microsoft YaHei"/>
              </a:rPr>
              <a:t>▸ 核心设计基石：</a:t>
            </a:r>
            <a:r>
              <a:rPr sz="919">
                <a:solidFill>
                  <a:srgbClr val="1E293B"/>
                </a:solidFill>
                <a:latin typeface="Microsoft YaHei"/>
              </a:rPr>
              <a:t>执行显存归推理框架，统一对象分布与凭证</a:t>
            </a:r>
          </a:p>
        </p:txBody>
      </p:sp>
      <p:sp>
        <p:nvSpPr>
          <p:cNvPr id="8" name="Rectangle 7"/>
          <p:cNvSpPr/>
          <p:nvPr/>
        </p:nvSpPr>
        <p:spPr>
          <a:xfrm>
            <a:off x="2743200" y="1078992"/>
            <a:ext cx="210312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743200" y="1078992"/>
            <a:ext cx="210312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52928" y="1115568"/>
            <a:ext cx="1883664" cy="274320"/>
          </a:xfrm>
          <a:prstGeom prst="rect">
            <a:avLst/>
          </a:prstGeom>
          <a:noFill/>
        </p:spPr>
        <p:txBody>
          <a:bodyPr wrap="none" lIns="0" tIns="0" rIns="0" bIns="0">
            <a:spAutoFit/>
          </a:bodyPr>
          <a:lstStyle/>
          <a:p>
            <a:pPr>
              <a:defRPr sz="1050" b="1">
                <a:solidFill>
                  <a:srgbClr val="FFFFFF"/>
                </a:solidFill>
                <a:latin typeface="Microsoft YaHei"/>
              </a:defRPr>
            </a:pPr>
            <a:r>
              <a:t>模块二：微秒时序与调度</a:t>
            </a:r>
          </a:p>
          <a:p>
            <a:pPr algn="r">
              <a:defRPr sz="950" b="1">
                <a:solidFill>
                  <a:srgbClr val="BFDBFE"/>
                </a:solidFill>
                <a:latin typeface="Microsoft YaHei"/>
              </a:defRPr>
            </a:pPr>
            <a:r>
              <a:t>[Slide 06~09]</a:t>
            </a:r>
          </a:p>
        </p:txBody>
      </p:sp>
      <p:sp>
        <p:nvSpPr>
          <p:cNvPr id="11" name="TextBox 10"/>
          <p:cNvSpPr txBox="1"/>
          <p:nvPr/>
        </p:nvSpPr>
        <p:spPr>
          <a:xfrm>
            <a:off x="2743200" y="1444752"/>
            <a:ext cx="2103120" cy="4297680"/>
          </a:xfrm>
          <a:prstGeom prst="rect">
            <a:avLst/>
          </a:prstGeom>
          <a:noFill/>
        </p:spPr>
        <p:txBody>
          <a:bodyPr wrap="square" lIns="73152" tIns="73152" rIns="73152" bIns="73152">
            <a:spAutoFit/>
          </a:bodyPr>
          <a:lstStyle/>
          <a:p>
            <a:pPr>
              <a:lnSpc>
                <a:spcPct val="116000"/>
              </a:lnSpc>
              <a:spcAft>
                <a:spcPts val="500"/>
              </a:spcAft>
            </a:pPr>
            <a:r>
              <a:rPr sz="919" b="1">
                <a:solidFill>
                  <a:srgbClr val="1E3A8A"/>
                </a:solidFill>
                <a:latin typeface="Microsoft YaHei"/>
              </a:rPr>
              <a:t>▸ 06 9步微秒时序：</a:t>
            </a:r>
            <a:r>
              <a:rPr sz="919">
                <a:solidFill>
                  <a:srgbClr val="1E293B"/>
                </a:solidFill>
                <a:latin typeface="Microsoft YaHei"/>
              </a:rPr>
              <a:t>意图下发至挂载闭环，超时主动回退本地重算</a:t>
            </a:r>
          </a:p>
          <a:p>
            <a:pPr>
              <a:lnSpc>
                <a:spcPct val="116000"/>
              </a:lnSpc>
              <a:spcAft>
                <a:spcPts val="500"/>
              </a:spcAft>
            </a:pPr>
            <a:r>
              <a:rPr sz="919" b="1">
                <a:solidFill>
                  <a:srgbClr val="1E3A8A"/>
                </a:solidFill>
                <a:latin typeface="Microsoft YaHei"/>
              </a:rPr>
              <a:t>▸ 07 元数据架构：</a:t>
            </a:r>
            <a:r>
              <a:rPr sz="919">
                <a:solidFill>
                  <a:srgbClr val="1E293B"/>
                </a:solidFill>
                <a:latin typeface="Microsoft YaHei"/>
              </a:rPr>
              <a:t>四层权威源解耦，对齐消除伪共享与并发争用</a:t>
            </a:r>
          </a:p>
          <a:p>
            <a:pPr>
              <a:lnSpc>
                <a:spcPct val="116000"/>
              </a:lnSpc>
              <a:spcAft>
                <a:spcPts val="500"/>
              </a:spcAft>
            </a:pPr>
            <a:r>
              <a:rPr sz="919" b="1">
                <a:solidFill>
                  <a:srgbClr val="1E3A8A"/>
                </a:solidFill>
                <a:latin typeface="Microsoft YaHei"/>
              </a:rPr>
              <a:t>▸ 08 状态机与RCU：</a:t>
            </a:r>
            <a:r>
              <a:rPr sz="919">
                <a:solidFill>
                  <a:srgbClr val="1E293B"/>
                </a:solidFill>
                <a:latin typeface="Microsoft YaHei"/>
              </a:rPr>
              <a:t>两阶段发布防半写，CPU与硬件排空双宽限期</a:t>
            </a:r>
          </a:p>
          <a:p>
            <a:pPr>
              <a:lnSpc>
                <a:spcPct val="116000"/>
              </a:lnSpc>
              <a:spcAft>
                <a:spcPts val="500"/>
              </a:spcAft>
            </a:pPr>
            <a:r>
              <a:rPr sz="919" b="1">
                <a:solidFill>
                  <a:srgbClr val="1E3A8A"/>
                </a:solidFill>
                <a:latin typeface="Microsoft YaHei"/>
              </a:rPr>
              <a:t>▸ 09 三面物理隔离：</a:t>
            </a:r>
            <a:r>
              <a:rPr sz="919">
                <a:solidFill>
                  <a:srgbClr val="1E293B"/>
                </a:solidFill>
                <a:latin typeface="Microsoft YaHei"/>
              </a:rPr>
              <a:t>硬件直达显存，严格绕过主机内存消除争用</a:t>
            </a:r>
          </a:p>
        </p:txBody>
      </p:sp>
      <p:sp>
        <p:nvSpPr>
          <p:cNvPr id="12" name="Rectangle 11"/>
          <p:cNvSpPr/>
          <p:nvPr/>
        </p:nvSpPr>
        <p:spPr>
          <a:xfrm>
            <a:off x="5029200" y="1078992"/>
            <a:ext cx="210312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029200" y="1078992"/>
            <a:ext cx="2103120" cy="3474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138928" y="1115568"/>
            <a:ext cx="1883664" cy="274320"/>
          </a:xfrm>
          <a:prstGeom prst="rect">
            <a:avLst/>
          </a:prstGeom>
          <a:noFill/>
        </p:spPr>
        <p:txBody>
          <a:bodyPr wrap="none" lIns="0" tIns="0" rIns="0" bIns="0">
            <a:spAutoFit/>
          </a:bodyPr>
          <a:lstStyle/>
          <a:p>
            <a:pPr>
              <a:defRPr sz="1050" b="1">
                <a:solidFill>
                  <a:srgbClr val="FFFFFF"/>
                </a:solidFill>
                <a:latin typeface="Microsoft YaHei"/>
              </a:defRPr>
            </a:pPr>
            <a:r>
              <a:t>模块三：业务映射与契约</a:t>
            </a:r>
          </a:p>
          <a:p>
            <a:pPr algn="r">
              <a:defRPr sz="950" b="1">
                <a:solidFill>
                  <a:srgbClr val="BFDBFE"/>
                </a:solidFill>
                <a:latin typeface="Microsoft YaHei"/>
              </a:defRPr>
            </a:pPr>
            <a:r>
              <a:t>[Slide 10~11]</a:t>
            </a:r>
          </a:p>
        </p:txBody>
      </p:sp>
      <p:sp>
        <p:nvSpPr>
          <p:cNvPr id="15" name="TextBox 14"/>
          <p:cNvSpPr txBox="1"/>
          <p:nvPr/>
        </p:nvSpPr>
        <p:spPr>
          <a:xfrm>
            <a:off x="5029200" y="1444752"/>
            <a:ext cx="2103120" cy="4297680"/>
          </a:xfrm>
          <a:prstGeom prst="rect">
            <a:avLst/>
          </a:prstGeom>
          <a:noFill/>
        </p:spPr>
        <p:txBody>
          <a:bodyPr wrap="square" lIns="73152" tIns="73152" rIns="73152" bIns="73152">
            <a:spAutoFit/>
          </a:bodyPr>
          <a:lstStyle/>
          <a:p>
            <a:pPr>
              <a:lnSpc>
                <a:spcPct val="116000"/>
              </a:lnSpc>
              <a:spcAft>
                <a:spcPts val="500"/>
              </a:spcAft>
            </a:pPr>
            <a:r>
              <a:rPr sz="919" b="1">
                <a:solidFill>
                  <a:srgbClr val="1E3A8A"/>
                </a:solidFill>
                <a:latin typeface="Microsoft YaHei"/>
              </a:rPr>
              <a:t>▸ 10 12类场景映射：</a:t>
            </a:r>
            <a:r>
              <a:rPr sz="919">
                <a:solidFill>
                  <a:srgbClr val="1E293B"/>
                </a:solidFill>
                <a:latin typeface="Microsoft YaHei"/>
              </a:rPr>
              <a:t>热点推送长尾拉取，取消与排空解耦防踩踏</a:t>
            </a:r>
          </a:p>
          <a:p>
            <a:pPr>
              <a:lnSpc>
                <a:spcPct val="116000"/>
              </a:lnSpc>
              <a:spcAft>
                <a:spcPts val="500"/>
              </a:spcAft>
            </a:pPr>
            <a:r>
              <a:rPr sz="919" b="1">
                <a:solidFill>
                  <a:srgbClr val="1E3A8A"/>
                </a:solidFill>
                <a:latin typeface="Microsoft YaHei"/>
              </a:rPr>
              <a:t>▸ 11 KPCL边界：</a:t>
            </a:r>
            <a:r>
              <a:rPr sz="919">
                <a:solidFill>
                  <a:srgbClr val="1E293B"/>
                </a:solidFill>
                <a:latin typeface="Microsoft YaHei"/>
              </a:rPr>
              <a:t>存储通信解耦，提供微秒级非阻塞异步API</a:t>
            </a:r>
          </a:p>
          <a:p>
            <a:pPr>
              <a:lnSpc>
                <a:spcPct val="116000"/>
              </a:lnSpc>
              <a:spcAft>
                <a:spcPts val="500"/>
              </a:spcAft>
            </a:pPr>
            <a:r>
              <a:rPr sz="919" b="1">
                <a:solidFill>
                  <a:srgbClr val="1E3A8A"/>
                </a:solidFill>
                <a:latin typeface="Microsoft YaHei"/>
              </a:rPr>
              <a:t>▸ F1~F8 流量调度：</a:t>
            </a:r>
            <a:r>
              <a:rPr sz="919">
                <a:solidFill>
                  <a:srgbClr val="1E293B"/>
                </a:solidFill>
                <a:latin typeface="Microsoft YaHei"/>
              </a:rPr>
              <a:t>四大通信通道隔离，流量画像消除互斥死锁</a:t>
            </a:r>
          </a:p>
          <a:p>
            <a:pPr>
              <a:lnSpc>
                <a:spcPct val="116000"/>
              </a:lnSpc>
              <a:spcAft>
                <a:spcPts val="500"/>
              </a:spcAft>
            </a:pPr>
            <a:r>
              <a:rPr sz="919" b="1">
                <a:solidFill>
                  <a:srgbClr val="1E3A8A"/>
                </a:solidFill>
                <a:latin typeface="Microsoft YaHei"/>
              </a:rPr>
              <a:t>▸ 硬件可见性对账：</a:t>
            </a:r>
            <a:r>
              <a:rPr sz="919">
                <a:solidFill>
                  <a:srgbClr val="1E293B"/>
                </a:solidFill>
                <a:latin typeface="Microsoft YaHei"/>
              </a:rPr>
              <a:t>传输以底层CQE为准，硬件凭据保障强一致</a:t>
            </a:r>
          </a:p>
        </p:txBody>
      </p:sp>
      <p:sp>
        <p:nvSpPr>
          <p:cNvPr id="16" name="Rectangle 15"/>
          <p:cNvSpPr/>
          <p:nvPr/>
        </p:nvSpPr>
        <p:spPr>
          <a:xfrm>
            <a:off x="7315200" y="1078992"/>
            <a:ext cx="210312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315200" y="1078992"/>
            <a:ext cx="2103120" cy="34747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24928" y="1115568"/>
            <a:ext cx="1883664" cy="274320"/>
          </a:xfrm>
          <a:prstGeom prst="rect">
            <a:avLst/>
          </a:prstGeom>
          <a:noFill/>
        </p:spPr>
        <p:txBody>
          <a:bodyPr wrap="none" lIns="0" tIns="0" rIns="0" bIns="0">
            <a:spAutoFit/>
          </a:bodyPr>
          <a:lstStyle/>
          <a:p>
            <a:pPr>
              <a:defRPr sz="1050" b="1">
                <a:solidFill>
                  <a:srgbClr val="FFFFFF"/>
                </a:solidFill>
                <a:latin typeface="Microsoft YaHei"/>
              </a:defRPr>
            </a:pPr>
            <a:r>
              <a:t>模块四：预算推导与协同</a:t>
            </a:r>
          </a:p>
          <a:p>
            <a:pPr algn="r">
              <a:defRPr sz="950" b="1">
                <a:solidFill>
                  <a:srgbClr val="BFDBFE"/>
                </a:solidFill>
                <a:latin typeface="Microsoft YaHei"/>
              </a:defRPr>
            </a:pPr>
            <a:r>
              <a:t>[Slide 12~13]</a:t>
            </a:r>
          </a:p>
        </p:txBody>
      </p:sp>
      <p:sp>
        <p:nvSpPr>
          <p:cNvPr id="19" name="TextBox 18"/>
          <p:cNvSpPr txBox="1"/>
          <p:nvPr/>
        </p:nvSpPr>
        <p:spPr>
          <a:xfrm>
            <a:off x="7315200" y="1444752"/>
            <a:ext cx="2103120" cy="4297680"/>
          </a:xfrm>
          <a:prstGeom prst="rect">
            <a:avLst/>
          </a:prstGeom>
          <a:noFill/>
        </p:spPr>
        <p:txBody>
          <a:bodyPr wrap="square" lIns="73152" tIns="73152" rIns="73152" bIns="73152">
            <a:spAutoFit/>
          </a:bodyPr>
          <a:lstStyle/>
          <a:p>
            <a:pPr>
              <a:lnSpc>
                <a:spcPct val="116000"/>
              </a:lnSpc>
              <a:spcAft>
                <a:spcPts val="500"/>
              </a:spcAft>
            </a:pPr>
            <a:r>
              <a:rPr sz="919" b="1">
                <a:solidFill>
                  <a:srgbClr val="1E3A8A"/>
                </a:solidFill>
                <a:latin typeface="Microsoft YaHei"/>
              </a:rPr>
              <a:t>▸ 12 120ms预算拆解：</a:t>
            </a:r>
            <a:r>
              <a:rPr sz="919">
                <a:solidFill>
                  <a:srgbClr val="1E293B"/>
                </a:solidFill>
                <a:latin typeface="Microsoft YaHei"/>
              </a:rPr>
              <a:t>业务SLO倒推分解，边算边传流水消除气泡</a:t>
            </a:r>
          </a:p>
          <a:p>
            <a:pPr>
              <a:lnSpc>
                <a:spcPct val="116000"/>
              </a:lnSpc>
              <a:spcAft>
                <a:spcPts val="500"/>
              </a:spcAft>
            </a:pPr>
            <a:r>
              <a:rPr sz="919" b="1">
                <a:solidFill>
                  <a:srgbClr val="1E3A8A"/>
                </a:solidFill>
                <a:latin typeface="Microsoft YaHei"/>
              </a:rPr>
              <a:t>▸ 13 TP=8 原子协同：</a:t>
            </a:r>
            <a:r>
              <a:rPr sz="919">
                <a:solidFill>
                  <a:srgbClr val="1E293B"/>
                </a:solidFill>
                <a:latin typeface="Microsoft YaHei"/>
              </a:rPr>
              <a:t>单次原子Doorbell，时序差偏斜收敛至1.15</a:t>
            </a:r>
          </a:p>
          <a:p>
            <a:pPr>
              <a:lnSpc>
                <a:spcPct val="116000"/>
              </a:lnSpc>
              <a:spcAft>
                <a:spcPts val="500"/>
              </a:spcAft>
            </a:pPr>
            <a:r>
              <a:rPr sz="919" b="1">
                <a:solidFill>
                  <a:srgbClr val="1E3A8A"/>
                </a:solidFill>
                <a:latin typeface="Microsoft YaHei"/>
              </a:rPr>
              <a:t>▸ QoS 干扰抑制：</a:t>
            </a:r>
            <a:r>
              <a:rPr sz="919">
                <a:solidFill>
                  <a:srgbClr val="1E293B"/>
                </a:solidFill>
                <a:latin typeface="Microsoft YaHei"/>
              </a:rPr>
              <a:t>硬件队列映射与退避，前台TPOT干扰率&lt;3%</a:t>
            </a:r>
          </a:p>
          <a:p>
            <a:pPr>
              <a:lnSpc>
                <a:spcPct val="116000"/>
              </a:lnSpc>
              <a:spcAft>
                <a:spcPts val="500"/>
              </a:spcAft>
            </a:pPr>
            <a:r>
              <a:rPr sz="919" b="1">
                <a:solidFill>
                  <a:srgbClr val="1E3A8A"/>
                </a:solidFill>
                <a:latin typeface="Microsoft YaHei"/>
              </a:rPr>
              <a:t>▸ 工程算例属性：</a:t>
            </a:r>
            <a:r>
              <a:rPr sz="919">
                <a:solidFill>
                  <a:srgbClr val="1E293B"/>
                </a:solidFill>
                <a:latin typeface="Microsoft YaHei"/>
              </a:rPr>
              <a:t>算例指导系统指标分解，任一子项超时即回退</a:t>
            </a:r>
          </a:p>
        </p:txBody>
      </p:sp>
      <p:sp>
        <p:nvSpPr>
          <p:cNvPr id="20" name="Rectangle 19"/>
          <p:cNvSpPr/>
          <p:nvPr/>
        </p:nvSpPr>
        <p:spPr>
          <a:xfrm>
            <a:off x="9601200" y="1078992"/>
            <a:ext cx="210312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601200" y="1078992"/>
            <a:ext cx="2103120" cy="347472"/>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10928" y="1115568"/>
            <a:ext cx="1883664" cy="274320"/>
          </a:xfrm>
          <a:prstGeom prst="rect">
            <a:avLst/>
          </a:prstGeom>
          <a:noFill/>
        </p:spPr>
        <p:txBody>
          <a:bodyPr wrap="none" lIns="0" tIns="0" rIns="0" bIns="0">
            <a:spAutoFit/>
          </a:bodyPr>
          <a:lstStyle/>
          <a:p>
            <a:pPr>
              <a:defRPr sz="1050" b="1">
                <a:solidFill>
                  <a:srgbClr val="FFFFFF"/>
                </a:solidFill>
                <a:latin typeface="Microsoft YaHei"/>
              </a:defRPr>
            </a:pPr>
            <a:r>
              <a:t>模块五：高可用与演进</a:t>
            </a:r>
          </a:p>
          <a:p>
            <a:pPr algn="r">
              <a:defRPr sz="950" b="1">
                <a:solidFill>
                  <a:srgbClr val="BFDBFE"/>
                </a:solidFill>
                <a:latin typeface="Microsoft YaHei"/>
              </a:defRPr>
            </a:pPr>
            <a:r>
              <a:t>[Slide 14~16]</a:t>
            </a:r>
          </a:p>
        </p:txBody>
      </p:sp>
      <p:sp>
        <p:nvSpPr>
          <p:cNvPr id="23" name="TextBox 22"/>
          <p:cNvSpPr txBox="1"/>
          <p:nvPr/>
        </p:nvSpPr>
        <p:spPr>
          <a:xfrm>
            <a:off x="9601200" y="1444752"/>
            <a:ext cx="2103120" cy="4297680"/>
          </a:xfrm>
          <a:prstGeom prst="rect">
            <a:avLst/>
          </a:prstGeom>
          <a:noFill/>
        </p:spPr>
        <p:txBody>
          <a:bodyPr wrap="square" lIns="73152" tIns="73152" rIns="73152" bIns="73152">
            <a:spAutoFit/>
          </a:bodyPr>
          <a:lstStyle/>
          <a:p>
            <a:pPr>
              <a:lnSpc>
                <a:spcPct val="116000"/>
              </a:lnSpc>
              <a:spcAft>
                <a:spcPts val="500"/>
              </a:spcAft>
            </a:pPr>
            <a:r>
              <a:rPr sz="919" b="1">
                <a:solidFill>
                  <a:srgbClr val="1E3A8A"/>
                </a:solidFill>
                <a:latin typeface="Microsoft YaHei"/>
              </a:rPr>
              <a:t>▸ 14 三面高可用：</a:t>
            </a:r>
            <a:r>
              <a:rPr sz="919">
                <a:solidFill>
                  <a:srgbClr val="1E293B"/>
                </a:solidFill>
                <a:latin typeface="Microsoft YaHei"/>
              </a:rPr>
              <a:t>管理故障本地快照兜底，ViewGuard微秒级跳出</a:t>
            </a:r>
          </a:p>
          <a:p>
            <a:pPr>
              <a:lnSpc>
                <a:spcPct val="116000"/>
              </a:lnSpc>
              <a:spcAft>
                <a:spcPts val="500"/>
              </a:spcAft>
            </a:pPr>
            <a:r>
              <a:rPr sz="919" b="1">
                <a:solidFill>
                  <a:srgbClr val="1E3A8A"/>
                </a:solidFill>
                <a:latin typeface="Microsoft YaHei"/>
              </a:rPr>
              <a:t>▸ 15 E0~E3 演进：</a:t>
            </a:r>
            <a:r>
              <a:rPr sz="919">
                <a:solidFill>
                  <a:srgbClr val="1E293B"/>
                </a:solidFill>
                <a:latin typeface="Microsoft YaHei"/>
              </a:rPr>
              <a:t>四个阶段递进闭环，精准分层承接38条SR</a:t>
            </a:r>
          </a:p>
          <a:p>
            <a:pPr>
              <a:lnSpc>
                <a:spcPct val="116000"/>
              </a:lnSpc>
              <a:spcAft>
                <a:spcPts val="500"/>
              </a:spcAft>
            </a:pPr>
            <a:r>
              <a:rPr sz="919" b="1">
                <a:solidFill>
                  <a:srgbClr val="1E3A8A"/>
                </a:solidFill>
                <a:latin typeface="Microsoft YaHei"/>
              </a:rPr>
              <a:t>▸ 16 工程总结：</a:t>
            </a:r>
            <a:r>
              <a:rPr sz="919">
                <a:solidFill>
                  <a:srgbClr val="1E293B"/>
                </a:solidFill>
                <a:latin typeface="Microsoft YaHei"/>
              </a:rPr>
              <a:t>技术立项四大共识，生产级资产与攻坚承诺</a:t>
            </a:r>
          </a:p>
          <a:p>
            <a:pPr>
              <a:lnSpc>
                <a:spcPct val="116000"/>
              </a:lnSpc>
              <a:spcAft>
                <a:spcPts val="500"/>
              </a:spcAft>
            </a:pPr>
            <a:r>
              <a:rPr sz="919" b="1">
                <a:solidFill>
                  <a:srgbClr val="1E3A8A"/>
                </a:solidFill>
                <a:latin typeface="Microsoft YaHei"/>
              </a:rPr>
              <a:t>▸ 技术诚信红线：</a:t>
            </a:r>
            <a:r>
              <a:rPr sz="919">
                <a:solidFill>
                  <a:srgbClr val="1E293B"/>
                </a:solidFill>
                <a:latin typeface="Microsoft YaHei"/>
              </a:rPr>
              <a:t>坚守第一性物理原理，以真实集群实测为准</a:t>
            </a:r>
          </a:p>
        </p:txBody>
      </p:sp>
      <p:sp>
        <p:nvSpPr>
          <p:cNvPr id="24" name="Rectangle 23"/>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全套架构方案严格按五大模块递进展开，系统阐明顶层设计设想、物理实体分布与微秒级工程细节；控制面与数据面双流分离。</a:t>
            </a:r>
            <a:r>
              <a:rPr sz="1150" b="1">
                <a:solidFill>
                  <a:srgbClr val="DC2626"/>
                </a:solidFill>
                <a:latin typeface="Microsoft YaHei"/>
              </a:rPr>
              <a:t>
为技术评审与一线开发攻坚提供清晰严谨的技术全景与实施依据。</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设计范围、材料口径与架构设计设想原则</a:t>
            </a:r>
          </a:p>
          <a:p>
            <a:pPr>
              <a:spcBef>
                <a:spcPts val="300"/>
              </a:spcBef>
              <a:defRPr sz="1100">
                <a:solidFill>
                  <a:srgbClr val="475569"/>
                </a:solidFill>
                <a:latin typeface="Microsoft YaHei"/>
              </a:defRPr>
            </a:pPr>
            <a:r>
              <a:t>先界定工程责任边界与安全不变量，严格区分已有需求、设计建议与推导算例</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03 / 16 页</a:t>
            </a:r>
          </a:p>
        </p:txBody>
      </p:sp>
      <p:sp>
        <p:nvSpPr>
          <p:cNvPr id="4" name="Rectangle 3"/>
          <p:cNvSpPr/>
          <p:nvPr/>
        </p:nvSpPr>
        <p:spPr>
          <a:xfrm>
            <a:off x="457200" y="1078992"/>
            <a:ext cx="5532120" cy="228600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553212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5312664" cy="274320"/>
          </a:xfrm>
          <a:prstGeom prst="rect">
            <a:avLst/>
          </a:prstGeom>
          <a:noFill/>
        </p:spPr>
        <p:txBody>
          <a:bodyPr wrap="none" lIns="0" tIns="0" rIns="0" bIns="0">
            <a:spAutoFit/>
          </a:bodyPr>
          <a:lstStyle/>
          <a:p>
            <a:pPr>
              <a:defRPr sz="1120" b="1">
                <a:solidFill>
                  <a:srgbClr val="FFFFFF"/>
                </a:solidFill>
                <a:latin typeface="Microsoft YaHei"/>
              </a:defRPr>
            </a:pPr>
            <a:r>
              <a:t>1. 本设计文档聚焦解决的架构命题</a:t>
            </a:r>
          </a:p>
          <a:p>
            <a:pPr algn="r">
              <a:defRPr sz="950" b="1">
                <a:solidFill>
                  <a:srgbClr val="BFDBFE"/>
                </a:solidFill>
                <a:latin typeface="Microsoft YaHei"/>
              </a:defRPr>
            </a:pPr>
            <a:r>
              <a:t>[工程责任边界]</a:t>
            </a:r>
          </a:p>
        </p:txBody>
      </p:sp>
      <p:sp>
        <p:nvSpPr>
          <p:cNvPr id="7" name="TextBox 6"/>
          <p:cNvSpPr txBox="1"/>
          <p:nvPr/>
        </p:nvSpPr>
        <p:spPr>
          <a:xfrm>
            <a:off x="457200" y="1444752"/>
            <a:ext cx="5532120" cy="1901952"/>
          </a:xfrm>
          <a:prstGeom prst="rect">
            <a:avLst/>
          </a:prstGeom>
          <a:noFill/>
        </p:spPr>
        <p:txBody>
          <a:bodyPr wrap="square" lIns="73152" tIns="73152" rIns="73152" bIns="73152">
            <a:spAutoFit/>
          </a:bodyPr>
          <a:lstStyle/>
          <a:p>
            <a:pPr>
              <a:lnSpc>
                <a:spcPct val="116000"/>
              </a:lnSpc>
              <a:spcAft>
                <a:spcPts val="420"/>
              </a:spcAft>
            </a:pPr>
            <a:r>
              <a:rPr sz="1019" b="1">
                <a:solidFill>
                  <a:srgbClr val="1E3A8A"/>
                </a:solidFill>
                <a:latin typeface="Microsoft YaHei"/>
              </a:rPr>
              <a:t>▸ 统一对象抽象：</a:t>
            </a:r>
            <a:r>
              <a:rPr sz="1019">
                <a:solidFill>
                  <a:srgbClr val="1E293B"/>
                </a:solidFill>
                <a:latin typeface="Microsoft YaHei"/>
              </a:rPr>
              <a:t>统一跨节点、多介质不可变缓存对象的身份、版本、分布与访问方法</a:t>
            </a:r>
          </a:p>
          <a:p>
            <a:pPr>
              <a:lnSpc>
                <a:spcPct val="116000"/>
              </a:lnSpc>
              <a:spcAft>
                <a:spcPts val="420"/>
              </a:spcAft>
            </a:pPr>
            <a:r>
              <a:rPr sz="1019" b="1">
                <a:solidFill>
                  <a:srgbClr val="1E3A8A"/>
                </a:solidFill>
                <a:latin typeface="Microsoft YaHei"/>
              </a:rPr>
              <a:t>▸ 进程与部署拓扑：</a:t>
            </a:r>
            <a:r>
              <a:rPr sz="1019">
                <a:solidFill>
                  <a:srgbClr val="1E293B"/>
                </a:solidFill>
                <a:latin typeface="Microsoft YaHei"/>
              </a:rPr>
              <a:t>推理进程内运行库直接处理高频缓存查询与加载，节点代理负责本地资源管理，分布式目录服务负责全局元数据路由</a:t>
            </a:r>
          </a:p>
          <a:p>
            <a:pPr>
              <a:lnSpc>
                <a:spcPct val="116000"/>
              </a:lnSpc>
              <a:spcAft>
                <a:spcPts val="420"/>
              </a:spcAft>
            </a:pPr>
            <a:r>
              <a:rPr sz="1019" b="1">
                <a:solidFill>
                  <a:srgbClr val="1E3A8A"/>
                </a:solidFill>
                <a:latin typeface="Microsoft YaHei"/>
              </a:rPr>
              <a:t>▸ 请求闭环因果链：</a:t>
            </a:r>
            <a:r>
              <a:rPr sz="1019">
                <a:solidFill>
                  <a:srgbClr val="1E293B"/>
                </a:solidFill>
                <a:latin typeface="Microsoft YaHei"/>
              </a:rPr>
              <a:t>严格经历意图下发、候选发现、校验、决策、直达与安全挂载闭环</a:t>
            </a:r>
          </a:p>
          <a:p>
            <a:pPr>
              <a:lnSpc>
                <a:spcPct val="116000"/>
              </a:lnSpc>
              <a:spcAft>
                <a:spcPts val="420"/>
              </a:spcAft>
            </a:pPr>
            <a:r>
              <a:rPr sz="1019" b="1">
                <a:solidFill>
                  <a:srgbClr val="1E3A8A"/>
                </a:solidFill>
                <a:latin typeface="Microsoft YaHei"/>
              </a:rPr>
              <a:t>▸ 物理安全排空：</a:t>
            </a:r>
            <a:r>
              <a:rPr sz="1019">
                <a:solidFill>
                  <a:srgbClr val="1E293B"/>
                </a:solidFill>
                <a:latin typeface="Microsoft YaHei"/>
              </a:rPr>
              <a:t>逻辑取消与底层设备排空彻底分离，设备在途 I/O 未完成前禁止复用缓冲区</a:t>
            </a:r>
          </a:p>
        </p:txBody>
      </p:sp>
      <p:sp>
        <p:nvSpPr>
          <p:cNvPr id="8" name="Rectangle 7"/>
          <p:cNvSpPr/>
          <p:nvPr/>
        </p:nvSpPr>
        <p:spPr>
          <a:xfrm>
            <a:off x="6199632" y="1078992"/>
            <a:ext cx="5532120" cy="228600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99632" y="1078992"/>
            <a:ext cx="553212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09360" y="1115568"/>
            <a:ext cx="5312664" cy="274320"/>
          </a:xfrm>
          <a:prstGeom prst="rect">
            <a:avLst/>
          </a:prstGeom>
          <a:noFill/>
        </p:spPr>
        <p:txBody>
          <a:bodyPr wrap="none" lIns="0" tIns="0" rIns="0" bIns="0">
            <a:spAutoFit/>
          </a:bodyPr>
          <a:lstStyle/>
          <a:p>
            <a:pPr>
              <a:defRPr sz="1120" b="1">
                <a:solidFill>
                  <a:srgbClr val="FFFFFF"/>
                </a:solidFill>
                <a:latin typeface="Microsoft YaHei"/>
              </a:defRPr>
            </a:pPr>
            <a:r>
              <a:t>2. 三种材料口径严格界定 (诚信红线)</a:t>
            </a:r>
          </a:p>
          <a:p>
            <a:pPr algn="r">
              <a:defRPr sz="950" b="1">
                <a:solidFill>
                  <a:srgbClr val="BFDBFE"/>
                </a:solidFill>
                <a:latin typeface="Microsoft YaHei"/>
              </a:defRPr>
            </a:pPr>
            <a:r>
              <a:t>[拒绝未经实测假设]</a:t>
            </a:r>
          </a:p>
        </p:txBody>
      </p:sp>
      <p:sp>
        <p:nvSpPr>
          <p:cNvPr id="11" name="TextBox 10"/>
          <p:cNvSpPr txBox="1"/>
          <p:nvPr/>
        </p:nvSpPr>
        <p:spPr>
          <a:xfrm>
            <a:off x="6199632" y="1444752"/>
            <a:ext cx="5532120" cy="1901952"/>
          </a:xfrm>
          <a:prstGeom prst="rect">
            <a:avLst/>
          </a:prstGeom>
          <a:noFill/>
        </p:spPr>
        <p:txBody>
          <a:bodyPr wrap="square" lIns="73152" tIns="73152" rIns="73152" bIns="73152">
            <a:spAutoFit/>
          </a:bodyPr>
          <a:lstStyle/>
          <a:p>
            <a:pPr>
              <a:lnSpc>
                <a:spcPct val="116000"/>
              </a:lnSpc>
              <a:spcAft>
                <a:spcPts val="420"/>
              </a:spcAft>
            </a:pPr>
            <a:r>
              <a:rPr sz="1019" b="1">
                <a:solidFill>
                  <a:srgbClr val="1E3A8A"/>
                </a:solidFill>
                <a:latin typeface="Microsoft YaHei"/>
              </a:rPr>
              <a:t>▸ 已有需求：</a:t>
            </a:r>
            <a:r>
              <a:rPr sz="1019">
                <a:solidFill>
                  <a:srgbClr val="1E293B"/>
                </a:solidFill>
                <a:latin typeface="Microsoft YaHei"/>
              </a:rPr>
              <a:t>受控 SRS V2.3 明确提出的指标与功能，共 144 条正式需求</a:t>
            </a:r>
          </a:p>
          <a:p>
            <a:pPr>
              <a:lnSpc>
                <a:spcPct val="116000"/>
              </a:lnSpc>
              <a:spcAft>
                <a:spcPts val="420"/>
              </a:spcAft>
            </a:pPr>
            <a:r>
              <a:rPr sz="1019" b="1">
                <a:solidFill>
                  <a:srgbClr val="1E3A8A"/>
                </a:solidFill>
                <a:latin typeface="Microsoft YaHei"/>
              </a:rPr>
              <a:t>▸ 设计建议：</a:t>
            </a:r>
            <a:r>
              <a:rPr sz="1019">
                <a:solidFill>
                  <a:srgbClr val="1E293B"/>
                </a:solidFill>
                <a:latin typeface="Microsoft YaHei"/>
              </a:rPr>
              <a:t>本稿提出的五大进程、接口契约与数据结构，待技术评审冻结</a:t>
            </a:r>
          </a:p>
          <a:p>
            <a:pPr>
              <a:lnSpc>
                <a:spcPct val="116000"/>
              </a:lnSpc>
              <a:spcAft>
                <a:spcPts val="420"/>
              </a:spcAft>
            </a:pPr>
            <a:r>
              <a:rPr sz="1019" b="1">
                <a:solidFill>
                  <a:srgbClr val="1E3A8A"/>
                </a:solidFill>
                <a:latin typeface="Microsoft YaHei"/>
              </a:rPr>
              <a:t>▸ 预算算例：</a:t>
            </a:r>
            <a:r>
              <a:rPr sz="1019">
                <a:solidFill>
                  <a:srgbClr val="1E293B"/>
                </a:solidFill>
                <a:latin typeface="Microsoft YaHei"/>
              </a:rPr>
              <a:t>仅演示自上而下推导方法（如 120ms 预算），绝非已实测硬件结论</a:t>
            </a:r>
          </a:p>
          <a:p>
            <a:pPr>
              <a:lnSpc>
                <a:spcPct val="116000"/>
              </a:lnSpc>
              <a:spcAft>
                <a:spcPts val="420"/>
              </a:spcAft>
            </a:pPr>
            <a:r>
              <a:rPr sz="1019" b="1">
                <a:solidFill>
                  <a:srgbClr val="1E3A8A"/>
                </a:solidFill>
                <a:latin typeface="Microsoft YaHei"/>
              </a:rPr>
              <a:t>▸ 证据分级边界：</a:t>
            </a:r>
            <a:r>
              <a:rPr sz="1019">
                <a:solidFill>
                  <a:srgbClr val="1E293B"/>
                </a:solidFill>
                <a:latin typeface="Microsoft YaHei"/>
              </a:rPr>
              <a:t>功能模拟 (W0)、单设备 (W1) 与端到端 (W2) 严格区分，杜绝混用</a:t>
            </a:r>
          </a:p>
        </p:txBody>
      </p:sp>
      <p:sp>
        <p:nvSpPr>
          <p:cNvPr id="12" name="Rectangle 11"/>
          <p:cNvSpPr/>
          <p:nvPr/>
        </p:nvSpPr>
        <p:spPr>
          <a:xfrm>
            <a:off x="457200" y="3474720"/>
            <a:ext cx="5532120" cy="230428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474720"/>
            <a:ext cx="553212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511296"/>
            <a:ext cx="5312664" cy="274320"/>
          </a:xfrm>
          <a:prstGeom prst="rect">
            <a:avLst/>
          </a:prstGeom>
          <a:noFill/>
        </p:spPr>
        <p:txBody>
          <a:bodyPr wrap="none" lIns="0" tIns="0" rIns="0" bIns="0">
            <a:spAutoFit/>
          </a:bodyPr>
          <a:lstStyle/>
          <a:p>
            <a:pPr>
              <a:defRPr sz="1120" b="1">
                <a:solidFill>
                  <a:srgbClr val="FFFFFF"/>
                </a:solidFill>
                <a:latin typeface="Microsoft YaHei"/>
              </a:defRPr>
            </a:pPr>
            <a:r>
              <a:t>3. 支撑后续落地的四大核心架构原则</a:t>
            </a:r>
          </a:p>
          <a:p>
            <a:pPr algn="r">
              <a:defRPr sz="950" b="1">
                <a:solidFill>
                  <a:srgbClr val="BFDBFE"/>
                </a:solidFill>
                <a:latin typeface="Microsoft YaHei"/>
              </a:defRPr>
            </a:pPr>
            <a:r>
              <a:t>[设计设想核心]</a:t>
            </a:r>
          </a:p>
        </p:txBody>
      </p:sp>
      <p:sp>
        <p:nvSpPr>
          <p:cNvPr id="15" name="TextBox 14"/>
          <p:cNvSpPr txBox="1"/>
          <p:nvPr/>
        </p:nvSpPr>
        <p:spPr>
          <a:xfrm>
            <a:off x="457200" y="3840480"/>
            <a:ext cx="5532120" cy="1920240"/>
          </a:xfrm>
          <a:prstGeom prst="rect">
            <a:avLst/>
          </a:prstGeom>
          <a:noFill/>
        </p:spPr>
        <p:txBody>
          <a:bodyPr wrap="square" lIns="73152" tIns="73152" rIns="73152" bIns="73152">
            <a:spAutoFit/>
          </a:bodyPr>
          <a:lstStyle/>
          <a:p>
            <a:pPr>
              <a:lnSpc>
                <a:spcPct val="116000"/>
              </a:lnSpc>
              <a:spcAft>
                <a:spcPts val="420"/>
              </a:spcAft>
            </a:pPr>
            <a:r>
              <a:rPr sz="1019" b="1">
                <a:solidFill>
                  <a:srgbClr val="1E3A8A"/>
                </a:solidFill>
                <a:latin typeface="Microsoft YaHei"/>
              </a:rPr>
              <a:t>▸ 净加速收益驱动：</a:t>
            </a:r>
            <a:r>
              <a:rPr sz="1019">
                <a:solidFill>
                  <a:srgbClr val="1E293B"/>
                </a:solidFill>
                <a:latin typeface="Microsoft YaHei"/>
              </a:rPr>
              <a:t>拉取加载开销 &lt; 本地重算耗时，且满足业务预算，否则主动回退</a:t>
            </a:r>
          </a:p>
          <a:p>
            <a:pPr>
              <a:lnSpc>
                <a:spcPct val="116000"/>
              </a:lnSpc>
              <a:spcAft>
                <a:spcPts val="420"/>
              </a:spcAft>
            </a:pPr>
            <a:r>
              <a:rPr sz="1019" b="1">
                <a:solidFill>
                  <a:srgbClr val="1E3A8A"/>
                </a:solidFill>
                <a:latin typeface="Microsoft YaHei"/>
              </a:rPr>
              <a:t>▸ 多卡原子协同：</a:t>
            </a:r>
            <a:r>
              <a:rPr sz="1019">
                <a:solidFill>
                  <a:srgbClr val="1E293B"/>
                </a:solidFill>
                <a:latin typeface="Microsoft YaHei"/>
              </a:rPr>
              <a:t>TP=8 引入原子 Doorbell 与内存同步，消除偏斜与死锁</a:t>
            </a:r>
          </a:p>
          <a:p>
            <a:pPr>
              <a:lnSpc>
                <a:spcPct val="116000"/>
              </a:lnSpc>
              <a:spcAft>
                <a:spcPts val="420"/>
              </a:spcAft>
            </a:pPr>
            <a:r>
              <a:rPr sz="1019" b="1">
                <a:solidFill>
                  <a:srgbClr val="1E3A8A"/>
                </a:solidFill>
                <a:latin typeface="Microsoft YaHei"/>
              </a:rPr>
              <a:t>▸ 三介质分层存储：</a:t>
            </a:r>
            <a:r>
              <a:rPr sz="1019">
                <a:solidFill>
                  <a:srgbClr val="1E293B"/>
                </a:solidFill>
                <a:latin typeface="Microsoft YaHei"/>
              </a:rPr>
              <a:t>显存热执行、DDR 热温缓存扩展与 SSD 异步持久化</a:t>
            </a:r>
          </a:p>
          <a:p>
            <a:pPr>
              <a:lnSpc>
                <a:spcPct val="116000"/>
              </a:lnSpc>
              <a:spcAft>
                <a:spcPts val="420"/>
              </a:spcAft>
            </a:pPr>
            <a:r>
              <a:rPr sz="1019" b="1">
                <a:solidFill>
                  <a:srgbClr val="1E3A8A"/>
                </a:solidFill>
                <a:latin typeface="Microsoft YaHei"/>
              </a:rPr>
              <a:t>▸ 安全先于性能：</a:t>
            </a:r>
            <a:r>
              <a:rPr sz="1019">
                <a:solidFill>
                  <a:srgbClr val="1E293B"/>
                </a:solidFill>
                <a:latin typeface="Microsoft YaHei"/>
              </a:rPr>
              <a:t>对象正文严格只读，持有权绑定租约，数据就绪后再发布目录</a:t>
            </a:r>
          </a:p>
        </p:txBody>
      </p:sp>
      <p:sp>
        <p:nvSpPr>
          <p:cNvPr id="16" name="Rectangle 15"/>
          <p:cNvSpPr/>
          <p:nvPr/>
        </p:nvSpPr>
        <p:spPr>
          <a:xfrm>
            <a:off x="6199632" y="3474720"/>
            <a:ext cx="5532120" cy="230428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99632" y="3474720"/>
            <a:ext cx="5532120" cy="347472"/>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0" y="3511296"/>
            <a:ext cx="5312664" cy="274320"/>
          </a:xfrm>
          <a:prstGeom prst="rect">
            <a:avLst/>
          </a:prstGeom>
          <a:noFill/>
        </p:spPr>
        <p:txBody>
          <a:bodyPr wrap="none" lIns="0" tIns="0" rIns="0" bIns="0">
            <a:spAutoFit/>
          </a:bodyPr>
          <a:lstStyle/>
          <a:p>
            <a:pPr>
              <a:defRPr sz="1120" b="1">
                <a:solidFill>
                  <a:srgbClr val="FFFFFF"/>
                </a:solidFill>
                <a:latin typeface="Microsoft YaHei"/>
              </a:defRPr>
            </a:pPr>
            <a:r>
              <a:t>4. 系统实现必须遵守的四大工程约束</a:t>
            </a:r>
          </a:p>
          <a:p>
            <a:pPr algn="r">
              <a:defRPr sz="950" b="1">
                <a:solidFill>
                  <a:srgbClr val="BFDBFE"/>
                </a:solidFill>
                <a:latin typeface="Microsoft YaHei"/>
              </a:defRPr>
            </a:pPr>
            <a:r>
              <a:t>[生产级底线]</a:t>
            </a:r>
          </a:p>
        </p:txBody>
      </p:sp>
      <p:sp>
        <p:nvSpPr>
          <p:cNvPr id="19" name="TextBox 18"/>
          <p:cNvSpPr txBox="1"/>
          <p:nvPr/>
        </p:nvSpPr>
        <p:spPr>
          <a:xfrm>
            <a:off x="6199632" y="3840480"/>
            <a:ext cx="5532120" cy="1920240"/>
          </a:xfrm>
          <a:prstGeom prst="rect">
            <a:avLst/>
          </a:prstGeom>
          <a:noFill/>
        </p:spPr>
        <p:txBody>
          <a:bodyPr wrap="square" lIns="73152" tIns="73152" rIns="73152" bIns="73152">
            <a:spAutoFit/>
          </a:bodyPr>
          <a:lstStyle/>
          <a:p>
            <a:pPr>
              <a:lnSpc>
                <a:spcPct val="116000"/>
              </a:lnSpc>
              <a:spcAft>
                <a:spcPts val="420"/>
              </a:spcAft>
            </a:pPr>
            <a:r>
              <a:rPr sz="1019" b="1">
                <a:solidFill>
                  <a:srgbClr val="1E3A8A"/>
                </a:solidFill>
                <a:latin typeface="Microsoft YaHei"/>
              </a:rPr>
              <a:t>▸ 越权越界红线：</a:t>
            </a:r>
            <a:r>
              <a:rPr sz="1019">
                <a:solidFill>
                  <a:srgbClr val="1E293B"/>
                </a:solidFill>
                <a:latin typeface="Microsoft YaHei"/>
              </a:rPr>
              <a:t>严禁接管框架算子显存；执行显存归框架，KVC 仅调度外部池</a:t>
            </a:r>
          </a:p>
          <a:p>
            <a:pPr>
              <a:lnSpc>
                <a:spcPct val="116000"/>
              </a:lnSpc>
              <a:spcAft>
                <a:spcPts val="420"/>
              </a:spcAft>
            </a:pPr>
            <a:r>
              <a:rPr sz="1019" b="1">
                <a:solidFill>
                  <a:srgbClr val="1E3A8A"/>
                </a:solidFill>
                <a:latin typeface="Microsoft YaHei"/>
              </a:rPr>
              <a:t>▸ 数据搬运准则：</a:t>
            </a:r>
            <a:r>
              <a:rPr sz="1019">
                <a:solidFill>
                  <a:srgbClr val="1E293B"/>
                </a:solidFill>
                <a:latin typeface="Microsoft YaHei"/>
              </a:rPr>
              <a:t>基础直达路径 CPU 零拷贝；加解密与压缩实测评估 CPU 与 DPU 开销</a:t>
            </a:r>
          </a:p>
          <a:p>
            <a:pPr>
              <a:lnSpc>
                <a:spcPct val="116000"/>
              </a:lnSpc>
              <a:spcAft>
                <a:spcPts val="420"/>
              </a:spcAft>
            </a:pPr>
            <a:r>
              <a:rPr sz="1019" b="1">
                <a:solidFill>
                  <a:srgbClr val="1E3A8A"/>
                </a:solidFill>
                <a:latin typeface="Microsoft YaHei"/>
              </a:rPr>
              <a:t>▸ 错误消费红线：</a:t>
            </a:r>
            <a:r>
              <a:rPr sz="1019">
                <a:solidFill>
                  <a:srgbClr val="1E293B"/>
                </a:solidFill>
                <a:latin typeface="Microsoft YaHei"/>
              </a:rPr>
              <a:t>6 维语义校验未通过或租约失效数据绝对禁止挂载接入，杜绝脏读与半写块</a:t>
            </a:r>
          </a:p>
          <a:p>
            <a:pPr>
              <a:lnSpc>
                <a:spcPct val="116000"/>
              </a:lnSpc>
              <a:spcAft>
                <a:spcPts val="420"/>
              </a:spcAft>
            </a:pPr>
            <a:r>
              <a:rPr sz="1019" b="1">
                <a:solidFill>
                  <a:srgbClr val="1E3A8A"/>
                </a:solidFill>
                <a:latin typeface="Microsoft YaHei"/>
              </a:rPr>
              <a:t>▸ 架构去依赖红线：</a:t>
            </a:r>
            <a:r>
              <a:rPr sz="1019">
                <a:solidFill>
                  <a:srgbClr val="1E293B"/>
                </a:solidFill>
                <a:latin typeface="Microsoft YaHei"/>
              </a:rPr>
              <a:t>坚守标准驱动纯软主路径，网卡多播与 DPU 硬件卸载仅作为条件加速轨</a:t>
            </a:r>
          </a:p>
        </p:txBody>
      </p:sp>
      <p:sp>
        <p:nvSpPr>
          <p:cNvPr id="20" name="Rectangle 19"/>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坚持工程诚信红线，严禁杜撰实测结论；以第一性原理分析系统瓶颈与时延构成，严格区分实测指标与推导算例，明确工程设计基线。</a:t>
            </a:r>
            <a:r>
              <a:rPr sz="1150" b="1">
                <a:solidFill>
                  <a:srgbClr val="DC2626"/>
                </a:solidFill>
                <a:latin typeface="Microsoft YaHei"/>
              </a:rPr>
              <a:t>
待验证指标严禁写成既成性能结论。</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专题一：软件四层架构全景与管理、控制、数据三面分工</a:t>
            </a:r>
          </a:p>
          <a:p>
            <a:pPr>
              <a:spcBef>
                <a:spcPts val="300"/>
              </a:spcBef>
              <a:defRPr sz="1100">
                <a:solidFill>
                  <a:srgbClr val="475569"/>
                </a:solidFill>
                <a:latin typeface="Microsoft YaHei"/>
              </a:defRPr>
            </a:pPr>
            <a:r>
              <a:t>四层用于接口契约责任分解，三面用于物理隔离；两者正交解耦，严禁混同为常驻进程数量</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04 / 16 页</a:t>
            </a:r>
          </a:p>
        </p:txBody>
      </p:sp>
      <p:sp>
        <p:nvSpPr>
          <p:cNvPr id="4" name="Rectangle 3"/>
          <p:cNvSpPr/>
          <p:nvPr/>
        </p:nvSpPr>
        <p:spPr>
          <a:xfrm>
            <a:off x="457200" y="1078992"/>
            <a:ext cx="8412480" cy="4681728"/>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48640" y="1170432"/>
            <a:ext cx="530352" cy="4498848"/>
          </a:xfrm>
          <a:prstGeom prst="rect">
            <a:avLst/>
          </a:prstGeom>
          <a:solidFill>
            <a:srgbClr val="F0F9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defRPr sz="880" b="1">
                <a:solidFill>
                  <a:srgbClr val="2563EB"/>
                </a:solidFill>
                <a:latin typeface="Microsoft YaHei"/>
              </a:defRPr>
            </a:pPr>
            <a:r>
              <a:t>微</a:t>
            </a:r>
            <a:br/>
            <a:r>
              <a:t>秒</a:t>
            </a:r>
            <a:br/>
            <a:r>
              <a:t>控</a:t>
            </a:r>
            <a:br/>
            <a:r>
              <a:t>制</a:t>
            </a:r>
            <a:br/>
            <a:r>
              <a:t>流</a:t>
            </a:r>
            <a:br/>
            <a:r>
              <a:t/>
            </a:r>
            <a:br/>
            <a:r>
              <a:t>信</a:t>
            </a:r>
            <a:br/>
            <a:r>
              <a:t>令</a:t>
            </a:r>
            <a:br/>
            <a:r>
              <a:t>快</a:t>
            </a:r>
            <a:br/>
            <a:r>
              <a:t>路</a:t>
            </a:r>
            <a:br/>
            <a:r>
              <a:t>径</a:t>
            </a:r>
            <a:br/>
            <a:r>
              <a:t/>
            </a:r>
            <a:br/>
            <a:r>
              <a:t>P99</a:t>
            </a:r>
            <a:br/>
            <a:r>
              <a:t>&lt;</a:t>
            </a:r>
            <a:br/>
            <a:r>
              <a:t>5µs</a:t>
            </a:r>
          </a:p>
        </p:txBody>
      </p:sp>
      <p:sp>
        <p:nvSpPr>
          <p:cNvPr id="6" name="Rectangle 5"/>
          <p:cNvSpPr/>
          <p:nvPr/>
        </p:nvSpPr>
        <p:spPr>
          <a:xfrm>
            <a:off x="8247888" y="1170432"/>
            <a:ext cx="530352" cy="4498848"/>
          </a:xfrm>
          <a:prstGeom prst="rect">
            <a:avLst/>
          </a:prstGeom>
          <a:solidFill>
            <a:srgbClr val="ECFDF5"/>
          </a:solidFill>
          <a:ln w="15240">
            <a:solidFill>
              <a:srgbClr val="6EE7B7"/>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defRPr sz="880" b="1">
                <a:solidFill>
                  <a:srgbClr val="059669"/>
                </a:solidFill>
                <a:latin typeface="Microsoft YaHei"/>
              </a:defRPr>
            </a:pPr>
            <a:r>
              <a:t>零</a:t>
            </a:r>
            <a:br/>
            <a:r>
              <a:t>拷</a:t>
            </a:r>
            <a:br/>
            <a:r>
              <a:t>贝</a:t>
            </a:r>
            <a:br/>
            <a:r>
              <a:t>数</a:t>
            </a:r>
            <a:br/>
            <a:r>
              <a:t>据</a:t>
            </a:r>
            <a:br/>
            <a:r>
              <a:t>流</a:t>
            </a:r>
            <a:br/>
            <a:r>
              <a:t/>
            </a:r>
            <a:br/>
            <a:r>
              <a:t>硬</a:t>
            </a:r>
            <a:br/>
            <a:r>
              <a:t>件</a:t>
            </a:r>
            <a:br/>
            <a:r>
              <a:t>直</a:t>
            </a:r>
            <a:br/>
            <a:r>
              <a:t>通</a:t>
            </a:r>
            <a:br/>
            <a:r>
              <a:t/>
            </a:r>
            <a:br/>
            <a:r>
              <a:t>CPU</a:t>
            </a:r>
            <a:br/>
            <a:r>
              <a:t>零</a:t>
            </a:r>
            <a:br/>
            <a:r>
              <a:t>拷</a:t>
            </a:r>
            <a:br/>
            <a:r>
              <a:t>贝</a:t>
            </a:r>
          </a:p>
        </p:txBody>
      </p:sp>
      <p:sp>
        <p:nvSpPr>
          <p:cNvPr id="7" name="Rectangle 6"/>
          <p:cNvSpPr/>
          <p:nvPr/>
        </p:nvSpPr>
        <p:spPr>
          <a:xfrm>
            <a:off x="1170432" y="1170432"/>
            <a:ext cx="6986016" cy="1024128"/>
          </a:xfrm>
          <a:prstGeom prst="rect">
            <a:avLst/>
          </a:prstGeom>
          <a:solidFill>
            <a:srgbClr val="F0F9FF"/>
          </a:solidFill>
          <a:ln w="15240">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70432" y="1170432"/>
            <a:ext cx="6986016" cy="2560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280160" y="1207008"/>
            <a:ext cx="6766560" cy="182880"/>
          </a:xfrm>
          <a:prstGeom prst="rect">
            <a:avLst/>
          </a:prstGeom>
          <a:noFill/>
        </p:spPr>
        <p:txBody>
          <a:bodyPr wrap="none" lIns="0" tIns="0" rIns="0" bIns="0">
            <a:spAutoFit/>
          </a:bodyPr>
          <a:lstStyle/>
          <a:p>
            <a:pPr>
              <a:defRPr sz="950" b="1">
                <a:solidFill>
                  <a:srgbClr val="FFFFFF"/>
                </a:solidFill>
                <a:latin typeface="Microsoft YaHei"/>
              </a:defRPr>
            </a:pPr>
            <a:r>
              <a:t>L1 框架适配层 (接入层) · 进程内运行库 libkvc_runtime · 框架拥有执行显存</a:t>
            </a:r>
          </a:p>
        </p:txBody>
      </p:sp>
      <p:sp>
        <p:nvSpPr>
          <p:cNvPr id="10" name="Rectangle 9"/>
          <p:cNvSpPr/>
          <p:nvPr/>
        </p:nvSpPr>
        <p:spPr>
          <a:xfrm>
            <a:off x="1243584" y="1481328"/>
            <a:ext cx="2249424" cy="65836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1E3A8A"/>
                </a:solidFill>
                <a:latin typeface="Microsoft YaHei"/>
              </a:defRPr>
            </a:pPr>
            <a:r>
              <a:t>虚拟挂载与访问意图</a:t>
            </a:r>
          </a:p>
          <a:p>
            <a:pPr algn="ctr">
              <a:spcBef>
                <a:spcPts val="200"/>
              </a:spcBef>
              <a:defRPr sz="780">
                <a:solidFill>
                  <a:srgbClr val="475569"/>
                </a:solidFill>
                <a:latin typeface="Microsoft YaHei"/>
              </a:defRPr>
            </a:pPr>
            <a:r>
              <a:t>KVAccessIntent 挂载句柄</a:t>
            </a:r>
            <a:br/>
            <a:r>
              <a:t>推理框架独占运行时显存分配</a:t>
            </a:r>
          </a:p>
        </p:txBody>
      </p:sp>
      <p:sp>
        <p:nvSpPr>
          <p:cNvPr id="11" name="Rectangle 10"/>
          <p:cNvSpPr/>
          <p:nvPr/>
        </p:nvSpPr>
        <p:spPr>
          <a:xfrm>
            <a:off x="3538728" y="1481328"/>
            <a:ext cx="2249424" cy="65836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1E3A8A"/>
                </a:solidFill>
                <a:latin typeface="Microsoft YaHei"/>
              </a:defRPr>
            </a:pPr>
            <a:r>
              <a:t>前缀预算与准入控制</a:t>
            </a:r>
          </a:p>
          <a:p>
            <a:pPr algn="ctr">
              <a:spcBef>
                <a:spcPts val="200"/>
              </a:spcBef>
              <a:defRPr sz="780">
                <a:solidFill>
                  <a:srgbClr val="475569"/>
                </a:solidFill>
                <a:latin typeface="Microsoft YaHei"/>
              </a:defRPr>
            </a:pPr>
            <a:r>
              <a:t>Token 序列 64位哈希提取</a:t>
            </a:r>
            <a:br/>
            <a:r>
              <a:t>SLO 剩余预算前置核验</a:t>
            </a:r>
          </a:p>
        </p:txBody>
      </p:sp>
      <p:sp>
        <p:nvSpPr>
          <p:cNvPr id="12" name="Rectangle 11"/>
          <p:cNvSpPr/>
          <p:nvPr/>
        </p:nvSpPr>
        <p:spPr>
          <a:xfrm>
            <a:off x="5833872" y="1481328"/>
            <a:ext cx="2249424" cy="65836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1E3A8A"/>
                </a:solidFill>
                <a:latin typeface="Microsoft YaHei"/>
              </a:defRPr>
            </a:pPr>
            <a:r>
              <a:t>缓存感知路由与多卡协同</a:t>
            </a:r>
          </a:p>
          <a:p>
            <a:pPr algn="ctr">
              <a:spcBef>
                <a:spcPts val="200"/>
              </a:spcBef>
              <a:defRPr sz="780">
                <a:solidFill>
                  <a:srgbClr val="475569"/>
                </a:solidFill>
                <a:latin typeface="Microsoft YaHei"/>
              </a:defRPr>
            </a:pPr>
            <a:r>
              <a:t>前缀匹配度评分与算力路由</a:t>
            </a:r>
            <a:br/>
            <a:r>
              <a:t>TP=8 RankConsensus 组内协同</a:t>
            </a:r>
          </a:p>
        </p:txBody>
      </p:sp>
      <p:sp>
        <p:nvSpPr>
          <p:cNvPr id="13" name="Rectangle 12"/>
          <p:cNvSpPr/>
          <p:nvPr/>
        </p:nvSpPr>
        <p:spPr>
          <a:xfrm>
            <a:off x="1170432" y="2286000"/>
            <a:ext cx="6986016" cy="1097280"/>
          </a:xfrm>
          <a:prstGeom prst="rect">
            <a:avLst/>
          </a:prstGeom>
          <a:solidFill>
            <a:srgbClr val="F5F3FF"/>
          </a:solidFill>
          <a:ln w="15240">
            <a:solidFill>
              <a:srgbClr val="C4B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170432" y="2286000"/>
            <a:ext cx="6986016" cy="25603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80160" y="2322576"/>
            <a:ext cx="6766560" cy="182880"/>
          </a:xfrm>
          <a:prstGeom prst="rect">
            <a:avLst/>
          </a:prstGeom>
          <a:noFill/>
        </p:spPr>
        <p:txBody>
          <a:bodyPr wrap="none" lIns="0" tIns="0" rIns="0" bIns="0">
            <a:spAutoFit/>
          </a:bodyPr>
          <a:lstStyle/>
          <a:p>
            <a:pPr>
              <a:defRPr sz="950" b="1">
                <a:solidFill>
                  <a:srgbClr val="FFFFFF"/>
                </a:solidFill>
                <a:latin typeface="Microsoft YaHei"/>
              </a:defRPr>
            </a:pPr>
            <a:r>
              <a:t>L2 核心调度与控制面 · 查询决策引擎与分片目录 · 微秒级纯信令处理</a:t>
            </a:r>
          </a:p>
        </p:txBody>
      </p:sp>
      <p:sp>
        <p:nvSpPr>
          <p:cNvPr id="16" name="Rectangle 15"/>
          <p:cNvSpPr/>
          <p:nvPr/>
        </p:nvSpPr>
        <p:spPr>
          <a:xfrm>
            <a:off x="1243584" y="2596896"/>
            <a:ext cx="1673352" cy="731520"/>
          </a:xfrm>
          <a:prstGeom prst="rect">
            <a:avLst/>
          </a:prstGeom>
          <a:solidFill>
            <a:srgbClr val="FFFFFF"/>
          </a:solidFill>
          <a:ln w="12700">
            <a:solidFill>
              <a:srgbClr val="C4B5FD"/>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6D28D9"/>
                </a:solidFill>
                <a:latin typeface="Microsoft YaHei"/>
              </a:defRPr>
            </a:pPr>
            <a:r>
              <a:t>ART 无锁前缀树</a:t>
            </a:r>
          </a:p>
          <a:p>
            <a:pPr algn="ctr">
              <a:spcBef>
                <a:spcPts val="200"/>
              </a:spcBef>
              <a:defRPr sz="780">
                <a:solidFill>
                  <a:srgbClr val="475569"/>
                </a:solidFill>
                <a:latin typeface="Microsoft YaHei"/>
              </a:defRPr>
            </a:pPr>
            <a:r>
              <a:t>自适应基数树快照</a:t>
            </a:r>
            <a:br/>
            <a:r>
              <a:t>P99 &lt; 2µs 本地遍历</a:t>
            </a:r>
          </a:p>
        </p:txBody>
      </p:sp>
      <p:sp>
        <p:nvSpPr>
          <p:cNvPr id="17" name="Rectangle 16"/>
          <p:cNvSpPr/>
          <p:nvPr/>
        </p:nvSpPr>
        <p:spPr>
          <a:xfrm>
            <a:off x="2962656" y="2596896"/>
            <a:ext cx="1673352" cy="731520"/>
          </a:xfrm>
          <a:prstGeom prst="rect">
            <a:avLst/>
          </a:prstGeom>
          <a:solidFill>
            <a:srgbClr val="FFFFFF"/>
          </a:solidFill>
          <a:ln w="12700">
            <a:solidFill>
              <a:srgbClr val="C4B5FD"/>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6D28D9"/>
                </a:solidFill>
                <a:latin typeface="Microsoft YaHei"/>
              </a:defRPr>
            </a:pPr>
            <a:r>
              <a:t>QueryPlan 选路决策</a:t>
            </a:r>
          </a:p>
          <a:p>
            <a:pPr algn="ctr">
              <a:spcBef>
                <a:spcPts val="200"/>
              </a:spcBef>
              <a:defRPr sz="780">
                <a:solidFill>
                  <a:srgbClr val="475569"/>
                </a:solidFill>
                <a:latin typeface="Microsoft YaHei"/>
              </a:defRPr>
            </a:pPr>
            <a:r>
              <a:t>CostEvaluator 成本模型</a:t>
            </a:r>
            <a:br/>
            <a:r>
              <a:t>净加速收益前置确认</a:t>
            </a:r>
          </a:p>
        </p:txBody>
      </p:sp>
      <p:sp>
        <p:nvSpPr>
          <p:cNvPr id="18" name="Rectangle 17"/>
          <p:cNvSpPr/>
          <p:nvPr/>
        </p:nvSpPr>
        <p:spPr>
          <a:xfrm>
            <a:off x="4681728" y="2596896"/>
            <a:ext cx="1673352" cy="731520"/>
          </a:xfrm>
          <a:prstGeom prst="rect">
            <a:avLst/>
          </a:prstGeom>
          <a:solidFill>
            <a:srgbClr val="FFFFFF"/>
          </a:solidFill>
          <a:ln w="12700">
            <a:solidFill>
              <a:srgbClr val="C4B5FD"/>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6D28D9"/>
                </a:solidFill>
                <a:latin typeface="Microsoft YaHei"/>
              </a:defRPr>
            </a:pPr>
            <a:r>
              <a:t>6维语义校验引擎</a:t>
            </a:r>
          </a:p>
          <a:p>
            <a:pPr algn="ctr">
              <a:spcBef>
                <a:spcPts val="200"/>
              </a:spcBef>
              <a:defRPr sz="780">
                <a:solidFill>
                  <a:srgbClr val="475569"/>
                </a:solidFill>
                <a:latin typeface="Microsoft YaHei"/>
              </a:defRPr>
            </a:pPr>
            <a:r>
              <a:t>ConsumeEligibility</a:t>
            </a:r>
            <a:br/>
            <a:r>
              <a:t>模型/词表/租约零错误消费</a:t>
            </a:r>
          </a:p>
        </p:txBody>
      </p:sp>
      <p:sp>
        <p:nvSpPr>
          <p:cNvPr id="19" name="Rectangle 18"/>
          <p:cNvSpPr/>
          <p:nvPr/>
        </p:nvSpPr>
        <p:spPr>
          <a:xfrm>
            <a:off x="6400800" y="2596896"/>
            <a:ext cx="1673352" cy="731520"/>
          </a:xfrm>
          <a:prstGeom prst="rect">
            <a:avLst/>
          </a:prstGeom>
          <a:solidFill>
            <a:srgbClr val="FFFFFF"/>
          </a:solidFill>
          <a:ln w="12700">
            <a:solidFill>
              <a:srgbClr val="C4B5FD"/>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6D28D9"/>
                </a:solidFill>
                <a:latin typeface="Microsoft YaHei"/>
              </a:defRPr>
            </a:pPr>
            <a:r>
              <a:t>分片目录集群</a:t>
            </a:r>
          </a:p>
          <a:p>
            <a:pPr algn="ctr">
              <a:spcBef>
                <a:spcPts val="200"/>
              </a:spcBef>
              <a:defRPr sz="780">
                <a:solidFill>
                  <a:srgbClr val="475569"/>
                </a:solidFill>
                <a:latin typeface="Microsoft YaHei"/>
              </a:defRPr>
            </a:pPr>
            <a:r>
              <a:t>kvc-directory 3节点共识</a:t>
            </a:r>
            <a:br/>
            <a:r>
              <a:t>Slot 0..1023 哈希分片发现</a:t>
            </a:r>
          </a:p>
        </p:txBody>
      </p:sp>
      <p:sp>
        <p:nvSpPr>
          <p:cNvPr id="20" name="Rectangle 19"/>
          <p:cNvSpPr/>
          <p:nvPr/>
        </p:nvSpPr>
        <p:spPr>
          <a:xfrm>
            <a:off x="1170432" y="3474720"/>
            <a:ext cx="6986016" cy="1097280"/>
          </a:xfrm>
          <a:prstGeom prst="rect">
            <a:avLst/>
          </a:prstGeom>
          <a:solidFill>
            <a:srgbClr val="ECFDF5"/>
          </a:solidFill>
          <a:ln w="15240">
            <a:solidFill>
              <a:srgbClr val="6EE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1170432" y="3474720"/>
            <a:ext cx="6986016" cy="25603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280160" y="3511296"/>
            <a:ext cx="6766560" cy="182880"/>
          </a:xfrm>
          <a:prstGeom prst="rect">
            <a:avLst/>
          </a:prstGeom>
          <a:noFill/>
        </p:spPr>
        <p:txBody>
          <a:bodyPr wrap="none" lIns="0" tIns="0" rIns="0" bIns="0">
            <a:spAutoFit/>
          </a:bodyPr>
          <a:lstStyle/>
          <a:p>
            <a:pPr>
              <a:defRPr sz="950" b="1">
                <a:solidFill>
                  <a:srgbClr val="FFFFFF"/>
                </a:solidFill>
                <a:latin typeface="Microsoft YaHei"/>
              </a:defRPr>
            </a:pPr>
            <a:r>
              <a:t>L3 原厂极速底座 (KPCL) · 统一总线通信与分层存储 · Host CPU 零数据拷贝</a:t>
            </a:r>
          </a:p>
        </p:txBody>
      </p:sp>
      <p:sp>
        <p:nvSpPr>
          <p:cNvPr id="23" name="Rectangle 22"/>
          <p:cNvSpPr/>
          <p:nvPr/>
        </p:nvSpPr>
        <p:spPr>
          <a:xfrm>
            <a:off x="1243584" y="3785616"/>
            <a:ext cx="1673352" cy="731520"/>
          </a:xfrm>
          <a:prstGeom prst="rect">
            <a:avLst/>
          </a:prstGeom>
          <a:solidFill>
            <a:srgbClr val="FFFFFF"/>
          </a:solidFill>
          <a:ln w="12700">
            <a:solidFill>
              <a:srgbClr val="6EE7B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059669"/>
                </a:solidFill>
                <a:latin typeface="Microsoft YaHei"/>
              </a:defRPr>
            </a:pPr>
            <a:r>
              <a:t>连续块清单描述符</a:t>
            </a:r>
          </a:p>
          <a:p>
            <a:pPr algn="ctr">
              <a:spcBef>
                <a:spcPts val="200"/>
              </a:spcBef>
              <a:defRPr sz="780">
                <a:solidFill>
                  <a:srgbClr val="475569"/>
                </a:solidFill>
                <a:latin typeface="Microsoft YaHei"/>
              </a:defRPr>
            </a:pPr>
            <a:r>
              <a:t>64B POD Extent 描述符</a:t>
            </a:r>
            <a:br/>
            <a:r>
              <a:t>O(N) 贪心合并降低开销</a:t>
            </a:r>
          </a:p>
        </p:txBody>
      </p:sp>
      <p:sp>
        <p:nvSpPr>
          <p:cNvPr id="24" name="Rectangle 23"/>
          <p:cNvSpPr/>
          <p:nvPr/>
        </p:nvSpPr>
        <p:spPr>
          <a:xfrm>
            <a:off x="2962656" y="3785616"/>
            <a:ext cx="1673352" cy="731520"/>
          </a:xfrm>
          <a:prstGeom prst="rect">
            <a:avLst/>
          </a:prstGeom>
          <a:solidFill>
            <a:srgbClr val="FFFFFF"/>
          </a:solidFill>
          <a:ln w="12700">
            <a:solidFill>
              <a:srgbClr val="6EE7B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059669"/>
                </a:solidFill>
                <a:latin typeface="Microsoft YaHei"/>
              </a:defRPr>
            </a:pPr>
            <a:r>
              <a:t>异步 DAG 边算边传</a:t>
            </a:r>
          </a:p>
          <a:p>
            <a:pPr algn="ctr">
              <a:spcBef>
                <a:spcPts val="200"/>
              </a:spcBef>
              <a:defRPr sz="780">
                <a:solidFill>
                  <a:srgbClr val="475569"/>
                </a:solidFill>
                <a:latin typeface="Microsoft YaHei"/>
              </a:defRPr>
            </a:pPr>
            <a:r>
              <a:t>NPU Stream/Event 编排</a:t>
            </a:r>
            <a:br/>
            <a:r>
              <a:t>消灭 85% 首字等待气泡</a:t>
            </a:r>
          </a:p>
        </p:txBody>
      </p:sp>
      <p:sp>
        <p:nvSpPr>
          <p:cNvPr id="25" name="Rectangle 24"/>
          <p:cNvSpPr/>
          <p:nvPr/>
        </p:nvSpPr>
        <p:spPr>
          <a:xfrm>
            <a:off x="4681728" y="3785616"/>
            <a:ext cx="1673352" cy="731520"/>
          </a:xfrm>
          <a:prstGeom prst="rect">
            <a:avLst/>
          </a:prstGeom>
          <a:solidFill>
            <a:srgbClr val="FFFFFF"/>
          </a:solidFill>
          <a:ln w="12700">
            <a:solidFill>
              <a:srgbClr val="6EE7B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059669"/>
                </a:solidFill>
                <a:latin typeface="Microsoft YaHei"/>
              </a:defRPr>
            </a:pPr>
            <a:r>
              <a:t>UBMEM 直读与 URMA</a:t>
            </a:r>
          </a:p>
          <a:p>
            <a:pPr algn="ctr">
              <a:spcBef>
                <a:spcPts val="200"/>
              </a:spcBef>
              <a:defRPr sz="780">
                <a:solidFill>
                  <a:srgbClr val="475569"/>
                </a:solidFill>
                <a:latin typeface="Microsoft YaHei"/>
              </a:defRPr>
            </a:pPr>
            <a:r>
              <a:t>Direct-View 跨卡直读</a:t>
            </a:r>
            <a:br/>
            <a:r>
              <a:t>DMA 直达 NPU HBM 显存</a:t>
            </a:r>
          </a:p>
        </p:txBody>
      </p:sp>
      <p:sp>
        <p:nvSpPr>
          <p:cNvPr id="26" name="Rectangle 25"/>
          <p:cNvSpPr/>
          <p:nvPr/>
        </p:nvSpPr>
        <p:spPr>
          <a:xfrm>
            <a:off x="6400800" y="3785616"/>
            <a:ext cx="1673352" cy="731520"/>
          </a:xfrm>
          <a:prstGeom prst="rect">
            <a:avLst/>
          </a:prstGeom>
          <a:solidFill>
            <a:srgbClr val="FFFFFF"/>
          </a:solidFill>
          <a:ln w="12700">
            <a:solidFill>
              <a:srgbClr val="6EE7B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059669"/>
                </a:solidFill>
                <a:latin typeface="Microsoft YaHei"/>
              </a:defRPr>
            </a:pPr>
            <a:r>
              <a:t>三介质分层存储</a:t>
            </a:r>
          </a:p>
          <a:p>
            <a:pPr algn="ctr">
              <a:spcBef>
                <a:spcPts val="200"/>
              </a:spcBef>
              <a:defRPr sz="780">
                <a:solidFill>
                  <a:srgbClr val="475569"/>
                </a:solidFill>
                <a:latin typeface="Microsoft YaHei"/>
              </a:defRPr>
            </a:pPr>
            <a:r>
              <a:t>HBM热执行 / DDR温扩展</a:t>
            </a:r>
            <a:br/>
            <a:r>
              <a:t>NVMe SSD 裸盘冷沉淀</a:t>
            </a:r>
          </a:p>
        </p:txBody>
      </p:sp>
      <p:sp>
        <p:nvSpPr>
          <p:cNvPr id="27" name="Rectangle 26"/>
          <p:cNvSpPr/>
          <p:nvPr/>
        </p:nvSpPr>
        <p:spPr>
          <a:xfrm>
            <a:off x="1170432" y="4663440"/>
            <a:ext cx="6986016" cy="1005840"/>
          </a:xfrm>
          <a:prstGeom prst="rect">
            <a:avLst/>
          </a:prstGeom>
          <a:solidFill>
            <a:srgbClr val="FFFBEB"/>
          </a:solidFill>
          <a:ln w="1524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1170432" y="4663440"/>
            <a:ext cx="6986016" cy="256032"/>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280160" y="4700016"/>
            <a:ext cx="6766560" cy="182880"/>
          </a:xfrm>
          <a:prstGeom prst="rect">
            <a:avLst/>
          </a:prstGeom>
          <a:noFill/>
        </p:spPr>
        <p:txBody>
          <a:bodyPr wrap="none" lIns="0" tIns="0" rIns="0" bIns="0">
            <a:spAutoFit/>
          </a:bodyPr>
          <a:lstStyle/>
          <a:p>
            <a:pPr>
              <a:defRPr sz="950" b="1">
                <a:solidFill>
                  <a:srgbClr val="FFFFFF"/>
                </a:solidFill>
                <a:latin typeface="Microsoft YaHei"/>
              </a:defRPr>
            </a:pPr>
            <a:r>
              <a:t>管理与可靠性保障 · etcd 持久配置 / 节点代理 kvc-node / 遥测探针</a:t>
            </a:r>
          </a:p>
        </p:txBody>
      </p:sp>
      <p:sp>
        <p:nvSpPr>
          <p:cNvPr id="30" name="Rectangle 29"/>
          <p:cNvSpPr/>
          <p:nvPr/>
        </p:nvSpPr>
        <p:spPr>
          <a:xfrm>
            <a:off x="1243584" y="4974336"/>
            <a:ext cx="1673352" cy="640080"/>
          </a:xfrm>
          <a:prstGeom prst="rect">
            <a:avLst/>
          </a:prstGeom>
          <a:solidFill>
            <a:srgbClr val="FFFFFF"/>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B45309"/>
                </a:solidFill>
                <a:latin typeface="Microsoft YaHei"/>
              </a:defRPr>
            </a:pPr>
            <a:r>
              <a:t>etcd 静态拓扑集群</a:t>
            </a:r>
          </a:p>
          <a:p>
            <a:pPr algn="ctr">
              <a:spcBef>
                <a:spcPts val="200"/>
              </a:spcBef>
              <a:defRPr sz="780">
                <a:solidFill>
                  <a:srgbClr val="475569"/>
                </a:solidFill>
                <a:latin typeface="Microsoft YaHei"/>
              </a:defRPr>
            </a:pPr>
            <a:r>
              <a:t>集群网络物理拓扑与配额</a:t>
            </a:r>
            <a:br/>
            <a:r>
              <a:t>极低频写入，绝不入热路径</a:t>
            </a:r>
          </a:p>
        </p:txBody>
      </p:sp>
      <p:sp>
        <p:nvSpPr>
          <p:cNvPr id="31" name="Rectangle 30"/>
          <p:cNvSpPr/>
          <p:nvPr/>
        </p:nvSpPr>
        <p:spPr>
          <a:xfrm>
            <a:off x="2962656" y="4974336"/>
            <a:ext cx="1673352" cy="640080"/>
          </a:xfrm>
          <a:prstGeom prst="rect">
            <a:avLst/>
          </a:prstGeom>
          <a:solidFill>
            <a:srgbClr val="FFFFFF"/>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B45309"/>
                </a:solidFill>
                <a:latin typeface="Microsoft YaHei"/>
              </a:defRPr>
            </a:pPr>
            <a:r>
              <a:t>节点代理 kvc-node</a:t>
            </a:r>
          </a:p>
          <a:p>
            <a:pPr algn="ctr">
              <a:spcBef>
                <a:spcPts val="200"/>
              </a:spcBef>
              <a:defRPr sz="780">
                <a:solidFill>
                  <a:srgbClr val="475569"/>
                </a:solidFill>
                <a:latin typeface="Microsoft YaHei"/>
              </a:defRPr>
            </a:pPr>
            <a:r>
              <a:t>POSIX 共享内存租约 Epoch</a:t>
            </a:r>
            <a:br/>
            <a:r>
              <a:t>能力矩阵快照与介质分配</a:t>
            </a:r>
          </a:p>
        </p:txBody>
      </p:sp>
      <p:sp>
        <p:nvSpPr>
          <p:cNvPr id="32" name="Rectangle 31"/>
          <p:cNvSpPr/>
          <p:nvPr/>
        </p:nvSpPr>
        <p:spPr>
          <a:xfrm>
            <a:off x="4681728" y="4974336"/>
            <a:ext cx="1673352" cy="640080"/>
          </a:xfrm>
          <a:prstGeom prst="rect">
            <a:avLst/>
          </a:prstGeom>
          <a:solidFill>
            <a:srgbClr val="FFFFFF"/>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B45309"/>
                </a:solidFill>
                <a:latin typeface="Microsoft YaHei"/>
              </a:defRPr>
            </a:pPr>
            <a:r>
              <a:t>ViewGuard 容错守卫</a:t>
            </a:r>
          </a:p>
          <a:p>
            <a:pPr algn="ctr">
              <a:spcBef>
                <a:spcPts val="200"/>
              </a:spcBef>
              <a:defRPr sz="780">
                <a:solidFill>
                  <a:srgbClr val="475569"/>
                </a:solidFill>
                <a:latin typeface="Microsoft YaHei"/>
              </a:defRPr>
            </a:pPr>
            <a:r>
              <a:t>跨节点直读 SIGBUS 捕获</a:t>
            </a:r>
            <a:br/>
            <a:r>
              <a:t>500µs 极速跳出回退本地重算</a:t>
            </a:r>
          </a:p>
        </p:txBody>
      </p:sp>
      <p:sp>
        <p:nvSpPr>
          <p:cNvPr id="33" name="Rectangle 32"/>
          <p:cNvSpPr/>
          <p:nvPr/>
        </p:nvSpPr>
        <p:spPr>
          <a:xfrm>
            <a:off x="6400800" y="4974336"/>
            <a:ext cx="1673352" cy="640080"/>
          </a:xfrm>
          <a:prstGeom prst="rect">
            <a:avLst/>
          </a:prstGeom>
          <a:solidFill>
            <a:srgbClr val="FFFFFF"/>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880" b="1">
                <a:solidFill>
                  <a:srgbClr val="B45309"/>
                </a:solidFill>
                <a:latin typeface="Microsoft YaHei"/>
              </a:defRPr>
            </a:pPr>
            <a:r>
              <a:t>遥测探针与 QoS 隔离</a:t>
            </a:r>
          </a:p>
          <a:p>
            <a:pPr algn="ctr">
              <a:spcBef>
                <a:spcPts val="200"/>
              </a:spcBef>
              <a:defRPr sz="780">
                <a:solidFill>
                  <a:srgbClr val="475569"/>
                </a:solidFill>
                <a:latin typeface="Microsoft YaHei"/>
              </a:defRPr>
            </a:pPr>
            <a:r>
              <a:t>Telemetry 微秒级探针</a:t>
            </a:r>
            <a:br/>
            <a:r>
              <a:t>TC0/TC1 硬件优先级映射</a:t>
            </a:r>
          </a:p>
        </p:txBody>
      </p:sp>
      <p:sp>
        <p:nvSpPr>
          <p:cNvPr id="34" name="Rectangle 33"/>
          <p:cNvSpPr/>
          <p:nvPr/>
        </p:nvSpPr>
        <p:spPr>
          <a:xfrm>
            <a:off x="9006840" y="1078992"/>
            <a:ext cx="2724912"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9006840" y="1078992"/>
            <a:ext cx="2724912"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116568" y="1115568"/>
            <a:ext cx="2505456" cy="292608"/>
          </a:xfrm>
          <a:prstGeom prst="rect">
            <a:avLst/>
          </a:prstGeom>
          <a:noFill/>
        </p:spPr>
        <p:txBody>
          <a:bodyPr wrap="none" lIns="0" tIns="0" rIns="0" bIns="0">
            <a:spAutoFit/>
          </a:bodyPr>
          <a:lstStyle/>
          <a:p>
            <a:pPr>
              <a:defRPr sz="1150" b="1">
                <a:solidFill>
                  <a:srgbClr val="FFFFFF"/>
                </a:solidFill>
                <a:latin typeface="Microsoft YaHei"/>
              </a:defRPr>
            </a:pPr>
            <a:r>
              <a:t>核心架构边界与职责划分</a:t>
            </a:r>
          </a:p>
        </p:txBody>
      </p:sp>
      <p:sp>
        <p:nvSpPr>
          <p:cNvPr id="37" name="TextBox 36"/>
          <p:cNvSpPr txBox="1"/>
          <p:nvPr/>
        </p:nvSpPr>
        <p:spPr>
          <a:xfrm>
            <a:off x="9006840" y="1463040"/>
            <a:ext cx="2724912" cy="4270248"/>
          </a:xfrm>
          <a:prstGeom prst="rect">
            <a:avLst/>
          </a:prstGeom>
          <a:noFill/>
        </p:spPr>
        <p:txBody>
          <a:bodyPr wrap="square" lIns="73152" tIns="73152" rIns="73152" bIns="73152">
            <a:spAutoFit/>
          </a:bodyPr>
          <a:lstStyle/>
          <a:p>
            <a:pPr>
              <a:lnSpc>
                <a:spcPct val="120000"/>
              </a:lnSpc>
              <a:spcAft>
                <a:spcPts val="600"/>
              </a:spcAft>
            </a:pPr>
            <a:r>
              <a:rPr sz="1019" b="1">
                <a:solidFill>
                  <a:srgbClr val="1E3A8A"/>
                </a:solidFill>
                <a:latin typeface="Microsoft YaHei"/>
              </a:rPr>
              <a:t>▸ L1 框架接入层：</a:t>
            </a:r>
            <a:r>
              <a:rPr sz="1019">
                <a:solidFill>
                  <a:srgbClr val="1E293B"/>
                </a:solidFill>
                <a:latin typeface="Microsoft YaHei"/>
              </a:rPr>
              <a:t>创建虚拟挂载句柄捕获意图；执行显存归推理框架独占，KVC 绝不越权接管算子显存</a:t>
            </a:r>
          </a:p>
          <a:p>
            <a:pPr>
              <a:lnSpc>
                <a:spcPct val="120000"/>
              </a:lnSpc>
              <a:spcAft>
                <a:spcPts val="600"/>
              </a:spcAft>
            </a:pPr>
            <a:r>
              <a:rPr sz="1019" b="1">
                <a:solidFill>
                  <a:srgbClr val="1E3A8A"/>
                </a:solidFill>
                <a:latin typeface="Microsoft YaHei"/>
              </a:rPr>
              <a:t>▸ L2 控制决策层：</a:t>
            </a:r>
            <a:r>
              <a:rPr sz="1019">
                <a:solidFill>
                  <a:srgbClr val="1E293B"/>
                </a:solidFill>
                <a:latin typeface="Microsoft YaHei"/>
              </a:rPr>
              <a:t>无锁 ART 树快速检索前缀，核验 6 维语义一致性并签发租约；微秒选路不碰正文 (P99 &lt; 5µs)</a:t>
            </a:r>
          </a:p>
          <a:p>
            <a:pPr>
              <a:lnSpc>
                <a:spcPct val="120000"/>
              </a:lnSpc>
              <a:spcAft>
                <a:spcPts val="600"/>
              </a:spcAft>
            </a:pPr>
            <a:r>
              <a:rPr sz="1019" b="1">
                <a:solidFill>
                  <a:srgbClr val="1E3A8A"/>
                </a:solidFill>
                <a:latin typeface="Microsoft YaHei"/>
              </a:rPr>
              <a:t>▸ L3 分层存储层：</a:t>
            </a:r>
            <a:r>
              <a:rPr sz="1019">
                <a:solidFill>
                  <a:srgbClr val="1E293B"/>
                </a:solidFill>
                <a:latin typeface="Microsoft YaHei"/>
              </a:rPr>
              <a:t>统一维护对象全局分布，离散块贪心编译为 64B POD 描述符，协同三介质状态机流转</a:t>
            </a:r>
          </a:p>
          <a:p>
            <a:pPr>
              <a:lnSpc>
                <a:spcPct val="120000"/>
              </a:lnSpc>
              <a:spcAft>
                <a:spcPts val="600"/>
              </a:spcAft>
            </a:pPr>
            <a:r>
              <a:rPr sz="1019" b="1">
                <a:solidFill>
                  <a:srgbClr val="1E3A8A"/>
                </a:solidFill>
                <a:latin typeface="Microsoft YaHei"/>
              </a:rPr>
              <a:t>▸ L4 极速底座层：</a:t>
            </a:r>
            <a:r>
              <a:rPr sz="1019">
                <a:solidFill>
                  <a:srgbClr val="1E293B"/>
                </a:solidFill>
                <a:latin typeface="Microsoft YaHei"/>
              </a:rPr>
              <a:t>原厂通信库 (KPCL) 封装底层总线与裸盘，以硬件 DMA 直达显存，Host CPU 零数据拷贝</a:t>
            </a:r>
          </a:p>
          <a:p>
            <a:pPr>
              <a:lnSpc>
                <a:spcPct val="120000"/>
              </a:lnSpc>
              <a:spcAft>
                <a:spcPts val="600"/>
              </a:spcAft>
            </a:pPr>
            <a:r>
              <a:rPr sz="1019" b="1">
                <a:solidFill>
                  <a:srgbClr val="1E3A8A"/>
                </a:solidFill>
                <a:latin typeface="Microsoft YaHei"/>
              </a:rPr>
              <a:t>▸ 三面物理隔离：</a:t>
            </a:r>
            <a:r>
              <a:rPr sz="1019">
                <a:solidFill>
                  <a:srgbClr val="1E293B"/>
                </a:solidFill>
                <a:latin typeface="Microsoft YaHei"/>
              </a:rPr>
              <a:t>管理层独立部署不进单请求路径；控制面纯信令处理；数据面队列隔离，前台 TPOT 干扰率 &lt; 3%</a:t>
            </a:r>
          </a:p>
        </p:txBody>
      </p:sp>
      <p:sp>
        <p:nvSpPr>
          <p:cNvPr id="38" name="Rectangle 37"/>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控制面微秒决策与数据面零拷贝双流分离；执行 HBM 归框架，KVC 负责跨节点分层调度。</a:t>
            </a:r>
            <a:r>
              <a:rPr sz="1150" b="1">
                <a:solidFill>
                  <a:srgbClr val="DC2626"/>
                </a:solidFill>
                <a:latin typeface="Microsoft YaHei"/>
              </a:rPr>
              <a:t>
Host CPU 负责控制下发，数据搬运通过硬件直通绕过主机内存。</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专题二：系统部署拓扑、进程实体分布与推理框架集成</a:t>
            </a:r>
          </a:p>
          <a:p>
            <a:pPr>
              <a:spcBef>
                <a:spcPts val="300"/>
              </a:spcBef>
              <a:defRPr sz="1100">
                <a:solidFill>
                  <a:srgbClr val="475569"/>
                </a:solidFill>
                <a:latin typeface="Microsoft YaHei"/>
              </a:defRPr>
            </a:pPr>
            <a:r>
              <a:t>解耦管理/计算/存储三类物理节点，运行库动态内嵌推理主进程，节点代理独占绑核通过共享内存微秒交互</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05 / 16 页</a:t>
            </a:r>
          </a:p>
        </p:txBody>
      </p:sp>
      <p:sp>
        <p:nvSpPr>
          <p:cNvPr id="4" name="Rectangle 3"/>
          <p:cNvSpPr/>
          <p:nvPr/>
        </p:nvSpPr>
        <p:spPr>
          <a:xfrm>
            <a:off x="457200" y="1078992"/>
            <a:ext cx="6949440"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02_kvc_cluster_topology_and_processes.png"/>
          <p:cNvPicPr>
            <a:picLocks noChangeAspect="1"/>
          </p:cNvPicPr>
          <p:nvPr/>
        </p:nvPicPr>
        <p:blipFill>
          <a:blip r:embed="rId3"/>
          <a:stretch>
            <a:fillRect/>
          </a:stretch>
        </p:blipFill>
        <p:spPr>
          <a:xfrm>
            <a:off x="493776" y="1126768"/>
            <a:ext cx="6876288" cy="4586176"/>
          </a:xfrm>
          <a:prstGeom prst="rect">
            <a:avLst/>
          </a:prstGeom>
        </p:spPr>
      </p:pic>
      <p:sp>
        <p:nvSpPr>
          <p:cNvPr id="6" name="Rectangle 5"/>
          <p:cNvSpPr/>
          <p:nvPr/>
        </p:nvSpPr>
        <p:spPr>
          <a:xfrm>
            <a:off x="7543800" y="1078992"/>
            <a:ext cx="4187952"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543800" y="1078992"/>
            <a:ext cx="4187952"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53528" y="1115568"/>
            <a:ext cx="3968496" cy="274320"/>
          </a:xfrm>
          <a:prstGeom prst="rect">
            <a:avLst/>
          </a:prstGeom>
          <a:noFill/>
        </p:spPr>
        <p:txBody>
          <a:bodyPr wrap="none" lIns="0" tIns="0" rIns="0" bIns="0">
            <a:spAutoFit/>
          </a:bodyPr>
          <a:lstStyle/>
          <a:p>
            <a:pPr>
              <a:defRPr sz="1120" b="1">
                <a:solidFill>
                  <a:srgbClr val="FFFFFF"/>
                </a:solidFill>
                <a:latin typeface="Microsoft YaHei"/>
              </a:defRPr>
            </a:pPr>
            <a:r>
              <a:t>系统部署形态、进程从属与交互机制</a:t>
            </a:r>
          </a:p>
        </p:txBody>
      </p:sp>
      <p:sp>
        <p:nvSpPr>
          <p:cNvPr id="9" name="TextBox 8"/>
          <p:cNvSpPr txBox="1"/>
          <p:nvPr/>
        </p:nvSpPr>
        <p:spPr>
          <a:xfrm>
            <a:off x="7543800" y="1444752"/>
            <a:ext cx="4187952" cy="4297680"/>
          </a:xfrm>
          <a:prstGeom prst="rect">
            <a:avLst/>
          </a:prstGeom>
          <a:noFill/>
        </p:spPr>
        <p:txBody>
          <a:bodyPr wrap="square" lIns="73152" tIns="73152" rIns="73152" bIns="73152">
            <a:spAutoFit/>
          </a:bodyPr>
          <a:lstStyle/>
          <a:p>
            <a:pPr>
              <a:lnSpc>
                <a:spcPct val="114000"/>
              </a:lnSpc>
              <a:spcAft>
                <a:spcPts val="300"/>
              </a:spcAft>
            </a:pPr>
            <a:r>
              <a:rPr sz="860" b="1">
                <a:solidFill>
                  <a:srgbClr val="1E3A8A"/>
                </a:solidFill>
                <a:latin typeface="Microsoft YaHei"/>
              </a:rPr>
              <a:t>▸ 1. 物理设备与节点清晰划分：</a:t>
            </a:r>
            <a:r>
              <a:rPr sz="860">
                <a:solidFill>
                  <a:srgbClr val="1E293B"/>
                </a:solidFill>
                <a:latin typeface="Microsoft YaHei"/>
              </a:rPr>
              <a:t>• 管理节点集群 (独立 CPU 服务器)：部署 kvc-controller (管控)、kvc-directory (分片目录) 与 etcd (持久配置)，绝对禁入单请求热路径；
• 计算节点集群 (8卡 NPU 服务器)：部署推理主进程与内嵌运行库，承载微秒在线推理；
• 存储节点集群 (可选 NVMe 盘阵)：部署存储代理 kvc-node，纳管冷 KV 沉淀</a:t>
            </a:r>
          </a:p>
          <a:p>
            <a:pPr>
              <a:lnSpc>
                <a:spcPct val="114000"/>
              </a:lnSpc>
              <a:spcAft>
                <a:spcPts val="300"/>
              </a:spcAft>
            </a:pPr>
            <a:r>
              <a:rPr sz="860" b="1">
                <a:solidFill>
                  <a:srgbClr val="1E3A8A"/>
                </a:solidFill>
                <a:latin typeface="Microsoft YaHei"/>
              </a:rPr>
              <a:t>▸ 2. 推理框架集成与进程从属：</a:t>
            </a:r>
            <a:r>
              <a:rPr sz="860">
                <a:solidFill>
                  <a:srgbClr val="1E293B"/>
                </a:solidFill>
                <a:latin typeface="Microsoft YaHei"/>
              </a:rPr>
              <a:t>• 框架主进程：vLLM / SGLang 作为独立 OS 进程运行，独占管理本地执行 HBM 块表，KVC 绝不越权接管算子显存；
• 动态内嵌运行库：libkvc_runtime.so 以动态库直接内嵌在框架工作进程内部，同进程快查前缀树与成本决策，零跨进程 IPC 损耗</a:t>
            </a:r>
          </a:p>
          <a:p>
            <a:pPr>
              <a:lnSpc>
                <a:spcPct val="114000"/>
              </a:lnSpc>
              <a:spcAft>
                <a:spcPts val="300"/>
              </a:spcAft>
            </a:pPr>
            <a:r>
              <a:rPr sz="860" b="1">
                <a:solidFill>
                  <a:srgbClr val="1E3A8A"/>
                </a:solidFill>
                <a:latin typeface="Microsoft YaHei"/>
              </a:rPr>
              <a:t>▸ 3. 独立守护进程与共享内存交互：</a:t>
            </a:r>
            <a:r>
              <a:rPr sz="860">
                <a:solidFill>
                  <a:srgbClr val="1E293B"/>
                </a:solidFill>
                <a:latin typeface="Microsoft YaHei"/>
              </a:rPr>
              <a:t>• 节点守护代理：kvc-node 作为独立常驻守护进程独占绑定 2 个物理核，管理本地介质分配与显存水位；
• 微秒信令通道：通过 POSIX 共享内存与工作进程交互，仲裁租约代际 (Epoch)，交互耗时 P99 &lt; 50µs</a:t>
            </a:r>
          </a:p>
          <a:p>
            <a:pPr>
              <a:lnSpc>
                <a:spcPct val="114000"/>
              </a:lnSpc>
              <a:spcAft>
                <a:spcPts val="300"/>
              </a:spcAft>
            </a:pPr>
            <a:r>
              <a:rPr sz="860" b="1">
                <a:solidFill>
                  <a:srgbClr val="1E3A8A"/>
                </a:solidFill>
                <a:latin typeface="Microsoft YaHei"/>
              </a:rPr>
              <a:t>▸ 4. 原厂底座与零数据拷贝直通：</a:t>
            </a:r>
            <a:r>
              <a:rPr sz="860">
                <a:solidFill>
                  <a:srgbClr val="1E293B"/>
                </a:solidFill>
                <a:latin typeface="Microsoft YaHei"/>
              </a:rPr>
              <a:t>• 原厂底座 (KPCL)：向下封装 UBMEM 总线直读与 URMA DMA 驱动；
• 数据面零拷贝：正文由硬件 DMA 直达 NPU HBM 显存，严格绕过主机内存 (Payload Bypass DDR)，消除 CPU 内存争用</a:t>
            </a:r>
          </a:p>
          <a:p>
            <a:pPr>
              <a:lnSpc>
                <a:spcPct val="114000"/>
              </a:lnSpc>
              <a:spcAft>
                <a:spcPts val="300"/>
              </a:spcAft>
            </a:pPr>
            <a:r>
              <a:rPr sz="860" b="1">
                <a:solidFill>
                  <a:srgbClr val="1E3A8A"/>
                </a:solidFill>
                <a:latin typeface="Microsoft YaHei"/>
              </a:rPr>
              <a:t>▸ 5. 故障域隔离与本地快照兜底：</a:t>
            </a:r>
            <a:r>
              <a:rPr sz="860">
                <a:solidFill>
                  <a:srgbClr val="1E293B"/>
                </a:solidFill>
                <a:latin typeface="Microsoft YaHei"/>
              </a:rPr>
              <a:t>• 静态配置本地化：计算节点启动时已全量载入集群拓扑与租户配额等静态配置至本地内存快照；
• 故障独立解耦：管理节点通信异常或主备切换时，计算节点读取本地配置快照无缝运行，绝不干扰在线推理</a:t>
            </a:r>
          </a:p>
        </p:txBody>
      </p:sp>
      <p:sp>
        <p:nvSpPr>
          <p:cNvPr id="10" name="Rectangle 9"/>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系统清晰解耦管理、计算与存储节点；libkvc_runtime 以动态库直接内嵌推理工作进程（零跨进程 IPC 损耗）。</a:t>
            </a:r>
            <a:r>
              <a:rPr sz="1150" b="1">
                <a:solidFill>
                  <a:srgbClr val="DC2626"/>
                </a:solidFill>
                <a:latin typeface="Microsoft YaHei"/>
              </a:rPr>
              <a:t>
kvc-node 独占绑核并通过共享内存微秒交互；数据流由硬件 DMA 直达 NPU HBM 显存并严格绕过主机内存 (Bypass DDR)。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专题三：推理请求从前缀查询到安全接入 9 步微秒时序</a:t>
            </a:r>
          </a:p>
          <a:p>
            <a:pPr>
              <a:spcBef>
                <a:spcPts val="300"/>
              </a:spcBef>
              <a:defRPr sz="1100">
                <a:solidFill>
                  <a:srgbClr val="475569"/>
                </a:solidFill>
                <a:latin typeface="Microsoft YaHei"/>
              </a:defRPr>
            </a:pPr>
            <a:r>
              <a:t>严格经历意图下发、候选发现、语义校验、成本决策、硬件直达与安全挂载 9 步闭环</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06 / 16 页</a:t>
            </a:r>
          </a:p>
        </p:txBody>
      </p:sp>
      <p:sp>
        <p:nvSpPr>
          <p:cNvPr id="4" name="Rectangle 3"/>
          <p:cNvSpPr/>
          <p:nvPr/>
        </p:nvSpPr>
        <p:spPr>
          <a:xfrm>
            <a:off x="457200" y="1078992"/>
            <a:ext cx="6949440"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03_kvc_request_to_attach_sequence_flow.png"/>
          <p:cNvPicPr>
            <a:picLocks noChangeAspect="1"/>
          </p:cNvPicPr>
          <p:nvPr/>
        </p:nvPicPr>
        <p:blipFill>
          <a:blip r:embed="rId3"/>
          <a:stretch>
            <a:fillRect/>
          </a:stretch>
        </p:blipFill>
        <p:spPr>
          <a:xfrm>
            <a:off x="493776" y="1169434"/>
            <a:ext cx="6876288" cy="4500843"/>
          </a:xfrm>
          <a:prstGeom prst="rect">
            <a:avLst/>
          </a:prstGeom>
        </p:spPr>
      </p:pic>
      <p:sp>
        <p:nvSpPr>
          <p:cNvPr id="6" name="Rectangle 5"/>
          <p:cNvSpPr/>
          <p:nvPr/>
        </p:nvSpPr>
        <p:spPr>
          <a:xfrm>
            <a:off x="7543800" y="1078992"/>
            <a:ext cx="4187952"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543800" y="1078992"/>
            <a:ext cx="4187952"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53528" y="1115568"/>
            <a:ext cx="3968496" cy="274320"/>
          </a:xfrm>
          <a:prstGeom prst="rect">
            <a:avLst/>
          </a:prstGeom>
          <a:noFill/>
        </p:spPr>
        <p:txBody>
          <a:bodyPr wrap="none" lIns="0" tIns="0" rIns="0" bIns="0">
            <a:spAutoFit/>
          </a:bodyPr>
          <a:lstStyle/>
          <a:p>
            <a:pPr>
              <a:defRPr sz="1120" b="1">
                <a:solidFill>
                  <a:srgbClr val="FFFFFF"/>
                </a:solidFill>
                <a:latin typeface="Microsoft YaHei"/>
              </a:defRPr>
            </a:pPr>
            <a:r>
              <a:t>9 步时序因果链、性能瓶颈与优化手段</a:t>
            </a:r>
          </a:p>
        </p:txBody>
      </p:sp>
      <p:sp>
        <p:nvSpPr>
          <p:cNvPr id="9" name="TextBox 8"/>
          <p:cNvSpPr txBox="1"/>
          <p:nvPr/>
        </p:nvSpPr>
        <p:spPr>
          <a:xfrm>
            <a:off x="7543800" y="1444752"/>
            <a:ext cx="4187952" cy="4297680"/>
          </a:xfrm>
          <a:prstGeom prst="rect">
            <a:avLst/>
          </a:prstGeom>
          <a:noFill/>
        </p:spPr>
        <p:txBody>
          <a:bodyPr wrap="square" lIns="73152" tIns="73152" rIns="73152" bIns="73152">
            <a:spAutoFit/>
          </a:bodyPr>
          <a:lstStyle/>
          <a:p>
            <a:pPr>
              <a:lnSpc>
                <a:spcPct val="120000"/>
              </a:lnSpc>
              <a:spcAft>
                <a:spcPts val="400"/>
              </a:spcAft>
            </a:pPr>
            <a:r>
              <a:rPr sz="880" b="1">
                <a:solidFill>
                  <a:srgbClr val="1E3A8A"/>
                </a:solidFill>
                <a:latin typeface="Microsoft YaHei"/>
              </a:rPr>
              <a:t>▸ ① 注册意图与预算：</a:t>
            </a:r>
            <a:r>
              <a:rPr sz="880">
                <a:solidFill>
                  <a:srgbClr val="1E293B"/>
                </a:solidFill>
                <a:latin typeface="Microsoft YaHei"/>
              </a:rPr>
              <a:t>瓶颈：跨进程 RPC 穿透预算 ｜ 优化：进程内运行库创建轻量虚拟挂载句柄，零 IPC 损耗</a:t>
            </a:r>
          </a:p>
          <a:p>
            <a:pPr>
              <a:lnSpc>
                <a:spcPct val="120000"/>
              </a:lnSpc>
              <a:spcAft>
                <a:spcPts val="400"/>
              </a:spcAft>
            </a:pPr>
            <a:r>
              <a:rPr sz="880" b="1">
                <a:solidFill>
                  <a:srgbClr val="1E3A8A"/>
                </a:solidFill>
                <a:latin typeface="Microsoft YaHei"/>
              </a:rPr>
              <a:t>▸ ② 批量前缀查询：</a:t>
            </a:r>
            <a:r>
              <a:rPr sz="880">
                <a:solidFill>
                  <a:srgbClr val="1E293B"/>
                </a:solidFill>
                <a:latin typeface="Microsoft YaHei"/>
              </a:rPr>
              <a:t>瓶颈：单 Token 串行匹配慢且易打满目录 ｜ 优化：多 Token 批量哈希，本地二级缓存削峰 80%</a:t>
            </a:r>
          </a:p>
          <a:p>
            <a:pPr>
              <a:lnSpc>
                <a:spcPct val="120000"/>
              </a:lnSpc>
              <a:spcAft>
                <a:spcPts val="400"/>
              </a:spcAft>
            </a:pPr>
            <a:r>
              <a:rPr sz="880" b="1">
                <a:solidFill>
                  <a:srgbClr val="1E3A8A"/>
                </a:solidFill>
                <a:latin typeface="Microsoft YaHei"/>
              </a:rPr>
              <a:t>▸ ③ 匹配候选定位：</a:t>
            </a:r>
            <a:r>
              <a:rPr sz="880">
                <a:solidFill>
                  <a:srgbClr val="1E293B"/>
                </a:solidFill>
                <a:latin typeface="Microsoft YaHei"/>
              </a:rPr>
              <a:t>瓶颈：集中式目录锁争用与广播风暴 ｜ 优化：1024 槽哈希分片，Follower 只读镜像检索 (P99 &lt; 200µs)</a:t>
            </a:r>
          </a:p>
          <a:p>
            <a:pPr>
              <a:lnSpc>
                <a:spcPct val="120000"/>
              </a:lnSpc>
              <a:spcAft>
                <a:spcPts val="400"/>
              </a:spcAft>
            </a:pPr>
            <a:r>
              <a:rPr sz="880" b="1">
                <a:solidFill>
                  <a:srgbClr val="1E3A8A"/>
                </a:solidFill>
                <a:latin typeface="Microsoft YaHei"/>
              </a:rPr>
              <a:t>▸ ④ 申请语义租约：</a:t>
            </a:r>
            <a:r>
              <a:rPr sz="880">
                <a:solidFill>
                  <a:srgbClr val="1E293B"/>
                </a:solidFill>
                <a:latin typeface="Microsoft YaHei"/>
              </a:rPr>
              <a:t>瓶颈：高频申请引发全局原子变量争用 ｜ 优化：POSIX 共享内存分段锁与无锁位图，本地预留计数</a:t>
            </a:r>
          </a:p>
          <a:p>
            <a:pPr>
              <a:lnSpc>
                <a:spcPct val="120000"/>
              </a:lnSpc>
              <a:spcAft>
                <a:spcPts val="400"/>
              </a:spcAft>
            </a:pPr>
            <a:r>
              <a:rPr sz="880" b="1">
                <a:solidFill>
                  <a:srgbClr val="1E3A8A"/>
                </a:solidFill>
                <a:latin typeface="Microsoft YaHei"/>
              </a:rPr>
              <a:t>▸ ⑤ 授权与锁回收：</a:t>
            </a:r>
            <a:r>
              <a:rPr sz="880">
                <a:solidFill>
                  <a:srgbClr val="1E293B"/>
                </a:solidFill>
                <a:latin typeface="Microsoft YaHei"/>
              </a:rPr>
              <a:t>瓶颈：并发读写导致读到脏块或被回收 ｜ 优化：核验 6 维语义一致性后签发 LeaseToken，锁定回收屏障</a:t>
            </a:r>
          </a:p>
          <a:p>
            <a:pPr>
              <a:lnSpc>
                <a:spcPct val="120000"/>
              </a:lnSpc>
              <a:spcAft>
                <a:spcPts val="400"/>
              </a:spcAft>
            </a:pPr>
            <a:r>
              <a:rPr sz="880" b="1">
                <a:solidFill>
                  <a:srgbClr val="1E3A8A"/>
                </a:solidFill>
                <a:latin typeface="Microsoft YaHei"/>
              </a:rPr>
              <a:t>▸ ⑥ 成本决策编译：</a:t>
            </a:r>
            <a:r>
              <a:rPr sz="880">
                <a:solidFill>
                  <a:srgbClr val="1E293B"/>
                </a:solidFill>
                <a:latin typeface="Microsoft YaHei"/>
              </a:rPr>
              <a:t>瓶颈：离散块反复跨语言序列化 ｜ 优化：QueryPlan 成本模型核验净收益，O(N) 贪心编译 64B POD 描述符</a:t>
            </a:r>
          </a:p>
          <a:p>
            <a:pPr>
              <a:lnSpc>
                <a:spcPct val="120000"/>
              </a:lnSpc>
              <a:spcAft>
                <a:spcPts val="400"/>
              </a:spcAft>
            </a:pPr>
            <a:r>
              <a:rPr sz="880" b="1">
                <a:solidFill>
                  <a:srgbClr val="1E3A8A"/>
                </a:solidFill>
                <a:latin typeface="Microsoft YaHei"/>
              </a:rPr>
              <a:t>▸ ⑦ 散聚传输直达：</a:t>
            </a:r>
            <a:r>
              <a:rPr sz="880">
                <a:solidFill>
                  <a:srgbClr val="1E293B"/>
                </a:solidFill>
                <a:latin typeface="Microsoft YaHei"/>
              </a:rPr>
              <a:t>瓶颈：CPU 搬运导致 DDR 带宽打满与争用 ｜ 优化：KPCL 驱动 DMA 直通显存，绕过主机内存 (Bypass DDR)</a:t>
            </a:r>
          </a:p>
          <a:p>
            <a:pPr>
              <a:lnSpc>
                <a:spcPct val="120000"/>
              </a:lnSpc>
              <a:spcAft>
                <a:spcPts val="400"/>
              </a:spcAft>
            </a:pPr>
            <a:r>
              <a:rPr sz="880" b="1">
                <a:solidFill>
                  <a:srgbClr val="1E3A8A"/>
                </a:solidFill>
                <a:latin typeface="Microsoft YaHei"/>
              </a:rPr>
              <a:t>▸ ⑧ 可见性多卡对账：</a:t>
            </a:r>
            <a:r>
              <a:rPr sz="880">
                <a:solidFill>
                  <a:srgbClr val="1E293B"/>
                </a:solidFill>
                <a:latin typeface="Microsoft YaHei"/>
              </a:rPr>
              <a:t>瓶颈：TP=8 时序差引发木桶等待与死锁 ｜ 优化：硬件 CQE 与共享内存单次原子 Doorbell 同步完成状态 (P99 &lt; 100µs)</a:t>
            </a:r>
          </a:p>
          <a:p>
            <a:pPr>
              <a:lnSpc>
                <a:spcPct val="120000"/>
              </a:lnSpc>
              <a:spcAft>
                <a:spcPts val="400"/>
              </a:spcAft>
            </a:pPr>
            <a:r>
              <a:rPr sz="880" b="1">
                <a:solidFill>
                  <a:srgbClr val="1E3A8A"/>
                </a:solidFill>
                <a:latin typeface="Microsoft YaHei"/>
              </a:rPr>
              <a:t>▸ ⑨ 安全生效挂载：</a:t>
            </a:r>
            <a:r>
              <a:rPr sz="880">
                <a:solidFill>
                  <a:srgbClr val="1E293B"/>
                </a:solidFill>
                <a:latin typeface="Microsoft YaHei"/>
              </a:rPr>
              <a:t>瓶颈：显存越界踩踏或挂载未完成块 ｜ 优化：核验硬件证据后原子挂载至 PagedAttention 块表，失败主动回退</a:t>
            </a:r>
          </a:p>
        </p:txBody>
      </p:sp>
      <p:sp>
        <p:nvSpPr>
          <p:cNvPr id="10" name="Rectangle 9"/>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目录候选发现与消费授权严格分离，数据接入前必须通过 6 维语义租约校验与硬件 CQE 可见性证据对账；全流程经历 9 步微秒因果链闭环。</a:t>
            </a:r>
            <a:r>
              <a:rPr sz="1150" b="1">
                <a:solidFill>
                  <a:srgbClr val="DC2626"/>
                </a:solidFill>
                <a:latin typeface="Microsoft YaHei"/>
              </a:rPr>
              <a:t>
任一环节超时或校验失败立即主动熔断并安全回退至本地重算，保障首字时延稳定性。</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专题四：元数据体系与四层分级组织架构</a:t>
            </a:r>
          </a:p>
          <a:p>
            <a:pPr>
              <a:spcBef>
                <a:spcPts val="300"/>
              </a:spcBef>
              <a:defRPr sz="1100">
                <a:solidFill>
                  <a:srgbClr val="475569"/>
                </a:solidFill>
                <a:latin typeface="Microsoft YaHei"/>
              </a:defRPr>
            </a:pPr>
            <a:r>
              <a:t>核心元数据源与数据结构职责解耦，多核无锁快照与 alignas(64) 缓存行对齐消除伪共享争用</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07 / 16 页</a:t>
            </a:r>
          </a:p>
        </p:txBody>
      </p:sp>
      <p:sp>
        <p:nvSpPr>
          <p:cNvPr id="4" name="Rectangle 3"/>
          <p:cNvSpPr/>
          <p:nvPr/>
        </p:nvSpPr>
        <p:spPr>
          <a:xfrm>
            <a:off x="457200"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265176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1. 进程内前缀索引层</a:t>
            </a:r>
          </a:p>
          <a:p>
            <a:pPr algn="r">
              <a:defRPr sz="950" b="1">
                <a:solidFill>
                  <a:srgbClr val="BFDBFE"/>
                </a:solidFill>
                <a:latin typeface="Microsoft YaHei"/>
              </a:defRPr>
            </a:pPr>
            <a:r>
              <a:t>[LocalPrefixIndex]</a:t>
            </a:r>
          </a:p>
        </p:txBody>
      </p:sp>
      <p:sp>
        <p:nvSpPr>
          <p:cNvPr id="7" name="TextBox 6"/>
          <p:cNvSpPr txBox="1"/>
          <p:nvPr/>
        </p:nvSpPr>
        <p:spPr>
          <a:xfrm>
            <a:off x="457200" y="1444752"/>
            <a:ext cx="2651760" cy="2468880"/>
          </a:xfrm>
          <a:prstGeom prst="rect">
            <a:avLst/>
          </a:prstGeom>
          <a:noFill/>
        </p:spPr>
        <p:txBody>
          <a:bodyPr wrap="square" lIns="73152" tIns="73152" rIns="73152" bIns="73152">
            <a:spAutoFit/>
          </a:bodyPr>
          <a:lstStyle/>
          <a:p>
            <a:pPr>
              <a:lnSpc>
                <a:spcPct val="118000"/>
              </a:lnSpc>
              <a:spcAft>
                <a:spcPts val="550"/>
              </a:spcAft>
            </a:pPr>
            <a:r>
              <a:rPr sz="980" b="1">
                <a:solidFill>
                  <a:srgbClr val="1E3A8A"/>
                </a:solidFill>
                <a:latin typeface="Microsoft YaHei"/>
              </a:rPr>
              <a:t>▸ 元数据与部署位置：</a:t>
            </a:r>
            <a:r>
              <a:rPr sz="980">
                <a:solidFill>
                  <a:srgbClr val="1E293B"/>
                </a:solidFill>
                <a:latin typeface="Microsoft YaHei"/>
              </a:rPr>
              <a:t>部署于 vLLM/SGLang 进程内存 (libkvc_runtime)，维护 LocalPrefixTable 与 NegativeCacheBitmap</a:t>
            </a:r>
          </a:p>
          <a:p>
            <a:pPr>
              <a:lnSpc>
                <a:spcPct val="118000"/>
              </a:lnSpc>
              <a:spcAft>
                <a:spcPts val="550"/>
              </a:spcAft>
            </a:pPr>
            <a:r>
              <a:rPr sz="980" b="1">
                <a:solidFill>
                  <a:srgbClr val="1E3A8A"/>
                </a:solidFill>
                <a:latin typeface="Microsoft YaHei"/>
              </a:rPr>
              <a:t>▸ 访问模式特征：</a:t>
            </a:r>
            <a:r>
              <a:rPr sz="980">
                <a:solidFill>
                  <a:srgbClr val="1E293B"/>
                </a:solidFill>
                <a:latin typeface="Microsoft YaHei"/>
              </a:rPr>
              <a:t>超高频读 (数十万 QPS)、极低频写；瓶颈源于多核并发访问同一行引发的 L3 伪共享颠簸</a:t>
            </a:r>
          </a:p>
          <a:p>
            <a:pPr>
              <a:lnSpc>
                <a:spcPct val="118000"/>
              </a:lnSpc>
              <a:spcAft>
                <a:spcPts val="550"/>
              </a:spcAft>
            </a:pPr>
            <a:r>
              <a:rPr sz="980" b="1">
                <a:solidFill>
                  <a:srgbClr val="1E3A8A"/>
                </a:solidFill>
                <a:latin typeface="Microsoft YaHei"/>
              </a:rPr>
              <a:t>▸ 结构与优化要点：</a:t>
            </a:r>
            <a:r>
              <a:rPr sz="980">
                <a:solidFill>
                  <a:srgbClr val="1E293B"/>
                </a:solidFill>
                <a:latin typeface="Microsoft YaHei"/>
              </a:rPr>
              <a:t>强制 alignas(64) 缓存行对齐，RCU 无锁 ART 树快照读，单次命中遍历 P99 &lt; 2µs</a:t>
            </a:r>
          </a:p>
        </p:txBody>
      </p:sp>
      <p:sp>
        <p:nvSpPr>
          <p:cNvPr id="8" name="Rectangle 7"/>
          <p:cNvSpPr/>
          <p:nvPr/>
        </p:nvSpPr>
        <p:spPr>
          <a:xfrm>
            <a:off x="3328416"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328416" y="1078992"/>
            <a:ext cx="2651760" cy="34747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38144"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2. 节点代理状态层</a:t>
            </a:r>
          </a:p>
          <a:p>
            <a:pPr algn="r">
              <a:defRPr sz="950" b="1">
                <a:solidFill>
                  <a:srgbClr val="BFDBFE"/>
                </a:solidFill>
                <a:latin typeface="Microsoft YaHei"/>
              </a:defRPr>
            </a:pPr>
            <a:r>
              <a:t>[NodeStateRegistry]</a:t>
            </a:r>
          </a:p>
        </p:txBody>
      </p:sp>
      <p:sp>
        <p:nvSpPr>
          <p:cNvPr id="11" name="TextBox 10"/>
          <p:cNvSpPr txBox="1"/>
          <p:nvPr/>
        </p:nvSpPr>
        <p:spPr>
          <a:xfrm>
            <a:off x="3328416" y="1444752"/>
            <a:ext cx="2651760" cy="2468880"/>
          </a:xfrm>
          <a:prstGeom prst="rect">
            <a:avLst/>
          </a:prstGeom>
          <a:noFill/>
        </p:spPr>
        <p:txBody>
          <a:bodyPr wrap="square" lIns="73152" tIns="73152" rIns="73152" bIns="73152">
            <a:spAutoFit/>
          </a:bodyPr>
          <a:lstStyle/>
          <a:p>
            <a:pPr>
              <a:lnSpc>
                <a:spcPct val="118000"/>
              </a:lnSpc>
              <a:spcAft>
                <a:spcPts val="550"/>
              </a:spcAft>
            </a:pPr>
            <a:r>
              <a:rPr sz="980" b="1">
                <a:solidFill>
                  <a:srgbClr val="1E3A8A"/>
                </a:solidFill>
                <a:latin typeface="Microsoft YaHei"/>
              </a:rPr>
              <a:t>▸ 元数据与部署位置：</a:t>
            </a:r>
            <a:r>
              <a:rPr sz="980">
                <a:solidFill>
                  <a:srgbClr val="1E293B"/>
                </a:solidFill>
                <a:latin typeface="Microsoft YaHei"/>
              </a:rPr>
              <a:t>部署于计算节点 POSIX 共享内存 (/dev/shm)，由常驻守护进程 kvc-node 统一管控</a:t>
            </a:r>
          </a:p>
          <a:p>
            <a:pPr>
              <a:lnSpc>
                <a:spcPct val="118000"/>
              </a:lnSpc>
              <a:spcAft>
                <a:spcPts val="550"/>
              </a:spcAft>
            </a:pPr>
            <a:r>
              <a:rPr sz="980" b="1">
                <a:solidFill>
                  <a:srgbClr val="1E3A8A"/>
                </a:solidFill>
                <a:latin typeface="Microsoft YaHei"/>
              </a:rPr>
              <a:t>▸ 核心表项职责：</a:t>
            </a:r>
            <a:r>
              <a:rPr sz="980">
                <a:solidFill>
                  <a:srgbClr val="1E293B"/>
                </a:solidFill>
                <a:latin typeface="Microsoft YaHei"/>
              </a:rPr>
              <a:t>维护节点对象持有权表 (OwnershipTable)、介质分配位图与租约代际仲裁表 (LeaseEpochTable)</a:t>
            </a:r>
          </a:p>
          <a:p>
            <a:pPr>
              <a:lnSpc>
                <a:spcPct val="118000"/>
              </a:lnSpc>
              <a:spcAft>
                <a:spcPts val="550"/>
              </a:spcAft>
            </a:pPr>
            <a:r>
              <a:rPr sz="980" b="1">
                <a:solidFill>
                  <a:srgbClr val="1E3A8A"/>
                </a:solidFill>
                <a:latin typeface="Microsoft YaHei"/>
              </a:rPr>
              <a:t>▸ 结构与优化要点：</a:t>
            </a:r>
            <a:r>
              <a:rPr sz="980">
                <a:solidFill>
                  <a:srgbClr val="1E293B"/>
                </a:solidFill>
                <a:latin typeface="Microsoft YaHei"/>
              </a:rPr>
              <a:t>基于分段锁与原子位图操作，本地批量预留计数与租约核验，调用耗时 P99 &lt; 50µs</a:t>
            </a:r>
          </a:p>
        </p:txBody>
      </p:sp>
      <p:sp>
        <p:nvSpPr>
          <p:cNvPr id="12" name="Rectangle 11"/>
          <p:cNvSpPr/>
          <p:nvPr/>
        </p:nvSpPr>
        <p:spPr>
          <a:xfrm>
            <a:off x="6199632"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99632" y="1078992"/>
            <a:ext cx="265176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09360"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3. 分布式分片目录</a:t>
            </a:r>
          </a:p>
          <a:p>
            <a:pPr algn="r">
              <a:defRPr sz="950" b="1">
                <a:solidFill>
                  <a:srgbClr val="BFDBFE"/>
                </a:solidFill>
                <a:latin typeface="Microsoft YaHei"/>
              </a:defRPr>
            </a:pPr>
            <a:r>
              <a:t>[DistributedDirectory]</a:t>
            </a:r>
          </a:p>
        </p:txBody>
      </p:sp>
      <p:sp>
        <p:nvSpPr>
          <p:cNvPr id="15" name="TextBox 14"/>
          <p:cNvSpPr txBox="1"/>
          <p:nvPr/>
        </p:nvSpPr>
        <p:spPr>
          <a:xfrm>
            <a:off x="6199632" y="1444752"/>
            <a:ext cx="2651760" cy="2468880"/>
          </a:xfrm>
          <a:prstGeom prst="rect">
            <a:avLst/>
          </a:prstGeom>
          <a:noFill/>
        </p:spPr>
        <p:txBody>
          <a:bodyPr wrap="square" lIns="73152" tIns="73152" rIns="73152" bIns="73152">
            <a:spAutoFit/>
          </a:bodyPr>
          <a:lstStyle/>
          <a:p>
            <a:pPr>
              <a:lnSpc>
                <a:spcPct val="118000"/>
              </a:lnSpc>
              <a:spcAft>
                <a:spcPts val="550"/>
              </a:spcAft>
            </a:pPr>
            <a:r>
              <a:rPr sz="980" b="1">
                <a:solidFill>
                  <a:srgbClr val="1E3A8A"/>
                </a:solidFill>
                <a:latin typeface="Microsoft YaHei"/>
              </a:rPr>
              <a:t>▸ 元数据与部署位置：</a:t>
            </a:r>
            <a:r>
              <a:rPr sz="980">
                <a:solidFill>
                  <a:srgbClr val="1E293B"/>
                </a:solidFill>
                <a:latin typeface="Microsoft YaHei"/>
              </a:rPr>
              <a:t>部署于管理节点集群内存与 RocksDB，由 3 节点高可用 kvc-directory 集群守护</a:t>
            </a:r>
          </a:p>
          <a:p>
            <a:pPr>
              <a:lnSpc>
                <a:spcPct val="118000"/>
              </a:lnSpc>
              <a:spcAft>
                <a:spcPts val="550"/>
              </a:spcAft>
            </a:pPr>
            <a:r>
              <a:rPr sz="980" b="1">
                <a:solidFill>
                  <a:srgbClr val="1E3A8A"/>
                </a:solidFill>
                <a:latin typeface="Microsoft YaHei"/>
              </a:rPr>
              <a:t>▸ 核心表项职责：</a:t>
            </a:r>
            <a:r>
              <a:rPr sz="980">
                <a:solidFill>
                  <a:srgbClr val="1E293B"/>
                </a:solidFill>
                <a:latin typeface="Microsoft YaHei"/>
              </a:rPr>
              <a:t>管理 1024 槽哈希分片路由表 (SlotRouteTable) 与对象多副本全局放置视图 (ReplicaPlacementView)</a:t>
            </a:r>
          </a:p>
          <a:p>
            <a:pPr>
              <a:lnSpc>
                <a:spcPct val="118000"/>
              </a:lnSpc>
              <a:spcAft>
                <a:spcPts val="550"/>
              </a:spcAft>
            </a:pPr>
            <a:r>
              <a:rPr sz="980" b="1">
                <a:solidFill>
                  <a:srgbClr val="1E3A8A"/>
                </a:solidFill>
                <a:latin typeface="Microsoft YaHei"/>
              </a:rPr>
              <a:t>▸ 结构与优化要点：</a:t>
            </a:r>
            <a:r>
              <a:rPr sz="980">
                <a:solidFill>
                  <a:srgbClr val="1E293B"/>
                </a:solidFill>
                <a:latin typeface="Microsoft YaHei"/>
              </a:rPr>
              <a:t>单写多读分离 (Follower 并发只读、Leader Raft 提交)，计算节点二级缓存削峰 80%，P99 &lt; 200µs</a:t>
            </a:r>
          </a:p>
        </p:txBody>
      </p:sp>
      <p:sp>
        <p:nvSpPr>
          <p:cNvPr id="16" name="Rectangle 15"/>
          <p:cNvSpPr/>
          <p:nvPr/>
        </p:nvSpPr>
        <p:spPr>
          <a:xfrm>
            <a:off x="9070848"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070848" y="1078992"/>
            <a:ext cx="2651760" cy="347472"/>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80576"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4. 持久一致配置层</a:t>
            </a:r>
          </a:p>
          <a:p>
            <a:pPr algn="r">
              <a:defRPr sz="950" b="1">
                <a:solidFill>
                  <a:srgbClr val="BFDBFE"/>
                </a:solidFill>
                <a:latin typeface="Microsoft YaHei"/>
              </a:defRPr>
            </a:pPr>
            <a:r>
              <a:t>[ClusterConfigStore]</a:t>
            </a:r>
          </a:p>
        </p:txBody>
      </p:sp>
      <p:sp>
        <p:nvSpPr>
          <p:cNvPr id="19" name="TextBox 18"/>
          <p:cNvSpPr txBox="1"/>
          <p:nvPr/>
        </p:nvSpPr>
        <p:spPr>
          <a:xfrm>
            <a:off x="9070848" y="1444752"/>
            <a:ext cx="2651760" cy="2468880"/>
          </a:xfrm>
          <a:prstGeom prst="rect">
            <a:avLst/>
          </a:prstGeom>
          <a:noFill/>
        </p:spPr>
        <p:txBody>
          <a:bodyPr wrap="square" lIns="73152" tIns="73152" rIns="73152" bIns="73152">
            <a:spAutoFit/>
          </a:bodyPr>
          <a:lstStyle/>
          <a:p>
            <a:pPr>
              <a:lnSpc>
                <a:spcPct val="118000"/>
              </a:lnSpc>
              <a:spcAft>
                <a:spcPts val="550"/>
              </a:spcAft>
            </a:pPr>
            <a:r>
              <a:rPr sz="980" b="1">
                <a:solidFill>
                  <a:srgbClr val="1E3A8A"/>
                </a:solidFill>
                <a:latin typeface="Microsoft YaHei"/>
              </a:rPr>
              <a:t>▸ 元数据与部署位置：</a:t>
            </a:r>
            <a:r>
              <a:rPr sz="980">
                <a:solidFill>
                  <a:srgbClr val="1E293B"/>
                </a:solidFill>
                <a:latin typeface="Microsoft YaHei"/>
              </a:rPr>
              <a:t>部署于独立管理节点 etcd 存储集群，保存集群静态物理拓扑表与租户配额安全策略</a:t>
            </a:r>
          </a:p>
          <a:p>
            <a:pPr>
              <a:lnSpc>
                <a:spcPct val="118000"/>
              </a:lnSpc>
              <a:spcAft>
                <a:spcPts val="550"/>
              </a:spcAft>
            </a:pPr>
            <a:r>
              <a:rPr sz="980" b="1">
                <a:solidFill>
                  <a:srgbClr val="1E3A8A"/>
                </a:solidFill>
                <a:latin typeface="Microsoft YaHei"/>
              </a:rPr>
              <a:t>▸ 访问模式特征：</a:t>
            </a:r>
            <a:r>
              <a:rPr sz="980">
                <a:solidFill>
                  <a:srgbClr val="1E293B"/>
                </a:solidFill>
                <a:latin typeface="Microsoft YaHei"/>
              </a:rPr>
              <a:t>极低频访问 (系统冷启动、节点上下线)；在线推理热路径严格物理禁入</a:t>
            </a:r>
          </a:p>
          <a:p>
            <a:pPr>
              <a:lnSpc>
                <a:spcPct val="118000"/>
              </a:lnSpc>
              <a:spcAft>
                <a:spcPts val="550"/>
              </a:spcAft>
            </a:pPr>
            <a:r>
              <a:rPr sz="980" b="1">
                <a:solidFill>
                  <a:srgbClr val="1E3A8A"/>
                </a:solidFill>
                <a:latin typeface="Microsoft YaHei"/>
              </a:rPr>
              <a:t>▸ 本地快照兜底：</a:t>
            </a:r>
            <a:r>
              <a:rPr sz="980">
                <a:solidFill>
                  <a:srgbClr val="1E293B"/>
                </a:solidFill>
                <a:latin typeface="Microsoft YaHei"/>
              </a:rPr>
              <a:t>计算节点启动时一次性载入本地配置快照，管理节点网络闪断或控制器倒换不影响在线推理</a:t>
            </a:r>
          </a:p>
        </p:txBody>
      </p:sp>
      <p:sp>
        <p:nvSpPr>
          <p:cNvPr id="20" name="Rectangle 19"/>
          <p:cNvSpPr/>
          <p:nvPr/>
        </p:nvSpPr>
        <p:spPr>
          <a:xfrm>
            <a:off x="457200"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4041648"/>
            <a:ext cx="5532120" cy="3200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66928"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在线推理高并发四大瓶颈场景与架构防线</a:t>
            </a:r>
          </a:p>
          <a:p>
            <a:pPr algn="r">
              <a:defRPr sz="950" b="1">
                <a:solidFill>
                  <a:srgbClr val="BFDBFE"/>
                </a:solidFill>
                <a:latin typeface="Microsoft YaHei"/>
              </a:defRPr>
            </a:pPr>
            <a:r>
              <a:t>[业务特征深度剖析]</a:t>
            </a:r>
          </a:p>
        </p:txBody>
      </p:sp>
      <p:sp>
        <p:nvSpPr>
          <p:cNvPr id="23" name="TextBox 22"/>
          <p:cNvSpPr txBox="1"/>
          <p:nvPr/>
        </p:nvSpPr>
        <p:spPr>
          <a:xfrm>
            <a:off x="457200"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突发长系统前缀并发复用：</a:t>
            </a:r>
            <a:r>
              <a:rPr sz="860">
                <a:solidFill>
                  <a:srgbClr val="1E293B"/>
                </a:solidFill>
                <a:latin typeface="Microsoft YaHei"/>
              </a:rPr>
              <a:t>数百请求并发检索相同前缀引发目录节点突发 Incast 拥塞 ｜ 防线：1024 槽哈希打散 + 本地二级缓存削峰 80%</a:t>
            </a:r>
          </a:p>
          <a:p>
            <a:pPr>
              <a:lnSpc>
                <a:spcPct val="112000"/>
              </a:lnSpc>
              <a:spcAft>
                <a:spcPts val="200"/>
              </a:spcAft>
            </a:pPr>
            <a:r>
              <a:rPr sz="860" b="1">
                <a:solidFill>
                  <a:srgbClr val="1E3A8A"/>
                </a:solidFill>
                <a:latin typeface="Microsoft YaHei"/>
              </a:rPr>
              <a:t>▸ 短输出长上下文并发 Prefill：</a:t>
            </a:r>
            <a:r>
              <a:rPr sz="860">
                <a:solidFill>
                  <a:srgbClr val="1E293B"/>
                </a:solidFill>
                <a:latin typeface="Microsoft YaHei"/>
              </a:rPr>
              <a:t>多卡多核并发访问本地前缀树导致 CPU L3 缓存行伪共享颠簸 ｜ 防线：元数据强制 alignas(64) 对齐 + RCU 无锁只读遍历</a:t>
            </a:r>
          </a:p>
          <a:p>
            <a:pPr>
              <a:lnSpc>
                <a:spcPct val="112000"/>
              </a:lnSpc>
              <a:spcAft>
                <a:spcPts val="200"/>
              </a:spcAft>
            </a:pPr>
            <a:r>
              <a:rPr sz="860" b="1">
                <a:solidFill>
                  <a:srgbClr val="1E3A8A"/>
                </a:solidFill>
                <a:latin typeface="Microsoft YaHei"/>
              </a:rPr>
              <a:t>▸ 跨节点加载频繁申请租约：</a:t>
            </a:r>
            <a:r>
              <a:rPr sz="860">
                <a:solidFill>
                  <a:srgbClr val="1E293B"/>
                </a:solidFill>
                <a:latin typeface="Microsoft YaHei"/>
              </a:rPr>
              <a:t>高 QPS 跨进程 IPC 调用消耗 50~200µs 穿透预算 ｜ 防线：控制面直接内嵌工作进程 + POSIX 共享内存分段操作 (&lt;50µs)</a:t>
            </a:r>
          </a:p>
          <a:p>
            <a:pPr>
              <a:lnSpc>
                <a:spcPct val="112000"/>
              </a:lnSpc>
              <a:spcAft>
                <a:spcPts val="200"/>
              </a:spcAft>
            </a:pPr>
            <a:r>
              <a:rPr sz="860" b="1">
                <a:solidFill>
                  <a:srgbClr val="1E3A8A"/>
                </a:solidFill>
                <a:latin typeface="Microsoft YaHei"/>
              </a:rPr>
              <a:t>▸ 客户端异常断连与超时取消：</a:t>
            </a:r>
            <a:r>
              <a:rPr sz="860">
                <a:solidFill>
                  <a:srgbClr val="1E293B"/>
                </a:solidFill>
                <a:latin typeface="Microsoft YaHei"/>
              </a:rPr>
              <a:t>异步硬件搬运与前台算子生命周期错位引发显存脏写 ｜ 防线：逻辑取消与底层硬件排空彻底解耦，在途 DMA 未完成禁止复用显存</a:t>
            </a:r>
          </a:p>
        </p:txBody>
      </p:sp>
      <p:sp>
        <p:nvSpPr>
          <p:cNvPr id="24" name="Rectangle 23"/>
          <p:cNvSpPr/>
          <p:nvPr/>
        </p:nvSpPr>
        <p:spPr>
          <a:xfrm>
            <a:off x="6199632"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4041648"/>
            <a:ext cx="5532120" cy="3200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09360"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具体元数据表读写分离与一致性保障机制</a:t>
            </a:r>
          </a:p>
          <a:p>
            <a:pPr algn="r">
              <a:defRPr sz="950" b="1">
                <a:solidFill>
                  <a:srgbClr val="BFDBFE"/>
                </a:solidFill>
                <a:latin typeface="Microsoft YaHei"/>
              </a:defRPr>
            </a:pPr>
            <a:r>
              <a:t>[核心表项对账机制]</a:t>
            </a:r>
          </a:p>
        </p:txBody>
      </p:sp>
      <p:sp>
        <p:nvSpPr>
          <p:cNvPr id="27" name="TextBox 26"/>
          <p:cNvSpPr txBox="1"/>
          <p:nvPr/>
        </p:nvSpPr>
        <p:spPr>
          <a:xfrm>
            <a:off x="6199632"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全局分片路由表 (Slot-&gt;NodeMap)：</a:t>
            </a:r>
            <a:r>
              <a:rPr sz="860">
                <a:solidFill>
                  <a:srgbClr val="1E293B"/>
                </a:solidFill>
                <a:latin typeface="Microsoft YaHei"/>
              </a:rPr>
              <a:t>单写多读，基于 Raft 日志线性一致同步；Follower 节点构建不可变只读内存镜像并发响应查询</a:t>
            </a:r>
          </a:p>
          <a:p>
            <a:pPr>
              <a:lnSpc>
                <a:spcPct val="112000"/>
              </a:lnSpc>
              <a:spcAft>
                <a:spcPts val="200"/>
              </a:spcAft>
            </a:pPr>
            <a:r>
              <a:rPr sz="860" b="1">
                <a:solidFill>
                  <a:srgbClr val="1E3A8A"/>
                </a:solidFill>
                <a:latin typeface="Microsoft YaHei"/>
              </a:rPr>
              <a:t>▸ 节点对象持有权表 (OwnershipTable)：</a:t>
            </a:r>
            <a:r>
              <a:rPr sz="860">
                <a:solidFill>
                  <a:srgbClr val="1E293B"/>
                </a:solidFill>
                <a:latin typeface="Microsoft YaHei"/>
              </a:rPr>
              <a:t>以 64B POD Extent 描述符存储，写端原子 CAS 指针翻转发布，读端零锁并发，消除跨语言反序列化</a:t>
            </a:r>
          </a:p>
          <a:p>
            <a:pPr>
              <a:lnSpc>
                <a:spcPct val="112000"/>
              </a:lnSpc>
              <a:spcAft>
                <a:spcPts val="200"/>
              </a:spcAft>
            </a:pPr>
            <a:r>
              <a:rPr sz="860" b="1">
                <a:solidFill>
                  <a:srgbClr val="1E3A8A"/>
                </a:solidFill>
                <a:latin typeface="Microsoft YaHei"/>
              </a:rPr>
              <a:t>▸ 租约代际状态表 (LeaseEpochTable)：</a:t>
            </a:r>
            <a:r>
              <a:rPr sz="860">
                <a:solidFill>
                  <a:srgbClr val="1E293B"/>
                </a:solidFill>
                <a:latin typeface="Microsoft YaHei"/>
              </a:rPr>
              <a:t>对象生命周期强绑定 Epoch 代际编号；节点故障、重启或网络断开时租约自然过期失效，底层自动阻断陈旧数据读取</a:t>
            </a:r>
          </a:p>
          <a:p>
            <a:pPr>
              <a:lnSpc>
                <a:spcPct val="112000"/>
              </a:lnSpc>
              <a:spcAft>
                <a:spcPts val="200"/>
              </a:spcAft>
            </a:pPr>
            <a:r>
              <a:rPr sz="860" b="1">
                <a:solidFill>
                  <a:srgbClr val="1E3A8A"/>
                </a:solidFill>
                <a:latin typeface="Microsoft YaHei"/>
              </a:rPr>
              <a:t>▸ 物理扇区分配位图 (SectorBitmap)：</a:t>
            </a:r>
            <a:r>
              <a:rPr sz="860">
                <a:solidFill>
                  <a:srgbClr val="1E293B"/>
                </a:solidFill>
                <a:latin typeface="Microsoft YaHei"/>
              </a:rPr>
              <a:t>管理 4KB 对齐的 NVMe 裸盘扇区，采用无锁原子位图操作，前台分配与后台异步垃圾回收互不阻塞</a:t>
            </a:r>
          </a:p>
        </p:txBody>
      </p:sp>
      <p:sp>
        <p:nvSpPr>
          <p:cNvPr id="28" name="Rectangle 27"/>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元数据解耦四大权威源职责，通过 alignas(64) 对齐与无锁快照消除伪共享；控制面采用共享内存彻底消除跨进程 IPC 损耗。</a:t>
            </a:r>
            <a:r>
              <a:rPr sz="1150" b="1">
                <a:solidFill>
                  <a:srgbClr val="DC2626"/>
                </a:solidFill>
                <a:latin typeface="Microsoft YaHei"/>
              </a:rPr>
              <a:t>
在线热路径严格物理隔离 etcd，确保高并发微秒级响应稳定性。</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专题五：对象全生命周期状态机与两阶段发布/RCU双层延迟回收</a:t>
            </a:r>
          </a:p>
          <a:p>
            <a:pPr>
              <a:spcBef>
                <a:spcPts val="300"/>
              </a:spcBef>
              <a:defRPr sz="1100">
                <a:solidFill>
                  <a:srgbClr val="475569"/>
                </a:solidFill>
                <a:latin typeface="Microsoft YaHei"/>
              </a:defRPr>
            </a:pPr>
            <a:r>
              <a:t>正文发布后严格不可变，两阶段发布防范半写脏块，通过 CPU 读者与硬件在途 I/O 双层宽限期保障安全释放</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08 / 16 页</a:t>
            </a:r>
          </a:p>
        </p:txBody>
      </p:sp>
      <p:sp>
        <p:nvSpPr>
          <p:cNvPr id="4" name="Rectangle 3"/>
          <p:cNvSpPr/>
          <p:nvPr/>
        </p:nvSpPr>
        <p:spPr>
          <a:xfrm>
            <a:off x="457200" y="1078992"/>
            <a:ext cx="2103120" cy="2834640"/>
          </a:xfrm>
          <a:prstGeom prst="rect">
            <a:avLst/>
          </a:prstGeom>
          <a:solidFill>
            <a:srgbClr val="F0F9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2103120" cy="3291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1883664" cy="256032"/>
          </a:xfrm>
          <a:prstGeom prst="rect">
            <a:avLst/>
          </a:prstGeom>
          <a:noFill/>
        </p:spPr>
        <p:txBody>
          <a:bodyPr wrap="none" lIns="0" tIns="0" rIns="0" bIns="0">
            <a:spAutoFit/>
          </a:bodyPr>
          <a:lstStyle/>
          <a:p>
            <a:pPr>
              <a:defRPr sz="980" b="1">
                <a:solidFill>
                  <a:srgbClr val="FFFFFF"/>
                </a:solidFill>
                <a:latin typeface="Microsoft YaHei"/>
              </a:defRPr>
            </a:pPr>
            <a:r>
              <a:t>① PREPARING (私有写入)</a:t>
            </a:r>
          </a:p>
        </p:txBody>
      </p:sp>
      <p:sp>
        <p:nvSpPr>
          <p:cNvPr id="7" name="TextBox 6"/>
          <p:cNvSpPr txBox="1"/>
          <p:nvPr/>
        </p:nvSpPr>
        <p:spPr>
          <a:xfrm>
            <a:off x="457200" y="1426464"/>
            <a:ext cx="2103120" cy="2468880"/>
          </a:xfrm>
          <a:prstGeom prst="rect">
            <a:avLst/>
          </a:prstGeom>
          <a:noFill/>
        </p:spPr>
        <p:txBody>
          <a:bodyPr wrap="square" lIns="73152" tIns="73152" rIns="73152" bIns="73152">
            <a:spAutoFit/>
          </a:bodyPr>
          <a:lstStyle/>
          <a:p>
            <a:pPr>
              <a:lnSpc>
                <a:spcPct val="116000"/>
              </a:lnSpc>
              <a:spcAft>
                <a:spcPts val="500"/>
              </a:spcAft>
            </a:pPr>
            <a:r>
              <a:rPr sz="960" b="1">
                <a:solidFill>
                  <a:srgbClr val="1E3A8A"/>
                </a:solidFill>
                <a:latin typeface="Microsoft YaHei"/>
              </a:rPr>
              <a:t>▸ 针对对象：</a:t>
            </a:r>
            <a:r>
              <a:rPr sz="960">
                <a:solidFill>
                  <a:srgbClr val="1E293B"/>
                </a:solidFill>
                <a:latin typeface="Microsoft YaHei"/>
              </a:rPr>
              <a:t>算子私有写入中的 KV 缓存切片 (Uncommitted KV Extent)</a:t>
            </a:r>
          </a:p>
          <a:p>
            <a:pPr>
              <a:lnSpc>
                <a:spcPct val="116000"/>
              </a:lnSpc>
              <a:spcAft>
                <a:spcPts val="500"/>
              </a:spcAft>
            </a:pPr>
            <a:r>
              <a:rPr sz="960" b="1">
                <a:solidFill>
                  <a:srgbClr val="1E3A8A"/>
                </a:solidFill>
                <a:latin typeface="Microsoft YaHei"/>
              </a:rPr>
              <a:t>▸ 执行动作：</a:t>
            </a:r>
            <a:r>
              <a:rPr sz="960">
                <a:solidFill>
                  <a:srgbClr val="1E293B"/>
                </a:solidFill>
                <a:latin typeface="Microsoft YaHei"/>
              </a:rPr>
              <a:t>算子在私有显存块写入张量数据，等待底座硬件返回 CQE 写入完成中断证据</a:t>
            </a:r>
          </a:p>
          <a:p>
            <a:pPr>
              <a:lnSpc>
                <a:spcPct val="116000"/>
              </a:lnSpc>
              <a:spcAft>
                <a:spcPts val="500"/>
              </a:spcAft>
            </a:pPr>
            <a:r>
              <a:rPr sz="960" b="1">
                <a:solidFill>
                  <a:srgbClr val="1E3A8A"/>
                </a:solidFill>
                <a:latin typeface="Microsoft YaHei"/>
              </a:rPr>
              <a:t>▸ 达成目标：</a:t>
            </a:r>
            <a:r>
              <a:rPr sz="960">
                <a:solidFill>
                  <a:srgbClr val="1E293B"/>
                </a:solidFill>
                <a:latin typeface="Microsoft YaHei"/>
              </a:rPr>
              <a:t>完成物理写入确认，未获完成证据前对外部进程与请求绝对不可见</a:t>
            </a:r>
          </a:p>
        </p:txBody>
      </p:sp>
      <p:sp>
        <p:nvSpPr>
          <p:cNvPr id="8" name="Rectangle 7"/>
          <p:cNvSpPr/>
          <p:nvPr/>
        </p:nvSpPr>
        <p:spPr>
          <a:xfrm>
            <a:off x="2743200" y="1078992"/>
            <a:ext cx="2103120" cy="2834640"/>
          </a:xfrm>
          <a:prstGeom prst="rect">
            <a:avLst/>
          </a:prstGeom>
          <a:solidFill>
            <a:srgbClr val="F5F3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743200" y="1078992"/>
            <a:ext cx="2103120" cy="329184"/>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52928" y="1115568"/>
            <a:ext cx="1883664" cy="256032"/>
          </a:xfrm>
          <a:prstGeom prst="rect">
            <a:avLst/>
          </a:prstGeom>
          <a:noFill/>
        </p:spPr>
        <p:txBody>
          <a:bodyPr wrap="none" lIns="0" tIns="0" rIns="0" bIns="0">
            <a:spAutoFit/>
          </a:bodyPr>
          <a:lstStyle/>
          <a:p>
            <a:pPr>
              <a:defRPr sz="980" b="1">
                <a:solidFill>
                  <a:srgbClr val="FFFFFF"/>
                </a:solidFill>
                <a:latin typeface="Microsoft YaHei"/>
              </a:defRPr>
            </a:pPr>
            <a:r>
              <a:t>② COMMITTED (硬件就绪)</a:t>
            </a:r>
          </a:p>
        </p:txBody>
      </p:sp>
      <p:sp>
        <p:nvSpPr>
          <p:cNvPr id="11" name="TextBox 10"/>
          <p:cNvSpPr txBox="1"/>
          <p:nvPr/>
        </p:nvSpPr>
        <p:spPr>
          <a:xfrm>
            <a:off x="2743200" y="1426464"/>
            <a:ext cx="2103120" cy="2468880"/>
          </a:xfrm>
          <a:prstGeom prst="rect">
            <a:avLst/>
          </a:prstGeom>
          <a:noFill/>
        </p:spPr>
        <p:txBody>
          <a:bodyPr wrap="square" lIns="73152" tIns="73152" rIns="73152" bIns="73152">
            <a:spAutoFit/>
          </a:bodyPr>
          <a:lstStyle/>
          <a:p>
            <a:pPr>
              <a:lnSpc>
                <a:spcPct val="116000"/>
              </a:lnSpc>
              <a:spcAft>
                <a:spcPts val="500"/>
              </a:spcAft>
            </a:pPr>
            <a:r>
              <a:rPr sz="960" b="1">
                <a:solidFill>
                  <a:srgbClr val="1E3A8A"/>
                </a:solidFill>
                <a:latin typeface="Microsoft YaHei"/>
              </a:rPr>
              <a:t>▸ 针对对象：</a:t>
            </a:r>
            <a:r>
              <a:rPr sz="960">
                <a:solidFill>
                  <a:srgbClr val="1E293B"/>
                </a:solidFill>
                <a:latin typeface="Microsoft YaHei"/>
              </a:rPr>
              <a:t>已获硬件写入确认但未发布的就绪态 KV 缓存对象 (Committed KV Object)</a:t>
            </a:r>
          </a:p>
          <a:p>
            <a:pPr>
              <a:lnSpc>
                <a:spcPct val="116000"/>
              </a:lnSpc>
              <a:spcAft>
                <a:spcPts val="500"/>
              </a:spcAft>
            </a:pPr>
            <a:r>
              <a:rPr sz="960" b="1">
                <a:solidFill>
                  <a:srgbClr val="1E3A8A"/>
                </a:solidFill>
                <a:latin typeface="Microsoft YaHei"/>
              </a:rPr>
              <a:t>▸ 执行动作：</a:t>
            </a:r>
            <a:r>
              <a:rPr sz="960">
                <a:solidFill>
                  <a:srgbClr val="1E293B"/>
                </a:solidFill>
                <a:latin typeface="Microsoft YaHei"/>
              </a:rPr>
              <a:t>节点代理对该对象的模型架构、词表哈希、Prompt 模板等 6 维语义进行前置合法性检查</a:t>
            </a:r>
          </a:p>
          <a:p>
            <a:pPr>
              <a:lnSpc>
                <a:spcPct val="116000"/>
              </a:lnSpc>
              <a:spcAft>
                <a:spcPts val="500"/>
              </a:spcAft>
            </a:pPr>
            <a:r>
              <a:rPr sz="960" b="1">
                <a:solidFill>
                  <a:srgbClr val="1E3A8A"/>
                </a:solidFill>
                <a:latin typeface="Microsoft YaHei"/>
              </a:rPr>
              <a:t>▸ 达成目标：</a:t>
            </a:r>
            <a:r>
              <a:rPr sz="960">
                <a:solidFill>
                  <a:srgbClr val="1E293B"/>
                </a:solidFill>
                <a:latin typeface="Microsoft YaHei"/>
              </a:rPr>
              <a:t>确保数据完整无损、语义标识合法，完成只读发布前的合规性准入</a:t>
            </a:r>
          </a:p>
        </p:txBody>
      </p:sp>
      <p:sp>
        <p:nvSpPr>
          <p:cNvPr id="12" name="Rectangle 11"/>
          <p:cNvSpPr/>
          <p:nvPr/>
        </p:nvSpPr>
        <p:spPr>
          <a:xfrm>
            <a:off x="5029200" y="1078992"/>
            <a:ext cx="2103120" cy="2834640"/>
          </a:xfrm>
          <a:prstGeom prst="rect">
            <a:avLst/>
          </a:prstGeom>
          <a:solidFill>
            <a:srgbClr val="ECFDF5"/>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029200" y="1078992"/>
            <a:ext cx="2103120" cy="329184"/>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138928" y="1115568"/>
            <a:ext cx="1883664" cy="256032"/>
          </a:xfrm>
          <a:prstGeom prst="rect">
            <a:avLst/>
          </a:prstGeom>
          <a:noFill/>
        </p:spPr>
        <p:txBody>
          <a:bodyPr wrap="none" lIns="0" tIns="0" rIns="0" bIns="0">
            <a:spAutoFit/>
          </a:bodyPr>
          <a:lstStyle/>
          <a:p>
            <a:pPr>
              <a:defRPr sz="980" b="1">
                <a:solidFill>
                  <a:srgbClr val="FFFFFF"/>
                </a:solidFill>
                <a:latin typeface="Microsoft YaHei"/>
              </a:defRPr>
            </a:pPr>
            <a:r>
              <a:t>③ PUBLISHED (全局只读)</a:t>
            </a:r>
          </a:p>
        </p:txBody>
      </p:sp>
      <p:sp>
        <p:nvSpPr>
          <p:cNvPr id="15" name="TextBox 14"/>
          <p:cNvSpPr txBox="1"/>
          <p:nvPr/>
        </p:nvSpPr>
        <p:spPr>
          <a:xfrm>
            <a:off x="5029200" y="1426464"/>
            <a:ext cx="2103120" cy="2468880"/>
          </a:xfrm>
          <a:prstGeom prst="rect">
            <a:avLst/>
          </a:prstGeom>
          <a:noFill/>
        </p:spPr>
        <p:txBody>
          <a:bodyPr wrap="square" lIns="73152" tIns="73152" rIns="73152" bIns="73152">
            <a:spAutoFit/>
          </a:bodyPr>
          <a:lstStyle/>
          <a:p>
            <a:pPr>
              <a:lnSpc>
                <a:spcPct val="116000"/>
              </a:lnSpc>
              <a:spcAft>
                <a:spcPts val="500"/>
              </a:spcAft>
            </a:pPr>
            <a:r>
              <a:rPr sz="960" b="1">
                <a:solidFill>
                  <a:srgbClr val="1E3A8A"/>
                </a:solidFill>
                <a:latin typeface="Microsoft YaHei"/>
              </a:rPr>
              <a:t>▸ 针对对象：</a:t>
            </a:r>
            <a:r>
              <a:rPr sz="960">
                <a:solidFill>
                  <a:srgbClr val="1E293B"/>
                </a:solidFill>
                <a:latin typeface="Microsoft YaHei"/>
              </a:rPr>
              <a:t>处于不可变共享状态的全局可见 KV 缓存对象 (Immutable Shared KV Object)</a:t>
            </a:r>
          </a:p>
          <a:p>
            <a:pPr>
              <a:lnSpc>
                <a:spcPct val="116000"/>
              </a:lnSpc>
              <a:spcAft>
                <a:spcPts val="500"/>
              </a:spcAft>
            </a:pPr>
            <a:r>
              <a:rPr sz="960" b="1">
                <a:solidFill>
                  <a:srgbClr val="1E3A8A"/>
                </a:solidFill>
                <a:latin typeface="Microsoft YaHei"/>
              </a:rPr>
              <a:t>▸ 执行动作：</a:t>
            </a:r>
            <a:r>
              <a:rPr sz="960">
                <a:solidFill>
                  <a:srgbClr val="1E293B"/>
                </a:solidFill>
                <a:latin typeface="Microsoft YaHei"/>
              </a:rPr>
              <a:t>原子翻转 Ready 就绪位，向分布式目录注册全局寻址句柄，签发外部只读访问租约，正文物理只读</a:t>
            </a:r>
          </a:p>
          <a:p>
            <a:pPr>
              <a:lnSpc>
                <a:spcPct val="116000"/>
              </a:lnSpc>
              <a:spcAft>
                <a:spcPts val="500"/>
              </a:spcAft>
            </a:pPr>
            <a:r>
              <a:rPr sz="960" b="1">
                <a:solidFill>
                  <a:srgbClr val="1E3A8A"/>
                </a:solidFill>
                <a:latin typeface="Microsoft YaHei"/>
              </a:rPr>
              <a:t>▸ 达成目标：</a:t>
            </a:r>
            <a:r>
              <a:rPr sz="960">
                <a:solidFill>
                  <a:srgbClr val="1E293B"/>
                </a:solidFill>
                <a:latin typeface="Microsoft YaHei"/>
              </a:rPr>
              <a:t>支持各工作进程并发挂载与零拷贝复用，严禁就地修改，杜绝半写脏块</a:t>
            </a:r>
          </a:p>
        </p:txBody>
      </p:sp>
      <p:sp>
        <p:nvSpPr>
          <p:cNvPr id="16" name="Rectangle 15"/>
          <p:cNvSpPr/>
          <p:nvPr/>
        </p:nvSpPr>
        <p:spPr>
          <a:xfrm>
            <a:off x="7315200" y="1078992"/>
            <a:ext cx="2103120" cy="2834640"/>
          </a:xfrm>
          <a:prstGeom prst="rect">
            <a:avLst/>
          </a:prstGeom>
          <a:solidFill>
            <a:srgbClr val="FFFBEB"/>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315200" y="1078992"/>
            <a:ext cx="2103120" cy="329184"/>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24928" y="1115568"/>
            <a:ext cx="1883664" cy="256032"/>
          </a:xfrm>
          <a:prstGeom prst="rect">
            <a:avLst/>
          </a:prstGeom>
          <a:noFill/>
        </p:spPr>
        <p:txBody>
          <a:bodyPr wrap="none" lIns="0" tIns="0" rIns="0" bIns="0">
            <a:spAutoFit/>
          </a:bodyPr>
          <a:lstStyle/>
          <a:p>
            <a:pPr>
              <a:defRPr sz="980" b="1">
                <a:solidFill>
                  <a:srgbClr val="FFFFFF"/>
                </a:solidFill>
                <a:latin typeface="Microsoft YaHei"/>
              </a:defRPr>
            </a:pPr>
            <a:r>
              <a:t>④ TOMBSTONE (逻辑软删除)</a:t>
            </a:r>
          </a:p>
        </p:txBody>
      </p:sp>
      <p:sp>
        <p:nvSpPr>
          <p:cNvPr id="19" name="TextBox 18"/>
          <p:cNvSpPr txBox="1"/>
          <p:nvPr/>
        </p:nvSpPr>
        <p:spPr>
          <a:xfrm>
            <a:off x="7315200" y="1426464"/>
            <a:ext cx="2103120" cy="2468880"/>
          </a:xfrm>
          <a:prstGeom prst="rect">
            <a:avLst/>
          </a:prstGeom>
          <a:noFill/>
        </p:spPr>
        <p:txBody>
          <a:bodyPr wrap="square" lIns="73152" tIns="73152" rIns="73152" bIns="73152">
            <a:spAutoFit/>
          </a:bodyPr>
          <a:lstStyle/>
          <a:p>
            <a:pPr>
              <a:lnSpc>
                <a:spcPct val="116000"/>
              </a:lnSpc>
              <a:spcAft>
                <a:spcPts val="500"/>
              </a:spcAft>
            </a:pPr>
            <a:r>
              <a:rPr sz="960" b="1">
                <a:solidFill>
                  <a:srgbClr val="1E3A8A"/>
                </a:solidFill>
                <a:latin typeface="Microsoft YaHei"/>
              </a:rPr>
              <a:t>▸ 针对对象：</a:t>
            </a:r>
            <a:r>
              <a:rPr sz="960">
                <a:solidFill>
                  <a:srgbClr val="1E293B"/>
                </a:solidFill>
                <a:latin typeface="Microsoft YaHei"/>
              </a:rPr>
              <a:t>已触发淘汰或租约过期的失效 KV 缓存对象 (Tombstoned Inactive Object)</a:t>
            </a:r>
          </a:p>
          <a:p>
            <a:pPr>
              <a:lnSpc>
                <a:spcPct val="116000"/>
              </a:lnSpc>
              <a:spcAft>
                <a:spcPts val="500"/>
              </a:spcAft>
            </a:pPr>
            <a:r>
              <a:rPr sz="960" b="1">
                <a:solidFill>
                  <a:srgbClr val="1E3A8A"/>
                </a:solidFill>
                <a:latin typeface="Microsoft YaHei"/>
              </a:rPr>
              <a:t>▸ 执行动作：</a:t>
            </a:r>
            <a:r>
              <a:rPr sz="960">
                <a:solidFill>
                  <a:srgbClr val="1E293B"/>
                </a:solidFill>
                <a:latin typeface="Microsoft YaHei"/>
              </a:rPr>
              <a:t>原子 CAS 将状态置为 TOMBSTONE 墓碑，从分布式目录注销索引，阻断新请求引用，但保留物理显存</a:t>
            </a:r>
          </a:p>
          <a:p>
            <a:pPr>
              <a:lnSpc>
                <a:spcPct val="116000"/>
              </a:lnSpc>
              <a:spcAft>
                <a:spcPts val="500"/>
              </a:spcAft>
            </a:pPr>
            <a:r>
              <a:rPr sz="960" b="1">
                <a:solidFill>
                  <a:srgbClr val="1E3A8A"/>
                </a:solidFill>
                <a:latin typeface="Microsoft YaHei"/>
              </a:rPr>
              <a:t>▸ 达成目标：</a:t>
            </a:r>
            <a:r>
              <a:rPr sz="960">
                <a:solidFill>
                  <a:srgbClr val="1E293B"/>
                </a:solidFill>
                <a:latin typeface="Microsoft YaHei"/>
              </a:rPr>
              <a:t>切断新消费引用，保护正在读取该对象的在途推理算子，防止并发冲突</a:t>
            </a:r>
          </a:p>
        </p:txBody>
      </p:sp>
      <p:sp>
        <p:nvSpPr>
          <p:cNvPr id="20" name="Rectangle 19"/>
          <p:cNvSpPr/>
          <p:nvPr/>
        </p:nvSpPr>
        <p:spPr>
          <a:xfrm>
            <a:off x="9601200" y="1078992"/>
            <a:ext cx="2103120" cy="2834640"/>
          </a:xfrm>
          <a:prstGeom prst="rect">
            <a:avLst/>
          </a:prstGeom>
          <a:solidFill>
            <a:srgbClr val="FEF2F2"/>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601200" y="1078992"/>
            <a:ext cx="2103120" cy="32918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10928" y="1115568"/>
            <a:ext cx="1883664" cy="256032"/>
          </a:xfrm>
          <a:prstGeom prst="rect">
            <a:avLst/>
          </a:prstGeom>
          <a:noFill/>
        </p:spPr>
        <p:txBody>
          <a:bodyPr wrap="none" lIns="0" tIns="0" rIns="0" bIns="0">
            <a:spAutoFit/>
          </a:bodyPr>
          <a:lstStyle/>
          <a:p>
            <a:pPr>
              <a:defRPr sz="980" b="1">
                <a:solidFill>
                  <a:srgbClr val="FFFFFF"/>
                </a:solidFill>
                <a:latin typeface="Microsoft YaHei"/>
              </a:defRPr>
            </a:pPr>
            <a:r>
              <a:t>⑤ FREE (显存安全释放)</a:t>
            </a:r>
          </a:p>
        </p:txBody>
      </p:sp>
      <p:sp>
        <p:nvSpPr>
          <p:cNvPr id="23" name="TextBox 22"/>
          <p:cNvSpPr txBox="1"/>
          <p:nvPr/>
        </p:nvSpPr>
        <p:spPr>
          <a:xfrm>
            <a:off x="9601200" y="1426464"/>
            <a:ext cx="2103120" cy="2468880"/>
          </a:xfrm>
          <a:prstGeom prst="rect">
            <a:avLst/>
          </a:prstGeom>
          <a:noFill/>
        </p:spPr>
        <p:txBody>
          <a:bodyPr wrap="square" lIns="73152" tIns="73152" rIns="73152" bIns="73152">
            <a:spAutoFit/>
          </a:bodyPr>
          <a:lstStyle/>
          <a:p>
            <a:pPr>
              <a:lnSpc>
                <a:spcPct val="116000"/>
              </a:lnSpc>
              <a:spcAft>
                <a:spcPts val="500"/>
              </a:spcAft>
            </a:pPr>
            <a:r>
              <a:rPr sz="960" b="1">
                <a:solidFill>
                  <a:srgbClr val="1E3A8A"/>
                </a:solidFill>
                <a:latin typeface="Microsoft YaHei"/>
              </a:rPr>
              <a:t>▸ 针对对象：</a:t>
            </a:r>
            <a:r>
              <a:rPr sz="960">
                <a:solidFill>
                  <a:srgbClr val="1E293B"/>
                </a:solidFill>
                <a:latin typeface="Microsoft YaHei"/>
              </a:rPr>
              <a:t>已彻底脱离所有在途消费的待回收显存物理块 (Orphaned Memory Block)</a:t>
            </a:r>
          </a:p>
          <a:p>
            <a:pPr>
              <a:lnSpc>
                <a:spcPct val="116000"/>
              </a:lnSpc>
              <a:spcAft>
                <a:spcPts val="500"/>
              </a:spcAft>
            </a:pPr>
            <a:r>
              <a:rPr sz="960" b="1">
                <a:solidFill>
                  <a:srgbClr val="1E3A8A"/>
                </a:solidFill>
                <a:latin typeface="Microsoft YaHei"/>
              </a:rPr>
              <a:t>▸ 执行动作：</a:t>
            </a:r>
            <a:r>
              <a:rPr sz="960">
                <a:solidFill>
                  <a:srgbClr val="1E293B"/>
                </a:solidFill>
                <a:latin typeface="Microsoft YaHei"/>
              </a:rPr>
              <a:t>严格等待 CPU 读线程全部退出 RCU 临界区，且 NPU 流事件与网络在途 DMA 完全排空后回收</a:t>
            </a:r>
          </a:p>
          <a:p>
            <a:pPr>
              <a:lnSpc>
                <a:spcPct val="116000"/>
              </a:lnSpc>
              <a:spcAft>
                <a:spcPts val="500"/>
              </a:spcAft>
            </a:pPr>
            <a:r>
              <a:rPr sz="960" b="1">
                <a:solidFill>
                  <a:srgbClr val="1E3A8A"/>
                </a:solidFill>
                <a:latin typeface="Microsoft YaHei"/>
              </a:rPr>
              <a:t>▸ 达成目标：</a:t>
            </a:r>
            <a:r>
              <a:rPr sz="960">
                <a:solidFill>
                  <a:srgbClr val="1E293B"/>
                </a:solidFill>
                <a:latin typeface="Microsoft YaHei"/>
              </a:rPr>
              <a:t>物理显存页安全回收入池并重新纳管，彻底消除 Use-After-Free 内存踩踏</a:t>
            </a:r>
          </a:p>
        </p:txBody>
      </p:sp>
      <p:sp>
        <p:nvSpPr>
          <p:cNvPr id="24" name="Rectangle 23"/>
          <p:cNvSpPr/>
          <p:nvPr/>
        </p:nvSpPr>
        <p:spPr>
          <a:xfrm>
            <a:off x="457200"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57200" y="4041648"/>
            <a:ext cx="5532120" cy="3200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66928"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两阶段安全发布机制 (Two-Phase Commit &amp; Publication)</a:t>
            </a:r>
          </a:p>
          <a:p>
            <a:pPr algn="r">
              <a:defRPr sz="950" b="1">
                <a:solidFill>
                  <a:srgbClr val="BFDBFE"/>
                </a:solidFill>
                <a:latin typeface="Microsoft YaHei"/>
              </a:defRPr>
            </a:pPr>
            <a:r>
              <a:t>[杜绝半写脏块]</a:t>
            </a:r>
          </a:p>
        </p:txBody>
      </p:sp>
      <p:sp>
        <p:nvSpPr>
          <p:cNvPr id="27" name="TextBox 26"/>
          <p:cNvSpPr txBox="1"/>
          <p:nvPr/>
        </p:nvSpPr>
        <p:spPr>
          <a:xfrm>
            <a:off x="457200"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机制设计意图：</a:t>
            </a:r>
            <a:r>
              <a:rPr sz="860">
                <a:solidFill>
                  <a:srgbClr val="1E293B"/>
                </a:solidFill>
                <a:latin typeface="Microsoft YaHei"/>
              </a:rPr>
              <a:t>在 Prefill 阶段算子生成 KV 块时，正文处于私有写入状态。若立刻发布，下游消费者可能读到刚写了一半的残缺数据，导致注意力算子崩溃或生成乱码</a:t>
            </a:r>
          </a:p>
          <a:p>
            <a:pPr>
              <a:lnSpc>
                <a:spcPct val="112000"/>
              </a:lnSpc>
              <a:spcAft>
                <a:spcPts val="200"/>
              </a:spcAft>
            </a:pPr>
            <a:r>
              <a:rPr sz="860" b="1">
                <a:solidFill>
                  <a:srgbClr val="1E3A8A"/>
                </a:solidFill>
                <a:latin typeface="Microsoft YaHei"/>
              </a:rPr>
              <a:t>▸ 架构防线：</a:t>
            </a:r>
            <a:r>
              <a:rPr sz="860">
                <a:solidFill>
                  <a:srgbClr val="1E293B"/>
                </a:solidFill>
                <a:latin typeface="Microsoft YaHei"/>
              </a:rPr>
              <a:t>物理写入阶段状态为 PREPARING，仅在底层 DMA 完成且收到硬件 CQE 证据后置为 COMMITTED；经 6 维语义校验合格才原子翻转 Ready 就绪位发布为 PUBLISHED</a:t>
            </a:r>
          </a:p>
          <a:p>
            <a:pPr>
              <a:lnSpc>
                <a:spcPct val="112000"/>
              </a:lnSpc>
              <a:spcAft>
                <a:spcPts val="200"/>
              </a:spcAft>
            </a:pPr>
            <a:r>
              <a:rPr sz="860" b="1">
                <a:solidFill>
                  <a:srgbClr val="1E3A8A"/>
                </a:solidFill>
                <a:latin typeface="Microsoft YaHei"/>
              </a:rPr>
              <a:t>▸ 安全不变量：</a:t>
            </a:r>
            <a:r>
              <a:rPr sz="860">
                <a:solidFill>
                  <a:srgbClr val="1E293B"/>
                </a:solidFill>
                <a:latin typeface="Microsoft YaHei"/>
              </a:rPr>
              <a:t>未取得硬件落盘证据前对外部完全不可见，彻底杜绝下游消费未写完的半写脏块</a:t>
            </a:r>
          </a:p>
        </p:txBody>
      </p:sp>
      <p:sp>
        <p:nvSpPr>
          <p:cNvPr id="28" name="Rectangle 27"/>
          <p:cNvSpPr/>
          <p:nvPr/>
        </p:nvSpPr>
        <p:spPr>
          <a:xfrm>
            <a:off x="6199632"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199632" y="4041648"/>
            <a:ext cx="5532120" cy="3200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309360"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RCU 双层宽限期延迟回收机制 (RCU Grace Period Arbitration)</a:t>
            </a:r>
          </a:p>
          <a:p>
            <a:pPr algn="r">
              <a:defRPr sz="950" b="1">
                <a:solidFill>
                  <a:srgbClr val="BFDBFE"/>
                </a:solidFill>
                <a:latin typeface="Microsoft YaHei"/>
              </a:defRPr>
            </a:pPr>
            <a:r>
              <a:t>[消除 UAF 内存踩踏]</a:t>
            </a:r>
          </a:p>
        </p:txBody>
      </p:sp>
      <p:sp>
        <p:nvSpPr>
          <p:cNvPr id="31" name="TextBox 30"/>
          <p:cNvSpPr txBox="1"/>
          <p:nvPr/>
        </p:nvSpPr>
        <p:spPr>
          <a:xfrm>
            <a:off x="6199632" y="4370832"/>
            <a:ext cx="5532120" cy="1389888"/>
          </a:xfrm>
          <a:prstGeom prst="rect">
            <a:avLst/>
          </a:prstGeom>
          <a:noFill/>
        </p:spPr>
        <p:txBody>
          <a:bodyPr wrap="square" lIns="73152" tIns="73152" rIns="73152" bIns="73152">
            <a:spAutoFit/>
          </a:bodyPr>
          <a:lstStyle/>
          <a:p>
            <a:pPr>
              <a:lnSpc>
                <a:spcPct val="112000"/>
              </a:lnSpc>
              <a:spcAft>
                <a:spcPts val="200"/>
              </a:spcAft>
            </a:pPr>
            <a:r>
              <a:rPr sz="860" b="1">
                <a:solidFill>
                  <a:srgbClr val="1E3A8A"/>
                </a:solidFill>
                <a:latin typeface="Microsoft YaHei"/>
              </a:rPr>
              <a:t>▸ 机制设计意图：</a:t>
            </a:r>
            <a:r>
              <a:rPr sz="860">
                <a:solidFill>
                  <a:srgbClr val="1E293B"/>
                </a:solidFill>
                <a:latin typeface="Microsoft YaHei"/>
              </a:rPr>
              <a:t>跨节点远端直读或本地算子可能仍在读取淘汰块；若直接释放，被新请求复用后将引发致命的 Use-After-Free 内存踩踏与系统异常</a:t>
            </a:r>
          </a:p>
          <a:p>
            <a:pPr>
              <a:lnSpc>
                <a:spcPct val="112000"/>
              </a:lnSpc>
              <a:spcAft>
                <a:spcPts val="200"/>
              </a:spcAft>
            </a:pPr>
            <a:r>
              <a:rPr sz="860" b="1">
                <a:solidFill>
                  <a:srgbClr val="1E3A8A"/>
                </a:solidFill>
                <a:latin typeface="Microsoft YaHei"/>
              </a:rPr>
              <a:t>▸ 架构防线：</a:t>
            </a:r>
            <a:r>
              <a:rPr sz="860">
                <a:solidFill>
                  <a:srgbClr val="1E293B"/>
                </a:solidFill>
                <a:latin typeface="Microsoft YaHei"/>
              </a:rPr>
              <a:t>淘汰时先置 TOMBSTONE 墓碑阻断新引用，物理释放 (FREE) 必须跨越双层屏障：① 监听所有 Host CPU 读线程退出 RCU 临界区；② 监听 NPU Stream Event 与在途 DMA 彻底排空</a:t>
            </a:r>
          </a:p>
          <a:p>
            <a:pPr>
              <a:lnSpc>
                <a:spcPct val="112000"/>
              </a:lnSpc>
              <a:spcAft>
                <a:spcPts val="200"/>
              </a:spcAft>
            </a:pPr>
            <a:r>
              <a:rPr sz="860" b="1">
                <a:solidFill>
                  <a:srgbClr val="1E3A8A"/>
                </a:solidFill>
                <a:latin typeface="Microsoft YaHei"/>
              </a:rPr>
              <a:t>▸ 安全不变量：</a:t>
            </a:r>
            <a:r>
              <a:rPr sz="860">
                <a:solidFill>
                  <a:srgbClr val="1E293B"/>
                </a:solidFill>
                <a:latin typeface="Microsoft YaHei"/>
              </a:rPr>
              <a:t>双层宽限期确认结束前严禁重置显存物理页，彻底消除并发悬空指针与脏写踩踏风险</a:t>
            </a:r>
          </a:p>
        </p:txBody>
      </p:sp>
      <p:sp>
        <p:nvSpPr>
          <p:cNvPr id="32" name="Rectangle 31"/>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不可变对象发布后正文物理只读，严格执行两阶段发布以杜绝下游消费未写完脏块；淘汰时先置墓碑阻断新引用。</a:t>
            </a:r>
            <a:r>
              <a:rPr sz="1150" b="1">
                <a:solidFill>
                  <a:srgbClr val="DC2626"/>
                </a:solidFill>
                <a:latin typeface="Microsoft YaHei"/>
              </a:rPr>
              <a:t>
显存物理回收必须满足 Host CPU 读线程退出与硬件在途 I/O 排空双层宽限期，彻底消除 Use-After-Free 踩踏风险。</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专题六：三面物理隔离与 Payload Bypass DDR 硬件直通路</a:t>
            </a:r>
          </a:p>
          <a:p>
            <a:pPr>
              <a:spcBef>
                <a:spcPts val="300"/>
              </a:spcBef>
              <a:defRPr sz="1100">
                <a:solidFill>
                  <a:srgbClr val="475569"/>
                </a:solidFill>
                <a:latin typeface="Microsoft YaHei"/>
              </a:defRPr>
            </a:pPr>
            <a:r>
              <a:t>管理面、控制面、数据面三面物理资源严格正交，数据直接流转于网卡/SSD 与显存之间完全绕过主机内存</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09 / 16 页</a:t>
            </a:r>
          </a:p>
        </p:txBody>
      </p:sp>
      <p:sp>
        <p:nvSpPr>
          <p:cNvPr id="4" name="Rectangle 3"/>
          <p:cNvSpPr/>
          <p:nvPr/>
        </p:nvSpPr>
        <p:spPr>
          <a:xfrm>
            <a:off x="457200" y="1078992"/>
            <a:ext cx="361188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36118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1. 管理面物理隔离 (Management Plane)</a:t>
            </a:r>
          </a:p>
        </p:txBody>
      </p:sp>
      <p:sp>
        <p:nvSpPr>
          <p:cNvPr id="7" name="TextBox 6"/>
          <p:cNvSpPr txBox="1"/>
          <p:nvPr/>
        </p:nvSpPr>
        <p:spPr>
          <a:xfrm>
            <a:off x="457200" y="1444752"/>
            <a:ext cx="3611880" cy="2468880"/>
          </a:xfrm>
          <a:prstGeom prst="rect">
            <a:avLst/>
          </a:prstGeom>
          <a:noFill/>
        </p:spPr>
        <p:txBody>
          <a:bodyPr wrap="square" lIns="73152" tIns="73152" rIns="73152" bIns="73152">
            <a:spAutoFit/>
          </a:bodyPr>
          <a:lstStyle/>
          <a:p>
            <a:pPr>
              <a:lnSpc>
                <a:spcPct val="120000"/>
              </a:lnSpc>
              <a:spcAft>
                <a:spcPts val="650"/>
              </a:spcAft>
            </a:pPr>
            <a:r>
              <a:rPr sz="1080" b="1">
                <a:solidFill>
                  <a:srgbClr val="1E3A8A"/>
                </a:solidFill>
                <a:latin typeface="Microsoft YaHei"/>
              </a:rPr>
              <a:t>▸ 部署形态：</a:t>
            </a:r>
            <a:r>
              <a:rPr sz="1080" b="0">
                <a:solidFill>
                  <a:srgbClr val="1E293B"/>
                </a:solidFill>
                <a:latin typeface="Microsoft YaHei"/>
              </a:rPr>
              <a:t>etcd 持久集群与 kvc-controller 部署于独立管理节点，网络端口物理隔离。</a:t>
            </a:r>
          </a:p>
          <a:p>
            <a:pPr>
              <a:lnSpc>
                <a:spcPct val="120000"/>
              </a:lnSpc>
              <a:spcAft>
                <a:spcPts val="650"/>
              </a:spcAft>
            </a:pPr>
            <a:r>
              <a:rPr sz="1080" b="1">
                <a:solidFill>
                  <a:srgbClr val="1E3A8A"/>
                </a:solidFill>
                <a:latin typeface="Microsoft YaHei"/>
              </a:rPr>
              <a:t>▸ 核心职责：</a:t>
            </a:r>
            <a:r>
              <a:rPr sz="1080" b="0">
                <a:solidFill>
                  <a:srgbClr val="1E293B"/>
                </a:solidFill>
                <a:latin typeface="Microsoft YaHei"/>
              </a:rPr>
              <a:t>负责集群拓扑维护、容量配额治理与冷分层策略下发。</a:t>
            </a:r>
          </a:p>
          <a:p>
            <a:pPr>
              <a:lnSpc>
                <a:spcPct val="120000"/>
              </a:lnSpc>
              <a:spcAft>
                <a:spcPts val="650"/>
              </a:spcAft>
            </a:pPr>
            <a:r>
              <a:rPr sz="1080" b="1">
                <a:solidFill>
                  <a:srgbClr val="1E3A8A"/>
                </a:solidFill>
                <a:latin typeface="Microsoft YaHei"/>
              </a:rPr>
              <a:t>▸ 隔离特征：</a:t>
            </a:r>
            <a:r>
              <a:rPr sz="1080" b="0">
                <a:solidFill>
                  <a:srgbClr val="1E293B"/>
                </a:solidFill>
                <a:latin typeface="Microsoft YaHei"/>
              </a:rPr>
              <a:t>极低频访问，</a:t>
            </a:r>
            <a:r>
              <a:rPr sz="1080" b="1">
                <a:solidFill>
                  <a:srgbClr val="DC2626"/>
                </a:solidFill>
                <a:latin typeface="Microsoft YaHei"/>
              </a:rPr>
              <a:t>绝对禁入单请求热路径</a:t>
            </a:r>
            <a:r>
              <a:rPr sz="1080" b="0">
                <a:solidFill>
                  <a:srgbClr val="1E293B"/>
                </a:solidFill>
                <a:latin typeface="Microsoft YaHei"/>
              </a:rPr>
              <a:t>；管理网络故障由本地配置快照兜底。</a:t>
            </a:r>
          </a:p>
        </p:txBody>
      </p:sp>
      <p:sp>
        <p:nvSpPr>
          <p:cNvPr id="8" name="Rectangle 7"/>
          <p:cNvSpPr/>
          <p:nvPr/>
        </p:nvSpPr>
        <p:spPr>
          <a:xfrm>
            <a:off x="4288536" y="1078992"/>
            <a:ext cx="361188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288536" y="1078992"/>
            <a:ext cx="361188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98264"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2. 控制面微秒决策 (Control Plane)</a:t>
            </a:r>
          </a:p>
        </p:txBody>
      </p:sp>
      <p:sp>
        <p:nvSpPr>
          <p:cNvPr id="11" name="TextBox 10"/>
          <p:cNvSpPr txBox="1"/>
          <p:nvPr/>
        </p:nvSpPr>
        <p:spPr>
          <a:xfrm>
            <a:off x="4288536" y="1444752"/>
            <a:ext cx="3611880" cy="2468880"/>
          </a:xfrm>
          <a:prstGeom prst="rect">
            <a:avLst/>
          </a:prstGeom>
          <a:noFill/>
        </p:spPr>
        <p:txBody>
          <a:bodyPr wrap="square" lIns="73152" tIns="73152" rIns="73152" bIns="73152">
            <a:spAutoFit/>
          </a:bodyPr>
          <a:lstStyle/>
          <a:p>
            <a:pPr>
              <a:lnSpc>
                <a:spcPct val="120000"/>
              </a:lnSpc>
              <a:spcAft>
                <a:spcPts val="650"/>
              </a:spcAft>
            </a:pPr>
            <a:r>
              <a:rPr sz="1080" b="1">
                <a:solidFill>
                  <a:srgbClr val="1E3A8A"/>
                </a:solidFill>
                <a:latin typeface="Microsoft YaHei"/>
              </a:rPr>
              <a:t>▸ 部署形态：</a:t>
            </a:r>
            <a:r>
              <a:rPr sz="1080" b="0">
                <a:solidFill>
                  <a:srgbClr val="1E293B"/>
                </a:solidFill>
                <a:latin typeface="Microsoft YaHei"/>
              </a:rPr>
              <a:t>libkvc_runtime 嵌入推理工作进程，kvc-node 独占绑定计算节点物理核。</a:t>
            </a:r>
          </a:p>
          <a:p>
            <a:pPr>
              <a:lnSpc>
                <a:spcPct val="120000"/>
              </a:lnSpc>
              <a:spcAft>
                <a:spcPts val="650"/>
              </a:spcAft>
            </a:pPr>
            <a:r>
              <a:rPr sz="1080" b="1">
                <a:solidFill>
                  <a:srgbClr val="1E3A8A"/>
                </a:solidFill>
                <a:latin typeface="Microsoft YaHei"/>
              </a:rPr>
              <a:t>▸ 核心职责：</a:t>
            </a:r>
            <a:r>
              <a:rPr sz="1080" b="0">
                <a:solidFill>
                  <a:srgbClr val="1E293B"/>
                </a:solidFill>
                <a:latin typeface="Microsoft YaHei"/>
              </a:rPr>
              <a:t>依托无锁 ART 树与 QueryPlan 成本模型，信令交互全在内存微秒完成 (</a:t>
            </a:r>
            <a:r>
              <a:rPr sz="1080" b="1">
                <a:solidFill>
                  <a:srgbClr val="DC2626"/>
                </a:solidFill>
                <a:latin typeface="Microsoft YaHei"/>
              </a:rPr>
              <a:t>P99 &lt; 5µs</a:t>
            </a:r>
            <a:r>
              <a:rPr sz="1080" b="0">
                <a:solidFill>
                  <a:srgbClr val="1E293B"/>
                </a:solidFill>
                <a:latin typeface="Microsoft YaHei"/>
              </a:rPr>
              <a:t>)。</a:t>
            </a:r>
          </a:p>
          <a:p>
            <a:pPr>
              <a:lnSpc>
                <a:spcPct val="120000"/>
              </a:lnSpc>
              <a:spcAft>
                <a:spcPts val="650"/>
              </a:spcAft>
            </a:pPr>
            <a:r>
              <a:rPr sz="1080" b="1">
                <a:solidFill>
                  <a:srgbClr val="1E3A8A"/>
                </a:solidFill>
                <a:latin typeface="Microsoft YaHei"/>
              </a:rPr>
              <a:t>▸ 隔离特征：</a:t>
            </a:r>
            <a:r>
              <a:rPr sz="1080" b="0">
                <a:solidFill>
                  <a:srgbClr val="1E293B"/>
                </a:solidFill>
                <a:latin typeface="Microsoft YaHei"/>
              </a:rPr>
              <a:t>负责哈希检索与租约校验，</a:t>
            </a:r>
            <a:r>
              <a:rPr sz="1080" b="1">
                <a:solidFill>
                  <a:srgbClr val="1E3A8A"/>
                </a:solidFill>
                <a:latin typeface="Microsoft YaHei"/>
              </a:rPr>
              <a:t>仅处理微秒信令且不搬运正文</a:t>
            </a:r>
            <a:r>
              <a:rPr sz="1080" b="0">
                <a:solidFill>
                  <a:srgbClr val="1E293B"/>
                </a:solidFill>
                <a:latin typeface="Microsoft YaHei"/>
              </a:rPr>
              <a:t>。</a:t>
            </a:r>
          </a:p>
        </p:txBody>
      </p:sp>
      <p:sp>
        <p:nvSpPr>
          <p:cNvPr id="12" name="Rectangle 11"/>
          <p:cNvSpPr/>
          <p:nvPr/>
        </p:nvSpPr>
        <p:spPr>
          <a:xfrm>
            <a:off x="8119872" y="1078992"/>
            <a:ext cx="361188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119872" y="1078992"/>
            <a:ext cx="3611880" cy="34747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3. 数据面零拷贝与三介质分层</a:t>
            </a:r>
          </a:p>
        </p:txBody>
      </p:sp>
      <p:sp>
        <p:nvSpPr>
          <p:cNvPr id="15" name="TextBox 14"/>
          <p:cNvSpPr txBox="1"/>
          <p:nvPr/>
        </p:nvSpPr>
        <p:spPr>
          <a:xfrm>
            <a:off x="8119872" y="1444752"/>
            <a:ext cx="3611880" cy="2468880"/>
          </a:xfrm>
          <a:prstGeom prst="rect">
            <a:avLst/>
          </a:prstGeom>
          <a:noFill/>
        </p:spPr>
        <p:txBody>
          <a:bodyPr wrap="square" lIns="73152" tIns="73152" rIns="73152" bIns="73152">
            <a:spAutoFit/>
          </a:bodyPr>
          <a:lstStyle/>
          <a:p>
            <a:pPr>
              <a:lnSpc>
                <a:spcPct val="120000"/>
              </a:lnSpc>
              <a:spcAft>
                <a:spcPts val="650"/>
              </a:spcAft>
            </a:pPr>
            <a:r>
              <a:rPr sz="1080" b="1">
                <a:solidFill>
                  <a:srgbClr val="1E3A8A"/>
                </a:solidFill>
                <a:latin typeface="Microsoft YaHei"/>
              </a:rPr>
              <a:t>▸ NPU HBM 显存：</a:t>
            </a:r>
            <a:r>
              <a:rPr sz="1080" b="0">
                <a:solidFill>
                  <a:srgbClr val="1E293B"/>
                </a:solidFill>
                <a:latin typeface="Microsoft YaHei"/>
              </a:rPr>
              <a:t>存放当前模型前向推理即时执行的热数据，算子在显存内直接寻址。</a:t>
            </a:r>
          </a:p>
          <a:p>
            <a:pPr>
              <a:lnSpc>
                <a:spcPct val="120000"/>
              </a:lnSpc>
              <a:spcAft>
                <a:spcPts val="650"/>
              </a:spcAft>
            </a:pPr>
            <a:r>
              <a:rPr sz="1080" b="1">
                <a:solidFill>
                  <a:srgbClr val="1E3A8A"/>
                </a:solidFill>
                <a:latin typeface="Microsoft YaHei"/>
              </a:rPr>
              <a:t>▸ Host DDR 内存：</a:t>
            </a:r>
            <a:r>
              <a:rPr sz="1080" b="0">
                <a:solidFill>
                  <a:srgbClr val="1E293B"/>
                </a:solidFill>
                <a:latin typeface="Microsoft YaHei"/>
              </a:rPr>
              <a:t>百 GB 级高吞吐热温扩展缓存，存放高频前缀，通过 PCIe DMA 极速搬运。</a:t>
            </a:r>
          </a:p>
          <a:p>
            <a:pPr>
              <a:lnSpc>
                <a:spcPct val="120000"/>
              </a:lnSpc>
              <a:spcAft>
                <a:spcPts val="650"/>
              </a:spcAft>
            </a:pPr>
            <a:r>
              <a:rPr sz="1080" b="1">
                <a:solidFill>
                  <a:srgbClr val="1E3A8A"/>
                </a:solidFill>
                <a:latin typeface="Microsoft YaHei"/>
              </a:rPr>
              <a:t>▸ NVMe SSD 裸盘：</a:t>
            </a:r>
            <a:r>
              <a:rPr sz="1080" b="0">
                <a:solidFill>
                  <a:srgbClr val="1E293B"/>
                </a:solidFill>
                <a:latin typeface="Microsoft YaHei"/>
              </a:rPr>
              <a:t>TB 级冷数据异步持久化沉淀，提供大容量冷缓存池。</a:t>
            </a:r>
          </a:p>
          <a:p>
            <a:pPr>
              <a:lnSpc>
                <a:spcPct val="120000"/>
              </a:lnSpc>
              <a:spcAft>
                <a:spcPts val="650"/>
              </a:spcAft>
            </a:pPr>
            <a:r>
              <a:rPr sz="1080" b="1">
                <a:solidFill>
                  <a:srgbClr val="1E3A8A"/>
                </a:solidFill>
                <a:latin typeface="Microsoft YaHei"/>
              </a:rPr>
              <a:t>▸ 直通路机制：</a:t>
            </a:r>
            <a:r>
              <a:rPr sz="1080" b="0">
                <a:solidFill>
                  <a:srgbClr val="1E293B"/>
                </a:solidFill>
                <a:latin typeface="Microsoft YaHei"/>
              </a:rPr>
              <a:t>硬件 DMA 直达显存，</a:t>
            </a:r>
            <a:r>
              <a:rPr sz="1080" b="1">
                <a:solidFill>
                  <a:srgbClr val="DC2626"/>
                </a:solidFill>
                <a:latin typeface="Microsoft YaHei"/>
              </a:rPr>
              <a:t>严格绕过主机内存 (Payload Bypass DDR)</a:t>
            </a:r>
            <a:r>
              <a:rPr sz="1080" b="0">
                <a:solidFill>
                  <a:srgbClr val="1E293B"/>
                </a:solidFill>
                <a:latin typeface="Microsoft YaHei"/>
              </a:rPr>
              <a:t>，</a:t>
            </a:r>
            <a:r>
              <a:rPr sz="1080" b="1">
                <a:solidFill>
                  <a:srgbClr val="DC2626"/>
                </a:solidFill>
                <a:latin typeface="Microsoft YaHei"/>
              </a:rPr>
              <a:t>Host CPU 严格零数据拷贝</a:t>
            </a:r>
            <a:r>
              <a:rPr sz="1080" b="0">
                <a:solidFill>
                  <a:srgbClr val="1E293B"/>
                </a:solidFill>
                <a:latin typeface="Microsoft YaHei"/>
              </a:rPr>
              <a:t>。</a:t>
            </a:r>
          </a:p>
        </p:txBody>
      </p:sp>
      <p:sp>
        <p:nvSpPr>
          <p:cNvPr id="16" name="Rectangle 15"/>
          <p:cNvSpPr/>
          <p:nvPr/>
        </p:nvSpPr>
        <p:spPr>
          <a:xfrm>
            <a:off x="457200"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57200" y="4041648"/>
            <a:ext cx="5532120" cy="3200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统一总线 (UB) 硬件双轨队列隔离与微秒自适应退避</a:t>
            </a:r>
          </a:p>
          <a:p>
            <a:pPr algn="r">
              <a:defRPr sz="950" b="1">
                <a:solidFill>
                  <a:srgbClr val="BFDBFE"/>
                </a:solidFill>
                <a:latin typeface="Microsoft YaHei"/>
              </a:defRPr>
            </a:pPr>
            <a:r>
              <a:t>[尾部时延保障]</a:t>
            </a:r>
          </a:p>
        </p:txBody>
      </p:sp>
      <p:sp>
        <p:nvSpPr>
          <p:cNvPr id="19" name="TextBox 18"/>
          <p:cNvSpPr txBox="1"/>
          <p:nvPr/>
        </p:nvSpPr>
        <p:spPr>
          <a:xfrm>
            <a:off x="457200" y="4370832"/>
            <a:ext cx="5532120" cy="1389888"/>
          </a:xfrm>
          <a:prstGeom prst="rect">
            <a:avLst/>
          </a:prstGeom>
          <a:noFill/>
        </p:spPr>
        <p:txBody>
          <a:bodyPr wrap="square" lIns="73152" tIns="73152" rIns="73152" bIns="73152">
            <a:spAutoFit/>
          </a:bodyPr>
          <a:lstStyle/>
          <a:p>
            <a:pPr>
              <a:lnSpc>
                <a:spcPct val="116000"/>
              </a:lnSpc>
              <a:spcAft>
                <a:spcPts val="300"/>
              </a:spcAft>
            </a:pPr>
            <a:r>
              <a:rPr sz="980" b="1">
                <a:solidFill>
                  <a:srgbClr val="1E3A8A"/>
                </a:solidFill>
                <a:latin typeface="Microsoft YaHei"/>
              </a:rPr>
              <a:t>▸ 报文头优先级打标：</a:t>
            </a:r>
            <a:r>
              <a:rPr sz="980" b="0">
                <a:solidFill>
                  <a:srgbClr val="1E293B"/>
                </a:solidFill>
                <a:latin typeface="Microsoft YaHei"/>
              </a:rPr>
              <a:t>在网络报文头标记 DSCP/CoS 服务等级，指导网卡与交换机在物理队列层面将流量分流至不同硬件队列。</a:t>
            </a:r>
          </a:p>
          <a:p>
            <a:pPr>
              <a:lnSpc>
                <a:spcPct val="116000"/>
              </a:lnSpc>
              <a:spcAft>
                <a:spcPts val="300"/>
              </a:spcAft>
            </a:pPr>
            <a:r>
              <a:rPr sz="980" b="1">
                <a:solidFill>
                  <a:srgbClr val="1E3A8A"/>
                </a:solidFill>
                <a:latin typeface="Microsoft YaHei"/>
              </a:rPr>
              <a:t>▸ 硬件双轨队列分流：</a:t>
            </a:r>
            <a:r>
              <a:rPr sz="980" b="0">
                <a:solidFill>
                  <a:srgbClr val="1E293B"/>
                </a:solidFill>
                <a:latin typeface="Microsoft YaHei"/>
              </a:rPr>
              <a:t>在线前台高优推理流量直通至</a:t>
            </a:r>
            <a:r>
              <a:rPr sz="980" b="1">
                <a:solidFill>
                  <a:srgbClr val="DC2626"/>
                </a:solidFill>
                <a:latin typeface="Microsoft YaHei"/>
              </a:rPr>
              <a:t>高优硬件队列 TC0</a:t>
            </a:r>
            <a:r>
              <a:rPr sz="980" b="0">
                <a:solidFill>
                  <a:srgbClr val="1E293B"/>
                </a:solidFill>
                <a:latin typeface="Microsoft YaHei"/>
              </a:rPr>
              <a:t>；后台冷数据换出与分层存储绑定</a:t>
            </a:r>
            <a:r>
              <a:rPr sz="980" b="1">
                <a:solidFill>
                  <a:srgbClr val="1E3A8A"/>
                </a:solidFill>
                <a:latin typeface="Microsoft YaHei"/>
              </a:rPr>
              <a:t>低优硬件队列 TC1</a:t>
            </a:r>
            <a:r>
              <a:rPr sz="980" b="0">
                <a:solidFill>
                  <a:srgbClr val="1E293B"/>
                </a:solidFill>
                <a:latin typeface="Microsoft YaHei"/>
              </a:rPr>
              <a:t>，绝不挤占高优通道带宽。</a:t>
            </a:r>
          </a:p>
          <a:p>
            <a:pPr>
              <a:lnSpc>
                <a:spcPct val="116000"/>
              </a:lnSpc>
              <a:spcAft>
                <a:spcPts val="300"/>
              </a:spcAft>
            </a:pPr>
            <a:r>
              <a:rPr sz="980" b="1">
                <a:solidFill>
                  <a:srgbClr val="1E3A8A"/>
                </a:solidFill>
                <a:latin typeface="Microsoft YaHei"/>
              </a:rPr>
              <a:t>▸ 微秒自适应退避：</a:t>
            </a:r>
            <a:r>
              <a:rPr sz="980" b="0">
                <a:solidFill>
                  <a:srgbClr val="1E293B"/>
                </a:solidFill>
                <a:latin typeface="Microsoft YaHei"/>
              </a:rPr>
              <a:t>应用层 Worker.step() 动态监测网络排队时延；一旦检测到排队立即主动限流 50%~100%，保障</a:t>
            </a:r>
            <a:r>
              <a:rPr sz="980" b="1">
                <a:solidFill>
                  <a:srgbClr val="DC2626"/>
                </a:solidFill>
                <a:latin typeface="Microsoft YaHei"/>
              </a:rPr>
              <a:t>前台在线推理 TPOT 干扰率严格 &lt; 3%</a:t>
            </a:r>
            <a:r>
              <a:rPr sz="980" b="0">
                <a:solidFill>
                  <a:srgbClr val="1E293B"/>
                </a:solidFill>
                <a:latin typeface="Microsoft YaHei"/>
              </a:rPr>
              <a:t>。</a:t>
            </a:r>
          </a:p>
        </p:txBody>
      </p:sp>
      <p:sp>
        <p:nvSpPr>
          <p:cNvPr id="20" name="Rectangle 19"/>
          <p:cNvSpPr/>
          <p:nvPr/>
        </p:nvSpPr>
        <p:spPr>
          <a:xfrm>
            <a:off x="6199632"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199632" y="4041648"/>
            <a:ext cx="5532120" cy="3200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09360"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软硬双轨协同与 Raw Direct 纯软主路径</a:t>
            </a:r>
          </a:p>
          <a:p>
            <a:pPr algn="r">
              <a:defRPr sz="950" b="1">
                <a:solidFill>
                  <a:srgbClr val="BFDBFE"/>
                </a:solidFill>
                <a:latin typeface="Microsoft YaHei"/>
              </a:defRPr>
            </a:pPr>
            <a:r>
              <a:t>[架构演进与去依赖]</a:t>
            </a:r>
          </a:p>
        </p:txBody>
      </p:sp>
      <p:sp>
        <p:nvSpPr>
          <p:cNvPr id="23" name="TextBox 22"/>
          <p:cNvSpPr txBox="1"/>
          <p:nvPr/>
        </p:nvSpPr>
        <p:spPr>
          <a:xfrm>
            <a:off x="6199632" y="4370832"/>
            <a:ext cx="5532120" cy="1389888"/>
          </a:xfrm>
          <a:prstGeom prst="rect">
            <a:avLst/>
          </a:prstGeom>
          <a:noFill/>
        </p:spPr>
        <p:txBody>
          <a:bodyPr wrap="square" lIns="73152" tIns="73152" rIns="73152" bIns="73152">
            <a:spAutoFit/>
          </a:bodyPr>
          <a:lstStyle/>
          <a:p>
            <a:pPr>
              <a:lnSpc>
                <a:spcPct val="116000"/>
              </a:lnSpc>
              <a:spcAft>
                <a:spcPts val="300"/>
              </a:spcAft>
            </a:pPr>
            <a:r>
              <a:rPr sz="980" b="1">
                <a:solidFill>
                  <a:srgbClr val="1E3A8A"/>
                </a:solidFill>
                <a:latin typeface="Microsoft YaHei"/>
              </a:rPr>
              <a:t>▸ 纯软主路径底座：</a:t>
            </a:r>
            <a:r>
              <a:rPr sz="980" b="0">
                <a:solidFill>
                  <a:srgbClr val="1E293B"/>
                </a:solidFill>
                <a:latin typeface="Microsoft YaHei"/>
              </a:rPr>
              <a:t>以标准驱动纯软直达 (</a:t>
            </a:r>
            <a:r>
              <a:rPr sz="980" b="1">
                <a:solidFill>
                  <a:srgbClr val="DC2626"/>
                </a:solidFill>
                <a:latin typeface="Microsoft YaHei"/>
              </a:rPr>
              <a:t>Raw Direct 纯软主路径</a:t>
            </a:r>
            <a:r>
              <a:rPr sz="980" b="0">
                <a:solidFill>
                  <a:srgbClr val="1E293B"/>
                </a:solidFill>
                <a:latin typeface="Microsoft YaHei"/>
              </a:rPr>
              <a:t>) 作为底座，不依赖专用硬件协处理器，降低系统复杂度与外部依赖。</a:t>
            </a:r>
          </a:p>
          <a:p>
            <a:pPr>
              <a:lnSpc>
                <a:spcPct val="116000"/>
              </a:lnSpc>
              <a:spcAft>
                <a:spcPts val="300"/>
              </a:spcAft>
            </a:pPr>
            <a:r>
              <a:rPr sz="980" b="1">
                <a:solidFill>
                  <a:srgbClr val="1E3A8A"/>
                </a:solidFill>
                <a:latin typeface="Microsoft YaHei"/>
              </a:rPr>
              <a:t>▸ 条件硬件加速轨：</a:t>
            </a:r>
            <a:r>
              <a:rPr sz="980" b="0">
                <a:solidFill>
                  <a:srgbClr val="1E293B"/>
                </a:solidFill>
                <a:latin typeface="Microsoft YaHei"/>
              </a:rPr>
              <a:t>将 DPU 硬件卸载（加解密、CRC 校验、数据压缩）设计为</a:t>
            </a:r>
            <a:r>
              <a:rPr sz="980" b="1">
                <a:solidFill>
                  <a:srgbClr val="1E3A8A"/>
                </a:solidFill>
                <a:latin typeface="Microsoft YaHei"/>
              </a:rPr>
              <a:t>条件加速轨</a:t>
            </a:r>
            <a:r>
              <a:rPr sz="980" b="0">
                <a:solidFill>
                  <a:srgbClr val="1E293B"/>
                </a:solidFill>
                <a:latin typeface="Microsoft YaHei"/>
              </a:rPr>
              <a:t>，主路径与加速轨解耦演进。</a:t>
            </a:r>
          </a:p>
          <a:p>
            <a:pPr>
              <a:lnSpc>
                <a:spcPct val="116000"/>
              </a:lnSpc>
              <a:spcAft>
                <a:spcPts val="300"/>
              </a:spcAft>
            </a:pPr>
            <a:r>
              <a:rPr sz="980" b="1">
                <a:solidFill>
                  <a:srgbClr val="1E3A8A"/>
                </a:solidFill>
                <a:latin typeface="Microsoft YaHei"/>
              </a:rPr>
              <a:t>▸ 综合成本对账：</a:t>
            </a:r>
            <a:r>
              <a:rPr sz="980" b="0">
                <a:solidFill>
                  <a:srgbClr val="1E293B"/>
                </a:solidFill>
                <a:latin typeface="Microsoft YaHei"/>
              </a:rPr>
              <a:t>通过同等负载实测对比，量化评估 Host CPU 软件与 DPU 硬件综合开销，以</a:t>
            </a:r>
            <a:r>
              <a:rPr sz="980" b="1">
                <a:solidFill>
                  <a:srgbClr val="1E3A8A"/>
                </a:solidFill>
                <a:latin typeface="Microsoft YaHei"/>
              </a:rPr>
              <a:t>客观实测数据</a:t>
            </a:r>
            <a:r>
              <a:rPr sz="980" b="0">
                <a:solidFill>
                  <a:srgbClr val="1E293B"/>
                </a:solidFill>
                <a:latin typeface="Microsoft YaHei"/>
              </a:rPr>
              <a:t>确保架构平稳演进。</a:t>
            </a:r>
          </a:p>
        </p:txBody>
      </p:sp>
      <p:sp>
        <p:nvSpPr>
          <p:cNvPr id="24" name="Rectangle 23"/>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管理面、控制面与数据面三面物理资源严格正交，数据流通过硬件 DMA 直达显存并严格绕过主机内存 (Payload Bypass DDR)。</a:t>
            </a:r>
            <a:r>
              <a:rPr sz="1150" b="1">
                <a:solidFill>
                  <a:srgbClr val="DC2626"/>
                </a:solidFill>
                <a:latin typeface="Microsoft YaHei"/>
              </a:rPr>
              <a:t>
NPU 显存热执行、Host DDR 热温缓存扩展与 NVMe SSD 异步沉淀构成三介质分层体系；统一总线 QoS 双轨保障前台 TPOT 干扰率 &lt; 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专题七：12 类业务场景推拉模式映射与物理排空屏障</a:t>
            </a:r>
          </a:p>
          <a:p>
            <a:pPr>
              <a:spcBef>
                <a:spcPts val="300"/>
              </a:spcBef>
              <a:defRPr sz="1100">
                <a:solidFill>
                  <a:srgbClr val="475569"/>
                </a:solidFill>
                <a:latin typeface="Microsoft YaHei"/>
              </a:defRPr>
            </a:pPr>
            <a:r>
              <a:t>区分确定性热点异步推送与突发长尾按需拉取，前置净收益评估与硬件排空屏障保障显存安全</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10 / 16 页</a:t>
            </a:r>
          </a:p>
        </p:txBody>
      </p:sp>
      <p:sp>
        <p:nvSpPr>
          <p:cNvPr id="4" name="Rectangle 3"/>
          <p:cNvSpPr/>
          <p:nvPr/>
        </p:nvSpPr>
        <p:spPr>
          <a:xfrm>
            <a:off x="457200" y="1078992"/>
            <a:ext cx="11277295"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08_kvc_inference_scenarios_and_causal_chains.png"/>
          <p:cNvPicPr>
            <a:picLocks noChangeAspect="1"/>
          </p:cNvPicPr>
          <p:nvPr/>
        </p:nvPicPr>
        <p:blipFill>
          <a:blip r:embed="rId3"/>
          <a:stretch>
            <a:fillRect/>
          </a:stretch>
        </p:blipFill>
        <p:spPr>
          <a:xfrm>
            <a:off x="493776" y="1090148"/>
            <a:ext cx="11204143" cy="4659415"/>
          </a:xfrm>
          <a:prstGeom prst="rect">
            <a:avLst/>
          </a:prstGeom>
        </p:spPr>
      </p:pic>
      <p:sp>
        <p:nvSpPr>
          <p:cNvPr id="6" name="Rectangle 5"/>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确定性高频热点走异步提前推送，突发长尾走微秒按需拉取；严格执行拉取与加载总开销小于本地直接重算的准入门限。</a:t>
            </a:r>
            <a:r>
              <a:rPr sz="1150" b="1">
                <a:solidFill>
                  <a:srgbClr val="DC2626"/>
                </a:solidFill>
                <a:latin typeface="Microsoft YaHei"/>
              </a:rPr>
              <a:t>
客户端取消或超时请求必须等待底层硬件在途 DMA 彻底物理排空后方可复用缓冲区，坚决杜绝野指针与显存踩踏。</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专题八：底层通信库 (KPCL) 责任边界、四大通信流与流量调度</a:t>
            </a:r>
          </a:p>
          <a:p>
            <a:pPr>
              <a:spcBef>
                <a:spcPts val="300"/>
              </a:spcBef>
              <a:defRPr sz="1100">
                <a:solidFill>
                  <a:srgbClr val="475569"/>
                </a:solidFill>
                <a:latin typeface="Microsoft YaHei"/>
              </a:defRPr>
            </a:pPr>
            <a:r>
              <a:t>明确 KVC 存储池调度与 KPCL 原厂通信底座接口契约，四大通信流模式与 F1~F8 流量画像消除拥塞</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11 / 16 页</a:t>
            </a:r>
          </a:p>
        </p:txBody>
      </p:sp>
      <p:sp>
        <p:nvSpPr>
          <p:cNvPr id="4" name="Rectangle 3"/>
          <p:cNvSpPr/>
          <p:nvPr/>
        </p:nvSpPr>
        <p:spPr>
          <a:xfrm>
            <a:off x="457200" y="1078992"/>
            <a:ext cx="11277295"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09_kvc_kpcl_traffic_scheduling_architecture.png"/>
          <p:cNvPicPr>
            <a:picLocks noChangeAspect="1"/>
          </p:cNvPicPr>
          <p:nvPr/>
        </p:nvPicPr>
        <p:blipFill>
          <a:blip r:embed="rId3"/>
          <a:stretch>
            <a:fillRect/>
          </a:stretch>
        </p:blipFill>
        <p:spPr>
          <a:xfrm>
            <a:off x="493776" y="1090148"/>
            <a:ext cx="11204143" cy="4659415"/>
          </a:xfrm>
          <a:prstGeom prst="rect">
            <a:avLst/>
          </a:prstGeom>
        </p:spPr>
      </p:pic>
      <p:sp>
        <p:nvSpPr>
          <p:cNvPr id="6" name="Rectangle 5"/>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KVC 与 KPCL 严格按语义决策与通信执行解耦，KPCL 提供 1µs 级非阻塞异步 API 契约；四大通信流严格物理映射至独立通道。</a:t>
            </a:r>
            <a:r>
              <a:rPr sz="1150" b="1">
                <a:solidFill>
                  <a:srgbClr val="DC2626"/>
                </a:solidFill>
                <a:latin typeface="Microsoft YaHei"/>
              </a:rPr>
              <a:t>
F1~F8 流量画像消除队列互斥与死锁；任何硬件数据传输完成必须以底层 CQE 可见性证据为准，确保状态强一致。</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专题九：端到端 TTFT DAG 关键路径流水线与 120ms 预算拆解</a:t>
            </a:r>
          </a:p>
          <a:p>
            <a:pPr>
              <a:spcBef>
                <a:spcPts val="300"/>
              </a:spcBef>
              <a:defRPr sz="1100">
                <a:solidFill>
                  <a:srgbClr val="475569"/>
                </a:solidFill>
                <a:latin typeface="Microsoft YaHei"/>
              </a:defRPr>
            </a:pPr>
            <a:r>
              <a:t>控制面各阶段单调时钟硬预算控制，NPU Stream/Event 异步流水消除 85% 首字等待气泡</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12 / 16 页</a:t>
            </a:r>
          </a:p>
        </p:txBody>
      </p:sp>
      <p:sp>
        <p:nvSpPr>
          <p:cNvPr id="4" name="Rectangle 3"/>
          <p:cNvSpPr/>
          <p:nvPr/>
        </p:nvSpPr>
        <p:spPr>
          <a:xfrm>
            <a:off x="457200" y="1078992"/>
            <a:ext cx="6949440"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10_kvc_ttft_dag_pipeline_and_budget.png"/>
          <p:cNvPicPr>
            <a:picLocks noChangeAspect="1"/>
          </p:cNvPicPr>
          <p:nvPr/>
        </p:nvPicPr>
        <p:blipFill>
          <a:blip r:embed="rId3"/>
          <a:stretch>
            <a:fillRect/>
          </a:stretch>
        </p:blipFill>
        <p:spPr>
          <a:xfrm>
            <a:off x="493776" y="1169434"/>
            <a:ext cx="6876288" cy="4500843"/>
          </a:xfrm>
          <a:prstGeom prst="rect">
            <a:avLst/>
          </a:prstGeom>
        </p:spPr>
      </p:pic>
      <p:sp>
        <p:nvSpPr>
          <p:cNvPr id="6" name="Rectangle 5"/>
          <p:cNvSpPr/>
          <p:nvPr/>
        </p:nvSpPr>
        <p:spPr>
          <a:xfrm>
            <a:off x="7543800" y="1078992"/>
            <a:ext cx="4187952"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543800" y="1078992"/>
            <a:ext cx="4187952"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53528" y="1115568"/>
            <a:ext cx="3968496" cy="274320"/>
          </a:xfrm>
          <a:prstGeom prst="rect">
            <a:avLst/>
          </a:prstGeom>
          <a:noFill/>
        </p:spPr>
        <p:txBody>
          <a:bodyPr wrap="none" lIns="0" tIns="0" rIns="0" bIns="0">
            <a:spAutoFit/>
          </a:bodyPr>
          <a:lstStyle/>
          <a:p>
            <a:pPr>
              <a:defRPr sz="1120" b="1">
                <a:solidFill>
                  <a:srgbClr val="FFFFFF"/>
                </a:solidFill>
                <a:latin typeface="Microsoft YaHei"/>
              </a:defRPr>
            </a:pPr>
            <a:r>
              <a:t>120ms 预算来源、业务收益与预算分解</a:t>
            </a:r>
          </a:p>
        </p:txBody>
      </p:sp>
      <p:sp>
        <p:nvSpPr>
          <p:cNvPr id="9" name="TextBox 8"/>
          <p:cNvSpPr txBox="1"/>
          <p:nvPr/>
        </p:nvSpPr>
        <p:spPr>
          <a:xfrm>
            <a:off x="7543800" y="1444752"/>
            <a:ext cx="4187952" cy="4297680"/>
          </a:xfrm>
          <a:prstGeom prst="rect">
            <a:avLst/>
          </a:prstGeom>
          <a:noFill/>
        </p:spPr>
        <p:txBody>
          <a:bodyPr wrap="square" lIns="73152" tIns="73152" rIns="73152" bIns="73152">
            <a:spAutoFit/>
          </a:bodyPr>
          <a:lstStyle/>
          <a:p>
            <a:pPr>
              <a:lnSpc>
                <a:spcPct val="116000"/>
              </a:lnSpc>
              <a:spcAft>
                <a:spcPts val="380"/>
              </a:spcAft>
            </a:pPr>
            <a:r>
              <a:rPr sz="919" b="1">
                <a:solidFill>
                  <a:srgbClr val="1E3A8A"/>
                </a:solidFill>
                <a:latin typeface="Microsoft YaHei"/>
              </a:rPr>
              <a:t>▸ 1. 主流大模型案例与 120ms 目标预算来源：</a:t>
            </a:r>
            <a:r>
              <a:rPr sz="919">
                <a:solidFill>
                  <a:srgbClr val="1E293B"/>
                </a:solidFill>
                <a:latin typeface="Microsoft YaHei"/>
              </a:rPr>
              <a:t>DeepSeek-R1 (671B MoE) 与 Qwen2.5-72B 在长思维链与长文本 (32K~64K) 下，本地直接重算耗时高达 400ms~1500ms，严重击穿在线交互 TTFT &lt; 500ms 的黄金体验红线。为此倒推将跨节点 KVC 发现、拉取与挂载全流程严格锁定在 120ms 硬预算内</a:t>
            </a:r>
          </a:p>
          <a:p>
            <a:pPr>
              <a:lnSpc>
                <a:spcPct val="116000"/>
              </a:lnSpc>
              <a:spcAft>
                <a:spcPts val="380"/>
              </a:spcAft>
            </a:pPr>
            <a:r>
              <a:rPr sz="919" b="1">
                <a:solidFill>
                  <a:srgbClr val="1E3A8A"/>
                </a:solidFill>
                <a:latin typeface="Microsoft YaHei"/>
              </a:rPr>
              <a:t>▸ 2. 对业务指标的具体改善收益：</a:t>
            </a:r>
            <a:r>
              <a:rPr sz="919">
                <a:solidFill>
                  <a:srgbClr val="1E293B"/>
                </a:solidFill>
                <a:latin typeface="Microsoft YaHei"/>
              </a:rPr>
              <a:t>• TTFT 降低 ≥ 65%：首字延迟从数百毫秒以上大幅压缩至 120ms (加载) + 15ms (残余 Prefill) ≈ 135ms；
• QPS 吞吐提升 30%~50%：消除长耗时 Prefill 矩阵乘算力占用，NPU 算力即时投入 Decode 生成；
• TPOT 干扰率 &lt; 3%：通过 120ms 异步 DAG 边算边传与统一总线 QoS 隔离，输出平稳无卡顿</a:t>
            </a:r>
          </a:p>
          <a:p>
            <a:pPr>
              <a:lnSpc>
                <a:spcPct val="116000"/>
              </a:lnSpc>
              <a:spcAft>
                <a:spcPts val="380"/>
              </a:spcAft>
            </a:pPr>
            <a:r>
              <a:rPr sz="919" b="1">
                <a:solidFill>
                  <a:srgbClr val="1E3A8A"/>
                </a:solidFill>
                <a:latin typeface="Microsoft YaHei"/>
              </a:rPr>
              <a:t>▸ 3. 120ms 端到端硬预算分解：</a:t>
            </a:r>
            <a:r>
              <a:rPr sz="919">
                <a:solidFill>
                  <a:srgbClr val="1E293B"/>
                </a:solidFill>
                <a:latin typeface="Microsoft YaHei"/>
              </a:rPr>
              <a:t>• 控制面快路径 (10ms)：意图下发 2ms + 目录发现 3ms + 6 维语义校验 2ms + 决策选路 3ms；
• 数据面极速直达 (95ms)：统一总线 DMA 零拷贝与 Layer 0 边算边传流水，重叠率 ≥ 85%；
• 多卡对账与挂载 (15ms)：硬件 CQE 对账与 TP=8 原子同步 5ms + PagedAttention 块表挂载 10ms</a:t>
            </a:r>
          </a:p>
          <a:p>
            <a:pPr>
              <a:lnSpc>
                <a:spcPct val="116000"/>
              </a:lnSpc>
              <a:spcAft>
                <a:spcPts val="380"/>
              </a:spcAft>
            </a:pPr>
            <a:r>
              <a:rPr sz="919" b="1">
                <a:solidFill>
                  <a:srgbClr val="1E3A8A"/>
                </a:solidFill>
                <a:latin typeface="Microsoft YaHei"/>
              </a:rPr>
              <a:t>▸ 4. 推导算例属性界定：</a:t>
            </a:r>
            <a:r>
              <a:rPr sz="919">
                <a:solidFill>
                  <a:srgbClr val="1E293B"/>
                </a:solidFill>
                <a:latin typeface="Microsoft YaHei"/>
              </a:rPr>
              <a:t>本预算用于指导各子系统微秒级门限设定的工程推导模型，任一环节超时立即熔断回退重算，绝非既成实测数据，以客观实测为准</a:t>
            </a:r>
          </a:p>
        </p:txBody>
      </p:sp>
      <p:sp>
        <p:nvSpPr>
          <p:cNvPr id="10" name="Rectangle 9"/>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端到端时延以并集上界分解控制，控制面各子阶段设定单调时钟硬预算；NPU 边算边传异步流水消除 85% 等待气泡。</a:t>
            </a:r>
            <a:r>
              <a:rPr sz="1150" b="1">
                <a:solidFill>
                  <a:srgbClr val="DC2626"/>
                </a:solidFill>
                <a:latin typeface="Microsoft YaHei"/>
              </a:rPr>
              <a:t>
Layer 0 首层映射最高优先级提前点火以掩盖传输延迟；120ms 目标预算算例严格用于指导自上而下系统工程分解。</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专题十：TP=8 张量并行原子协同机制与 QoS 干扰抑制架构</a:t>
            </a:r>
          </a:p>
          <a:p>
            <a:pPr>
              <a:spcBef>
                <a:spcPts val="300"/>
              </a:spcBef>
              <a:defRPr sz="1100">
                <a:solidFill>
                  <a:srgbClr val="475569"/>
                </a:solidFill>
                <a:latin typeface="Microsoft YaHei"/>
              </a:defRPr>
            </a:pPr>
            <a:r>
              <a:t>单次原子 Doorbell 消除多卡时序差与偏斜，前后台 QoS 双层退避保障尾部时延稳定性</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13 / 16 页</a:t>
            </a:r>
          </a:p>
        </p:txBody>
      </p:sp>
      <p:sp>
        <p:nvSpPr>
          <p:cNvPr id="4" name="Rectangle 3"/>
          <p:cNvSpPr/>
          <p:nvPr/>
        </p:nvSpPr>
        <p:spPr>
          <a:xfrm>
            <a:off x="457200" y="1078992"/>
            <a:ext cx="6949440" cy="46817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11_kvc_tp8_atomic_coordination_and_qos.png"/>
          <p:cNvPicPr>
            <a:picLocks noChangeAspect="1"/>
          </p:cNvPicPr>
          <p:nvPr/>
        </p:nvPicPr>
        <p:blipFill>
          <a:blip r:embed="rId3"/>
          <a:stretch>
            <a:fillRect/>
          </a:stretch>
        </p:blipFill>
        <p:spPr>
          <a:xfrm>
            <a:off x="493776" y="1498027"/>
            <a:ext cx="6876288" cy="3843658"/>
          </a:xfrm>
          <a:prstGeom prst="rect">
            <a:avLst/>
          </a:prstGeom>
        </p:spPr>
      </p:pic>
      <p:sp>
        <p:nvSpPr>
          <p:cNvPr id="6" name="Rectangle 5"/>
          <p:cNvSpPr/>
          <p:nvPr/>
        </p:nvSpPr>
        <p:spPr>
          <a:xfrm>
            <a:off x="7543800" y="1078992"/>
            <a:ext cx="4187952"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543800" y="1078992"/>
            <a:ext cx="4187952"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53528" y="1115568"/>
            <a:ext cx="3968496" cy="274320"/>
          </a:xfrm>
          <a:prstGeom prst="rect">
            <a:avLst/>
          </a:prstGeom>
          <a:noFill/>
        </p:spPr>
        <p:txBody>
          <a:bodyPr wrap="none" lIns="0" tIns="0" rIns="0" bIns="0">
            <a:spAutoFit/>
          </a:bodyPr>
          <a:lstStyle/>
          <a:p>
            <a:pPr>
              <a:defRPr sz="1120" b="1">
                <a:solidFill>
                  <a:srgbClr val="FFFFFF"/>
                </a:solidFill>
                <a:latin typeface="Microsoft YaHei"/>
              </a:defRPr>
            </a:pPr>
            <a:r>
              <a:t>TP=8 原子协同与尾部延迟控制</a:t>
            </a:r>
          </a:p>
        </p:txBody>
      </p:sp>
      <p:sp>
        <p:nvSpPr>
          <p:cNvPr id="9" name="TextBox 8"/>
          <p:cNvSpPr txBox="1"/>
          <p:nvPr/>
        </p:nvSpPr>
        <p:spPr>
          <a:xfrm>
            <a:off x="7543800" y="1444752"/>
            <a:ext cx="4187952" cy="4297680"/>
          </a:xfrm>
          <a:prstGeom prst="rect">
            <a:avLst/>
          </a:prstGeom>
          <a:noFill/>
        </p:spPr>
        <p:txBody>
          <a:bodyPr wrap="square" lIns="73152" tIns="73152" rIns="73152" bIns="73152">
            <a:spAutoFit/>
          </a:bodyPr>
          <a:lstStyle/>
          <a:p>
            <a:pPr>
              <a:lnSpc>
                <a:spcPct val="116000"/>
              </a:lnSpc>
              <a:spcAft>
                <a:spcPts val="380"/>
              </a:spcAft>
            </a:pPr>
            <a:r>
              <a:rPr sz="919" b="1">
                <a:solidFill>
                  <a:srgbClr val="1E3A8A"/>
                </a:solidFill>
                <a:latin typeface="Microsoft YaHei"/>
              </a:rPr>
              <a:t>▸ 1. TP=8 木桶短板效应原理：</a:t>
            </a:r>
            <a:r>
              <a:rPr sz="919">
                <a:solidFill>
                  <a:srgbClr val="1E293B"/>
                </a:solidFill>
                <a:latin typeface="Microsoft YaHei"/>
              </a:rPr>
              <a:t>张量并行切分至 8 张卡，计算需等待全部卡完成加载；慢节点将引发气泡并放大尾部时延</a:t>
            </a:r>
          </a:p>
          <a:p>
            <a:pPr>
              <a:lnSpc>
                <a:spcPct val="116000"/>
              </a:lnSpc>
              <a:spcAft>
                <a:spcPts val="380"/>
              </a:spcAft>
            </a:pPr>
            <a:r>
              <a:rPr sz="919" b="1">
                <a:solidFill>
                  <a:srgbClr val="1E3A8A"/>
                </a:solidFill>
                <a:latin typeface="Microsoft YaHei"/>
              </a:rPr>
              <a:t>▸ 2. 单次原子 Doorbell 同步：</a:t>
            </a:r>
            <a:r>
              <a:rPr sz="919">
                <a:solidFill>
                  <a:srgbClr val="1E293B"/>
                </a:solidFill>
                <a:latin typeface="Microsoft YaHei"/>
              </a:rPr>
              <a:t>8 卡独立完成加载后在 POSIX 共享内存中原子汇聚 (0xFF)；协调卡仅下发单次硬件原子 Doorbell 触发同步，消除多卡时序偏差，组内同步 P99 &lt; 100µs</a:t>
            </a:r>
          </a:p>
          <a:p>
            <a:pPr>
              <a:lnSpc>
                <a:spcPct val="116000"/>
              </a:lnSpc>
              <a:spcAft>
                <a:spcPts val="380"/>
              </a:spcAft>
            </a:pPr>
            <a:r>
              <a:rPr sz="919" b="1">
                <a:solidFill>
                  <a:srgbClr val="1E3A8A"/>
                </a:solidFill>
                <a:latin typeface="Microsoft YaHei"/>
              </a:rPr>
              <a:t>▸ 3. 偏斜系数收敛机制：</a:t>
            </a:r>
            <a:r>
              <a:rPr sz="919">
                <a:solidFill>
                  <a:srgbClr val="1E293B"/>
                </a:solidFill>
                <a:latin typeface="Microsoft YaHei"/>
              </a:rPr>
              <a:t>任一单卡在租约或加载中超时，触发全局协调一致回退，绝不发生通信死锁；偏斜系数收敛至 Skew_P99 &lt; 1.15，彻底消除多卡等待空转</a:t>
            </a:r>
          </a:p>
          <a:p>
            <a:pPr>
              <a:lnSpc>
                <a:spcPct val="116000"/>
              </a:lnSpc>
              <a:spcAft>
                <a:spcPts val="380"/>
              </a:spcAft>
            </a:pPr>
            <a:r>
              <a:rPr sz="919" b="1">
                <a:solidFill>
                  <a:srgbClr val="1E3A8A"/>
                </a:solidFill>
                <a:latin typeface="Microsoft YaHei"/>
              </a:rPr>
              <a:t>▸ 4. SemanticQoS 双轨队列隔离：</a:t>
            </a:r>
            <a:r>
              <a:rPr sz="919">
                <a:solidFill>
                  <a:srgbClr val="1E293B"/>
                </a:solidFill>
                <a:latin typeface="Microsoft YaHei"/>
              </a:rPr>
              <a:t>通过报文头标记将在线推理独占绑定至统一总线硬件最高优的 TC0 队列；后台冷数据换出与分层流向限制在 TC1 队列</a:t>
            </a:r>
          </a:p>
          <a:p>
            <a:pPr>
              <a:lnSpc>
                <a:spcPct val="116000"/>
              </a:lnSpc>
              <a:spcAft>
                <a:spcPts val="380"/>
              </a:spcAft>
            </a:pPr>
            <a:r>
              <a:rPr sz="919" b="1">
                <a:solidFill>
                  <a:srgbClr val="1E3A8A"/>
                </a:solidFill>
                <a:latin typeface="Microsoft YaHei"/>
              </a:rPr>
              <a:t>▸ 5. 微秒级自适应退避门限：</a:t>
            </a:r>
            <a:r>
              <a:rPr sz="919">
                <a:solidFill>
                  <a:srgbClr val="1E293B"/>
                </a:solidFill>
                <a:latin typeface="Microsoft YaHei"/>
              </a:rPr>
              <a:t>Worker.step() 动态监测网络排队；一旦排队立即主动限流后台换出带宽，确保前台在线推理 TPOT 干扰率 &lt; 3%</a:t>
            </a:r>
          </a:p>
        </p:txBody>
      </p:sp>
      <p:sp>
        <p:nvSpPr>
          <p:cNvPr id="10" name="Rectangle 9"/>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张量并行 (TP=8) 偏斜从提交源头收敛，共享内存单次原子 Doorbell 消除多卡时序差，组内状态同步耗时 P99 &lt; 100µs。</a:t>
            </a:r>
            <a:r>
              <a:rPr sz="1150" b="1">
                <a:solidFill>
                  <a:srgbClr val="DC2626"/>
                </a:solidFill>
                <a:latin typeface="Microsoft YaHei"/>
              </a:rPr>
              <a:t>
Layer 0 首层提前下发有效掩盖传输延迟；结合硬件 QoS 隔离与微秒自适应退避，保障前台在线推理 TPOT 干扰率 &lt;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专题十一：三面可靠性隔离体系与 ViewGuard 容错跳出</a:t>
            </a:r>
          </a:p>
          <a:p>
            <a:pPr>
              <a:spcBef>
                <a:spcPts val="300"/>
              </a:spcBef>
              <a:defRPr sz="1100">
                <a:solidFill>
                  <a:srgbClr val="475569"/>
                </a:solidFill>
                <a:latin typeface="Microsoft YaHei"/>
              </a:defRPr>
            </a:pPr>
            <a:r>
              <a:t>管理通信故障由本地配置快照兜底，控制面依预算快速重试与滑动窗口熔断，ViewGuard 异常 500µs 安全回退</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14 / 16 页</a:t>
            </a:r>
          </a:p>
        </p:txBody>
      </p:sp>
      <p:sp>
        <p:nvSpPr>
          <p:cNvPr id="4" name="Rectangle 3"/>
          <p:cNvSpPr/>
          <p:nvPr/>
        </p:nvSpPr>
        <p:spPr>
          <a:xfrm>
            <a:off x="457200" y="1078992"/>
            <a:ext cx="361188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36118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1. 管理面故障域隔离 (Management Plane)</a:t>
            </a:r>
          </a:p>
        </p:txBody>
      </p:sp>
      <p:sp>
        <p:nvSpPr>
          <p:cNvPr id="7" name="TextBox 6"/>
          <p:cNvSpPr txBox="1"/>
          <p:nvPr/>
        </p:nvSpPr>
        <p:spPr>
          <a:xfrm>
            <a:off x="457200" y="1444752"/>
            <a:ext cx="3611880" cy="4297680"/>
          </a:xfrm>
          <a:prstGeom prst="rect">
            <a:avLst/>
          </a:prstGeom>
          <a:noFill/>
        </p:spPr>
        <p:txBody>
          <a:bodyPr wrap="square" lIns="73152" tIns="73152" rIns="73152" bIns="73152">
            <a:spAutoFit/>
          </a:bodyPr>
          <a:lstStyle/>
          <a:p>
            <a:pPr>
              <a:lnSpc>
                <a:spcPct val="120000"/>
              </a:lnSpc>
              <a:spcAft>
                <a:spcPts val="750"/>
              </a:spcAft>
            </a:pPr>
            <a:r>
              <a:rPr sz="1120" b="1">
                <a:solidFill>
                  <a:srgbClr val="1E3A8A"/>
                </a:solidFill>
                <a:latin typeface="Microsoft YaHei"/>
              </a:rPr>
              <a:t>▸ 典型故障场景：</a:t>
            </a:r>
            <a:r>
              <a:rPr sz="1120">
                <a:solidFill>
                  <a:srgbClr val="1E293B"/>
                </a:solidFill>
                <a:latin typeface="Microsoft YaHei"/>
              </a:rPr>
              <a:t>管理节点发生网络闪断、配置中心 (etcd) 出现网络分区，或管控服务 (Controller) 触发主备倒换</a:t>
            </a:r>
          </a:p>
          <a:p>
            <a:pPr>
              <a:lnSpc>
                <a:spcPct val="120000"/>
              </a:lnSpc>
              <a:spcAft>
                <a:spcPts val="750"/>
              </a:spcAft>
            </a:pPr>
            <a:r>
              <a:rPr sz="1120" b="1">
                <a:solidFill>
                  <a:srgbClr val="1E3A8A"/>
                </a:solidFill>
                <a:latin typeface="Microsoft YaHei"/>
              </a:rPr>
              <a:t>▸ 物理隔离架构：</a:t>
            </a:r>
            <a:r>
              <a:rPr sz="1120">
                <a:solidFill>
                  <a:srgbClr val="1E293B"/>
                </a:solidFill>
                <a:latin typeface="Microsoft YaHei"/>
              </a:rPr>
              <a:t>管理服务独立部署于控制节点，仅负责静态配置与配额下发，绝不参与在线推理单请求数据流</a:t>
            </a:r>
          </a:p>
          <a:p>
            <a:pPr>
              <a:lnSpc>
                <a:spcPct val="120000"/>
              </a:lnSpc>
              <a:spcAft>
                <a:spcPts val="750"/>
              </a:spcAft>
            </a:pPr>
            <a:r>
              <a:rPr sz="1120" b="1">
                <a:solidFill>
                  <a:srgbClr val="1E3A8A"/>
                </a:solidFill>
                <a:latin typeface="Microsoft YaHei"/>
              </a:rPr>
              <a:t>▸ 本地配置快照兜底：</a:t>
            </a:r>
            <a:r>
              <a:rPr sz="1120">
                <a:solidFill>
                  <a:srgbClr val="1E293B"/>
                </a:solidFill>
                <a:latin typeface="Microsoft YaHei"/>
              </a:rPr>
              <a:t>节点代理启动时全量同步集群拓扑、硬件参数与租户配额至本地内存快照；管理通信中断时直接读取本地静态快照，在线推理完全无感</a:t>
            </a:r>
          </a:p>
        </p:txBody>
      </p:sp>
      <p:sp>
        <p:nvSpPr>
          <p:cNvPr id="8" name="Rectangle 7"/>
          <p:cNvSpPr/>
          <p:nvPr/>
        </p:nvSpPr>
        <p:spPr>
          <a:xfrm>
            <a:off x="4288536" y="1078992"/>
            <a:ext cx="361188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288536" y="1078992"/>
            <a:ext cx="361188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98264"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2. 控制面分级容错与智能降级 (Control Plane)</a:t>
            </a:r>
          </a:p>
        </p:txBody>
      </p:sp>
      <p:sp>
        <p:nvSpPr>
          <p:cNvPr id="11" name="TextBox 10"/>
          <p:cNvSpPr txBox="1"/>
          <p:nvPr/>
        </p:nvSpPr>
        <p:spPr>
          <a:xfrm>
            <a:off x="4288536" y="1444752"/>
            <a:ext cx="3611880" cy="4297680"/>
          </a:xfrm>
          <a:prstGeom prst="rect">
            <a:avLst/>
          </a:prstGeom>
          <a:noFill/>
        </p:spPr>
        <p:txBody>
          <a:bodyPr wrap="square" lIns="73152" tIns="73152" rIns="73152" bIns="73152">
            <a:spAutoFit/>
          </a:bodyPr>
          <a:lstStyle/>
          <a:p>
            <a:pPr>
              <a:lnSpc>
                <a:spcPct val="120000"/>
              </a:lnSpc>
              <a:spcAft>
                <a:spcPts val="750"/>
              </a:spcAft>
            </a:pPr>
            <a:r>
              <a:rPr sz="1120" b="1">
                <a:solidFill>
                  <a:srgbClr val="1E3A8A"/>
                </a:solidFill>
                <a:latin typeface="Microsoft YaHei"/>
              </a:rPr>
              <a:t>▸ 典型故障场景：</a:t>
            </a:r>
            <a:r>
              <a:rPr sz="1120">
                <a:solidFill>
                  <a:srgbClr val="1E293B"/>
                </a:solidFill>
                <a:latin typeface="Microsoft YaHei"/>
              </a:rPr>
              <a:t>分布式目录 RPC 网络抖动、单卡租约排队，或远端节点瞬时负载偏高导致响应延迟</a:t>
            </a:r>
          </a:p>
          <a:p>
            <a:pPr>
              <a:lnSpc>
                <a:spcPct val="120000"/>
              </a:lnSpc>
              <a:spcAft>
                <a:spcPts val="750"/>
              </a:spcAft>
            </a:pPr>
            <a:r>
              <a:rPr sz="1120" b="1">
                <a:solidFill>
                  <a:srgbClr val="1E3A8A"/>
                </a:solidFill>
                <a:latin typeface="Microsoft YaHei"/>
              </a:rPr>
              <a:t>▸ 预算内分级快速重试：</a:t>
            </a:r>
            <a:r>
              <a:rPr sz="1120">
                <a:solidFill>
                  <a:srgbClr val="1E293B"/>
                </a:solidFill>
                <a:latin typeface="Microsoft YaHei"/>
              </a:rPr>
              <a:t>控制面依据请求剩余 TTFT 预算动态设定软超时；单次查询达到微秒软阈值 (如 500µs) 时，优先发起轻量快速重试或查询备用只读副本 (Follower)，重试耗时仅数十微秒，杜绝单次瞬时抖动误判</a:t>
            </a:r>
          </a:p>
          <a:p>
            <a:pPr>
              <a:lnSpc>
                <a:spcPct val="120000"/>
              </a:lnSpc>
              <a:spcAft>
                <a:spcPts val="750"/>
              </a:spcAft>
            </a:pPr>
            <a:r>
              <a:rPr sz="1120" b="1">
                <a:solidFill>
                  <a:srgbClr val="1E3A8A"/>
                </a:solidFill>
                <a:latin typeface="Microsoft YaHei"/>
              </a:rPr>
              <a:t>▸ 滑动窗口熔断与阶梯降级：</a:t>
            </a:r>
            <a:r>
              <a:rPr sz="1120">
                <a:solidFill>
                  <a:srgbClr val="1E293B"/>
                </a:solidFill>
                <a:latin typeface="Microsoft YaHei"/>
              </a:rPr>
              <a:t>熔断器基于滑动窗口错误率 (如 100ms 窗口超时率 &gt; 30%) 判定持续拥塞才触发阻断；熔断后遵循阶梯降级：优先读取本地或同机架局部前缀（增量 Prefill），最后才回退全量重算，消除重算风暴</a:t>
            </a:r>
          </a:p>
        </p:txBody>
      </p:sp>
      <p:sp>
        <p:nvSpPr>
          <p:cNvPr id="12" name="Rectangle 11"/>
          <p:cNvSpPr/>
          <p:nvPr/>
        </p:nvSpPr>
        <p:spPr>
          <a:xfrm>
            <a:off x="8119872" y="1078992"/>
            <a:ext cx="3611880" cy="46817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119872" y="1078992"/>
            <a:ext cx="3611880" cy="34747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115568"/>
            <a:ext cx="3392424" cy="274320"/>
          </a:xfrm>
          <a:prstGeom prst="rect">
            <a:avLst/>
          </a:prstGeom>
          <a:noFill/>
        </p:spPr>
        <p:txBody>
          <a:bodyPr wrap="none" lIns="0" tIns="0" rIns="0" bIns="0">
            <a:spAutoFit/>
          </a:bodyPr>
          <a:lstStyle/>
          <a:p>
            <a:pPr>
              <a:defRPr sz="1050" b="1">
                <a:solidFill>
                  <a:srgbClr val="FFFFFF"/>
                </a:solidFill>
                <a:latin typeface="Microsoft YaHei"/>
              </a:defRPr>
            </a:pPr>
            <a:r>
              <a:t>3. 数据面 ViewGuard 500µs 极速跳出 (Data Plane)</a:t>
            </a:r>
          </a:p>
        </p:txBody>
      </p:sp>
      <p:sp>
        <p:nvSpPr>
          <p:cNvPr id="15" name="TextBox 14"/>
          <p:cNvSpPr txBox="1"/>
          <p:nvPr/>
        </p:nvSpPr>
        <p:spPr>
          <a:xfrm>
            <a:off x="8119872" y="1444752"/>
            <a:ext cx="3611880" cy="4297680"/>
          </a:xfrm>
          <a:prstGeom prst="rect">
            <a:avLst/>
          </a:prstGeom>
          <a:noFill/>
        </p:spPr>
        <p:txBody>
          <a:bodyPr wrap="square" lIns="73152" tIns="73152" rIns="73152" bIns="73152">
            <a:spAutoFit/>
          </a:bodyPr>
          <a:lstStyle/>
          <a:p>
            <a:pPr>
              <a:lnSpc>
                <a:spcPct val="120000"/>
              </a:lnSpc>
              <a:spcAft>
                <a:spcPts val="750"/>
              </a:spcAft>
            </a:pPr>
            <a:r>
              <a:rPr sz="1120" b="1">
                <a:solidFill>
                  <a:srgbClr val="1E3A8A"/>
                </a:solidFill>
                <a:latin typeface="Microsoft YaHei"/>
              </a:rPr>
              <a:t>▸ 典型故障场景：</a:t>
            </a:r>
            <a:r>
              <a:rPr sz="1120">
                <a:solidFill>
                  <a:srgbClr val="1E293B"/>
                </a:solidFill>
                <a:latin typeface="Microsoft YaHei"/>
              </a:rPr>
              <a:t>跨节点远端直读 (Direct-View) 时远端主机突发断电、宕机或网络中断，引发本地总线访问异常</a:t>
            </a:r>
          </a:p>
          <a:p>
            <a:pPr>
              <a:lnSpc>
                <a:spcPct val="120000"/>
              </a:lnSpc>
              <a:spcAft>
                <a:spcPts val="750"/>
              </a:spcAft>
            </a:pPr>
            <a:r>
              <a:rPr sz="1120" b="1">
                <a:solidFill>
                  <a:srgbClr val="1E3A8A"/>
                </a:solidFill>
                <a:latin typeface="Microsoft YaHei"/>
              </a:rPr>
              <a:t>▸ 用户态信号拦截：</a:t>
            </a:r>
            <a:r>
              <a:rPr sz="1120">
                <a:solidFill>
                  <a:srgbClr val="1E293B"/>
                </a:solidFill>
                <a:latin typeface="Microsoft YaHei"/>
              </a:rPr>
              <a:t>在用户态注册专门信号拦截钩子，微秒级捕获 SIGBUS 缺页总线错误，阻断底层异常向 NPU 算子扩散</a:t>
            </a:r>
          </a:p>
          <a:p>
            <a:pPr>
              <a:lnSpc>
                <a:spcPct val="120000"/>
              </a:lnSpc>
              <a:spcAft>
                <a:spcPts val="750"/>
              </a:spcAft>
            </a:pPr>
            <a:r>
              <a:rPr sz="1120" b="1">
                <a:solidFill>
                  <a:srgbClr val="1E3A8A"/>
                </a:solidFill>
                <a:latin typeface="Microsoft YaHei"/>
              </a:rPr>
              <a:t>▸ 500µs 跳出与安全回退：</a:t>
            </a:r>
            <a:r>
              <a:rPr sz="1120">
                <a:solidFill>
                  <a:srgbClr val="1E293B"/>
                </a:solidFill>
                <a:latin typeface="Microsoft YaHei"/>
              </a:rPr>
              <a:t>在 500µs 内快速撤销异常虚存映射，通知算子平稳切换至四级降级链【直读 -&gt; 拷贝 -&gt; DDR -&gt; 本地重算】，保障业务连续</a:t>
            </a:r>
          </a:p>
        </p:txBody>
      </p:sp>
      <p:sp>
        <p:nvSpPr>
          <p:cNvPr id="16" name="Rectangle 15"/>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三面故障域严格物理隔离，管理节点通信故障由本地静态配置快照兜底，绝不向在线推理扩散。</a:t>
            </a:r>
            <a:r>
              <a:rPr sz="1150" b="1">
                <a:solidFill>
                  <a:srgbClr val="DC2626"/>
                </a:solidFill>
                <a:latin typeface="Microsoft YaHei"/>
              </a:rPr>
              <a:t>
控制面依据预算分级重试并基于滑动窗口熔断，杜绝单次抖动引发全量重算风暴；ViewGuard 异常在 500µs 内安全回退。</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专题十二：四个核心验证阶段 (E0~E3) 演进路线与 38 条 SR 需求矩阵</a:t>
            </a:r>
          </a:p>
          <a:p>
            <a:pPr>
              <a:spcBef>
                <a:spcPts val="300"/>
              </a:spcBef>
              <a:defRPr sz="1100">
                <a:solidFill>
                  <a:srgbClr val="475569"/>
                </a:solidFill>
                <a:latin typeface="Microsoft YaHei"/>
              </a:defRPr>
            </a:pPr>
            <a:r>
              <a:t>四个核心验证阶段建立坚固证据闭环，全量 38 条 SR 需求精准分层映射，确立纯软主路径与条件加速轨</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15 / 16 页</a:t>
            </a:r>
          </a:p>
        </p:txBody>
      </p:sp>
      <p:sp>
        <p:nvSpPr>
          <p:cNvPr id="4" name="Rectangle 3"/>
          <p:cNvSpPr/>
          <p:nvPr/>
        </p:nvSpPr>
        <p:spPr>
          <a:xfrm>
            <a:off x="457200"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265176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E0 业务收益前提确认</a:t>
            </a:r>
          </a:p>
          <a:p>
            <a:pPr algn="r">
              <a:defRPr sz="950" b="1">
                <a:solidFill>
                  <a:srgbClr val="BFDBFE"/>
                </a:solidFill>
                <a:latin typeface="Microsoft YaHei"/>
              </a:defRPr>
            </a:pPr>
            <a:r>
              <a:t>[净收益与协议上限]</a:t>
            </a:r>
          </a:p>
        </p:txBody>
      </p:sp>
      <p:sp>
        <p:nvSpPr>
          <p:cNvPr id="7" name="TextBox 6"/>
          <p:cNvSpPr txBox="1"/>
          <p:nvPr/>
        </p:nvSpPr>
        <p:spPr>
          <a:xfrm>
            <a:off x="457200" y="1444752"/>
            <a:ext cx="2651760" cy="2468880"/>
          </a:xfrm>
          <a:prstGeom prst="rect">
            <a:avLst/>
          </a:prstGeom>
          <a:noFill/>
        </p:spPr>
        <p:txBody>
          <a:bodyPr wrap="square" lIns="73152" tIns="73152" rIns="73152" bIns="73152">
            <a:spAutoFit/>
          </a:bodyPr>
          <a:lstStyle/>
          <a:p>
            <a:pPr>
              <a:lnSpc>
                <a:spcPct val="118000"/>
              </a:lnSpc>
              <a:spcAft>
                <a:spcPts val="500"/>
              </a:spcAft>
            </a:pPr>
            <a:r>
              <a:rPr sz="980" b="1">
                <a:solidFill>
                  <a:srgbClr val="1E3A8A"/>
                </a:solidFill>
                <a:latin typeface="Microsoft YaHei"/>
              </a:rPr>
              <a:t>▸ 验证目标：</a:t>
            </a:r>
            <a:r>
              <a:rPr sz="980">
                <a:solidFill>
                  <a:srgbClr val="1E293B"/>
                </a:solidFill>
                <a:latin typeface="Microsoft YaHei"/>
              </a:rPr>
              <a:t>验证 Saved-Prefill 净收益在各复用率下的存在边界，探明 UBMEM 协议加速上限</a:t>
            </a:r>
          </a:p>
          <a:p>
            <a:pPr>
              <a:lnSpc>
                <a:spcPct val="118000"/>
              </a:lnSpc>
              <a:spcAft>
                <a:spcPts val="500"/>
              </a:spcAft>
            </a:pPr>
            <a:r>
              <a:rPr sz="980" b="1">
                <a:solidFill>
                  <a:srgbClr val="1E3A8A"/>
                </a:solidFill>
                <a:latin typeface="Microsoft YaHei"/>
              </a:rPr>
              <a:t>▸ 准入门槛：</a:t>
            </a:r>
            <a:r>
              <a:rPr sz="980">
                <a:solidFill>
                  <a:srgbClr val="1E293B"/>
                </a:solidFill>
                <a:latin typeface="Microsoft YaHei"/>
              </a:rPr>
              <a:t>净收益显著存在，远端拉取总开销 &lt; 本地直接重算耗时</a:t>
            </a:r>
          </a:p>
          <a:p>
            <a:pPr>
              <a:lnSpc>
                <a:spcPct val="118000"/>
              </a:lnSpc>
              <a:spcAft>
                <a:spcPts val="500"/>
              </a:spcAft>
            </a:pPr>
            <a:r>
              <a:rPr sz="980" b="1">
                <a:solidFill>
                  <a:srgbClr val="1E3A8A"/>
                </a:solidFill>
                <a:latin typeface="Microsoft YaHei"/>
              </a:rPr>
              <a:t>▸ 需求承接：</a:t>
            </a:r>
            <a:r>
              <a:rPr sz="980">
                <a:solidFill>
                  <a:srgbClr val="1E293B"/>
                </a:solidFill>
                <a:latin typeface="Microsoft YaHei"/>
              </a:rPr>
              <a:t>承接 L1 框架适配层 6 条 SR 需求 (SR23-01-01~06)</a:t>
            </a:r>
          </a:p>
        </p:txBody>
      </p:sp>
      <p:sp>
        <p:nvSpPr>
          <p:cNvPr id="8" name="Rectangle 7"/>
          <p:cNvSpPr/>
          <p:nvPr/>
        </p:nvSpPr>
        <p:spPr>
          <a:xfrm>
            <a:off x="3328416"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328416" y="1078992"/>
            <a:ext cx="2651760" cy="34747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38144"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E1 核心数据路径打通</a:t>
            </a:r>
          </a:p>
          <a:p>
            <a:pPr algn="r">
              <a:defRPr sz="950" b="1">
                <a:solidFill>
                  <a:srgbClr val="BFDBFE"/>
                </a:solidFill>
                <a:latin typeface="Microsoft YaHei"/>
              </a:defRPr>
            </a:pPr>
            <a:r>
              <a:t>[零拷贝与多卡同步]</a:t>
            </a:r>
          </a:p>
        </p:txBody>
      </p:sp>
      <p:sp>
        <p:nvSpPr>
          <p:cNvPr id="11" name="TextBox 10"/>
          <p:cNvSpPr txBox="1"/>
          <p:nvPr/>
        </p:nvSpPr>
        <p:spPr>
          <a:xfrm>
            <a:off x="3328416" y="1444752"/>
            <a:ext cx="2651760" cy="2468880"/>
          </a:xfrm>
          <a:prstGeom prst="rect">
            <a:avLst/>
          </a:prstGeom>
          <a:noFill/>
        </p:spPr>
        <p:txBody>
          <a:bodyPr wrap="square" lIns="73152" tIns="73152" rIns="73152" bIns="73152">
            <a:spAutoFit/>
          </a:bodyPr>
          <a:lstStyle/>
          <a:p>
            <a:pPr>
              <a:lnSpc>
                <a:spcPct val="118000"/>
              </a:lnSpc>
              <a:spcAft>
                <a:spcPts val="500"/>
              </a:spcAft>
            </a:pPr>
            <a:r>
              <a:rPr sz="980" b="1">
                <a:solidFill>
                  <a:srgbClr val="1E3A8A"/>
                </a:solidFill>
                <a:latin typeface="Microsoft YaHei"/>
              </a:rPr>
              <a:t>▸ 验证目标：</a:t>
            </a:r>
            <a:r>
              <a:rPr sz="980">
                <a:solidFill>
                  <a:srgbClr val="1E293B"/>
                </a:solidFill>
                <a:latin typeface="Microsoft YaHei"/>
              </a:rPr>
              <a:t>打通 Host CPU 零数据拷贝底座、64B POD 描述符编译与 TP=8 多卡原子同步</a:t>
            </a:r>
          </a:p>
          <a:p>
            <a:pPr>
              <a:lnSpc>
                <a:spcPct val="118000"/>
              </a:lnSpc>
              <a:spcAft>
                <a:spcPts val="500"/>
              </a:spcAft>
            </a:pPr>
            <a:r>
              <a:rPr sz="980" b="1">
                <a:solidFill>
                  <a:srgbClr val="1E3A8A"/>
                </a:solidFill>
                <a:latin typeface="Microsoft YaHei"/>
              </a:rPr>
              <a:t>▸ 准入门槛：</a:t>
            </a:r>
            <a:r>
              <a:rPr sz="980">
                <a:solidFill>
                  <a:srgbClr val="1E293B"/>
                </a:solidFill>
                <a:latin typeface="Microsoft YaHei"/>
              </a:rPr>
              <a:t>Host CPU 零数据拷贝，TP=8 同步 P99 &lt; 100µs，0 错误消费</a:t>
            </a:r>
          </a:p>
          <a:p>
            <a:pPr>
              <a:lnSpc>
                <a:spcPct val="118000"/>
              </a:lnSpc>
              <a:spcAft>
                <a:spcPts val="500"/>
              </a:spcAft>
            </a:pPr>
            <a:r>
              <a:rPr sz="980" b="1">
                <a:solidFill>
                  <a:srgbClr val="1E3A8A"/>
                </a:solidFill>
                <a:latin typeface="Microsoft YaHei"/>
              </a:rPr>
              <a:t>▸ 需求承接：</a:t>
            </a:r>
            <a:r>
              <a:rPr sz="980">
                <a:solidFill>
                  <a:srgbClr val="1E293B"/>
                </a:solidFill>
                <a:latin typeface="Microsoft YaHei"/>
              </a:rPr>
              <a:t>承接 L3 传输管理层 9 条 SR 需求 (SR23-01-21~29)</a:t>
            </a:r>
          </a:p>
        </p:txBody>
      </p:sp>
      <p:sp>
        <p:nvSpPr>
          <p:cNvPr id="12" name="Rectangle 11"/>
          <p:cNvSpPr/>
          <p:nvPr/>
        </p:nvSpPr>
        <p:spPr>
          <a:xfrm>
            <a:off x="6199632"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99632" y="1078992"/>
            <a:ext cx="265176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09360"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E2 动态调度与分层扩容</a:t>
            </a:r>
          </a:p>
          <a:p>
            <a:pPr algn="r">
              <a:defRPr sz="950" b="1">
                <a:solidFill>
                  <a:srgbClr val="BFDBFE"/>
                </a:solidFill>
                <a:latin typeface="Microsoft YaHei"/>
              </a:defRPr>
            </a:pPr>
            <a:r>
              <a:t>[微秒决策与SSD直达]</a:t>
            </a:r>
          </a:p>
        </p:txBody>
      </p:sp>
      <p:sp>
        <p:nvSpPr>
          <p:cNvPr id="15" name="TextBox 14"/>
          <p:cNvSpPr txBox="1"/>
          <p:nvPr/>
        </p:nvSpPr>
        <p:spPr>
          <a:xfrm>
            <a:off x="6199632" y="1444752"/>
            <a:ext cx="2651760" cy="2468880"/>
          </a:xfrm>
          <a:prstGeom prst="rect">
            <a:avLst/>
          </a:prstGeom>
          <a:noFill/>
        </p:spPr>
        <p:txBody>
          <a:bodyPr wrap="square" lIns="73152" tIns="73152" rIns="73152" bIns="73152">
            <a:spAutoFit/>
          </a:bodyPr>
          <a:lstStyle/>
          <a:p>
            <a:pPr>
              <a:lnSpc>
                <a:spcPct val="118000"/>
              </a:lnSpc>
              <a:spcAft>
                <a:spcPts val="500"/>
              </a:spcAft>
            </a:pPr>
            <a:r>
              <a:rPr sz="980" b="1">
                <a:solidFill>
                  <a:srgbClr val="1E3A8A"/>
                </a:solidFill>
                <a:latin typeface="Microsoft YaHei"/>
              </a:rPr>
              <a:t>▸ 验证目标：</a:t>
            </a:r>
            <a:r>
              <a:rPr sz="980">
                <a:solidFill>
                  <a:srgbClr val="1E293B"/>
                </a:solidFill>
                <a:latin typeface="Microsoft YaHei"/>
              </a:rPr>
              <a:t>验证 QueryPlan 选路、ViewGuard 容错跳出与 NVMe SSD 直达扩容</a:t>
            </a:r>
          </a:p>
          <a:p>
            <a:pPr>
              <a:lnSpc>
                <a:spcPct val="118000"/>
              </a:lnSpc>
              <a:spcAft>
                <a:spcPts val="500"/>
              </a:spcAft>
            </a:pPr>
            <a:r>
              <a:rPr sz="980" b="1">
                <a:solidFill>
                  <a:srgbClr val="1E3A8A"/>
                </a:solidFill>
                <a:latin typeface="Microsoft YaHei"/>
              </a:rPr>
              <a:t>▸ 准入门槛：</a:t>
            </a:r>
            <a:r>
              <a:rPr sz="980">
                <a:solidFill>
                  <a:srgbClr val="1E293B"/>
                </a:solidFill>
                <a:latin typeface="Microsoft YaHei"/>
              </a:rPr>
              <a:t>决策准确率 ≥ 95%，SIGBUS 跳出 &lt; 500µs，SSD 直达绕过主机内存</a:t>
            </a:r>
          </a:p>
          <a:p>
            <a:pPr>
              <a:lnSpc>
                <a:spcPct val="118000"/>
              </a:lnSpc>
              <a:spcAft>
                <a:spcPts val="500"/>
              </a:spcAft>
            </a:pPr>
            <a:r>
              <a:rPr sz="980" b="1">
                <a:solidFill>
                  <a:srgbClr val="1E3A8A"/>
                </a:solidFill>
                <a:latin typeface="Microsoft YaHei"/>
              </a:rPr>
              <a:t>▸ 需求承接：</a:t>
            </a:r>
            <a:r>
              <a:rPr sz="980">
                <a:solidFill>
                  <a:srgbClr val="1E293B"/>
                </a:solidFill>
                <a:latin typeface="Microsoft YaHei"/>
              </a:rPr>
              <a:t>承接 L2 核心调度层 SR23-01-07~20 共 14 条 SR 需求闭环</a:t>
            </a:r>
          </a:p>
        </p:txBody>
      </p:sp>
      <p:sp>
        <p:nvSpPr>
          <p:cNvPr id="16" name="Rectangle 15"/>
          <p:cNvSpPr/>
          <p:nvPr/>
        </p:nvSpPr>
        <p:spPr>
          <a:xfrm>
            <a:off x="9070848" y="1078992"/>
            <a:ext cx="2651760" cy="2852928"/>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070848" y="1078992"/>
            <a:ext cx="2651760" cy="347472"/>
          </a:xfrm>
          <a:prstGeom prst="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80576"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E3 全链路混压总门禁</a:t>
            </a:r>
          </a:p>
          <a:p>
            <a:pPr algn="r">
              <a:defRPr sz="950" b="1">
                <a:solidFill>
                  <a:srgbClr val="BFDBFE"/>
                </a:solidFill>
                <a:latin typeface="Microsoft YaHei"/>
              </a:defRPr>
            </a:pPr>
            <a:r>
              <a:t>[真实集群端到端混压]</a:t>
            </a:r>
          </a:p>
        </p:txBody>
      </p:sp>
      <p:sp>
        <p:nvSpPr>
          <p:cNvPr id="19" name="TextBox 18"/>
          <p:cNvSpPr txBox="1"/>
          <p:nvPr/>
        </p:nvSpPr>
        <p:spPr>
          <a:xfrm>
            <a:off x="9070848" y="1444752"/>
            <a:ext cx="2651760" cy="2468880"/>
          </a:xfrm>
          <a:prstGeom prst="rect">
            <a:avLst/>
          </a:prstGeom>
          <a:noFill/>
        </p:spPr>
        <p:txBody>
          <a:bodyPr wrap="square" lIns="73152" tIns="73152" rIns="73152" bIns="73152">
            <a:spAutoFit/>
          </a:bodyPr>
          <a:lstStyle/>
          <a:p>
            <a:pPr>
              <a:lnSpc>
                <a:spcPct val="118000"/>
              </a:lnSpc>
              <a:spcAft>
                <a:spcPts val="500"/>
              </a:spcAft>
            </a:pPr>
            <a:r>
              <a:rPr sz="980" b="1">
                <a:solidFill>
                  <a:srgbClr val="1E3A8A"/>
                </a:solidFill>
                <a:latin typeface="Microsoft YaHei"/>
              </a:rPr>
              <a:t>▸ 验证目标：</a:t>
            </a:r>
            <a:r>
              <a:rPr sz="980">
                <a:solidFill>
                  <a:srgbClr val="1E293B"/>
                </a:solidFill>
                <a:latin typeface="Microsoft YaHei"/>
              </a:rPr>
              <a:t>真实双节点集群下，前台在线推理与后台满载 I/O 极限混压验证</a:t>
            </a:r>
          </a:p>
          <a:p>
            <a:pPr>
              <a:lnSpc>
                <a:spcPct val="118000"/>
              </a:lnSpc>
              <a:spcAft>
                <a:spcPts val="500"/>
              </a:spcAft>
            </a:pPr>
            <a:r>
              <a:rPr sz="980" b="1">
                <a:solidFill>
                  <a:srgbClr val="1E3A8A"/>
                </a:solidFill>
                <a:latin typeface="Microsoft YaHei"/>
              </a:rPr>
              <a:t>▸ 准入门槛：</a:t>
            </a:r>
            <a:r>
              <a:rPr sz="980">
                <a:solidFill>
                  <a:srgbClr val="1E293B"/>
                </a:solidFill>
                <a:latin typeface="Microsoft YaHei"/>
              </a:rPr>
              <a:t>全链路 TTFT 降幅 ≥ 20%，QPS 提升 ≥ 10%，前台 TPOT 干扰率 &lt; 3%</a:t>
            </a:r>
          </a:p>
          <a:p>
            <a:pPr>
              <a:lnSpc>
                <a:spcPct val="118000"/>
              </a:lnSpc>
              <a:spcAft>
                <a:spcPts val="500"/>
              </a:spcAft>
            </a:pPr>
            <a:r>
              <a:rPr sz="980" b="1">
                <a:solidFill>
                  <a:srgbClr val="1E3A8A"/>
                </a:solidFill>
                <a:latin typeface="Microsoft YaHei"/>
              </a:rPr>
              <a:t>▸ 需求承接：</a:t>
            </a:r>
            <a:r>
              <a:rPr sz="980">
                <a:solidFill>
                  <a:srgbClr val="1E293B"/>
                </a:solidFill>
                <a:latin typeface="Microsoft YaHei"/>
              </a:rPr>
              <a:t>承接管理与辅助保障层 SR23-01-30~38 共 9 条 SR 需求闭环</a:t>
            </a:r>
          </a:p>
        </p:txBody>
      </p:sp>
      <p:sp>
        <p:nvSpPr>
          <p:cNvPr id="20" name="Rectangle 19"/>
          <p:cNvSpPr/>
          <p:nvPr/>
        </p:nvSpPr>
        <p:spPr>
          <a:xfrm>
            <a:off x="457200"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4041648"/>
            <a:ext cx="5532120" cy="3200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66928"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主路径纯软直达与去依赖科学证伪</a:t>
            </a:r>
          </a:p>
          <a:p>
            <a:pPr algn="r">
              <a:defRPr sz="950" b="1">
                <a:solidFill>
                  <a:srgbClr val="BFDBFE"/>
                </a:solidFill>
                <a:latin typeface="Microsoft YaHei"/>
              </a:defRPr>
            </a:pPr>
            <a:r>
              <a:t>[架构去依赖]</a:t>
            </a:r>
          </a:p>
        </p:txBody>
      </p:sp>
      <p:sp>
        <p:nvSpPr>
          <p:cNvPr id="23" name="TextBox 22"/>
          <p:cNvSpPr txBox="1"/>
          <p:nvPr/>
        </p:nvSpPr>
        <p:spPr>
          <a:xfrm>
            <a:off x="457200" y="4370832"/>
            <a:ext cx="5532120" cy="1389888"/>
          </a:xfrm>
          <a:prstGeom prst="rect">
            <a:avLst/>
          </a:prstGeom>
          <a:noFill/>
        </p:spPr>
        <p:txBody>
          <a:bodyPr wrap="square" lIns="73152" tIns="73152" rIns="73152" bIns="73152">
            <a:spAutoFit/>
          </a:bodyPr>
          <a:lstStyle/>
          <a:p>
            <a:pPr>
              <a:lnSpc>
                <a:spcPct val="115000"/>
              </a:lnSpc>
              <a:spcAft>
                <a:spcPts val="300"/>
              </a:spcAft>
            </a:pPr>
            <a:r>
              <a:rPr sz="940" b="1">
                <a:solidFill>
                  <a:srgbClr val="1E3A8A"/>
                </a:solidFill>
                <a:latin typeface="Microsoft YaHei"/>
              </a:rPr>
              <a:t>▸ 纯软主路径底座：</a:t>
            </a:r>
            <a:r>
              <a:rPr sz="940">
                <a:solidFill>
                  <a:srgbClr val="1E293B"/>
                </a:solidFill>
                <a:latin typeface="Microsoft YaHei"/>
              </a:rPr>
              <a:t>以标准驱动纯软直达为主路径底座，不依赖专用协处理器即可稳定运行</a:t>
            </a:r>
          </a:p>
          <a:p>
            <a:pPr>
              <a:lnSpc>
                <a:spcPct val="115000"/>
              </a:lnSpc>
              <a:spcAft>
                <a:spcPts val="300"/>
              </a:spcAft>
            </a:pPr>
            <a:r>
              <a:rPr sz="940" b="1">
                <a:solidFill>
                  <a:srgbClr val="1E3A8A"/>
                </a:solidFill>
                <a:latin typeface="Microsoft YaHei"/>
              </a:rPr>
              <a:t>▸ 条件加速轨定位：</a:t>
            </a:r>
            <a:r>
              <a:rPr sz="940">
                <a:solidFill>
                  <a:srgbClr val="1E293B"/>
                </a:solidFill>
                <a:latin typeface="Microsoft YaHei"/>
              </a:rPr>
              <a:t>网卡硬件多播、硬件 Atomic Remap 与 DPU 卸载定位为条件加速轨，解耦演进</a:t>
            </a:r>
          </a:p>
          <a:p>
            <a:pPr>
              <a:lnSpc>
                <a:spcPct val="115000"/>
              </a:lnSpc>
              <a:spcAft>
                <a:spcPts val="300"/>
              </a:spcAft>
            </a:pPr>
            <a:r>
              <a:rPr sz="940" b="1">
                <a:solidFill>
                  <a:srgbClr val="1E3A8A"/>
                </a:solidFill>
                <a:latin typeface="Microsoft YaHei"/>
              </a:rPr>
              <a:t>▸ 科学证伪结论：</a:t>
            </a:r>
            <a:r>
              <a:rPr sz="940">
                <a:solidFill>
                  <a:srgbClr val="1E293B"/>
                </a:solidFill>
                <a:latin typeface="Microsoft YaHei"/>
              </a:rPr>
              <a:t>严密证伪硬件强依赖风险，外部协处理器不可用时系统平稳回退至纯软主路径</a:t>
            </a:r>
          </a:p>
        </p:txBody>
      </p:sp>
      <p:sp>
        <p:nvSpPr>
          <p:cNvPr id="24" name="Rectangle 23"/>
          <p:cNvSpPr/>
          <p:nvPr/>
        </p:nvSpPr>
        <p:spPr>
          <a:xfrm>
            <a:off x="6199632" y="4041648"/>
            <a:ext cx="5532120" cy="17373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4041648"/>
            <a:ext cx="5532120" cy="3200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09360" y="4078224"/>
            <a:ext cx="5312664" cy="246888"/>
          </a:xfrm>
          <a:prstGeom prst="rect">
            <a:avLst/>
          </a:prstGeom>
          <a:noFill/>
        </p:spPr>
        <p:txBody>
          <a:bodyPr wrap="none" lIns="0" tIns="0" rIns="0" bIns="0">
            <a:spAutoFit/>
          </a:bodyPr>
          <a:lstStyle/>
          <a:p>
            <a:pPr>
              <a:defRPr sz="1050" b="1">
                <a:solidFill>
                  <a:srgbClr val="FFFFFF"/>
                </a:solidFill>
                <a:latin typeface="Microsoft YaHei"/>
              </a:defRPr>
            </a:pPr>
            <a:r>
              <a:t>研产测一体化四大交付资产闭环</a:t>
            </a:r>
          </a:p>
          <a:p>
            <a:pPr algn="r">
              <a:defRPr sz="950" b="1">
                <a:solidFill>
                  <a:srgbClr val="BFDBFE"/>
                </a:solidFill>
                <a:latin typeface="Microsoft YaHei"/>
              </a:defRPr>
            </a:pPr>
            <a:r>
              <a:t>[生产级交付]</a:t>
            </a:r>
          </a:p>
        </p:txBody>
      </p:sp>
      <p:sp>
        <p:nvSpPr>
          <p:cNvPr id="27" name="TextBox 26"/>
          <p:cNvSpPr txBox="1"/>
          <p:nvPr/>
        </p:nvSpPr>
        <p:spPr>
          <a:xfrm>
            <a:off x="6199632" y="4370832"/>
            <a:ext cx="5532120" cy="1389888"/>
          </a:xfrm>
          <a:prstGeom prst="rect">
            <a:avLst/>
          </a:prstGeom>
          <a:noFill/>
        </p:spPr>
        <p:txBody>
          <a:bodyPr wrap="square" lIns="73152" tIns="73152" rIns="73152" bIns="73152">
            <a:spAutoFit/>
          </a:bodyPr>
          <a:lstStyle/>
          <a:p>
            <a:pPr>
              <a:lnSpc>
                <a:spcPct val="115000"/>
              </a:lnSpc>
              <a:spcAft>
                <a:spcPts val="300"/>
              </a:spcAft>
            </a:pPr>
            <a:r>
              <a:rPr sz="940" b="1">
                <a:solidFill>
                  <a:srgbClr val="1E3A8A"/>
                </a:solidFill>
                <a:latin typeface="Microsoft YaHei"/>
              </a:rPr>
              <a:t>▸ 生产级代码资产：</a:t>
            </a:r>
            <a:r>
              <a:rPr sz="940">
                <a:solidFill>
                  <a:srgbClr val="1E293B"/>
                </a:solidFill>
                <a:latin typeface="Microsoft YaHei"/>
              </a:rPr>
              <a:t>交付 C/C++ 原生核心库、POSIX 共享内存运行时、微秒级驱动桩与全套单元测试套件</a:t>
            </a:r>
          </a:p>
          <a:p>
            <a:pPr>
              <a:lnSpc>
                <a:spcPct val="115000"/>
              </a:lnSpc>
              <a:spcAft>
                <a:spcPts val="300"/>
              </a:spcAft>
            </a:pPr>
            <a:r>
              <a:rPr sz="940" b="1">
                <a:solidFill>
                  <a:srgbClr val="1E3A8A"/>
                </a:solidFill>
                <a:latin typeface="Microsoft YaHei"/>
              </a:rPr>
              <a:t>▸ 白皮书级规范资产：</a:t>
            </a:r>
            <a:r>
              <a:rPr sz="940">
                <a:solidFill>
                  <a:srgbClr val="1E293B"/>
                </a:solidFill>
                <a:latin typeface="Microsoft YaHei"/>
              </a:rPr>
              <a:t>输出《系统架构设计说明书》、《KPCL 通信驱动 API 契约》与部署实施手册</a:t>
            </a:r>
          </a:p>
          <a:p>
            <a:pPr>
              <a:lnSpc>
                <a:spcPct val="115000"/>
              </a:lnSpc>
              <a:spcAft>
                <a:spcPts val="300"/>
              </a:spcAft>
            </a:pPr>
            <a:r>
              <a:rPr sz="940" b="1">
                <a:solidFill>
                  <a:srgbClr val="1E3A8A"/>
                </a:solidFill>
                <a:latin typeface="Microsoft YaHei"/>
              </a:rPr>
              <a:t>▸ 客观实测数据资产：</a:t>
            </a:r>
            <a:r>
              <a:rPr sz="940">
                <a:solidFill>
                  <a:srgbClr val="1E293B"/>
                </a:solidFill>
                <a:latin typeface="Microsoft YaHei"/>
              </a:rPr>
              <a:t>交付 12 份标准验证报告、真实拓扑 CSV 事件与微秒级追踪监控曲线</a:t>
            </a:r>
          </a:p>
        </p:txBody>
      </p:sp>
      <p:sp>
        <p:nvSpPr>
          <p:cNvPr id="28" name="Rectangle 27"/>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执行显存严格归推理框架管理拥有；主路径基于标准驱动纯软直达，硬件加速解耦演进；架构分层精准承接全量 38 条 SR 需求。</a:t>
            </a:r>
            <a:r>
              <a:rPr sz="1150" b="1">
                <a:solidFill>
                  <a:srgbClr val="DC2626"/>
                </a:solidFill>
                <a:latin typeface="Microsoft YaHei"/>
              </a:rPr>
              <a:t>
严格执行 E0~E3 渐进式阶段门禁准入标准，严禁未达标合并上线；以真实双节点集群客观实测数据为准，确保工程高质量交付。</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工程化收官总结：技术立项核心共识、生产级交付资产与落地保障承诺</a:t>
            </a:r>
          </a:p>
          <a:p>
            <a:pPr>
              <a:spcBef>
                <a:spcPts val="300"/>
              </a:spcBef>
              <a:defRPr sz="1100">
                <a:solidFill>
                  <a:srgbClr val="475569"/>
                </a:solidFill>
                <a:latin typeface="Microsoft YaHei"/>
              </a:defRPr>
            </a:pPr>
            <a:r>
              <a:t>基于第一性原理分析系统瓶颈 · 阶段门禁保障工程质量 · 打造面向国产 AI 硬件的统一存储底座</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16 / 16 页</a:t>
            </a:r>
          </a:p>
        </p:txBody>
      </p:sp>
      <p:sp>
        <p:nvSpPr>
          <p:cNvPr id="4" name="Rectangle 3"/>
          <p:cNvSpPr/>
          <p:nvPr/>
        </p:nvSpPr>
        <p:spPr>
          <a:xfrm>
            <a:off x="457200" y="1078992"/>
            <a:ext cx="265176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078992"/>
            <a:ext cx="265176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1. 原厂软硬件协同底座</a:t>
            </a:r>
          </a:p>
          <a:p>
            <a:pPr algn="r">
              <a:defRPr sz="950" b="1">
                <a:solidFill>
                  <a:srgbClr val="BFDBFE"/>
                </a:solidFill>
                <a:latin typeface="Microsoft YaHei"/>
              </a:defRPr>
            </a:pPr>
            <a:r>
              <a:t>[架构定位]</a:t>
            </a:r>
          </a:p>
        </p:txBody>
      </p:sp>
      <p:sp>
        <p:nvSpPr>
          <p:cNvPr id="7" name="TextBox 6"/>
          <p:cNvSpPr txBox="1"/>
          <p:nvPr/>
        </p:nvSpPr>
        <p:spPr>
          <a:xfrm>
            <a:off x="457200" y="1444752"/>
            <a:ext cx="2651760" cy="2450592"/>
          </a:xfrm>
          <a:prstGeom prst="rect">
            <a:avLst/>
          </a:prstGeom>
          <a:noFill/>
        </p:spPr>
        <p:txBody>
          <a:bodyPr wrap="square" lIns="73152" tIns="73152" rIns="73152" bIns="73152">
            <a:spAutoFit/>
          </a:bodyPr>
          <a:lstStyle/>
          <a:p>
            <a:pPr>
              <a:lnSpc>
                <a:spcPct val="120000"/>
              </a:lnSpc>
              <a:spcAft>
                <a:spcPts val="600"/>
              </a:spcAft>
            </a:pPr>
            <a:r>
              <a:rPr sz="1019" b="1">
                <a:solidFill>
                  <a:srgbClr val="1E3A8A"/>
                </a:solidFill>
                <a:latin typeface="Microsoft YaHei"/>
              </a:rPr>
              <a:t>▸ 执行显存归属：</a:t>
            </a:r>
            <a:r>
              <a:rPr sz="1019">
                <a:solidFill>
                  <a:srgbClr val="1E293B"/>
                </a:solidFill>
                <a:latin typeface="Microsoft YaHei"/>
              </a:rPr>
              <a:t>框架独占执行显存，系统统一跨节点不可变存储池</a:t>
            </a:r>
          </a:p>
          <a:p>
            <a:pPr>
              <a:lnSpc>
                <a:spcPct val="120000"/>
              </a:lnSpc>
              <a:spcAft>
                <a:spcPts val="600"/>
              </a:spcAft>
            </a:pPr>
            <a:r>
              <a:rPr sz="1019" b="1">
                <a:solidFill>
                  <a:srgbClr val="1E3A8A"/>
                </a:solidFill>
                <a:latin typeface="Microsoft YaHei"/>
              </a:rPr>
              <a:t>▸ 底层总线封装：</a:t>
            </a:r>
            <a:r>
              <a:rPr sz="1019">
                <a:solidFill>
                  <a:srgbClr val="1E293B"/>
                </a:solidFill>
                <a:latin typeface="Microsoft YaHei"/>
              </a:rPr>
              <a:t>以原厂通信库 (KPCL) 封装硬件驱动，屏蔽底层异构细节</a:t>
            </a:r>
          </a:p>
          <a:p>
            <a:pPr>
              <a:lnSpc>
                <a:spcPct val="120000"/>
              </a:lnSpc>
              <a:spcAft>
                <a:spcPts val="600"/>
              </a:spcAft>
            </a:pPr>
            <a:r>
              <a:rPr sz="1019" b="1">
                <a:solidFill>
                  <a:srgbClr val="1E3A8A"/>
                </a:solidFill>
                <a:latin typeface="Microsoft YaHei"/>
              </a:rPr>
              <a:t>▸ 主路径纯软直达：</a:t>
            </a:r>
            <a:r>
              <a:rPr sz="1019">
                <a:solidFill>
                  <a:srgbClr val="1E293B"/>
                </a:solidFill>
                <a:latin typeface="Microsoft YaHei"/>
              </a:rPr>
              <a:t>基于标准驱动直达，硬件加速解耦演进，降低外部依赖</a:t>
            </a:r>
          </a:p>
        </p:txBody>
      </p:sp>
      <p:sp>
        <p:nvSpPr>
          <p:cNvPr id="8" name="Rectangle 7"/>
          <p:cNvSpPr/>
          <p:nvPr/>
        </p:nvSpPr>
        <p:spPr>
          <a:xfrm>
            <a:off x="3328416" y="1078992"/>
            <a:ext cx="265176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328416" y="1078992"/>
            <a:ext cx="2651760" cy="3474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38144"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2. 前置微秒动态决策</a:t>
            </a:r>
          </a:p>
          <a:p>
            <a:pPr algn="r">
              <a:defRPr sz="950" b="1">
                <a:solidFill>
                  <a:srgbClr val="BFDBFE"/>
                </a:solidFill>
                <a:latin typeface="Microsoft YaHei"/>
              </a:defRPr>
            </a:pPr>
            <a:r>
              <a:t>[净加速收益]</a:t>
            </a:r>
          </a:p>
        </p:txBody>
      </p:sp>
      <p:sp>
        <p:nvSpPr>
          <p:cNvPr id="11" name="TextBox 10"/>
          <p:cNvSpPr txBox="1"/>
          <p:nvPr/>
        </p:nvSpPr>
        <p:spPr>
          <a:xfrm>
            <a:off x="3328416" y="1444752"/>
            <a:ext cx="2651760" cy="2450592"/>
          </a:xfrm>
          <a:prstGeom prst="rect">
            <a:avLst/>
          </a:prstGeom>
          <a:noFill/>
        </p:spPr>
        <p:txBody>
          <a:bodyPr wrap="square" lIns="73152" tIns="73152" rIns="73152" bIns="73152">
            <a:spAutoFit/>
          </a:bodyPr>
          <a:lstStyle/>
          <a:p>
            <a:pPr>
              <a:lnSpc>
                <a:spcPct val="120000"/>
              </a:lnSpc>
              <a:spcAft>
                <a:spcPts val="600"/>
              </a:spcAft>
            </a:pPr>
            <a:r>
              <a:rPr sz="1019" b="1">
                <a:solidFill>
                  <a:srgbClr val="1E3A8A"/>
                </a:solidFill>
                <a:latin typeface="Microsoft YaHei"/>
              </a:rPr>
              <a:t>▸ 净收益前置门禁：</a:t>
            </a:r>
            <a:r>
              <a:rPr sz="1019">
                <a:solidFill>
                  <a:srgbClr val="1E293B"/>
                </a:solidFill>
                <a:latin typeface="Microsoft YaHei"/>
              </a:rPr>
              <a:t>拉取加载总开销 &lt; 本地直接重算耗时，否则主动回退本地重算</a:t>
            </a:r>
          </a:p>
          <a:p>
            <a:pPr>
              <a:lnSpc>
                <a:spcPct val="120000"/>
              </a:lnSpc>
              <a:spcAft>
                <a:spcPts val="600"/>
              </a:spcAft>
            </a:pPr>
            <a:r>
              <a:rPr sz="1019" b="1">
                <a:solidFill>
                  <a:srgbClr val="1E3A8A"/>
                </a:solidFill>
                <a:latin typeface="Microsoft YaHei"/>
              </a:rPr>
              <a:t>▸ 无锁快路径匹配：</a:t>
            </a:r>
            <a:r>
              <a:rPr sz="1019">
                <a:solidFill>
                  <a:srgbClr val="1E293B"/>
                </a:solidFill>
                <a:latin typeface="Microsoft YaHei"/>
              </a:rPr>
              <a:t>ART 基数树快照遍历 P99 &lt; 2µs，QueryPlan 动态微秒选路</a:t>
            </a:r>
          </a:p>
          <a:p>
            <a:pPr>
              <a:lnSpc>
                <a:spcPct val="120000"/>
              </a:lnSpc>
              <a:spcAft>
                <a:spcPts val="600"/>
              </a:spcAft>
            </a:pPr>
            <a:r>
              <a:rPr sz="1019" b="1">
                <a:solidFill>
                  <a:srgbClr val="1E3A8A"/>
                </a:solidFill>
                <a:latin typeface="Microsoft YaHei"/>
              </a:rPr>
              <a:t>▸ Host 零数据拷贝：</a:t>
            </a:r>
            <a:r>
              <a:rPr sz="1019">
                <a:solidFill>
                  <a:srgbClr val="1E293B"/>
                </a:solidFill>
                <a:latin typeface="Microsoft YaHei"/>
              </a:rPr>
              <a:t>基础路径 CPU 仅下发 64B POD 描述符，数据经 DMA 直达 NPU HBM</a:t>
            </a:r>
          </a:p>
        </p:txBody>
      </p:sp>
      <p:sp>
        <p:nvSpPr>
          <p:cNvPr id="12" name="Rectangle 11"/>
          <p:cNvSpPr/>
          <p:nvPr/>
        </p:nvSpPr>
        <p:spPr>
          <a:xfrm>
            <a:off x="6199632" y="1078992"/>
            <a:ext cx="265176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99632" y="1078992"/>
            <a:ext cx="2651760" cy="34747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09360"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3. 生产级安全一致性</a:t>
            </a:r>
          </a:p>
          <a:p>
            <a:pPr algn="r">
              <a:defRPr sz="950" b="1">
                <a:solidFill>
                  <a:srgbClr val="BFDBFE"/>
                </a:solidFill>
                <a:latin typeface="Microsoft YaHei"/>
              </a:defRPr>
            </a:pPr>
            <a:r>
              <a:t>[数据安全校验]</a:t>
            </a:r>
          </a:p>
        </p:txBody>
      </p:sp>
      <p:sp>
        <p:nvSpPr>
          <p:cNvPr id="15" name="TextBox 14"/>
          <p:cNvSpPr txBox="1"/>
          <p:nvPr/>
        </p:nvSpPr>
        <p:spPr>
          <a:xfrm>
            <a:off x="6199632" y="1444752"/>
            <a:ext cx="2651760" cy="2450592"/>
          </a:xfrm>
          <a:prstGeom prst="rect">
            <a:avLst/>
          </a:prstGeom>
          <a:noFill/>
        </p:spPr>
        <p:txBody>
          <a:bodyPr wrap="square" lIns="73152" tIns="73152" rIns="73152" bIns="73152">
            <a:spAutoFit/>
          </a:bodyPr>
          <a:lstStyle/>
          <a:p>
            <a:pPr>
              <a:lnSpc>
                <a:spcPct val="120000"/>
              </a:lnSpc>
              <a:spcAft>
                <a:spcPts val="600"/>
              </a:spcAft>
            </a:pPr>
            <a:r>
              <a:rPr sz="1019" b="1">
                <a:solidFill>
                  <a:srgbClr val="1E3A8A"/>
                </a:solidFill>
                <a:latin typeface="Microsoft YaHei"/>
              </a:rPr>
              <a:t>▸ 6 维语义强校验：</a:t>
            </a:r>
            <a:r>
              <a:rPr sz="1019">
                <a:solidFill>
                  <a:srgbClr val="1E293B"/>
                </a:solidFill>
                <a:latin typeface="Microsoft YaHei"/>
              </a:rPr>
              <a:t>严格核验模型、词表、模板与租约，杜绝非法失效数据消费</a:t>
            </a:r>
          </a:p>
          <a:p>
            <a:pPr>
              <a:lnSpc>
                <a:spcPct val="120000"/>
              </a:lnSpc>
              <a:spcAft>
                <a:spcPts val="600"/>
              </a:spcAft>
            </a:pPr>
            <a:r>
              <a:rPr sz="1019" b="1">
                <a:solidFill>
                  <a:srgbClr val="1E3A8A"/>
                </a:solidFill>
                <a:latin typeface="Microsoft YaHei"/>
              </a:rPr>
              <a:t>▸ ViewGuard 500µs：</a:t>
            </a:r>
            <a:r>
              <a:rPr sz="1019">
                <a:solidFill>
                  <a:srgbClr val="1E293B"/>
                </a:solidFill>
                <a:latin typeface="Microsoft YaHei"/>
              </a:rPr>
              <a:t>跨节点直读捕获 SIGBUS 异常，500µs 内快速跳出并回滚本地重算</a:t>
            </a:r>
          </a:p>
          <a:p>
            <a:pPr>
              <a:lnSpc>
                <a:spcPct val="120000"/>
              </a:lnSpc>
              <a:spcAft>
                <a:spcPts val="600"/>
              </a:spcAft>
            </a:pPr>
            <a:r>
              <a:rPr sz="1019" b="1">
                <a:solidFill>
                  <a:srgbClr val="1E3A8A"/>
                </a:solidFill>
                <a:latin typeface="Microsoft YaHei"/>
              </a:rPr>
              <a:t>▸ RCU 双层宽限期：</a:t>
            </a:r>
            <a:r>
              <a:rPr sz="1019">
                <a:solidFill>
                  <a:srgbClr val="1E293B"/>
                </a:solidFill>
                <a:latin typeface="Microsoft YaHei"/>
              </a:rPr>
              <a:t>CPU 读者退出与硬件在途 I/O 排空双层仲裁，保障显存安全释放</a:t>
            </a:r>
          </a:p>
        </p:txBody>
      </p:sp>
      <p:sp>
        <p:nvSpPr>
          <p:cNvPr id="16" name="Rectangle 15"/>
          <p:cNvSpPr/>
          <p:nvPr/>
        </p:nvSpPr>
        <p:spPr>
          <a:xfrm>
            <a:off x="9070848" y="1078992"/>
            <a:ext cx="2651760" cy="2834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070848" y="1078992"/>
            <a:ext cx="2651760" cy="347472"/>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80576" y="1115568"/>
            <a:ext cx="2432304" cy="274320"/>
          </a:xfrm>
          <a:prstGeom prst="rect">
            <a:avLst/>
          </a:prstGeom>
          <a:noFill/>
        </p:spPr>
        <p:txBody>
          <a:bodyPr wrap="none" lIns="0" tIns="0" rIns="0" bIns="0">
            <a:spAutoFit/>
          </a:bodyPr>
          <a:lstStyle/>
          <a:p>
            <a:pPr>
              <a:defRPr sz="1050" b="1">
                <a:solidFill>
                  <a:srgbClr val="FFFFFF"/>
                </a:solidFill>
                <a:latin typeface="Microsoft YaHei"/>
              </a:defRPr>
            </a:pPr>
            <a:r>
              <a:t>4. 阶段门禁与质量闭环</a:t>
            </a:r>
          </a:p>
          <a:p>
            <a:pPr algn="r">
              <a:defRPr sz="950" b="1">
                <a:solidFill>
                  <a:srgbClr val="BFDBFE"/>
                </a:solidFill>
                <a:latin typeface="Microsoft YaHei"/>
              </a:defRPr>
            </a:pPr>
            <a:r>
              <a:t>[工程推进]</a:t>
            </a:r>
          </a:p>
        </p:txBody>
      </p:sp>
      <p:sp>
        <p:nvSpPr>
          <p:cNvPr id="19" name="TextBox 18"/>
          <p:cNvSpPr txBox="1"/>
          <p:nvPr/>
        </p:nvSpPr>
        <p:spPr>
          <a:xfrm>
            <a:off x="9070848" y="1444752"/>
            <a:ext cx="2651760" cy="2450592"/>
          </a:xfrm>
          <a:prstGeom prst="rect">
            <a:avLst/>
          </a:prstGeom>
          <a:noFill/>
        </p:spPr>
        <p:txBody>
          <a:bodyPr wrap="square" lIns="73152" tIns="73152" rIns="73152" bIns="73152">
            <a:spAutoFit/>
          </a:bodyPr>
          <a:lstStyle/>
          <a:p>
            <a:pPr>
              <a:lnSpc>
                <a:spcPct val="120000"/>
              </a:lnSpc>
              <a:spcAft>
                <a:spcPts val="600"/>
              </a:spcAft>
            </a:pPr>
            <a:r>
              <a:rPr sz="1019" b="1">
                <a:solidFill>
                  <a:srgbClr val="1E3A8A"/>
                </a:solidFill>
                <a:latin typeface="Microsoft YaHei"/>
              </a:rPr>
              <a:t>▸ E0~E3 渐进门限：</a:t>
            </a:r>
            <a:r>
              <a:rPr sz="1019">
                <a:solidFill>
                  <a:srgbClr val="1E293B"/>
                </a:solidFill>
                <a:latin typeface="Microsoft YaHei"/>
              </a:rPr>
              <a:t>严格按收益确认、底座打通、调度决策与端到端混压四阶段演进</a:t>
            </a:r>
          </a:p>
          <a:p>
            <a:pPr>
              <a:lnSpc>
                <a:spcPct val="120000"/>
              </a:lnSpc>
              <a:spcAft>
                <a:spcPts val="600"/>
              </a:spcAft>
            </a:pPr>
            <a:r>
              <a:rPr sz="1019" b="1">
                <a:solidFill>
                  <a:srgbClr val="1E3A8A"/>
                </a:solidFill>
                <a:latin typeface="Microsoft YaHei"/>
              </a:rPr>
              <a:t>▸ 严苛混压门禁：</a:t>
            </a:r>
            <a:r>
              <a:rPr sz="1019">
                <a:solidFill>
                  <a:srgbClr val="1E293B"/>
                </a:solidFill>
                <a:latin typeface="Microsoft YaHei"/>
              </a:rPr>
              <a:t>前后台混压下 TTFT 降幅 ≥ 20%，QPS 提升 ≥ 10%，TPOT 干扰率 &lt; 3%</a:t>
            </a:r>
          </a:p>
          <a:p>
            <a:pPr>
              <a:lnSpc>
                <a:spcPct val="120000"/>
              </a:lnSpc>
              <a:spcAft>
                <a:spcPts val="600"/>
              </a:spcAft>
            </a:pPr>
            <a:r>
              <a:rPr sz="1019" b="1">
                <a:solidFill>
                  <a:srgbClr val="1E3A8A"/>
                </a:solidFill>
                <a:latin typeface="Microsoft YaHei"/>
              </a:rPr>
              <a:t>▸ 研产测一体化：</a:t>
            </a:r>
            <a:r>
              <a:rPr sz="1019">
                <a:solidFill>
                  <a:srgbClr val="1E293B"/>
                </a:solidFill>
                <a:latin typeface="Microsoft YaHei"/>
              </a:rPr>
              <a:t>代码、规范、实测数据与核心专利同步闭环交付，以客观实测为依据</a:t>
            </a:r>
          </a:p>
        </p:txBody>
      </p:sp>
      <p:sp>
        <p:nvSpPr>
          <p:cNvPr id="20" name="Rectangle 19"/>
          <p:cNvSpPr/>
          <p:nvPr/>
        </p:nvSpPr>
        <p:spPr>
          <a:xfrm>
            <a:off x="457200" y="4069080"/>
            <a:ext cx="5532120" cy="1691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4069080"/>
            <a:ext cx="5532120" cy="3200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66928" y="4105656"/>
            <a:ext cx="5312664" cy="246888"/>
          </a:xfrm>
          <a:prstGeom prst="rect">
            <a:avLst/>
          </a:prstGeom>
          <a:noFill/>
        </p:spPr>
        <p:txBody>
          <a:bodyPr wrap="none" lIns="0" tIns="0" rIns="0" bIns="0">
            <a:spAutoFit/>
          </a:bodyPr>
          <a:lstStyle/>
          <a:p>
            <a:pPr>
              <a:defRPr sz="1080" b="1">
                <a:solidFill>
                  <a:srgbClr val="FFFFFF"/>
                </a:solidFill>
                <a:latin typeface="Microsoft YaHei"/>
              </a:defRPr>
            </a:pPr>
            <a:r>
              <a:t>四大生产级核心交付资产</a:t>
            </a:r>
          </a:p>
          <a:p>
            <a:pPr algn="r">
              <a:defRPr sz="950" b="1">
                <a:solidFill>
                  <a:srgbClr val="BFDBFE"/>
                </a:solidFill>
                <a:latin typeface="Microsoft YaHei"/>
              </a:defRPr>
            </a:pPr>
            <a:r>
              <a:t>[研产测一体化交付]</a:t>
            </a:r>
          </a:p>
        </p:txBody>
      </p:sp>
      <p:sp>
        <p:nvSpPr>
          <p:cNvPr id="23" name="TextBox 22"/>
          <p:cNvSpPr txBox="1"/>
          <p:nvPr/>
        </p:nvSpPr>
        <p:spPr>
          <a:xfrm>
            <a:off x="457200" y="4398264"/>
            <a:ext cx="5532120" cy="1344168"/>
          </a:xfrm>
          <a:prstGeom prst="rect">
            <a:avLst/>
          </a:prstGeom>
          <a:noFill/>
        </p:spPr>
        <p:txBody>
          <a:bodyPr wrap="square" lIns="73152" tIns="73152" rIns="73152" bIns="73152">
            <a:spAutoFit/>
          </a:bodyPr>
          <a:lstStyle/>
          <a:p>
            <a:pPr>
              <a:lnSpc>
                <a:spcPct val="116000"/>
              </a:lnSpc>
              <a:spcAft>
                <a:spcPts val="350"/>
              </a:spcAft>
            </a:pPr>
            <a:r>
              <a:rPr sz="960" b="1">
                <a:solidFill>
                  <a:srgbClr val="1E3A8A"/>
                </a:solidFill>
                <a:latin typeface="Microsoft YaHei"/>
              </a:rPr>
              <a:t>▸ 代码资产：</a:t>
            </a:r>
            <a:r>
              <a:rPr sz="960">
                <a:solidFill>
                  <a:srgbClr val="1E293B"/>
                </a:solidFill>
                <a:latin typeface="Microsoft YaHei"/>
              </a:rPr>
              <a:t>交付全套微秒级 C/C++ 原生核心库、POSIX 共享内存运行时与单元测试套件</a:t>
            </a:r>
          </a:p>
          <a:p>
            <a:pPr>
              <a:lnSpc>
                <a:spcPct val="116000"/>
              </a:lnSpc>
              <a:spcAft>
                <a:spcPts val="350"/>
              </a:spcAft>
            </a:pPr>
            <a:r>
              <a:rPr sz="960" b="1">
                <a:solidFill>
                  <a:srgbClr val="1E3A8A"/>
                </a:solidFill>
                <a:latin typeface="Microsoft YaHei"/>
              </a:rPr>
              <a:t>▸ 规范资产：</a:t>
            </a:r>
            <a:r>
              <a:rPr sz="960">
                <a:solidFill>
                  <a:srgbClr val="1E293B"/>
                </a:solidFill>
                <a:latin typeface="Microsoft YaHei"/>
              </a:rPr>
              <a:t>输出白皮书级《系统架构设计说明书》、《KPCL 通信驱动 API 契约》与部署规范</a:t>
            </a:r>
          </a:p>
          <a:p>
            <a:pPr>
              <a:lnSpc>
                <a:spcPct val="116000"/>
              </a:lnSpc>
              <a:spcAft>
                <a:spcPts val="350"/>
              </a:spcAft>
            </a:pPr>
            <a:r>
              <a:rPr sz="960" b="1">
                <a:solidFill>
                  <a:srgbClr val="1E3A8A"/>
                </a:solidFill>
                <a:latin typeface="Microsoft YaHei"/>
              </a:rPr>
              <a:t>▸ 数据资产：</a:t>
            </a:r>
            <a:r>
              <a:rPr sz="960">
                <a:solidFill>
                  <a:srgbClr val="1E293B"/>
                </a:solidFill>
                <a:latin typeface="Microsoft YaHei"/>
              </a:rPr>
              <a:t>交付 12 份标准验证报告、真实拓扑 CSV 原始事件与微秒级监控追踪曲线</a:t>
            </a:r>
          </a:p>
          <a:p>
            <a:pPr>
              <a:lnSpc>
                <a:spcPct val="116000"/>
              </a:lnSpc>
              <a:spcAft>
                <a:spcPts val="350"/>
              </a:spcAft>
            </a:pPr>
            <a:r>
              <a:rPr sz="960" b="1">
                <a:solidFill>
                  <a:srgbClr val="1E3A8A"/>
                </a:solidFill>
                <a:latin typeface="Microsoft YaHei"/>
              </a:rPr>
              <a:t>▸ 专利资产：</a:t>
            </a:r>
            <a:r>
              <a:rPr sz="960">
                <a:solidFill>
                  <a:srgbClr val="1E293B"/>
                </a:solidFill>
                <a:latin typeface="Microsoft YaHei"/>
              </a:rPr>
              <a:t>围绕双流分离、ViewGuard 容错、6维语义校验与 DAG 流水布局多项核心发明专利</a:t>
            </a:r>
          </a:p>
        </p:txBody>
      </p:sp>
      <p:sp>
        <p:nvSpPr>
          <p:cNvPr id="24" name="Rectangle 23"/>
          <p:cNvSpPr/>
          <p:nvPr/>
        </p:nvSpPr>
        <p:spPr>
          <a:xfrm>
            <a:off x="6199632" y="4069080"/>
            <a:ext cx="5532120" cy="16916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4069080"/>
            <a:ext cx="5532120" cy="32004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09360" y="4105656"/>
            <a:ext cx="5312664" cy="246888"/>
          </a:xfrm>
          <a:prstGeom prst="rect">
            <a:avLst/>
          </a:prstGeom>
          <a:noFill/>
        </p:spPr>
        <p:txBody>
          <a:bodyPr wrap="none" lIns="0" tIns="0" rIns="0" bIns="0">
            <a:spAutoFit/>
          </a:bodyPr>
          <a:lstStyle/>
          <a:p>
            <a:pPr>
              <a:defRPr sz="1080" b="1">
                <a:solidFill>
                  <a:srgbClr val="FFFFFF"/>
                </a:solidFill>
                <a:latin typeface="Microsoft YaHei"/>
              </a:defRPr>
            </a:pPr>
            <a:r>
              <a:t>研发攻坚落地承诺与推进准则</a:t>
            </a:r>
          </a:p>
          <a:p>
            <a:pPr algn="r">
              <a:defRPr sz="950" b="1">
                <a:solidFill>
                  <a:srgbClr val="BFDBFE"/>
                </a:solidFill>
                <a:latin typeface="Microsoft YaHei"/>
              </a:defRPr>
            </a:pPr>
            <a:r>
              <a:t>[专家担当与底线思维]</a:t>
            </a:r>
          </a:p>
        </p:txBody>
      </p:sp>
      <p:sp>
        <p:nvSpPr>
          <p:cNvPr id="27" name="TextBox 26"/>
          <p:cNvSpPr txBox="1"/>
          <p:nvPr/>
        </p:nvSpPr>
        <p:spPr>
          <a:xfrm>
            <a:off x="6199632" y="4398264"/>
            <a:ext cx="5532120" cy="1344168"/>
          </a:xfrm>
          <a:prstGeom prst="rect">
            <a:avLst/>
          </a:prstGeom>
          <a:noFill/>
        </p:spPr>
        <p:txBody>
          <a:bodyPr wrap="square" lIns="73152" tIns="73152" rIns="73152" bIns="73152">
            <a:spAutoFit/>
          </a:bodyPr>
          <a:lstStyle/>
          <a:p>
            <a:pPr>
              <a:lnSpc>
                <a:spcPct val="116000"/>
              </a:lnSpc>
              <a:spcAft>
                <a:spcPts val="350"/>
              </a:spcAft>
            </a:pPr>
            <a:r>
              <a:rPr sz="960" b="1">
                <a:solidFill>
                  <a:srgbClr val="1E3A8A"/>
                </a:solidFill>
                <a:latin typeface="Microsoft YaHei"/>
              </a:rPr>
              <a:t>▸ 直面物理瓶颈第一性：</a:t>
            </a:r>
            <a:r>
              <a:rPr sz="960">
                <a:solidFill>
                  <a:srgbClr val="1E293B"/>
                </a:solidFill>
                <a:latin typeface="Microsoft YaHei"/>
              </a:rPr>
              <a:t>从硬件与网络排队动力学出发，系统优化多卡偏斜与 Incast 拥塞</a:t>
            </a:r>
          </a:p>
          <a:p>
            <a:pPr>
              <a:lnSpc>
                <a:spcPct val="116000"/>
              </a:lnSpc>
              <a:spcAft>
                <a:spcPts val="350"/>
              </a:spcAft>
            </a:pPr>
            <a:r>
              <a:rPr sz="960" b="1">
                <a:solidFill>
                  <a:srgbClr val="1E3A8A"/>
                </a:solidFill>
                <a:latin typeface="Microsoft YaHei"/>
              </a:rPr>
              <a:t>▸ 坚守学术与技术诚信：</a:t>
            </a:r>
            <a:r>
              <a:rPr sz="960">
                <a:solidFill>
                  <a:srgbClr val="1E293B"/>
                </a:solidFill>
                <a:latin typeface="Microsoft YaHei"/>
              </a:rPr>
              <a:t>不知为不知，绝不杜撰数据，严格区分已有需求、设计建议与推导算例</a:t>
            </a:r>
          </a:p>
          <a:p>
            <a:pPr>
              <a:lnSpc>
                <a:spcPct val="116000"/>
              </a:lnSpc>
              <a:spcAft>
                <a:spcPts val="350"/>
              </a:spcAft>
            </a:pPr>
            <a:r>
              <a:rPr sz="960" b="1">
                <a:solidFill>
                  <a:srgbClr val="1E3A8A"/>
                </a:solidFill>
                <a:latin typeface="Microsoft YaHei"/>
              </a:rPr>
              <a:t>▸ 以客观实测数据为依据：</a:t>
            </a:r>
            <a:r>
              <a:rPr sz="960">
                <a:solidFill>
                  <a:srgbClr val="1E293B"/>
                </a:solidFill>
                <a:latin typeface="Microsoft YaHei"/>
              </a:rPr>
              <a:t>所有指标以真实 2 节点 W2 集群混压测试数据为准，杜绝未经验证的纸面假设</a:t>
            </a:r>
          </a:p>
          <a:p>
            <a:pPr>
              <a:lnSpc>
                <a:spcPct val="116000"/>
              </a:lnSpc>
              <a:spcAft>
                <a:spcPts val="350"/>
              </a:spcAft>
            </a:pPr>
            <a:r>
              <a:rPr sz="960" b="1">
                <a:solidFill>
                  <a:srgbClr val="1E3A8A"/>
                </a:solidFill>
                <a:latin typeface="Microsoft YaHei"/>
              </a:rPr>
              <a:t>▸ 阶段门禁准入与风险应对：</a:t>
            </a:r>
            <a:r>
              <a:rPr sz="960">
                <a:solidFill>
                  <a:srgbClr val="1E293B"/>
                </a:solidFill>
                <a:latin typeface="Microsoft YaHei"/>
              </a:rPr>
              <a:t>严格执行 E0~E3 准入与证伪门限，主路径遇阻果断启动备选兜底方案</a:t>
            </a:r>
          </a:p>
        </p:txBody>
      </p:sp>
      <p:sp>
        <p:nvSpPr>
          <p:cNvPr id="28" name="Rectangle 27"/>
          <p:cNvSpPr/>
          <p:nvPr/>
        </p:nvSpPr>
        <p:spPr>
          <a:xfrm>
            <a:off x="457200" y="5897880"/>
            <a:ext cx="11277295" cy="62179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57200" y="5897880"/>
            <a:ext cx="73152" cy="62179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1792" y="5989320"/>
            <a:ext cx="11002975" cy="438912"/>
          </a:xfrm>
          <a:prstGeom prst="rect">
            <a:avLst/>
          </a:prstGeom>
          <a:noFill/>
        </p:spPr>
        <p:txBody>
          <a:bodyPr wrap="square" lIns="0" tIns="0" rIns="0" bIns="0">
            <a:spAutoFit/>
          </a:bodyPr>
          <a:lstStyle/>
          <a:p>
            <a:pPr>
              <a:lnSpc>
                <a:spcPct val="115000"/>
              </a:lnSpc>
            </a:pPr>
            <a:r>
              <a:rPr sz="1200" b="1">
                <a:solidFill>
                  <a:srgbClr val="2563EB"/>
                </a:solidFill>
                <a:latin typeface="Microsoft YaHei"/>
              </a:rPr>
              <a:t>【核心结论】 </a:t>
            </a:r>
            <a:r>
              <a:rPr sz="1150" b="1">
                <a:solidFill>
                  <a:srgbClr val="1E293B"/>
                </a:solidFill>
                <a:latin typeface="Microsoft YaHei"/>
              </a:rPr>
              <a:t>基于第一性原理与软硬件协同设计，打造高可靠统一异构 KVCache 存储底座；严格按四个验证阶段推进，确保系统高质量交付。</a:t>
            </a:r>
            <a:r>
              <a:rPr sz="1150" b="1">
                <a:solidFill>
                  <a:srgbClr val="DC2626"/>
                </a:solidFill>
                <a:latin typeface="Microsoft YaHei"/>
              </a:rPr>
              <a:t>
为后续系统工程落地提供扎实技术依据，以客观实测数据为准。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3455</Words>
  <Application>Microsoft Office PowerPoint</Application>
  <PresentationFormat>宽屏</PresentationFormat>
  <Paragraphs>362</Paragraphs>
  <Slides>16</Slides>
  <Notes>16</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16</vt:i4>
      </vt:variant>
    </vt:vector>
  </HeadingPairs>
  <TitlesOfParts>
    <vt:vector size="22" baseType="lpstr">
      <vt:lpstr>等线</vt:lpstr>
      <vt:lpstr>Microsoft YaHei</vt:lpstr>
      <vt:lpstr>Arial</vt:lpstr>
      <vt:lpstr>Calibri</vt:lpstr>
      <vt:lpstr>Consolas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subject/>
  <dc:creator/>
  <cp:keywords/>
  <dc:description>generated using python-pptx</dc:description>
  <cp:lastModifiedBy>Liu Liu</cp:lastModifiedBy>
  <cp:revision>3</cp:revision>
  <dcterms:created xsi:type="dcterms:W3CDTF">2013-01-27T09:14:16Z</dcterms:created>
  <dcterms:modified xsi:type="dcterms:W3CDTF">2026-09-09T01:34:40Z</dcterms:modified>
  <cp:category/>
</cp:coreProperties>
</file>