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onsolas"/>
              </a:defRPr>
            </a:pPr>
            <a:r>
              <a:t>UNIFIED HETEROGENEOUS KVCACHE MEMORY POOL · SOFTWARE ARCHITECTURE DESIGN (PLAN 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09728" cy="5760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Microsoft YaHei"/>
              </a:defRPr>
            </a:pPr>
            <a:r>
              <a:t>KVC 软件架构设计文档 · 方案 A</a:t>
            </a:r>
          </a:p>
          <a:p>
            <a:pPr>
              <a:spcBef>
                <a:spcPts val="600"/>
              </a:spcBef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面向国产 AI 硬件的统一异构 KVCache 存储与调度底座 · 顶层架构设计与八大专题设计设想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KVCache（大模型注意力键值缓存，在自回归生成中保存历史 Key/Value 激活状态张量，用于避免后续 Token 重复计算）原厂软硬件协同软件架构设计与工程落地全景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34747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34747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34056"/>
            <a:ext cx="325526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架构定位与责任边界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执行显存严格归框架拥有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81528"/>
            <a:ext cx="3474720" cy="24231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执行显存归属：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推理框架直接管理执行 HBM 块表，KVC 绝不越权接管算子运行时内部显存分配</a:t>
            </a:r>
          </a:p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存储池统一范式：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逻辑统一对象身份、全局分布、版本与生命周期，支持跨节点微秒级加载调度</a:t>
            </a:r>
          </a:p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硬件原厂协同：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以底层通信库 (KPCL) 封装硬件通信能力，屏蔽国产芯片与物理总线异构细节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697480"/>
            <a:ext cx="34747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97480"/>
            <a:ext cx="347472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734056"/>
            <a:ext cx="325526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微秒决策与零拷贝数据面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驱动确定性净加速收益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081528"/>
            <a:ext cx="3474720" cy="24231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净加速收益前置：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严格确保拉取与加载总开销 &lt; 本地直接重算耗时，否则主动回退至本地重算</a:t>
            </a:r>
          </a:p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微秒级选路决策：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无锁 ART 树与成本模型协同，P99 &lt; 5µs 完成全局加载路径与分层介质决策</a:t>
            </a:r>
          </a:p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Host 零数据拷贝：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CPU 仅下发轻量描述符，数据经 DMA 直达 NPU HBM，消除 CPU 内存搬运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97480"/>
            <a:ext cx="34747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97480"/>
            <a:ext cx="347472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734056"/>
            <a:ext cx="3255264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生产级安全与三面可靠性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保障数据消费语义一致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081528"/>
            <a:ext cx="3474720" cy="24231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6 维语义强校验：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比对模型/词表/模板/LoRA/Ready位/租约，杜绝陈旧半写失效数据被消费</a:t>
            </a:r>
          </a:p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ViewGuard 视图守卫：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跨节点直读捕获 SIGBUS 异常并在 500µs 内回退重算，消除节点雪崩</a:t>
            </a:r>
          </a:p>
          <a:p>
            <a:pPr>
              <a:lnSpc>
                <a:spcPct val="116000"/>
              </a:lnSpc>
              <a:spcAft>
                <a:spcPts val="550"/>
              </a:spcAft>
            </a:pPr>
            <a:r>
              <a:rPr sz="10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1000" b="1">
                <a:solidFill>
                  <a:srgbClr val="1E3A8A"/>
                </a:solidFill>
                <a:latin typeface="Microsoft YaHei"/>
              </a:rPr>
              <a:t>RCU 双层宽限期：</a:t>
            </a:r>
            <a:r>
              <a:rPr sz="1000">
                <a:solidFill>
                  <a:srgbClr val="1E293B"/>
                </a:solidFill>
                <a:latin typeface="Microsoft YaHei"/>
              </a:rPr>
              <a:t>结合 CPU 读者退出与 NPU Stream Event，实现显存页零停顿安全物理回收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面向一线开发团队与架构评审专家 · 方案 A 架构设计串讲 · 讨论稿 · 2026-09-06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设计范围、材料口径与架构设计设想原则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先界定工程责任边界与安全不变量，严格区分已有需求、设计建议与推导算例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02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553212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531266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1. 本设计文档聚焦解决的架构命题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[工程责任边界]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532120" cy="1901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统一对象抽象：</a:t>
            </a:r>
            <a:r>
              <a:rPr sz="950">
                <a:solidFill>
                  <a:srgbClr val="1E293B"/>
                </a:solidFill>
                <a:latin typeface="Microsoft YaHei"/>
              </a:rPr>
              <a:t>统一跨节点、多介质不可变缓存对象的身份、版本、分布与访问方法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进程与部署拓扑：</a:t>
            </a:r>
            <a:r>
              <a:rPr sz="950">
                <a:solidFill>
                  <a:srgbClr val="1E293B"/>
                </a:solidFill>
                <a:latin typeface="Microsoft YaHei"/>
              </a:rPr>
              <a:t>高频控制留在推理进程运行库，资源分配与分片下沉至节点代理和目录服务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请求闭环因果链：</a:t>
            </a:r>
            <a:r>
              <a:rPr sz="950">
                <a:solidFill>
                  <a:srgbClr val="1E293B"/>
                </a:solidFill>
                <a:latin typeface="Microsoft YaHei"/>
              </a:rPr>
              <a:t>严格经历意图下发、候选发现、语义校验、收益确认、硬件直达与安全接入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物理安全排空：</a:t>
            </a:r>
            <a:r>
              <a:rPr sz="950">
                <a:solidFill>
                  <a:srgbClr val="1E293B"/>
                </a:solidFill>
                <a:latin typeface="Microsoft YaHei"/>
              </a:rPr>
              <a:t>逻辑取消与底层设备排空彻底分离，设备在途 I/O 未完成前禁止复用缓冲区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78992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78992"/>
            <a:ext cx="553212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115568"/>
            <a:ext cx="531266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2. 三种材料口径严格界定 (诚信红线)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[拒绝未经实测假设]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444752"/>
            <a:ext cx="5532120" cy="190195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已有需求：</a:t>
            </a:r>
            <a:r>
              <a:rPr sz="950">
                <a:solidFill>
                  <a:srgbClr val="1E293B"/>
                </a:solidFill>
                <a:latin typeface="Microsoft YaHei"/>
              </a:rPr>
              <a:t>受控 SRS V2.3、需求树 V2.3.1 明确提出的指标与功能要求（如 144 条正式需求）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设计建议：</a:t>
            </a:r>
            <a:r>
              <a:rPr sz="950">
                <a:solidFill>
                  <a:srgbClr val="1E293B"/>
                </a:solidFill>
                <a:latin typeface="Microsoft YaHei"/>
              </a:rPr>
              <a:t>本稿提出的五大进程划分、接口草图、24类数据结构与部署算法，待技术评审冻结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预算算例：</a:t>
            </a:r>
            <a:r>
              <a:rPr sz="950">
                <a:solidFill>
                  <a:srgbClr val="1E293B"/>
                </a:solidFill>
                <a:latin typeface="Microsoft YaHei"/>
              </a:rPr>
              <a:t>仅用于演示自上而下的数学推导方法（如 120ms 预算），绝非已实现的硬件实测结论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证据分级边界：</a:t>
            </a:r>
            <a:r>
              <a:rPr sz="950">
                <a:solidFill>
                  <a:srgbClr val="1E293B"/>
                </a:solidFill>
                <a:latin typeface="Microsoft YaHei"/>
              </a:rPr>
              <a:t>功能模拟 (W0)、局部设备实测 (W1) 与系统端到端实测 (W2) 严格区分，杜绝混用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532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53212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11296"/>
            <a:ext cx="531266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3. 支撑后续落地的四大核心架构原则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[设计设想核心]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5532120" cy="1920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净加速收益驱动：</a:t>
            </a:r>
            <a:r>
              <a:rPr sz="950">
                <a:solidFill>
                  <a:srgbClr val="1E293B"/>
                </a:solidFill>
                <a:latin typeface="Microsoft YaHei"/>
              </a:rPr>
              <a:t>拉取加载开销 &lt; 本地直接重算，且剩余时限满足业务预算，否则主动回退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多卡原子协同：</a:t>
            </a:r>
            <a:r>
              <a:rPr sz="950">
                <a:solidFill>
                  <a:srgbClr val="1E293B"/>
                </a:solidFill>
                <a:latin typeface="Microsoft YaHei"/>
              </a:rPr>
              <a:t>张量并行 (TP=8) 引入原子 Doorbell 与共享内存状态同步，消除时序偏斜与死锁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拓扑感知非对称分层：</a:t>
            </a:r>
            <a:r>
              <a:rPr sz="950">
                <a:solidFill>
                  <a:srgbClr val="1E293B"/>
                </a:solidFill>
                <a:latin typeface="Microsoft YaHei"/>
              </a:rPr>
              <a:t>以 NPU 显存与 NVMe 裸盘直通为主路径，Host DDR 仅作为条件兜底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安全先于性能：</a:t>
            </a:r>
            <a:r>
              <a:rPr sz="950">
                <a:solidFill>
                  <a:srgbClr val="1E293B"/>
                </a:solidFill>
                <a:latin typeface="Microsoft YaHei"/>
              </a:rPr>
              <a:t>对象发布后正文严格不可变，持有权绑定租约与代际，数据先就绪后发布目录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74720"/>
            <a:ext cx="5532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74720"/>
            <a:ext cx="5532120" cy="3474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511296"/>
            <a:ext cx="531266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20" b="1">
                <a:solidFill>
                  <a:srgbClr val="FFFFFF"/>
                </a:solidFill>
                <a:latin typeface="Microsoft YaHei"/>
              </a:defRPr>
            </a:pPr>
            <a:r>
              <a:t>4. 系统实现必须遵守的四大工程约束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[生产级底线]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3840480"/>
            <a:ext cx="5532120" cy="1920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越权越界红线：</a:t>
            </a:r>
            <a:r>
              <a:rPr sz="950">
                <a:solidFill>
                  <a:srgbClr val="1E293B"/>
                </a:solidFill>
                <a:latin typeface="Microsoft YaHei"/>
              </a:rPr>
              <a:t>严禁越权接管推理框架算子显存分配；执行显存归框架，KVC 仅调度外部存储池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数据搬运红线：</a:t>
            </a:r>
            <a:r>
              <a:rPr sz="950">
                <a:solidFill>
                  <a:srgbClr val="1E293B"/>
                </a:solidFill>
                <a:latin typeface="Microsoft YaHei"/>
              </a:rPr>
              <a:t>Host CPU 仅负责控制信令下发，绝对不参与正文搬运，严格实现零数据拷贝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错误消费红线：</a:t>
            </a:r>
            <a:r>
              <a:rPr sz="950">
                <a:solidFill>
                  <a:srgbClr val="1E293B"/>
                </a:solidFill>
                <a:latin typeface="Microsoft YaHei"/>
              </a:rPr>
              <a:t>6 维语义校验未通过或租约失效数据绝对禁止挂载接入，杜绝脏读与半写块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5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50" b="1">
                <a:solidFill>
                  <a:srgbClr val="1E3A8A"/>
                </a:solidFill>
                <a:latin typeface="Microsoft YaHei"/>
              </a:rPr>
              <a:t>架构去依赖红线：</a:t>
            </a:r>
            <a:r>
              <a:rPr sz="950">
                <a:solidFill>
                  <a:srgbClr val="1E293B"/>
                </a:solidFill>
                <a:latin typeface="Microsoft YaHei"/>
              </a:rPr>
              <a:t>坚守标准驱动纯软主路径，网卡多播与 DPU 硬件卸载仅作为条件加速轨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坚持工程诚信红线，严禁杜撰实测结论；以第一性原理分析系统瓶颈与时延构成，严格区分实测指标与推导算例，明确工程设计基线。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待验证指标严禁写成既成性能结论。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专题一：软件四层架构全景与管理、控制、数据三面分工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四层用于接口契约责任分解，三面用于物理隔离；两者正交解耦，严禁混同为常驻进程数量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03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530352" cy="4498848"/>
          </a:xfrm>
          <a:prstGeom prst="rect">
            <a:avLst/>
          </a:prstGeom>
          <a:solidFill>
            <a:srgbClr val="F0F9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80" b="1">
                <a:solidFill>
                  <a:srgbClr val="2563EB"/>
                </a:solidFill>
                <a:latin typeface="Microsoft YaHei"/>
              </a:defRPr>
            </a:pPr>
            <a:r>
              <a:t>微</a:t>
            </a:r>
            <a:br/>
            <a:r>
              <a:t>秒</a:t>
            </a:r>
            <a:br/>
            <a:r>
              <a:t>控</a:t>
            </a:r>
            <a:br/>
            <a:r>
              <a:t>制</a:t>
            </a:r>
            <a:br/>
            <a:r>
              <a:t>流</a:t>
            </a:r>
            <a:br/>
            <a:br/>
            <a:r>
              <a:t>信</a:t>
            </a:r>
            <a:br/>
            <a:r>
              <a:t>令</a:t>
            </a:r>
            <a:br/>
            <a:r>
              <a:t>快</a:t>
            </a:r>
            <a:br/>
            <a:r>
              <a:t>路</a:t>
            </a:r>
            <a:br/>
            <a:r>
              <a:t>径</a:t>
            </a:r>
            <a:br/>
            <a:br/>
            <a:r>
              <a:t>P99</a:t>
            </a:r>
            <a:br/>
            <a:r>
              <a:t>&lt;</a:t>
            </a:r>
            <a:br/>
            <a:r>
              <a:t>5µs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7888" y="1170432"/>
            <a:ext cx="530352" cy="4498848"/>
          </a:xfrm>
          <a:prstGeom prst="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defRPr sz="880" b="1">
                <a:solidFill>
                  <a:srgbClr val="059669"/>
                </a:solidFill>
                <a:latin typeface="Microsoft YaHei"/>
              </a:defRPr>
            </a:pPr>
            <a:r>
              <a:t>零</a:t>
            </a:r>
            <a:br/>
            <a:r>
              <a:t>拷</a:t>
            </a:r>
            <a:br/>
            <a:r>
              <a:t>贝</a:t>
            </a:r>
            <a:br/>
            <a:r>
              <a:t>数</a:t>
            </a:r>
            <a:br/>
            <a:r>
              <a:t>据</a:t>
            </a:r>
            <a:br/>
            <a:r>
              <a:t>流</a:t>
            </a:r>
            <a:br/>
            <a:br/>
            <a:r>
              <a:t>硬</a:t>
            </a:r>
            <a:br/>
            <a:r>
              <a:t>件</a:t>
            </a:r>
            <a:br/>
            <a:r>
              <a:t>直</a:t>
            </a:r>
            <a:br/>
            <a:r>
              <a:t>通</a:t>
            </a:r>
            <a:br/>
            <a:br/>
            <a:r>
              <a:t>CPU</a:t>
            </a:r>
            <a:br/>
            <a:r>
              <a:t>零</a:t>
            </a:r>
            <a:br/>
            <a:r>
              <a:t>拷</a:t>
            </a:r>
            <a:br/>
            <a:r>
              <a:t>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" y="1170432"/>
            <a:ext cx="6986016" cy="1024128"/>
          </a:xfrm>
          <a:prstGeom prst="rect">
            <a:avLst/>
          </a:prstGeom>
          <a:solidFill>
            <a:srgbClr val="F0F9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" y="1170432"/>
            <a:ext cx="6986016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07008"/>
            <a:ext cx="67665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L1 框架适配层 (接入层) · 进程内运行库 libkvc_runtime · 框架拥有执行显存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3584" y="1481328"/>
            <a:ext cx="22494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1E3A8A"/>
                </a:solidFill>
                <a:latin typeface="Microsoft YaHei"/>
              </a:defRPr>
            </a:pPr>
            <a:r>
              <a:t>虚拟挂载与访问意图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KVAccessIntent 挂载句柄</a:t>
            </a:r>
            <a:br/>
            <a:r>
              <a:t>推理框架独占运行时显存分配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1481328"/>
            <a:ext cx="22494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1E3A8A"/>
                </a:solidFill>
                <a:latin typeface="Microsoft YaHei"/>
              </a:defRPr>
            </a:pPr>
            <a:r>
              <a:t>前缀预算与准入控制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Token 序列 64位哈希提取</a:t>
            </a:r>
            <a:br/>
            <a:r>
              <a:t>SLO 剩余预算前置核验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33872" y="1481328"/>
            <a:ext cx="224942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1E3A8A"/>
                </a:solidFill>
                <a:latin typeface="Microsoft YaHei"/>
              </a:defRPr>
            </a:pPr>
            <a:r>
              <a:t>缓存感知路由与多卡协同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前缀匹配度评分与算力路由</a:t>
            </a:r>
            <a:br/>
            <a:r>
              <a:t>TP=8 RankConsensus 组内协同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2286000"/>
            <a:ext cx="6986016" cy="1097280"/>
          </a:xfrm>
          <a:prstGeom prst="rect">
            <a:avLst/>
          </a:prstGeom>
          <a:solidFill>
            <a:srgbClr val="F5F3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" y="2286000"/>
            <a:ext cx="6986016" cy="25603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322576"/>
            <a:ext cx="67665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L2 核心调度与控制面 · 查询决策引擎与分片目录 · 微秒级纯信令处理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43584" y="259689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6D28D9"/>
                </a:solidFill>
                <a:latin typeface="Microsoft YaHei"/>
              </a:defRPr>
            </a:pPr>
            <a:r>
              <a:t>ART 无锁前缀树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自适应基数树快照</a:t>
            </a:r>
            <a:br/>
            <a:r>
              <a:t>P99 &lt; 2µs 本地遍历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259689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6D28D9"/>
                </a:solidFill>
                <a:latin typeface="Microsoft YaHei"/>
              </a:defRPr>
            </a:pPr>
            <a:r>
              <a:t>QueryPlan 选路决策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CostEvaluator 成本模型</a:t>
            </a:r>
            <a:br/>
            <a:r>
              <a:t>净加速收益前置确认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259689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6D28D9"/>
                </a:solidFill>
                <a:latin typeface="Microsoft YaHei"/>
              </a:defRPr>
            </a:pPr>
            <a:r>
              <a:t>6维语义校验引擎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ConsumeEligibility</a:t>
            </a:r>
            <a:br/>
            <a:r>
              <a:t>模型/词表/租约零错误消费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9689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6D28D9"/>
                </a:solidFill>
                <a:latin typeface="Microsoft YaHei"/>
              </a:defRPr>
            </a:pPr>
            <a:r>
              <a:t>分片目录集群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kvc-directory Raft 多数派</a:t>
            </a:r>
            <a:br/>
            <a:r>
              <a:t>Slot 0..1023 哈希分片发现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0432" y="3474720"/>
            <a:ext cx="6986016" cy="1097280"/>
          </a:xfrm>
          <a:prstGeom prst="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0432" y="3474720"/>
            <a:ext cx="6986016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511296"/>
            <a:ext cx="67665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L3 原厂极速底座 (KPCL) · 统一总线通信与分层存储 · Host Payload 零拷贝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43584" y="378561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059669"/>
                </a:solidFill>
                <a:latin typeface="Microsoft YaHei"/>
              </a:defRPr>
            </a:pPr>
            <a:r>
              <a:t>连续块清单描述符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64B POD Extent 描述符</a:t>
            </a:r>
            <a:br/>
            <a:r>
              <a:t>O(N) 贪心合并降低开销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62656" y="378561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059669"/>
                </a:solidFill>
                <a:latin typeface="Microsoft YaHei"/>
              </a:defRPr>
            </a:pPr>
            <a:r>
              <a:t>异步 DAG 边算边传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NPU Stream/Event 编排</a:t>
            </a:r>
            <a:br/>
            <a:r>
              <a:t>消灭 85% 首字等待气泡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378561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059669"/>
                </a:solidFill>
                <a:latin typeface="Microsoft YaHei"/>
              </a:defRPr>
            </a:pPr>
            <a:r>
              <a:t>UBMEM 直读与 URMA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Direct-View 跨卡直读</a:t>
            </a:r>
            <a:br/>
            <a:r>
              <a:t>DMA 直达 NPU HBM 显存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785616"/>
            <a:ext cx="16733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059669"/>
                </a:solidFill>
                <a:latin typeface="Microsoft YaHei"/>
              </a:defRPr>
            </a:pPr>
            <a:r>
              <a:t>HBM-SSD 裸盘直达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Payload Bypass DDR</a:t>
            </a:r>
            <a:br/>
            <a:r>
              <a:t>io_uring 裸盘直通容量扩充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0432" y="4663440"/>
            <a:ext cx="6986016" cy="100584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70432" y="4663440"/>
            <a:ext cx="6986016" cy="25603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700016"/>
            <a:ext cx="676656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管理与可靠性保障 · etcd 持久配置 / 节点代理 kvc-node / 遥测探针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43584" y="4974336"/>
            <a:ext cx="16733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B45309"/>
                </a:solidFill>
                <a:latin typeface="Microsoft YaHei"/>
              </a:defRPr>
            </a:pPr>
            <a:r>
              <a:t>etcd 静态拓扑集群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集群网络物理拓扑与配额</a:t>
            </a:r>
            <a:br/>
            <a:r>
              <a:t>极低频写入，绝不入热路径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62656" y="4974336"/>
            <a:ext cx="16733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B45309"/>
                </a:solidFill>
                <a:latin typeface="Microsoft YaHei"/>
              </a:defRPr>
            </a:pPr>
            <a:r>
              <a:t>节点代理 kvc-node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POSIX 共享内存租约 Epoch</a:t>
            </a:r>
            <a:br/>
            <a:r>
              <a:t>能力矩阵快照与介质分配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1728" y="4974336"/>
            <a:ext cx="16733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B45309"/>
                </a:solidFill>
                <a:latin typeface="Microsoft YaHei"/>
              </a:defRPr>
            </a:pPr>
            <a:r>
              <a:t>ViewGuard 容错守卫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跨节点直读 SIGBUS 捕获</a:t>
            </a:r>
            <a:br/>
            <a:r>
              <a:t>500µs 极速跳出回退本地重算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974336"/>
            <a:ext cx="16733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defRPr sz="880" b="1">
                <a:solidFill>
                  <a:srgbClr val="B45309"/>
                </a:solidFill>
                <a:latin typeface="Microsoft YaHei"/>
              </a:defRPr>
            </a:pPr>
            <a:r>
              <a:t>遥测探针与 QoS 隔离</a:t>
            </a:r>
          </a:p>
          <a:p>
            <a:pPr>
              <a:spcBef>
                <a:spcPts val="200"/>
              </a:spcBef>
              <a:defRPr sz="780">
                <a:solidFill>
                  <a:srgbClr val="475569"/>
                </a:solidFill>
                <a:latin typeface="Microsoft YaHei"/>
              </a:defRPr>
            </a:pPr>
            <a:r>
              <a:t>Telemetry 微秒级探针</a:t>
            </a:r>
            <a:br/>
            <a:r>
              <a:t>TC0/TC1 硬件优先级映射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核心架构边界与职责划分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L1 框架接入层：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提供访问意图、剩余预算与目标缓冲，框架继续拥有执行显存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L2 控制决策层：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快速查前缀、核验6维语义与管理租约，微秒决策且不碰正文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L3 分层存储层：</a:t>
            </a:r>
            <a:r>
              <a:rPr sz="919">
                <a:solidFill>
                  <a:srgbClr val="1E293B"/>
                </a:solidFill>
                <a:latin typeface="Microsoft YaHei"/>
              </a:rPr>
              <a:t>维护不可变对象、连续块清单 (ExtentManifest) 与分层状态机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L4 极速传输层：</a:t>
            </a:r>
            <a:r>
              <a:rPr sz="919">
                <a:solidFill>
                  <a:srgbClr val="1E293B"/>
                </a:solidFill>
                <a:latin typeface="Microsoft YaHei"/>
              </a:rPr>
              <a:t>通信库封装异构底层总线与裸盘，以 Host 零拷贝直达显存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三面物理隔离：</a:t>
            </a:r>
            <a:r>
              <a:rPr sz="919">
                <a:solidFill>
                  <a:srgbClr val="1E293B"/>
                </a:solidFill>
                <a:latin typeface="Microsoft YaHei"/>
              </a:rPr>
              <a:t>管理层不进单请求路径；控制面读写分离；数据面前后台硬件队列隔离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控制面微秒决策与数据面零拷贝双流分离；执行 HBM 归框架，KVC 负责跨节点分层调度。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Host CPU 负责控制下发，数据搬运通过硬件直通绕过主机内存。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专题二：分布式拓扑与五大进程实体分布与交互模型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控制面下沉至推理工作进程内部降低 IPC 损耗，资源分配与分片目录解耦为独立守护进程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04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kvc_cluster_topology_and_proc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21698"/>
            <a:ext cx="8339328" cy="41963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五大核心进程实体与职责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1. libkvc_runtime (运行库)：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嵌入推理框架工作进程内存中；负责本地前缀哈希、ART 树快照匹配与微秒决策；零 IPC 开销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2. kvc-node (节点代理)：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每台计算/存储节点独占部署守护进程；独占物理绑核；负责跨进程共享内存租约 Epoch 管理与介质分配；P99 &lt; 50µs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3. kvc-directory (分片目录)：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3 节点 Raft 集群独立部署；管理 Slot 0..1023 哈希分片与对象副本视图；仅供发现，不碰正文；P99 &lt; 200µs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4. etcd (持久配置集群)：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独立部署；保存静态网络拓扑、节点心跳与配额规则；系统启动一次性加载，绝对禁止进入单请求关键路径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5. kvc-controller (管理控制器)：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主备高可用部署；负责后台容量均衡、冷热迁移策略下发与指标汇总；异步流转，不干扰在线推理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高频控制由推理进程内运行库承载，资源管理与分片下沉至节点代理与目录，管理面不参与单请求转发。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在线推理高频路径绕开持久化存储。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专题三：推理请求从前缀查询到安全接入 9 步微秒时序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严格经历意图下发、候选发现、语义校验、成本决策、硬件直达与安全挂载 9 步闭环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05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kvc_request_to_attach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9 步时序因果链与输入输出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① 下发意图：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框架注册意图 ｜ 输入=Prompt Token 与 SLO 预算 ｜ 输出=KVAccessIntent 句柄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② 前缀查询：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本地未命中查目录 ｜ 输入=前缀哈希序列 ｜ 输出=目录查询 RPC 请求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③ 匹配候选：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定位远端副本 ｜ 输入=全局哈希槽分片 ｜ 输出=候选对象 ID 与副本提示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④ 申请租约：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校验 6 维语义资格 ｜ 输入=模型/词表/模板哈希 ｜ 输出=租约申请请求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⑤ 授予租约：</a:t>
            </a:r>
            <a:r>
              <a:rPr sz="919">
                <a:solidFill>
                  <a:srgbClr val="1E293B"/>
                </a:solidFill>
                <a:latin typeface="Microsoft YaHei"/>
              </a:rPr>
              <a:t>锁定回收屏障 ｜ 输入=对象代际 Epoch ｜ 输出=安全访问凭证 LeaseToken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⑥ 成本决策：</a:t>
            </a:r>
            <a:r>
              <a:rPr sz="919">
                <a:solidFill>
                  <a:srgbClr val="1E293B"/>
                </a:solidFill>
                <a:latin typeface="Microsoft YaHei"/>
              </a:rPr>
              <a:t>QueryPlan 净收益核算 ｜ 输入=链路能力矩阵 ｜ 输出=最优路径描述符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⑦ 散聚传输：</a:t>
            </a:r>
            <a:r>
              <a:rPr sz="919">
                <a:solidFill>
                  <a:srgbClr val="1E293B"/>
                </a:solidFill>
                <a:latin typeface="Microsoft YaHei"/>
              </a:rPr>
              <a:t>KPCL 驱动 DMA 直达 ｜ 输入=64B POD 描述符 ｜ 输出=显存传输完成 CQE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⑧ 完成对账：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可见性核验与多卡同步 ｜ 输入=硬件完成中断 ｜ 输出=RankConsensus 就绪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⑨ 安全挂载：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块表生效并启动推理 ｜ 输入=已校验物理块 ｜ 输出=PagedAttention 映射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目录发现与消费授权严格分离；目标显存仅在收到硬件完成与可见性证据后方可接入；超时或失败主动回退至本地重算。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数据接入必须通过租约校验与硬件可见性对账。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专题四：元数据体系与四层分级组织架构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四大权威源职责解耦，多核无锁只读快照与 alignas(64) 缓存行对齐消除伪共享争用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06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kvc_metadata_hierarchy_and_lookup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四大权威源与访问模型解析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1. 本地极速索引 (libkvc)：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权威源=工作进程内存 ｜ Token 64位哈希与 ART 快照 ｜ 无锁只读 P99 &lt; 2µs ｜ alignas(64) 对齐消除伪共享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2. 节点代理状态 (kvc-node)：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权威源=节点专属守护进程 ｜ 不可变对象持有权与租约 Epoch ｜ POSIX 共享内存 P99 &lt; 50µs ｜ 分段锁防冲突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3. 分片目录集群 (directory)：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权威源=3 节点 Raft 集群 ｜ 全局 Slot 0..1023 哈希分片 ｜ Follower 只读镜像 P99 &lt; 200µs ｜ 二级缓存削峰 80%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4. 持久一致配置 (etcd)：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权威源=etcd 独立物理节点 ｜ 静态网络拓扑与存活心跳 ｜ 低频强一致事务 ｜ 严禁入在线热路径，脑裂本地快照降级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元数据清晰划分权威写入、本地查询与持久化三者职责；关键结构体强制 alignas(64) 对齐，消除伪共享争用。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高频控制面采用 POSIX 共享内存与无锁原子位图。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专题五：对象全生命周期状态机与两阶段发布/RCU双层延迟回收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正文发布后严格不可变，两阶段发布防范半写脏块，通过 CPU 读者与硬件在途 I/O 双层宽限期保障安全释放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07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kvc_object_lifecycle_and_rcu_g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对象生命周期与安全回收机制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正文发布后严格不可变：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对象正文一旦通过 PREPARING -&gt; COMMITTED 提交，正文内容物理只读，消除原地写覆盖与并发写冲突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两阶段安全发布：</a:t>
            </a:r>
            <a:r>
              <a:rPr sz="919">
                <a:solidFill>
                  <a:srgbClr val="1E293B"/>
                </a:solidFill>
                <a:latin typeface="Microsoft YaHei"/>
              </a:rPr>
              <a:t>Phase 1 数据面 DMA 传输完成并获取硬件完成证据 (CQE)；Phase 2 校验通过后原子翻转 Ready 就绪位并注册目录，避免读取未完成脏块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逻辑墓碑与租约代际：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对象失效或触发 LRU 淘汰时，原子 CAS 置为 TOMBSTONE 状态，阻断任何新请求持有引用；历史持有者继续依租约代际完成生命周期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RCU 双层宽限期仲裁：</a:t>
            </a:r>
            <a:r>
              <a:rPr sz="919">
                <a:solidFill>
                  <a:srgbClr val="1E293B"/>
                </a:solidFill>
                <a:latin typeface="Microsoft YaHei"/>
              </a:rPr>
              <a:t>Layer 1 等待 Host CPU 所有读线程退出临界区；Layer 2 等待底层网卡与 SSD 硬件在途 DMA/I/O 流彻底排空；双层屏障就绪后物理释放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生产级安全底线：</a:t>
            </a:r>
            <a:r>
              <a:rPr sz="919">
                <a:solidFill>
                  <a:srgbClr val="1E293B"/>
                </a:solidFill>
                <a:latin typeface="Microsoft YaHei"/>
              </a:rPr>
              <a:t>防范 UAF 内存越界与悬空指针，保障数据安全与状态一致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对象一旦提交发布则正文严格不可变，杜绝原地修改；物理释放必须等待 Host CPU 读线程退出与底层硬件在途 I/O 排空双层宽限期。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消除 Use-After-Free 与悬空引用风险。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专题六：三面物理隔离与 Payload Bypass DDR 硬件直通路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管理面、控制面、数据面三面物理资源严格正交，数据直接流转于网卡/SSD 与显存之间完全绕过主机内存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08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kvc_three_layer_isolation_and_data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三面物理隔离与直达通路解析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管理面物理隔离：</a:t>
            </a:r>
            <a:r>
              <a:rPr sz="919">
                <a:solidFill>
                  <a:srgbClr val="1E293B"/>
                </a:solidFill>
                <a:latin typeface="Microsoft YaHei"/>
              </a:rPr>
              <a:t>etcd 与 Controller 独立节点部署；仅负责拓扑维护与后台均衡；心跳超时由节点代理本地兜底，故障完全不传导至在线业务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控制面微秒决策：</a:t>
            </a:r>
            <a:r>
              <a:rPr sz="919">
                <a:solidFill>
                  <a:srgbClr val="1E293B"/>
                </a:solidFill>
                <a:latin typeface="Microsoft YaHei"/>
              </a:rPr>
              <a:t>libkvc 独占绑定计算核；依托无锁 ART 树与共享内存，信令交互全在内存微秒完成，P99 &lt; 5µs，严格不承载正文搬运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数据面零拷贝直通：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数据直接在 NPU HBM 与 NVMe SSD/网卡间通过 PCIe DMA 流转，Host CPU 零数据拷贝（CPU 仅负责下发控制指令，不参与正文搬运）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网络硬件 QoS 双轨：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借助 DSCP/CoS 映射，在线前台高优流量绑定 TC0 队列；后台冷数据换出与分层绑定 TC1 队列，确保前台 TPOT 干扰率 &lt; 3%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介质非对称分层：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以 NPU 显存热执行与 NVMe 裸盘冷沉淀为主路径；Host DDR 仅作容灾缓冲，消除多级总线争用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数据流严格绕过主机内存 (Payload Bypass DDR)，Host CPU 仅负责控制调度不碰正文；硬件 QoS 队列杜绝后台数据流干扰前台在线推理。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主路径以 NPU HBM 与 NVMe SSD 裸盘直达为主。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专题七：12 类业务场景推拉模式映射与物理排空屏障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区分确定性热点异步推送与突发长尾按需拉取，前置净收益评估与硬件排空屏障保障显存安全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09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kvc_inference_scenarios_and_causal_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场景映射与因果链闭环解析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12 类场景推拉模式映射：</a:t>
            </a:r>
            <a:r>
              <a:rPr sz="919">
                <a:solidFill>
                  <a:srgbClr val="1E293B"/>
                </a:solidFill>
                <a:latin typeface="Microsoft YaHei"/>
              </a:rPr>
              <a:t>S01~S04 确定性场景（固定 Prompt、系统级 Agent）走提前异步 Push 推送；S05~S12 突发长尾场景走动态按需 Pull 拉取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前置动态选路决策：</a:t>
            </a:r>
            <a:r>
              <a:rPr sz="919">
                <a:solidFill>
                  <a:srgbClr val="1E293B"/>
                </a:solidFill>
                <a:latin typeface="Microsoft YaHei"/>
              </a:rPr>
              <a:t>QueryPlan 实时比对：拉取加载总开销 &lt; 本地直接重算耗时；仅在获得明确净加速收益时执行加载，否则主动回退至本地重算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请求因果链闭环：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严格经历“意图下发 -&gt; 候选发现 -&gt; 语义校验 -&gt; 成本决策 -&gt; 硬件直达 -&gt; 完成对账 -&gt; 安全接入”7 大物理因果阶段，无一缺漏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物理排空屏障：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客户端取消或超时时触发硬件排空屏障；设备未完成在途 DMA 前严禁复用显存，杜绝野指针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自适应降级兜底：</a:t>
            </a:r>
            <a:r>
              <a:rPr sz="919">
                <a:solidFill>
                  <a:srgbClr val="1E293B"/>
                </a:solidFill>
                <a:latin typeface="Microsoft YaHei"/>
              </a:rPr>
              <a:t>目录抖动或链路拥塞时 5µs 内主动熔断切回本地重算，保障首字延迟 TTFT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确定性高频热点走异步提前推送，突发长尾走微秒按需拉取；取消请求必须等待底层硬件在途 DMA 物理排空后方可复用缓冲区。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严格执行拉取开销小于本地直接重算的准入判定。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专题八：底层通信库 (KPCL) 责任边界、四大通信流与流量调度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明确 KVC 存储池调度与 KPCL 原厂通信底座接口契约，四大通信流模式与 F1~F8 流量画像消除拥塞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10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kvc_kpcl_traffic_schedulin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通信契约责任边界与流调度模型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KVC 与 KPCL 责任边界：</a:t>
            </a:r>
            <a:r>
              <a:rPr sz="919">
                <a:solidFill>
                  <a:srgbClr val="1E293B"/>
                </a:solidFill>
                <a:latin typeface="Microsoft YaHei"/>
              </a:rPr>
              <a:t>KVC 负责语义校验、目录拓扑、生命周期与调度选路；KPCL 独立负责底层驱动封装、硬件描述符提交与通信流控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四大通信流模式：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包含模式 1 跨卡远端直读、模式 2 本地跨卡拷贝、模式 3 跨节点 RDMA 零拷贝与模式 4 NVMe 裸盘直达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1µs 级硬件 API 契约：</a:t>
            </a:r>
            <a:r>
              <a:rPr sz="919">
                <a:solidFill>
                  <a:srgbClr val="1E293B"/>
                </a:solidFill>
                <a:latin typeface="Microsoft YaHei"/>
              </a:rPr>
              <a:t>KPCL 接口采用非阻塞异步风格，Submit 函数耗时 P99 &lt; 1µs；通过完成队列条目 (CQE) 异步反馈传输证据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F1~F8 调度模型：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划分固定热点广播、动态单播、换出卸载等 8 类流量画像，严格映射至不同硬件队列与优先级通道，消除流量互斥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硬件抽象与解耦：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严格屏蔽昇腾/英伟达等国产与异构芯片底层驱动差异，为主路径纯软直达与条件硬件卸载提供标准统一通信抽象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KVC 与 KPCL 严格按语义决策与通信执行解耦，KPCL 提供 1µs 级非阻塞异步契约；四大通信流严格物理映射，消除链路互斥与死锁。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任何硬件传输完成必须以 CQE 可见性证据为准。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专题九：端到端 TTFT DAG 关键路径流水线与 120ms 预算拆解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控制面各阶段单调时钟硬预算控制，NPU Stream/Event 异步流水消除 85% 首字等待气泡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11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kvc_ttft_dag_pipeline_and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TTFT 关键路径与 120ms 预算拆解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TTFT 120ms 预算拆解：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意图下发 2ms + 目录发现 3ms + 租约校验 2ms + 决策编译 3ms + 数据加载 95ms + 接入同步 5ms + 算子计算 10ms = 120ms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串行加载 vs 边算边传：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传统串行等待所有层 KV 加载完毕再计算需耗时 200ms+；DAG 流水边算边传消除 85% 等待气泡，时延收敛至 120ms 内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Layer 0 提前点火：</a:t>
            </a:r>
            <a:r>
              <a:rPr sz="919">
                <a:solidFill>
                  <a:srgbClr val="1E293B"/>
                </a:solidFill>
                <a:latin typeface="Microsoft YaHei"/>
              </a:rPr>
              <a:t>第 0 层数据无前置依赖，映射至 TC0 提前点火；算子计算 Layer 0 时异步并行加载后序层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关键路径并集上界分解：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控制面各阶段严格设定单调时钟硬门限；任一子阶段超时立即中断并安全回退，防止局部抖动穿透到整体 TTFT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算例属性与诚信界定：</a:t>
            </a:r>
            <a:r>
              <a:rPr sz="919">
                <a:solidFill>
                  <a:srgbClr val="1E293B"/>
                </a:solidFill>
                <a:latin typeface="Microsoft YaHei"/>
              </a:rPr>
              <a:t>120ms 为指导工程实现的目标预算算例（推导模型），严禁直接宣称为已实现的硬件实测结论，以客观实测为准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端到端时延以并集上界分解控制，各子阶段设定单调时钟硬预算；异步边算边传流水消除 85% 气泡，Layer 0 首层提前下发掩盖传输延迟。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120ms 预算算例用于指导系统自上而下工程实现。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专题十：TP=8 张量并行原子协同机制与 QoS 干扰抑制架构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单次原子 Doorbell 消除多卡时序差与偏斜，前后台 QoS 双层退避保障尾部时延稳定性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12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kvc_tp8_atomic_coordination_and_q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TP=8 原子协同与尾部延迟控制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TP=8 木桶短板效应：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张量并行切分在 8 张卡上，每一层算子必须等 8 卡全部加载完成；单个慢节点 (Straggler) 将引发尾部时延非线性放大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单次原子 Doorbell 同步：</a:t>
            </a:r>
            <a:r>
              <a:rPr sz="919">
                <a:solidFill>
                  <a:srgbClr val="1E293B"/>
                </a:solidFill>
                <a:latin typeface="Microsoft YaHei"/>
              </a:rPr>
              <a:t>8 卡在 POSIX 共享内存中原子汇聚 (0xFF)；协调者仅下发单次原子 Doorbell 同步触发，消除多卡时序偏差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组内同步极速门限：</a:t>
            </a:r>
            <a:r>
              <a:rPr sz="919">
                <a:solidFill>
                  <a:srgbClr val="1E293B"/>
                </a:solidFill>
                <a:latin typeface="Microsoft YaHei"/>
              </a:rPr>
              <a:t>TP=8 组内状态同步耗时 P99 &lt; 100µs；任一单卡在租约或加载中超时，触发全局协调一致回退，绝不发生通信死锁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SemanticQoS 双层隔离：</a:t>
            </a:r>
            <a:r>
              <a:rPr sz="919">
                <a:solidFill>
                  <a:srgbClr val="1E293B"/>
                </a:solidFill>
                <a:latin typeface="Microsoft YaHei"/>
              </a:rPr>
              <a:t>DSCP 硬件映射保障在线推理独占 TC0 队列；Worker.step() 自适应探测排队，一旦排队限流 50%~100% 换出流量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3% 尾部干扰严格包络：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在前台在线推理 TPOT P99 为 20ms 的极限压力下，后台满载数据换出对前台时延的干扰率控制在 0.6ms (&lt; 3%) 以内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TP=8 偏斜从提交源头收敛，单次原子 Doorbell 消除多卡时序差；Layer 0 提前下发掩盖延迟，微秒自适应退避控制干扰率 &lt; 3%。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张量并行多卡状态同步耗时 P99 &lt; 100µs。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专题十一：三面可靠性隔离体系与 ViewGuard 容错跳出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管理层脑裂不影响在线推理，控制面超时主动回退，ViewGuard 跨节点直读异常在 500µs 内安全回退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13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kvc_viewguard_and_failure_recove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三面故障域隔离与 ViewGuard 容错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三面独立故障域：</a:t>
            </a:r>
            <a:r>
              <a:rPr sz="919">
                <a:solidFill>
                  <a:srgbClr val="1E293B"/>
                </a:solidFill>
                <a:latin typeface="Microsoft YaHei"/>
              </a:rPr>
              <a:t>管理面脑裂完全不影响在线推理；控制面调用超时 5µs 主动熔断；数据面硬件挂死触发排空屏障并释放缓冲区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ViewGuard 视图租约守卫：</a:t>
            </a:r>
            <a:r>
              <a:rPr sz="919">
                <a:solidFill>
                  <a:srgbClr val="1E293B"/>
                </a:solidFill>
                <a:latin typeface="Microsoft YaHei"/>
              </a:rPr>
              <a:t>负责跨节点远端直读 (Direct-View) 的生命周期与租约有效性监控；微秒级探测远端节点心跳与内存映射状态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SIGBUS 异常极速捕获：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当远端节点突发掉电或网络瞬间中断引发 SIGBUS 内存缺页总线错误时，用户态信号处理程序捕获异常，避免进程崩溃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500µs 极速跳出恢复：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捕获异常后微秒级阻断错误扩散，撤销远端映射，在 500µs 内无缝跳出并安全回退至本地重新计算，业务完全无感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无级故障降级链条：</a:t>
            </a:r>
            <a:r>
              <a:rPr sz="919">
                <a:solidFill>
                  <a:srgbClr val="1E293B"/>
                </a:solidFill>
                <a:latin typeface="Microsoft YaHei"/>
              </a:rPr>
              <a:t>遵循远端直读、本地显存拷贝、本地 DDR 缓冲与本地直接重算四级优雅降级策略，保障推理业务可用性与连续性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单点硬件与网络故障严格遏制在局部故障域；跨节点直读必须配备 ViewGuard 信号捕获机制，500µs 内极速跳出回退。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避免单点故障扩散，保障推理业务高可用与连续性。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专题十二：四个核心验证阶段 (E0~E3) 演进路线与 38 条 SR 需求矩阵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四个核心验证阶段建立坚固证据闭环，全量 38 条 SR 需求精准分层映射，确立纯软主路径与条件加速轨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14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841248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kvc_e0_e3_roadmap_and_sr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00766"/>
            <a:ext cx="8339328" cy="42381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1078992"/>
            <a:ext cx="272491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078992"/>
            <a:ext cx="2724912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16568" y="1115568"/>
            <a:ext cx="25054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E0~E3 路线图与需求矩阵落地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463040"/>
            <a:ext cx="2724912" cy="42702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E0~E3 四个核心验证阶段：</a:t>
            </a:r>
            <a:r>
              <a:rPr sz="919">
                <a:solidFill>
                  <a:srgbClr val="1E293B"/>
                </a:solidFill>
                <a:latin typeface="Microsoft YaHei"/>
              </a:rPr>
              <a:t>E0 收益确认 (Saved-Prefill 净收益与协议上限)；E1 底座打通 (零拷贝与 TP=8 同步)；E2 调度决策与扩容；E3 混压门禁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全量 38 条 SR 闭环落地：</a:t>
            </a:r>
            <a:r>
              <a:rPr sz="919">
                <a:solidFill>
                  <a:srgbClr val="1E293B"/>
                </a:solidFill>
                <a:latin typeface="Microsoft YaHei"/>
              </a:rPr>
              <a:t>L1 适配层承接 6 条 SR；L2 核心调度层承接 14 条 SR；L3 极速底座承接 9 条 SR；辅助保障层承接 9 条 SR，无一遗漏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渐进式准入门槛：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必须逐阶段达成量化门限：E1 实现 Host 零拷贝与 0 错误消费；E2 决策准确率≥95%且 500µs 跳出；E3 混压下 TTFT 降幅≥20% 且干扰&lt;3%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去依赖与条件证伪：</a:t>
            </a:r>
            <a:r>
              <a:rPr sz="919">
                <a:solidFill>
                  <a:srgbClr val="1E293B"/>
                </a:solidFill>
                <a:latin typeface="Microsoft YaHei"/>
              </a:rPr>
              <a:t>针对硬件多播与 DPU 硬件卸载开展科学证伪 ｜ 确立标准驱动纯软主路径 ｜ 杜绝外部强依赖风险</a:t>
            </a:r>
          </a:p>
          <a:p>
            <a:pPr>
              <a:lnSpc>
                <a:spcPct val="115000"/>
              </a:lnSpc>
              <a:spcAft>
                <a:spcPts val="42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工程化闭环交付：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产出生产级源码、白皮书级接口规范、12份实测数据字典与高价值核心发明专利，实现研产测一体化落地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执行显存严格归推理框架管理拥有；主路径基于标准驱动纯软直达，硬件加速解耦演进；分层精准承接全量 38 条 SR 需求。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严格执行阶段门禁准入标准，杜绝未达标合并上线。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工程化收官总结：技术立项核心共识、生产级交付资产与落地保障承诺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基于第一性原理分析系统瓶颈 · 阶段门禁保障工程质量 · 打造面向国产 AI 硬件的统一存储底座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15 / 15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65176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243230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1. 原厂软硬件协同底座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[架构定位]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2651760" cy="2450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执行显存归属：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框架独占执行 HBM 块表，KVC 逻辑统一跨节点不可变存储池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底层总线封装：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以原厂通信库 (KPCL) 封装硬件驱动，屏蔽底层异构细节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主路径纯软直达：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基于标准驱动直达，硬件加速解耦演进，降低外部依赖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8416" y="10789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28416" y="1078992"/>
            <a:ext cx="26517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1115568"/>
            <a:ext cx="243230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2. 前置微秒动态决策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[净加速收益]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444752"/>
            <a:ext cx="2651760" cy="2450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净收益前置门禁：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拉取加载总开销 &lt; 本地直接重算耗时，否则主动回退本地重算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无锁快路径匹配：</a:t>
            </a:r>
            <a:r>
              <a:rPr sz="919">
                <a:solidFill>
                  <a:srgbClr val="1E293B"/>
                </a:solidFill>
                <a:latin typeface="Microsoft YaHei"/>
              </a:rPr>
              <a:t>ART 基数树快照遍历 P99 &lt; 2µs，QueryPlan 动态微秒选路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Host 零数据拷贝：</a:t>
            </a:r>
            <a:r>
              <a:rPr sz="919">
                <a:solidFill>
                  <a:srgbClr val="1E293B"/>
                </a:solidFill>
                <a:latin typeface="Microsoft YaHei"/>
              </a:rPr>
              <a:t>CPU 仅下发 64B POD 描述符，数据经 DMA 直达 NPU HBM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0789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078992"/>
            <a:ext cx="265176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15568"/>
            <a:ext cx="243230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3. 生产级安全一致性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[数据安全校验]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444752"/>
            <a:ext cx="2651760" cy="2450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6 维语义强校验：</a:t>
            </a:r>
            <a:r>
              <a:rPr sz="919">
                <a:solidFill>
                  <a:srgbClr val="1E293B"/>
                </a:solidFill>
                <a:latin typeface="Microsoft YaHei"/>
              </a:rPr>
              <a:t>比对模型/词表/模板/LoRA/Ready位/租约，防范非法与失效数据消费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ViewGuard 500µs：</a:t>
            </a:r>
            <a:r>
              <a:rPr sz="919">
                <a:solidFill>
                  <a:srgbClr val="1E293B"/>
                </a:solidFill>
                <a:latin typeface="Microsoft YaHei"/>
              </a:rPr>
              <a:t>跨节点直读捕获 SIGBUS 异常在 500µs 内跳出并回滚本地重算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RCU 双层宽限期：</a:t>
            </a:r>
            <a:r>
              <a:rPr sz="919">
                <a:solidFill>
                  <a:srgbClr val="1E293B"/>
                </a:solidFill>
                <a:latin typeface="Microsoft YaHei"/>
              </a:rPr>
              <a:t>CPU 读者退出与硬件在途 I/O 排空双层仲裁，保障显存安全释放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0848" y="1078992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0848" y="1078992"/>
            <a:ext cx="265176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115568"/>
            <a:ext cx="243230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4. 阶段门禁与质量闭环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[工程推进]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444752"/>
            <a:ext cx="2651760" cy="245059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E0~E3 渐进门限：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严格按收益确认、底座打通、调度决策与端到端混压四阶段演进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严苛混压门禁：</a:t>
            </a:r>
            <a:r>
              <a:rPr sz="919">
                <a:solidFill>
                  <a:srgbClr val="1E293B"/>
                </a:solidFill>
                <a:latin typeface="Microsoft YaHei"/>
              </a:rPr>
              <a:t>前后台混压下 TTFT 降幅 ≥ 20%，QPS 提升 ≥ 10%，TPOT 干扰 &lt; 3%</a:t>
            </a:r>
          </a:p>
          <a:p>
            <a:pPr>
              <a:lnSpc>
                <a:spcPct val="115000"/>
              </a:lnSpc>
              <a:spcAft>
                <a:spcPts val="450"/>
              </a:spcAft>
            </a:pPr>
            <a:r>
              <a:rPr sz="919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19" b="1">
                <a:solidFill>
                  <a:srgbClr val="1E3A8A"/>
                </a:solidFill>
                <a:latin typeface="Microsoft YaHei"/>
              </a:rPr>
              <a:t>研产测一体化：</a:t>
            </a:r>
            <a:r>
              <a:rPr sz="919">
                <a:solidFill>
                  <a:srgbClr val="1E293B"/>
                </a:solidFill>
                <a:latin typeface="Microsoft YaHei"/>
              </a:rPr>
              <a:t>代码、规范、实测数据与核心专利同步闭环交付，以客观实测为依据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553212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105656"/>
            <a:ext cx="5312664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YaHei"/>
              </a:defRPr>
            </a:pPr>
            <a:r>
              <a:t>四大生产级核心交付资产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[研产测一体化交付]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98264"/>
            <a:ext cx="5532120" cy="13441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代码资产：</a:t>
            </a:r>
            <a:r>
              <a:rPr sz="900">
                <a:solidFill>
                  <a:srgbClr val="1E293B"/>
                </a:solidFill>
                <a:latin typeface="Microsoft YaHei"/>
              </a:rPr>
              <a:t>交付全套微秒级 C/C++ 原生核心库、POSIX 共享内存运行时与单元测试套件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规范资产：</a:t>
            </a:r>
            <a:r>
              <a:rPr sz="900">
                <a:solidFill>
                  <a:srgbClr val="1E293B"/>
                </a:solidFill>
                <a:latin typeface="Microsoft YaHei"/>
              </a:rPr>
              <a:t>输出白皮书级《系统架构设计说明书》、《KPCL 通信驱动 API 契约》与部署规范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数据资产：</a:t>
            </a:r>
            <a:r>
              <a:rPr sz="900">
                <a:solidFill>
                  <a:srgbClr val="1E293B"/>
                </a:solidFill>
                <a:latin typeface="Microsoft YaHei"/>
              </a:rPr>
              <a:t>交付 12 份标准验证报告、真实拓扑 CSV 原始事件与微秒级监控追踪曲线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专利资产：</a:t>
            </a:r>
            <a:r>
              <a:rPr sz="900">
                <a:solidFill>
                  <a:srgbClr val="1E293B"/>
                </a:solidFill>
                <a:latin typeface="Microsoft YaHei"/>
              </a:rPr>
              <a:t>围绕双流分离、ViewGuard 容错、6维语义校验与 DAG 流水布局多项核心发明专利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0690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4069080"/>
            <a:ext cx="5532120" cy="320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05656"/>
            <a:ext cx="5312664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80" b="1">
                <a:solidFill>
                  <a:srgbClr val="FFFFFF"/>
                </a:solidFill>
                <a:latin typeface="Microsoft YaHei"/>
              </a:defRPr>
            </a:pPr>
            <a:r>
              <a:t>研发攻坚落地承诺与推进准则</a:t>
            </a:r>
          </a:p>
          <a:p>
            <a:pPr algn="r">
              <a:defRPr sz="950" b="1">
                <a:solidFill>
                  <a:srgbClr val="BFDBFE"/>
                </a:solidFill>
                <a:latin typeface="Microsoft YaHei"/>
              </a:defRPr>
            </a:pPr>
            <a:r>
              <a:t>[专家担当与底线思维]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398264"/>
            <a:ext cx="5532120" cy="13441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直面物理瓶颈第一性：</a:t>
            </a:r>
            <a:r>
              <a:rPr sz="900">
                <a:solidFill>
                  <a:srgbClr val="1E293B"/>
                </a:solidFill>
                <a:latin typeface="Microsoft YaHei"/>
              </a:rPr>
              <a:t>从硬件拓扑与网络排队动力学出发，系统性优化多卡加载偏斜与 Incast 拥塞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坚守学术与技术诚信：</a:t>
            </a:r>
            <a:r>
              <a:rPr sz="900">
                <a:solidFill>
                  <a:srgbClr val="1E293B"/>
                </a:solidFill>
                <a:latin typeface="Microsoft YaHei"/>
              </a:rPr>
              <a:t>不知为不知，绝不杜撰数据，严格区分已有需求、设计建议与推导算例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以客观实测数据为依据：</a:t>
            </a:r>
            <a:r>
              <a:rPr sz="900">
                <a:solidFill>
                  <a:srgbClr val="1E293B"/>
                </a:solidFill>
                <a:latin typeface="Microsoft YaHei"/>
              </a:rPr>
              <a:t>所有指标以真实 2 节点 W2 集群混压测试数据为准，杜绝未经验证的纸面假设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>
                <a:solidFill>
                  <a:srgbClr val="1E3A8A"/>
                </a:solidFill>
                <a:latin typeface="Microsoft YaHei"/>
              </a:rPr>
              <a:t>▸ </a:t>
            </a:r>
            <a:r>
              <a:rPr sz="900" b="1">
                <a:solidFill>
                  <a:srgbClr val="1E3A8A"/>
                </a:solidFill>
                <a:latin typeface="Microsoft YaHei"/>
              </a:rPr>
              <a:t>阶段门禁准入与风险应对：</a:t>
            </a:r>
            <a:r>
              <a:rPr sz="900">
                <a:solidFill>
                  <a:srgbClr val="1E293B"/>
                </a:solidFill>
                <a:latin typeface="Microsoft YaHei"/>
              </a:rPr>
              <a:t>严格执行 E0~E3 准入与证伪门限，主路径遇阻果断启动备选兜底方案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97880"/>
            <a:ext cx="11277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897880"/>
            <a:ext cx="73152" cy="6217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989320"/>
            <a:ext cx="1100297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【核心结论】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基于第一性原理与软硬件协同设计，打造高可靠统一异构 KVCache 存储底座；严格按四个验证阶段推进，确保系统高质量交付。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
为后续系统工程落地提供扎实技术依据，以客观实测数据为准。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