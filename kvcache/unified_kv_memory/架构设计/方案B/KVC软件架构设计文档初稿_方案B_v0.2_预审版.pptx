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19a709efe74dcf" /><Relationship Type="http://schemas.openxmlformats.org/officeDocument/2006/relationships/extended-properties" Target="/docProps/app.xml" Id="R615d5da976724dc2" /><Relationship Type="http://schemas.openxmlformats.org/officeDocument/2006/relationships/officeDocument" Target="/ppt/presentation.xml" Id="R22cffba2c1bf4c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99205832e54210"/>
  </p:sldMasterIdLst>
  <p:notesMasterIdLst>
    <p:notesMasterId xmlns:r="http://schemas.openxmlformats.org/officeDocument/2006/relationships" r:id="Rfecd029bc28a41e8"/>
  </p:notesMasterIdLst>
  <p:sldIdLst>
    <p:sldId xmlns:r="http://schemas.openxmlformats.org/officeDocument/2006/relationships" id="256" r:id="R2a6d18b1dcb1466a"/>
    <p:sldId xmlns:r="http://schemas.openxmlformats.org/officeDocument/2006/relationships" id="257" r:id="R0f9a1f592da34f86"/>
    <p:sldId xmlns:r="http://schemas.openxmlformats.org/officeDocument/2006/relationships" id="258" r:id="R2bed835c0f7442c6"/>
    <p:sldId xmlns:r="http://schemas.openxmlformats.org/officeDocument/2006/relationships" id="259" r:id="R7561124ff8c44976"/>
    <p:sldId xmlns:r="http://schemas.openxmlformats.org/officeDocument/2006/relationships" id="260" r:id="Rda167271c2184550"/>
    <p:sldId xmlns:r="http://schemas.openxmlformats.org/officeDocument/2006/relationships" id="261" r:id="R4c348952d4134f06"/>
    <p:sldId xmlns:r="http://schemas.openxmlformats.org/officeDocument/2006/relationships" id="262" r:id="R992685c20c3f4860"/>
    <p:sldId xmlns:r="http://schemas.openxmlformats.org/officeDocument/2006/relationships" id="263" r:id="Rca44cd03e6bf4bd7"/>
    <p:sldId xmlns:r="http://schemas.openxmlformats.org/officeDocument/2006/relationships" id="264" r:id="Ra0a1147f0c3b4b79"/>
    <p:sldId xmlns:r="http://schemas.openxmlformats.org/officeDocument/2006/relationships" id="265" r:id="R384e10ef4d0a43f7"/>
    <p:sldId xmlns:r="http://schemas.openxmlformats.org/officeDocument/2006/relationships" id="266" r:id="Rd364df296b5d4218"/>
    <p:sldId xmlns:r="http://schemas.openxmlformats.org/officeDocument/2006/relationships" id="267" r:id="Rfc761de2fe174b61"/>
    <p:sldId xmlns:r="http://schemas.openxmlformats.org/officeDocument/2006/relationships" id="268" r:id="Rcc5c20bd826a400b"/>
    <p:sldId xmlns:r="http://schemas.openxmlformats.org/officeDocument/2006/relationships" id="269" r:id="R33681bb5b24d49f8"/>
    <p:sldId xmlns:r="http://schemas.openxmlformats.org/officeDocument/2006/relationships" id="270" r:id="R35a250e7896a478b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6abd9439394dd1" /><Relationship Type="http://schemas.openxmlformats.org/officeDocument/2006/relationships/slideMaster" Target="/ppt/slideMasters/slideMaster1.xml" Id="R2799205832e54210" /><Relationship Type="http://schemas.openxmlformats.org/officeDocument/2006/relationships/notesMaster" Target="/ppt/notesMasters/notesMaster1.xml" Id="Rfecd029bc28a41e8" /><Relationship Type="http://schemas.openxmlformats.org/officeDocument/2006/relationships/presProps" Target="/ppt/presProps.xml" Id="R4bcc0900baf34ca7" /><Relationship Type="http://schemas.openxmlformats.org/officeDocument/2006/relationships/viewProps" Target="/ppt/viewProps.xml" Id="R077026b57bca4834" /><Relationship Type="http://schemas.openxmlformats.org/officeDocument/2006/relationships/tableStyles" Target="/ppt/tableStyles.xml" Id="Raf66720dccad466f" /><Relationship Type="http://schemas.openxmlformats.org/officeDocument/2006/relationships/slide" Target="/ppt/slides/slide1.xml" Id="R2a6d18b1dcb1466a" /><Relationship Type="http://schemas.openxmlformats.org/officeDocument/2006/relationships/slide" Target="/ppt/slides/slide2.xml" Id="R0f9a1f592da34f86" /><Relationship Type="http://schemas.openxmlformats.org/officeDocument/2006/relationships/slide" Target="/ppt/slides/slide3.xml" Id="R2bed835c0f7442c6" /><Relationship Type="http://schemas.openxmlformats.org/officeDocument/2006/relationships/slide" Target="/ppt/slides/slide4.xml" Id="R7561124ff8c44976" /><Relationship Type="http://schemas.openxmlformats.org/officeDocument/2006/relationships/slide" Target="/ppt/slides/slide5.xml" Id="Rda167271c2184550" /><Relationship Type="http://schemas.openxmlformats.org/officeDocument/2006/relationships/slide" Target="/ppt/slides/slide6.xml" Id="R4c348952d4134f06" /><Relationship Type="http://schemas.openxmlformats.org/officeDocument/2006/relationships/slide" Target="/ppt/slides/slide7.xml" Id="R992685c20c3f4860" /><Relationship Type="http://schemas.openxmlformats.org/officeDocument/2006/relationships/slide" Target="/ppt/slides/slide8.xml" Id="Rca44cd03e6bf4bd7" /><Relationship Type="http://schemas.openxmlformats.org/officeDocument/2006/relationships/slide" Target="/ppt/slides/slide9.xml" Id="Ra0a1147f0c3b4b79" /><Relationship Type="http://schemas.openxmlformats.org/officeDocument/2006/relationships/slide" Target="/ppt/slides/slide10.xml" Id="R384e10ef4d0a43f7" /><Relationship Type="http://schemas.openxmlformats.org/officeDocument/2006/relationships/slide" Target="/ppt/slides/slide11.xml" Id="Rd364df296b5d4218" /><Relationship Type="http://schemas.openxmlformats.org/officeDocument/2006/relationships/slide" Target="/ppt/slides/slide12.xml" Id="Rfc761de2fe174b61" /><Relationship Type="http://schemas.openxmlformats.org/officeDocument/2006/relationships/slide" Target="/ppt/slides/slide13.xml" Id="Rcc5c20bd826a400b" /><Relationship Type="http://schemas.openxmlformats.org/officeDocument/2006/relationships/slide" Target="/ppt/slides/slide14.xml" Id="R33681bb5b24d49f8" /><Relationship Type="http://schemas.openxmlformats.org/officeDocument/2006/relationships/slide" Target="/ppt/slides/slide15.xml" Id="R35a250e7896a47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1da626ac9543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881d9a7bd44657" /><Relationship Type="http://schemas.openxmlformats.org/officeDocument/2006/relationships/notesMaster" Target="/ppt/notesMasters/notesMaster1.xml" Id="R44306cca146d46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c157035d734397" /><Relationship Type="http://schemas.openxmlformats.org/officeDocument/2006/relationships/notesMaster" Target="/ppt/notesMasters/notesMaster1.xml" Id="R488a4ce2c8c244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9c583a0cea4a37" /><Relationship Type="http://schemas.openxmlformats.org/officeDocument/2006/relationships/notesMaster" Target="/ppt/notesMasters/notesMaster1.xml" Id="R7187dfffe3104d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98f0f0de424f7a" /><Relationship Type="http://schemas.openxmlformats.org/officeDocument/2006/relationships/notesMaster" Target="/ppt/notesMasters/notesMaster1.xml" Id="Rcf2e8d073df74d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2cd92d67b04e76" /><Relationship Type="http://schemas.openxmlformats.org/officeDocument/2006/relationships/notesMaster" Target="/ppt/notesMasters/notesMaster1.xml" Id="Rae5b14a4f87744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8b0ef8e17b47cf" /><Relationship Type="http://schemas.openxmlformats.org/officeDocument/2006/relationships/notesMaster" Target="/ppt/notesMasters/notesMaster1.xml" Id="R00f253af348043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6746ee51924ecc" /><Relationship Type="http://schemas.openxmlformats.org/officeDocument/2006/relationships/notesMaster" Target="/ppt/notesMasters/notesMaster1.xml" Id="Ra36adf8a35964d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6f967437ba4d24" /><Relationship Type="http://schemas.openxmlformats.org/officeDocument/2006/relationships/notesMaster" Target="/ppt/notesMasters/notesMaster1.xml" Id="R396a70c4617649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c6ca87fb574830" /><Relationship Type="http://schemas.openxmlformats.org/officeDocument/2006/relationships/notesMaster" Target="/ppt/notesMasters/notesMaster1.xml" Id="R9603fcd757e245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502ec8ec414253" /><Relationship Type="http://schemas.openxmlformats.org/officeDocument/2006/relationships/notesMaster" Target="/ppt/notesMasters/notesMaster1.xml" Id="Rb021f1270d6c466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0e4dea9a07416a" /><Relationship Type="http://schemas.openxmlformats.org/officeDocument/2006/relationships/notesMaster" Target="/ppt/notesMasters/notesMaster1.xml" Id="R7f88ed5b089444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a2966c2bfa405d" /><Relationship Type="http://schemas.openxmlformats.org/officeDocument/2006/relationships/notesMaster" Target="/ppt/notesMasters/notesMaster1.xml" Id="Rb7ff4dc698e2402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d76ceac2a249e1" /><Relationship Type="http://schemas.openxmlformats.org/officeDocument/2006/relationships/notesMaster" Target="/ppt/notesMasters/notesMaster1.xml" Id="R1afea871dc7a493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ead46ffc4644680" /><Relationship Type="http://schemas.openxmlformats.org/officeDocument/2006/relationships/notesMaster" Target="/ppt/notesMasters/notesMaster1.xml" Id="Re355cc26069e4e6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c04663646294dd6" /><Relationship Type="http://schemas.openxmlformats.org/officeDocument/2006/relationships/notesMaster" Target="/ppt/notesMasters/notesMaster1.xml" Id="R790a22837f8741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5dfe7333754f7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a4740bed27461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ee8f3ffa714fd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f3c7aa9a31454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4943c0d916457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bbdbb1481b475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338692344c461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00c67a28db4fa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73a85a2564b0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5ec5f7bd0f464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d4f3ce8db6410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9A4A17E-AFF2-4143-A77E-A9BED17C0C3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25DBDFB-3645-4BDF-B1BB-2C0EDF067AE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592CCBF-3E93-4C47-8AFA-FFB3CCAA61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6BFA7E8-E535-4E5D-97AE-D88339E1F2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4795B80-A878-4E5E-9368-D13DE97787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258FD3A-6453-47F4-85A0-F36095F82F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C086C08-D141-4CC5-8DCB-ACF477B7ED0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A73BE0D-C623-4518-8C11-E028C9C47F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1356E00-9858-4E41-A287-85F6DA382A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52B0E71-F6E9-45DA-BB0C-C8F1EA4E47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F26730-5122-4333-B5AD-995AA19AC3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5B5B9B8-3594-4227-A7DA-CBF346E348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46109F-307B-4A37-BA78-809BF19A1F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325209B-4320-4AE5-A8EE-E54E5C0B24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4785955-FF4C-4C9B-8477-F896534E21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C0C761-3708-4BDA-9310-FDC6BA6DD1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41A64BE-A0D3-4492-A7A3-8E03C24FE44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DAC53DE-1280-48B6-83C3-E4F2102E04E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8E43A5B-7094-40DB-8D00-2E4615F405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60F2609-59D6-4583-AB3E-9B0B464A543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F4A3229-53E6-4CBB-884E-499779EF4E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C1156D-D3A3-453E-AFAC-2B8AA3D9C9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BBBE2E-45AF-457E-A34B-4B89E34D9F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30E9CC2-9EBD-4447-8757-6B2A2AD243E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826579F-5F96-49DD-BFDB-D1F2C8D0FB3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458F657A-9A82-4BDB-9C36-F5A5959F246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E8FAD55-C6CB-4D83-A187-DD38479C4D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BA297D6-B6E3-462D-97B8-5EB01B007E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61D30DA-EB57-4EB3-BCB1-32D8BA6421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7EE0D1-80EB-4A5E-91F8-0F07E12296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9C15CCB6-0748-4A3B-A8C5-2F8542D04E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9D26EB6-8246-4D2F-AF34-7E44A85358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4C9E406-D6DA-4FB6-BFE3-BBC0AFA865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079C271-3CF7-4200-ADAB-7496FD2B79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7F0B93B-E9A2-47D9-ABCD-3769F066ED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0569DD8-40B6-45CF-9C0A-DA4954E1C5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3446D39-D0D7-4EBD-833E-AC2E306881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88F2DFE-E9EC-40B8-BE9D-D2FE4BF8117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64C3615-7ABA-4D08-AED1-330DF5F315E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F19EB9E-514A-499D-BE5B-BD09758367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3058895-55E7-4D8E-BD19-453170D7A5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0F7DFE5-FF61-45D8-868B-125CBB0E1C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76388D-2ABC-4E05-9D74-D8156A6C57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8A65D89-7E4C-437D-97C0-7094FA146BC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D8E0148-3FF1-469C-AF79-0D9474E15C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77D82C9-F092-4AA3-84C9-E6286769B6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B29F165-4325-4D8F-B8EA-6C0AF89E4E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0F82F73-8444-402D-8710-07FC3B3475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3F2D12-B94C-4C61-875D-47E2071D58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A944CDB-79B6-425B-ABA0-659337DA52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ABD28AA-C3EA-4719-A975-C7CAF56E1E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4317709-AA40-4C68-B1FE-E799CDE2B0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D68E353-2C06-4FAB-B338-F623D3853B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13340D5C-14A3-4D17-8E0E-D5F4F56024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55B5F51-914C-48F3-85BB-A795D22F7B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8817905-C0EC-4055-95F2-2899AC3315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58DAA8B-62CE-485B-87E8-9ECB8BD23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595231-1934-496C-A153-E15347C39B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405ff70d414ec8" /><Relationship Type="http://schemas.openxmlformats.org/officeDocument/2006/relationships/slideLayout" Target="/ppt/slideLayouts/slideLayout1.xml" Id="Rbb89e1b37d754415" /><Relationship Type="http://schemas.openxmlformats.org/officeDocument/2006/relationships/slideLayout" Target="/ppt/slideLayouts/slideLayout2.xml" Id="R353aafb904494fd7" /><Relationship Type="http://schemas.openxmlformats.org/officeDocument/2006/relationships/slideLayout" Target="/ppt/slideLayouts/slideLayout3.xml" Id="R581a21625d6c4877" /><Relationship Type="http://schemas.openxmlformats.org/officeDocument/2006/relationships/slideLayout" Target="/ppt/slideLayouts/slideLayout4.xml" Id="Rea43994b702d4f76" /><Relationship Type="http://schemas.openxmlformats.org/officeDocument/2006/relationships/slideLayout" Target="/ppt/slideLayouts/slideLayout5.xml" Id="Rcdc5a0d9d922424c" /><Relationship Type="http://schemas.openxmlformats.org/officeDocument/2006/relationships/slideLayout" Target="/ppt/slideLayouts/slideLayout6.xml" Id="R9661b5d2f5ca4d05" /><Relationship Type="http://schemas.openxmlformats.org/officeDocument/2006/relationships/slideLayout" Target="/ppt/slideLayouts/slideLayout7.xml" Id="R2f12bdbac41545d7" /><Relationship Type="http://schemas.openxmlformats.org/officeDocument/2006/relationships/slideLayout" Target="/ppt/slideLayouts/slideLayout8.xml" Id="R165639a8f6fe4252" /><Relationship Type="http://schemas.openxmlformats.org/officeDocument/2006/relationships/slideLayout" Target="/ppt/slideLayouts/slideLayout9.xml" Id="R655f7706ba434209" /><Relationship Type="http://schemas.openxmlformats.org/officeDocument/2006/relationships/slideLayout" Target="/ppt/slideLayouts/slideLayout10.xml" Id="Rc95efb2303514303" /><Relationship Type="http://schemas.openxmlformats.org/officeDocument/2006/relationships/slideLayout" Target="/ppt/slideLayouts/slideLayout11.xml" Id="R1c0f4b7a47254c6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18FAA09-AD20-4A6E-A512-58A863EC53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05853DA-2986-4A91-8635-B77D0589FE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AD795E0-772F-4684-847D-50318C2CBC8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59A4C2D-5F02-4204-A22B-124EBE1DE2D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1A50D9-9B52-42AD-8515-5E5989C8DAA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89e1b37d754415"/>
    <p:sldLayoutId xmlns:r="http://schemas.openxmlformats.org/officeDocument/2006/relationships" id="2147483650" r:id="R353aafb904494fd7"/>
    <p:sldLayoutId xmlns:r="http://schemas.openxmlformats.org/officeDocument/2006/relationships" id="2147483651" r:id="R581a21625d6c4877"/>
    <p:sldLayoutId xmlns:r="http://schemas.openxmlformats.org/officeDocument/2006/relationships" id="2147483652" r:id="Rea43994b702d4f76"/>
    <p:sldLayoutId xmlns:r="http://schemas.openxmlformats.org/officeDocument/2006/relationships" id="2147483653" r:id="Rcdc5a0d9d922424c"/>
    <p:sldLayoutId xmlns:r="http://schemas.openxmlformats.org/officeDocument/2006/relationships" id="2147483654" r:id="R9661b5d2f5ca4d05"/>
    <p:sldLayoutId xmlns:r="http://schemas.openxmlformats.org/officeDocument/2006/relationships" id="2147483655" r:id="R2f12bdbac41545d7"/>
    <p:sldLayoutId xmlns:r="http://schemas.openxmlformats.org/officeDocument/2006/relationships" id="2147483656" r:id="R165639a8f6fe4252"/>
    <p:sldLayoutId xmlns:r="http://schemas.openxmlformats.org/officeDocument/2006/relationships" id="2147483657" r:id="R655f7706ba434209"/>
    <p:sldLayoutId xmlns:r="http://schemas.openxmlformats.org/officeDocument/2006/relationships" id="2147483658" r:id="Rc95efb2303514303"/>
    <p:sldLayoutId xmlns:r="http://schemas.openxmlformats.org/officeDocument/2006/relationships" id="2147483659" r:id="R1c0f4b7a47254c6e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37f32153e134cc6" /><Relationship Type="http://schemas.openxmlformats.org/officeDocument/2006/relationships/notesSlide" Target="/ppt/notesSlides/notesSlide1.xml" Id="Ra04a4d8b10ab4f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f36e6d40bc145dd" /><Relationship Type="http://schemas.openxmlformats.org/officeDocument/2006/relationships/notesSlide" Target="/ppt/notesSlides/notesSlide2.xml" Id="Rc55c6a3ad8f148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52c4c54aa474da3" /><Relationship Type="http://schemas.openxmlformats.org/officeDocument/2006/relationships/image" Target="/ppt/media/image.png" Id="Rd649437e257b497c" /><Relationship Type="http://schemas.openxmlformats.org/officeDocument/2006/relationships/notesSlide" Target="/ppt/notesSlides/notesSlide3.xml" Id="Rfeadf6fd831e45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004def80fdc4500" /><Relationship Type="http://schemas.openxmlformats.org/officeDocument/2006/relationships/image" Target="/ppt/media/image2.png" Id="R6c0e8b5ea268401a" /><Relationship Type="http://schemas.openxmlformats.org/officeDocument/2006/relationships/notesSlide" Target="/ppt/notesSlides/notesSlide4.xml" Id="R9a4564994bd148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2280ad0fc6449c3" /><Relationship Type="http://schemas.openxmlformats.org/officeDocument/2006/relationships/image" Target="/ppt/media/image3.png" Id="Re3fc6e68f3594e40" /><Relationship Type="http://schemas.openxmlformats.org/officeDocument/2006/relationships/notesSlide" Target="/ppt/notesSlides/notesSlide5.xml" Id="R50d8031a625347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dff3e10eba42ad" /><Relationship Type="http://schemas.openxmlformats.org/officeDocument/2006/relationships/image" Target="/ppt/media/image4.png" Id="Rcabb495d519e40ea" /><Relationship Type="http://schemas.openxmlformats.org/officeDocument/2006/relationships/notesSlide" Target="/ppt/notesSlides/notesSlide6.xml" Id="Rd4ebc8a38b4c4d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2ab639d3dad4683" /><Relationship Type="http://schemas.openxmlformats.org/officeDocument/2006/relationships/image" Target="/ppt/media/image5.png" Id="R2158fc4fa10248b6" /><Relationship Type="http://schemas.openxmlformats.org/officeDocument/2006/relationships/notesSlide" Target="/ppt/notesSlides/notesSlide7.xml" Id="Raa8c03cece514b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a83dc9c2baf4835" /><Relationship Type="http://schemas.openxmlformats.org/officeDocument/2006/relationships/image" Target="/ppt/media/image6.png" Id="R4002010b5fad4f4e" /><Relationship Type="http://schemas.openxmlformats.org/officeDocument/2006/relationships/notesSlide" Target="/ppt/notesSlides/notesSlide8.xml" Id="R32ae36656a754d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fae0f39294d4dbf" /><Relationship Type="http://schemas.openxmlformats.org/officeDocument/2006/relationships/image" Target="/ppt/media/image7.png" Id="R4322f62f4cd34ff7" /><Relationship Type="http://schemas.openxmlformats.org/officeDocument/2006/relationships/notesSlide" Target="/ppt/notesSlides/notesSlide9.xml" Id="R0cd2a4f54f2248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9d1dbe2067e4711" /><Relationship Type="http://schemas.openxmlformats.org/officeDocument/2006/relationships/image" Target="/ppt/media/image8.png" Id="R6e3378674b5e4cae" /><Relationship Type="http://schemas.openxmlformats.org/officeDocument/2006/relationships/notesSlide" Target="/ppt/notesSlides/notesSlide10.xml" Id="Rfcf0c2b2f2dc4c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aaee3abdc5b4ee3" /><Relationship Type="http://schemas.openxmlformats.org/officeDocument/2006/relationships/image" Target="/ppt/media/image9.png" Id="R18ceabb3ab9f4922" /><Relationship Type="http://schemas.openxmlformats.org/officeDocument/2006/relationships/notesSlide" Target="/ppt/notesSlides/notesSlide11.xml" Id="R7968d40d8d6141e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dfe70b069574d95" /><Relationship Type="http://schemas.openxmlformats.org/officeDocument/2006/relationships/image" Target="/ppt/media/image10.png" Id="Rb6f6040ff5184399" /><Relationship Type="http://schemas.openxmlformats.org/officeDocument/2006/relationships/notesSlide" Target="/ppt/notesSlides/notesSlide12.xml" Id="Rce0dc5bd8f9f45f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abdeb3d41b84339" /><Relationship Type="http://schemas.openxmlformats.org/officeDocument/2006/relationships/image" Target="/ppt/media/image11.png" Id="Rb71e3cb36af344be" /><Relationship Type="http://schemas.openxmlformats.org/officeDocument/2006/relationships/notesSlide" Target="/ppt/notesSlides/notesSlide13.xml" Id="R0004431833464bd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e963bb4c18b48c7" /><Relationship Type="http://schemas.openxmlformats.org/officeDocument/2006/relationships/notesSlide" Target="/ppt/notesSlides/notesSlide14.xml" Id="R3e39976f35ed462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cc05da0164d46e8" /><Relationship Type="http://schemas.openxmlformats.org/officeDocument/2006/relationships/notesSlide" Target="/ppt/notesSlides/notesSlide15.xml" Id="Re1c362a7c60748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16A363-FB19-4E96-96E3-21DEE079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90500" cy="539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21173-45FA-48BE-B8A1-F31EA8C9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953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48" b="1">
                <a:solidFill>
                  <a:srgbClr val="2563EB"/>
                </a:solidFill>
                <a:latin typeface="Consolas"/>
                <a:ea typeface="Consolas"/>
                <a:cs typeface="Consolas"/>
              </a:defRPr>
            </a:pPr>
            <a:r>
              <a:t>UNIFIED HETEROGENEOUS KVCACHE MEMORY POOL · SOFTWARE ARCHITECTURE DRAFT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D0437-AD66-4372-B453-797C7D6D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428750"/>
            <a:ext cx="1057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t>KVC 软件架构设计文档初稿</a:t>
            </a:r>
          </a:p>
          <a:p xmlns:a="http://schemas.openxmlformats.org/drawingml/2006/main">
            <a:pPr algn="l">
              <a:defRPr sz="27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t>顶层设计与八个专题设计设想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49813-4EA6-4085-9C3C-FE685110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t>KVCache（大模型注意力键值缓存，在自回归生成中保存历史 Key/Value 激活，避免后续 Token 重复计算）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8303A-38DD-4942-9434-38E4A60A3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33909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2BA0D-4A4A-4596-A37A-C6944C52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3390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FA7CF-82A4-4AFF-9E9C-D464C33F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请求路径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18053-E12D-459B-B364-11FE24A5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62375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t>目录命中只返回候选。系统核对语义、持有权与剩余预算后，才决定加载或重算。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80B5A2-992D-45B8-BE71-599281F3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38500"/>
            <a:ext cx="33909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13F8F-5D3F-422A-843B-6C0E160D2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38500"/>
            <a:ext cx="3390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982DB0-CDA3-4947-9275-287EBC6D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95650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资源边界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1525CE-4A69-47EC-9478-BCDC3585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62375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t>执行 HBM 由推理框架管理。KVC 统一对象身份、位置、生命周期与访问方法。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0434A2-8C04-4CE5-966A-1C5C73C5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38500"/>
            <a:ext cx="33909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E96227-87AD-47C9-8C83-D4A4C5516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38500"/>
            <a:ext cx="3390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29947C-640B-4053-BDBA-999626B71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95650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安全边界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987FA7-1241-42E9-B6D7-4DDA45FE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762375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t>目标设备可见性、完整性、排空与地址代际分别验证，禁止半写数据被消费。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F2B51-CA3B-429E-BAE3-404D55D9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7816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2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t>面向开发人员与架构评审 · 方案 B · 2026-09-06 · 设计讨论稿</a:t>
            </a:r>
          </a:p>
        </p:txBody>
      </p:sp>
    </p:spTree>
    <p:extLst>
      <p:ext uri="{BB962C8B-B14F-4D97-AF65-F5344CB8AC3E}">
        <p14:creationId xmlns:p14="http://schemas.microsoft.com/office/powerpoint/2010/main" val="584409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8C66BB-654D-41DE-AC38-C5CF0854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52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t>设计范围、材料口径与本轮评审目标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B67B5-8E01-49F4-9FCA-77A3A9A7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t>第 02 / 15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E03A2-BEE3-42D0-BECE-78893994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t>先冻结所有权、交互契约和安全不变量，再讨论线程数、队列数与硬件规格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9B77A-A69D-4394-B3DF-72C015BC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35433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CFA525-9A3E-4B9A-8410-5A8A6944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3543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3D6B6-EB3E-4F3E-AB9D-91DFA5EE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331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1. 这份初稿回答的问题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4FEA0A-EFD8-4B12-B573-CC5468E7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14475"/>
            <a:ext cx="3276600" cy="402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统一对象：</a:t>
            </a:r>
            <a:r>
              <a:rPr>
                <a:solidFill>
                  <a:srgbClr val="1E293B"/>
                </a:solidFill>
              </a:rPr>
              <a:t>缓存身份、版本、副本位置、持有权和访问方法如何表达。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部署实体：</a:t>
            </a:r>
            <a:r>
              <a:rPr>
                <a:solidFill>
                  <a:srgbClr val="1E293B"/>
                </a:solidFill>
              </a:rPr>
              <a:t>哪些逻辑留在推理进程，哪些下沉到节点、目录和管理服务。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请求闭环：</a:t>
            </a:r>
            <a:r>
              <a:rPr>
                <a:solidFill>
                  <a:srgbClr val="1E293B"/>
                </a:solidFill>
              </a:rPr>
              <a:t>一次命中如何经过候选、授权、选路、传输、可见性和接入。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故障回退：</a:t>
            </a:r>
            <a:r>
              <a:rPr>
                <a:solidFill>
                  <a:srgbClr val="1E293B"/>
                </a:solidFill>
              </a:rPr>
              <a:t>取消、部分完成、迟到写和地址撤销时，物理区间何时能复用。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B9543-DE2A-4F19-8A36-CC22053D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066800"/>
            <a:ext cx="35433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8D5FB-5D0E-4961-9D0E-FFDF5E0D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066800"/>
            <a:ext cx="3543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C7AC9F-76D2-45B6-A060-EE12A5E7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114425"/>
            <a:ext cx="331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2. 三种材料口径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FAAB96-1352-4514-92D0-DF1ED4B6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14475"/>
            <a:ext cx="3276600" cy="402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已有需求：</a:t>
            </a:r>
            <a:r>
              <a:rPr>
                <a:solidFill>
                  <a:srgbClr val="1E293B"/>
                </a:solidFill>
              </a:rPr>
              <a:t>受控 SRS、需求树或阶段要求已经明确提出的目标。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设计建议：</a:t>
            </a:r>
            <a:r>
              <a:rPr>
                <a:solidFill>
                  <a:srgbClr val="1E293B"/>
                </a:solidFill>
              </a:rPr>
              <a:t>本稿提出的进程划分、接口草图、数据结构与部署算法，待评审冻结。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预算算例：</a:t>
            </a:r>
            <a:r>
              <a:rPr>
                <a:solidFill>
                  <a:srgbClr val="1E293B"/>
                </a:solidFill>
              </a:rPr>
              <a:t>用于说明如何从业务时限反推模块预算，不代表当前硬件已经达到。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证据边界：</a:t>
            </a:r>
            <a:r>
              <a:rPr>
                <a:solidFill>
                  <a:srgbClr val="1E293B"/>
                </a:solidFill>
              </a:rPr>
              <a:t>模拟、局部设备实测和系统实测分别标记，不能相互替代。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296986-E8F9-491C-B2F0-DE30101A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066800"/>
            <a:ext cx="37719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03202F-CE43-4879-9383-D7B120AD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066800"/>
            <a:ext cx="377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8E0665-9CBD-4509-8DEA-900A92A1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114425"/>
            <a:ext cx="354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3. 本轮优先形成的决定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458A62-9BD5-448A-8302-1442981F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14475"/>
            <a:ext cx="3505200" cy="402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所有权：</a:t>
            </a:r>
            <a:r>
              <a:rPr>
                <a:solidFill>
                  <a:srgbClr val="1E293B"/>
                </a:solidFill>
              </a:rPr>
              <a:t>对象、副本、持有权与执行 HBM 分别由谁维护。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目录一致性：</a:t>
            </a:r>
            <a:r>
              <a:rPr>
                <a:solidFill>
                  <a:srgbClr val="1E293B"/>
                </a:solidFill>
              </a:rPr>
              <a:t>候选发现、可靠提交、镜像新鲜度和精确授权怎样分层。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KPCL 契约：</a:t>
            </a:r>
            <a:r>
              <a:rPr>
                <a:solidFill>
                  <a:srgbClr val="1E293B"/>
                </a:solidFill>
              </a:rPr>
              <a:t>提交、部分完成、目标设备可见、取消与排空如何报告。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验收口径：</a:t>
            </a:r>
            <a:r>
              <a:rPr>
                <a:solidFill>
                  <a:srgbClr val="1E293B"/>
                </a:solidFill>
              </a:rPr>
              <a:t>同一请求的关键路径事件、分位数和失败样本如何对账。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F40F31-8883-445B-B9EB-F9CD8591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DE05AD-0150-4AA0-942F-AD0473D3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0623D0-E641-4511-9A16-43212658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87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【核心结论】 </a:t>
            </a:r>
            <a:r>
              <a:rPr b="1">
                <a:solidFill>
                  <a:srgbClr val="1E293B"/>
                </a:solidFill>
              </a:rPr>
              <a:t>本稿先建立可实现、可验证的责任边界。</a:t>
            </a:r>
            <a:r>
              <a:rPr b="1">
                <a:solidFill>
                  <a:srgbClr val="DC2626"/>
                </a:solidFill>
              </a:rPr>
              <a:t>待验证数字不会写成既成性能结论。</a:t>
            </a:r>
          </a:p>
        </p:txBody>
      </p:sp>
    </p:spTree>
    <p:extLst>
      <p:ext uri="{BB962C8B-B14F-4D97-AF65-F5344CB8AC3E}">
        <p14:creationId xmlns:p14="http://schemas.microsoft.com/office/powerpoint/2010/main" val="8178526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CAD12-F981-4416-AB4A-5EE71715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52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t>软件四层架构与管理、控制、数据三面分工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64CBD5-EFE9-4798-8BE9-73317C05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t>第 03 / 15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B6B98-AA88-40FB-8B8B-897D2C9C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t>四层用于接口责任分解，三面用于运行隔离；两种视角不能混成进程数量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49437e257b497c"/>
          <a:srcRect xmlns:a="http://schemas.openxmlformats.org/drawingml/2006/main" l="0" t="1967" r="0" b="19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028700"/>
            <a:ext cx="8667750" cy="4686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FC76F-F2FA-4F1B-9AD7-4CE94995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028700"/>
            <a:ext cx="24384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758C8E-C757-4CDA-8A54-D2BE3D737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028700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7E85C-9FE1-4E09-BA7E-60A27512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07632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开发时需要守住的边界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93CFE-4C41-4153-A499-8D2C38E9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476375"/>
            <a:ext cx="21717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700"/>
              </a:spcAft>
              <a:buChar char="▸"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框架层：</a:t>
            </a:r>
            <a:r>
              <a:rPr>
                <a:solidFill>
                  <a:srgbClr val="1E293B"/>
                </a:solidFill>
              </a:rPr>
              <a:t>提供访问意图、请求预算和目标缓冲，继续拥有执行 HBM。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700"/>
              </a:spcAft>
              <a:buChar char="▸"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控制层：</a:t>
            </a:r>
            <a:r>
              <a:rPr>
                <a:solidFill>
                  <a:srgbClr val="1E293B"/>
                </a:solidFill>
              </a:rPr>
              <a:t>查询候选、核对语义、申请持有权并生成执行计划。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700"/>
              </a:spcAft>
              <a:buChar char="▸"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对象层：</a:t>
            </a:r>
            <a:r>
              <a:rPr>
                <a:solidFill>
                  <a:srgbClr val="1E293B"/>
                </a:solidFill>
              </a:rPr>
              <a:t>维护副本状态、连续块清单、分层位置和能力快照。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700"/>
              </a:spcAft>
              <a:buChar char="▸"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传输层：</a:t>
            </a:r>
            <a:r>
              <a:rPr>
                <a:solidFill>
                  <a:srgbClr val="1E293B"/>
                </a:solidFill>
              </a:rPr>
              <a:t>KPCL（封装底层通信能力的接口库）执行控制消息与批量传输。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700"/>
              </a:spcAft>
              <a:buChar char="▸"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术语：</a:t>
            </a:r>
            <a:r>
              <a:rPr>
                <a:solidFill>
                  <a:srgbClr val="1E293B"/>
                </a:solidFill>
              </a:rPr>
              <a:t>URMA 是通用远程直接内存访问；UBMEM 是统一总线内存直通共享协议。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DE5786-E627-472C-B71E-50B0F8BB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2F59DA-7E49-4FED-A88F-75F0F22E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A13C73-D5B8-40CD-B175-68660B8D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87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【核心结论】 </a:t>
            </a:r>
            <a:r>
              <a:rPr b="1">
                <a:solidFill>
                  <a:srgbClr val="1E293B"/>
                </a:solidFill>
              </a:rPr>
              <a:t>控制面下发小型描述符和计划，数据面搬运缓存正文。</a:t>
            </a:r>
            <a:r>
              <a:rPr b="1">
                <a:solidFill>
                  <a:srgbClr val="DC2626"/>
                </a:solidFill>
              </a:rPr>
              <a:t>Host CPU 不参与正文数据拷贝。</a:t>
            </a:r>
          </a:p>
        </p:txBody>
      </p:sp>
    </p:spTree>
    <p:extLst>
      <p:ext uri="{BB962C8B-B14F-4D97-AF65-F5344CB8AC3E}">
        <p14:creationId xmlns:p14="http://schemas.microsoft.com/office/powerpoint/2010/main" val="644058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3151C0-B778-4CA4-AC0E-1FD6B4A1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52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t>部署拓扑、进程实体与设备上下文边界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C7F8E-69FD-4690-8902-5157A49C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t>第 04 / 15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D75F55-1740-4B61-A90F-7B68C831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t>进程划分取决于设备所有权、跨进程句柄能力和故障域，不由 38 个 SR 数量决定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0e8b5ea268401a"/>
          <a:srcRect xmlns:a="http://schemas.openxmlformats.org/drawingml/2006/main" l="0" t="1967" r="0" b="19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028700"/>
            <a:ext cx="8667750" cy="4686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73D0B-3F8D-48CA-A525-81ABFA43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028700"/>
            <a:ext cx="24384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688B6-7278-4AF7-A0E5-CE3FBAD6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028700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E84C0-DCC0-46BD-90D3-902EA99E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07632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部署算法而非固定数量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353401-A27C-4264-B911-1028CD39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476375"/>
            <a:ext cx="21717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700"/>
              </a:spcAft>
              <a:buChar char="▸"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进程内运行库：</a:t>
            </a:r>
            <a:r>
              <a:rPr>
                <a:solidFill>
                  <a:srgbClr val="1E293B"/>
                </a:solidFill>
              </a:rPr>
              <a:t>保留请求快路径、框架事件和多卡协调，避免跨进程往返。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700"/>
              </a:spcAft>
              <a:buChar char="▸"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节点代理：</a:t>
            </a:r>
            <a:r>
              <a:rPr>
                <a:solidFill>
                  <a:srgbClr val="1E293B"/>
                </a:solidFill>
              </a:rPr>
              <a:t>单写节点资源、对象所有权、配额和后台生命周期。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700"/>
              </a:spcAft>
              <a:buChar char="▸"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数据执行：</a:t>
            </a:r>
            <a:r>
              <a:rPr>
                <a:solidFill>
                  <a:srgbClr val="1E293B"/>
                </a:solidFill>
              </a:rPr>
              <a:t>kvc-io 只有在目标缓冲和完成事件可跨进程导入时才独立部署。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700"/>
              </a:spcAft>
              <a:buChar char="▸"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目录服务：</a:t>
            </a:r>
            <a:r>
              <a:rPr>
                <a:solidFill>
                  <a:srgbClr val="1E293B"/>
                </a:solidFill>
              </a:rPr>
              <a:t>承载前缀分片和发布记录，不承担正文中转。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700"/>
              </a:spcAft>
              <a:buChar char="▸"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管理服务：</a:t>
            </a:r>
            <a:r>
              <a:rPr>
                <a:solidFill>
                  <a:srgbClr val="1E293B"/>
                </a:solidFill>
              </a:rPr>
              <a:t>维护期望配置、分片分配、升级和下线。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A9CFAC-42A8-4794-BA9E-CD4AA1CD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1301D7-C373-4983-B661-40E3E194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3C27C3-9AA0-42FD-8E4C-324E18CA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87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【核心结论】 </a:t>
            </a:r>
            <a:r>
              <a:rPr b="1">
                <a:solidFill>
                  <a:srgbClr val="1E293B"/>
                </a:solidFill>
              </a:rPr>
              <a:t>先验证目标缓冲、设备事件和注册句柄的进程边界，</a:t>
            </a:r>
            <a:r>
              <a:rPr b="1">
                <a:solidFill>
                  <a:srgbClr val="DC2626"/>
                </a:solidFill>
              </a:rPr>
              <a:t>再决定 kvc-io 采用进程内执行还是独立进程。</a:t>
            </a:r>
          </a:p>
        </p:txBody>
      </p:sp>
    </p:spTree>
    <p:extLst>
      <p:ext uri="{BB962C8B-B14F-4D97-AF65-F5344CB8AC3E}">
        <p14:creationId xmlns:p14="http://schemas.microsoft.com/office/powerpoint/2010/main" val="14186620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18A18-7F8E-4C0D-91C0-00C90090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52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t>一次请求从前缀查询到安全接入的完整时序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EAAAE-D5EF-4871-A4E8-95D44D08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t>第 05 / 15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4D345-FED7-431B-B1C8-26800114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t>目录发现、持有授权、传输完成和框架消费是四个不同阶段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c6e68f3594e40"/>
          <a:srcRect xmlns:a="http://schemas.openxmlformats.org/drawingml/2006/main" l="0" t="1967" r="0" b="19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028700"/>
            <a:ext cx="8667750" cy="4686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5B6537-7B6F-48EB-B040-8DB7F3FB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028700"/>
            <a:ext cx="24384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2A066-A4EC-4C98-A9FC-8D84F2B2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028700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84E29-3A67-41B3-A120-32291AD87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07632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四类完成语义要分开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A8E07-74E4-40C7-A1DC-A8FD965E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476375"/>
            <a:ext cx="21717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700"/>
              </a:spcAft>
              <a:buChar char="▸"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本地完成：</a:t>
            </a:r>
            <a:r>
              <a:rPr>
                <a:solidFill>
                  <a:srgbClr val="1E293B"/>
                </a:solidFill>
              </a:rPr>
              <a:t>调用线程可继续，不代表设备已经可读。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700"/>
              </a:spcAft>
              <a:buChar char="▸"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源可复用：</a:t>
            </a:r>
            <a:r>
              <a:rPr>
                <a:solidFill>
                  <a:srgbClr val="1E293B"/>
                </a:solidFill>
              </a:rPr>
              <a:t>发送侧缓冲不再被硬件读取。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700"/>
              </a:spcAft>
              <a:buChar char="▸"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目标可消费：</a:t>
            </a:r>
            <a:r>
              <a:rPr>
                <a:solidFill>
                  <a:srgbClr val="1E293B"/>
                </a:solidFill>
              </a:rPr>
              <a:t>目标 NPU 在正确同步域内已经看见数据。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700"/>
              </a:spcAft>
              <a:buChar char="▸"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持久完成：</a:t>
            </a:r>
            <a:r>
              <a:rPr>
                <a:solidFill>
                  <a:srgbClr val="1E293B"/>
                </a:solidFill>
              </a:rPr>
              <a:t>存储数据和索引达到约定的恢复等级。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700"/>
              </a:spcAft>
              <a:buChar char="▸"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失败处理：</a:t>
            </a:r>
            <a:r>
              <a:rPr>
                <a:solidFill>
                  <a:srgbClr val="1E293B"/>
                </a:solidFill>
              </a:rPr>
              <a:t>取消逻辑与物理排空分离；旧目标代际排空前不能复用。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53A44-13CD-4F9D-934D-7785A8EA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91D193-AEB6-427F-93C9-F9D46FED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51433E-5B7E-4F63-BBA0-4BC2E5D5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87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【核心结论】 </a:t>
            </a:r>
            <a:r>
              <a:rPr b="1">
                <a:solidFill>
                  <a:srgbClr val="1E293B"/>
                </a:solidFill>
              </a:rPr>
              <a:t>目录命中只解决“在哪里”，持有权与可见性证据解决“能否安全消费”。</a:t>
            </a:r>
            <a:r>
              <a:rPr b="1">
                <a:solidFill>
                  <a:srgbClr val="DC2626"/>
                </a:solidFill>
              </a:rPr>
              <a:t>缺少任一条件就回退并排空旧任务。</a:t>
            </a:r>
          </a:p>
        </p:txBody>
      </p:sp>
    </p:spTree>
    <p:extLst>
      <p:ext uri="{BB962C8B-B14F-4D97-AF65-F5344CB8AC3E}">
        <p14:creationId xmlns:p14="http://schemas.microsoft.com/office/powerpoint/2010/main" val="15832473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F76453-26D6-42E0-B29D-7E0A112E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52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t>元数据权威、读模型与消费路径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8ACEF-9A17-4576-88D0-D6001A60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t>第 06 / 15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EAAE02-55E1-413D-BDB6-138C047F2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t>四类权威源分别维护事实，热缓存和节点镜像只负责缩短查询路径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bb495d519e40ea"/>
          <a:stretch xmlns:a="http://schemas.openxmlformats.org/drawingml/2006/main"/>
        </p:blipFill>
        <p:spPr>
          <a:xfrm xmlns:a="http://schemas.openxmlformats.org/drawingml/2006/main">
            <a:off x="478517" y="1009650"/>
            <a:ext cx="8529865" cy="48006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B566B-8E18-44DF-A946-954737AB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009650"/>
            <a:ext cx="2533650" cy="480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3727F-0C16-4B3B-BFDF-A7048D2F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009650"/>
            <a:ext cx="2533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AEA00F-60FA-4D0B-937B-02F7E43E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057275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这张图解决什么问题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3FAEF-F402-44DD-96AB-83BFBAFA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57325"/>
            <a:ext cx="2266950" cy="425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权威写入：</a:t>
            </a:r>
            <a:r>
              <a:rPr>
                <a:solidFill>
                  <a:srgbClr val="1E293B"/>
                </a:solidFill>
              </a:rPr>
              <a:t>配置、目录、物理副本和设备消费状态由不同所有者维护。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只读镜像：</a:t>
            </a:r>
            <a:r>
              <a:rPr>
                <a:solidFill>
                  <a:srgbClr val="1E293B"/>
                </a:solidFill>
              </a:rPr>
              <a:t>版本快照、热缓存与节点对象表只复制查询所需摘要。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DC2626"/>
                </a:solidFill>
              </a:rPr>
              <a:t>消费门禁：</a:t>
            </a:r>
            <a:r>
              <a:rPr>
                <a:solidFill>
                  <a:srgbClr val="1E293B"/>
                </a:solidFill>
              </a:rPr>
              <a:t>候选仍需核对版本、持有权和目标设备可见性。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跨进程字段：</a:t>
            </a:r>
            <a:r>
              <a:rPr>
                <a:solidFill>
                  <a:srgbClr val="1E293B"/>
                </a:solidFill>
              </a:rPr>
              <a:t>使用 ID、代际、偏移、长度和剩余预算，不传普通指针。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恢复原则：</a:t>
            </a:r>
            <a:r>
              <a:rPr>
                <a:solidFill>
                  <a:srgbClr val="1E293B"/>
                </a:solidFill>
              </a:rPr>
              <a:t>恢复持久记录后重建易失地址与句柄，不复活旧设备上下文。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E2C01-9E45-448C-BE15-97EF5E70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D48DD-F2C6-45DD-96D9-11E0B37B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228D89-ADAB-44AA-9FE3-30D14DBF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87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【核心结论】 </a:t>
            </a:r>
            <a:r>
              <a:rPr b="1">
                <a:solidFill>
                  <a:srgbClr val="1E293B"/>
                </a:solidFill>
              </a:rPr>
              <a:t>读模型允许陈旧并可保守放弃复用，</a:t>
            </a:r>
            <a:r>
              <a:rPr b="1">
                <a:solidFill>
                  <a:srgbClr val="DC2626"/>
                </a:solidFill>
              </a:rPr>
              <a:t>但只有权威所有者才能授予新的消费权。</a:t>
            </a:r>
          </a:p>
        </p:txBody>
      </p:sp>
    </p:spTree>
    <p:extLst>
      <p:ext uri="{BB962C8B-B14F-4D97-AF65-F5344CB8AC3E}">
        <p14:creationId xmlns:p14="http://schemas.microsoft.com/office/powerpoint/2010/main" val="456990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C09CB-5740-424F-9989-634F148C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52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t>对象发布、迁移与安全回收状态设计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17625A-E7BB-42D7-B219-D2B729A1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t>第 07 / 15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8E53C-A22A-4936-8B33-07451B64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t>对象、单个副本、访问持有和传输任务分别建模，避免一个大状态枚举混淆并发事实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8fc4fa10248b6"/>
          <a:srcRect xmlns:a="http://schemas.openxmlformats.org/drawingml/2006/main" l="0" t="1967" r="0" b="19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028700"/>
            <a:ext cx="8667750" cy="4686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CCA4F-5F37-485F-9B63-23EF1BCF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028700"/>
            <a:ext cx="24384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0A510-6364-49E7-AF48-6C5BCB33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028700"/>
            <a:ext cx="2438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B7B585-6562-4743-8FB7-B2D647A68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076325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状态机实现要点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88FA0-782B-4D35-828F-ED035B40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476375"/>
            <a:ext cx="2171700" cy="414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700"/>
              </a:spcAft>
              <a:buChar char="▸"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发布：</a:t>
            </a:r>
            <a:r>
              <a:rPr>
                <a:solidFill>
                  <a:srgbClr val="1E293B"/>
                </a:solidFill>
              </a:rPr>
              <a:t>数据先取得目标可见性与完整性证据，再幂等写入目录。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700"/>
              </a:spcAft>
              <a:buChar char="▸"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迁移：</a:t>
            </a:r>
            <a:r>
              <a:rPr>
                <a:solidFill>
                  <a:srgbClr val="1E293B"/>
                </a:solidFill>
              </a:rPr>
              <a:t>创建新副本、发布新代际，再停止旧副本的新持有。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700"/>
              </a:spcAft>
              <a:buChar char="▸"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排空：</a:t>
            </a:r>
            <a:r>
              <a:rPr>
                <a:solidFill>
                  <a:srgbClr val="1E293B"/>
                </a:solidFill>
              </a:rPr>
              <a:t>等待 Host 读者、NPU 事件、远端持有和 KPCL 在途操作退出。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700"/>
              </a:spcAft>
              <a:buChar char="▸"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回收：</a:t>
            </a:r>
            <a:r>
              <a:rPr>
                <a:solidFill>
                  <a:srgbClr val="1E293B"/>
                </a:solidFill>
              </a:rPr>
              <a:t>撤销旧映射与句柄后，物理区间才能复用；证据不足则保持隔离。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700"/>
              </a:spcAft>
              <a:buChar char="▸"/>
              <a:defRPr sz="1065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租约：</a:t>
            </a:r>
            <a:r>
              <a:rPr>
                <a:solidFill>
                  <a:srgbClr val="1E293B"/>
                </a:solidFill>
              </a:rPr>
              <a:t>到期只阻止新的持有或提交，不代表设备已经停止访问。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04B3F4-27FE-4812-B8AE-6F904AA3E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519FFE-648B-4BA3-A033-315E4130A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FCDBAF-AD81-4AE1-B46B-E5DAB3EF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87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【核心结论】 </a:t>
            </a:r>
            <a:r>
              <a:rPr b="1">
                <a:solidFill>
                  <a:srgbClr val="1E293B"/>
                </a:solidFill>
              </a:rPr>
              <a:t>先发布新副本，再排空旧访问，最后回收旧区间。</a:t>
            </a:r>
            <a:r>
              <a:rPr b="1">
                <a:solidFill>
                  <a:srgbClr val="DC2626"/>
                </a:solidFill>
              </a:rPr>
              <a:t>超时不能替代设备静止证据。</a:t>
            </a:r>
          </a:p>
        </p:txBody>
      </p:sp>
    </p:spTree>
    <p:extLst>
      <p:ext uri="{BB962C8B-B14F-4D97-AF65-F5344CB8AC3E}">
        <p14:creationId xmlns:p14="http://schemas.microsoft.com/office/powerpoint/2010/main" val="139283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A00D3-3EC7-4483-9596-24088E18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52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t>管理层、控制面与数据面的部署隔离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7184E3-B9B6-4E9B-B50E-937B9BB4A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t>第 08 / 15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E1756-E8CB-4395-B6F7-7E99CD94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t>三面通过窄接口协同，隔离资源争用与故障传播，不是简单拆成三套服务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2010b5fad4f4e"/>
          <a:stretch xmlns:a="http://schemas.openxmlformats.org/drawingml/2006/main"/>
        </p:blipFill>
        <p:spPr>
          <a:xfrm xmlns:a="http://schemas.openxmlformats.org/drawingml/2006/main">
            <a:off x="478517" y="1009650"/>
            <a:ext cx="8529865" cy="48006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AD342-B489-457E-9BE0-1477CC0F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009650"/>
            <a:ext cx="2533650" cy="480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0E71C-83CE-451F-AFBB-CC89C91C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009650"/>
            <a:ext cx="2533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05D7E-0FE3-49CE-8251-C52296DB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057275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隔离边界如何落地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DF954-9146-4066-90CC-3B7BB47D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57325"/>
            <a:ext cx="2266950" cy="425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管理层：</a:t>
            </a:r>
            <a:r>
              <a:rPr>
                <a:solidFill>
                  <a:srgbClr val="1E293B"/>
                </a:solidFill>
              </a:rPr>
              <a:t>只发布低频配置与接收审计，不进入单次请求正文路径。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控制面：</a:t>
            </a:r>
            <a:r>
              <a:rPr>
                <a:solidFill>
                  <a:srgbClr val="1E293B"/>
                </a:solidFill>
              </a:rPr>
              <a:t>负责候选、语义、持有、计划与描述符，不搬运正文。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数据面：</a:t>
            </a:r>
            <a:r>
              <a:rPr>
                <a:solidFill>
                  <a:srgbClr val="1E293B"/>
                </a:solidFill>
              </a:rPr>
              <a:t>按描述符执行传输，返回完成、可见性、错误和排空证据。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下行契约：</a:t>
            </a:r>
            <a:r>
              <a:rPr>
                <a:solidFill>
                  <a:srgbClr val="1E293B"/>
                </a:solidFill>
              </a:rPr>
              <a:t>计划、段清单、依赖、流量类和截止时间必须有界。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DC2626"/>
                </a:solidFill>
              </a:rPr>
              <a:t>故障边界：</a:t>
            </a:r>
            <a:r>
              <a:rPr>
                <a:solidFill>
                  <a:srgbClr val="1E293B"/>
                </a:solidFill>
              </a:rPr>
              <a:t>部分完成目标保持隔离，物理排空前不得复用缓冲。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3B4A5-CA16-4502-B3C4-426FF2C9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042FE2-CEA4-4234-BA07-6F35AB79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61D5BA-B25D-46F3-A98A-F94FBFD7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87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【核心结论】 </a:t>
            </a:r>
            <a:r>
              <a:rPr b="1">
                <a:solidFill>
                  <a:srgbClr val="1E293B"/>
                </a:solidFill>
              </a:rPr>
              <a:t>三面可以复用底层通信能力，</a:t>
            </a:r>
            <a:r>
              <a:rPr b="1">
                <a:solidFill>
                  <a:srgbClr val="DC2626"/>
                </a:solidFill>
              </a:rPr>
              <a:t>但资源所有权、队列信用和故障动作必须分别定义。</a:t>
            </a:r>
          </a:p>
        </p:txBody>
      </p:sp>
    </p:spTree>
    <p:extLst>
      <p:ext uri="{BB962C8B-B14F-4D97-AF65-F5344CB8AC3E}">
        <p14:creationId xmlns:p14="http://schemas.microsoft.com/office/powerpoint/2010/main" val="11774764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0E5836-6564-4368-BBCC-BE17031F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52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t>QueryPlan 输入、决策与输出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B35B4-BD16-4EC5-A3E6-D87BBB58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t>第 09 / 15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C2528-D99F-4199-8D96-E62526AA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t>QueryPlan（在请求预算内比较加载路径与本地重算的决策组件）把路径事实转成可执行计划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22f62f4cd34ff7"/>
          <a:stretch xmlns:a="http://schemas.openxmlformats.org/drawingml/2006/main"/>
        </p:blipFill>
        <p:spPr>
          <a:xfrm xmlns:a="http://schemas.openxmlformats.org/drawingml/2006/main">
            <a:off x="478517" y="1009650"/>
            <a:ext cx="8529865" cy="48006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1580D-B569-408E-927D-76527608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009650"/>
            <a:ext cx="2533650" cy="480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F3AF4-986F-499E-8BF9-D9CBC932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009650"/>
            <a:ext cx="2533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008FD7-4270-4819-9655-45BB7B27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057275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决策器实现细节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D4A81C-68D6-45DF-B422-A2A8A6C5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57325"/>
            <a:ext cx="2266950" cy="425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输入快照：</a:t>
            </a:r>
            <a:r>
              <a:rPr>
                <a:solidFill>
                  <a:srgbClr val="1E293B"/>
                </a:solidFill>
              </a:rPr>
              <a:t>候选版本、链路排队、目标 HBM、重算耗时和剩余预算必须同代。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完整成本：</a:t>
            </a:r>
            <a:r>
              <a:rPr>
                <a:solidFill>
                  <a:srgbClr val="1E293B"/>
                </a:solidFill>
              </a:rPr>
              <a:t>计入查询、持有、转换、排队、传输、设备可见性、多卡同步与框架接入。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DC2626"/>
                </a:solidFill>
              </a:rPr>
              <a:t>双重条件：</a:t>
            </a:r>
            <a:r>
              <a:rPr>
                <a:solidFill>
                  <a:srgbClr val="1E293B"/>
                </a:solidFill>
              </a:rPr>
              <a:t>加载更快且请求仍能满足剩余业务预算，才进入复用路径。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资源预留：</a:t>
            </a:r>
            <a:r>
              <a:rPr>
                <a:solidFill>
                  <a:srgbClr val="1E293B"/>
                </a:solidFill>
              </a:rPr>
              <a:t>计划落地前先拿到目标缓冲、队列信用和在途字节额度。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执行前复核：</a:t>
            </a:r>
            <a:r>
              <a:rPr>
                <a:solidFill>
                  <a:srgbClr val="1E293B"/>
                </a:solidFill>
              </a:rPr>
              <a:t>版本、预算或排队变化时重新判断，并记录规划路径与实际路径。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A2B0D-1D5F-4D98-B655-83BD3DA7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D5FC7D-6A13-4936-A3AC-E478F2FF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6E6713-83E3-457C-94D5-770A9637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87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【核心结论】 </a:t>
            </a:r>
            <a:r>
              <a:rPr b="1">
                <a:solidFill>
                  <a:srgbClr val="1E293B"/>
                </a:solidFill>
              </a:rPr>
              <a:t>目录命中只产生候选，</a:t>
            </a:r>
            <a:r>
              <a:rPr b="1">
                <a:solidFill>
                  <a:srgbClr val="DC2626"/>
                </a:solidFill>
              </a:rPr>
              <a:t>QueryPlan 通过完整成本与剩余预算两道门决定加载或重算。</a:t>
            </a:r>
          </a:p>
        </p:txBody>
      </p:sp>
    </p:spTree>
    <p:extLst>
      <p:ext uri="{BB962C8B-B14F-4D97-AF65-F5344CB8AC3E}">
        <p14:creationId xmlns:p14="http://schemas.microsoft.com/office/powerpoint/2010/main" val="14285268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9BB894-BB60-42FB-B1A4-B0223A29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52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t>分布式前缀目录的具体查询路径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2C8C7-7759-4737-A065-8F27557D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t>第 10 / 15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E66F5E-DF98-4D7F-B555-02E4CDC8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t>请求依次经过进程热缓存、节点镜像、远端分片、所有者校验和设备可见性门禁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378674b5e4cae"/>
          <a:stretch xmlns:a="http://schemas.openxmlformats.org/drawingml/2006/main"/>
        </p:blipFill>
        <p:spPr>
          <a:xfrm xmlns:a="http://schemas.openxmlformats.org/drawingml/2006/main">
            <a:off x="478517" y="1009650"/>
            <a:ext cx="8529865" cy="48006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8E02B1-27BB-4D21-ACA5-7083DE95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009650"/>
            <a:ext cx="2533650" cy="480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F1404-A0AF-483A-A729-0E9725A4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009650"/>
            <a:ext cx="2533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AF788D-08D1-4D21-9E2C-59CB7804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057275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路径分支说明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D6B5B-A52C-4490-AD0C-D43E56B1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57325"/>
            <a:ext cx="2266950" cy="425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一级命中：</a:t>
            </a:r>
            <a:r>
              <a:rPr>
                <a:solidFill>
                  <a:srgbClr val="1E293B"/>
                </a:solidFill>
              </a:rPr>
              <a:t>本地摘要新鲜时可跳过远端目录，但不能跳过所有者校验。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镜像断档：</a:t>
            </a:r>
            <a:r>
              <a:rPr>
                <a:solidFill>
                  <a:srgbClr val="1E293B"/>
                </a:solidFill>
              </a:rPr>
              <a:t>停止确定性否定，批量查询远端分片或保守回退。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远端返回：</a:t>
            </a:r>
            <a:r>
              <a:rPr>
                <a:solidFill>
                  <a:srgbClr val="1E293B"/>
                </a:solidFill>
              </a:rPr>
              <a:t>只返回候选位置、对象版本和提交代际。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所有者校验：</a:t>
            </a:r>
            <a:r>
              <a:rPr>
                <a:solidFill>
                  <a:srgbClr val="1E293B"/>
                </a:solidFill>
              </a:rPr>
              <a:t>核对对象版本、副本健康和所有者代际，再授予持有权。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DC2626"/>
                </a:solidFill>
              </a:rPr>
              <a:t>失败回路：</a:t>
            </a:r>
            <a:r>
              <a:rPr>
                <a:solidFill>
                  <a:srgbClr val="1E293B"/>
                </a:solidFill>
              </a:rPr>
              <a:t>任一校验失败立即放弃复用或本地重算。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D302D-E5F8-47CE-B359-6CB59D53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7CF5A-3831-4EDB-88CE-E9A58E25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0ACB81-F927-480E-A932-8BFBC735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87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【核心结论】 </a:t>
            </a:r>
            <a:r>
              <a:rPr b="1">
                <a:solidFill>
                  <a:srgbClr val="1E293B"/>
                </a:solidFill>
              </a:rPr>
              <a:t>本地快路径缩短的是候选发现时间，</a:t>
            </a:r>
            <a:r>
              <a:rPr b="1">
                <a:solidFill>
                  <a:srgbClr val="DC2626"/>
                </a:solidFill>
              </a:rPr>
              <a:t>任何陈旧镜像都不能绕过所有者授权与设备可见性证据。</a:t>
            </a:r>
          </a:p>
        </p:txBody>
      </p:sp>
    </p:spTree>
    <p:extLst>
      <p:ext uri="{BB962C8B-B14F-4D97-AF65-F5344CB8AC3E}">
        <p14:creationId xmlns:p14="http://schemas.microsoft.com/office/powerpoint/2010/main" val="8428818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BCA12-1C4E-4854-8D94-E0B21A37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52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t>描述符编译与异步 DAG 模块接口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8D0AC-97A8-4863-8228-7F4DC2F1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t>第 11 / 15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B1B6DB-5B6D-4CA1-8B78-2DBD5E10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t>从框架布局输入到完成证据输出，每个模块只承担一段可验收职责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eabb3ab9f4922"/>
          <a:stretch xmlns:a="http://schemas.openxmlformats.org/drawingml/2006/main"/>
        </p:blipFill>
        <p:spPr>
          <a:xfrm xmlns:a="http://schemas.openxmlformats.org/drawingml/2006/main">
            <a:off x="478517" y="1009650"/>
            <a:ext cx="8529865" cy="48006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70F46-CF5D-4CB7-B98C-6A29C12C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009650"/>
            <a:ext cx="2533650" cy="480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70922-6506-4FDD-B933-C446DD303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009650"/>
            <a:ext cx="2533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4B2724-E1A3-4314-83F8-39C3C6F9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057275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模块输入输出说明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0CE40-765C-4777-B1E4-FB1E9FAF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57325"/>
            <a:ext cx="2266950" cy="425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布局适配：</a:t>
            </a:r>
            <a:r>
              <a:rPr>
                <a:solidFill>
                  <a:srgbClr val="1E293B"/>
                </a:solidFill>
              </a:rPr>
              <a:t>把层、rank、Token 区间和设备布局归一为逻辑区间。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描述符编译：</a:t>
            </a:r>
            <a:r>
              <a:rPr>
                <a:solidFill>
                  <a:srgbClr val="1E293B"/>
                </a:solidFill>
              </a:rPr>
              <a:t>合并物理连续块并校验对齐、权限和后端分段限制。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DAG 调度：</a:t>
            </a:r>
            <a:r>
              <a:rPr>
                <a:solidFill>
                  <a:srgbClr val="1E293B"/>
                </a:solidFill>
              </a:rPr>
              <a:t>把段清单、依赖、截止时间与目标缓冲编成分段计划。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KPCL 适配：</a:t>
            </a:r>
            <a:r>
              <a:rPr>
                <a:solidFill>
                  <a:srgbClr val="1E293B"/>
                </a:solidFill>
              </a:rPr>
              <a:t>提交传输票据并接收部分完成、错误与实际路径。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DC2626"/>
                </a:solidFill>
              </a:rPr>
              <a:t>证据聚合：</a:t>
            </a:r>
            <a:r>
              <a:rPr>
                <a:solidFill>
                  <a:srgbClr val="1E293B"/>
                </a:solidFill>
              </a:rPr>
              <a:t>设备可见后才输出框架可消费；否则隔离并回退。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8A69D7-F649-4C44-B4C8-62647FEF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0264A-0B69-4F2A-A986-02CAEB62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AD016-5BA4-4DBC-B5A3-57592F33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87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【核心结论】 </a:t>
            </a:r>
            <a:r>
              <a:rPr b="1">
                <a:solidFill>
                  <a:srgbClr val="1E293B"/>
                </a:solidFill>
              </a:rPr>
              <a:t>模块输入输出构成可对账链路，</a:t>
            </a:r>
            <a:r>
              <a:rPr b="1">
                <a:solidFill>
                  <a:srgbClr val="DC2626"/>
                </a:solidFill>
              </a:rPr>
              <a:t>A~F 六个事件不能压成一个含义模糊的完成位。</a:t>
            </a:r>
          </a:p>
        </p:txBody>
      </p:sp>
    </p:spTree>
    <p:extLst>
      <p:ext uri="{BB962C8B-B14F-4D97-AF65-F5344CB8AC3E}">
        <p14:creationId xmlns:p14="http://schemas.microsoft.com/office/powerpoint/2010/main" val="1161942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853429-6042-497F-B1B5-F4357A7B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52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t>HBM、DDR 与 NVMe SSD 的分层交互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064A0-F662-4E77-AF5A-8AB8EB21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t>第 12 / 15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FD891-50F3-4C0D-90F8-F0A45340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t>每层分别维护内部模块、状态和完成证据，跨层路径按真实拓扑单独准入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f6040ff5184399"/>
          <a:stretch xmlns:a="http://schemas.openxmlformats.org/drawingml/2006/main"/>
        </p:blipFill>
        <p:spPr>
          <a:xfrm xmlns:a="http://schemas.openxmlformats.org/drawingml/2006/main">
            <a:off x="478517" y="1009650"/>
            <a:ext cx="8529865" cy="48006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9FF01-AFEE-4AE6-B61B-D64C2E13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009650"/>
            <a:ext cx="2533650" cy="480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1565A-6671-4146-A2CC-5261268C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009650"/>
            <a:ext cx="2533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7CB24-AA06-4A90-BEF5-041E8FB9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057275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层间交互规则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5D7D6D-B580-470E-AA78-60C09763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57325"/>
            <a:ext cx="2266950" cy="425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HBM 执行层：</a:t>
            </a:r>
            <a:r>
              <a:rPr>
                <a:solidFill>
                  <a:srgbClr val="1E293B"/>
                </a:solidFill>
              </a:rPr>
              <a:t>框架持有目标缓冲和设备事件，只有设备可见后才能接入。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DDR 条件层：</a:t>
            </a:r>
            <a:r>
              <a:rPr>
                <a:solidFill>
                  <a:srgbClr val="1E293B"/>
                </a:solidFill>
              </a:rPr>
              <a:t>固定承担热元数据和共享队列，正文暂存可按平台关闭。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SSD 容量层：</a:t>
            </a:r>
            <a:r>
              <a:rPr>
                <a:solidFill>
                  <a:srgbClr val="1E293B"/>
                </a:solidFill>
              </a:rPr>
              <a:t>维护分层块、连续区间、异步 I/O 与持久完成。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直达路径：</a:t>
            </a:r>
            <a:r>
              <a:rPr>
                <a:solidFill>
                  <a:srgbClr val="1E293B"/>
                </a:solidFill>
              </a:rPr>
              <a:t>拓扑、驱动、访问控制和目标可见性全部验证后才登记。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DC2626"/>
                </a:solidFill>
              </a:rPr>
              <a:t>独立计量：</a:t>
            </a:r>
            <a:r>
              <a:rPr>
                <a:solidFill>
                  <a:srgbClr val="1E293B"/>
                </a:solidFill>
              </a:rPr>
              <a:t>CPU 正文读写与 DDR DMA 字节必须分开统计。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1F07EB-CD3D-4D3F-8A92-BD3F595A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8DF19-33D2-4C75-8A26-75509040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94998-22FB-471A-A9B3-8C971EFC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87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【核心结论】 </a:t>
            </a:r>
            <a:r>
              <a:rPr b="1">
                <a:solidFill>
                  <a:srgbClr val="1E293B"/>
                </a:solidFill>
              </a:rPr>
              <a:t>HBM 负责执行，NVMe SSD 负责容量，DDR 按条件参与，</a:t>
            </a:r>
            <a:r>
              <a:rPr b="1">
                <a:solidFill>
                  <a:srgbClr val="DC2626"/>
                </a:solidFill>
              </a:rPr>
              <a:t>三层之间不存在未经验证的固定直达关系。</a:t>
            </a:r>
          </a:p>
        </p:txBody>
      </p:sp>
    </p:spTree>
    <p:extLst>
      <p:ext uri="{BB962C8B-B14F-4D97-AF65-F5344CB8AC3E}">
        <p14:creationId xmlns:p14="http://schemas.microsoft.com/office/powerpoint/2010/main" val="12988835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788002-395F-44C6-BC55-AED25674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52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t>KVC 与 KPCL 的接口责任和流量闭环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110CB-A97B-48DD-9BC7-66BEE64A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t>第 13 / 15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8D53FE-4843-4346-99F6-12DCB6FB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t>KVC 发送业务意图，KPCL 返回真实路径与设备证据，四类流量共享同一可观测契约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1e3cb36af344be"/>
          <a:stretch xmlns:a="http://schemas.openxmlformats.org/drawingml/2006/main"/>
        </p:blipFill>
        <p:spPr>
          <a:xfrm xmlns:a="http://schemas.openxmlformats.org/drawingml/2006/main">
            <a:off x="478517" y="1009650"/>
            <a:ext cx="8529865" cy="48006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F3B24-E26F-437B-90E4-A0E43579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009650"/>
            <a:ext cx="2533650" cy="480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0FD26-4CA3-456D-92F6-6DFA8ADB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009650"/>
            <a:ext cx="2533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B51D5-64E6-42AF-8B59-4DF3A5D9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057275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接口契约阅读方式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6CB498-7ADA-4EA2-B04A-73359C9E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57325"/>
            <a:ext cx="2266950" cy="425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KVC 输入：</a:t>
            </a:r>
            <a:r>
              <a:rPr>
                <a:solidFill>
                  <a:srgbClr val="1E293B"/>
                </a:solidFill>
              </a:rPr>
              <a:t>源目标句柄、连续段、流量类、优先级、依赖、截止时间与回退动作。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KPCL 输出：</a:t>
            </a:r>
            <a:r>
              <a:rPr>
                <a:solidFill>
                  <a:srgbClr val="1E293B"/>
                </a:solidFill>
              </a:rPr>
              <a:t>接受状态、部分完成、实际路径、耗时、可见性和底层错误。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安全证据：</a:t>
            </a:r>
            <a:r>
              <a:rPr>
                <a:solidFill>
                  <a:srgbClr val="1E293B"/>
                </a:solidFill>
              </a:rPr>
              <a:t>分别返回源可复用、目标可消费与排空完成。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四类流量：</a:t>
            </a:r>
            <a:r>
              <a:rPr>
                <a:solidFill>
                  <a:srgbClr val="1E293B"/>
                </a:solidFill>
              </a:rPr>
              <a:t>控制消息、前台加载、后台换出和多卡流组采用同一关联 ID。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986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DC2626"/>
                </a:solidFill>
              </a:rPr>
              <a:t>完成语义：</a:t>
            </a:r>
            <a:r>
              <a:rPr>
                <a:solidFill>
                  <a:srgbClr val="1E293B"/>
                </a:solidFill>
              </a:rPr>
              <a:t>任何一方都不能用单一完成状态覆盖全部语义。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1A10F-10FC-40A6-949D-2190988E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7A4C84-DFB8-4855-A2A4-6E32ADD7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C85F5-B7B6-4C35-83A3-A5C29060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87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【核心结论】 </a:t>
            </a:r>
            <a:r>
              <a:rPr b="1">
                <a:solidFill>
                  <a:srgbClr val="1E293B"/>
                </a:solidFill>
              </a:rPr>
              <a:t>KVC 负责业务语义与生命周期，KPCL 负责执行和设备事实，</a:t>
            </a:r>
            <a:r>
              <a:rPr b="1">
                <a:solidFill>
                  <a:srgbClr val="DC2626"/>
                </a:solidFill>
              </a:rPr>
              <a:t>双向接口必须返回可验证的完成与排空证据。</a:t>
            </a:r>
          </a:p>
        </p:txBody>
      </p:sp>
    </p:spTree>
    <p:extLst>
      <p:ext uri="{BB962C8B-B14F-4D97-AF65-F5344CB8AC3E}">
        <p14:creationId xmlns:p14="http://schemas.microsoft.com/office/powerpoint/2010/main" val="4215410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1A2FD2-6625-45E7-A7D2-98D95548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9525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t>性能预算、尾延迟与故障回退的统一验证方法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D823B0-76E2-4246-AFBF-16ACA36F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148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t>第 14 / 15 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1382D-451A-4C28-9C30-82653F5B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095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02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t>端到端使用同一请求事件重建关键路径；模块 P99 不能直接相加得到端到端 P99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58F1A9-25E4-406B-A29B-D28A3EF0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4673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50AD2-A641-469B-970C-BEBB7F1E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546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78601-BACB-4244-8282-48A2FFF1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1442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性能预算与测量边界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971930-4F8D-43B2-8CB7-41C8C496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14475"/>
            <a:ext cx="5200650" cy="402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业务输入：</a:t>
            </a:r>
            <a:r>
              <a:rPr>
                <a:solidFill>
                  <a:srgbClr val="1E293B"/>
                </a:solidFill>
              </a:rPr>
              <a:t>绑定模型、硬件、输入/输出长度、到达率、并发、复用分布和后台负载。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关键路径：</a:t>
            </a:r>
            <a:r>
              <a:rPr>
                <a:solidFill>
                  <a:srgbClr val="1E293B"/>
                </a:solidFill>
              </a:rPr>
              <a:t>用 DAG 记录查询、目标缓冲、持有、传输、可见性、计算与返回的真实依赖。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尾延迟：</a:t>
            </a:r>
            <a:r>
              <a:rPr>
                <a:solidFill>
                  <a:srgbClr val="1E293B"/>
                </a:solidFill>
              </a:rPr>
              <a:t>直接统计端到端分位数；阶段预算同时分配超限概率，不能把多个 P99 当作上界相加。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吞吐：</a:t>
            </a:r>
            <a:r>
              <a:rPr>
                <a:solidFill>
                  <a:srgbClr val="1E293B"/>
                </a:solidFill>
              </a:rPr>
              <a:t>分别报告总 QPS、成功 QPS 和满足全部 SLO 的有效 QPS，超时请求保留在分母。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108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现有目标：</a:t>
            </a:r>
            <a:r>
              <a:rPr>
                <a:solidFill>
                  <a:srgbClr val="1E293B"/>
                </a:solidFill>
              </a:rPr>
              <a:t>本地快判、前缀匹配、计划决策、路由、提交、多卡等待与 E3 门槛按受控需求逐项绑定起止事件。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E875F-4D5F-4B8C-AD4B-8FA16E81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66800"/>
            <a:ext cx="55816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CFB3F-F1D4-41E9-B1CF-763B1919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066800"/>
            <a:ext cx="5581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DE6A3-180B-42E1-B180-0D528DDD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114425"/>
            <a:ext cx="535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故障对象与回退动作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52B0DA-3092-4543-A18C-A8C1B9A1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14475"/>
            <a:ext cx="5314950" cy="402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105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目录不可用：</a:t>
            </a:r>
            <a:r>
              <a:rPr>
                <a:solidFill>
                  <a:srgbClr val="1E293B"/>
                </a:solidFill>
              </a:rPr>
              <a:t>有效本地持有继续使用；新远查在请求预算耗尽前放弃并重算。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105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网络部分完成：</a:t>
            </a:r>
            <a:r>
              <a:rPr>
                <a:solidFill>
                  <a:srgbClr val="1E293B"/>
                </a:solidFill>
              </a:rPr>
              <a:t>缺段目标不得接入；旧 attempt 保持隔离直到排空。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105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多卡一张卡失败：</a:t>
            </a:r>
            <a:r>
              <a:rPr>
                <a:solidFill>
                  <a:srgbClr val="1E293B"/>
                </a:solidFill>
              </a:rPr>
              <a:t>各 rank 统一取消或选择共同安全前缀，避免集合通信步骤不一致。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105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设备重置：</a:t>
            </a:r>
            <a:r>
              <a:rPr>
                <a:solidFill>
                  <a:srgbClr val="1E293B"/>
                </a:solidFill>
              </a:rPr>
              <a:t>旧地址代际整体失效；框架重建设备上下文，KVC 不复活旧句柄。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105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容量或队列耗尽：</a:t>
            </a:r>
            <a:r>
              <a:rPr>
                <a:solidFill>
                  <a:srgbClr val="1E293B"/>
                </a:solidFill>
              </a:rPr>
              <a:t>先停误预取和低优先级任务，返回忙或重算建议，由框架重新准入。</a:t>
            </a:r>
          </a:p>
          <a:p xmlns:a="http://schemas.openxmlformats.org/drawingml/2006/main">
            <a:pPr marL="203200" indent="-114300" algn="l">
              <a:spcBef>
                <a:spcPts val="0"/>
              </a:spcBef>
              <a:spcAft>
                <a:spcPts val="600"/>
              </a:spcAft>
              <a:buChar char="▸"/>
              <a:defRPr sz="1058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观测不可用：</a:t>
            </a:r>
            <a:r>
              <a:rPr>
                <a:solidFill>
                  <a:srgbClr val="1E293B"/>
                </a:solidFill>
              </a:rPr>
              <a:t>使用本地有界缓冲或丢弃计数，不阻塞传输；验收报告标记证据缺口。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2EC812-0734-4A36-A74D-84BD5DBC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12776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D2947A-BB4F-4A33-9059-1BDAC751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6D05AF-EEB4-40BA-BDB1-D50537247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10877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48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【核心结论】 </a:t>
            </a:r>
            <a:r>
              <a:rPr b="1">
                <a:solidFill>
                  <a:srgbClr val="1E293B"/>
                </a:solidFill>
              </a:rPr>
              <a:t>性能模型决定是否值得复用，故障模型决定何时能够安全回退。</a:t>
            </a:r>
            <a:r>
              <a:rPr b="1">
                <a:solidFill>
                  <a:srgbClr val="DC2626"/>
                </a:solidFill>
              </a:rPr>
              <a:t>两者都必须由同一请求的原始事件验证。</a:t>
            </a:r>
          </a:p>
        </p:txBody>
      </p:sp>
    </p:spTree>
    <p:extLst>
      <p:ext uri="{BB962C8B-B14F-4D97-AF65-F5344CB8AC3E}">
        <p14:creationId xmlns:p14="http://schemas.microsoft.com/office/powerpoint/2010/main" val="84068526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1D2C5B-3947-4469-9077-6FBAC478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t>评审需要形成的决定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F1FB6-F729-4473-ACC5-B46A673B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668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t>把同一个真实前缀对象跑通，再扩展场景和规模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19733-E192-4562-84E6-3B98F429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52197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AE525-77E8-4EDA-8ABF-0CD77950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521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C0701-B923-4241-A7CE-037445E1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1. 对象与执行边界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68CE8-1E6F-414F-84AA-781DC309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4857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所有权：</a:t>
            </a:r>
            <a:r>
              <a:rPr>
                <a:solidFill>
                  <a:srgbClr val="1E293B"/>
                </a:solidFill>
              </a:rPr>
              <a:t>冻结对象、副本、持有权和执行 HBM 的所有者。明确框架目标缓冲、池内额度与设备事件接口。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A459D9-E2A1-4593-BB4C-71DFC19B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76400"/>
            <a:ext cx="52197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B0B76-00DC-47BB-8D33-5F4E38E1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76400"/>
            <a:ext cx="521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8A"/>
          </a:solidFill>
          <a:ln xmlns:a="http://schemas.openxmlformats.org/drawingml/2006/main" w="0">
            <a:solidFill>
              <a:srgbClr val="1E3A8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79372D-4683-4199-81EC-77350CDB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2402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2. 目录与一致性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F7C30-F9A5-4628-B280-6F204DFC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71700"/>
            <a:ext cx="4857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2563EB"/>
                </a:solidFill>
              </a:rPr>
              <a:t>授权链：</a:t>
            </a:r>
            <a:r>
              <a:rPr>
                <a:solidFill>
                  <a:srgbClr val="1E293B"/>
                </a:solidFill>
              </a:rPr>
              <a:t>冻结候选发现、可靠提交、镜像新鲜度、所有者授权和墓碑回收的关系。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07300C-361D-4EE5-AC8D-748E53D8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52197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D8978-C2B2-4E70-B551-4024124C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521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F75B90-9DE3-4B40-B1DF-684D2BF0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3. KPCL 完成契约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C5F34A-2852-4189-8937-0788B0EE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4857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DC2626"/>
                </a:solidFill>
              </a:rPr>
              <a:t>完成语义：</a:t>
            </a:r>
            <a:r>
              <a:rPr>
                <a:solidFill>
                  <a:srgbClr val="1E293B"/>
                </a:solidFill>
              </a:rPr>
              <a:t>分别定义本地完成、源可复用、目标设备可消费、持久完成、取消和排空。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80A281-96C7-478A-9D06-29F0A32B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71850"/>
            <a:ext cx="52197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3AF55A-E170-4BE7-AA7E-073F68B16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71850"/>
            <a:ext cx="5219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28D9"/>
          </a:solidFill>
          <a:ln xmlns:a="http://schemas.openxmlformats.org/drawingml/2006/main" w="0">
            <a:solidFill>
              <a:srgbClr val="6D28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742ED7-850E-48F4-8E9D-FDBCE5DB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194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4. 验证与准入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A4D0BF-561C-4DF4-A5AC-96847B67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67150"/>
            <a:ext cx="4857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Bef>
                <a:spcPts val="0"/>
              </a:spcBef>
              <a:spcAft>
                <a:spcPts val="0"/>
              </a:spcAft>
              <a:defRPr sz="114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DC2626"/>
                </a:solidFill>
              </a:rPr>
              <a:t>准入条件：</a:t>
            </a:r>
            <a:r>
              <a:rPr>
                <a:solidFill>
                  <a:srgbClr val="1E293B"/>
                </a:solidFill>
              </a:rPr>
              <a:t>用真实模型画像填写字节数、队列、拓扑和预算。设计建议通过原型验证后再登记为平台能力。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AAADF8-1C35-461A-B542-ACD4B73F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07442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4384D0-BBC7-42E7-96F2-114504B3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530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defRPr sz="117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1E3A8A"/>
                </a:solidFill>
              </a:rPr>
              <a:t>首版最小闭环：</a:t>
            </a:r>
            <a:r>
              <a:rPr b="1">
                <a:solidFill>
                  <a:srgbClr val="DC2626"/>
                </a:solidFill>
              </a:rPr>
              <a:t>一套框架连接器、一个节点代理、对象/副本/持有状态、分片目录原型、KPCL 适配、至少一条真实正文路径，以及超时、取消排空和重算回退。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60DD22-C7D7-4963-AADE-DE52EDDB4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1E3A8A"/>
                </a:solidFill>
                <a:latin typeface="Microsoft YaHei"/>
                <a:ea typeface="Microsoft YaHei"/>
                <a:cs typeface="Microsoft YaHei"/>
              </a:defRPr>
            </a:pPr>
            <a:r>
              <a:t>谢谢 · 进入架构评审与接口讨论</a:t>
            </a:r>
          </a:p>
        </p:txBody>
      </p:sp>
    </p:spTree>
    <p:extLst>
      <p:ext uri="{BB962C8B-B14F-4D97-AF65-F5344CB8AC3E}">
        <p14:creationId xmlns:p14="http://schemas.microsoft.com/office/powerpoint/2010/main" val="147299992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2026-09-06T12:30:56.5670000Z</dcterms:created>
  <dcterms:modified xsi:type="dcterms:W3CDTF">2026-09-06T12:30:56.5670000Z</dcterms:modified>
</coreProperties>
</file>