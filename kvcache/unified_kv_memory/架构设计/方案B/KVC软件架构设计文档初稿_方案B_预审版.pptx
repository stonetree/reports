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7d2e4de74147c7" /><Relationship Type="http://schemas.openxmlformats.org/officeDocument/2006/relationships/extended-properties" Target="/docProps/app.xml" Id="R79c6510e86154f60" /><Relationship Type="http://schemas.openxmlformats.org/officeDocument/2006/relationships/officeDocument" Target="/ppt/presentation.xml" Id="Rf7df69af5c6b43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aa59d8dfe4264"/>
  </p:sldMasterIdLst>
  <p:notesMasterIdLst>
    <p:notesMasterId xmlns:r="http://schemas.openxmlformats.org/officeDocument/2006/relationships" r:id="R3ecb0175e8ea4db0"/>
  </p:notesMasterIdLst>
  <p:sldIdLst>
    <p:sldId xmlns:r="http://schemas.openxmlformats.org/officeDocument/2006/relationships" id="256" r:id="Rd4e79e5ddf04417b"/>
    <p:sldId xmlns:r="http://schemas.openxmlformats.org/officeDocument/2006/relationships" id="257" r:id="Rc6cc39f2dba04e69"/>
    <p:sldId xmlns:r="http://schemas.openxmlformats.org/officeDocument/2006/relationships" id="258" r:id="Rc544ee7c11aa4f27"/>
    <p:sldId xmlns:r="http://schemas.openxmlformats.org/officeDocument/2006/relationships" id="259" r:id="R1d089f434e5f4581"/>
    <p:sldId xmlns:r="http://schemas.openxmlformats.org/officeDocument/2006/relationships" id="260" r:id="Raceb3d14667047be"/>
    <p:sldId xmlns:r="http://schemas.openxmlformats.org/officeDocument/2006/relationships" id="261" r:id="R229c5aa644ab4396"/>
    <p:sldId xmlns:r="http://schemas.openxmlformats.org/officeDocument/2006/relationships" id="262" r:id="Raed492b41e694e9a"/>
    <p:sldId xmlns:r="http://schemas.openxmlformats.org/officeDocument/2006/relationships" id="263" r:id="R014bde40b3d447e9"/>
    <p:sldId xmlns:r="http://schemas.openxmlformats.org/officeDocument/2006/relationships" id="264" r:id="Rde8adb6ec2184f4d"/>
    <p:sldId xmlns:r="http://schemas.openxmlformats.org/officeDocument/2006/relationships" id="265" r:id="R7408fb38adef4596"/>
    <p:sldId xmlns:r="http://schemas.openxmlformats.org/officeDocument/2006/relationships" id="266" r:id="Re6cfd9d3e7fc471a"/>
    <p:sldId xmlns:r="http://schemas.openxmlformats.org/officeDocument/2006/relationships" id="267" r:id="Ra29c72bdf3ab4cff"/>
    <p:sldId xmlns:r="http://schemas.openxmlformats.org/officeDocument/2006/relationships" id="268" r:id="R3947c4050fa34031"/>
    <p:sldId xmlns:r="http://schemas.openxmlformats.org/officeDocument/2006/relationships" id="269" r:id="R4c6a2b4aea744ae0"/>
    <p:sldId xmlns:r="http://schemas.openxmlformats.org/officeDocument/2006/relationships" id="270" r:id="R9db0a21acb58458b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a746bf19aa4e2d" /><Relationship Type="http://schemas.openxmlformats.org/officeDocument/2006/relationships/slideMaster" Target="/ppt/slideMasters/slideMaster1.xml" Id="Ra57aa59d8dfe4264" /><Relationship Type="http://schemas.openxmlformats.org/officeDocument/2006/relationships/notesMaster" Target="/ppt/notesMasters/notesMaster1.xml" Id="R3ecb0175e8ea4db0" /><Relationship Type="http://schemas.openxmlformats.org/officeDocument/2006/relationships/presProps" Target="/ppt/presProps.xml" Id="R9f50db5af3e44b5d" /><Relationship Type="http://schemas.openxmlformats.org/officeDocument/2006/relationships/viewProps" Target="/ppt/viewProps.xml" Id="Rc851fabc32584321" /><Relationship Type="http://schemas.openxmlformats.org/officeDocument/2006/relationships/tableStyles" Target="/ppt/tableStyles.xml" Id="Rd81810ce3e3e47b8" /><Relationship Type="http://schemas.openxmlformats.org/officeDocument/2006/relationships/slide" Target="/ppt/slides/slide1.xml" Id="Rd4e79e5ddf04417b" /><Relationship Type="http://schemas.openxmlformats.org/officeDocument/2006/relationships/slide" Target="/ppt/slides/slide2.xml" Id="Rc6cc39f2dba04e69" /><Relationship Type="http://schemas.openxmlformats.org/officeDocument/2006/relationships/slide" Target="/ppt/slides/slide3.xml" Id="Rc544ee7c11aa4f27" /><Relationship Type="http://schemas.openxmlformats.org/officeDocument/2006/relationships/slide" Target="/ppt/slides/slide4.xml" Id="R1d089f434e5f4581" /><Relationship Type="http://schemas.openxmlformats.org/officeDocument/2006/relationships/slide" Target="/ppt/slides/slide5.xml" Id="Raceb3d14667047be" /><Relationship Type="http://schemas.openxmlformats.org/officeDocument/2006/relationships/slide" Target="/ppt/slides/slide6.xml" Id="R229c5aa644ab4396" /><Relationship Type="http://schemas.openxmlformats.org/officeDocument/2006/relationships/slide" Target="/ppt/slides/slide7.xml" Id="Raed492b41e694e9a" /><Relationship Type="http://schemas.openxmlformats.org/officeDocument/2006/relationships/slide" Target="/ppt/slides/slide8.xml" Id="R014bde40b3d447e9" /><Relationship Type="http://schemas.openxmlformats.org/officeDocument/2006/relationships/slide" Target="/ppt/slides/slide9.xml" Id="Rde8adb6ec2184f4d" /><Relationship Type="http://schemas.openxmlformats.org/officeDocument/2006/relationships/slide" Target="/ppt/slides/slide10.xml" Id="R7408fb38adef4596" /><Relationship Type="http://schemas.openxmlformats.org/officeDocument/2006/relationships/slide" Target="/ppt/slides/slide11.xml" Id="Re6cfd9d3e7fc471a" /><Relationship Type="http://schemas.openxmlformats.org/officeDocument/2006/relationships/slide" Target="/ppt/slides/slide12.xml" Id="Ra29c72bdf3ab4cff" /><Relationship Type="http://schemas.openxmlformats.org/officeDocument/2006/relationships/slide" Target="/ppt/slides/slide13.xml" Id="R3947c4050fa34031" /><Relationship Type="http://schemas.openxmlformats.org/officeDocument/2006/relationships/slide" Target="/ppt/slides/slide14.xml" Id="R4c6a2b4aea744ae0" /><Relationship Type="http://schemas.openxmlformats.org/officeDocument/2006/relationships/slide" Target="/ppt/slides/slide15.xml" Id="R9db0a21acb5845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bc6893f38a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c30ce84fdb4002" /><Relationship Type="http://schemas.openxmlformats.org/officeDocument/2006/relationships/notesMaster" Target="/ppt/notesMasters/notesMaster1.xml" Id="R5f8bc3fd8fd046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72c33eb6cc4a47" /><Relationship Type="http://schemas.openxmlformats.org/officeDocument/2006/relationships/notesMaster" Target="/ppt/notesMasters/notesMaster1.xml" Id="Rc20f5eea0eef4b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54c373c2044e5" /><Relationship Type="http://schemas.openxmlformats.org/officeDocument/2006/relationships/notesMaster" Target="/ppt/notesMasters/notesMaster1.xml" Id="R943b806dbac3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b344b94622445e" /><Relationship Type="http://schemas.openxmlformats.org/officeDocument/2006/relationships/notesMaster" Target="/ppt/notesMasters/notesMaster1.xml" Id="Rf9030e169b0e4b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cd72301674656" /><Relationship Type="http://schemas.openxmlformats.org/officeDocument/2006/relationships/notesMaster" Target="/ppt/notesMasters/notesMaster1.xml" Id="R576849a5570146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cb47be8ef4407c" /><Relationship Type="http://schemas.openxmlformats.org/officeDocument/2006/relationships/notesMaster" Target="/ppt/notesMasters/notesMaster1.xml" Id="R1dbf216979fb46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05aaea0d4a441f" /><Relationship Type="http://schemas.openxmlformats.org/officeDocument/2006/relationships/notesMaster" Target="/ppt/notesMasters/notesMaster1.xml" Id="R06bf584be69c46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b71c620f7449de" /><Relationship Type="http://schemas.openxmlformats.org/officeDocument/2006/relationships/notesMaster" Target="/ppt/notesMasters/notesMaster1.xml" Id="Raa9837f07bb24b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b04a554b5f44d7" /><Relationship Type="http://schemas.openxmlformats.org/officeDocument/2006/relationships/notesMaster" Target="/ppt/notesMasters/notesMaster1.xml" Id="R7ec409ac8b764c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58539a0b1f43e9" /><Relationship Type="http://schemas.openxmlformats.org/officeDocument/2006/relationships/notesMaster" Target="/ppt/notesMasters/notesMaster1.xml" Id="Rc7db931bc3624a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6cb4ce129e42c7" /><Relationship Type="http://schemas.openxmlformats.org/officeDocument/2006/relationships/notesMaster" Target="/ppt/notesMasters/notesMaster1.xml" Id="R476911b7c90446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b6959599164865" /><Relationship Type="http://schemas.openxmlformats.org/officeDocument/2006/relationships/notesMaster" Target="/ppt/notesMasters/notesMaster1.xml" Id="Rce796ea79f6748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ef8e07e2de4a94" /><Relationship Type="http://schemas.openxmlformats.org/officeDocument/2006/relationships/notesMaster" Target="/ppt/notesMasters/notesMaster1.xml" Id="R6485f96f7dac49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155f4fc49d4b7e" /><Relationship Type="http://schemas.openxmlformats.org/officeDocument/2006/relationships/notesMaster" Target="/ppt/notesMasters/notesMaster1.xml" Id="R128f35a349c44b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0a9ee8194e4ade" /><Relationship Type="http://schemas.openxmlformats.org/officeDocument/2006/relationships/notesMaster" Target="/ppt/notesMasters/notesMaster1.xml" Id="R3f1b317be753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b19cdcfd84e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cf5f06fa348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49df88005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112219ac547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ac4686a724d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d52ad17734a3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ca3e7b83e450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41b9f297a41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d6f76eade46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3bac47810431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6de0c56b547b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FCF918-E205-480F-886F-E5BFED8A1B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BD39DF7-7780-42E8-BEBB-C5E2C17D96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040847-A04F-4D3E-A7A8-376E7283D5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C8B219-B331-45C4-916C-F1351776E8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5CB36-D601-42B3-8956-FE1EA299DC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2DE45B-C664-4B24-BE31-E8B6E87B0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66402C-C37E-43DC-82AE-60198F7D72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4FDDAF-1D19-4DEE-ABCA-660346EF94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EB3C53-DCB1-4515-9871-0C130BAD7D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61D4BE-0CAA-46BB-82A6-13497280EB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29A328-5F5E-41AC-8C35-86861C20A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9C68EE-89D6-4599-B396-22CDBD3AC3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22E3FE-93D1-4554-B0C2-4D80B6010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3F2F92-AE64-42C0-9554-6906926BF3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D70ACE-7BDF-4662-93F5-49AB4FB7CD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192333-DE59-404E-8268-0861507AE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FC044E-56E2-4BFB-A7A5-3503FC7A7B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12C05A-DA00-4DB2-BC44-829A3495AE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913C28-E74D-4494-A338-A01FAD103D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E50F824-9C6C-4A8F-95F9-5DE38C7577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6BC3F3A-9770-4E0E-883F-9689127E35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1B4C06-BCC9-4E55-AEA0-3F3E4F532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517E42-D672-4A44-91F7-D0D578A31A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80EE7B5-6D1E-4F15-A05F-549CFB14F52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ECD1A3D-8515-424B-9B50-2971C93E5EA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3E7C34B-ADAB-4576-8F1B-A06C6BD213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F35B487-99DD-46E4-9DB8-5CEB8098F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47B968D-8698-4329-927D-E1FCF8536A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6CE91B7-4301-43E1-AC18-2E113741AB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FEBE9C-4E1F-4F33-8406-F13A1FFEB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377E947-AEDD-402B-8759-820CEB765A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66D66B8-E378-4FB7-B17A-6A881BB212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0555905-C345-4738-A1C7-EF76D58019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9540C5B-222E-4BDC-9D39-12BEEBB1E2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A45CBB-2419-4EC6-B845-DBD8A06517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271867C-7C3A-491B-8C2B-68547A4FD6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8D651F-F7F7-4091-98EB-890AAF9E2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BBDF00-DEC3-4B90-B266-FABFF5706F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EF5A78A-E468-4688-AC80-476E4F099B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3AB6AE-7DC9-4006-953E-93C6F46802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21B53A-2B86-4291-811C-C79887DBB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CAF3EA-7FDE-410B-A810-EB636E45F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56D921-8BC6-4821-8F70-5B8AD229F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5C0CFDA-5661-4225-9FCC-17DEF5A97B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32002-D370-4D15-BDDA-332C37E7FF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DC97355-4C67-4F34-930C-E26E089330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66CDB7C-ADCA-4680-916F-9FF9CC42F1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F3E3C2-3115-4E49-A7A5-7A11C467F6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7423DA-1AB3-4A6B-A658-572E92192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A9CB4E-7759-411A-B575-3615873D7D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1C930F-D134-4463-87E7-24F3AD1E22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06D6A4-A15C-4594-B37A-DD102CDCE8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3A9FA9-F63E-4B3D-866D-891CE2D88B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19D1266-5D2B-47FC-A52E-16983715A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8C42FE-5687-41BC-BDEB-B64BFA2738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1A8B53-AD9B-462F-888E-5FF23A01B0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3711A6-7AC2-493F-8C76-C32EA3AA4E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3A3D65-36D5-4050-AAB6-EFF00212F9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fc3a3862bc4959" /><Relationship Type="http://schemas.openxmlformats.org/officeDocument/2006/relationships/slideLayout" Target="/ppt/slideLayouts/slideLayout1.xml" Id="Rab52dfaefc084c80" /><Relationship Type="http://schemas.openxmlformats.org/officeDocument/2006/relationships/slideLayout" Target="/ppt/slideLayouts/slideLayout2.xml" Id="R1d9ce4be7736454b" /><Relationship Type="http://schemas.openxmlformats.org/officeDocument/2006/relationships/slideLayout" Target="/ppt/slideLayouts/slideLayout3.xml" Id="R6971cad98bdf4f6d" /><Relationship Type="http://schemas.openxmlformats.org/officeDocument/2006/relationships/slideLayout" Target="/ppt/slideLayouts/slideLayout4.xml" Id="R91a4ccb7d21c4bb4" /><Relationship Type="http://schemas.openxmlformats.org/officeDocument/2006/relationships/slideLayout" Target="/ppt/slideLayouts/slideLayout5.xml" Id="R733fffb12d0f4862" /><Relationship Type="http://schemas.openxmlformats.org/officeDocument/2006/relationships/slideLayout" Target="/ppt/slideLayouts/slideLayout6.xml" Id="R0e444ad240f14aa2" /><Relationship Type="http://schemas.openxmlformats.org/officeDocument/2006/relationships/slideLayout" Target="/ppt/slideLayouts/slideLayout7.xml" Id="R52167e433c434180" /><Relationship Type="http://schemas.openxmlformats.org/officeDocument/2006/relationships/slideLayout" Target="/ppt/slideLayouts/slideLayout8.xml" Id="Rceb18325d08a4cd0" /><Relationship Type="http://schemas.openxmlformats.org/officeDocument/2006/relationships/slideLayout" Target="/ppt/slideLayouts/slideLayout9.xml" Id="R77ff5c595f3f467a" /><Relationship Type="http://schemas.openxmlformats.org/officeDocument/2006/relationships/slideLayout" Target="/ppt/slideLayouts/slideLayout10.xml" Id="R7e7983307b794e4b" /><Relationship Type="http://schemas.openxmlformats.org/officeDocument/2006/relationships/slideLayout" Target="/ppt/slideLayouts/slideLayout11.xml" Id="R82b57d4dc19d484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678AF79-F315-4A2F-9F7C-60D9C4E91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209BE4-43DC-42F6-B1EE-B9B4667E1F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369759-EB72-4C5B-B760-2D0B54207E2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C0DE25-5A9B-465E-A26C-CB4BAEE1F77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197C6B-A448-4A16-A6A8-437DE9C6D7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52dfaefc084c80"/>
    <p:sldLayoutId xmlns:r="http://schemas.openxmlformats.org/officeDocument/2006/relationships" id="2147483650" r:id="R1d9ce4be7736454b"/>
    <p:sldLayoutId xmlns:r="http://schemas.openxmlformats.org/officeDocument/2006/relationships" id="2147483651" r:id="R6971cad98bdf4f6d"/>
    <p:sldLayoutId xmlns:r="http://schemas.openxmlformats.org/officeDocument/2006/relationships" id="2147483652" r:id="R91a4ccb7d21c4bb4"/>
    <p:sldLayoutId xmlns:r="http://schemas.openxmlformats.org/officeDocument/2006/relationships" id="2147483653" r:id="R733fffb12d0f4862"/>
    <p:sldLayoutId xmlns:r="http://schemas.openxmlformats.org/officeDocument/2006/relationships" id="2147483654" r:id="R0e444ad240f14aa2"/>
    <p:sldLayoutId xmlns:r="http://schemas.openxmlformats.org/officeDocument/2006/relationships" id="2147483655" r:id="R52167e433c434180"/>
    <p:sldLayoutId xmlns:r="http://schemas.openxmlformats.org/officeDocument/2006/relationships" id="2147483656" r:id="Rceb18325d08a4cd0"/>
    <p:sldLayoutId xmlns:r="http://schemas.openxmlformats.org/officeDocument/2006/relationships" id="2147483657" r:id="R77ff5c595f3f467a"/>
    <p:sldLayoutId xmlns:r="http://schemas.openxmlformats.org/officeDocument/2006/relationships" id="2147483658" r:id="R7e7983307b794e4b"/>
    <p:sldLayoutId xmlns:r="http://schemas.openxmlformats.org/officeDocument/2006/relationships" id="2147483659" r:id="R82b57d4dc19d484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8dcdd984fb4c8e" /><Relationship Type="http://schemas.openxmlformats.org/officeDocument/2006/relationships/notesSlide" Target="/ppt/notesSlides/notesSlide1.xml" Id="R45c9b1e6856849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9c60c304844bbb" /><Relationship Type="http://schemas.openxmlformats.org/officeDocument/2006/relationships/notesSlide" Target="/ppt/notesSlides/notesSlide2.xml" Id="R7ee8c657781b4b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e2e07a1120491c" /><Relationship Type="http://schemas.openxmlformats.org/officeDocument/2006/relationships/image" Target="/ppt/media/image.png" Id="Rcdc84901a6904a65" /><Relationship Type="http://schemas.openxmlformats.org/officeDocument/2006/relationships/notesSlide" Target="/ppt/notesSlides/notesSlide3.xml" Id="R626f0f07e05f42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dcee08055c4e3e" /><Relationship Type="http://schemas.openxmlformats.org/officeDocument/2006/relationships/image" Target="/ppt/media/image2.png" Id="R8beacb2ad7ad492f" /><Relationship Type="http://schemas.openxmlformats.org/officeDocument/2006/relationships/notesSlide" Target="/ppt/notesSlides/notesSlide4.xml" Id="R218d5112367a46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2a091359864cf7" /><Relationship Type="http://schemas.openxmlformats.org/officeDocument/2006/relationships/image" Target="/ppt/media/image3.png" Id="R4eada3cf5daa4463" /><Relationship Type="http://schemas.openxmlformats.org/officeDocument/2006/relationships/notesSlide" Target="/ppt/notesSlides/notesSlide5.xml" Id="R0df5323fe1ed4b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7f7db1c52c4bf3" /><Relationship Type="http://schemas.openxmlformats.org/officeDocument/2006/relationships/notesSlide" Target="/ppt/notesSlides/notesSlide6.xml" Id="R6a3968859fc945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6932bfd9ac4288" /><Relationship Type="http://schemas.openxmlformats.org/officeDocument/2006/relationships/image" Target="/ppt/media/image4.png" Id="R70891ace8e964015" /><Relationship Type="http://schemas.openxmlformats.org/officeDocument/2006/relationships/notesSlide" Target="/ppt/notesSlides/notesSlide7.xml" Id="Rb7340a2e903341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c695e87f744c2d" /><Relationship Type="http://schemas.openxmlformats.org/officeDocument/2006/relationships/notesSlide" Target="/ppt/notesSlides/notesSlide8.xml" Id="R623d4cc6ef9a4c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a29f488f904f1d" /><Relationship Type="http://schemas.openxmlformats.org/officeDocument/2006/relationships/notesSlide" Target="/ppt/notesSlides/notesSlide9.xml" Id="R4944eb2ba51340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e304e68afe41c9" /><Relationship Type="http://schemas.openxmlformats.org/officeDocument/2006/relationships/notesSlide" Target="/ppt/notesSlides/notesSlide10.xml" Id="R9dd1c5a480ba48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e9b40755f8455a" /><Relationship Type="http://schemas.openxmlformats.org/officeDocument/2006/relationships/notesSlide" Target="/ppt/notesSlides/notesSlide11.xml" Id="Rcd8213b2ae3b4e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823fee42ce4b72" /><Relationship Type="http://schemas.openxmlformats.org/officeDocument/2006/relationships/notesSlide" Target="/ppt/notesSlides/notesSlide12.xml" Id="Ra3e63226e44142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e419a886304135" /><Relationship Type="http://schemas.openxmlformats.org/officeDocument/2006/relationships/notesSlide" Target="/ppt/notesSlides/notesSlide13.xml" Id="R5f71a02706e949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946824cea6494d" /><Relationship Type="http://schemas.openxmlformats.org/officeDocument/2006/relationships/notesSlide" Target="/ppt/notesSlides/notesSlide14.xml" Id="R3b2b9207207e47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6d791e9f0a4345" /><Relationship Type="http://schemas.openxmlformats.org/officeDocument/2006/relationships/notesSlide" Target="/ppt/notesSlides/notesSlide15.xml" Id="R65333c07b1ae4b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2B133-75C4-4941-B2AA-429AF8D2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905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F0DD1-3CF2-407A-89CD-F3B32A69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95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148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UNIFIED HETEROGENEOUS KVCACHE MEMORY POOL · SOFTWARE ARCHITECTURE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C6199-E321-472C-8156-7D0A522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287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KVC 软件架构设计文档初稿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顶层设计与八个专题设计设想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A2749-7708-4EA8-A51B-B0BEA9F5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KVCache（大模型注意力键值缓存，在自回归生成中保存历史 Key/Value 激活，避免后续 Token 重复计算）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58C4C-853B-4B29-8547-426319C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3390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E2056-191C-4835-8C99-58C3E745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F66DE-5365-4524-A17A-D7372B01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请求路径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AE507-443C-4EB1-8772-EDD404E1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目录命中只返回候选。系统核对语义、持有权与剩余预算后，才决定加载或重算。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83380-14B3-47DB-9A2C-4AD312F6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3390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23A62-254F-45C7-B327-8FFFAE81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00857-238E-49C6-8BE1-2120263B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89124-1BDD-4331-8C7C-C502DE5D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6237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执行 HBM 由推理框架管理。KVC 统一对象身份、位置、生命周期与访问方法。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EBAD0-546E-4337-B348-66DBB590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3390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E59C0-59D7-476F-8EA5-FEC0C5FD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CF59E-4682-46E4-B802-7ECB020C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24A46-C838-4C0B-963A-7E47273F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目标设备可见性、完整性、排空与地址代际分别验证，禁止半写数据被消费。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B6D17-0EC4-405F-B951-D5A59F0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81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面向开发人员与架构评审 · 方案 B · 2026-09-06 · 设计讨论稿</a:t>
            </a:r>
          </a:p>
        </p:txBody>
      </p:sp>
    </p:spTree>
    <p:extLst>
      <p:ext uri="{BB962C8B-B14F-4D97-AF65-F5344CB8AC3E}">
        <p14:creationId xmlns:p14="http://schemas.microsoft.com/office/powerpoint/2010/main" val="2142277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4B4EB-BED7-4D27-A097-49C486A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设计范围、材料口径与本轮评审目标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E313E-80D7-495A-9392-3D0025C2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02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88E16-94E1-40A4-8488-EF169B54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先冻结所有权、交互契约和安全不变量，再讨论线程数、队列数与硬件规格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AD121-ADF6-4B4D-AC43-3357B67C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43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164EC-B11A-40FC-839B-86902435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B1131-93DF-4390-AAF5-261B4057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这份初稿回答的问题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2F656-1F8D-478D-A641-255D9AE2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32766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统一对象：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缓存身份、版本、副本位置、持有权和访问方法如何表达。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部署实体：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哪些逻辑留在推理进程，哪些下沉到节点、目录和管理服务。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请求闭环：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一次命中如何经过候选、授权、选路、传输、可见性和接入。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故障回退：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取消、部分完成、迟到写和地址撤销时，物理区间何时能复用。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38612-50F3-446B-A239-591DADCC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066800"/>
            <a:ext cx="3543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AD254-2CF9-4278-9CDF-CFA249A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066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EF2E9-DCB7-4AE8-A389-E511384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1442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三种材料口径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B06A4-8AB5-41FB-A6B3-85474004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14475"/>
            <a:ext cx="32766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已有需求：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受控 SRS、需求树或阶段要求已经明确提出的目标。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设计建议：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本稿提出的进程划分、接口草图、数据结构与部署算法，待评审冻结。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预算算例：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用于说明如何从业务时限反推模块预算，不代表当前硬件已经达到。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证据边界：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模拟、局部设备实测和系统实测分别标记，不能相互替代。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6B3D6-7959-44E4-A00D-D6198D3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66800"/>
            <a:ext cx="37719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2CF40-10FA-4B09-89AA-0E012B9C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668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FCA69-80FB-4CEA-876B-C5C5379F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14425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本轮优先形成的决定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7943A-0C9E-47F7-BAFF-A308F659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14475"/>
            <a:ext cx="35052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所有权：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对象、副本、持有权与执行 HBM 分别由谁维护。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目录一致性：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候选发现、可靠提交、镜像新鲜度和精确授权怎样分层。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KPCL 契约：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提交、部分完成、目标设备可见、取消与排空如何报告。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验收口径：</a:t>
            </a: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同一请求的关键路径事件、分位数和失败样本如何对账。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15260-AA98-4326-A145-C8773E82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49CFF-B46D-43DE-A28F-50057818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7D66D-8617-4698-838F-50D21D8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本稿先建立可实现、可验证的责任边界。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待验证数字不会写成既成性能结论。</a:t>
            </a:r>
          </a:p>
        </p:txBody>
      </p:sp>
    </p:spTree>
    <p:extLst>
      <p:ext uri="{BB962C8B-B14F-4D97-AF65-F5344CB8AC3E}">
        <p14:creationId xmlns:p14="http://schemas.microsoft.com/office/powerpoint/2010/main" val="889135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BB29B-53EB-497D-AE09-AD0280BB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软件四层架构与管理、控制、数据三面分工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0090E-558C-416A-B67D-A6C453E2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03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9C2D3-2632-4407-9C62-5DB61470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四层用于接口责任分解，三面用于运行隔离；两种视角不能混成进程数量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84901a6904a65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7A1EF-F807-47F5-814D-FEC1E949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20FBB-0302-41E5-90E7-3421894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D9DAE-DED8-430C-A7D7-31CFDBA1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开发时需要守住的边界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45CE0-9F6D-4225-B9A7-375B4F7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框架层：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提供访问意图、请求预算和目标缓冲，继续拥有执行 HBM。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控制层：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查询候选、核对语义、申请持有权并生成执行计划。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对象层：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维护副本状态、连续块清单、分层位置和能力快照。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传输层：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KPCL（封装底层通信能力的接口库）执行控制消息与批量传输。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术语：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URMA 是通用远程直接内存访问；UBMEM 是统一总线内存直通共享协议。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7F20E-3A2E-4FC3-80BE-B9904F90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D9FBF-3AAD-4742-8AEA-9F47661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9599A-10C0-4130-A852-C46D2C96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控制面下发小型描述符和计划，数据面搬运缓存正文。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Host CPU 不参与正文数据拷贝。</a:t>
            </a:r>
          </a:p>
        </p:txBody>
      </p:sp>
    </p:spTree>
    <p:extLst>
      <p:ext uri="{BB962C8B-B14F-4D97-AF65-F5344CB8AC3E}">
        <p14:creationId xmlns:p14="http://schemas.microsoft.com/office/powerpoint/2010/main" val="7410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F096C-36B3-488B-87B4-2A1865A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部署拓扑、进程实体与设备上下文边界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21218-9157-47E2-9004-92DAEEFE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04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FB6C7-3451-461A-B4A9-C4F17A68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进程划分取决于设备所有权、跨进程句柄能力和故障域，不由 38 个 SR 数量决定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acb2ad7ad492f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5F411-217C-4DD9-AEAA-B3F11A3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F5004-F948-4815-B8F5-494759F8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252BD-EF46-4755-97C0-88DCA58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部署算法而非固定数量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AC0E7-F62A-4117-9D9D-6078F39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进程内运行库：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保留请求快路径、框架事件和多卡协调，避免跨进程往返。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节点代理：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单写节点资源、对象所有权、配额和后台生命周期。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数据执行：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kvc-io 只有在目标缓冲和完成事件可跨进程导入时才独立部署。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目录服务：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承载前缀分片和发布记录，不承担正文中转。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管理服务：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维护期望配置、分片分配、升级和下线。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2FCCB-94BB-4947-8D86-1C8BBB19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26904-5E30-4811-92C1-440DE78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40F46-A54E-4537-9065-CC9A9BEE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先验证目标缓冲、设备事件和注册句柄的进程边界，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再决定 kvc-io 采用进程内执行还是独立进程。</a:t>
            </a:r>
          </a:p>
        </p:txBody>
      </p:sp>
    </p:spTree>
    <p:extLst>
      <p:ext uri="{BB962C8B-B14F-4D97-AF65-F5344CB8AC3E}">
        <p14:creationId xmlns:p14="http://schemas.microsoft.com/office/powerpoint/2010/main" val="625562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DB51D-46EC-4E78-9193-E75259FF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一次请求从前缀查询到安全接入的完整时序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140A0-A0C3-4B80-8B96-C67295EC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05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FDBEA-0857-4CF9-9469-ECD5D83F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目录发现、持有授权、传输完成和框架消费是四个不同阶段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da3cf5daa4463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6732B-74F9-4679-94B8-937C3C74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65A29-3565-4B92-9AF0-8C46A20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2E746-85A6-4674-AE8E-07E4EC73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四类完成语义要分开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FAD7E-3607-4512-BEAC-3B52F909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本地完成：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调用线程可继续，不代表设备已经可读。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源可复用：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发送侧缓冲不再被硬件读取。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目标可消费：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目标 NPU 在正确同步域内已经看见数据。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持久完成：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存储数据和索引达到约定的恢复等级。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失败处理：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取消逻辑与物理排空分离；旧目标代际排空前不能复用。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D0597-3B42-4D9D-9F51-BEF3062C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CD095-F383-4CAB-BA6F-22597D51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72970-FE0D-45E4-8604-C4AF8D83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目录命中只解决“在哪里”，持有权与可见性证据解决“能否安全消费”。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缺少任一条件就回退并排空旧任务。</a:t>
            </a:r>
          </a:p>
        </p:txBody>
      </p:sp>
    </p:spTree>
    <p:extLst>
      <p:ext uri="{BB962C8B-B14F-4D97-AF65-F5344CB8AC3E}">
        <p14:creationId xmlns:p14="http://schemas.microsoft.com/office/powerpoint/2010/main" val="1913343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3D94AC-EB79-4159-BE8F-F7693EC5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元数据所有权、查询副本与持久化位置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81321-7725-4D6D-860B-3ABFC17C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06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2180E-DE61-4F47-BFCD-1C36E09D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“放在共享内存”只说明查询位置，不能替代权威写入与故障恢复设计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71C2D-4205-46ED-995C-36F878A9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A1D34-AFF9-4C55-AD0C-899861FC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权威状态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41CBD-B9BD-4DA7-BE3D-8E9DE41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1239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EEDC5-06A6-4EBB-830F-DB3AB44D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1620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F698C-E041-4D56-9FC0-1F1A86B7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239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4F5CE-CE44-4FF4-B559-0F8BBFDE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1620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热路径查询位置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EBE9A-6B83-45F3-980D-C3588C3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2395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D5D50-D2DE-434F-8022-25681E0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620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持久化与恢复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33716-BF69-49AB-97CE-AACE095C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D5692-B603-4308-A446-4B5A4E7A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集群配置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27954-C11A-4FD5-A3AF-64A87656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859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75E17-DA0C-4A72-80B8-693AC784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621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管理一致性服务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4E2F4-1A13-4691-87D6-2B891C7E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859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FD000-C7C5-4F7A-8B95-91140BD5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621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节点版本化快照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0D041-7582-492E-8CCF-F6F9099A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85900"/>
            <a:ext cx="3448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EE188-829E-414F-A36B-99E1534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etcd 事务与成员代际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1C6C1-CB2E-4AAF-93D6-D2681F46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1ED24-37E5-441A-AC2C-160553B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前缀发布与副本发现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C245A-CEE8-4BC3-9856-E0DF58AA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2FDF9-3F9D-4602-A592-3F43C84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241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目录分片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60B1B-6420-40A9-B50D-63618AE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479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47B7F-807B-465F-BF16-C830A23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进程热缓存 + 节点镜像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A5BD7-F981-4BC0-A643-7D64AB4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3448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66A60-41DB-4747-A833-99D3849D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复制日志 + 持久索引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E24F2-9A42-4EDD-BB6C-D2037466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46C1C5-687D-431A-96DF-C3672B8F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对象物理状态与存活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631DD-535B-4D17-9701-8C15631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99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B537C3-8216-4356-A213-FB590CB4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861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副本所有者 / 节点代理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0503CF-EF47-4039-A345-430612BD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C372B-9AB5-43B9-8340-7B816093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861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节点对象表 + 有效持有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945163-00F0-413F-AB56-F4FD1B4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448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351372-DDAF-4785-801B-91E378EB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持久介质记录；易失副本重建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D23841-C86C-499F-BA80-A2C833A8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F143C-2B37-4385-BE73-3E29AB6D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执行显存与设备消费状态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D99E8C-4500-4727-A5C5-ED4E2DD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719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753004-9DCB-41CD-BBBD-5A7100E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推理框架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6B05C8-45BA-44CC-988A-74B02C9A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719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D378FA-3657-413A-9A0D-5DEEA0B8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进程内块表与设备事件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F1A0BE-7F5A-422F-9D4B-00D1F0B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448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8E1D0A-0EF5-409E-AC69-E449871D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不把易失地址从备份直接恢复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146DEC-46C1-48C5-8831-708F7FAB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5505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C61123-98D4-49A3-A3C5-1D406A8F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550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2B098E-ADC2-4255-BFAC-E033BF8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热路径数据结构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BE9F97-A9EE-439B-AF3F-7CBAEB2F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523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建议：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 NUMA 分片单写，读者读取不可变快照；ART/紧凑哈希负责连续前缀查询，RCU 延迟回收旧版本。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86EAD8-E302-4CAE-BF38-8CA857E8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556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AD1F58-2CC1-416D-9634-6E5200A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556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91B775-C393-4137-BA0A-F1AA4D9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消息与句柄字段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22107C-1D97-4AE3-A4AD-7C1369D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91125"/>
            <a:ext cx="5295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至少包含：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request / operation / attempt ID、owner epoch、expected version、remaining budget、region epoch。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3CE54D-47FD-46DF-B617-15F4B82A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52C8B7-B756-438D-857A-A4D5A710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6C7CE0-D9C8-4219-A1DB-A7378483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查询副本可以陈旧，但只能返回候选。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精确消费必须由对象版本、有效持有权和设备可见性共同决定。</a:t>
            </a:r>
          </a:p>
        </p:txBody>
      </p:sp>
    </p:spTree>
    <p:extLst>
      <p:ext uri="{BB962C8B-B14F-4D97-AF65-F5344CB8AC3E}">
        <p14:creationId xmlns:p14="http://schemas.microsoft.com/office/powerpoint/2010/main" val="375804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061EB-0F31-4F54-AD18-3DE0EF7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对象发布、迁移与安全回收状态设计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C8F65-CD4E-44A4-BF2D-06D84DA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07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8DAA4-4811-4FF5-851F-866B5967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对象、单个副本、访问持有和传输任务分别建模，避免一个大状态枚举混淆并发事实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91ace8e964015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BD1E-6BC1-4293-9AE4-A3D567B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EB003-A55F-4E89-A26B-464EBAC2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5EDC8-56EE-42EF-A2AD-A0CFBEF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状态机实现要点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A6DE4-FA91-45CD-AD49-8F33D236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发布：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数据先取得目标可见性与完整性证据，再幂等写入目录。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迁移：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创建新副本、发布新代际，再停止旧副本的新持有。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排空：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等待 Host 读者、NPU 事件、远端持有和 KPCL 在途操作退出。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回收：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撤销旧映射与句柄后，物理区间才能复用；证据不足则保持隔离。</a:t>
            </a:r>
          </a:p>
          <a:p xmlns:a="http://schemas.openxmlformats.org/drawingml/2006/main">
            <a:pPr marL="203200" indent="-114300"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租约：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到期只阻止新的持有或提交，不代表设备已经停止访问。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38B5A-CDB5-41D6-801E-F98ED811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51FDD-FBF3-4EBB-AA52-7857ED02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D3DB8-0531-4C2B-87F4-15A90092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先发布新副本，再排空旧访问，最后回收旧区间。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超时不能替代设备静止证据。</a:t>
            </a:r>
          </a:p>
        </p:txBody>
      </p:sp>
    </p:spTree>
    <p:extLst>
      <p:ext uri="{BB962C8B-B14F-4D97-AF65-F5344CB8AC3E}">
        <p14:creationId xmlns:p14="http://schemas.microsoft.com/office/powerpoint/2010/main" val="69938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A72EE4-4C69-4787-AD29-DB2D7A52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管理层、控制面与数据面的部署隔离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FC75E-AF40-4696-B2A7-D07636B9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08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31D22-5795-46FA-9EBD-A72D8AF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隔离目标是控制争用与故障传播，不是简单分成三套服务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D53A8-7B9C-4BF7-98E3-81F11F31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EA8A5-2F9F-4DF4-9E54-77500088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12347-6FC7-4D24-8FB0-B49E5B4F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04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F6DA8-4959-4C73-B4E4-8C299F81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1430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主要责任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BC1B3-FBBD-46D0-B6C1-83C8E752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104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91123-CD3E-45BE-BA71-BF58A0A2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43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协议与载体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8C9B4-BEE8-4559-8A7E-C3F26459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04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465C2-B04C-4CAA-AF48-5A6930FF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1430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资源隔离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A86F1-BF9E-4E0E-825F-CB4004EB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04900"/>
            <a:ext cx="2705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E8270-4158-4209-9706-416C4C60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故障时的动作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E30A0-E3FD-4CC8-B39F-A7085B9B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4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7620">
            <a:solidFill>
              <a:srgbClr val="1E3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B2357-3D22-4A8B-A3AD-D0E7994C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9725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FB523-1069-4CCA-8C94-91D635E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049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BB45A-8EA8-472F-92E2-CF287F3F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0972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成员、配置、配额、升级与下线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26A86-7A01-43A5-B791-972BD9F0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049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A16B4-ED0E-4057-9603-89DDC3F9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9725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管理服务、etcd、审计与监控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CE793-A07F-4C18-AD01-8CB67CE8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FEE28-1D08-480C-B2DF-FF93EAE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独立节点或明确 CPU / 内存 / 日志额度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2BEC2-DAEC-4C87-BBE2-18FE264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0495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56EED-1E82-4A10-87D7-BDCE32A7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09725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失去多数派时停止高风险变更；已接入执行继续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A36CA-6EB2-43F0-851D-3EE310A0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114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31341-1F16-4180-8012-55C79A7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10DE4-89B4-40A0-BE4D-FCEC891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AE19A-CE5F-448F-859B-D272E71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前缀、语义、持有、计划与描述符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D7A36-E36E-45B6-8E05-774F8CFE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051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B6E47-E92E-4626-A7D1-4A1861F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09875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进程内函数、共享内存快照、目录控制消息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CCCE5-5706-4D64-9F28-08F87D84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49E6B6-FA63-43B0-9BF7-4E923E6C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987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常驻内存、NUMA 分片、禁止同步日志进入请求线程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C5178-3347-4456-B697-58983B44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998E1C-0C2E-4B2D-84E8-D99140C5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9875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目录不可用时使用有效本地持有；请求按预算回退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081FD8-5B08-4CE3-B053-D2B1464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14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7620">
            <a:solidFill>
              <a:srgbClr val="6D28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BAC980-65AD-487A-B70A-8748CA99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928344-8A82-42DE-A63D-7E6DE2B0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F3D4FB-3F2B-4551-B71E-4B627D1C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1002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批量传输、存储 I/O、完成、可见性与排空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DA99E3-3CEF-4998-86A0-23814C99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052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1A70BC-E991-43D6-B4AC-8852345B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0025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KPCL、URMA / UBMEM、设备事件、SSD 后端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21E39D-B0E5-46C2-9155-F434DB5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7333BE-B151-4AB6-82CB-A5C84FE9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00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前后台信用、队列、在途字节和接收缓冲上限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B2F674-3C78-49D3-8D07-BB90C08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DBF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0AA73C-4C52-46AE-AEE8-50746144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0025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部分完成隔离目标；排空前不复用缓冲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20C2A2-C91E-4D10-B7C5-49D1DC40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609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3D7C06-4F6C-4933-83AC-4A48374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CPU：按最忙核心核算，不看全机平均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D33E7F-CBC2-4C1C-9F68-27DAEF59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57800"/>
            <a:ext cx="2609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CA364E-522C-4A89-877D-835FD46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HBM：权重、工作区、活跃缓存统一总账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6CEFF9-0F2C-4A57-8EFF-6007EB7E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2609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E3452A-0D2B-49CB-B094-60E4D605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76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网络：队列隔离不等于 PCIe 无争用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3F9017-B626-42A9-8713-B5DCDC4B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57800"/>
            <a:ext cx="2876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0E7BB7-E602-462C-9AC1-B81D172E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76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SSD：稳态尾时延、近满盘与回写混压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18088F-A767-43C0-AF90-338E7080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DBD91E-DED4-4830-B9D1-2512BFB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9E5709-9126-4A76-8FA4-3380F73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控制面和数据面可以共享底层通信能力，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但请求调度、设备资源和故障恢复必须保持清楚的所有权。</a:t>
            </a:r>
          </a:p>
        </p:txBody>
      </p:sp>
    </p:spTree>
    <p:extLst>
      <p:ext uri="{BB962C8B-B14F-4D97-AF65-F5344CB8AC3E}">
        <p14:creationId xmlns:p14="http://schemas.microsoft.com/office/powerpoint/2010/main" val="1859617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B0138-68E6-442D-9D27-2D775A38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QueryPlan 查询与放置计划决策引擎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EA1F-DBB2-4E25-B0DE-1F121DF1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09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B4C75-FFE9-47CC-86CF-824803C6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QueryPlan（在请求预算内比较加载路径与本地重算的决策组件）只消费事实，不同步探测硬件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227CF-8B4F-431D-8887-40521D2A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429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C87A9-1CD9-4EC4-A61E-8BFAFC82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39B44-0D56-4EA5-907C-AA47552A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决策输入快照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8040C-8DC4-4608-B4F6-F704B592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31623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请求条件：</a:t>
            </a: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剩余业务预算、目标设备、允许回退、可复用连续区间。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候选副本：</a:t>
            </a: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版本、位置、布局、健康、持有成本和目标可见性要求。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路径事实：</a:t>
            </a: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有效带宽、队列等待、拓扑、注册限制和最近预测误差。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计算事实：</a:t>
            </a:r>
            <a:r>
              <a:rPr sz="113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本地重算时间、残余 Token、框架容量与当前准入状态。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026A2-8EAB-4E2A-98AC-160E1143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36766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09A21-14FE-46EE-8029-39B99CB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19625-27A0-4B7B-B18A-E7339EA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1442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决策流水与复核点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E53DC-E67A-442D-90A4-48B6A77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14475"/>
            <a:ext cx="34099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 资格过滤：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语义身份、对象版本、Ready 状态与租户权限先通过。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 成本比较：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把已经发生的查询、持有、传输、转换、同步和接入计入总账。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3 选择动作：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本地复用、远端加载、SSD 恢复、部分命中加后缀重算或直接重算。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4 资源预留：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向框架和执行器申请目标缓冲、队列信用与在途字节。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5 执行前复核：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版本、预算或排队发生变化时重新判断，不盲从旧计划。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593D2-A503-4DCD-A3DC-2222984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66800"/>
            <a:ext cx="3714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25FE4-85D9-4B0B-8EF8-F2D6BE2A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57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复用放行条件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80AA9-EAC4-4CEE-BF5F-FF25E555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3181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拉取与加载总开销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&lt; 本地直接重算耗时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并且请求仍能满足剩余业务预算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17E06-6330-425F-8EFA-19615D2E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37147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2B711-91E7-437F-BEB4-7E7731B5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726E2-3B1D-47A8-84F3-41A9D0F8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输出与可观测字段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E0728-A672-498A-951E-C53E3E92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3448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计划：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源副本、目标区间、段清单、流量类、依赖、截止点和回退动作。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对账：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规划路径、实际路径、预测耗时、实际耗时、拒绝原因和浪费字节。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约束：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每个预测参数绑定能力版本，不把过期探测值伪装成实时事实。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675B9-ED28-4B8B-BF23-C9B70C41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8503E-B835-4A89-8E6F-F541B71E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457B0-5864-4B77-9C1F-78CD7B27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Raw Hit 只表示目录中有候选。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确认净收益与剩余预算后才允许加载，否则回退重算。</a:t>
            </a:r>
          </a:p>
        </p:txBody>
      </p:sp>
    </p:spTree>
    <p:extLst>
      <p:ext uri="{BB962C8B-B14F-4D97-AF65-F5344CB8AC3E}">
        <p14:creationId xmlns:p14="http://schemas.microsoft.com/office/powerpoint/2010/main" val="17625954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2B194-0631-476A-97C4-C07B1D7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分布式前缀目录与本地快路径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49DEF-A78F-49BA-B8E5-EEA8DE3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10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D02C3-2AE2-47F5-8BA0-D1C0F661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目录读模型用于发现候选；可靠提交、镜像新鲜度和对象授权分别处理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17A07-1423-4C16-914D-C37D73D6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623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73A98-0D58-4859-90AB-E192040E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A6D8E-84E9-4E8A-B99B-51725B4C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请求进程内热路径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4E77F-EDC0-4627-AC60-3A737C2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32956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结构：</a:t>
            </a: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压缩前缀树或紧凑哈希，按语义身份和父前缀摘要查连续命中。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负结果：</a:t>
            </a: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布隆过滤器或短时缓存可快速放弃复用，但只针对已完整同步的集合版本。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无锁读取：</a:t>
            </a: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读者遍历不可变节点，写者发布新快照，旧版本进入 RCU 宽限期。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容量：</a:t>
            </a:r>
            <a:r>
              <a:rPr sz="111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热摘要与完整区间清单分离，限制每次查询字节和跨 NUMA 访问。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8BA65-756B-41E3-BB56-97C2B25C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066800"/>
            <a:ext cx="35623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F706D-96A4-4718-A4F2-87B75F18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0668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E128A-A1F7-4FF1-8624-F0308BE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14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节点镜像与远端查询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ADD4A-0A90-450D-8C57-BD8256C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14475"/>
            <a:ext cx="32956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镜像：</a:t>
            </a: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携带分片提交序号和代际，出现更新断档时停止确定性否定并重建快照。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远查：</a:t>
            </a: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按分片批量查询固定摘要，限制扇出和串行往返，不逐块发 RPC。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单边读：</a:t>
            </a: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只读不可变摘要；多次读取不一致或预算耗尽时转精确控制请求或放弃复用。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授权：</a:t>
            </a:r>
            <a:r>
              <a:rPr sz="111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远端返回候选后，仍由有效副本所有者核对版本并授予持有权。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87A17-9AA0-4AA1-BA25-A6FB9D9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66800"/>
            <a:ext cx="37338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2AE16-D8BF-4581-A150-3B9F563E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668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99BD0-2CA5-444D-9082-B98B7F11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1442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目录分片可靠状态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6046-46AF-4D89-AF75-7CC09D87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14475"/>
            <a:ext cx="34671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写入：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对象数据先完成，目录再幂等发布；未知结果先查询操作状态。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复制：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复用成熟 Raft 组件管理日志共识，KVC 实现前缀与副本状态机。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持久化：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持久索引保存提交记录、墓碑和版本；正文持久化是另一项承诺。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失效：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用命名空间代际和墓碑传播，镜像越过失效点或旧授权安全失效后才能清理。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注意：</a:t>
            </a:r>
            <a:r>
              <a:rPr sz="107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目录高可用不代表正文副本仍存在，消费前必须检查所有者和实际副本健康。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15107-6072-4473-B686-85C6C5C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E68D3-9F14-4B94-9E06-FF819582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E8D76-498D-484D-9AD7-DE8A870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本地快路径允许保守放弃复用，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但任何陈旧镜像都不能绕过对象所有者授予新的消费权。</a:t>
            </a:r>
          </a:p>
        </p:txBody>
      </p:sp>
    </p:spTree>
    <p:extLst>
      <p:ext uri="{BB962C8B-B14F-4D97-AF65-F5344CB8AC3E}">
        <p14:creationId xmlns:p14="http://schemas.microsoft.com/office/powerpoint/2010/main" val="19929520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982384-F1EE-41D9-B17A-F2477258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连续块描述符与异步 DAG 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A42A7-3FF1-42BF-B551-5D9C5CC2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11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262D8-F266-439C-A622-678D831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ExtentManifest（连续数据块区间清单描述符）连接框架布局与底层散聚传输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D0A8B-9D10-4760-B304-1A00453A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429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2CA36-BC81-43C5-98B8-6E990E3E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E13DE-DF49-49FB-9941-84B4B1F5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布局归一化与描述符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964D2-E0BC-48C0-9BA2-DE6D4D13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31623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输入：</a:t>
            </a: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层、rank、Token 区间、数据类型、量化参数、页大小、源/目标设备和偏移。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编译：</a:t>
            </a: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按物理连续性合并区间，再核对对齐、权限、最大分段和后端限制。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结构：</a:t>
            </a: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热摘要可以从 64~128B 起步，完整 Manifest 是可变长数组，不能硬塞进单个 64B 结构。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快路径：</a:t>
            </a:r>
            <a:r>
              <a:rPr sz="109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使用预分配对象池和定长字段，避免动态分配、序列化和全局互斥锁。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B701B-0A99-4DD6-935A-55B0B851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36766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AD008-B8C1-49EC-8745-96A013A5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0742B-4E3A-4CDA-99CE-AA3250B2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1442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异步 DAG 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07BD1-5526-4BFA-9DE7-CB53BB79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14475"/>
            <a:ext cx="34099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目标缓冲：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框架先预留 HBM 区间并导出可用句柄。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分段提交：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按层或 Chunk 建立传输票据，底层返回部分完成、错误和目标可见性。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事件连接：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设备事件表达“该段可计算”，计算和后续加载并行推进。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取消：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停止尚未提交的段；已提交段等待完成或排空，目标缓冲继续隔离。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多卡：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各 rank 写独立状态槽位，协调者计算共同安全前缀，不争用一个全局计数器。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0E5A3-D759-4824-81A1-81EEDC8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66800"/>
            <a:ext cx="3714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3894F-83BB-4FDB-AAD0-D0D06927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38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一条分段流水的事件账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3CC20-F51B-4891-8A3D-56EC8E8B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16567-BC4B-40B6-96FF-581D5C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D56C2-E104-4BC3-891C-E44C840B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缓冲已预留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7B033-A82D-47DF-BC0F-4E74B56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19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DB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67DFC-55EF-4CA9-A896-9BF5B995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E5E97-DAE1-4561-A940-7B68B77F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93800-B3AE-4DE9-8EEA-230A47C6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描述符已编译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8ED1A-2B80-4AD6-9FF2-36810621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DB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21485-FFC0-4C0C-B233-9227AB5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CE843-86D2-4BAF-8938-E03B54F9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3A4FB-C41C-4E97-BF29-6E3D0B42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KPCL 已接受提交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054F6-7EA9-4DA6-A371-06692198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DB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CEA93-DCB8-44FA-9457-C297C36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01213-859E-4298-9EA3-88B73C2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0989A-8860-4169-AD78-0833E829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数据到达目标设备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1178F-0BA2-42EC-BEE4-E6D6313A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76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DB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55713-65FB-4322-9143-B241EA1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087616-8A85-4C73-B3BB-35245829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AF303-5EF6-4D79-AF62-9CAB441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05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设备可见性已确认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3D963-42C7-4C2A-A2E7-DE02F834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DBF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604FAC-1AC0-4F4F-B0E5-5245AB4B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438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59C03-187F-4C6B-AD8C-3D1ED30B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EF927A-1F1E-4D3F-8CC3-21ED2636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框架接入该段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E54017-3597-4C65-AFAD-A2D655B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A~F 不能压成一个含义模糊的完成位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3395E-BD7A-4EE0-B8E0-DD62684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3FD87D-5002-46F1-9B23-F170B9F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D96BA4-5AAD-4FB1-B12F-9B0A95D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描述符负责准确表达物理区间，DAG 负责表达先后依赖。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提交完成、设备可见和框架可消费必须分别记录。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460794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2C289-7EF6-4FC8-A3EC-D412738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HBM、DDR 与 NVMe SSD 的分层角色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48165-3800-4AD7-9FF7-AEF15C2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12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5C976-3566-4773-8C2D-50C0C5D2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介质可寻址不等于性能等价；每条路径按拓扑、可见性和故障语义单独准入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46174-7720-45AF-9D1F-1FD327B6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24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11D4D-48A1-4FCD-9148-3B9CDA0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37BE8-C5F3-4DC2-983D-1F70610E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HBM：执行与高频访问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D9C32-9322-4D0F-8A33-90C7BFBE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32575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执行 HBM：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由推理框架分配，承载权重、工作区、活跃 KVCache 和块表。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池内 HBM：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只能来自资源所有者显式捐出的额度，与框架共用物理容量总账。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访问原则：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连续 Decode 默认使用已接入的本地 HBM，不在每个 Token 上查询远端目录。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迁移：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后台创建新副本并完成排空后再回收旧区间，避免影响前台读者。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83C60-24B9-4948-81DB-55FA1748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66800"/>
            <a:ext cx="3524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1DF79-D5AA-4C01-A117-7F62FC81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668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19049-FC27-4057-B712-82EEE74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1144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DDR：条件角色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4E112-E824-4762-B5AB-E266F07F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14475"/>
            <a:ext cx="32575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固定用途：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热元数据、共享内存队列、注册表和少量预注册缓冲。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可选用途：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经验证的热点暂存、跨节点共享视图或后端要求的中间缓冲。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独立计量：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Host CPU 未读取正文不等于正文没有经过 DDR，需要分别统计 CPU 读写和 DDR DMA 字节。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关闭能力：</a:t>
            </a:r>
            <a:r>
              <a:rPr sz="1102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DDR 暂存角色可以按平台关闭，不让它成为所有路径的必经层。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CB89E-53E3-4E2B-838A-D9AA1DE0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66800"/>
            <a:ext cx="36957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4C7B4-2DB8-497F-B9EB-08DF563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66800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0E4FE-A3BB-409F-B054-C6FAABD5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1144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NVMe SSD：容量与恢复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2CE3A-CA0F-4E81-9AE3-25B8E72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14475"/>
            <a:ext cx="34290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容量后端：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保存温冷前缀、会话分支和可恢复副本，承担大容量扩展。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直达条件：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只有 PCIe 拓扑、访问控制、驱动和目标可见性都验证通过，才登记 SSD 到 HBM 直达路径。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替代路径：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不支持直达时明确记录经过的暂存资源和额外阶段，不把远端 SSD 当作普通内存句柄。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稳态验证：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覆盖混合读写、近满盘、垃圾回收、写放大、后台重建和前台冷恢复。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状态：</a:t>
            </a:r>
            <a:r>
              <a: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私有写入、可发布、换出、冷存、加载、隔离分别维护，不以单一冷热枚举替代。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60B60-534C-4C47-8AED-30D7B95E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6FF2D-3B03-440D-A4BA-E5E0E66B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67803-F8F3-4305-9CED-BB6639D7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HBM 保证执行，SSD 提供容量，DDR 按需准入。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任何所谓直达路径都必须有真实拓扑与设备可见性证据。</a:t>
            </a:r>
          </a:p>
        </p:txBody>
      </p:sp>
    </p:spTree>
    <p:extLst>
      <p:ext uri="{BB962C8B-B14F-4D97-AF65-F5344CB8AC3E}">
        <p14:creationId xmlns:p14="http://schemas.microsoft.com/office/powerpoint/2010/main" val="1467375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E15F3-C86E-406D-B9C8-5593E93E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KVC 与 KPCL 的接口责任和流量契约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F060D-451C-4315-98F9-CDF9639F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13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6D96E-78ED-434A-98C5-D73AC72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KPCL 执行通信与设备操作；KVC 决定对象语义、业务优先级、依赖和回退动作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D84BB-8DFD-4BC4-9EA9-B89A15B2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623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445D9-1FE9-4622-9B71-852F457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0B0FA-5EE4-4F9A-B4DB-3EFC505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负责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5F7E2-E310-41A0-B197-F4FC4847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32956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对象语义：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身份、前缀连续性、版本、副本、持有策略和复用收益。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调度意图：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流组、层、优先级、截止时间、依赖、允许回退和目标缓冲。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业务状态：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发布、隔离、重算、目录状态机和消费资格。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F3A80-8DB8-4139-9615-F994233E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066800"/>
            <a:ext cx="35623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9ABA7-2D20-4CA3-834B-8C2B796E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0668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E00F6-6E20-4ABA-A3F1-5C6D884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14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KPCL 负责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56D7C-6FAC-44C6-A3CB-08D2217A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14475"/>
            <a:ext cx="32956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设备事实：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上下文、内存导入、受保护地址、真实后端和注册限制。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执行语义：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有界排队、批量传输、部分完成、可见性、错误、反压和实际流量等级。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安全结束：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取消、排空、撤销和缓冲可安全复用的证据。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EF06C-E0C6-40F3-9BE8-C26B10D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66800"/>
            <a:ext cx="3733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BEB90-3E19-43B0-876F-C1D5D74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668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53577-DDC4-4510-867F-171E578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1442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798A2-E4B2-4C2F-8D76-7D321AFB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14475"/>
            <a:ext cx="34671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句柄：</a:t>
            </a:r>
            <a:r>
              <a: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重注册、进程退出、设备重置和迁移后的代际有效性。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混压：</a:t>
            </a:r>
            <a:r>
              <a: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控制小消息、前台加载、后台回写和多卡流组的共同瓶颈。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异常：</a:t>
            </a:r>
            <a:r>
              <a: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重复消息、未知结果、迟到写、部分完成和版本不匹配。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E5FBF-645B-4534-AF5C-681A6C82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5467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A537C-5401-4173-9EC7-0A87598B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260F9-F11F-4304-89C4-73439C0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首版接口族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1A23A-9F71-4198-832C-34D00B0F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52006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能力与上下文：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查询内存类型、对齐、最大分段、线程/进程规则和版本。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传输与依赖：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导入区域、发送控制消息、批量提交、依赖组和只读视图。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终态与治理：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完成/可见性、取消/排空、流量信用、统计和错误证据。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AE28B-D043-4DE0-82C6-FBF5E8A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55816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4F8F7-1F36-4BE1-BC7D-83452048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558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18107-ADAE-4BAB-949B-B238B6BF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95725"/>
            <a:ext cx="535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需要回放的四组组合负载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8C6AC-F640-4B8E-BCE5-DFEE6F6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5314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控制 + 大块加载：</a:t>
            </a: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检查小消息是否被正文队列阻塞。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分层流水 + 多卡流组：</a:t>
            </a: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检查首批就绪、最慢子流和共同组起点。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前台加载 + SSD 回写：</a:t>
            </a: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检查 TPOT 尾部与后台不饿死。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一对多分发 + 重建：</a:t>
            </a:r>
            <a:r>
              <a:rPr sz="1043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分别统计源端、全网和逐目标完成。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5C563-A52F-4564-BAA6-C1A6AF55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EF60A-2A0D-4477-B085-FB9F0D34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634C6-6E67-4C99-BB82-39EE7BF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KVC 把业务关联传给 KPCL，KPCL 把真实设备证据返回 KVC。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任何一方都不能用单一“完成”状态覆盖全部语义。</a:t>
            </a:r>
          </a:p>
        </p:txBody>
      </p:sp>
    </p:spTree>
    <p:extLst>
      <p:ext uri="{BB962C8B-B14F-4D97-AF65-F5344CB8AC3E}">
        <p14:creationId xmlns:p14="http://schemas.microsoft.com/office/powerpoint/2010/main" val="947516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C5A6F-E1A8-4E24-9B80-7BC82037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性能预算、尾延迟与故障回退的统一验证方法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80E3C-DE75-4B9C-92DE-E9AD7260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14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77C26-906F-44C2-AA0B-7CDFD1B4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端到端使用同一请求事件重建关键路径；模块 P99 不能直接相加得到端到端 P99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9F908-9857-49CD-BCC3-A570E12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4673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48418-B162-43B4-8782-7661E18D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7099F-B59F-4A16-AE19-9EE2D101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性能预算与测量边界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B0A8B-A94F-4853-9D9C-E5BB981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52006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业务输入：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绑定模型、硬件、输入/输出长度、到达率、并发、复用分布和后台负载。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关键路径：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 DAG 记录查询、目标缓冲、持有、传输、可见性、计算与返回的真实依赖。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尾延迟：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直接统计端到端分位数；阶段预算同时分配超限概率，不能把多个 P99 当作上界相加。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吞吐：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分别报告总 QPS、成功 QPS 和满足全部 SLO 的有效 QPS，超时请求保留在分母。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现有目标：</a:t>
            </a:r>
            <a:r>
              <a: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本地快判、前缀匹配、计划决策、路由、提交、多卡等待与 E3 门槛按受控需求逐项绑定起止事件。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B6CBA-1E0C-4A89-8597-C67C53E6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66800"/>
            <a:ext cx="55816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A9148-7EC1-4F2E-B9C7-52BAF07B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66800"/>
            <a:ext cx="558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F91A0-1554-4C23-8404-3DEC3A51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14425"/>
            <a:ext cx="535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故障对象与回退动作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C122F-067A-4A7C-9D36-8E0E9236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14475"/>
            <a:ext cx="53149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目录不可用：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有效本地持有继续使用；新远查在请求预算耗尽前放弃并重算。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网络部分完成：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缺段目标不得接入；旧 attempt 保持隔离直到排空。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多卡一张卡失败：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各 rank 统一取消或选择共同安全前缀，避免集合通信步骤不一致。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设备重置：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旧地址代际整体失效；框架重建设备上下文，KVC 不复活旧句柄。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容量或队列耗尽：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先停误预取和低优先级任务，返回忙或重算建议，由框架重新准入。</a:t>
            </a:r>
          </a:p>
          <a:p xmlns:a="http://schemas.openxmlformats.org/drawingml/2006/main">
            <a:pPr marL="203200" indent="-11430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观测不可用：</a:t>
            </a:r>
            <a:r>
              <a: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使用本地有界缓冲或丢弃计数，不阻塞传输；验收报告标记证据缺口。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E38F0-CA1B-44F8-9B91-2AA17B0F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5227B-2A59-4BC4-85AD-4D2CE3F7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B78A2-D7ED-4AD4-969B-E1A4C11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【核心结论】 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性能模型决定是否值得复用，故障模型决定何时能够安全回退。</a:t>
            </a:r>
            <a:r>
              <a: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两者都必须由同一请求的原始事件验证。</a:t>
            </a:r>
          </a:p>
        </p:txBody>
      </p:sp>
    </p:spTree>
    <p:extLst>
      <p:ext uri="{BB962C8B-B14F-4D97-AF65-F5344CB8AC3E}">
        <p14:creationId xmlns:p14="http://schemas.microsoft.com/office/powerpoint/2010/main" val="13215527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3DEE8-94DE-4EB7-AB8C-693A523A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评审需要形成的决定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765B0-36DB-4B90-86F8-B0FA102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把同一个真实前缀对象跑通，再扩展场景和规模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3CA9F-2FB9-4DA4-B785-645803F5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10473-C514-4F29-9B6C-664F485B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16D7C-7C6E-48A4-A685-316A0DD2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对象与执行边界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9182D-E669-40F1-901E-AB094B6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冻结对象、副本、持有权和执行 HBM 的所有者。明确框架目标缓冲、池内额度与设备事件接口。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4315C-527C-4873-B849-A11B36DD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4E916-7385-448B-B506-57BBE6D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78E9B-6672-470F-A478-182FBBCC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目录与一致性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C7ABD-A2E8-497C-ADDB-05BE2BEB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冻结候选发现、可靠提交、镜像新鲜度、所有者授权和墓碑回收的关系。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99839-4C0D-48DB-A35E-56F5794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6EB83-B5DF-47B8-A6A5-7B647850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06311-E030-4C9D-AD89-04D639C0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KPCL 完成契约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834E8-9A1B-4A5D-AA6F-7FA03D83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分别定义本地完成、源可复用、目标设备可消费、持久完成、取消和排空。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4B1E8-02A4-4898-B37D-6F45143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BC932-045F-4689-B095-BA182751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BEE2A-B13F-462C-B424-795E80A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19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验证与准入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AEFFF-551E-4BCE-A350-EFD46FF2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用真实模型画像填写字节数、队列、拓扑和预算。设计建议通过原型验证后再登记为平台能力。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F02D5-7304-499B-9C6A-0669A75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744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16DA8-BC07-4CF3-BD3D-79072A17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7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首版最小闭环：</a:t>
            </a:r>
            <a:r>
              <a:rPr sz="117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一套框架连接器、一个节点代理、对象/副本/持有状态、分片目录原型、KPCL 适配、至少一条真实正文路径，以及超时、取消排空和重算回退。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B8B75-D4BD-453C-B37E-78AEE36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谢谢 · 进入架构评审与接口讨论</a:t>
            </a:r>
          </a:p>
        </p:txBody>
      </p:sp>
    </p:spTree>
    <p:extLst>
      <p:ext uri="{BB962C8B-B14F-4D97-AF65-F5344CB8AC3E}">
        <p14:creationId xmlns:p14="http://schemas.microsoft.com/office/powerpoint/2010/main" val="13506329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2026-09-06T10:14:28.8900000Z</dcterms:created>
  <dcterms:modified xsi:type="dcterms:W3CDTF">2026-09-06T10:14:28.8900000Z</dcterms:modified>
</coreProperties>
</file>