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731520"/>
            <a:ext cx="182880" cy="539496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60120" y="868680"/>
            <a:ext cx="100584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050" b="1">
                <a:solidFill>
                  <a:srgbClr val="2563EB"/>
                </a:solidFill>
                <a:latin typeface="Consolas"/>
              </a:defRPr>
            </a:pPr>
            <a:r>
              <a:t>UNIFIED HETEROGENEOUS KVCACHE MEMORY POOL · SYSTEM ARCHITECTURE DESIGN SPECIFICATION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" y="1234440"/>
            <a:ext cx="10058400" cy="1188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500" b="1">
                <a:solidFill>
                  <a:srgbClr val="1E3A8A"/>
                </a:solidFill>
                <a:latin typeface="Microsoft YaHei"/>
              </a:defRPr>
            </a:pPr>
            <a:r>
              <a:t>统一异构 KVCache 存储池</a:t>
            </a:r>
          </a:p>
          <a:p>
            <a:pPr>
              <a:spcBef>
                <a:spcPts val="400"/>
              </a:spcBef>
              <a:defRPr sz="2000" b="1">
                <a:solidFill>
                  <a:srgbClr val="1E3A8A"/>
                </a:solidFill>
                <a:latin typeface="Microsoft YaHei"/>
              </a:defRPr>
            </a:pPr>
            <a:r>
              <a:t>软件架构设计说明（初稿）· 八专题深度剖析与技术规格推导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" y="2514600"/>
            <a:ext cx="1005840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50">
                <a:solidFill>
                  <a:srgbClr val="475569"/>
                </a:solidFill>
                <a:latin typeface="Microsoft YaHei"/>
              </a:defRPr>
            </a:pPr>
            <a:r>
              <a:t>基于开源生态底座深度重构 · 面向国产 AI 硬件生态的原厂软硬件协同系统 · 微秒控制与零拷贝数据双流分离</a:t>
            </a:r>
          </a:p>
        </p:txBody>
      </p:sp>
      <p:sp>
        <p:nvSpPr>
          <p:cNvPr id="6" name="Rectangle 5"/>
          <p:cNvSpPr/>
          <p:nvPr/>
        </p:nvSpPr>
        <p:spPr>
          <a:xfrm>
            <a:off x="960120" y="3108960"/>
            <a:ext cx="3383280" cy="2148840"/>
          </a:xfrm>
          <a:prstGeom prst="rect">
            <a:avLst/>
          </a:prstGeom>
          <a:solidFill>
            <a:srgbClr val="FFFF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960120" y="3108960"/>
            <a:ext cx="3383280" cy="310896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69848" y="3145536"/>
            <a:ext cx="3163824" cy="23774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200" b="1">
                <a:solidFill>
                  <a:srgbClr val="FFFFFF"/>
                </a:solidFill>
                <a:latin typeface="Microsoft YaHei"/>
              </a:defRPr>
            </a:pPr>
            <a:r>
              <a:t>极速传输与微秒决策底座</a:t>
            </a:r>
            <a:r>
              <a:rPr sz="1000" b="1">
                <a:solidFill>
                  <a:srgbClr val="BFDBFE"/>
                </a:solidFill>
                <a:latin typeface="Microsoft YaHei"/>
              </a:rPr>
              <a:t>  [双流分离]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9848" y="3493008"/>
            <a:ext cx="3163824" cy="1691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 eaLnBrk="1" hangingPunct="1">
              <a:lnSpc>
                <a:spcPct val="120000"/>
              </a:lnSpc>
              <a:spcAft>
                <a:spcPts val="500"/>
              </a:spcAft>
            </a:pPr>
            <a:r>
              <a:rPr sz="1100" b="1">
                <a:solidFill>
                  <a:srgbClr val="1E3A8A"/>
                </a:solidFill>
                <a:latin typeface="Microsoft YaHei"/>
              </a:rPr>
              <a:t>• URMA 零拷贝传输：</a:t>
            </a:r>
            <a:r>
              <a:rPr sz="1100" b="0">
                <a:solidFill>
                  <a:srgbClr val="1E293B"/>
                </a:solidFill>
                <a:latin typeface="Microsoft YaHei"/>
              </a:rPr>
              <a:t>正文搬运零拷贝，</a:t>
            </a:r>
            <a:r>
              <a:rPr sz="1100" b="1">
                <a:solidFill>
                  <a:srgbClr val="DC2626"/>
                </a:solidFill>
                <a:latin typeface="Microsoft YaHei"/>
              </a:rPr>
              <a:t>Host CPU 触碰严格为 0，</a:t>
            </a:r>
            <a:r>
              <a:rPr sz="1100" b="0">
                <a:solidFill>
                  <a:srgbClr val="1E293B"/>
                </a:solidFill>
                <a:latin typeface="Microsoft YaHei"/>
              </a:rPr>
              <a:t>带宽利用率 ≥ 80%。</a:t>
            </a:r>
          </a:p>
          <a:p>
            <a:pPr algn="l" eaLnBrk="1" hangingPunct="1">
              <a:lnSpc>
                <a:spcPct val="120000"/>
              </a:lnSpc>
              <a:spcAft>
                <a:spcPts val="500"/>
              </a:spcAft>
            </a:pPr>
            <a:r>
              <a:rPr sz="1100" b="1">
                <a:solidFill>
                  <a:srgbClr val="1E3A8A"/>
                </a:solidFill>
                <a:latin typeface="Microsoft YaHei"/>
              </a:rPr>
              <a:t>• 微秒级动态选路决策：</a:t>
            </a:r>
            <a:r>
              <a:rPr sz="1100" b="0">
                <a:solidFill>
                  <a:srgbClr val="1E293B"/>
                </a:solidFill>
                <a:latin typeface="Microsoft YaHei"/>
              </a:rPr>
              <a:t>QueryPlan 代价模型对比重算开销，</a:t>
            </a:r>
            <a:r>
              <a:rPr sz="1100" b="1">
                <a:solidFill>
                  <a:srgbClr val="DC2626"/>
                </a:solidFill>
                <a:latin typeface="Microsoft YaHei"/>
              </a:rPr>
              <a:t>单次决策 P99 &lt; 5µs，</a:t>
            </a:r>
            <a:r>
              <a:rPr sz="1100" b="0">
                <a:solidFill>
                  <a:srgbClr val="1E293B"/>
                </a:solidFill>
                <a:latin typeface="Microsoft YaHei"/>
              </a:rPr>
              <a:t>避负收益。</a:t>
            </a:r>
          </a:p>
          <a:p>
            <a:pPr algn="l" eaLnBrk="1" hangingPunct="1">
              <a:lnSpc>
                <a:spcPct val="120000"/>
              </a:lnSpc>
              <a:spcAft>
                <a:spcPts val="500"/>
              </a:spcAft>
            </a:pPr>
            <a:r>
              <a:rPr sz="1100" b="1">
                <a:solidFill>
                  <a:srgbClr val="1E3A8A"/>
                </a:solidFill>
                <a:latin typeface="Microsoft YaHei"/>
              </a:rPr>
              <a:t>• 连续块描述符编译：</a:t>
            </a:r>
            <a:r>
              <a:rPr sz="1100" b="0">
                <a:solidFill>
                  <a:srgbClr val="1E293B"/>
                </a:solidFill>
                <a:latin typeface="Microsoft YaHei"/>
              </a:rPr>
              <a:t>Scatter-Gather 编译合并离散物理块，</a:t>
            </a:r>
            <a:r>
              <a:rPr sz="1100" b="1">
                <a:solidFill>
                  <a:srgbClr val="059669"/>
                </a:solidFill>
                <a:latin typeface="Microsoft YaHei"/>
              </a:rPr>
              <a:t>CPU 提交开销降 ≥ 40%。</a:t>
            </a:r>
          </a:p>
        </p:txBody>
      </p:sp>
      <p:sp>
        <p:nvSpPr>
          <p:cNvPr id="10" name="Rectangle 9"/>
          <p:cNvSpPr/>
          <p:nvPr/>
        </p:nvSpPr>
        <p:spPr>
          <a:xfrm>
            <a:off x="4663440" y="3108960"/>
            <a:ext cx="3383280" cy="2148840"/>
          </a:xfrm>
          <a:prstGeom prst="rect">
            <a:avLst/>
          </a:prstGeom>
          <a:solidFill>
            <a:srgbClr val="FFFF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663440" y="3108960"/>
            <a:ext cx="3383280" cy="310896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773168" y="3145536"/>
            <a:ext cx="3163824" cy="23774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200" b="1">
                <a:solidFill>
                  <a:srgbClr val="FFFFFF"/>
                </a:solidFill>
                <a:latin typeface="Microsoft YaHei"/>
              </a:defRPr>
            </a:pPr>
            <a:r>
              <a:t>全生命周期元数据与三层隔离</a:t>
            </a:r>
            <a:r>
              <a:rPr sz="1000" b="1">
                <a:solidFill>
                  <a:srgbClr val="BFDBFE"/>
                </a:solidFill>
                <a:latin typeface="Microsoft YaHei"/>
              </a:rPr>
              <a:t>  [存储与一致性]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73168" y="3493008"/>
            <a:ext cx="3163824" cy="1691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 eaLnBrk="1" hangingPunct="1">
              <a:lnSpc>
                <a:spcPct val="120000"/>
              </a:lnSpc>
              <a:spcAft>
                <a:spcPts val="500"/>
              </a:spcAft>
            </a:pPr>
            <a:r>
              <a:rPr sz="1100" b="1">
                <a:solidFill>
                  <a:srgbClr val="1E3A8A"/>
                </a:solidFill>
                <a:latin typeface="Microsoft YaHei"/>
              </a:rPr>
              <a:t>• 无锁并发基数树 (ART)：</a:t>
            </a:r>
            <a:r>
              <a:rPr sz="1100" b="0">
                <a:solidFill>
                  <a:srgbClr val="1E293B"/>
                </a:solidFill>
                <a:latin typeface="Microsoft YaHei"/>
              </a:rPr>
              <a:t>节点内共享内存直读 &lt; 1µs，跨机单边 URMA </a:t>
            </a:r>
            <a:r>
              <a:rPr sz="1100" b="1">
                <a:solidFill>
                  <a:srgbClr val="DC2626"/>
                </a:solidFill>
                <a:latin typeface="Microsoft YaHei"/>
              </a:rPr>
              <a:t>直读时延 &lt; 3µs。</a:t>
            </a:r>
          </a:p>
          <a:p>
            <a:pPr algn="l" eaLnBrk="1" hangingPunct="1">
              <a:lnSpc>
                <a:spcPct val="120000"/>
              </a:lnSpc>
              <a:spcAft>
                <a:spcPts val="500"/>
              </a:spcAft>
            </a:pPr>
            <a:r>
              <a:rPr sz="1100" b="1">
                <a:solidFill>
                  <a:srgbClr val="1E3A8A"/>
                </a:solidFill>
                <a:latin typeface="Microsoft YaHei"/>
              </a:rPr>
              <a:t>• 6 维语义一致性校验：</a:t>
            </a:r>
            <a:r>
              <a:rPr sz="1100" b="0">
                <a:solidFill>
                  <a:srgbClr val="1E293B"/>
                </a:solidFill>
                <a:latin typeface="Microsoft YaHei"/>
              </a:rPr>
              <a:t>校验模型/词表/模板/LoRA/Ready/Lease，</a:t>
            </a:r>
            <a:r>
              <a:rPr sz="1100" b="1">
                <a:solidFill>
                  <a:srgbClr val="059669"/>
                </a:solidFill>
                <a:latin typeface="Microsoft YaHei"/>
              </a:rPr>
              <a:t>实现生产级 0 错误消费。</a:t>
            </a:r>
          </a:p>
          <a:p>
            <a:pPr algn="l" eaLnBrk="1" hangingPunct="1">
              <a:lnSpc>
                <a:spcPct val="120000"/>
              </a:lnSpc>
              <a:spcAft>
                <a:spcPts val="500"/>
              </a:spcAft>
            </a:pPr>
            <a:r>
              <a:rPr sz="1100" b="1">
                <a:solidFill>
                  <a:srgbClr val="1E3A8A"/>
                </a:solidFill>
                <a:latin typeface="Microsoft YaHei"/>
              </a:rPr>
              <a:t>• NVMe 裸盘直达扩容：</a:t>
            </a:r>
            <a:r>
              <a:rPr sz="1100" b="0">
                <a:solidFill>
                  <a:srgbClr val="1E293B"/>
                </a:solidFill>
                <a:latin typeface="Microsoft YaHei"/>
              </a:rPr>
              <a:t>io_uring 直通绕过 Host DDR，</a:t>
            </a:r>
            <a:r>
              <a:rPr sz="1100" b="1">
                <a:solidFill>
                  <a:srgbClr val="DC2626"/>
                </a:solidFill>
                <a:latin typeface="Microsoft YaHei"/>
              </a:rPr>
              <a:t>150% 超载防 OOM。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366760" y="3108960"/>
            <a:ext cx="3383280" cy="2148840"/>
          </a:xfrm>
          <a:prstGeom prst="rect">
            <a:avLst/>
          </a:prstGeom>
          <a:solidFill>
            <a:srgbClr val="FFFF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366760" y="3108960"/>
            <a:ext cx="3383280" cy="310896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476488" y="3145536"/>
            <a:ext cx="3163824" cy="23774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200" b="1">
                <a:solidFill>
                  <a:srgbClr val="FFFFFF"/>
                </a:solidFill>
                <a:latin typeface="Microsoft YaHei"/>
              </a:defRPr>
            </a:pPr>
            <a:r>
              <a:t>KPCL 抽象与刚性规格拆解</a:t>
            </a:r>
            <a:r>
              <a:rPr sz="1000" b="1">
                <a:solidFill>
                  <a:srgbClr val="BFDBFE"/>
                </a:solidFill>
                <a:latin typeface="Microsoft YaHei"/>
              </a:rPr>
              <a:t>  [通信与指标反推]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76488" y="3493008"/>
            <a:ext cx="3163824" cy="1691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 eaLnBrk="1" hangingPunct="1">
              <a:lnSpc>
                <a:spcPct val="120000"/>
              </a:lnSpc>
              <a:spcAft>
                <a:spcPts val="500"/>
              </a:spcAft>
            </a:pPr>
            <a:r>
              <a:rPr sz="1100" b="1">
                <a:solidFill>
                  <a:srgbClr val="1E3A8A"/>
                </a:solidFill>
                <a:latin typeface="Microsoft YaHei"/>
              </a:rPr>
              <a:t>• 通信库责任与流量模型：</a:t>
            </a:r>
            <a:r>
              <a:rPr sz="1100" b="0">
                <a:solidFill>
                  <a:srgbClr val="1E293B"/>
                </a:solidFill>
                <a:latin typeface="Microsoft YaHei"/>
              </a:rPr>
              <a:t>向 KPCL 导入 4 类数据流，攻坚 </a:t>
            </a:r>
            <a:r>
              <a:rPr sz="1100" b="1">
                <a:solidFill>
                  <a:srgbClr val="DC2626"/>
                </a:solidFill>
                <a:latin typeface="Microsoft YaHei"/>
              </a:rPr>
              <a:t>TP=8 Coflow 偏斜 (Skew &lt; 1.15)。</a:t>
            </a:r>
          </a:p>
          <a:p>
            <a:pPr algn="l" eaLnBrk="1" hangingPunct="1">
              <a:lnSpc>
                <a:spcPct val="120000"/>
              </a:lnSpc>
              <a:spcAft>
                <a:spcPts val="500"/>
              </a:spcAft>
            </a:pPr>
            <a:r>
              <a:rPr sz="1100" b="1">
                <a:solidFill>
                  <a:srgbClr val="1E3A8A"/>
                </a:solidFill>
                <a:latin typeface="Microsoft YaHei"/>
              </a:rPr>
              <a:t>• 端到端时延逐层拆解：</a:t>
            </a:r>
            <a:r>
              <a:rPr sz="1100" b="0">
                <a:solidFill>
                  <a:srgbClr val="1E293B"/>
                </a:solidFill>
                <a:latin typeface="Microsoft YaHei"/>
              </a:rPr>
              <a:t>DAG 依赖模型分解，控制面调度 ≤ 20µs，</a:t>
            </a:r>
            <a:r>
              <a:rPr sz="1100" b="1">
                <a:solidFill>
                  <a:srgbClr val="DC2626"/>
                </a:solidFill>
                <a:latin typeface="Microsoft YaHei"/>
              </a:rPr>
              <a:t>TTFT 净降低 20%~75%。</a:t>
            </a:r>
          </a:p>
          <a:p>
            <a:pPr algn="l" eaLnBrk="1" hangingPunct="1">
              <a:lnSpc>
                <a:spcPct val="120000"/>
              </a:lnSpc>
              <a:spcAft>
                <a:spcPts val="500"/>
              </a:spcAft>
            </a:pPr>
            <a:r>
              <a:rPr sz="1100" b="1">
                <a:solidFill>
                  <a:srgbClr val="1E3A8A"/>
                </a:solidFill>
                <a:latin typeface="Microsoft YaHei"/>
              </a:rPr>
              <a:t>• 全链路三面容错自愈：</a:t>
            </a:r>
            <a:r>
              <a:rPr sz="1100" b="0">
                <a:solidFill>
                  <a:srgbClr val="1E293B"/>
                </a:solidFill>
                <a:latin typeface="Microsoft YaHei"/>
              </a:rPr>
              <a:t>ViewGuard 捕获 SIGBUS 回滚重算，</a:t>
            </a:r>
            <a:r>
              <a:rPr sz="1100" b="1">
                <a:solidFill>
                  <a:srgbClr val="2563EB"/>
                </a:solidFill>
                <a:latin typeface="Microsoft YaHei"/>
              </a:rPr>
              <a:t>异常 500µs 安全闭环。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0120" y="5760720"/>
            <a:ext cx="10058400" cy="365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100" b="1">
                <a:solidFill>
                  <a:srgbClr val="475569"/>
                </a:solidFill>
                <a:latin typeface="Microsoft YaHei"/>
              </a:defRPr>
            </a:pPr>
            <a:r>
              <a:t>统一异构 KVCache 存储池研发攻坚组 · 2026-09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987552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900" b="1">
                <a:solidFill>
                  <a:srgbClr val="1E3A8A"/>
                </a:solidFill>
                <a:latin typeface="Microsoft YaHei"/>
              </a:defRPr>
            </a:pPr>
            <a:r>
              <a:t>专题一：顶层架构设计总体原则与软件架构全景</a:t>
            </a:r>
          </a:p>
          <a:p>
            <a:pPr>
              <a:spcBef>
                <a:spcPts val="300"/>
              </a:spcBef>
              <a:defRPr sz="1100">
                <a:solidFill>
                  <a:srgbClr val="475569"/>
                </a:solidFill>
                <a:latin typeface="Microsoft YaHei"/>
              </a:defRPr>
            </a:pPr>
            <a:r>
              <a:t>微秒控制面决策 (P99 &lt; 5µs) 与数据面零数据拷贝 (Host Payload Touch=0) 双流彻底分离架构范式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424160" y="320040"/>
            <a:ext cx="1310335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150" b="1">
                <a:solidFill>
                  <a:srgbClr val="2563EB"/>
                </a:solidFill>
                <a:latin typeface="Microsoft YaHei"/>
              </a:defRPr>
            </a:pPr>
            <a:r>
              <a:t>第 02 / 10 页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51560"/>
            <a:ext cx="5806440" cy="4617720"/>
          </a:xfrm>
          <a:prstGeom prst="rect">
            <a:avLst/>
          </a:prstGeom>
          <a:solidFill>
            <a:srgbClr val="FFFF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kvc_architecture_landscap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2064" y="1106424"/>
            <a:ext cx="5696712" cy="4507992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6382512" y="1051560"/>
            <a:ext cx="5349240" cy="2240280"/>
          </a:xfrm>
          <a:prstGeom prst="rect">
            <a:avLst/>
          </a:prstGeom>
          <a:solidFill>
            <a:srgbClr val="FFFF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382512" y="1051560"/>
            <a:ext cx="5349240" cy="292608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92240" y="1088136"/>
            <a:ext cx="5129784" cy="21945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200" b="1">
                <a:solidFill>
                  <a:srgbClr val="FFFFFF"/>
                </a:solidFill>
                <a:latin typeface="Microsoft YaHei"/>
              </a:defRPr>
            </a:pPr>
            <a:r>
              <a:t>四层架构设计设想与核心组件职责</a:t>
            </a:r>
            <a:r>
              <a:rPr sz="1000" b="1">
                <a:solidFill>
                  <a:srgbClr val="BFDBFE"/>
                </a:solidFill>
                <a:latin typeface="Microsoft YaHei"/>
              </a:rPr>
              <a:t>  [分层架构]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92240" y="1399032"/>
            <a:ext cx="5129784" cy="18379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 eaLnBrk="1" hangingPunct="1">
              <a:lnSpc>
                <a:spcPct val="120000"/>
              </a:lnSpc>
              <a:spcAft>
                <a:spcPts val="300"/>
              </a:spcAft>
            </a:pPr>
            <a:r>
              <a:rPr sz="1050" b="1">
                <a:solidFill>
                  <a:srgbClr val="1E3A8A"/>
                </a:solidFill>
                <a:latin typeface="Microsoft YaHei"/>
              </a:rPr>
              <a:t>• L1 框架接入层设想：</a:t>
            </a:r>
            <a:r>
              <a:rPr sz="1050" b="0">
                <a:solidFill>
                  <a:srgbClr val="1E293B"/>
                </a:solidFill>
                <a:latin typeface="Microsoft YaHei"/>
              </a:rPr>
              <a:t>非侵入适配 vLLM/SGLang；通过 </a:t>
            </a:r>
            <a:r>
              <a:rPr sz="1050" b="1">
                <a:solidFill>
                  <a:srgbClr val="1E3A8A"/>
                </a:solidFill>
                <a:latin typeface="Consolas"/>
              </a:rPr>
              <a:t>KVAccessIntent 捕获意图与 SLO 预算，</a:t>
            </a:r>
            <a:r>
              <a:rPr sz="1050" b="0">
                <a:solidFill>
                  <a:srgbClr val="1E293B"/>
                </a:solidFill>
                <a:latin typeface="Microsoft YaHei"/>
              </a:rPr>
              <a:t>返回 AttachHandle 句柄，框架无感执行推理。</a:t>
            </a:r>
          </a:p>
          <a:p>
            <a:pPr algn="l" eaLnBrk="1" hangingPunct="1">
              <a:lnSpc>
                <a:spcPct val="120000"/>
              </a:lnSpc>
              <a:spcAft>
                <a:spcPts val="300"/>
              </a:spcAft>
            </a:pPr>
            <a:r>
              <a:rPr sz="1050" b="1">
                <a:solidFill>
                  <a:srgbClr val="1E3A8A"/>
                </a:solidFill>
                <a:latin typeface="Microsoft YaHei"/>
              </a:rPr>
              <a:t>• L2 状态控制层设想：</a:t>
            </a:r>
            <a:r>
              <a:rPr sz="1050" b="0">
                <a:solidFill>
                  <a:srgbClr val="1E293B"/>
                </a:solidFill>
                <a:latin typeface="Microsoft YaHei"/>
              </a:rPr>
              <a:t>解耦元数据与正文；自研无锁 ART 树微秒查找，</a:t>
            </a:r>
            <a:r>
              <a:rPr sz="1050" b="1">
                <a:solidFill>
                  <a:srgbClr val="2563EB"/>
                </a:solidFill>
                <a:latin typeface="Microsoft YaHei"/>
              </a:rPr>
              <a:t>QueryPlan 代价模型决策重算与加载，</a:t>
            </a:r>
            <a:r>
              <a:rPr sz="1050" b="0">
                <a:solidFill>
                  <a:srgbClr val="1E293B"/>
                </a:solidFill>
                <a:latin typeface="Microsoft YaHei"/>
              </a:rPr>
              <a:t>ConsumeEligibility 6 维杜绝脏读。</a:t>
            </a:r>
          </a:p>
          <a:p>
            <a:pPr algn="l" eaLnBrk="1" hangingPunct="1">
              <a:lnSpc>
                <a:spcPct val="120000"/>
              </a:lnSpc>
              <a:spcAft>
                <a:spcPts val="300"/>
              </a:spcAft>
            </a:pPr>
            <a:r>
              <a:rPr sz="1050" b="1">
                <a:solidFill>
                  <a:srgbClr val="1E3A8A"/>
                </a:solidFill>
                <a:latin typeface="Microsoft YaHei"/>
              </a:rPr>
              <a:t>• L3 分层存储层设想：</a:t>
            </a:r>
            <a:r>
              <a:rPr sz="1050" b="0">
                <a:solidFill>
                  <a:srgbClr val="1E293B"/>
                </a:solidFill>
                <a:latin typeface="Microsoft YaHei"/>
              </a:rPr>
              <a:t>屏蔽介质物理差异；</a:t>
            </a:r>
            <a:r>
              <a:rPr sz="1050" b="1">
                <a:solidFill>
                  <a:srgbClr val="059669"/>
                </a:solidFill>
                <a:latin typeface="Microsoft YaHei"/>
              </a:rPr>
              <a:t>DescriptorCompiler 贪心合并离散块，</a:t>
            </a:r>
            <a:r>
              <a:rPr sz="1050" b="0">
                <a:solidFill>
                  <a:srgbClr val="1E293B"/>
                </a:solidFill>
                <a:latin typeface="Microsoft YaHei"/>
              </a:rPr>
              <a:t>编译 64B POD 描述符；SSD 裸盘 io_uring 绕过 Host DDR。</a:t>
            </a:r>
          </a:p>
          <a:p>
            <a:pPr algn="l" eaLnBrk="1" hangingPunct="1">
              <a:lnSpc>
                <a:spcPct val="120000"/>
              </a:lnSpc>
              <a:spcAft>
                <a:spcPts val="300"/>
              </a:spcAft>
            </a:pPr>
            <a:r>
              <a:rPr sz="1050" b="1">
                <a:solidFill>
                  <a:srgbClr val="1E3A8A"/>
                </a:solidFill>
                <a:latin typeface="Microsoft YaHei"/>
              </a:rPr>
              <a:t>• L4 极速传输层设想：</a:t>
            </a:r>
            <a:r>
              <a:rPr sz="1050" b="0">
                <a:solidFill>
                  <a:srgbClr val="1E293B"/>
                </a:solidFill>
                <a:latin typeface="Microsoft YaHei"/>
              </a:rPr>
              <a:t>统一封装原厂 KPCL 通信库，UBMEM/URMA 驱动显存直连；</a:t>
            </a:r>
            <a:r>
              <a:rPr sz="1050" b="1">
                <a:solidFill>
                  <a:srgbClr val="DC2626"/>
                </a:solidFill>
                <a:latin typeface="Microsoft YaHei"/>
              </a:rPr>
              <a:t>RankConsensus 原子门铃消除 TP=8 偏斜 (Skew &lt; 1.15)。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82512" y="3401568"/>
            <a:ext cx="5349240" cy="2267712"/>
          </a:xfrm>
          <a:prstGeom prst="rect">
            <a:avLst/>
          </a:prstGeom>
          <a:solidFill>
            <a:srgbClr val="FFFF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382512" y="3401568"/>
            <a:ext cx="5349240" cy="292608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0" y="3438144"/>
            <a:ext cx="5129784" cy="21945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200" b="1">
                <a:solidFill>
                  <a:srgbClr val="FFFFFF"/>
                </a:solidFill>
                <a:latin typeface="Microsoft YaHei"/>
              </a:defRPr>
            </a:pPr>
            <a:r>
              <a:t>双流分离设计设想与关键工程机制</a:t>
            </a:r>
            <a:r>
              <a:rPr sz="1000" b="1">
                <a:solidFill>
                  <a:srgbClr val="BFDBFE"/>
                </a:solidFill>
                <a:latin typeface="Microsoft YaHei"/>
              </a:rPr>
              <a:t>  [双流机制]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0" y="3749040"/>
            <a:ext cx="5129784" cy="186537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 eaLnBrk="1" hangingPunct="1">
              <a:lnSpc>
                <a:spcPct val="120000"/>
              </a:lnSpc>
              <a:spcAft>
                <a:spcPts val="300"/>
              </a:spcAft>
            </a:pPr>
            <a:r>
              <a:rPr sz="1050" b="1">
                <a:solidFill>
                  <a:srgbClr val="1E3A8A"/>
                </a:solidFill>
                <a:latin typeface="Microsoft YaHei"/>
              </a:rPr>
              <a:t>• 微秒控制流设想：</a:t>
            </a:r>
            <a:r>
              <a:rPr sz="1050" b="0">
                <a:solidFill>
                  <a:srgbClr val="1E293B"/>
                </a:solidFill>
                <a:latin typeface="Microsoft YaHei"/>
              </a:rPr>
              <a:t>调度面必须微秒完成全链路决策，任何毫秒 RPC 都会吞噬收益；</a:t>
            </a:r>
            <a:r>
              <a:rPr sz="1050" b="1">
                <a:solidFill>
                  <a:srgbClr val="2563EB"/>
                </a:solidFill>
                <a:latin typeface="Microsoft YaHei"/>
              </a:rPr>
              <a:t>依赖本地共享内存与单边 RDMA 直读，P99 调度耗时 ≤ 20µs。</a:t>
            </a:r>
          </a:p>
          <a:p>
            <a:pPr algn="l" eaLnBrk="1" hangingPunct="1">
              <a:lnSpc>
                <a:spcPct val="120000"/>
              </a:lnSpc>
              <a:spcAft>
                <a:spcPts val="300"/>
              </a:spcAft>
            </a:pPr>
            <a:r>
              <a:rPr sz="1050" b="1">
                <a:solidFill>
                  <a:srgbClr val="1E3A8A"/>
                </a:solidFill>
                <a:latin typeface="Microsoft YaHei"/>
              </a:rPr>
              <a:t>• 零拷贝数据流设想：</a:t>
            </a:r>
            <a:r>
              <a:rPr sz="1050" b="0">
                <a:solidFill>
                  <a:srgbClr val="1E293B"/>
                </a:solidFill>
                <a:latin typeface="Microsoft YaHei"/>
              </a:rPr>
              <a:t>确立 </a:t>
            </a:r>
            <a:r>
              <a:rPr sz="1050" b="1">
                <a:solidFill>
                  <a:srgbClr val="DC2626"/>
                </a:solidFill>
                <a:latin typeface="Microsoft YaHei"/>
              </a:rPr>
              <a:t>Host Payload Touch Bytes 严格为 0</a:t>
            </a:r>
            <a:r>
              <a:rPr sz="1050" b="0">
                <a:solidFill>
                  <a:srgbClr val="1E293B"/>
                </a:solidFill>
                <a:latin typeface="Microsoft YaHei"/>
              </a:rPr>
              <a:t> 铁律；CPU 仅下发 SG 描述符，网卡与 SSD 控制器直接 DMA 写入 NPU HBM。</a:t>
            </a:r>
          </a:p>
          <a:p>
            <a:pPr algn="l" eaLnBrk="1" hangingPunct="1">
              <a:lnSpc>
                <a:spcPct val="120000"/>
              </a:lnSpc>
              <a:spcAft>
                <a:spcPts val="300"/>
              </a:spcAft>
            </a:pPr>
            <a:r>
              <a:rPr sz="1050" b="1">
                <a:solidFill>
                  <a:srgbClr val="1E3A8A"/>
                </a:solidFill>
                <a:latin typeface="Microsoft YaHei"/>
              </a:rPr>
              <a:t>• 前置动态选路机制：</a:t>
            </a:r>
            <a:r>
              <a:rPr sz="1050" b="0">
                <a:solidFill>
                  <a:srgbClr val="1E293B"/>
                </a:solidFill>
                <a:latin typeface="Microsoft YaHei"/>
              </a:rPr>
              <a:t>仅当 </a:t>
            </a:r>
            <a:r>
              <a:rPr sz="1050" b="1">
                <a:solidFill>
                  <a:srgbClr val="DC2626"/>
                </a:solidFill>
                <a:latin typeface="Microsoft YaHei"/>
              </a:rPr>
              <a:t>拉取与加载总开销 &lt; 本地直接重算耗时</a:t>
            </a:r>
            <a:r>
              <a:rPr sz="1050" b="0">
                <a:solidFill>
                  <a:srgbClr val="1E293B"/>
                </a:solidFill>
                <a:latin typeface="Microsoft YaHei"/>
              </a:rPr>
              <a:t> 时执行加载；预期净收益为负则主动拦截回退重算，防反向负加速。</a:t>
            </a:r>
          </a:p>
          <a:p>
            <a:pPr algn="l" eaLnBrk="1" hangingPunct="1">
              <a:lnSpc>
                <a:spcPct val="120000"/>
              </a:lnSpc>
              <a:spcAft>
                <a:spcPts val="300"/>
              </a:spcAft>
            </a:pPr>
            <a:r>
              <a:rPr sz="1050" b="1">
                <a:solidFill>
                  <a:srgbClr val="1E3A8A"/>
                </a:solidFill>
                <a:latin typeface="Microsoft YaHei"/>
              </a:rPr>
              <a:t>• 三层安全守卫闭环：</a:t>
            </a:r>
            <a:r>
              <a:rPr sz="1050" b="0">
                <a:solidFill>
                  <a:srgbClr val="1E293B"/>
                </a:solidFill>
                <a:latin typeface="Microsoft YaHei"/>
              </a:rPr>
              <a:t>ViewGuard 注册微秒租约并捕获 SIGBUS 异常跳出，</a:t>
            </a:r>
            <a:r>
              <a:rPr sz="1050" b="1">
                <a:solidFill>
                  <a:srgbClr val="059669"/>
                </a:solidFill>
                <a:latin typeface="Microsoft YaHei"/>
              </a:rPr>
              <a:t>RCU 双层宽限期保证读零锁释放，</a:t>
            </a:r>
            <a:r>
              <a:rPr sz="1050" b="0">
                <a:solidFill>
                  <a:srgbClr val="1E293B"/>
                </a:solidFill>
                <a:latin typeface="Microsoft YaHei"/>
              </a:rPr>
              <a:t>守住 0 错误消费底线。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5833872"/>
            <a:ext cx="11277295" cy="694944"/>
          </a:xfrm>
          <a:prstGeom prst="rect">
            <a:avLst/>
          </a:prstGeom>
          <a:solidFill>
            <a:srgbClr val="FFFF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57200" y="5833872"/>
            <a:ext cx="73152" cy="694944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1792" y="5925312"/>
            <a:ext cx="11021263" cy="51206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8000"/>
              </a:lnSpc>
            </a:pPr>
            <a:r>
              <a:rPr sz="1150" b="1">
                <a:solidFill>
                  <a:srgbClr val="1E3A8A"/>
                </a:solidFill>
                <a:latin typeface="Microsoft YaHei"/>
              </a:rPr>
              <a:t>【架构核心决断】 </a:t>
            </a:r>
            <a:r>
              <a:rPr sz="1150" b="1">
                <a:solidFill>
                  <a:srgbClr val="1E293B"/>
                </a:solidFill>
                <a:latin typeface="Microsoft YaHei"/>
              </a:rPr>
              <a:t>控制面微秒决策、零集中式 RPC 阻塞；数据面 Host CPU 零数据拷贝、硬件线速 DMA 直达显存；</a:t>
            </a:r>
            <a:r>
              <a:rPr sz="1150" b="1">
                <a:solidFill>
                  <a:srgbClr val="DC2626"/>
                </a:solidFill>
                <a:latin typeface="Microsoft YaHei"/>
              </a:rPr>
              <a:t>坚持前置动态代价评估（拉取总开销 &lt; 本地重算耗时才加载）与三层安全守卫</a:t>
            </a:r>
            <a:r>
              <a:rPr sz="1150" b="1">
                <a:solidFill>
                  <a:srgbClr val="1E293B"/>
                </a:solidFill>
                <a:latin typeface="Microsoft YaHei"/>
              </a:rPr>
              <a:t>，实现推理首字延迟 (TTFT) 确定性加速与吞吐大幅提升。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987552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900" b="1">
                <a:solidFill>
                  <a:srgbClr val="1E3A8A"/>
                </a:solidFill>
                <a:latin typeface="Microsoft YaHei"/>
              </a:defRPr>
            </a:pPr>
            <a:r>
              <a:t>专题二：存储池构建拓扑、部署方式与进程实体分布</a:t>
            </a:r>
          </a:p>
          <a:p>
            <a:pPr>
              <a:spcBef>
                <a:spcPts val="300"/>
              </a:spcBef>
              <a:defRPr sz="1100">
                <a:solidFill>
                  <a:srgbClr val="475569"/>
                </a:solidFill>
                <a:latin typeface="Microsoft YaHei"/>
              </a:defRPr>
            </a:pPr>
            <a:r>
              <a:t>节点内片间总线互联 + 跨节点计算/存储专用双轨网络 + 5 大核心进程职责划分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424160" y="320040"/>
            <a:ext cx="1310335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150" b="1">
                <a:solidFill>
                  <a:srgbClr val="2563EB"/>
                </a:solidFill>
                <a:latin typeface="Microsoft YaHei"/>
              </a:defRPr>
            </a:pPr>
            <a:r>
              <a:t>第 03 / 10 页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51560"/>
            <a:ext cx="5806440" cy="4617720"/>
          </a:xfrm>
          <a:prstGeom prst="rect">
            <a:avLst/>
          </a:prstGeom>
          <a:solidFill>
            <a:srgbClr val="FFFF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kvc_cluster_topolog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2064" y="1106424"/>
            <a:ext cx="5696712" cy="4507992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6382512" y="1051560"/>
            <a:ext cx="5349240" cy="2240280"/>
          </a:xfrm>
          <a:prstGeom prst="rect">
            <a:avLst/>
          </a:prstGeom>
          <a:solidFill>
            <a:srgbClr val="FFFF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382512" y="1051560"/>
            <a:ext cx="5349240" cy="292608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92240" y="1088136"/>
            <a:ext cx="5129784" cy="21945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200" b="1">
                <a:solidFill>
                  <a:srgbClr val="FFFFFF"/>
                </a:solidFill>
                <a:latin typeface="Microsoft YaHei"/>
              </a:defRPr>
            </a:pPr>
            <a:r>
              <a:t>集群物理互联拓扑与三级介质分层</a:t>
            </a:r>
            <a:r>
              <a:rPr sz="1000" b="1">
                <a:solidFill>
                  <a:srgbClr val="BFDBFE"/>
                </a:solidFill>
                <a:latin typeface="Microsoft YaHei"/>
              </a:rPr>
              <a:t>  [硬件拓扑]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92240" y="1399032"/>
            <a:ext cx="5129784" cy="18379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 eaLnBrk="1" hangingPunct="1">
              <a:lnSpc>
                <a:spcPct val="120000"/>
              </a:lnSpc>
              <a:spcAft>
                <a:spcPts val="400"/>
              </a:spcAft>
            </a:pPr>
            <a:r>
              <a:rPr sz="1100" b="1">
                <a:solidFill>
                  <a:srgbClr val="1E3A8A"/>
                </a:solidFill>
                <a:latin typeface="Microsoft YaHei"/>
              </a:rPr>
              <a:t>• Scale-Up 节点内直联：</a:t>
            </a:r>
            <a:r>
              <a:rPr sz="1100" b="0">
                <a:solidFill>
                  <a:srgbClr val="1E293B"/>
                </a:solidFill>
                <a:latin typeface="Microsoft YaHei"/>
              </a:rPr>
              <a:t>8 卡 NPU 片间高速总线全互联，</a:t>
            </a:r>
            <a:r>
              <a:rPr sz="1100" b="1">
                <a:solidFill>
                  <a:srgbClr val="2563EB"/>
                </a:solidFill>
                <a:latin typeface="Microsoft YaHei"/>
              </a:rPr>
              <a:t>PCIe 直连 NVMe SSD (GDS 旁路 DDR)。</a:t>
            </a:r>
          </a:p>
          <a:p>
            <a:pPr algn="l" eaLnBrk="1" hangingPunct="1">
              <a:lnSpc>
                <a:spcPct val="120000"/>
              </a:lnSpc>
              <a:spcAft>
                <a:spcPts val="400"/>
              </a:spcAft>
            </a:pPr>
            <a:r>
              <a:rPr sz="1100" b="1">
                <a:solidFill>
                  <a:srgbClr val="1E3A8A"/>
                </a:solidFill>
                <a:latin typeface="Microsoft YaHei"/>
              </a:rPr>
              <a:t>• Scale-Out 专用双轨网络：</a:t>
            </a:r>
            <a:r>
              <a:rPr sz="1100" b="0">
                <a:solidFill>
                  <a:srgbClr val="1E293B"/>
                </a:solidFill>
                <a:latin typeface="Microsoft YaHei"/>
              </a:rPr>
              <a:t>计算与存储网络物理隔离，</a:t>
            </a:r>
            <a:r>
              <a:rPr sz="1100" b="1">
                <a:solidFill>
                  <a:srgbClr val="DC2626"/>
                </a:solidFill>
                <a:latin typeface="Microsoft YaHei"/>
              </a:rPr>
              <a:t>消除突发搬运对前台生成的冲击。</a:t>
            </a:r>
          </a:p>
          <a:p>
            <a:pPr algn="l" eaLnBrk="1" hangingPunct="1">
              <a:lnSpc>
                <a:spcPct val="120000"/>
              </a:lnSpc>
              <a:spcAft>
                <a:spcPts val="400"/>
              </a:spcAft>
            </a:pPr>
            <a:r>
              <a:rPr sz="1100" b="1">
                <a:solidFill>
                  <a:srgbClr val="1E3A8A"/>
                </a:solidFill>
                <a:latin typeface="Microsoft YaHei"/>
              </a:rPr>
              <a:t>• L1-Tier (执行显存)：</a:t>
            </a:r>
            <a:r>
              <a:rPr sz="1100" b="0">
                <a:solidFill>
                  <a:srgbClr val="1E293B"/>
                </a:solidFill>
                <a:latin typeface="Microsoft YaHei"/>
              </a:rPr>
              <a:t>NPU HBM 承载活跃 Decode，提供数 TB/s 高带宽。</a:t>
            </a:r>
          </a:p>
          <a:p>
            <a:pPr algn="l" eaLnBrk="1" hangingPunct="1">
              <a:lnSpc>
                <a:spcPct val="120000"/>
              </a:lnSpc>
              <a:spcAft>
                <a:spcPts val="400"/>
              </a:spcAft>
            </a:pPr>
            <a:r>
              <a:rPr sz="1100" b="1">
                <a:solidFill>
                  <a:srgbClr val="1E3A8A"/>
                </a:solidFill>
                <a:latin typeface="Microsoft YaHei"/>
              </a:rPr>
              <a:t>• L3-Tier (容量主体)：</a:t>
            </a:r>
            <a:r>
              <a:rPr sz="1100" b="1">
                <a:solidFill>
                  <a:srgbClr val="059669"/>
                </a:solidFill>
                <a:latin typeface="Microsoft YaHei"/>
              </a:rPr>
              <a:t>直连 30TB+ NVMe SSD 阵列，承接温冷 KV 沉淀。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82512" y="3401568"/>
            <a:ext cx="5349240" cy="2267712"/>
          </a:xfrm>
          <a:prstGeom prst="rect">
            <a:avLst/>
          </a:prstGeom>
          <a:solidFill>
            <a:srgbClr val="FFFF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382512" y="3401568"/>
            <a:ext cx="5349240" cy="292608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0" y="3438144"/>
            <a:ext cx="5129784" cy="21945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200" b="1">
                <a:solidFill>
                  <a:srgbClr val="FFFFFF"/>
                </a:solidFill>
                <a:latin typeface="Microsoft YaHei"/>
              </a:defRPr>
            </a:pPr>
            <a:r>
              <a:t>5 大软件进程实体职责与部署矩阵</a:t>
            </a:r>
            <a:r>
              <a:rPr sz="1000" b="1">
                <a:solidFill>
                  <a:srgbClr val="BFDBFE"/>
                </a:solidFill>
                <a:latin typeface="Microsoft YaHei"/>
              </a:rPr>
              <a:t>  [进程架构]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0" y="3749040"/>
            <a:ext cx="5129784" cy="186537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 eaLnBrk="1" hangingPunct="1">
              <a:lnSpc>
                <a:spcPct val="120000"/>
              </a:lnSpc>
              <a:spcAft>
                <a:spcPts val="400"/>
              </a:spcAft>
            </a:pPr>
            <a:r>
              <a:rPr sz="1100" b="1">
                <a:solidFill>
                  <a:srgbClr val="1E3A8A"/>
                </a:solidFill>
                <a:latin typeface="Microsoft YaHei"/>
              </a:rPr>
              <a:t>• kvc-master (全局协调器)：</a:t>
            </a:r>
            <a:r>
              <a:rPr sz="1100" b="0">
                <a:solidFill>
                  <a:srgbClr val="1E293B"/>
                </a:solidFill>
                <a:latin typeface="Microsoft YaHei"/>
              </a:rPr>
              <a:t>三节点 Raft 选主，管理集群拓扑与分片路由，</a:t>
            </a:r>
            <a:r>
              <a:rPr sz="1100" b="1">
                <a:solidFill>
                  <a:srgbClr val="1E293B"/>
                </a:solidFill>
                <a:latin typeface="Microsoft YaHei"/>
              </a:rPr>
              <a:t>完全旁路化，不在关键路径。</a:t>
            </a:r>
          </a:p>
          <a:p>
            <a:pPr algn="l" eaLnBrk="1" hangingPunct="1">
              <a:lnSpc>
                <a:spcPct val="120000"/>
              </a:lnSpc>
              <a:spcAft>
                <a:spcPts val="400"/>
              </a:spcAft>
            </a:pPr>
            <a:r>
              <a:rPr sz="1100" b="1">
                <a:solidFill>
                  <a:srgbClr val="1E3A8A"/>
                </a:solidFill>
                <a:latin typeface="Microsoft YaHei"/>
              </a:rPr>
              <a:t>• kvc-daemon (节点守护进程)：</a:t>
            </a:r>
            <a:r>
              <a:rPr sz="1100" b="0">
                <a:solidFill>
                  <a:srgbClr val="1E293B"/>
                </a:solidFill>
                <a:latin typeface="Microsoft YaHei"/>
              </a:rPr>
              <a:t>每物理节点 1 个，管理 SSD 4KB 扇区分配与共享内存段。</a:t>
            </a:r>
          </a:p>
          <a:p>
            <a:pPr algn="l" eaLnBrk="1" hangingPunct="1">
              <a:lnSpc>
                <a:spcPct val="120000"/>
              </a:lnSpc>
              <a:spcAft>
                <a:spcPts val="400"/>
              </a:spcAft>
            </a:pPr>
            <a:r>
              <a:rPr sz="1100" b="1">
                <a:solidFill>
                  <a:srgbClr val="1E3A8A"/>
                </a:solidFill>
                <a:latin typeface="Microsoft YaHei"/>
              </a:rPr>
              <a:t>• libkvc_runtime (工作引擎)：</a:t>
            </a:r>
            <a:r>
              <a:rPr sz="1100" b="0">
                <a:solidFill>
                  <a:srgbClr val="1E293B"/>
                </a:solidFill>
                <a:latin typeface="Microsoft YaHei"/>
              </a:rPr>
              <a:t>与 vLLM Worker 1:1 伴生加载，执行微秒决策与 KPCL 调用，</a:t>
            </a:r>
            <a:r>
              <a:rPr sz="1100" b="1">
                <a:solidFill>
                  <a:srgbClr val="059669"/>
                </a:solidFill>
                <a:latin typeface="Microsoft YaHei"/>
              </a:rPr>
              <a:t>零 IPC 跨进程损耗。</a:t>
            </a:r>
          </a:p>
          <a:p>
            <a:pPr algn="l" eaLnBrk="1" hangingPunct="1">
              <a:lnSpc>
                <a:spcPct val="120000"/>
              </a:lnSpc>
              <a:spcAft>
                <a:spcPts val="400"/>
              </a:spcAft>
            </a:pPr>
            <a:r>
              <a:rPr sz="1100" b="1">
                <a:solidFill>
                  <a:srgbClr val="1E3A8A"/>
                </a:solidFill>
                <a:latin typeface="Microsoft YaHei"/>
              </a:rPr>
              <a:t>• kvc-io / relay (存储/中继)：</a:t>
            </a:r>
            <a:r>
              <a:rPr sz="1100" b="0">
                <a:solidFill>
                  <a:srgbClr val="1E293B"/>
                </a:solidFill>
                <a:latin typeface="Microsoft YaHei"/>
              </a:rPr>
              <a:t>独立 I/O 进程承载跨进程传输；relay 代理承载树状组播中继。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5833872"/>
            <a:ext cx="11277295" cy="694944"/>
          </a:xfrm>
          <a:prstGeom prst="rect">
            <a:avLst/>
          </a:prstGeom>
          <a:solidFill>
            <a:srgbClr val="FFFF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57200" y="5833872"/>
            <a:ext cx="73152" cy="694944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1792" y="5925312"/>
            <a:ext cx="11021263" cy="51206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8000"/>
              </a:lnSpc>
            </a:pPr>
            <a:r>
              <a:rPr sz="1150" b="1">
                <a:solidFill>
                  <a:srgbClr val="1E3A8A"/>
                </a:solidFill>
                <a:latin typeface="Microsoft YaHei"/>
              </a:rPr>
              <a:t>【部署核心决断】 </a:t>
            </a:r>
            <a:r>
              <a:rPr sz="1150" b="1">
                <a:solidFill>
                  <a:srgbClr val="1E293B"/>
                </a:solidFill>
                <a:latin typeface="Microsoft YaHei"/>
              </a:rPr>
              <a:t>管理服务彻底旁路化，节点级共享内存消除 IPC 序列化；</a:t>
            </a:r>
            <a:r>
              <a:rPr sz="1150" b="1">
                <a:solidFill>
                  <a:srgbClr val="DC2626"/>
                </a:solidFill>
                <a:latin typeface="Microsoft YaHei"/>
              </a:rPr>
              <a:t>运行时库注入 Worker 进程与硬件直通</a:t>
            </a:r>
            <a:r>
              <a:rPr sz="1150" b="1">
                <a:solidFill>
                  <a:srgbClr val="1E293B"/>
                </a:solidFill>
                <a:latin typeface="Microsoft YaHei"/>
              </a:rPr>
              <a:t>，实现单节点故障瞬时隔离、在线推理零停顿。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987552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900" b="1">
                <a:solidFill>
                  <a:srgbClr val="1E3A8A"/>
                </a:solidFill>
                <a:latin typeface="Microsoft YaHei"/>
              </a:defRPr>
            </a:pPr>
            <a:r>
              <a:t>专题三：全生命周期元数据体系设计与微秒级存取</a:t>
            </a:r>
          </a:p>
          <a:p>
            <a:pPr>
              <a:spcBef>
                <a:spcPts val="300"/>
              </a:spcBef>
              <a:defRPr sz="1100">
                <a:solidFill>
                  <a:srgbClr val="475569"/>
                </a:solidFill>
                <a:latin typeface="Microsoft YaHei"/>
              </a:defRPr>
            </a:pPr>
            <a:r>
              <a:t>自研并发自适应基数树 (ART) + 64B POD Extent 描述符 + RCU 双层宽限期延迟释放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424160" y="320040"/>
            <a:ext cx="1310335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150" b="1">
                <a:solidFill>
                  <a:srgbClr val="2563EB"/>
                </a:solidFill>
                <a:latin typeface="Microsoft YaHei"/>
              </a:defRPr>
            </a:pPr>
            <a:r>
              <a:t>第 04 / 10 页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51560"/>
            <a:ext cx="5806440" cy="4617720"/>
          </a:xfrm>
          <a:prstGeom prst="rect">
            <a:avLst/>
          </a:prstGeom>
          <a:solidFill>
            <a:srgbClr val="FFFF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kvc_metadata_sequence_fl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2064" y="1106424"/>
            <a:ext cx="5696712" cy="4507992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6382512" y="1051560"/>
            <a:ext cx="5349240" cy="2240280"/>
          </a:xfrm>
          <a:prstGeom prst="rect">
            <a:avLst/>
          </a:prstGeom>
          <a:solidFill>
            <a:srgbClr val="FFFF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382512" y="1051560"/>
            <a:ext cx="5349240" cy="292608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92240" y="1088136"/>
            <a:ext cx="5129784" cy="21945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200" b="1">
                <a:solidFill>
                  <a:srgbClr val="FFFFFF"/>
                </a:solidFill>
                <a:latin typeface="Microsoft YaHei"/>
              </a:defRPr>
            </a:pPr>
            <a:r>
              <a:t>全生命周期元数据体系与核心数据结构</a:t>
            </a:r>
            <a:r>
              <a:rPr sz="1000" b="1">
                <a:solidFill>
                  <a:srgbClr val="BFDBFE"/>
                </a:solidFill>
                <a:latin typeface="Microsoft YaHei"/>
              </a:rPr>
              <a:t>  [数据结构]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92240" y="1399032"/>
            <a:ext cx="5129784" cy="18379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 eaLnBrk="1" hangingPunct="1">
              <a:lnSpc>
                <a:spcPct val="120000"/>
              </a:lnSpc>
              <a:spcAft>
                <a:spcPts val="300"/>
              </a:spcAft>
            </a:pPr>
            <a:r>
              <a:rPr sz="1050" b="1">
                <a:solidFill>
                  <a:srgbClr val="1E3A8A"/>
                </a:solidFill>
                <a:latin typeface="Microsoft YaHei"/>
              </a:rPr>
              <a:t>• 语义前缀基数树 (ART 树)：</a:t>
            </a:r>
            <a:r>
              <a:rPr sz="1050" b="0">
                <a:solidFill>
                  <a:srgbClr val="1E293B"/>
                </a:solidFill>
                <a:latin typeface="Microsoft YaHei"/>
              </a:rPr>
              <a:t>采用无锁自适应基数树管理 Token 序列，节点内共享内存直读 &lt; 1µs，</a:t>
            </a:r>
            <a:r>
              <a:rPr sz="1050" b="1">
                <a:solidFill>
                  <a:srgbClr val="2563EB"/>
                </a:solidFill>
                <a:latin typeface="Microsoft YaHei"/>
              </a:rPr>
              <a:t>跨机单边 URMA 直读 &lt; 3µs，</a:t>
            </a:r>
            <a:r>
              <a:rPr sz="1050" b="0">
                <a:solidFill>
                  <a:srgbClr val="1E293B"/>
                </a:solidFill>
                <a:latin typeface="Microsoft YaHei"/>
              </a:rPr>
              <a:t>杜绝中心化 RPC。</a:t>
            </a:r>
          </a:p>
          <a:p>
            <a:pPr algn="l" eaLnBrk="1" hangingPunct="1">
              <a:lnSpc>
                <a:spcPct val="120000"/>
              </a:lnSpc>
              <a:spcAft>
                <a:spcPts val="300"/>
              </a:spcAft>
            </a:pPr>
            <a:r>
              <a:rPr sz="1050" b="1">
                <a:solidFill>
                  <a:srgbClr val="1E3A8A"/>
                </a:solidFill>
                <a:latin typeface="Microsoft YaHei"/>
              </a:rPr>
              <a:t>• 连续块描述符 (ExtentManifest)：</a:t>
            </a:r>
            <a:r>
              <a:rPr sz="1050" b="0">
                <a:solidFill>
                  <a:srgbClr val="1E293B"/>
                </a:solidFill>
                <a:latin typeface="Microsoft YaHei"/>
              </a:rPr>
              <a:t>自研 64B POD 连续物理块结构，严格 </a:t>
            </a:r>
            <a:r>
              <a:rPr sz="1050" b="1">
                <a:solidFill>
                  <a:srgbClr val="1E3A8A"/>
                </a:solidFill>
                <a:latin typeface="Consolas"/>
              </a:rPr>
              <a:t>alignas(64) 缓存行对齐，</a:t>
            </a:r>
            <a:r>
              <a:rPr sz="1050" b="0">
                <a:solidFill>
                  <a:srgbClr val="1E293B"/>
                </a:solidFill>
                <a:latin typeface="Microsoft YaHei"/>
              </a:rPr>
              <a:t>消除多核伪共享，直接映射 DMA 寄存器。</a:t>
            </a:r>
          </a:p>
          <a:p>
            <a:pPr algn="l" eaLnBrk="1" hangingPunct="1">
              <a:lnSpc>
                <a:spcPct val="120000"/>
              </a:lnSpc>
              <a:spcAft>
                <a:spcPts val="300"/>
              </a:spcAft>
            </a:pPr>
            <a:r>
              <a:rPr sz="1050" b="1">
                <a:solidFill>
                  <a:srgbClr val="1E3A8A"/>
                </a:solidFill>
                <a:latin typeface="Microsoft YaHei"/>
              </a:rPr>
              <a:t>• 硬件能力矩阵 (CapabilityMatrix)：</a:t>
            </a:r>
            <a:r>
              <a:rPr sz="1050" b="0">
                <a:solidFill>
                  <a:srgbClr val="1E293B"/>
                </a:solidFill>
                <a:latin typeface="Microsoft YaHei"/>
              </a:rPr>
              <a:t>在线探测节点间 RTT、有效带宽与拥塞因子，生成只读快照供 QueryPlan 决策。</a:t>
            </a:r>
          </a:p>
          <a:p>
            <a:pPr algn="l" eaLnBrk="1" hangingPunct="1">
              <a:lnSpc>
                <a:spcPct val="120000"/>
              </a:lnSpc>
              <a:spcAft>
                <a:spcPts val="300"/>
              </a:spcAft>
            </a:pPr>
            <a:r>
              <a:rPr sz="1050" b="1">
                <a:solidFill>
                  <a:srgbClr val="1E3A8A"/>
                </a:solidFill>
                <a:latin typeface="Microsoft YaHei"/>
              </a:rPr>
              <a:t>• 租约与可观测性元数据：</a:t>
            </a:r>
            <a:r>
              <a:rPr sz="1050" b="1">
                <a:solidFill>
                  <a:srgbClr val="059669"/>
                </a:solidFill>
                <a:latin typeface="Microsoft YaHei"/>
              </a:rPr>
              <a:t>毫秒级租约有效性戳、Ready 就绪原子位、引用计数及全链路 64 位 TraceID。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82512" y="3401568"/>
            <a:ext cx="5349240" cy="2267712"/>
          </a:xfrm>
          <a:prstGeom prst="rect">
            <a:avLst/>
          </a:prstGeom>
          <a:solidFill>
            <a:srgbClr val="FFFF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382512" y="3401568"/>
            <a:ext cx="5349240" cy="292608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0" y="3438144"/>
            <a:ext cx="5129784" cy="21945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200" b="1">
                <a:solidFill>
                  <a:srgbClr val="FFFFFF"/>
                </a:solidFill>
                <a:latin typeface="Microsoft YaHei"/>
              </a:defRPr>
            </a:pPr>
            <a:r>
              <a:t>九步时序交互设计细节与微秒防抖机制</a:t>
            </a:r>
            <a:r>
              <a:rPr sz="1000" b="1">
                <a:solidFill>
                  <a:srgbClr val="BFDBFE"/>
                </a:solidFill>
                <a:latin typeface="Microsoft YaHei"/>
              </a:rPr>
              <a:t>  [时序与机制]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0" y="3749040"/>
            <a:ext cx="5129784" cy="186537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 eaLnBrk="1" hangingPunct="1">
              <a:lnSpc>
                <a:spcPct val="120000"/>
              </a:lnSpc>
              <a:spcAft>
                <a:spcPts val="300"/>
              </a:spcAft>
            </a:pPr>
            <a:r>
              <a:rPr sz="1050" b="1">
                <a:solidFill>
                  <a:srgbClr val="1E3A8A"/>
                </a:solidFill>
                <a:latin typeface="Microsoft YaHei"/>
              </a:rPr>
              <a:t>• 阶段一微秒控制调度 (Step 1~6)：</a:t>
            </a:r>
            <a:r>
              <a:rPr sz="1050" b="0">
                <a:solidFill>
                  <a:srgbClr val="1E293B"/>
                </a:solidFill>
                <a:latin typeface="Microsoft YaHei"/>
              </a:rPr>
              <a:t>意图捕获、ART 查找、6 维一致性校验、选路、ViewGuard 租约与描述符编译，</a:t>
            </a:r>
            <a:r>
              <a:rPr sz="1050" b="1">
                <a:solidFill>
                  <a:srgbClr val="DC2626"/>
                </a:solidFill>
                <a:latin typeface="Microsoft YaHei"/>
              </a:rPr>
              <a:t>累计 P99 ≤ 20µs。</a:t>
            </a:r>
          </a:p>
          <a:p>
            <a:pPr algn="l" eaLnBrk="1" hangingPunct="1">
              <a:lnSpc>
                <a:spcPct val="120000"/>
              </a:lnSpc>
              <a:spcAft>
                <a:spcPts val="300"/>
              </a:spcAft>
            </a:pPr>
            <a:r>
              <a:rPr sz="1050" b="1">
                <a:solidFill>
                  <a:srgbClr val="1E3A8A"/>
                </a:solidFill>
                <a:latin typeface="Microsoft YaHei"/>
              </a:rPr>
              <a:t>• 阶段二零拷贝数据直达 (Step 7~9)：</a:t>
            </a:r>
            <a:r>
              <a:rPr sz="1050" b="0">
                <a:solidFill>
                  <a:srgbClr val="1E293B"/>
                </a:solidFill>
                <a:latin typeface="Microsoft YaHei"/>
              </a:rPr>
              <a:t>网卡/SSD line-rate DMA 直达显存，</a:t>
            </a:r>
            <a:r>
              <a:rPr sz="1050" b="1">
                <a:solidFill>
                  <a:srgbClr val="2563EB"/>
                </a:solidFill>
                <a:latin typeface="Microsoft YaHei"/>
              </a:rPr>
              <a:t>硬件 CQE 通知且多卡原子协同消除偏斜，</a:t>
            </a:r>
            <a:r>
              <a:rPr sz="1050" b="0">
                <a:solidFill>
                  <a:srgbClr val="1E293B"/>
                </a:solidFill>
                <a:latin typeface="Microsoft YaHei"/>
              </a:rPr>
              <a:t>返回 AttachHandle。</a:t>
            </a:r>
          </a:p>
          <a:p>
            <a:pPr algn="l" eaLnBrk="1" hangingPunct="1">
              <a:lnSpc>
                <a:spcPct val="120000"/>
              </a:lnSpc>
              <a:spcAft>
                <a:spcPts val="300"/>
              </a:spcAft>
            </a:pPr>
            <a:r>
              <a:rPr sz="1050" b="1">
                <a:solidFill>
                  <a:srgbClr val="1E3A8A"/>
                </a:solidFill>
                <a:latin typeface="Microsoft YaHei"/>
              </a:rPr>
              <a:t>• RCU 双层宽限期延迟释放：</a:t>
            </a:r>
            <a:r>
              <a:rPr sz="1050" b="0">
                <a:solidFill>
                  <a:srgbClr val="1E293B"/>
                </a:solidFill>
                <a:latin typeface="Microsoft YaHei"/>
              </a:rPr>
              <a:t>目录写操作采用 CAS 原子指针替换，</a:t>
            </a:r>
            <a:r>
              <a:rPr sz="1050" b="1">
                <a:solidFill>
                  <a:srgbClr val="059669"/>
                </a:solidFill>
                <a:latin typeface="Microsoft YaHei"/>
              </a:rPr>
              <a:t>等待 Host CPU 与 NPU Stream 双层宽限期</a:t>
            </a:r>
            <a:r>
              <a:rPr sz="1050" b="0">
                <a:solidFill>
                  <a:srgbClr val="1E293B"/>
                </a:solidFill>
                <a:latin typeface="Microsoft YaHei"/>
              </a:rPr>
              <a:t>后安全回收，读零锁防 UAF。</a:t>
            </a:r>
          </a:p>
          <a:p>
            <a:pPr algn="l" eaLnBrk="1" hangingPunct="1">
              <a:lnSpc>
                <a:spcPct val="120000"/>
              </a:lnSpc>
              <a:spcAft>
                <a:spcPts val="300"/>
              </a:spcAft>
            </a:pPr>
            <a:r>
              <a:rPr sz="1050" b="1">
                <a:solidFill>
                  <a:srgbClr val="1E3A8A"/>
                </a:solidFill>
                <a:latin typeface="Microsoft YaHei"/>
              </a:rPr>
              <a:t>• 负结果前置微秒拦截：</a:t>
            </a:r>
            <a:r>
              <a:rPr sz="1050" b="0">
                <a:solidFill>
                  <a:srgbClr val="1E293B"/>
                </a:solidFill>
                <a:latin typeface="Microsoft YaHei"/>
              </a:rPr>
              <a:t>冷 Prompt 查找在 &lt; 0.5µs 内快速返回未命中，立刻进入本地重算，零无效排队。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5833872"/>
            <a:ext cx="11277295" cy="694944"/>
          </a:xfrm>
          <a:prstGeom prst="rect">
            <a:avLst/>
          </a:prstGeom>
          <a:solidFill>
            <a:srgbClr val="FFFF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57200" y="5833872"/>
            <a:ext cx="73152" cy="694944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1792" y="5925312"/>
            <a:ext cx="11021263" cy="51206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8000"/>
              </a:lnSpc>
            </a:pPr>
            <a:r>
              <a:rPr sz="1150" b="1">
                <a:solidFill>
                  <a:srgbClr val="1E3A8A"/>
                </a:solidFill>
                <a:latin typeface="Microsoft YaHei"/>
              </a:rPr>
              <a:t>【元数据核心决断】 </a:t>
            </a:r>
            <a:r>
              <a:rPr sz="1150" b="1">
                <a:solidFill>
                  <a:srgbClr val="1E293B"/>
                </a:solidFill>
                <a:latin typeface="Microsoft YaHei"/>
              </a:rPr>
              <a:t>坚决自研基数树与 64B POD 描述符，杜绝 Redis/Protobuf 序列化开销；</a:t>
            </a:r>
            <a:r>
              <a:rPr sz="1150" b="1">
                <a:solidFill>
                  <a:srgbClr val="DC2626"/>
                </a:solidFill>
                <a:latin typeface="Microsoft YaHei"/>
              </a:rPr>
              <a:t>9 步时序闭环保障 0 错误消费与微秒调度，单边 URMA 直读 &lt; 3µs</a:t>
            </a:r>
            <a:r>
              <a:rPr sz="1150" b="1">
                <a:solidFill>
                  <a:srgbClr val="1E293B"/>
                </a:solidFill>
                <a:latin typeface="Microsoft YaHei"/>
              </a:rPr>
              <a:t>，为端到端 TTFT 骤降扫清控制面排队障碍。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987552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900" b="1">
                <a:solidFill>
                  <a:srgbClr val="1E3A8A"/>
                </a:solidFill>
                <a:latin typeface="Microsoft YaHei"/>
              </a:defRPr>
            </a:pPr>
            <a:r>
              <a:t>专题四：存储池三层架构 (管理/控制/数据) 隔离与底层硬件诉求</a:t>
            </a:r>
          </a:p>
          <a:p>
            <a:pPr>
              <a:spcBef>
                <a:spcPts val="300"/>
              </a:spcBef>
              <a:defRPr sz="1100">
                <a:solidFill>
                  <a:srgbClr val="475569"/>
                </a:solidFill>
                <a:latin typeface="Microsoft YaHei"/>
              </a:defRPr>
            </a:pPr>
            <a:r>
              <a:t>责任物理隔离与硬件资源刚性约束：CPU 绑核、Host DDR 旁路、PCIe TLP 聚合与 RoCE 队列映射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424160" y="320040"/>
            <a:ext cx="1310335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150" b="1">
                <a:solidFill>
                  <a:srgbClr val="2563EB"/>
                </a:solidFill>
                <a:latin typeface="Microsoft YaHei"/>
              </a:defRPr>
            </a:pPr>
            <a:r>
              <a:t>第 05 / 10 页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51560"/>
            <a:ext cx="5532120" cy="2240280"/>
          </a:xfrm>
          <a:prstGeom prst="rect">
            <a:avLst/>
          </a:prstGeom>
          <a:solidFill>
            <a:srgbClr val="FFFF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051560"/>
            <a:ext cx="5532120" cy="292608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1088136"/>
            <a:ext cx="5312664" cy="21945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200" b="1">
                <a:solidFill>
                  <a:srgbClr val="FFFFFF"/>
                </a:solidFill>
                <a:latin typeface="Microsoft YaHei"/>
              </a:defRPr>
            </a:pPr>
            <a:r>
              <a:t>1. 管理层部署形态与旁路隔离</a:t>
            </a:r>
            <a:r>
              <a:rPr sz="1000" b="1">
                <a:solidFill>
                  <a:srgbClr val="BFDBFE"/>
                </a:solidFill>
                <a:latin typeface="Microsoft YaHei"/>
              </a:rPr>
              <a:t>  [管理层职责]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399032"/>
            <a:ext cx="5312664" cy="18379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 eaLnBrk="1" hangingPunct="1">
              <a:lnSpc>
                <a:spcPct val="120000"/>
              </a:lnSpc>
              <a:spcAft>
                <a:spcPts val="400"/>
              </a:spcAft>
            </a:pPr>
            <a:r>
              <a:rPr sz="1100" b="1">
                <a:solidFill>
                  <a:srgbClr val="1E3A8A"/>
                </a:solidFill>
                <a:latin typeface="Microsoft YaHei"/>
              </a:rPr>
              <a:t>• 软件实体与形态：</a:t>
            </a:r>
            <a:r>
              <a:rPr sz="1100" b="0">
                <a:solidFill>
                  <a:srgbClr val="1E293B"/>
                </a:solidFill>
                <a:latin typeface="Microsoft YaHei"/>
              </a:rPr>
              <a:t>kvc-master 独立服务 + etcd Raft 状态机，部署于专用管理机。</a:t>
            </a:r>
          </a:p>
          <a:p>
            <a:pPr algn="l" eaLnBrk="1" hangingPunct="1">
              <a:lnSpc>
                <a:spcPct val="120000"/>
              </a:lnSpc>
              <a:spcAft>
                <a:spcPts val="400"/>
              </a:spcAft>
            </a:pPr>
            <a:r>
              <a:rPr sz="1100" b="1">
                <a:solidFill>
                  <a:srgbClr val="1E3A8A"/>
                </a:solidFill>
                <a:latin typeface="Microsoft YaHei"/>
              </a:rPr>
              <a:t>• 核心职责范围：</a:t>
            </a:r>
            <a:r>
              <a:rPr sz="1100" b="0">
                <a:solidFill>
                  <a:srgbClr val="1E293B"/>
                </a:solidFill>
                <a:latin typeface="Microsoft YaHei"/>
              </a:rPr>
              <a:t>存储拓扑收集、配额管理、介质淘汰编排、全局命名空间授权。</a:t>
            </a:r>
          </a:p>
          <a:p>
            <a:pPr algn="l" eaLnBrk="1" hangingPunct="1">
              <a:lnSpc>
                <a:spcPct val="120000"/>
              </a:lnSpc>
              <a:spcAft>
                <a:spcPts val="400"/>
              </a:spcAft>
            </a:pPr>
            <a:r>
              <a:rPr sz="1100" b="1">
                <a:solidFill>
                  <a:srgbClr val="1E3A8A"/>
                </a:solidFill>
                <a:latin typeface="Microsoft YaHei"/>
              </a:rPr>
              <a:t>• 延迟与指标边界：</a:t>
            </a:r>
            <a:r>
              <a:rPr sz="1100" b="0">
                <a:solidFill>
                  <a:srgbClr val="1E293B"/>
                </a:solidFill>
                <a:latin typeface="Microsoft YaHei"/>
              </a:rPr>
              <a:t>秒级/百毫秒级配置生效，故障 3 秒完成选主漂移，</a:t>
            </a:r>
            <a:r>
              <a:rPr sz="1100" b="1">
                <a:solidFill>
                  <a:srgbClr val="1E293B"/>
                </a:solidFill>
                <a:latin typeface="Microsoft YaHei"/>
              </a:rPr>
              <a:t>完全旁路化。</a:t>
            </a:r>
          </a:p>
          <a:p>
            <a:pPr algn="l" eaLnBrk="1" hangingPunct="1">
              <a:lnSpc>
                <a:spcPct val="120000"/>
              </a:lnSpc>
              <a:spcAft>
                <a:spcPts val="400"/>
              </a:spcAft>
            </a:pPr>
            <a:r>
              <a:rPr sz="1100" b="1">
                <a:solidFill>
                  <a:srgbClr val="1E3A8A"/>
                </a:solidFill>
                <a:latin typeface="Microsoft YaHei"/>
              </a:rPr>
              <a:t>• 资源占用约束：</a:t>
            </a:r>
            <a:r>
              <a:rPr sz="1100" b="1">
                <a:solidFill>
                  <a:srgbClr val="059669"/>
                </a:solidFill>
                <a:latin typeface="Microsoft YaHei"/>
              </a:rPr>
              <a:t>仅需 2~4 个通用 CPU 核心，完全不占用计算节点高性能计算资源。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6199632" y="1051560"/>
            <a:ext cx="5532120" cy="2240280"/>
          </a:xfrm>
          <a:prstGeom prst="rect">
            <a:avLst/>
          </a:prstGeom>
          <a:solidFill>
            <a:srgbClr val="FFFF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199632" y="1051560"/>
            <a:ext cx="5532120" cy="292608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09360" y="1088136"/>
            <a:ext cx="5312664" cy="21945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200" b="1">
                <a:solidFill>
                  <a:srgbClr val="FFFFFF"/>
                </a:solidFill>
                <a:latin typeface="Microsoft YaHei"/>
              </a:defRPr>
            </a:pPr>
            <a:r>
              <a:t>2. 控制面微秒调度与 CPU 绑核策略</a:t>
            </a:r>
            <a:r>
              <a:rPr sz="1000" b="1">
                <a:solidFill>
                  <a:srgbClr val="BFDBFE"/>
                </a:solidFill>
                <a:latin typeface="Microsoft YaHei"/>
              </a:rPr>
              <a:t>  [控制面设计]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09360" y="1399032"/>
            <a:ext cx="5312664" cy="18379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 eaLnBrk="1" hangingPunct="1">
              <a:lnSpc>
                <a:spcPct val="120000"/>
              </a:lnSpc>
              <a:spcAft>
                <a:spcPts val="400"/>
              </a:spcAft>
            </a:pPr>
            <a:r>
              <a:rPr sz="1100" b="1">
                <a:solidFill>
                  <a:srgbClr val="1E3A8A"/>
                </a:solidFill>
                <a:latin typeface="Microsoft YaHei"/>
              </a:rPr>
              <a:t>• 软件实体与形态：</a:t>
            </a:r>
            <a:r>
              <a:rPr sz="1100" b="0">
                <a:solidFill>
                  <a:srgbClr val="1E293B"/>
                </a:solidFill>
                <a:latin typeface="Microsoft YaHei"/>
              </a:rPr>
              <a:t>libkvc_runtime 进程内库 + kvc-daemon 节点级守护进程。</a:t>
            </a:r>
          </a:p>
          <a:p>
            <a:pPr algn="l" eaLnBrk="1" hangingPunct="1">
              <a:lnSpc>
                <a:spcPct val="120000"/>
              </a:lnSpc>
              <a:spcAft>
                <a:spcPts val="400"/>
              </a:spcAft>
            </a:pPr>
            <a:r>
              <a:rPr sz="1100" b="1">
                <a:solidFill>
                  <a:srgbClr val="1E3A8A"/>
                </a:solidFill>
                <a:latin typeface="Microsoft YaHei"/>
              </a:rPr>
              <a:t>• 核心职责范围：</a:t>
            </a:r>
            <a:r>
              <a:rPr sz="1100" b="0">
                <a:solidFill>
                  <a:srgbClr val="1E293B"/>
                </a:solidFill>
                <a:latin typeface="Microsoft YaHei"/>
              </a:rPr>
              <a:t>前缀索引查找、6 维一致性校验、QueryPlan 选路、描述符编译。</a:t>
            </a:r>
          </a:p>
          <a:p>
            <a:pPr algn="l" eaLnBrk="1" hangingPunct="1">
              <a:lnSpc>
                <a:spcPct val="120000"/>
              </a:lnSpc>
              <a:spcAft>
                <a:spcPts val="400"/>
              </a:spcAft>
            </a:pPr>
            <a:r>
              <a:rPr sz="1100" b="1">
                <a:solidFill>
                  <a:srgbClr val="1E3A8A"/>
                </a:solidFill>
                <a:latin typeface="Microsoft YaHei"/>
              </a:rPr>
              <a:t>• 严格 CPU 绑核隔离：</a:t>
            </a:r>
            <a:r>
              <a:rPr sz="1100" b="0">
                <a:solidFill>
                  <a:srgbClr val="1E293B"/>
                </a:solidFill>
                <a:latin typeface="Microsoft YaHei"/>
              </a:rPr>
              <a:t>每个推理 Worker 独占绑定 1 个物理 Core，</a:t>
            </a:r>
            <a:r>
              <a:rPr sz="1100" b="1">
                <a:solidFill>
                  <a:srgbClr val="2563EB"/>
                </a:solidFill>
                <a:latin typeface="Microsoft YaHei"/>
              </a:rPr>
              <a:t>消除上下文切换损耗。</a:t>
            </a:r>
          </a:p>
          <a:p>
            <a:pPr algn="l" eaLnBrk="1" hangingPunct="1">
              <a:lnSpc>
                <a:spcPct val="120000"/>
              </a:lnSpc>
              <a:spcAft>
                <a:spcPts val="400"/>
              </a:spcAft>
            </a:pPr>
            <a:r>
              <a:rPr sz="1100" b="1">
                <a:solidFill>
                  <a:srgbClr val="1E3A8A"/>
                </a:solidFill>
                <a:latin typeface="Microsoft YaHei"/>
              </a:rPr>
              <a:t>• 时延性能目标：</a:t>
            </a:r>
            <a:r>
              <a:rPr sz="1100" b="1">
                <a:solidFill>
                  <a:srgbClr val="DC2626"/>
                </a:solidFill>
                <a:latin typeface="Microsoft YaHei"/>
              </a:rPr>
              <a:t>单次选路决策 P99 &lt; 5µs，跨节点单边元数据查询 P99 &lt; 10µs。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3401568"/>
            <a:ext cx="5532120" cy="2331720"/>
          </a:xfrm>
          <a:prstGeom prst="rect">
            <a:avLst/>
          </a:prstGeom>
          <a:solidFill>
            <a:srgbClr val="FFFF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57200" y="3401568"/>
            <a:ext cx="5532120" cy="292608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66928" y="3438144"/>
            <a:ext cx="5312664" cy="21945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200" b="1">
                <a:solidFill>
                  <a:srgbClr val="FFFFFF"/>
                </a:solidFill>
                <a:latin typeface="Microsoft YaHei"/>
              </a:defRPr>
            </a:pPr>
            <a:r>
              <a:t>3. 数据面硬件直达与 Host DDR 旁路</a:t>
            </a:r>
            <a:r>
              <a:rPr sz="1000" b="1">
                <a:solidFill>
                  <a:srgbClr val="BFDBFE"/>
                </a:solidFill>
                <a:latin typeface="Microsoft YaHei"/>
              </a:rPr>
              <a:t>  [数据面设计]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66928" y="3749040"/>
            <a:ext cx="5312664" cy="19293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 eaLnBrk="1" hangingPunct="1">
              <a:lnSpc>
                <a:spcPct val="120000"/>
              </a:lnSpc>
              <a:spcAft>
                <a:spcPts val="400"/>
              </a:spcAft>
            </a:pPr>
            <a:r>
              <a:rPr sz="1100" b="1">
                <a:solidFill>
                  <a:srgbClr val="1E3A8A"/>
                </a:solidFill>
                <a:latin typeface="Microsoft YaHei"/>
              </a:rPr>
              <a:t>• 软件实体与形态：</a:t>
            </a:r>
            <a:r>
              <a:rPr sz="1100" b="0">
                <a:solidFill>
                  <a:srgbClr val="1E293B"/>
                </a:solidFill>
                <a:latin typeface="Microsoft YaHei"/>
              </a:rPr>
              <a:t>KPCL 库 + URMA/UBMEM 驱动 + io_uring NVMe 裸盘引擎。</a:t>
            </a:r>
          </a:p>
          <a:p>
            <a:pPr algn="l" eaLnBrk="1" hangingPunct="1">
              <a:lnSpc>
                <a:spcPct val="120000"/>
              </a:lnSpc>
              <a:spcAft>
                <a:spcPts val="400"/>
              </a:spcAft>
            </a:pPr>
            <a:r>
              <a:rPr sz="1100" b="1">
                <a:solidFill>
                  <a:srgbClr val="1E3A8A"/>
                </a:solidFill>
                <a:latin typeface="Microsoft YaHei"/>
              </a:rPr>
              <a:t>• Host CPU 零数据拷贝：</a:t>
            </a:r>
            <a:r>
              <a:rPr sz="1100" b="0">
                <a:solidFill>
                  <a:srgbClr val="1E293B"/>
                </a:solidFill>
                <a:latin typeface="Microsoft YaHei"/>
              </a:rPr>
              <a:t>CPU 仅下发描述符，</a:t>
            </a:r>
            <a:r>
              <a:rPr sz="1100" b="1">
                <a:solidFill>
                  <a:srgbClr val="DC2626"/>
                </a:solidFill>
                <a:latin typeface="Microsoft YaHei"/>
              </a:rPr>
              <a:t>正文搬运 CPU 占用低于 5%。</a:t>
            </a:r>
          </a:p>
          <a:p>
            <a:pPr algn="l" eaLnBrk="1" hangingPunct="1">
              <a:lnSpc>
                <a:spcPct val="120000"/>
              </a:lnSpc>
              <a:spcAft>
                <a:spcPts val="400"/>
              </a:spcAft>
            </a:pPr>
            <a:r>
              <a:rPr sz="1100" b="1">
                <a:solidFill>
                  <a:srgbClr val="1E3A8A"/>
                </a:solidFill>
                <a:latin typeface="Microsoft YaHei"/>
              </a:rPr>
              <a:t>• 严格绕过主机内存：</a:t>
            </a:r>
            <a:r>
              <a:rPr sz="1100" b="0">
                <a:solidFill>
                  <a:srgbClr val="1E293B"/>
                </a:solidFill>
                <a:latin typeface="Microsoft YaHei"/>
              </a:rPr>
              <a:t>正文直流 NVMe/网卡与 NPU HBM，</a:t>
            </a:r>
            <a:r>
              <a:rPr sz="1100" b="1">
                <a:solidFill>
                  <a:srgbClr val="059669"/>
                </a:solidFill>
                <a:latin typeface="Microsoft YaHei"/>
              </a:rPr>
              <a:t>彻底消除 Host DDR 带宽瓶颈。</a:t>
            </a:r>
          </a:p>
          <a:p>
            <a:pPr algn="l" eaLnBrk="1" hangingPunct="1">
              <a:lnSpc>
                <a:spcPct val="120000"/>
              </a:lnSpc>
              <a:spcAft>
                <a:spcPts val="400"/>
              </a:spcAft>
            </a:pPr>
            <a:r>
              <a:rPr sz="1100" b="1">
                <a:solidFill>
                  <a:srgbClr val="1E3A8A"/>
                </a:solidFill>
                <a:latin typeface="Microsoft YaHei"/>
              </a:rPr>
              <a:t>• 锁定内存配额：</a:t>
            </a:r>
            <a:r>
              <a:rPr sz="1100" b="0">
                <a:solidFill>
                  <a:srgbClr val="1E293B"/>
                </a:solidFill>
                <a:latin typeface="Microsoft YaHei"/>
              </a:rPr>
              <a:t>仅预留 8~16GB mlock 内存用于通信队列，杜绝缺页中断。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199632" y="3401568"/>
            <a:ext cx="5532120" cy="2331720"/>
          </a:xfrm>
          <a:prstGeom prst="rect">
            <a:avLst/>
          </a:prstGeom>
          <a:solidFill>
            <a:srgbClr val="FFFF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199632" y="3401568"/>
            <a:ext cx="5532120" cy="292608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09360" y="3438144"/>
            <a:ext cx="5312664" cy="21945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200" b="1">
                <a:solidFill>
                  <a:srgbClr val="FFFFFF"/>
                </a:solidFill>
                <a:latin typeface="Microsoft YaHei"/>
              </a:defRPr>
            </a:pPr>
            <a:r>
              <a:t>4. PCIe TLP 聚合与 RoCE QoS 硬件映射</a:t>
            </a:r>
            <a:r>
              <a:rPr sz="1000" b="1">
                <a:solidFill>
                  <a:srgbClr val="BFDBFE"/>
                </a:solidFill>
                <a:latin typeface="Microsoft YaHei"/>
              </a:rPr>
              <a:t>  [底层硬件诉求]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09360" y="3749040"/>
            <a:ext cx="5312664" cy="19293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 eaLnBrk="1" hangingPunct="1">
              <a:lnSpc>
                <a:spcPct val="120000"/>
              </a:lnSpc>
              <a:spcAft>
                <a:spcPts val="400"/>
              </a:spcAft>
            </a:pPr>
            <a:r>
              <a:rPr sz="1100" b="1">
                <a:solidFill>
                  <a:srgbClr val="1E3A8A"/>
                </a:solidFill>
                <a:latin typeface="Microsoft YaHei"/>
              </a:rPr>
              <a:t>• PCIe TLP 报文聚合：</a:t>
            </a:r>
            <a:r>
              <a:rPr sz="1100" b="0">
                <a:solidFill>
                  <a:srgbClr val="1E293B"/>
                </a:solidFill>
                <a:latin typeface="Microsoft YaHei"/>
              </a:rPr>
              <a:t>合并为大粒度连续传输，</a:t>
            </a:r>
            <a:r>
              <a:rPr sz="1100" b="1">
                <a:solidFill>
                  <a:srgbClr val="059669"/>
                </a:solidFill>
                <a:latin typeface="Microsoft YaHei"/>
              </a:rPr>
              <a:t>降低 PCIe 开销达 40%。</a:t>
            </a:r>
          </a:p>
          <a:p>
            <a:pPr algn="l" eaLnBrk="1" hangingPunct="1">
              <a:lnSpc>
                <a:spcPct val="120000"/>
              </a:lnSpc>
              <a:spcAft>
                <a:spcPts val="400"/>
              </a:spcAft>
            </a:pPr>
            <a:r>
              <a:rPr sz="1100" b="1">
                <a:solidFill>
                  <a:srgbClr val="1E3A8A"/>
                </a:solidFill>
                <a:latin typeface="Microsoft YaHei"/>
              </a:rPr>
              <a:t>• 硬件 QoS 优先级队列：</a:t>
            </a:r>
            <a:r>
              <a:rPr sz="1100" b="0">
                <a:solidFill>
                  <a:srgbClr val="1E293B"/>
                </a:solidFill>
                <a:latin typeface="Microsoft YaHei"/>
              </a:rPr>
              <a:t>RoCE 映射至 </a:t>
            </a:r>
            <a:r>
              <a:rPr sz="1100" b="1">
                <a:solidFill>
                  <a:srgbClr val="2563EB"/>
                </a:solidFill>
                <a:latin typeface="Microsoft YaHei"/>
              </a:rPr>
              <a:t>TC0/TC1/TC2 硬件队列，</a:t>
            </a:r>
            <a:r>
              <a:rPr sz="1100" b="0">
                <a:solidFill>
                  <a:srgbClr val="1E293B"/>
                </a:solidFill>
                <a:latin typeface="Microsoft YaHei"/>
              </a:rPr>
              <a:t>物理隔离。</a:t>
            </a:r>
          </a:p>
          <a:p>
            <a:pPr algn="l" eaLnBrk="1" hangingPunct="1">
              <a:lnSpc>
                <a:spcPct val="120000"/>
              </a:lnSpc>
              <a:spcAft>
                <a:spcPts val="400"/>
              </a:spcAft>
            </a:pPr>
            <a:r>
              <a:rPr sz="1100" b="1">
                <a:solidFill>
                  <a:srgbClr val="1E3A8A"/>
                </a:solidFill>
                <a:latin typeface="Microsoft YaHei"/>
              </a:rPr>
              <a:t>• 前后台流控自适应退避：</a:t>
            </a:r>
            <a:r>
              <a:rPr sz="1100" b="0">
                <a:solidFill>
                  <a:srgbClr val="1E293B"/>
                </a:solidFill>
                <a:latin typeface="Microsoft YaHei"/>
              </a:rPr>
              <a:t>前台 TPOT 抖动 &gt; 2% 时后台微秒退避，</a:t>
            </a:r>
            <a:r>
              <a:rPr sz="1100" b="1">
                <a:solidFill>
                  <a:srgbClr val="DC2626"/>
                </a:solidFill>
                <a:latin typeface="Microsoft YaHei"/>
              </a:rPr>
              <a:t>前台受干扰率严格 &lt; 3%。</a:t>
            </a:r>
          </a:p>
          <a:p>
            <a:pPr algn="l" eaLnBrk="1" hangingPunct="1">
              <a:lnSpc>
                <a:spcPct val="120000"/>
              </a:lnSpc>
              <a:spcAft>
                <a:spcPts val="400"/>
              </a:spcAft>
            </a:pPr>
            <a:r>
              <a:rPr sz="1100" b="1">
                <a:solidFill>
                  <a:srgbClr val="1E3A8A"/>
                </a:solidFill>
                <a:latin typeface="Microsoft YaHei"/>
              </a:rPr>
              <a:t>• 线速带宽达成门限：</a:t>
            </a:r>
            <a:r>
              <a:rPr sz="1100" b="1">
                <a:solidFill>
                  <a:srgbClr val="1E293B"/>
                </a:solidFill>
                <a:latin typeface="Microsoft YaHei"/>
              </a:rPr>
              <a:t>大块并发数据搬运达到物理网卡与 SSD 线速峰值的 ≥ 80%。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5833872"/>
            <a:ext cx="11277295" cy="694944"/>
          </a:xfrm>
          <a:prstGeom prst="rect">
            <a:avLst/>
          </a:prstGeom>
          <a:solidFill>
            <a:srgbClr val="FFFF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57200" y="5833872"/>
            <a:ext cx="73152" cy="694944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1792" y="5925312"/>
            <a:ext cx="11021263" cy="51206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8000"/>
              </a:lnSpc>
            </a:pPr>
            <a:r>
              <a:rPr sz="1150" b="1">
                <a:solidFill>
                  <a:srgbClr val="1E3A8A"/>
                </a:solidFill>
                <a:latin typeface="Microsoft YaHei"/>
              </a:rPr>
              <a:t>【资源隔离核心决断】 </a:t>
            </a:r>
            <a:r>
              <a:rPr sz="1150" b="1">
                <a:solidFill>
                  <a:srgbClr val="1E293B"/>
                </a:solidFill>
                <a:latin typeface="Microsoft YaHei"/>
              </a:rPr>
              <a:t>管理层完全旁路化、控制面独占核心避免抖动、数据面硬件直达绕过 Host DDR；</a:t>
            </a:r>
            <a:r>
              <a:rPr sz="1150" b="1">
                <a:solidFill>
                  <a:srgbClr val="DC2626"/>
                </a:solidFill>
                <a:latin typeface="Microsoft YaHei"/>
              </a:rPr>
              <a:t>结合 RoCE QoS 硬件队列绑定与微秒自适应退避，将前台干扰严格锁死在 &lt; 3%</a:t>
            </a:r>
            <a:r>
              <a:rPr sz="1150" b="1">
                <a:solidFill>
                  <a:srgbClr val="1E293B"/>
                </a:solidFill>
                <a:latin typeface="Microsoft YaHei"/>
              </a:rPr>
              <a:t>，实现生产级前后台混压平稳运行。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987552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900" b="1">
                <a:solidFill>
                  <a:srgbClr val="1E3A8A"/>
                </a:solidFill>
                <a:latin typeface="Microsoft YaHei"/>
              </a:defRPr>
            </a:pPr>
            <a:r>
              <a:t>专题五：12 类推理场景深度映射与控制/数据通信模式</a:t>
            </a:r>
          </a:p>
          <a:p>
            <a:pPr>
              <a:spcBef>
                <a:spcPts val="300"/>
              </a:spcBef>
              <a:defRPr sz="1100">
                <a:solidFill>
                  <a:srgbClr val="475569"/>
                </a:solidFill>
                <a:latin typeface="Microsoft YaHei"/>
              </a:defRPr>
            </a:pPr>
            <a:r>
              <a:t>RAG、多轮会话、PD 分离解耦、超长上下文分块预计算与多 Agent 分支深度适配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424160" y="320040"/>
            <a:ext cx="1310335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150" b="1">
                <a:solidFill>
                  <a:srgbClr val="2563EB"/>
                </a:solidFill>
                <a:latin typeface="Microsoft YaHei"/>
              </a:defRPr>
            </a:pPr>
            <a:r>
              <a:t>第 06 / 10 页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51560"/>
            <a:ext cx="5806440" cy="4617720"/>
          </a:xfrm>
          <a:prstGeom prst="rect">
            <a:avLst/>
          </a:prstGeom>
          <a:solidFill>
            <a:srgbClr val="FFFF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kvc_kpcl_traffic_pattern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2064" y="1106424"/>
            <a:ext cx="5696712" cy="4507992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6382512" y="1051560"/>
            <a:ext cx="5349240" cy="2240280"/>
          </a:xfrm>
          <a:prstGeom prst="rect">
            <a:avLst/>
          </a:prstGeom>
          <a:solidFill>
            <a:srgbClr val="FFFF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382512" y="1051560"/>
            <a:ext cx="5349240" cy="292608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92240" y="1088136"/>
            <a:ext cx="5129784" cy="21945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200" b="1">
                <a:solidFill>
                  <a:srgbClr val="FFFFFF"/>
                </a:solidFill>
                <a:latin typeface="Microsoft YaHei"/>
              </a:defRPr>
            </a:pPr>
            <a:r>
              <a:t>12 类典型推理场景与数据流转设想</a:t>
            </a:r>
            <a:r>
              <a:rPr sz="1000" b="1">
                <a:solidFill>
                  <a:srgbClr val="BFDBFE"/>
                </a:solidFill>
                <a:latin typeface="Microsoft YaHei"/>
              </a:rPr>
              <a:t>  [业务流转]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92240" y="1399032"/>
            <a:ext cx="5129784" cy="18379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 eaLnBrk="1" hangingPunct="1">
              <a:lnSpc>
                <a:spcPct val="120000"/>
              </a:lnSpc>
              <a:spcAft>
                <a:spcPts val="300"/>
              </a:spcAft>
            </a:pPr>
            <a:r>
              <a:rPr sz="1050" b="1">
                <a:solidFill>
                  <a:srgbClr val="1E3A8A"/>
                </a:solidFill>
                <a:latin typeface="Microsoft YaHei"/>
              </a:rPr>
              <a:t>• 长前缀与 RAG 知识检索：</a:t>
            </a:r>
            <a:r>
              <a:rPr sz="1050" b="0">
                <a:solidFill>
                  <a:srgbClr val="1E293B"/>
                </a:solidFill>
                <a:latin typeface="Microsoft YaHei"/>
              </a:rPr>
              <a:t>高复用、读多写少；微秒匹配前缀树，</a:t>
            </a:r>
            <a:r>
              <a:rPr sz="1050" b="1">
                <a:solidFill>
                  <a:srgbClr val="2563EB"/>
                </a:solidFill>
                <a:latin typeface="Microsoft YaHei"/>
              </a:rPr>
              <a:t>批量加载数十至数百 MB 连续块压低 TTFT。</a:t>
            </a:r>
          </a:p>
          <a:p>
            <a:pPr algn="l" eaLnBrk="1" hangingPunct="1">
              <a:lnSpc>
                <a:spcPct val="120000"/>
              </a:lnSpc>
              <a:spcAft>
                <a:spcPts val="300"/>
              </a:spcAft>
            </a:pPr>
            <a:r>
              <a:rPr sz="1050" b="1">
                <a:solidFill>
                  <a:srgbClr val="1E3A8A"/>
                </a:solidFill>
                <a:latin typeface="Microsoft YaHei"/>
              </a:rPr>
              <a:t>• PD 算力分离解耦交接：</a:t>
            </a:r>
            <a:r>
              <a:rPr sz="1050" b="0">
                <a:solidFill>
                  <a:srgbClr val="1E293B"/>
                </a:solidFill>
                <a:latin typeface="Microsoft YaHei"/>
              </a:rPr>
              <a:t>Prefill 完成后突发线速写入，</a:t>
            </a:r>
            <a:r>
              <a:rPr sz="1050" b="1">
                <a:solidFill>
                  <a:srgbClr val="DC2626"/>
                </a:solidFill>
                <a:latin typeface="Microsoft YaHei"/>
              </a:rPr>
              <a:t>Decode 一次性拉取且消除显存争用。</a:t>
            </a:r>
          </a:p>
          <a:p>
            <a:pPr algn="l" eaLnBrk="1" hangingPunct="1">
              <a:lnSpc>
                <a:spcPct val="120000"/>
              </a:lnSpc>
              <a:spcAft>
                <a:spcPts val="300"/>
              </a:spcAft>
            </a:pPr>
            <a:r>
              <a:rPr sz="1050" b="1">
                <a:solidFill>
                  <a:srgbClr val="1E3A8A"/>
                </a:solidFill>
                <a:latin typeface="Microsoft YaHei"/>
              </a:rPr>
              <a:t>• 多轮对话与 Agent 分支推演：</a:t>
            </a:r>
            <a:r>
              <a:rPr sz="1050" b="0">
                <a:solidFill>
                  <a:srgbClr val="1E293B"/>
                </a:solidFill>
                <a:latin typeface="Microsoft YaHei"/>
              </a:rPr>
              <a:t>活跃前缀保存在本地 HBM，</a:t>
            </a:r>
            <a:r>
              <a:rPr sz="1050" b="1">
                <a:solidFill>
                  <a:srgbClr val="059669"/>
                </a:solidFill>
                <a:latin typeface="Microsoft YaHei"/>
              </a:rPr>
              <a:t>冷分支异步沉淀至 NVMe SSD，</a:t>
            </a:r>
            <a:r>
              <a:rPr sz="1050" b="0">
                <a:solidFill>
                  <a:srgbClr val="1E293B"/>
                </a:solidFill>
                <a:latin typeface="Microsoft YaHei"/>
              </a:rPr>
              <a:t>读写平滑演进。</a:t>
            </a:r>
          </a:p>
          <a:p>
            <a:pPr algn="l" eaLnBrk="1" hangingPunct="1">
              <a:lnSpc>
                <a:spcPct val="120000"/>
              </a:lnSpc>
              <a:spcAft>
                <a:spcPts val="300"/>
              </a:spcAft>
            </a:pPr>
            <a:r>
              <a:rPr sz="1050" b="1">
                <a:solidFill>
                  <a:srgbClr val="1E3A8A"/>
                </a:solidFill>
                <a:latin typeface="Microsoft YaHei"/>
              </a:rPr>
              <a:t>• Chunked 分块计算重叠：</a:t>
            </a:r>
            <a:r>
              <a:rPr sz="1050" b="0">
                <a:solidFill>
                  <a:srgbClr val="1E293B"/>
                </a:solidFill>
                <a:latin typeface="Microsoft YaHei"/>
              </a:rPr>
              <a:t>分块边算当前层边搬运后续 KV，</a:t>
            </a:r>
            <a:r>
              <a:rPr sz="1050" b="1">
                <a:solidFill>
                  <a:srgbClr val="059669"/>
                </a:solidFill>
                <a:latin typeface="Microsoft YaHei"/>
              </a:rPr>
              <a:t>实现算传深度掩盖。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82512" y="3401568"/>
            <a:ext cx="5349240" cy="2267712"/>
          </a:xfrm>
          <a:prstGeom prst="rect">
            <a:avLst/>
          </a:prstGeom>
          <a:solidFill>
            <a:srgbClr val="FFFF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382512" y="3401568"/>
            <a:ext cx="5349240" cy="292608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0" y="3438144"/>
            <a:ext cx="5129784" cy="21945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200" b="1">
                <a:solidFill>
                  <a:srgbClr val="FFFFFF"/>
                </a:solidFill>
                <a:latin typeface="Microsoft YaHei"/>
              </a:defRPr>
            </a:pPr>
            <a:r>
              <a:t>四大核心通信模式实现设想与工程细节</a:t>
            </a:r>
            <a:r>
              <a:rPr sz="1000" b="1">
                <a:solidFill>
                  <a:srgbClr val="BFDBFE"/>
                </a:solidFill>
                <a:latin typeface="Microsoft YaHei"/>
              </a:rPr>
              <a:t>  [通信模式细节]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0" y="3749040"/>
            <a:ext cx="5129784" cy="186537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 eaLnBrk="1" hangingPunct="1">
              <a:lnSpc>
                <a:spcPct val="120000"/>
              </a:lnSpc>
              <a:spcAft>
                <a:spcPts val="300"/>
              </a:spcAft>
            </a:pPr>
            <a:r>
              <a:rPr sz="1050" b="1">
                <a:solidFill>
                  <a:srgbClr val="1E3A8A"/>
                </a:solidFill>
                <a:latin typeface="Microsoft YaHei"/>
              </a:rPr>
              <a:t>• 模式 1 突发巨脉冲传输设想：</a:t>
            </a:r>
            <a:r>
              <a:rPr sz="1050" b="0">
                <a:solidFill>
                  <a:srgbClr val="1E293B"/>
                </a:solidFill>
                <a:latin typeface="Microsoft YaHei"/>
              </a:rPr>
              <a:t>Prefill 瞬间爆发百 MB 写入；KPCL 预注册大块显存，</a:t>
            </a:r>
            <a:r>
              <a:rPr sz="1050" b="1">
                <a:solidFill>
                  <a:srgbClr val="DC2626"/>
                </a:solidFill>
                <a:latin typeface="Microsoft YaHei"/>
              </a:rPr>
              <a:t>400G 线速搬运压榨带宽。</a:t>
            </a:r>
          </a:p>
          <a:p>
            <a:pPr algn="l" eaLnBrk="1" hangingPunct="1">
              <a:lnSpc>
                <a:spcPct val="120000"/>
              </a:lnSpc>
              <a:spcAft>
                <a:spcPts val="300"/>
              </a:spcAft>
            </a:pPr>
            <a:r>
              <a:rPr sz="1050" b="1">
                <a:solidFill>
                  <a:srgbClr val="1E3A8A"/>
                </a:solidFill>
                <a:latin typeface="Microsoft YaHei"/>
              </a:rPr>
              <a:t>• 模式 2 离散块聚合传输设想：</a:t>
            </a:r>
            <a:r>
              <a:rPr sz="1050" b="0">
                <a:solidFill>
                  <a:srgbClr val="1E293B"/>
                </a:solidFill>
                <a:latin typeface="Microsoft YaHei"/>
              </a:rPr>
              <a:t>针对 64KB/128KB 物理 Page，</a:t>
            </a:r>
            <a:r>
              <a:rPr sz="1050" b="1">
                <a:solidFill>
                  <a:srgbClr val="2563EB"/>
                </a:solidFill>
                <a:latin typeface="Microsoft YaHei"/>
              </a:rPr>
              <a:t>编译 SG 描述符单次下发数百块，PCIe 聚合。</a:t>
            </a:r>
          </a:p>
          <a:p>
            <a:pPr algn="l" eaLnBrk="1" hangingPunct="1">
              <a:lnSpc>
                <a:spcPct val="120000"/>
              </a:lnSpc>
              <a:spcAft>
                <a:spcPts val="300"/>
              </a:spcAft>
            </a:pPr>
            <a:r>
              <a:rPr sz="1050" b="1">
                <a:solidFill>
                  <a:srgbClr val="1E3A8A"/>
                </a:solidFill>
                <a:latin typeface="Microsoft YaHei"/>
              </a:rPr>
              <a:t>• 模式 3 分层直达扩容流设想：</a:t>
            </a:r>
            <a:r>
              <a:rPr sz="1050" b="0">
                <a:solidFill>
                  <a:srgbClr val="1E293B"/>
                </a:solidFill>
                <a:latin typeface="Microsoft YaHei"/>
              </a:rPr>
              <a:t>温冷 KV 沉淀至 SSD；4KB 扇区对齐，</a:t>
            </a:r>
            <a:r>
              <a:rPr sz="1050" b="1">
                <a:solidFill>
                  <a:srgbClr val="059669"/>
                </a:solidFill>
                <a:latin typeface="Microsoft YaHei"/>
              </a:rPr>
              <a:t>io_uring 裸盘直达，严格绕过 Host DDR。</a:t>
            </a:r>
          </a:p>
          <a:p>
            <a:pPr algn="l" eaLnBrk="1" hangingPunct="1">
              <a:lnSpc>
                <a:spcPct val="120000"/>
              </a:lnSpc>
              <a:spcAft>
                <a:spcPts val="300"/>
              </a:spcAft>
            </a:pPr>
            <a:r>
              <a:rPr sz="1050" b="1">
                <a:solidFill>
                  <a:srgbClr val="1E3A8A"/>
                </a:solidFill>
                <a:latin typeface="Microsoft YaHei"/>
              </a:rPr>
              <a:t>• 模式 4 多卡协同流组设想：</a:t>
            </a:r>
            <a:r>
              <a:rPr sz="1050" b="0">
                <a:solidFill>
                  <a:srgbClr val="1E293B"/>
                </a:solidFill>
                <a:latin typeface="Microsoft YaHei"/>
              </a:rPr>
              <a:t>TP=8 场景 8 卡子流协同，</a:t>
            </a:r>
            <a:r>
              <a:rPr sz="1050" b="1">
                <a:solidFill>
                  <a:srgbClr val="DC2626"/>
                </a:solidFill>
                <a:latin typeface="Microsoft YaHei"/>
              </a:rPr>
              <a:t>原子 Doorbell 触发并发 DMA，消除偏斜 (Skew &lt; 1.15)。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5833872"/>
            <a:ext cx="11277295" cy="694944"/>
          </a:xfrm>
          <a:prstGeom prst="rect">
            <a:avLst/>
          </a:prstGeom>
          <a:solidFill>
            <a:srgbClr val="FFFF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57200" y="5833872"/>
            <a:ext cx="73152" cy="694944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1792" y="5925312"/>
            <a:ext cx="11021263" cy="51206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8000"/>
              </a:lnSpc>
            </a:pPr>
            <a:r>
              <a:rPr sz="1150" b="1">
                <a:solidFill>
                  <a:srgbClr val="1E3A8A"/>
                </a:solidFill>
                <a:latin typeface="Microsoft YaHei"/>
              </a:rPr>
              <a:t>【通信模式核心决断】 </a:t>
            </a:r>
            <a:r>
              <a:rPr sz="1150" b="1">
                <a:solidFill>
                  <a:srgbClr val="1E293B"/>
                </a:solidFill>
                <a:latin typeface="Microsoft YaHei"/>
              </a:rPr>
              <a:t>针对不同业务流量因地制宜：大块 PD 搬运线速压榨，离散物理块 SG 聚合提交；</a:t>
            </a:r>
            <a:r>
              <a:rPr sz="1150" b="1">
                <a:solidFill>
                  <a:srgbClr val="DC2626"/>
                </a:solidFill>
                <a:latin typeface="Microsoft YaHei"/>
              </a:rPr>
              <a:t>io_uring 裸盘直达绕过 Host DDR，TP=8 原子 Doorbell 协同消除多卡偏斜</a:t>
            </a:r>
            <a:r>
              <a:rPr sz="1150" b="1">
                <a:solidFill>
                  <a:srgbClr val="1E293B"/>
                </a:solidFill>
                <a:latin typeface="Microsoft YaHei"/>
              </a:rPr>
              <a:t>，实现全场景大模型长文本推理的端到端加速与容量扩展。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987552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900" b="1">
                <a:solidFill>
                  <a:srgbClr val="1E3A8A"/>
                </a:solidFill>
                <a:latin typeface="Microsoft YaHei"/>
              </a:defRPr>
            </a:pPr>
            <a:r>
              <a:t>专题六：底层通信库 (KPCL) 流量特征抽象与刚性需求导入</a:t>
            </a:r>
          </a:p>
          <a:p>
            <a:pPr>
              <a:spcBef>
                <a:spcPts val="300"/>
              </a:spcBef>
              <a:defRPr sz="1100">
                <a:solidFill>
                  <a:srgbClr val="475569"/>
                </a:solidFill>
                <a:latin typeface="Microsoft YaHei"/>
              </a:defRPr>
            </a:pPr>
            <a:r>
              <a:t>责任边界清晰切分：上层业务模型与流量特征导入者 vs 底层通信原语与硬件资源执行者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424160" y="320040"/>
            <a:ext cx="1310335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150" b="1">
                <a:solidFill>
                  <a:srgbClr val="2563EB"/>
                </a:solidFill>
                <a:latin typeface="Microsoft YaHei"/>
              </a:defRPr>
            </a:pPr>
            <a:r>
              <a:t>第 07 / 10 页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51560"/>
            <a:ext cx="5532120" cy="2240280"/>
          </a:xfrm>
          <a:prstGeom prst="rect">
            <a:avLst/>
          </a:prstGeom>
          <a:solidFill>
            <a:srgbClr val="FFFF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051560"/>
            <a:ext cx="5532120" cy="292608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1088136"/>
            <a:ext cx="5312664" cy="21945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200" b="1">
                <a:solidFill>
                  <a:srgbClr val="FFFFFF"/>
                </a:solidFill>
                <a:latin typeface="Microsoft YaHei"/>
              </a:defRPr>
            </a:pPr>
            <a:r>
              <a:t>1. KVC 存储池与 KPCL 库的责任边界</a:t>
            </a:r>
            <a:r>
              <a:rPr sz="1000" b="1">
                <a:solidFill>
                  <a:srgbClr val="BFDBFE"/>
                </a:solidFill>
                <a:latin typeface="Microsoft YaHei"/>
              </a:rPr>
              <a:t>  [架构定位]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399032"/>
            <a:ext cx="5312664" cy="18379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 eaLnBrk="1" hangingPunct="1">
              <a:lnSpc>
                <a:spcPct val="120000"/>
              </a:lnSpc>
              <a:spcAft>
                <a:spcPts val="400"/>
              </a:spcAft>
            </a:pPr>
            <a:r>
              <a:rPr sz="1100" b="1">
                <a:solidFill>
                  <a:srgbClr val="1E3A8A"/>
                </a:solidFill>
                <a:latin typeface="Microsoft YaHei"/>
              </a:rPr>
              <a:t>• KVC 软件定位：</a:t>
            </a:r>
            <a:r>
              <a:rPr sz="1100" b="0">
                <a:solidFill>
                  <a:srgbClr val="1E293B"/>
                </a:solidFill>
                <a:latin typeface="Microsoft YaHei"/>
              </a:rPr>
              <a:t>负责上层需求导入、前缀语义与版本校验，</a:t>
            </a:r>
            <a:r>
              <a:rPr sz="1100" b="1">
                <a:solidFill>
                  <a:srgbClr val="1E293B"/>
                </a:solidFill>
                <a:latin typeface="Microsoft YaHei"/>
              </a:rPr>
              <a:t>评估选路收益与流组优先级。</a:t>
            </a:r>
          </a:p>
          <a:p>
            <a:pPr algn="l" eaLnBrk="1" hangingPunct="1">
              <a:lnSpc>
                <a:spcPct val="120000"/>
              </a:lnSpc>
              <a:spcAft>
                <a:spcPts val="400"/>
              </a:spcAft>
            </a:pPr>
            <a:r>
              <a:rPr sz="1100" b="1">
                <a:solidFill>
                  <a:srgbClr val="1E3A8A"/>
                </a:solidFill>
                <a:latin typeface="Microsoft YaHei"/>
              </a:rPr>
              <a:t>• KPCL 库定位：</a:t>
            </a:r>
            <a:r>
              <a:rPr sz="1100" b="0">
                <a:solidFill>
                  <a:srgbClr val="1E293B"/>
                </a:solidFill>
                <a:latin typeface="Microsoft YaHei"/>
              </a:rPr>
              <a:t>封装底层 URMA/UBMEM 硬件驱动细节，</a:t>
            </a:r>
            <a:r>
              <a:rPr sz="1100" b="1">
                <a:solidFill>
                  <a:srgbClr val="2563EB"/>
                </a:solidFill>
                <a:latin typeface="Microsoft YaHei"/>
              </a:rPr>
              <a:t>负责显存注册、队列与硬件搬运。</a:t>
            </a:r>
          </a:p>
          <a:p>
            <a:pPr algn="l" eaLnBrk="1" hangingPunct="1">
              <a:lnSpc>
                <a:spcPct val="120000"/>
              </a:lnSpc>
              <a:spcAft>
                <a:spcPts val="400"/>
              </a:spcAft>
            </a:pPr>
            <a:r>
              <a:rPr sz="1100" b="1">
                <a:solidFill>
                  <a:srgbClr val="1E3A8A"/>
                </a:solidFill>
                <a:latin typeface="Microsoft YaHei"/>
              </a:rPr>
              <a:t>• 双方解耦契约：</a:t>
            </a:r>
            <a:r>
              <a:rPr sz="1100" b="0">
                <a:solidFill>
                  <a:srgbClr val="1E293B"/>
                </a:solidFill>
                <a:latin typeface="Microsoft YaHei"/>
              </a:rPr>
              <a:t>KVC 绝不直接调用原生 URMA/UBMEM API，北向统一面向 KPCL 抽象规范交互。</a:t>
            </a:r>
          </a:p>
          <a:p>
            <a:pPr algn="l" eaLnBrk="1" hangingPunct="1">
              <a:lnSpc>
                <a:spcPct val="120000"/>
              </a:lnSpc>
              <a:spcAft>
                <a:spcPts val="400"/>
              </a:spcAft>
            </a:pPr>
            <a:r>
              <a:rPr sz="1100" b="1">
                <a:solidFill>
                  <a:srgbClr val="1E3A8A"/>
                </a:solidFill>
                <a:latin typeface="Microsoft YaHei"/>
              </a:rPr>
              <a:t>• 联合验收基线：</a:t>
            </a:r>
            <a:r>
              <a:rPr sz="1100" b="1">
                <a:solidFill>
                  <a:srgbClr val="059669"/>
                </a:solidFill>
                <a:latin typeface="Microsoft YaHei"/>
              </a:rPr>
              <a:t>在重注册、节点迁移与异常退出下保证句柄与数据完整性。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6199632" y="1051560"/>
            <a:ext cx="5532120" cy="2240280"/>
          </a:xfrm>
          <a:prstGeom prst="rect">
            <a:avLst/>
          </a:prstGeom>
          <a:solidFill>
            <a:srgbClr val="FFFF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199632" y="1051560"/>
            <a:ext cx="5532120" cy="292608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09360" y="1088136"/>
            <a:ext cx="5312664" cy="21945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200" b="1">
                <a:solidFill>
                  <a:srgbClr val="FFFFFF"/>
                </a:solidFill>
                <a:latin typeface="Microsoft YaHei"/>
              </a:defRPr>
            </a:pPr>
            <a:r>
              <a:t>2. 四大核心通信流量模型抽象</a:t>
            </a:r>
            <a:r>
              <a:rPr sz="1000" b="1">
                <a:solidFill>
                  <a:srgbClr val="BFDBFE"/>
                </a:solidFill>
                <a:latin typeface="Microsoft YaHei"/>
              </a:rPr>
              <a:t>  [流量特征]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09360" y="1399032"/>
            <a:ext cx="5312664" cy="18379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 eaLnBrk="1" hangingPunct="1">
              <a:lnSpc>
                <a:spcPct val="120000"/>
              </a:lnSpc>
              <a:spcAft>
                <a:spcPts val="400"/>
              </a:spcAft>
            </a:pPr>
            <a:r>
              <a:rPr sz="1100" b="1">
                <a:solidFill>
                  <a:srgbClr val="1E3A8A"/>
                </a:solidFill>
                <a:latin typeface="Microsoft YaHei"/>
              </a:rPr>
              <a:t>• 突发巨脉冲模型 (Bursty)：</a:t>
            </a:r>
            <a:r>
              <a:rPr sz="1100" b="0">
                <a:solidFill>
                  <a:srgbClr val="1E293B"/>
                </a:solidFill>
                <a:latin typeface="Microsoft YaHei"/>
              </a:rPr>
              <a:t>Prefill 结束瞬间突发百 MB 传输后静默，</a:t>
            </a:r>
            <a:r>
              <a:rPr sz="1100" b="1">
                <a:solidFill>
                  <a:srgbClr val="2563EB"/>
                </a:solidFill>
                <a:latin typeface="Microsoft YaHei"/>
              </a:rPr>
              <a:t>要求底层通信缓冲深容忍。</a:t>
            </a:r>
          </a:p>
          <a:p>
            <a:pPr algn="l" eaLnBrk="1" hangingPunct="1">
              <a:lnSpc>
                <a:spcPct val="120000"/>
              </a:lnSpc>
              <a:spcAft>
                <a:spcPts val="400"/>
              </a:spcAft>
            </a:pPr>
            <a:r>
              <a:rPr sz="1100" b="1">
                <a:solidFill>
                  <a:srgbClr val="1E3A8A"/>
                </a:solidFill>
                <a:latin typeface="Microsoft YaHei"/>
              </a:rPr>
              <a:t>• 离散 Extent 聚合模型：</a:t>
            </a:r>
            <a:r>
              <a:rPr sz="1100" b="0">
                <a:solidFill>
                  <a:srgbClr val="1E293B"/>
                </a:solidFill>
                <a:latin typeface="Microsoft YaHei"/>
              </a:rPr>
              <a:t>报文由数百个 64KB/128KB 物理 Page 构成，</a:t>
            </a:r>
            <a:r>
              <a:rPr sz="1100" b="1">
                <a:solidFill>
                  <a:srgbClr val="059669"/>
                </a:solidFill>
                <a:latin typeface="Microsoft YaHei"/>
              </a:rPr>
              <a:t>要求硬件原生 SG-List。</a:t>
            </a:r>
          </a:p>
          <a:p>
            <a:pPr algn="l" eaLnBrk="1" hangingPunct="1">
              <a:lnSpc>
                <a:spcPct val="120000"/>
              </a:lnSpc>
              <a:spcAft>
                <a:spcPts val="400"/>
              </a:spcAft>
            </a:pPr>
            <a:r>
              <a:rPr sz="1100" b="1">
                <a:solidFill>
                  <a:srgbClr val="1E3A8A"/>
                </a:solidFill>
                <a:latin typeface="Microsoft YaHei"/>
              </a:rPr>
              <a:t>• TP Coflow 协同流组模型：</a:t>
            </a:r>
            <a:r>
              <a:rPr sz="1100" b="0">
                <a:solidFill>
                  <a:srgbClr val="1E293B"/>
                </a:solidFill>
                <a:latin typeface="Microsoft YaHei"/>
              </a:rPr>
              <a:t>TP=8 场景 8 张卡子流协同到达，</a:t>
            </a:r>
            <a:r>
              <a:rPr sz="1100" b="1">
                <a:solidFill>
                  <a:srgbClr val="DC2626"/>
                </a:solidFill>
                <a:latin typeface="Microsoft YaHei"/>
              </a:rPr>
              <a:t>消除木桶短板且偏斜 Skew &lt; 1.15。</a:t>
            </a:r>
          </a:p>
          <a:p>
            <a:pPr algn="l" eaLnBrk="1" hangingPunct="1">
              <a:lnSpc>
                <a:spcPct val="120000"/>
              </a:lnSpc>
              <a:spcAft>
                <a:spcPts val="400"/>
              </a:spcAft>
            </a:pPr>
            <a:r>
              <a:rPr sz="1100" b="1">
                <a:solidFill>
                  <a:srgbClr val="1E3A8A"/>
                </a:solidFill>
                <a:latin typeface="Microsoft YaHei"/>
              </a:rPr>
              <a:t>• N-to-1 Incast 突发汇聚：</a:t>
            </a:r>
            <a:r>
              <a:rPr sz="1100" b="0">
                <a:solidFill>
                  <a:srgbClr val="1E293B"/>
                </a:solidFill>
                <a:latin typeface="Microsoft YaHei"/>
              </a:rPr>
              <a:t>多节点拉取热点前缀，要求 KPCL 自适应反压步调整形 (Pacing)。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3401568"/>
            <a:ext cx="5532120" cy="2331720"/>
          </a:xfrm>
          <a:prstGeom prst="rect">
            <a:avLst/>
          </a:prstGeom>
          <a:solidFill>
            <a:srgbClr val="FFFF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57200" y="3401568"/>
            <a:ext cx="5532120" cy="292608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66928" y="3438144"/>
            <a:ext cx="5312664" cy="21945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200" b="1">
                <a:solidFill>
                  <a:srgbClr val="FFFFFF"/>
                </a:solidFill>
                <a:latin typeface="Microsoft YaHei"/>
              </a:defRPr>
            </a:pPr>
            <a:r>
              <a:t>3. 输入给 KPCL 团队的工作负载画像</a:t>
            </a:r>
            <a:r>
              <a:rPr sz="1000" b="1">
                <a:solidFill>
                  <a:srgbClr val="BFDBFE"/>
                </a:solidFill>
                <a:latin typeface="Microsoft YaHei"/>
              </a:rPr>
              <a:t>  [需求输入]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66928" y="3749040"/>
            <a:ext cx="5312664" cy="19293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 eaLnBrk="1" hangingPunct="1">
              <a:lnSpc>
                <a:spcPct val="120000"/>
              </a:lnSpc>
              <a:spcAft>
                <a:spcPts val="400"/>
              </a:spcAft>
            </a:pPr>
            <a:r>
              <a:rPr sz="1100" b="1">
                <a:solidFill>
                  <a:srgbClr val="1E3A8A"/>
                </a:solidFill>
                <a:latin typeface="Microsoft YaHei"/>
              </a:rPr>
              <a:t>• 业务与调度维度：</a:t>
            </a:r>
            <a:r>
              <a:rPr sz="1100" b="1">
                <a:solidFill>
                  <a:srgbClr val="1E3A8A"/>
                </a:solidFill>
                <a:latin typeface="Consolas"/>
              </a:rPr>
              <a:t>scenario_id, request_id, coflow_group_id, rank_id, layer_id。</a:t>
            </a:r>
          </a:p>
          <a:p>
            <a:pPr algn="l" eaLnBrk="1" hangingPunct="1">
              <a:lnSpc>
                <a:spcPct val="120000"/>
              </a:lnSpc>
              <a:spcAft>
                <a:spcPts val="400"/>
              </a:spcAft>
            </a:pPr>
            <a:r>
              <a:rPr sz="1100" b="1">
                <a:solidFill>
                  <a:srgbClr val="1E3A8A"/>
                </a:solidFill>
                <a:latin typeface="Microsoft YaHei"/>
              </a:rPr>
              <a:t>• 空间与规模维度：</a:t>
            </a:r>
            <a:r>
              <a:rPr sz="1100" b="1">
                <a:solidFill>
                  <a:srgbClr val="1E3A8A"/>
                </a:solidFill>
                <a:latin typeface="Consolas"/>
              </a:rPr>
              <a:t>src/dst_node, tier, total_payload_bytes, num_extents, alignment。</a:t>
            </a:r>
          </a:p>
          <a:p>
            <a:pPr algn="l" eaLnBrk="1" hangingPunct="1">
              <a:lnSpc>
                <a:spcPct val="120000"/>
              </a:lnSpc>
              <a:spcAft>
                <a:spcPts val="400"/>
              </a:spcAft>
            </a:pPr>
            <a:r>
              <a:rPr sz="1100" b="1">
                <a:solidFill>
                  <a:srgbClr val="1E3A8A"/>
                </a:solidFill>
                <a:latin typeface="Microsoft YaHei"/>
              </a:rPr>
              <a:t>• 时限与优先级维度：</a:t>
            </a:r>
            <a:r>
              <a:rPr sz="1100" b="1">
                <a:solidFill>
                  <a:srgbClr val="1E3A8A"/>
                </a:solidFill>
                <a:latin typeface="Consolas"/>
              </a:rPr>
              <a:t>deadline_timeout_us, layer0_deadline_us, traffic_class (TC0/1/2)。</a:t>
            </a:r>
          </a:p>
          <a:p>
            <a:pPr algn="l" eaLnBrk="1" hangingPunct="1">
              <a:lnSpc>
                <a:spcPct val="120000"/>
              </a:lnSpc>
              <a:spcAft>
                <a:spcPts val="400"/>
              </a:spcAft>
            </a:pPr>
            <a:r>
              <a:rPr sz="1100" b="1">
                <a:solidFill>
                  <a:srgbClr val="1E3A8A"/>
                </a:solidFill>
                <a:latin typeface="Microsoft YaHei"/>
              </a:rPr>
              <a:t>• 组合负载压测：</a:t>
            </a:r>
            <a:r>
              <a:rPr sz="1100" b="0">
                <a:solidFill>
                  <a:srgbClr val="1E293B"/>
                </a:solidFill>
                <a:latin typeface="Microsoft YaHei"/>
              </a:rPr>
              <a:t>交付单类扫描与组合回放测试集 (如小控制消息 + 前台大加载 + SSD混压)。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199632" y="3401568"/>
            <a:ext cx="5532120" cy="2331720"/>
          </a:xfrm>
          <a:prstGeom prst="rect">
            <a:avLst/>
          </a:prstGeom>
          <a:solidFill>
            <a:srgbClr val="FFFF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199632" y="3401568"/>
            <a:ext cx="5532120" cy="292608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09360" y="3438144"/>
            <a:ext cx="5312664" cy="21945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200" b="1">
                <a:solidFill>
                  <a:srgbClr val="FFFFFF"/>
                </a:solidFill>
                <a:latin typeface="Microsoft YaHei"/>
              </a:defRPr>
            </a:pPr>
            <a:r>
              <a:t>4. KPCL 核心能力诉求与刚性接口契约</a:t>
            </a:r>
            <a:r>
              <a:rPr sz="1000" b="1">
                <a:solidFill>
                  <a:srgbClr val="BFDBFE"/>
                </a:solidFill>
                <a:latin typeface="Microsoft YaHei"/>
              </a:rPr>
              <a:t>  [接口契约]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09360" y="3749040"/>
            <a:ext cx="5312664" cy="19293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 eaLnBrk="1" hangingPunct="1">
              <a:lnSpc>
                <a:spcPct val="120000"/>
              </a:lnSpc>
              <a:spcAft>
                <a:spcPts val="400"/>
              </a:spcAft>
            </a:pPr>
            <a:r>
              <a:rPr sz="1100" b="1">
                <a:solidFill>
                  <a:srgbClr val="1E3A8A"/>
                </a:solidFill>
                <a:latin typeface="Microsoft YaHei"/>
              </a:rPr>
              <a:t>• 零拷贝地址注册 (kpcl_reg_mr)：</a:t>
            </a:r>
            <a:r>
              <a:rPr sz="1100" b="0">
                <a:solidFill>
                  <a:srgbClr val="1E293B"/>
                </a:solidFill>
                <a:latin typeface="Microsoft YaHei"/>
              </a:rPr>
              <a:t>跨节点注册 NPU HBM 显存物理地址，Host CPU 零触碰。</a:t>
            </a:r>
          </a:p>
          <a:p>
            <a:pPr algn="l" eaLnBrk="1" hangingPunct="1">
              <a:lnSpc>
                <a:spcPct val="120000"/>
              </a:lnSpc>
              <a:spcAft>
                <a:spcPts val="400"/>
              </a:spcAft>
            </a:pPr>
            <a:r>
              <a:rPr sz="1100" b="1">
                <a:solidFill>
                  <a:srgbClr val="1E3A8A"/>
                </a:solidFill>
                <a:latin typeface="Microsoft YaHei"/>
              </a:rPr>
              <a:t>• SG 描述符提交：</a:t>
            </a:r>
            <a:r>
              <a:rPr sz="1100" b="0">
                <a:solidFill>
                  <a:srgbClr val="1E293B"/>
                </a:solidFill>
                <a:latin typeface="Microsoft YaHei"/>
              </a:rPr>
              <a:t>单次调用提交数百个连续物理块，</a:t>
            </a:r>
            <a:r>
              <a:rPr sz="1100" b="1">
                <a:solidFill>
                  <a:srgbClr val="DC2626"/>
                </a:solidFill>
                <a:latin typeface="Microsoft YaHei"/>
              </a:rPr>
              <a:t>API 耗时 ≤ 1µs。</a:t>
            </a:r>
          </a:p>
          <a:p>
            <a:pPr algn="l" eaLnBrk="1" hangingPunct="1">
              <a:lnSpc>
                <a:spcPct val="120000"/>
              </a:lnSpc>
              <a:spcAft>
                <a:spcPts val="400"/>
              </a:spcAft>
            </a:pPr>
            <a:r>
              <a:rPr sz="1100" b="1">
                <a:solidFill>
                  <a:srgbClr val="1E3A8A"/>
                </a:solidFill>
                <a:latin typeface="Microsoft YaHei"/>
              </a:rPr>
              <a:t>• 多卡原子协同 Doorbell：</a:t>
            </a:r>
            <a:r>
              <a:rPr sz="1100" b="0">
                <a:solidFill>
                  <a:srgbClr val="1E293B"/>
                </a:solidFill>
                <a:latin typeface="Microsoft YaHei"/>
              </a:rPr>
              <a:t>单次共享写触发多卡并发 DMA，</a:t>
            </a:r>
            <a:r>
              <a:rPr sz="1100" b="1">
                <a:solidFill>
                  <a:srgbClr val="059669"/>
                </a:solidFill>
                <a:latin typeface="Microsoft YaHei"/>
              </a:rPr>
              <a:t>消除多卡偏斜。</a:t>
            </a:r>
          </a:p>
          <a:p>
            <a:pPr algn="l" eaLnBrk="1" hangingPunct="1">
              <a:lnSpc>
                <a:spcPct val="120000"/>
              </a:lnSpc>
              <a:spcAft>
                <a:spcPts val="400"/>
              </a:spcAft>
            </a:pPr>
            <a:r>
              <a:rPr sz="1100" b="1">
                <a:solidFill>
                  <a:srgbClr val="1E3A8A"/>
                </a:solidFill>
                <a:latin typeface="Microsoft YaHei"/>
              </a:rPr>
              <a:t>• 快速失败熔断 (fail_fast)：</a:t>
            </a:r>
            <a:r>
              <a:rPr sz="1100" b="0">
                <a:solidFill>
                  <a:srgbClr val="1E293B"/>
                </a:solidFill>
                <a:latin typeface="Microsoft YaHei"/>
              </a:rPr>
              <a:t>通信异常或拥塞超时在 </a:t>
            </a:r>
            <a:r>
              <a:rPr sz="1100" b="1">
                <a:solidFill>
                  <a:srgbClr val="DC2626"/>
                </a:solidFill>
                <a:latin typeface="Microsoft YaHei"/>
              </a:rPr>
              <a:t>≤ 200µs 内返回明确错误，</a:t>
            </a:r>
            <a:r>
              <a:rPr sz="1100" b="0">
                <a:solidFill>
                  <a:srgbClr val="1E293B"/>
                </a:solidFill>
                <a:latin typeface="Microsoft YaHei"/>
              </a:rPr>
              <a:t>触发安全重算。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5833872"/>
            <a:ext cx="11277295" cy="694944"/>
          </a:xfrm>
          <a:prstGeom prst="rect">
            <a:avLst/>
          </a:prstGeom>
          <a:solidFill>
            <a:srgbClr val="FFFF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57200" y="5833872"/>
            <a:ext cx="73152" cy="694944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1792" y="5925312"/>
            <a:ext cx="11021263" cy="51206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8000"/>
              </a:lnSpc>
            </a:pPr>
            <a:r>
              <a:rPr sz="1150" b="1">
                <a:solidFill>
                  <a:srgbClr val="1E3A8A"/>
                </a:solidFill>
                <a:latin typeface="Microsoft YaHei"/>
              </a:rPr>
              <a:t>【KPCL 契约核心决断】 </a:t>
            </a:r>
            <a:r>
              <a:rPr sz="1150" b="1">
                <a:solidFill>
                  <a:srgbClr val="1E293B"/>
                </a:solidFill>
                <a:latin typeface="Microsoft YaHei"/>
              </a:rPr>
              <a:t>切分职责：本软件提炼大模型业务流量特征，通信团队专攻高性能驱动实现；</a:t>
            </a:r>
            <a:r>
              <a:rPr sz="1150" b="1">
                <a:solidFill>
                  <a:srgbClr val="DC2626"/>
                </a:solidFill>
                <a:latin typeface="Microsoft YaHei"/>
              </a:rPr>
              <a:t>以 1µs 级 API 提交与 Coflow 协同筑牢底座</a:t>
            </a:r>
            <a:r>
              <a:rPr sz="1150" b="1">
                <a:solidFill>
                  <a:srgbClr val="1E293B"/>
                </a:solidFill>
                <a:latin typeface="Microsoft YaHei"/>
              </a:rPr>
              <a:t>，实现业务与协议标准化解耦演进。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987552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900" b="1">
                <a:solidFill>
                  <a:srgbClr val="1E3A8A"/>
                </a:solidFill>
                <a:latin typeface="Microsoft YaHei"/>
              </a:defRPr>
            </a:pPr>
            <a:r>
              <a:t>专题七：端到端推理性能规格逐层分解与硬件规格反推</a:t>
            </a:r>
          </a:p>
          <a:p>
            <a:pPr>
              <a:spcBef>
                <a:spcPts val="300"/>
              </a:spcBef>
              <a:defRPr sz="1100">
                <a:solidFill>
                  <a:srgbClr val="475569"/>
                </a:solidFill>
                <a:latin typeface="Microsoft YaHei"/>
              </a:defRPr>
            </a:pPr>
            <a:r>
              <a:t>基于 DAG 关键路径依赖模型与并集上界分解：两套互补预算算例与底层驱动指标反推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424160" y="320040"/>
            <a:ext cx="1310335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150" b="1">
                <a:solidFill>
                  <a:srgbClr val="2563EB"/>
                </a:solidFill>
                <a:latin typeface="Microsoft YaHei"/>
              </a:defRPr>
            </a:pPr>
            <a:r>
              <a:t>第 08 / 10 页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51560"/>
            <a:ext cx="5532120" cy="2240280"/>
          </a:xfrm>
          <a:prstGeom prst="rect">
            <a:avLst/>
          </a:prstGeom>
          <a:solidFill>
            <a:srgbClr val="FFFF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051560"/>
            <a:ext cx="5532120" cy="292608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1088136"/>
            <a:ext cx="5312664" cy="21945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200" b="1">
                <a:solidFill>
                  <a:srgbClr val="FFFFFF"/>
                </a:solidFill>
                <a:latin typeface="Microsoft YaHei"/>
              </a:defRPr>
            </a:pPr>
            <a:r>
              <a:t>1. 业务 SLO 北极星与 DAG 依赖模型</a:t>
            </a:r>
            <a:r>
              <a:rPr sz="1000" b="1">
                <a:solidFill>
                  <a:srgbClr val="BFDBFE"/>
                </a:solidFill>
                <a:latin typeface="Microsoft YaHei"/>
              </a:rPr>
              <a:t>  [分解模型]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399032"/>
            <a:ext cx="5312664" cy="18379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 eaLnBrk="1" hangingPunct="1">
              <a:lnSpc>
                <a:spcPct val="120000"/>
              </a:lnSpc>
              <a:spcAft>
                <a:spcPts val="400"/>
              </a:spcAft>
            </a:pPr>
            <a:r>
              <a:rPr sz="1100" b="1">
                <a:solidFill>
                  <a:srgbClr val="1E3A8A"/>
                </a:solidFill>
                <a:latin typeface="Microsoft YaHei"/>
              </a:rPr>
              <a:t>• 顶层业务 SLO 目标：</a:t>
            </a:r>
            <a:r>
              <a:rPr sz="1100" b="1">
                <a:solidFill>
                  <a:srgbClr val="DC2626"/>
                </a:solidFill>
                <a:latin typeface="Microsoft YaHei"/>
              </a:rPr>
              <a:t>TTFT 降幅 ≥ 20%，</a:t>
            </a:r>
            <a:r>
              <a:rPr sz="1100" b="0">
                <a:solidFill>
                  <a:srgbClr val="1E293B"/>
                </a:solidFill>
                <a:latin typeface="Microsoft YaHei"/>
              </a:rPr>
              <a:t>前台干扰 </a:t>
            </a:r>
            <a:r>
              <a:rPr sz="1100" b="1">
                <a:solidFill>
                  <a:srgbClr val="DC2626"/>
                </a:solidFill>
                <a:latin typeface="Microsoft YaHei"/>
              </a:rPr>
              <a:t>&lt; 3%，</a:t>
            </a:r>
            <a:r>
              <a:rPr sz="1100" b="1">
                <a:solidFill>
                  <a:srgbClr val="059669"/>
                </a:solidFill>
                <a:latin typeface="Microsoft YaHei"/>
              </a:rPr>
              <a:t>QPS 提升 ≥ 10%。</a:t>
            </a:r>
          </a:p>
          <a:p>
            <a:pPr algn="l" eaLnBrk="1" hangingPunct="1">
              <a:lnSpc>
                <a:spcPct val="120000"/>
              </a:lnSpc>
              <a:spcAft>
                <a:spcPts val="400"/>
              </a:spcAft>
            </a:pPr>
            <a:r>
              <a:rPr sz="1100" b="1">
                <a:solidFill>
                  <a:srgbClr val="1E3A8A"/>
                </a:solidFill>
                <a:latin typeface="Microsoft YaHei"/>
              </a:rPr>
              <a:t>• 严禁各模块 P99 机械相加：</a:t>
            </a:r>
            <a:r>
              <a:rPr sz="1100" b="0">
                <a:solidFill>
                  <a:srgbClr val="1E293B"/>
                </a:solidFill>
                <a:latin typeface="Microsoft YaHei"/>
              </a:rPr>
              <a:t>P99 是分位数，串行相加会产生误差累积；</a:t>
            </a:r>
            <a:r>
              <a:rPr sz="1100" b="1">
                <a:solidFill>
                  <a:srgbClr val="2563EB"/>
                </a:solidFill>
                <a:latin typeface="Microsoft YaHei"/>
              </a:rPr>
              <a:t>必须基于 DAG 关键路径与并集上界分析。</a:t>
            </a:r>
          </a:p>
          <a:p>
            <a:pPr algn="l" eaLnBrk="1" hangingPunct="1">
              <a:lnSpc>
                <a:spcPct val="120000"/>
              </a:lnSpc>
              <a:spcAft>
                <a:spcPts val="400"/>
              </a:spcAft>
            </a:pPr>
            <a:r>
              <a:rPr sz="1100" b="1">
                <a:solidFill>
                  <a:srgbClr val="1E3A8A"/>
                </a:solidFill>
                <a:latin typeface="Microsoft YaHei"/>
              </a:rPr>
              <a:t>• DAG 依赖模型：</a:t>
            </a:r>
            <a:r>
              <a:rPr sz="1100" b="0">
                <a:solidFill>
                  <a:srgbClr val="1E293B"/>
                </a:solidFill>
                <a:latin typeface="Microsoft YaHei"/>
              </a:rPr>
              <a:t>步耗时为前置完成最大值加自身；部分命中可边算边传。</a:t>
            </a:r>
          </a:p>
          <a:p>
            <a:pPr algn="l" eaLnBrk="1" hangingPunct="1">
              <a:lnSpc>
                <a:spcPct val="120000"/>
              </a:lnSpc>
              <a:spcAft>
                <a:spcPts val="400"/>
              </a:spcAft>
            </a:pPr>
            <a:r>
              <a:rPr sz="1100" b="1">
                <a:solidFill>
                  <a:srgbClr val="1E3A8A"/>
                </a:solidFill>
                <a:latin typeface="Microsoft YaHei"/>
              </a:rPr>
              <a:t>• 并集上界约束：</a:t>
            </a:r>
            <a:r>
              <a:rPr sz="1100" b="1">
                <a:solidFill>
                  <a:srgbClr val="059669"/>
                </a:solidFill>
                <a:latin typeface="Microsoft YaHei"/>
              </a:rPr>
              <a:t>各阶段超限概率之和 ∑ εᵢ ≤ 1%，确保整体 SLO 达标率 ≥ 99%。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6199632" y="1051560"/>
            <a:ext cx="5532120" cy="2240280"/>
          </a:xfrm>
          <a:prstGeom prst="rect">
            <a:avLst/>
          </a:prstGeom>
          <a:solidFill>
            <a:srgbClr val="FFFF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199632" y="1051560"/>
            <a:ext cx="5532120" cy="292608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09360" y="1088136"/>
            <a:ext cx="5312664" cy="21945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200" b="1">
                <a:solidFill>
                  <a:srgbClr val="FFFFFF"/>
                </a:solidFill>
                <a:latin typeface="Microsoft YaHei"/>
              </a:defRPr>
            </a:pPr>
            <a:r>
              <a:t>2. 120ms 级中长前缀复用算例 (8K Token / 1GB)</a:t>
            </a:r>
            <a:r>
              <a:rPr sz="1000" b="1">
                <a:solidFill>
                  <a:srgbClr val="BFDBFE"/>
                </a:solidFill>
                <a:latin typeface="Microsoft YaHei"/>
              </a:rPr>
              <a:t>  [容量加载算例]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09360" y="1399032"/>
            <a:ext cx="5312664" cy="18379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 eaLnBrk="1" hangingPunct="1">
              <a:lnSpc>
                <a:spcPct val="120000"/>
              </a:lnSpc>
              <a:spcAft>
                <a:spcPts val="400"/>
              </a:spcAft>
            </a:pPr>
            <a:r>
              <a:rPr sz="1100" b="1">
                <a:solidFill>
                  <a:srgbClr val="1E3A8A"/>
                </a:solidFill>
                <a:latin typeface="Microsoft YaHei"/>
              </a:rPr>
              <a:t>• 基线与预算：</a:t>
            </a:r>
            <a:r>
              <a:rPr sz="1100" b="0">
                <a:solidFill>
                  <a:srgbClr val="1E293B"/>
                </a:solidFill>
                <a:latin typeface="Microsoft YaHei"/>
              </a:rPr>
              <a:t>本地重算 300ms，目标 240ms，扣除计算后存储预算 </a:t>
            </a:r>
            <a:r>
              <a:rPr sz="1100" b="1">
                <a:solidFill>
                  <a:srgbClr val="1E293B"/>
                </a:solidFill>
                <a:latin typeface="Microsoft YaHei"/>
              </a:rPr>
              <a:t>120ms。</a:t>
            </a:r>
          </a:p>
          <a:p>
            <a:pPr algn="l" eaLnBrk="1" hangingPunct="1">
              <a:lnSpc>
                <a:spcPct val="120000"/>
              </a:lnSpc>
              <a:spcAft>
                <a:spcPts val="400"/>
              </a:spcAft>
            </a:pPr>
            <a:r>
              <a:rPr sz="1100" b="1">
                <a:solidFill>
                  <a:srgbClr val="1E3A8A"/>
                </a:solidFill>
                <a:latin typeface="Microsoft YaHei"/>
              </a:rPr>
              <a:t>• 控制面调度耗时：</a:t>
            </a:r>
            <a:r>
              <a:rPr sz="1100" b="0">
                <a:solidFill>
                  <a:srgbClr val="1E293B"/>
                </a:solidFill>
                <a:latin typeface="Microsoft YaHei"/>
              </a:rPr>
              <a:t>前缀查询/租约 0.2ms + 决策 0.005ms + 编译 0.02ms + 提交 0.05ms。</a:t>
            </a:r>
          </a:p>
          <a:p>
            <a:pPr algn="l" eaLnBrk="1" hangingPunct="1">
              <a:lnSpc>
                <a:spcPct val="120000"/>
              </a:lnSpc>
              <a:spcAft>
                <a:spcPts val="400"/>
              </a:spcAft>
            </a:pPr>
            <a:r>
              <a:rPr sz="1100" b="1">
                <a:solidFill>
                  <a:srgbClr val="1E3A8A"/>
                </a:solidFill>
                <a:latin typeface="Microsoft YaHei"/>
              </a:rPr>
              <a:t>• 硬件数据搬运窗口：</a:t>
            </a:r>
            <a:r>
              <a:rPr sz="1100" b="0">
                <a:solidFill>
                  <a:srgbClr val="1E293B"/>
                </a:solidFill>
                <a:latin typeface="Microsoft YaHei"/>
              </a:rPr>
              <a:t>预留 105ms 搬运 1GiB 数据，</a:t>
            </a:r>
            <a:r>
              <a:rPr sz="1100" b="1">
                <a:solidFill>
                  <a:srgbClr val="DC2626"/>
                </a:solidFill>
                <a:latin typeface="Microsoft YaHei"/>
              </a:rPr>
              <a:t>要求有效带宽 ≥ 10.23GB/s。</a:t>
            </a:r>
          </a:p>
          <a:p>
            <a:pPr algn="l" eaLnBrk="1" hangingPunct="1">
              <a:lnSpc>
                <a:spcPct val="120000"/>
              </a:lnSpc>
              <a:spcAft>
                <a:spcPts val="400"/>
              </a:spcAft>
            </a:pPr>
            <a:r>
              <a:rPr sz="1100" b="1">
                <a:solidFill>
                  <a:srgbClr val="1E3A8A"/>
                </a:solidFill>
                <a:latin typeface="Microsoft YaHei"/>
              </a:rPr>
              <a:t>• 业务净收益：</a:t>
            </a:r>
            <a:r>
              <a:rPr sz="1100" b="1">
                <a:solidFill>
                  <a:srgbClr val="059669"/>
                </a:solidFill>
                <a:latin typeface="Microsoft YaHei"/>
              </a:rPr>
              <a:t>完成可见性与多卡协同后接入，端到端 TTFT 净降低 60%。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3401568"/>
            <a:ext cx="5532120" cy="2331720"/>
          </a:xfrm>
          <a:prstGeom prst="rect">
            <a:avLst/>
          </a:prstGeom>
          <a:solidFill>
            <a:srgbClr val="FFFF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57200" y="3401568"/>
            <a:ext cx="5532120" cy="292608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66928" y="3438144"/>
            <a:ext cx="5312664" cy="21945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200" b="1">
                <a:solidFill>
                  <a:srgbClr val="FFFFFF"/>
                </a:solidFill>
                <a:latin typeface="Microsoft YaHei"/>
              </a:defRPr>
            </a:pPr>
            <a:r>
              <a:t>3. 30ms 级极速前缀漏斗算例 (4K Token / 340MB)</a:t>
            </a:r>
            <a:r>
              <a:rPr sz="1000" b="1">
                <a:solidFill>
                  <a:srgbClr val="BFDBFE"/>
                </a:solidFill>
                <a:latin typeface="Microsoft YaHei"/>
              </a:rPr>
              <a:t>  [极速漏斗算例]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66928" y="3749040"/>
            <a:ext cx="5312664" cy="19293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 eaLnBrk="1" hangingPunct="1">
              <a:lnSpc>
                <a:spcPct val="120000"/>
              </a:lnSpc>
              <a:spcAft>
                <a:spcPts val="400"/>
              </a:spcAft>
            </a:pPr>
            <a:r>
              <a:rPr sz="1100" b="1">
                <a:solidFill>
                  <a:srgbClr val="1E3A8A"/>
                </a:solidFill>
                <a:latin typeface="Microsoft YaHei"/>
              </a:rPr>
              <a:t>• 控制面微秒拆解：</a:t>
            </a:r>
            <a:r>
              <a:rPr sz="1100" b="0">
                <a:solidFill>
                  <a:srgbClr val="1E293B"/>
                </a:solidFill>
                <a:latin typeface="Microsoft YaHei"/>
              </a:rPr>
              <a:t>意图 2µs、查表 3µs、选路 3µs、校验 5µs、编译下发 7µs。</a:t>
            </a:r>
          </a:p>
          <a:p>
            <a:pPr algn="l" eaLnBrk="1" hangingPunct="1">
              <a:lnSpc>
                <a:spcPct val="120000"/>
              </a:lnSpc>
              <a:spcAft>
                <a:spcPts val="400"/>
              </a:spcAft>
            </a:pPr>
            <a:r>
              <a:rPr sz="1100" b="1">
                <a:solidFill>
                  <a:srgbClr val="1E3A8A"/>
                </a:solidFill>
                <a:latin typeface="Microsoft YaHei"/>
              </a:rPr>
              <a:t>• 控制面累计时延：</a:t>
            </a:r>
            <a:r>
              <a:rPr sz="1100" b="1">
                <a:solidFill>
                  <a:srgbClr val="DC2626"/>
                </a:solidFill>
                <a:latin typeface="Microsoft YaHei"/>
              </a:rPr>
              <a:t>累计 P99 ≤ 20µs，</a:t>
            </a:r>
            <a:r>
              <a:rPr sz="1100" b="0">
                <a:solidFill>
                  <a:srgbClr val="1E293B"/>
                </a:solidFill>
                <a:latin typeface="Microsoft YaHei"/>
              </a:rPr>
              <a:t>占时延预算 &lt; 0.1%，</a:t>
            </a:r>
            <a:r>
              <a:rPr sz="1100" b="1">
                <a:solidFill>
                  <a:srgbClr val="059669"/>
                </a:solidFill>
                <a:latin typeface="Microsoft YaHei"/>
              </a:rPr>
              <a:t>消除控制瓶颈。</a:t>
            </a:r>
          </a:p>
          <a:p>
            <a:pPr algn="l" eaLnBrk="1" hangingPunct="1">
              <a:lnSpc>
                <a:spcPct val="120000"/>
              </a:lnSpc>
              <a:spcAft>
                <a:spcPts val="400"/>
              </a:spcAft>
            </a:pPr>
            <a:r>
              <a:rPr sz="1100" b="1">
                <a:solidFill>
                  <a:srgbClr val="1E3A8A"/>
                </a:solidFill>
                <a:latin typeface="Microsoft YaHei"/>
              </a:rPr>
              <a:t>• 数据面搬运拆解：</a:t>
            </a:r>
            <a:r>
              <a:rPr sz="1100" b="0">
                <a:solidFill>
                  <a:srgbClr val="1E293B"/>
                </a:solidFill>
                <a:latin typeface="Microsoft YaHei"/>
              </a:rPr>
              <a:t>8 卡并行传输 340MB 耗时 8.5ms，偏斜控制 ≤ 1.0ms。</a:t>
            </a:r>
          </a:p>
          <a:p>
            <a:pPr algn="l" eaLnBrk="1" hangingPunct="1">
              <a:lnSpc>
                <a:spcPct val="120000"/>
              </a:lnSpc>
              <a:spcAft>
                <a:spcPts val="400"/>
              </a:spcAft>
            </a:pPr>
            <a:r>
              <a:rPr sz="1100" b="1">
                <a:solidFill>
                  <a:srgbClr val="1E3A8A"/>
                </a:solidFill>
                <a:latin typeface="Microsoft YaHei"/>
              </a:rPr>
              <a:t>• 达成综合成效：</a:t>
            </a:r>
            <a:r>
              <a:rPr sz="1100" b="1">
                <a:solidFill>
                  <a:srgbClr val="1E293B"/>
                </a:solidFill>
                <a:latin typeface="Microsoft YaHei"/>
              </a:rPr>
              <a:t>端到端 TTFT ≤ 29.5ms，相比重算 120ms，净降低 75% 以上！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199632" y="3401568"/>
            <a:ext cx="5532120" cy="2331720"/>
          </a:xfrm>
          <a:prstGeom prst="rect">
            <a:avLst/>
          </a:prstGeom>
          <a:solidFill>
            <a:srgbClr val="FFFF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199632" y="3401568"/>
            <a:ext cx="5532120" cy="292608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09360" y="3438144"/>
            <a:ext cx="5312664" cy="21945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200" b="1">
                <a:solidFill>
                  <a:srgbClr val="FFFFFF"/>
                </a:solidFill>
                <a:latin typeface="Microsoft YaHei"/>
              </a:defRPr>
            </a:pPr>
            <a:r>
              <a:t>4. 底层 KPCL 与硬件驱动刚性规格反推</a:t>
            </a:r>
            <a:r>
              <a:rPr sz="1000" b="1">
                <a:solidFill>
                  <a:srgbClr val="BFDBFE"/>
                </a:solidFill>
                <a:latin typeface="Microsoft YaHei"/>
              </a:rPr>
              <a:t>  [规格反推]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09360" y="3749040"/>
            <a:ext cx="5312664" cy="19293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 eaLnBrk="1" hangingPunct="1">
              <a:lnSpc>
                <a:spcPct val="120000"/>
              </a:lnSpc>
              <a:spcAft>
                <a:spcPts val="400"/>
              </a:spcAft>
            </a:pPr>
            <a:r>
              <a:rPr sz="1100" b="1">
                <a:solidFill>
                  <a:srgbClr val="1E3A8A"/>
                </a:solidFill>
                <a:latin typeface="Microsoft YaHei"/>
              </a:rPr>
              <a:t>• KPCL 接口提交耗时：</a:t>
            </a:r>
            <a:r>
              <a:rPr sz="1100" b="0">
                <a:solidFill>
                  <a:srgbClr val="1E293B"/>
                </a:solidFill>
                <a:latin typeface="Microsoft YaHei"/>
              </a:rPr>
              <a:t>kpcl_submit_extents 内部零 malloc，</a:t>
            </a:r>
            <a:r>
              <a:rPr sz="1100" b="1">
                <a:solidFill>
                  <a:srgbClr val="DC2626"/>
                </a:solidFill>
                <a:latin typeface="Microsoft YaHei"/>
              </a:rPr>
              <a:t>CPU 耗时 ≤ 1µs。</a:t>
            </a:r>
          </a:p>
          <a:p>
            <a:pPr algn="l" eaLnBrk="1" hangingPunct="1">
              <a:lnSpc>
                <a:spcPct val="120000"/>
              </a:lnSpc>
              <a:spcAft>
                <a:spcPts val="400"/>
              </a:spcAft>
            </a:pPr>
            <a:r>
              <a:rPr sz="1100" b="1">
                <a:solidFill>
                  <a:srgbClr val="1E3A8A"/>
                </a:solidFill>
                <a:latin typeface="Microsoft YaHei"/>
              </a:rPr>
              <a:t>• URMA 硬件门铃规格：</a:t>
            </a:r>
            <a:r>
              <a:rPr sz="1100" b="0">
                <a:solidFill>
                  <a:srgbClr val="1E293B"/>
                </a:solidFill>
                <a:latin typeface="Microsoft YaHei"/>
              </a:rPr>
              <a:t>Doorbell 寄存器写操作 ≤ 200ns，硬件完成 CQE 通知 ≤ 2µs。</a:t>
            </a:r>
          </a:p>
          <a:p>
            <a:pPr algn="l" eaLnBrk="1" hangingPunct="1">
              <a:lnSpc>
                <a:spcPct val="120000"/>
              </a:lnSpc>
              <a:spcAft>
                <a:spcPts val="400"/>
              </a:spcAft>
            </a:pPr>
            <a:r>
              <a:rPr sz="1100" b="1">
                <a:solidFill>
                  <a:srgbClr val="1E3A8A"/>
                </a:solidFill>
                <a:latin typeface="Microsoft YaHei"/>
              </a:rPr>
              <a:t>• 物理网络转发规格：</a:t>
            </a:r>
            <a:r>
              <a:rPr sz="1100" b="0">
                <a:solidFill>
                  <a:srgbClr val="1E293B"/>
                </a:solidFill>
                <a:latin typeface="Microsoft YaHei"/>
              </a:rPr>
              <a:t>交换机转发 ≤ 1.2µs，PFC/ECN 闭环实现无损队列零丢包。</a:t>
            </a:r>
          </a:p>
          <a:p>
            <a:pPr algn="l" eaLnBrk="1" hangingPunct="1">
              <a:lnSpc>
                <a:spcPct val="120000"/>
              </a:lnSpc>
              <a:spcAft>
                <a:spcPts val="400"/>
              </a:spcAft>
            </a:pPr>
            <a:r>
              <a:rPr sz="1100" b="1">
                <a:solidFill>
                  <a:srgbClr val="1E3A8A"/>
                </a:solidFill>
                <a:latin typeface="Microsoft YaHei"/>
              </a:rPr>
              <a:t>• NVMe 裸盘读取规格：</a:t>
            </a:r>
            <a:r>
              <a:rPr sz="1100" b="1">
                <a:solidFill>
                  <a:srgbClr val="059669"/>
                </a:solidFill>
                <a:latin typeface="Microsoft YaHei"/>
              </a:rPr>
              <a:t>io_uring 读 128KB 块 P99 ≤ 80µs，持续读带宽稳定 ≥ 6.5GB/s。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5833872"/>
            <a:ext cx="11277295" cy="694944"/>
          </a:xfrm>
          <a:prstGeom prst="rect">
            <a:avLst/>
          </a:prstGeom>
          <a:solidFill>
            <a:srgbClr val="FFFF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57200" y="5833872"/>
            <a:ext cx="73152" cy="694944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1792" y="5925312"/>
            <a:ext cx="11021263" cy="51206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8000"/>
              </a:lnSpc>
            </a:pPr>
            <a:r>
              <a:rPr sz="1150" b="1">
                <a:solidFill>
                  <a:srgbClr val="1E3A8A"/>
                </a:solidFill>
                <a:latin typeface="Microsoft YaHei"/>
              </a:rPr>
              <a:t>【规格分解核心决断】 </a:t>
            </a:r>
            <a:r>
              <a:rPr sz="1150" b="1">
                <a:solidFill>
                  <a:srgbClr val="1E293B"/>
                </a:solidFill>
                <a:latin typeface="Microsoft YaHei"/>
              </a:rPr>
              <a:t>摒弃各模块 P99 机械相加的伪命题，以 DAG 关键路径与并集上界科学分解；</a:t>
            </a:r>
            <a:r>
              <a:rPr sz="1150" b="1">
                <a:solidFill>
                  <a:srgbClr val="DC2626"/>
                </a:solidFill>
                <a:latin typeface="Microsoft YaHei"/>
              </a:rPr>
              <a:t>控制面压缩在 20µs 内，数据面打满 400G 线速，反推驱动提交 ≤ 1µs、门铃 ≤ 200ns</a:t>
            </a:r>
            <a:r>
              <a:rPr sz="1150" b="1">
                <a:solidFill>
                  <a:srgbClr val="1E293B"/>
                </a:solidFill>
                <a:latin typeface="Microsoft YaHei"/>
              </a:rPr>
              <a:t>，实现顶层业务 SLO 确定性达成。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987552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900" b="1">
                <a:solidFill>
                  <a:srgbClr val="1E3A8A"/>
                </a:solidFill>
                <a:latin typeface="Microsoft YaHei"/>
              </a:defRPr>
            </a:pPr>
            <a:r>
              <a:t>专题八：管理面、控制面与数据面可靠性与容错防护</a:t>
            </a:r>
          </a:p>
          <a:p>
            <a:pPr>
              <a:spcBef>
                <a:spcPts val="300"/>
              </a:spcBef>
              <a:defRPr sz="1100">
                <a:solidFill>
                  <a:srgbClr val="475569"/>
                </a:solidFill>
                <a:latin typeface="Microsoft YaHei"/>
              </a:defRPr>
            </a:pPr>
            <a:r>
              <a:t>四大安全不变量 + 故障域物理隔离 + 快速超时熔断 (Fail-Fast) + 硬件双轨安全回退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424160" y="320040"/>
            <a:ext cx="1310335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150" b="1">
                <a:solidFill>
                  <a:srgbClr val="2563EB"/>
                </a:solidFill>
                <a:latin typeface="Microsoft YaHei"/>
              </a:defRPr>
            </a:pPr>
            <a:r>
              <a:t>第 09 / 10 页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51560"/>
            <a:ext cx="5532120" cy="2240280"/>
          </a:xfrm>
          <a:prstGeom prst="rect">
            <a:avLst/>
          </a:prstGeom>
          <a:solidFill>
            <a:srgbClr val="FFFF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051560"/>
            <a:ext cx="5532120" cy="292608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1088136"/>
            <a:ext cx="5312664" cy="21945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200" b="1">
                <a:solidFill>
                  <a:srgbClr val="FFFFFF"/>
                </a:solidFill>
                <a:latin typeface="Microsoft YaHei"/>
              </a:defRPr>
            </a:pPr>
            <a:r>
              <a:t>1. 四大安全不变量与管理面容灾</a:t>
            </a:r>
            <a:r>
              <a:rPr sz="1000" b="1">
                <a:solidFill>
                  <a:srgbClr val="BFDBFE"/>
                </a:solidFill>
                <a:latin typeface="Microsoft YaHei"/>
              </a:rPr>
              <a:t>  [不变量与管理可靠]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399032"/>
            <a:ext cx="5312664" cy="18379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 eaLnBrk="1" hangingPunct="1">
              <a:lnSpc>
                <a:spcPct val="120000"/>
              </a:lnSpc>
              <a:spcAft>
                <a:spcPts val="400"/>
              </a:spcAft>
            </a:pPr>
            <a:r>
              <a:rPr sz="1100" b="1">
                <a:solidFill>
                  <a:srgbClr val="1E3A8A"/>
                </a:solidFill>
                <a:latin typeface="Microsoft YaHei"/>
              </a:rPr>
              <a:t>• 四大安全不变量：</a:t>
            </a:r>
            <a:r>
              <a:rPr sz="1100" b="0">
                <a:solidFill>
                  <a:srgbClr val="1E293B"/>
                </a:solidFill>
                <a:latin typeface="Microsoft YaHei"/>
              </a:rPr>
              <a:t>未就绪不消费、旧代际无授权、租约内不覆写、</a:t>
            </a:r>
            <a:r>
              <a:rPr sz="1100" b="1">
                <a:solidFill>
                  <a:srgbClr val="1E293B"/>
                </a:solidFill>
                <a:latin typeface="Microsoft YaHei"/>
              </a:rPr>
              <a:t>多卡决策一致性。</a:t>
            </a:r>
          </a:p>
          <a:p>
            <a:pPr algn="l" eaLnBrk="1" hangingPunct="1">
              <a:lnSpc>
                <a:spcPct val="120000"/>
              </a:lnSpc>
              <a:spcAft>
                <a:spcPts val="400"/>
              </a:spcAft>
            </a:pPr>
            <a:r>
              <a:rPr sz="1100" b="1">
                <a:solidFill>
                  <a:srgbClr val="1E3A8A"/>
                </a:solidFill>
                <a:latin typeface="Microsoft YaHei"/>
              </a:rPr>
              <a:t>• 管理面 Raft 容灾：</a:t>
            </a:r>
            <a:r>
              <a:rPr sz="1100" b="0">
                <a:solidFill>
                  <a:srgbClr val="1E293B"/>
                </a:solidFill>
                <a:latin typeface="Microsoft YaHei"/>
              </a:rPr>
              <a:t>kvc-master 仅管拓扑路由，3 秒漂移选主，</a:t>
            </a:r>
            <a:r>
              <a:rPr sz="1100" b="1">
                <a:solidFill>
                  <a:srgbClr val="059669"/>
                </a:solidFill>
                <a:latin typeface="Microsoft YaHei"/>
              </a:rPr>
              <a:t>零业务影响。</a:t>
            </a:r>
          </a:p>
          <a:p>
            <a:pPr algn="l" eaLnBrk="1" hangingPunct="1">
              <a:lnSpc>
                <a:spcPct val="120000"/>
              </a:lnSpc>
              <a:spcAft>
                <a:spcPts val="400"/>
              </a:spcAft>
            </a:pPr>
            <a:r>
              <a:rPr sz="1100" b="1">
                <a:solidFill>
                  <a:srgbClr val="1E3A8A"/>
                </a:solidFill>
                <a:latin typeface="Microsoft YaHei"/>
              </a:rPr>
              <a:t>• 节点级状态快速自愈：</a:t>
            </a:r>
            <a:r>
              <a:rPr sz="1100" b="0">
                <a:solidFill>
                  <a:srgbClr val="1E293B"/>
                </a:solidFill>
                <a:latin typeface="Microsoft YaHei"/>
              </a:rPr>
              <a:t>kvc-daemon 重启基于 /dev/shm 扫描，</a:t>
            </a:r>
            <a:r>
              <a:rPr sz="1100" b="1">
                <a:solidFill>
                  <a:srgbClr val="2563EB"/>
                </a:solidFill>
                <a:latin typeface="Microsoft YaHei"/>
              </a:rPr>
              <a:t>100ms 内重建分配位图。</a:t>
            </a:r>
          </a:p>
          <a:p>
            <a:pPr algn="l" eaLnBrk="1" hangingPunct="1">
              <a:lnSpc>
                <a:spcPct val="120000"/>
              </a:lnSpc>
              <a:spcAft>
                <a:spcPts val="400"/>
              </a:spcAft>
            </a:pPr>
            <a:r>
              <a:rPr sz="1100" b="1">
                <a:solidFill>
                  <a:srgbClr val="1E3A8A"/>
                </a:solidFill>
                <a:latin typeface="Microsoft YaHei"/>
              </a:rPr>
              <a:t>• 租约到期强制回收：</a:t>
            </a:r>
            <a:r>
              <a:rPr sz="1100" b="0">
                <a:solidFill>
                  <a:srgbClr val="1E293B"/>
                </a:solidFill>
                <a:latin typeface="Microsoft YaHei"/>
              </a:rPr>
              <a:t>超时未释放对象自动触发垃圾回收，彻底杜绝显存孤儿泄漏。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6199632" y="1051560"/>
            <a:ext cx="5532120" cy="2240280"/>
          </a:xfrm>
          <a:prstGeom prst="rect">
            <a:avLst/>
          </a:prstGeom>
          <a:solidFill>
            <a:srgbClr val="FFFF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199632" y="1051560"/>
            <a:ext cx="5532120" cy="292608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09360" y="1088136"/>
            <a:ext cx="5312664" cy="21945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200" b="1">
                <a:solidFill>
                  <a:srgbClr val="FFFFFF"/>
                </a:solidFill>
                <a:latin typeface="Microsoft YaHei"/>
              </a:defRPr>
            </a:pPr>
            <a:r>
              <a:t>2. 控制面安全与 ViewGuard 信号拦截</a:t>
            </a:r>
            <a:r>
              <a:rPr sz="1000" b="1">
                <a:solidFill>
                  <a:srgbClr val="BFDBFE"/>
                </a:solidFill>
                <a:latin typeface="Microsoft YaHei"/>
              </a:rPr>
              <a:t>  [控制面容错]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09360" y="1399032"/>
            <a:ext cx="5312664" cy="18379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 eaLnBrk="1" hangingPunct="1">
              <a:lnSpc>
                <a:spcPct val="120000"/>
              </a:lnSpc>
              <a:spcAft>
                <a:spcPts val="400"/>
              </a:spcAft>
            </a:pPr>
            <a:r>
              <a:rPr sz="1100" b="1">
                <a:solidFill>
                  <a:srgbClr val="1E3A8A"/>
                </a:solidFill>
                <a:latin typeface="Microsoft YaHei"/>
              </a:rPr>
              <a:t>• ViewGuard 租约安全守卫：</a:t>
            </a:r>
            <a:r>
              <a:rPr sz="1100" b="0">
                <a:solidFill>
                  <a:srgbClr val="1E293B"/>
                </a:solidFill>
                <a:latin typeface="Microsoft YaHei"/>
              </a:rPr>
              <a:t>微秒级租约管理，保证读取期间不被换出覆写。</a:t>
            </a:r>
          </a:p>
          <a:p>
            <a:pPr algn="l" eaLnBrk="1" hangingPunct="1">
              <a:lnSpc>
                <a:spcPct val="120000"/>
              </a:lnSpc>
              <a:spcAft>
                <a:spcPts val="400"/>
              </a:spcAft>
            </a:pPr>
            <a:r>
              <a:rPr sz="1100" b="1">
                <a:solidFill>
                  <a:srgbClr val="1E3A8A"/>
                </a:solidFill>
                <a:latin typeface="Microsoft YaHei"/>
              </a:rPr>
              <a:t>• SIGBUS 异常跳出机制：</a:t>
            </a:r>
            <a:r>
              <a:rPr sz="1100" b="0">
                <a:solidFill>
                  <a:srgbClr val="1E293B"/>
                </a:solidFill>
                <a:latin typeface="Microsoft YaHei"/>
              </a:rPr>
              <a:t>sigaction 捕获远端不可达异常，</a:t>
            </a:r>
            <a:r>
              <a:rPr sz="1100" b="1">
                <a:solidFill>
                  <a:srgbClr val="DC2626"/>
                </a:solidFill>
                <a:latin typeface="Microsoft YaHei"/>
              </a:rPr>
              <a:t>500µs 安全回滚重算，主进程不崩溃。</a:t>
            </a:r>
          </a:p>
          <a:p>
            <a:pPr algn="l" eaLnBrk="1" hangingPunct="1">
              <a:lnSpc>
                <a:spcPct val="120000"/>
              </a:lnSpc>
              <a:spcAft>
                <a:spcPts val="400"/>
              </a:spcAft>
            </a:pPr>
            <a:r>
              <a:rPr sz="1100" b="1">
                <a:solidFill>
                  <a:srgbClr val="1E3A8A"/>
                </a:solidFill>
                <a:latin typeface="Microsoft YaHei"/>
              </a:rPr>
              <a:t>• ConsumeEligibility 6 维防呆：</a:t>
            </a:r>
            <a:r>
              <a:rPr sz="1100" b="0">
                <a:solidFill>
                  <a:srgbClr val="1E293B"/>
                </a:solidFill>
                <a:latin typeface="Microsoft YaHei"/>
              </a:rPr>
              <a:t>严格比对权重与模板哈希，</a:t>
            </a:r>
            <a:r>
              <a:rPr sz="1100" b="1">
                <a:solidFill>
                  <a:srgbClr val="059669"/>
                </a:solidFill>
                <a:latin typeface="Microsoft YaHei"/>
              </a:rPr>
              <a:t>杜绝跨版本脏读，0 错误消费。</a:t>
            </a:r>
          </a:p>
          <a:p>
            <a:pPr algn="l" eaLnBrk="1" hangingPunct="1">
              <a:lnSpc>
                <a:spcPct val="120000"/>
              </a:lnSpc>
              <a:spcAft>
                <a:spcPts val="400"/>
              </a:spcAft>
            </a:pPr>
            <a:r>
              <a:rPr sz="1100" b="1">
                <a:solidFill>
                  <a:srgbClr val="1E3A8A"/>
                </a:solidFill>
                <a:latin typeface="Microsoft YaHei"/>
              </a:rPr>
              <a:t>• 目录多数派丢失降级：</a:t>
            </a:r>
            <a:r>
              <a:rPr sz="1100" b="0">
                <a:solidFill>
                  <a:srgbClr val="1E293B"/>
                </a:solidFill>
                <a:latin typeface="Microsoft YaHei"/>
              </a:rPr>
              <a:t>目录故障暂停写，未命中即刻回退本地重算，零排队等待。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3401568"/>
            <a:ext cx="5532120" cy="2331720"/>
          </a:xfrm>
          <a:prstGeom prst="rect">
            <a:avLst/>
          </a:prstGeom>
          <a:solidFill>
            <a:srgbClr val="FFFF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57200" y="3401568"/>
            <a:ext cx="5532120" cy="292608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66928" y="3438144"/>
            <a:ext cx="5312664" cy="21945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200" b="1">
                <a:solidFill>
                  <a:srgbClr val="FFFFFF"/>
                </a:solidFill>
                <a:latin typeface="Microsoft YaHei"/>
              </a:defRPr>
            </a:pPr>
            <a:r>
              <a:t>3. 数据面超时快速熔断与多卡防死锁</a:t>
            </a:r>
            <a:r>
              <a:rPr sz="1000" b="1">
                <a:solidFill>
                  <a:srgbClr val="BFDBFE"/>
                </a:solidFill>
                <a:latin typeface="Microsoft YaHei"/>
              </a:rPr>
              <a:t>  [数据面容错]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66928" y="3749040"/>
            <a:ext cx="5312664" cy="19293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 eaLnBrk="1" hangingPunct="1">
              <a:lnSpc>
                <a:spcPct val="120000"/>
              </a:lnSpc>
              <a:spcAft>
                <a:spcPts val="400"/>
              </a:spcAft>
            </a:pPr>
            <a:r>
              <a:rPr sz="1100" b="1">
                <a:solidFill>
                  <a:srgbClr val="1E3A8A"/>
                </a:solidFill>
                <a:latin typeface="Microsoft YaHei"/>
              </a:rPr>
              <a:t>• 快速超时熔断 (Fail-Fast)：</a:t>
            </a:r>
            <a:r>
              <a:rPr sz="1100" b="0">
                <a:solidFill>
                  <a:srgbClr val="1E293B"/>
                </a:solidFill>
                <a:latin typeface="Microsoft YaHei"/>
              </a:rPr>
              <a:t>绑定微秒 Timer，传输超时拒绝无限等待，</a:t>
            </a:r>
            <a:r>
              <a:rPr sz="1100" b="1">
                <a:solidFill>
                  <a:srgbClr val="DC2626"/>
                </a:solidFill>
                <a:latin typeface="Microsoft YaHei"/>
              </a:rPr>
              <a:t>立即回退本地重算。</a:t>
            </a:r>
          </a:p>
          <a:p>
            <a:pPr algn="l" eaLnBrk="1" hangingPunct="1">
              <a:lnSpc>
                <a:spcPct val="120000"/>
              </a:lnSpc>
              <a:spcAft>
                <a:spcPts val="400"/>
              </a:spcAft>
            </a:pPr>
            <a:r>
              <a:rPr sz="1100" b="1">
                <a:solidFill>
                  <a:srgbClr val="1E3A8A"/>
                </a:solidFill>
                <a:latin typeface="Microsoft YaHei"/>
              </a:rPr>
              <a:t>• TP=8 多卡防死锁协同：</a:t>
            </a:r>
            <a:r>
              <a:rPr sz="1100" b="0">
                <a:solidFill>
                  <a:srgbClr val="1E293B"/>
                </a:solidFill>
                <a:latin typeface="Microsoft YaHei"/>
              </a:rPr>
              <a:t>单卡数据未到齐，</a:t>
            </a:r>
            <a:r>
              <a:rPr sz="1100" b="1">
                <a:solidFill>
                  <a:srgbClr val="2563EB"/>
                </a:solidFill>
                <a:latin typeface="Microsoft YaHei"/>
              </a:rPr>
              <a:t>全组协同原子回退至本地重算，杜绝集合通信死锁。</a:t>
            </a:r>
          </a:p>
          <a:p>
            <a:pPr algn="l" eaLnBrk="1" hangingPunct="1">
              <a:lnSpc>
                <a:spcPct val="120000"/>
              </a:lnSpc>
              <a:spcAft>
                <a:spcPts val="400"/>
              </a:spcAft>
            </a:pPr>
            <a:r>
              <a:rPr sz="1100" b="1">
                <a:solidFill>
                  <a:srgbClr val="1E3A8A"/>
                </a:solidFill>
                <a:latin typeface="Microsoft YaHei"/>
              </a:rPr>
              <a:t>• 安全排空语义 (Drain)：</a:t>
            </a:r>
            <a:r>
              <a:rPr sz="1100" b="0">
                <a:solidFill>
                  <a:srgbClr val="1E293B"/>
                </a:solidFill>
                <a:latin typeface="Microsoft YaHei"/>
              </a:rPr>
              <a:t>取消请求时分离逻辑取消与物理排空，</a:t>
            </a:r>
            <a:r>
              <a:rPr sz="1100" b="1">
                <a:solidFill>
                  <a:srgbClr val="059669"/>
                </a:solidFill>
                <a:latin typeface="Microsoft YaHei"/>
              </a:rPr>
              <a:t>杜绝迟到写破坏新请求数据。</a:t>
            </a:r>
          </a:p>
          <a:p>
            <a:pPr algn="l" eaLnBrk="1" hangingPunct="1">
              <a:lnSpc>
                <a:spcPct val="120000"/>
              </a:lnSpc>
              <a:spcAft>
                <a:spcPts val="400"/>
              </a:spcAft>
            </a:pPr>
            <a:r>
              <a:rPr sz="1100" b="1">
                <a:solidFill>
                  <a:srgbClr val="1E3A8A"/>
                </a:solidFill>
                <a:latin typeface="Microsoft YaHei"/>
              </a:rPr>
              <a:t>• SSD 扇区校验和 (CRC64)：</a:t>
            </a:r>
            <a:r>
              <a:rPr sz="1100" b="0">
                <a:solidFill>
                  <a:srgbClr val="1E293B"/>
                </a:solidFill>
                <a:latin typeface="Microsoft YaHei"/>
              </a:rPr>
              <a:t>坏块立即标记隔离，自动从远端副本拉取或回退重算。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199632" y="3401568"/>
            <a:ext cx="5532120" cy="2331720"/>
          </a:xfrm>
          <a:prstGeom prst="rect">
            <a:avLst/>
          </a:prstGeom>
          <a:solidFill>
            <a:srgbClr val="FFFF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199632" y="3401568"/>
            <a:ext cx="5532120" cy="292608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09360" y="3438144"/>
            <a:ext cx="5312664" cy="21945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200" b="1">
                <a:solidFill>
                  <a:srgbClr val="FFFFFF"/>
                </a:solidFill>
                <a:latin typeface="Microsoft YaHei"/>
              </a:defRPr>
            </a:pPr>
            <a:r>
              <a:t>4. 硬件双轨降级与 SemanticQoS 自适应</a:t>
            </a:r>
            <a:r>
              <a:rPr sz="1000" b="1">
                <a:solidFill>
                  <a:srgbClr val="BFDBFE"/>
                </a:solidFill>
                <a:latin typeface="Microsoft YaHei"/>
              </a:rPr>
              <a:t>  [降级与流控]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09360" y="3749040"/>
            <a:ext cx="5312664" cy="19293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 eaLnBrk="1" hangingPunct="1">
              <a:lnSpc>
                <a:spcPct val="120000"/>
              </a:lnSpc>
              <a:spcAft>
                <a:spcPts val="400"/>
              </a:spcAft>
            </a:pPr>
            <a:r>
              <a:rPr sz="1100" b="1">
                <a:solidFill>
                  <a:srgbClr val="1E3A8A"/>
                </a:solidFill>
                <a:latin typeface="Microsoft YaHei"/>
              </a:rPr>
              <a:t>• 软硬件双轨降级协同：</a:t>
            </a:r>
            <a:r>
              <a:rPr sz="1100" b="0">
                <a:solidFill>
                  <a:srgbClr val="1E293B"/>
                </a:solidFill>
                <a:latin typeface="Microsoft YaHei"/>
              </a:rPr>
              <a:t>Raw Direct 纯软通路为主路径，</a:t>
            </a:r>
            <a:r>
              <a:rPr sz="1100" b="1">
                <a:solidFill>
                  <a:srgbClr val="059669"/>
                </a:solidFill>
                <a:latin typeface="Microsoft YaHei"/>
              </a:rPr>
              <a:t>DPU 异常 500µs 平滑切回纯软。</a:t>
            </a:r>
          </a:p>
          <a:p>
            <a:pPr algn="l" eaLnBrk="1" hangingPunct="1">
              <a:lnSpc>
                <a:spcPct val="120000"/>
              </a:lnSpc>
              <a:spcAft>
                <a:spcPts val="400"/>
              </a:spcAft>
            </a:pPr>
            <a:r>
              <a:rPr sz="1100" b="1">
                <a:solidFill>
                  <a:srgbClr val="1E3A8A"/>
                </a:solidFill>
                <a:latin typeface="Microsoft YaHei"/>
              </a:rPr>
              <a:t>• 前后台混压自适应退避：</a:t>
            </a:r>
            <a:r>
              <a:rPr sz="1100" b="0">
                <a:solidFill>
                  <a:srgbClr val="1E293B"/>
                </a:solidFill>
                <a:latin typeface="Microsoft YaHei"/>
              </a:rPr>
              <a:t>前台 TPOT 波动 &gt; 2% 时，后台换出微秒退避，</a:t>
            </a:r>
            <a:r>
              <a:rPr sz="1100" b="1">
                <a:solidFill>
                  <a:srgbClr val="DC2626"/>
                </a:solidFill>
                <a:latin typeface="Microsoft YaHei"/>
              </a:rPr>
              <a:t>前台干扰率 &lt; 3%。</a:t>
            </a:r>
          </a:p>
          <a:p>
            <a:pPr algn="l" eaLnBrk="1" hangingPunct="1">
              <a:lnSpc>
                <a:spcPct val="120000"/>
              </a:lnSpc>
              <a:spcAft>
                <a:spcPts val="400"/>
              </a:spcAft>
            </a:pPr>
            <a:r>
              <a:rPr sz="1100" b="1">
                <a:solidFill>
                  <a:srgbClr val="1E3A8A"/>
                </a:solidFill>
                <a:latin typeface="Microsoft YaHei"/>
              </a:rPr>
              <a:t>• 细粒度 RTO 与 RPO 分级：</a:t>
            </a:r>
            <a:r>
              <a:rPr sz="1100" b="0">
                <a:solidFill>
                  <a:srgbClr val="1E293B"/>
                </a:solidFill>
                <a:latin typeface="Microsoft YaHei"/>
              </a:rPr>
              <a:t>请求级切换 &lt; 200ms；配置与目录持久不丢，易失缓存允许重算。</a:t>
            </a:r>
          </a:p>
          <a:p>
            <a:pPr algn="l" eaLnBrk="1" hangingPunct="1">
              <a:lnSpc>
                <a:spcPct val="120000"/>
              </a:lnSpc>
              <a:spcAft>
                <a:spcPts val="400"/>
              </a:spcAft>
            </a:pPr>
            <a:r>
              <a:rPr sz="1100" b="1">
                <a:solidFill>
                  <a:srgbClr val="1E3A8A"/>
                </a:solidFill>
                <a:latin typeface="Microsoft YaHei"/>
              </a:rPr>
              <a:t>• 混沌工程验证覆盖：</a:t>
            </a:r>
            <a:r>
              <a:rPr sz="1100" b="0">
                <a:solidFill>
                  <a:srgbClr val="1E293B"/>
                </a:solidFill>
                <a:latin typeface="Microsoft YaHei"/>
              </a:rPr>
              <a:t>注入节点掉电、光纤误码断开、多卡偏斜与坏块，验证自愈。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5833872"/>
            <a:ext cx="11277295" cy="694944"/>
          </a:xfrm>
          <a:prstGeom prst="rect">
            <a:avLst/>
          </a:prstGeom>
          <a:solidFill>
            <a:srgbClr val="FFFF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57200" y="5833872"/>
            <a:ext cx="73152" cy="694944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1792" y="5925312"/>
            <a:ext cx="11021263" cy="51206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8000"/>
              </a:lnSpc>
            </a:pPr>
            <a:r>
              <a:rPr sz="1150" b="1">
                <a:solidFill>
                  <a:srgbClr val="1E3A8A"/>
                </a:solidFill>
                <a:latin typeface="Microsoft YaHei"/>
              </a:rPr>
              <a:t>【可靠性核心决断】 </a:t>
            </a:r>
            <a:r>
              <a:rPr sz="1150" b="1">
                <a:solidFill>
                  <a:srgbClr val="1E293B"/>
                </a:solidFill>
                <a:latin typeface="Microsoft YaHei"/>
              </a:rPr>
              <a:t>守住 0 错误消费底线；ViewGuard 捕获异常 500µs 跳出，TP 多卡原子协同防死锁；</a:t>
            </a:r>
            <a:r>
              <a:rPr sz="1150" b="1">
                <a:solidFill>
                  <a:srgbClr val="DC2626"/>
                </a:solidFill>
                <a:latin typeface="Microsoft YaHei"/>
              </a:rPr>
              <a:t>任何网络与硬件超时确定性快速失败并平滑回退重算</a:t>
            </a:r>
            <a:r>
              <a:rPr sz="1150" b="1">
                <a:solidFill>
                  <a:srgbClr val="1E293B"/>
                </a:solidFill>
                <a:latin typeface="Microsoft YaHei"/>
              </a:rPr>
              <a:t>，实现生产级高可用与服务业务连续性。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987552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900" b="1">
                <a:solidFill>
                  <a:srgbClr val="1E3A8A"/>
                </a:solidFill>
                <a:latin typeface="Microsoft YaHei"/>
              </a:defRPr>
            </a:pPr>
            <a:r>
              <a:t>架构总结与研发实施落地路线</a:t>
            </a:r>
          </a:p>
          <a:p>
            <a:pPr>
              <a:spcBef>
                <a:spcPts val="300"/>
              </a:spcBef>
              <a:defRPr sz="1100">
                <a:solidFill>
                  <a:srgbClr val="475569"/>
                </a:solidFill>
                <a:latin typeface="Microsoft YaHei"/>
              </a:defRPr>
            </a:pPr>
            <a:r>
              <a:t>四个核心验证阶段 (E0~E3) 稳步演进 · 38 条 SR 交付闭环 · 原厂软硬件协同落地承诺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424160" y="320040"/>
            <a:ext cx="1310335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150" b="1">
                <a:solidFill>
                  <a:srgbClr val="2563EB"/>
                </a:solidFill>
                <a:latin typeface="Microsoft YaHei"/>
              </a:defRPr>
            </a:pPr>
            <a:r>
              <a:t>第 10 / 10 页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691640"/>
            <a:ext cx="3474720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691640"/>
            <a:ext cx="3474720" cy="310896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1728216"/>
            <a:ext cx="3255264" cy="23774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200" b="1">
                <a:solidFill>
                  <a:srgbClr val="FFFFFF"/>
                </a:solidFill>
                <a:latin typeface="Microsoft YaHei"/>
              </a:defRPr>
            </a:pPr>
            <a:r>
              <a:t>四个核心验证阶段 (E0~E3)</a:t>
            </a:r>
            <a:r>
              <a:rPr sz="1000" b="1">
                <a:solidFill>
                  <a:srgbClr val="BFDBFE"/>
                </a:solidFill>
                <a:latin typeface="Microsoft YaHei"/>
              </a:rPr>
              <a:t>  [演进路线]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85216" y="2075688"/>
            <a:ext cx="3218688" cy="3474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 eaLnBrk="1" hangingPunct="1">
              <a:lnSpc>
                <a:spcPct val="120000"/>
              </a:lnSpc>
              <a:spcAft>
                <a:spcPts val="600"/>
              </a:spcAft>
            </a:pPr>
            <a:r>
              <a:rPr sz="1150" b="1">
                <a:solidFill>
                  <a:srgbClr val="1E3A8A"/>
                </a:solidFill>
                <a:latin typeface="Microsoft YaHei"/>
              </a:rPr>
              <a:t>• E0 业务收益确认：</a:t>
            </a:r>
            <a:r>
              <a:rPr sz="1150" b="0">
                <a:solidFill>
                  <a:srgbClr val="1E293B"/>
                </a:solidFill>
                <a:latin typeface="Microsoft YaHei"/>
              </a:rPr>
              <a:t>测定 Saved-Prefill 在各复用率下的净收益上限，确立投资前提。</a:t>
            </a:r>
          </a:p>
          <a:p>
            <a:pPr algn="l" eaLnBrk="1" hangingPunct="1">
              <a:lnSpc>
                <a:spcPct val="120000"/>
              </a:lnSpc>
              <a:spcAft>
                <a:spcPts val="600"/>
              </a:spcAft>
            </a:pPr>
            <a:r>
              <a:rPr sz="1150" b="1">
                <a:solidFill>
                  <a:srgbClr val="1E3A8A"/>
                </a:solidFill>
                <a:latin typeface="Microsoft YaHei"/>
              </a:rPr>
              <a:t>• E1 传输底座打通：</a:t>
            </a:r>
            <a:r>
              <a:rPr sz="1150" b="0">
                <a:solidFill>
                  <a:srgbClr val="1E293B"/>
                </a:solidFill>
                <a:latin typeface="Microsoft YaHei"/>
              </a:rPr>
              <a:t>Host CPU 零数据拷贝传输打通，</a:t>
            </a:r>
            <a:r>
              <a:rPr sz="1150" b="1">
                <a:solidFill>
                  <a:srgbClr val="2563EB"/>
                </a:solidFill>
                <a:latin typeface="Microsoft YaHei"/>
              </a:rPr>
              <a:t>描述符编译与 6 维语义校验闭环。</a:t>
            </a:r>
          </a:p>
          <a:p>
            <a:pPr algn="l" eaLnBrk="1" hangingPunct="1">
              <a:lnSpc>
                <a:spcPct val="120000"/>
              </a:lnSpc>
              <a:spcAft>
                <a:spcPts val="600"/>
              </a:spcAft>
            </a:pPr>
            <a:r>
              <a:rPr sz="1150" b="1">
                <a:solidFill>
                  <a:srgbClr val="1E3A8A"/>
                </a:solidFill>
                <a:latin typeface="Microsoft YaHei"/>
              </a:rPr>
              <a:t>• E2 动态选路与扩容：</a:t>
            </a:r>
            <a:r>
              <a:rPr sz="1150" b="0">
                <a:solidFill>
                  <a:srgbClr val="1E293B"/>
                </a:solidFill>
                <a:latin typeface="Microsoft YaHei"/>
              </a:rPr>
              <a:t>QueryPlan 微秒决策准确性，</a:t>
            </a:r>
            <a:r>
              <a:rPr sz="1150" b="1">
                <a:solidFill>
                  <a:srgbClr val="059669"/>
                </a:solidFill>
                <a:latin typeface="Microsoft YaHei"/>
              </a:rPr>
              <a:t>NVMe SSD 裸盘直达容量扩展 ≥ 50%。</a:t>
            </a:r>
          </a:p>
          <a:p>
            <a:pPr algn="l" eaLnBrk="1" hangingPunct="1">
              <a:lnSpc>
                <a:spcPct val="120000"/>
              </a:lnSpc>
              <a:spcAft>
                <a:spcPts val="600"/>
              </a:spcAft>
            </a:pPr>
            <a:r>
              <a:rPr sz="1150" b="1">
                <a:solidFill>
                  <a:srgbClr val="1E3A8A"/>
                </a:solidFill>
                <a:latin typeface="Microsoft YaHei"/>
              </a:rPr>
              <a:t>• E3 全链路混压总门禁：</a:t>
            </a:r>
            <a:r>
              <a:rPr sz="1150" b="0">
                <a:solidFill>
                  <a:srgbClr val="1E293B"/>
                </a:solidFill>
                <a:latin typeface="Microsoft YaHei"/>
              </a:rPr>
              <a:t>真实 2 节点混压，</a:t>
            </a:r>
            <a:r>
              <a:rPr sz="1150" b="1">
                <a:solidFill>
                  <a:srgbClr val="DC2626"/>
                </a:solidFill>
                <a:latin typeface="Microsoft YaHei"/>
              </a:rPr>
              <a:t>TTFT 降 ≥ 20%、干扰率 &lt; 3%、偏斜 &lt; 1.15。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4358030" y="1691640"/>
            <a:ext cx="3474720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358030" y="1691640"/>
            <a:ext cx="3474720" cy="310896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467758" y="1728216"/>
            <a:ext cx="3255264" cy="23774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200" b="1">
                <a:solidFill>
                  <a:srgbClr val="FFFFFF"/>
                </a:solidFill>
                <a:latin typeface="Microsoft YaHei"/>
              </a:defRPr>
            </a:pPr>
            <a:r>
              <a:t>38 条 SR 交付与近期落地重点</a:t>
            </a:r>
            <a:r>
              <a:rPr sz="1000" b="1">
                <a:solidFill>
                  <a:srgbClr val="BFDBFE"/>
                </a:solidFill>
                <a:latin typeface="Microsoft YaHei"/>
              </a:rPr>
              <a:t>  [落地推进]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86046" y="2075688"/>
            <a:ext cx="3218688" cy="3474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 eaLnBrk="1" hangingPunct="1">
              <a:lnSpc>
                <a:spcPct val="120000"/>
              </a:lnSpc>
              <a:spcAft>
                <a:spcPts val="600"/>
              </a:spcAft>
            </a:pPr>
            <a:r>
              <a:rPr sz="1150" b="1">
                <a:solidFill>
                  <a:srgbClr val="1E3A8A"/>
                </a:solidFill>
                <a:latin typeface="Microsoft YaHei"/>
              </a:rPr>
              <a:t>• 固化 C++ 契约头文件：</a:t>
            </a:r>
            <a:r>
              <a:rPr sz="1150" b="1">
                <a:solidFill>
                  <a:srgbClr val="1E3A8A"/>
                </a:solidFill>
                <a:latin typeface="Consolas"/>
              </a:rPr>
              <a:t>定版 ExtentManifestPOD、KVAccessIntent 与 QueryPlan 数据结构。</a:t>
            </a:r>
          </a:p>
          <a:p>
            <a:pPr algn="l" eaLnBrk="1" hangingPunct="1">
              <a:lnSpc>
                <a:spcPct val="120000"/>
              </a:lnSpc>
              <a:spcAft>
                <a:spcPts val="600"/>
              </a:spcAft>
            </a:pPr>
            <a:r>
              <a:rPr sz="1150" b="1">
                <a:solidFill>
                  <a:srgbClr val="1E3A8A"/>
                </a:solidFill>
                <a:latin typeface="Microsoft YaHei"/>
              </a:rPr>
              <a:t>• 正式输入 KPCL 规格书：</a:t>
            </a:r>
            <a:r>
              <a:rPr sz="1150" b="0">
                <a:solidFill>
                  <a:srgbClr val="1E293B"/>
                </a:solidFill>
                <a:latin typeface="Microsoft YaHei"/>
              </a:rPr>
              <a:t>向通信团队正式输出流量画像与 </a:t>
            </a:r>
            <a:r>
              <a:rPr sz="1150" b="1">
                <a:solidFill>
                  <a:srgbClr val="DC2626"/>
                </a:solidFill>
                <a:latin typeface="Microsoft YaHei"/>
              </a:rPr>
              <a:t>1µs 级 API 接口族规范。</a:t>
            </a:r>
          </a:p>
          <a:p>
            <a:pPr algn="l" eaLnBrk="1" hangingPunct="1">
              <a:lnSpc>
                <a:spcPct val="120000"/>
              </a:lnSpc>
              <a:spcAft>
                <a:spcPts val="600"/>
              </a:spcAft>
            </a:pPr>
            <a:r>
              <a:rPr sz="1150" b="1">
                <a:solidFill>
                  <a:srgbClr val="1E3A8A"/>
                </a:solidFill>
                <a:latin typeface="Microsoft YaHei"/>
              </a:rPr>
              <a:t>• 跑通本地执行 HBM 闭环：</a:t>
            </a:r>
            <a:r>
              <a:rPr sz="1150" b="0">
                <a:solidFill>
                  <a:srgbClr val="1E293B"/>
                </a:solidFill>
                <a:latin typeface="Microsoft YaHei"/>
              </a:rPr>
              <a:t>完成推理框架适配器与节点代理最小闭环，</a:t>
            </a:r>
            <a:r>
              <a:rPr sz="1150" b="1">
                <a:solidFill>
                  <a:srgbClr val="059669"/>
                </a:solidFill>
                <a:latin typeface="Microsoft YaHei"/>
              </a:rPr>
              <a:t>验证零拷贝加载。</a:t>
            </a:r>
          </a:p>
          <a:p>
            <a:pPr algn="l" eaLnBrk="1" hangingPunct="1">
              <a:lnSpc>
                <a:spcPct val="120000"/>
              </a:lnSpc>
              <a:spcAft>
                <a:spcPts val="600"/>
              </a:spcAft>
            </a:pPr>
            <a:r>
              <a:rPr sz="1150" b="1">
                <a:solidFill>
                  <a:srgbClr val="1E3A8A"/>
                </a:solidFill>
                <a:latin typeface="Microsoft YaHei"/>
              </a:rPr>
              <a:t>• 自动化对账与混沌测试：</a:t>
            </a:r>
            <a:r>
              <a:rPr sz="1150" b="0">
                <a:solidFill>
                  <a:srgbClr val="1E293B"/>
                </a:solidFill>
                <a:latin typeface="Microsoft YaHei"/>
              </a:rPr>
              <a:t>构建全量 CSV 对账工具，自动化注入丢包与超时，验收 RTO/RPO。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58860" y="1691640"/>
            <a:ext cx="3474720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258860" y="1691640"/>
            <a:ext cx="3474720" cy="310896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68588" y="1728216"/>
            <a:ext cx="3255264" cy="23774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200" b="1">
                <a:solidFill>
                  <a:srgbClr val="FFFFFF"/>
                </a:solidFill>
                <a:latin typeface="Microsoft YaHei"/>
              </a:defRPr>
            </a:pPr>
            <a:r>
              <a:t>架构立项与设计三大共识</a:t>
            </a:r>
            <a:r>
              <a:rPr sz="1000" b="1">
                <a:solidFill>
                  <a:srgbClr val="BFDBFE"/>
                </a:solidFill>
                <a:latin typeface="Microsoft YaHei"/>
              </a:rPr>
              <a:t>  [核心共识]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86876" y="2075688"/>
            <a:ext cx="3218688" cy="3474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 eaLnBrk="1" hangingPunct="1">
              <a:lnSpc>
                <a:spcPct val="120000"/>
              </a:lnSpc>
              <a:spcAft>
                <a:spcPts val="600"/>
              </a:spcAft>
            </a:pPr>
            <a:r>
              <a:rPr sz="1150" b="1">
                <a:solidFill>
                  <a:srgbClr val="1E3A8A"/>
                </a:solidFill>
                <a:latin typeface="Microsoft YaHei"/>
              </a:rPr>
              <a:t>• 原厂软硬件深度协同：</a:t>
            </a:r>
            <a:r>
              <a:rPr sz="1150" b="0">
                <a:solidFill>
                  <a:srgbClr val="1E293B"/>
                </a:solidFill>
                <a:latin typeface="Microsoft YaHei"/>
              </a:rPr>
              <a:t>以开源 Mooncake 为外壳，深度注入原厂微架构使能与专用通信内核。</a:t>
            </a:r>
          </a:p>
          <a:p>
            <a:pPr algn="l" eaLnBrk="1" hangingPunct="1">
              <a:lnSpc>
                <a:spcPct val="120000"/>
              </a:lnSpc>
              <a:spcAft>
                <a:spcPts val="600"/>
              </a:spcAft>
            </a:pPr>
            <a:r>
              <a:rPr sz="1150" b="1">
                <a:solidFill>
                  <a:srgbClr val="1E3A8A"/>
                </a:solidFill>
                <a:latin typeface="Microsoft YaHei"/>
              </a:rPr>
              <a:t>• 前置微秒级动态决策：</a:t>
            </a:r>
            <a:r>
              <a:rPr sz="1150" b="1">
                <a:solidFill>
                  <a:srgbClr val="DC2626"/>
                </a:solidFill>
                <a:latin typeface="Microsoft YaHei"/>
              </a:rPr>
              <a:t>拉取总开销 &lt; 本地直接重算耗时，</a:t>
            </a:r>
            <a:r>
              <a:rPr sz="1150" b="0">
                <a:solidFill>
                  <a:srgbClr val="1E293B"/>
                </a:solidFill>
                <a:latin typeface="Microsoft YaHei"/>
              </a:rPr>
              <a:t>确保每一次命中都创造业务价值。</a:t>
            </a:r>
          </a:p>
          <a:p>
            <a:pPr algn="l" eaLnBrk="1" hangingPunct="1">
              <a:lnSpc>
                <a:spcPct val="120000"/>
              </a:lnSpc>
              <a:spcAft>
                <a:spcPts val="600"/>
              </a:spcAft>
            </a:pPr>
            <a:r>
              <a:rPr sz="1150" b="1">
                <a:solidFill>
                  <a:srgbClr val="1E3A8A"/>
                </a:solidFill>
                <a:latin typeface="Microsoft YaHei"/>
              </a:rPr>
              <a:t>• 生产级安全自愈：</a:t>
            </a:r>
            <a:r>
              <a:rPr sz="1150" b="0">
                <a:solidFill>
                  <a:srgbClr val="1E293B"/>
                </a:solidFill>
                <a:latin typeface="Microsoft YaHei"/>
              </a:rPr>
              <a:t>6 维校验杜绝脏块，ViewGuard 信号兜底，</a:t>
            </a:r>
            <a:r>
              <a:rPr sz="1150" b="1">
                <a:solidFill>
                  <a:srgbClr val="059669"/>
                </a:solidFill>
                <a:latin typeface="Microsoft YaHei"/>
              </a:rPr>
              <a:t>保障 0 错误消费。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5833872"/>
            <a:ext cx="11277295" cy="694944"/>
          </a:xfrm>
          <a:prstGeom prst="rect">
            <a:avLst/>
          </a:prstGeom>
          <a:solidFill>
            <a:srgbClr val="FFFF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57200" y="5833872"/>
            <a:ext cx="73152" cy="694944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21792" y="5925312"/>
            <a:ext cx="11021263" cy="51206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8000"/>
              </a:lnSpc>
            </a:pPr>
            <a:r>
              <a:rPr sz="1150" b="1">
                <a:solidFill>
                  <a:srgbClr val="1E3A8A"/>
                </a:solidFill>
                <a:latin typeface="Microsoft YaHei"/>
              </a:rPr>
              <a:t>【项目落地承诺】 </a:t>
            </a:r>
            <a:r>
              <a:rPr sz="1150" b="1">
                <a:solidFill>
                  <a:srgbClr val="1E293B"/>
                </a:solidFill>
                <a:latin typeface="Microsoft YaHei"/>
              </a:rPr>
              <a:t>严守学术与技术诚信红线，以计算机体系结构与客观实测数据为依据；</a:t>
            </a:r>
            <a:r>
              <a:rPr sz="1150" b="1">
                <a:solidFill>
                  <a:srgbClr val="DC2626"/>
                </a:solidFill>
                <a:latin typeface="Microsoft YaHei"/>
              </a:rPr>
              <a:t>扎实打赢 12 项技术验证，打造面向国产芯片的顶级统一异构存储底座！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