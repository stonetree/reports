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60" r:id="rId12"/>
    <p:sldId id="261" r:id="rId13"/>
    <p:sldId id="262" r:id="rId14"/>
    <p:sldId id="263" r:id="rId15"/>
    <p:sldId id="265" r:id="rId17"/>
    <p:sldId id="259" r:id="rId11"/>
    <p:sldId id="264" r:id="rId16"/>
    <p:sldId id="267" r:id="rIdV10Slide12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9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10.xml"/><Relationship Id="rId17" Type="http://schemas.openxmlformats.org/officeDocument/2006/relationships/slide" Target="slides/slide8.xml"/><Relationship Id="rId18" Type="http://schemas.openxmlformats.org/officeDocument/2006/relationships/slide" Target="slides/slide11.xml"/><Relationship Id="rIdV10Slide12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基线：服务1.0 ms</c:v>
                </c:pt>
              </c:strCache>
            </c:strRef>
          </c:tx>
          <c:spPr>
            <a:ln w="20320">
              <a:solidFill>
                <a:srgbClr val="C53A3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500</c:v>
                </c:pt>
                <c:pt idx="2">
                  <c:v>800</c:v>
                </c:pt>
                <c:pt idx="3">
                  <c:v>900</c:v>
                </c:pt>
                <c:pt idx="4">
                  <c:v>960</c:v>
                </c:pt>
                <c:pt idx="5">
                  <c:v>980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9.855170185988092</c:v>
                </c:pt>
                <c:pt idx="1">
                  <c:v>14.460340371976184</c:v>
                </c:pt>
                <c:pt idx="2">
                  <c:v>28.275850929940457</c:v>
                </c:pt>
                <c:pt idx="3">
                  <c:v>51.301701859880914</c:v>
                </c:pt>
                <c:pt idx="4">
                  <c:v>120.37925464970229</c:v>
                </c:pt>
                <c:pt idx="5">
                  <c:v>235.50850929940458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优化：服务0.7 ms</c:v>
                </c:pt>
              </c:strCache>
            </c:strRef>
          </c:tx>
          <c:spPr>
            <a:ln w="20320">
              <a:solidFill>
                <a:srgbClr val="245DB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500</c:v>
                </c:pt>
                <c:pt idx="2">
                  <c:v>800</c:v>
                </c:pt>
                <c:pt idx="3">
                  <c:v>900</c:v>
                </c:pt>
                <c:pt idx="4">
                  <c:v>960</c:v>
                </c:pt>
                <c:pt idx="5">
                  <c:v>980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8.473619130191665</c:v>
                </c:pt>
                <c:pt idx="1">
                  <c:v>10.209414046448714</c:v>
                </c:pt>
                <c:pt idx="2">
                  <c:v>12.576407114071962</c:v>
                </c:pt>
                <c:pt idx="3">
                  <c:v>13.962484135653144</c:v>
                </c:pt>
                <c:pt idx="4">
                  <c:v>15.078107104242877</c:v>
                </c:pt>
                <c:pt idx="5">
                  <c:v>15.516302962393834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元数据服务台到达率 / req/s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条件 P99 TTFT / 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固定加载</c:v>
                </c:pt>
              </c:strCache>
            </c:strRef>
          </c:tx>
          <c:spPr>
            <a:ln w="20320">
              <a:solidFill>
                <a:srgbClr val="C53A3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20</c:v>
                </c:pt>
                <c:pt idx="5">
                  <c:v>42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629.933626085612</c:v>
                </c:pt>
                <c:pt idx="1">
                  <c:v>379.6734874189453</c:v>
                </c:pt>
                <c:pt idx="2">
                  <c:v>238.9021594189453</c:v>
                </c:pt>
                <c:pt idx="3">
                  <c:v>187.9773881822917</c:v>
                </c:pt>
                <c:pt idx="4">
                  <c:v>162.951374315625</c:v>
                </c:pt>
                <c:pt idx="5">
                  <c:v>143.2880777061012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动态选择</c:v>
                </c:pt>
              </c:strCache>
            </c:strRef>
          </c:tx>
          <c:spPr>
            <a:ln w="20320">
              <a:solidFill>
                <a:srgbClr val="245DB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20</c:v>
                </c:pt>
                <c:pt idx="5">
                  <c:v>42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240.75</c:v>
                </c:pt>
                <c:pt idx="1">
                  <c:v>240.75</c:v>
                </c:pt>
                <c:pt idx="2">
                  <c:v>238.9021594189453</c:v>
                </c:pt>
                <c:pt idx="3">
                  <c:v>187.9773881822917</c:v>
                </c:pt>
                <c:pt idx="4">
                  <c:v>162.951374315625</c:v>
                </c:pt>
                <c:pt idx="5">
                  <c:v>143.2880777061012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已付控制后的重算</c:v>
                </c:pt>
              </c:strCache>
            </c:strRef>
          </c:tx>
          <c:spPr>
            <a:ln w="20320">
              <a:solidFill>
                <a:srgbClr val="13977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3</c:v>
                </c:pt>
                <c:pt idx="1">
                  <c:v>5</c:v>
                </c:pt>
                <c:pt idx="2">
                  <c:v>8</c:v>
                </c:pt>
                <c:pt idx="3">
                  <c:v>12</c:v>
                </c:pt>
                <c:pt idx="4">
                  <c:v>20</c:v>
                </c:pt>
                <c:pt idx="5">
                  <c:v>42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240.75</c:v>
                </c:pt>
                <c:pt idx="1">
                  <c:v>240.75</c:v>
                </c:pt>
                <c:pt idx="2">
                  <c:v>240.75</c:v>
                </c:pt>
                <c:pt idx="3">
                  <c:v>240.75</c:v>
                </c:pt>
                <c:pt idx="4">
                  <c:v>240.75</c:v>
                </c:pt>
                <c:pt idx="5">
                  <c:v>240.75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共享带宽取样点 / GB/s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总路径时间 / 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无控制</c:v>
                </c:pt>
              </c:strCache>
            </c:strRef>
          </c:tx>
          <c:spPr>
            <a:ln w="20320">
              <a:solidFill>
                <a:srgbClr val="C53A3A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18.2</c:v>
                </c:pt>
                <c:pt idx="1">
                  <c:v>18.8188</c:v>
                </c:pt>
                <c:pt idx="2">
                  <c:v>19.4376</c:v>
                </c:pt>
                <c:pt idx="3">
                  <c:v>20.0564</c:v>
                </c:pt>
                <c:pt idx="4">
                  <c:v>20.6752</c:v>
                </c:pt>
                <c:pt idx="5">
                  <c:v>21.293999999999997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残余2%情景</c:v>
                </c:pt>
              </c:strCache>
            </c:strRef>
          </c:tx>
          <c:spPr>
            <a:ln w="20320">
              <a:solidFill>
                <a:srgbClr val="245DB6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18.2</c:v>
                </c:pt>
                <c:pt idx="1">
                  <c:v>18.2728</c:v>
                </c:pt>
                <c:pt idx="2">
                  <c:v>18.3456</c:v>
                </c:pt>
                <c:pt idx="3">
                  <c:v>18.4184</c:v>
                </c:pt>
                <c:pt idx="4">
                  <c:v>18.4912</c:v>
                </c:pt>
                <c:pt idx="5">
                  <c:v>18.564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3%目标线</c:v>
                </c:pt>
              </c:strCache>
            </c:strRef>
          </c:tx>
          <c:spPr>
            <a:ln w="20320">
              <a:solidFill>
                <a:srgbClr val="13977E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18.746</c:v>
                </c:pt>
                <c:pt idx="1">
                  <c:v>18.746</c:v>
                </c:pt>
                <c:pt idx="2">
                  <c:v>18.746</c:v>
                </c:pt>
                <c:pt idx="3">
                  <c:v>18.746</c:v>
                </c:pt>
                <c:pt idx="4">
                  <c:v>18.746</c:v>
                </c:pt>
                <c:pt idx="5">
                  <c:v>18.746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后台输入负载 / Gbps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DCE5EF"/>
              </a:solidFill>
            </a:ln>
          </c:spPr>
        </c:majorGridlines>
        <c:title>
          <c:tx>
            <c:rich>
              <a:bodyPr/>
              <a:lstStyle/>
              <a:p>
                <a:pPr>
                  <a:defRPr sz="1000">
                    <a:latin typeface="Microsoft YaHei"/>
                  </a:defRPr>
                </a:pPr>
                <a:r>
                  <a:t>平均 TPOT / ms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Microsoft YaHei"/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Microsoft YaHei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次分两轮评审：第一轮依据已有数据和模型，确认是否继续验证、重点路径和判断方法；第一轮后开展三周验证，第二轮根据实际在线收益和适用范围判断正式需求纳入。三周从确认的启动日算起，目前未确定日历日期。KVCache是大模型注意力键值缓存，通过复用历史状态减少重复计算。现有通信、检索与8B及72B前缀拉取对照，支持继续检验优化增量。三周允许实验分支和简化实现，不考核工程完整度或生产发布质量，但对照仍须任务正确、路径真实、条件可比并可重复。封面三张卡是后续系统目标，不能理解为三周必须全部达成。我们先保留三层模型解释收益机制，再优先检验能改变首字响应、逐字生成和有效吞吐的路径，报告无收益、退化和代价。第二轮形成技术建议，正式纳入由评审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页把目标部署中的五类开销与增强方向对应起来。主机中转路径会额外占用主机内存与设备总线；Mooncake本身已有设备内存传输等能力，不能把中转归为所有后端的共同缺陷。Beluga全命中首字时间13秒到1.36秒，是两台八卡H20、Qwen-32B和vLLM 0.8.5下论文所选路径的对照。按层搬运让首层先就绪，中继减少热点源端重复发送，但仍受共享带宽及转发层数影响。离散块会放大注册、描述符和查询等控制开销；稀疏读取5260到211微秒是数据访问实验，元数据收益另行建模。命中不等于值得加载，须把查询、传输、后缀计算、远端逐步访问和回退成本纳入比较。后台传输还会与前台及卡间通信争用多类资源，限流须与多卡命中和异常动作协调。这里的论文结果用于解释机制，本项目量化目标和条件由后续模型及验证阶段承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页保留全部十一项候选能力及原技术目标，新增范围标识帮助选择三周实验。优先收益验证对应元数据、传输、多通道、描述符与按层流水、动态选路、前后台控制及组合对照。通信收益边界用于建立基线和真实路径成本。设备安全访问、六维语义校验和多卡一致动作是使实验有效的必要条件，安全机制继续保留，但完整故障工程和全部安全矩阵属于后续开发。远端直读所需的安全部分随选路实验开展，专项完整能力按设备条件扩展。分层存储、热点中继、可选卸载和页迁移根据设备与实际价值选取。右列全部是原方案技术或后续交付目标，不是三周统一门槛，也没有承诺十一项全部完成。主任务使用配套计划W3-T01至T06，准备对应T00，扩展对应T07至T09；选定场景和三周判定方法见第八、九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六条主路径与配套计划一致：W3-T01元数据，T02传输与多通道，T03描述符和按层流水，T04动态选路，T05前后台资源控制，T06组合复验。准备工作T00负责固定真实环境、机制开关和数据入口。第一周选择代表配置、冻结比较条件，预先明确各场景的收益判断条件；第二周测单项和有利、普通、不利边界；第三周复验候选、进行组合对照并提交建议。需要吞吐或P99的结论使用独立持续负载，成对请求测试只支持点值和路径核验。TPOT干扰采用同包有无后台对照，后台完成与积压同时报告。实际设备、链路和负载条件限制可验证范围，不能假设所有候选都能三周完成。分层T07、中继T08及直读、卸载、迁移专项T09按条件扩展。R11仍是现有配置入口，W3配置、结果与候选字段按计划接续，尚未生成的新版工作簿不写成已存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已有验证提供三方面基础。主机通信基准取得42GB每秒大块带宽，用于理解传输成本量级，不能直接视为真实设备链路带宽。统一总线共享内存检索改善超过30%，支持控制路径值得优化，但不证明查表时延固定下降到0.7毫秒。MooncakeStore前缀拉取与重算对照在8B和72B模型下确认复用收益，历史输入为1K、8K、32K、50K和100K，六档命中率从30%到100%；32B仍待补。工作簿候选采用8B、27B、72B及1K、5K、10K、50K、100K，两组范围分别保留。下一步统一确认同条件新增优化的宏观收益与适用范围，而不是把拉取相对重算的收益归给新增机制。第二轮优先用最有代表性的两至三项真实结果更新本页，历史基准保留，详细配置和结果进入附录及工作簿。当前没有新增实测，不补造柱图或百分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查表往返由1.0降至0.7毫秒是场景输入，不能由检索改善超过30%直接替代。低载固定路径5.25毫秒，首字时间从6.25降至5.95毫秒，节省0.30毫秒。高载另设独立单服务台，采用泊松到达和指数服务；到达率900时条件P99从51.30降至13.96毫秒，980时从235.51降至15.52毫秒。总滞留已含服务时间，不能重复相加。服务台容量1000到1429请求每秒属于局部容量。120毫秒约束、固定路径99毫秒又是独立工况，推理吞吐仍受计算和加载限制。三周由W3-T01在相同模型、请求和负载下切换查询快路径，分别测低载和控制瓶颈附近的在线首字、尾时延及有效吞吐，解释局部改善是否转化为业务收益。持续负载才支持吞吐和P99结论，不能把服务台容量直接写成全系统QP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页模型和图保持原值，三周主验证是动态选路与资源控制。8K、八卡张量并行的结构算例，完整前缀合计2.5GiB；70%和100%前缀加载门限分别为7.94和11.28GB每秒。低于门限选重算，两条路径共同计入0.7毫秒查询和0.05毫秒决策成本。3GB每秒、70%时固定拉取629.93毫秒，选择后240.75；42GB每秒时为143.29。资源控制是有限后台窗的线性压力情景，18.56毫秒及70%后台进度均含假设。实际混压须同时记录前台时延、后台完成量与积压，不能靠无限延后后台换取收益。中继使源端发送八份降至两份，流量少75%，广播完成只快25%，未达到40%原目标。中继属于W3-T08条件扩展，具备多节点条件时比较拓扑、转发方式与实际在线收益，是否建议纳入由结果决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spcAft>
                <a:spcPts val="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页保留三维敏感性曲面、同硬件参考结果和贡献表。曲面扫描共享带宽5至80GB每秒、查表往返0.1至100毫秒，固定八卡、8K和70%名义前缀，各点是模型预测。参考点首字时间187.15到146.69毫秒，降低21.6%；基线已有30%或60%隐藏时，增量分别缩小到15.6%和8.5%。贡献分解中元数据、提交、流水和决策分别为0.30、13.40、26.81和负0.05毫秒，健康网络下选路增加决策开销，拥塞价值另见第六页。生成时延来自有限后台窗，P99只含元数据队列。三周W3-T06须明确基线已有能力，测分项增量、组合交互和场景边界。第二轮把选定实测点与预测放在同条件下对照，少数实测不代表全量扫描已验证。结果与模型不同也保留并解释，核心两至三项结果更新本页及第四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第一轮的判断是是否继续开展重点路径验证，第二轮的判断是哪些能力在哪些场景进入正式开发需求。已有主机通信、检索和缓存复用验证提供基础，三层模型解释增量空间与可能失效的条件。三周优先检验能改变在线推理宏观指标的路径，不以全部组件集成或代码质量作为统一前提。允许简化实验实现，同时坚持条件可比、任务正确、真实路径、工作量等价和重复性。第二轮提交优化措施、实际宏观收益、适用范围、主要代价和需求建议，保留无收益与证据不足的结论。建议纳入并不表示已经批准，正式需求编号、人员和开发日期由后续流程确定。请评审确认继续验证的范围、重点场景、比较方法和下轮判断内容。原基础、挑战及最终系统目标仍是后续开发与验收责任。详细路径映射见第十一页，模型复核见第十二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三周要回答四层问题：单项机制是否改变在线指标，哪些场景有收益或退化，组合是否产生交互，证据是否足够形成需求建议。比较固定硬件、版本、请求与负载，仅切换指定机制；若策略比较允许缓存或路径变化，须在配置中列明差异，不能把组合收益全归给选路算法。实验有效性包括正确计算、真实路径、工作量等价、公平对照和重复性，失败与超时也保留。第一周按场景预先确定目标幅度或业务价值条件，缺失阈值标待定，不能自动视为通过或失败。建议分为纳入、限定场景纳入、继续验证和暂缓，审批另记。下方原基础与挑战值及E3是后续开发和独立验收目标：真实两节点混压下首字降20%、有效吞吐升10%、逐字干扰小于3%，并检查后台进度。三周局部收益可以支持需求取舍，但不自动关闭E阶段，也不降低原目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本页沿用原模型复核附录，页号后移，公式、输入、结果和七张图均保持不变。本版自包含资产目录提供输入、结果、模型代码、图表和锚点，说明文件同步版本及页码。已有数据包括8B和72B前缀拉取收益、主机通信42GB每秒和检索改善超过30%，32B仍待补。查表1.0到0.7毫秒、提交15.4到2.0毫秒和60%隐藏上限是场景假设。70B级结构算例按80层、八卡及16Token块对齐计算字节和后缀成本，不冒充72B真实布局。流水受后缀工作量与首层等待限制，完整命中时没有后缀可隐藏；回退仍保留共同控制成本。三周真实结果将用于模型校准和需求取舍，当前预测不会因为新增空白结果位置而改变。实测与预测不同必须保留比较和解释，只有相同条件的选定点得到验证，不能将局部结果推广成全部参数扫描已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 wrap="square"/>
          <a:lstStyle/>
          <a:p>
            <a:pPr>
              <a:lnSpc>
                <a:spcPct val="112000"/>
              </a:lnSpc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附录把路径、场景、局部解释、宏观指标与候选需求对应起来，所有新增结论均为待验证。六行分别关联W3-T01至T06，候选字段对应W3-N01至N06，仅为建议追踪号，不是获批需求编号。配置入口沿用R11测试用例及三周配套计划，后续选定W3-C绑定父TST、完整模型和真实条件，运行后W3-R记录两组配置、主指标、独立轮次、离散度、失败、实际路径、后台完成和原始证据。当前没有分配有成绩的结果号，也不把填写表格视为通过。元数据已有检索改善属于局部依据，传输已有主机基准和拉取对照不等于新增设备通路宏观增量。需求建议还需给出适用范围、主要代价、基线和证据位置，正式审批单独记录。8B、27B、72B候选档位与待补32B、70B模型算例保持各自语义。第二轮最关键的两至三项结果同步到第四或第七页，不能全部隐藏在附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6.xml"/><Relationship Id="rId6" Type="http://schemas.openxmlformats.org/officeDocument/2006/relationships/chart" Target="../charts/chart1.xml"/><Relationship Id="rId7" Type="http://schemas.openxmlformats.org/officeDocument/2006/relationships/image" Target="../media/image22.png"/><Relationship Id="rId8" Type="http://schemas.openxmlformats.org/officeDocument/2006/relationships/image" Target="../media/image2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7.xml"/><Relationship Id="rId7" Type="http://schemas.openxmlformats.org/officeDocument/2006/relationships/chart" Target="../charts/chart2.xml"/><Relationship Id="rId8" Type="http://schemas.openxmlformats.org/officeDocument/2006/relationships/chart" Target="../charts/chart3.xml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notesSlide" Target="../notesSlides/notesSlide8.xml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6.png"/><Relationship Id="rId12" Type="http://schemas.openxmlformats.org/officeDocument/2006/relationships/image" Target="../media/image21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notesSlide" Target="../notesSlides/notesSlide11.xml"/><Relationship Id="rIdAssetsV10" Type="http://schemas.openxmlformats.org/officeDocument/2006/relationships/hyperlink" Target="&#32479;&#19968;&#24322;&#26500;KVCache&#23384;&#20648;&#27744;_&#20851;&#38190;&#25216;&#26415;&#27719;&#25253;_V10_&#27169;&#22411;&#36164;&#20135;/README.md" TargetMode="External"/><Relationship Id="rIdModelV10" Type="http://schemas.openxmlformats.org/officeDocument/2006/relationships/hyperlink" Target="&#32479;&#19968;&#24322;&#26500;KVCache&#23384;&#20648;&#27744;_&#20851;&#38190;&#25216;&#26415;&#27719;&#25253;_&#27169;&#22411;&#19982;&#21442;&#25968;&#35828;&#26126;_V10_20261008.md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438912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/>
              <a:t>KVCache（大模型注意力键值缓存：复用历史 Key / Value 状态，减少重复计算）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1024128"/>
            <a:ext cx="108813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2600" b="1">
                <a:solidFill>
                  <a:srgbClr val="142D4E"/>
                </a:solidFill>
                <a:latin typeface="Microsoft YaHei"/>
              </a:defRPr>
            </a:pPr>
            <a:r>
              <a:rPr/>
              <a:t>统一异构 KVCache 存储池关键技术汇报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1728216"/>
            <a:ext cx="108813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300" b="0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D4ED8"/>
                </a:solidFill>
              </a:rPr>
              <a:t>关键优化进展、三周收益验证与需求纳入评审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2496312"/>
            <a:ext cx="3438144" cy="1883664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23544" y="260604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</a:defRPr>
            </a:pPr>
            <a:r>
              <a:rPr/>
              <a:t>降低首字等待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3544" y="3044952"/>
            <a:ext cx="314553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TTFT（首个输出 Token 响应时间）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控制面精简、批量描述符与设备直达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后续系统目标：</a:t>
            </a:r>
            <a:r>
              <a:rPr b="1">
                <a:solidFill>
                  <a:srgbClr val="1D4ED8"/>
                </a:solidFill>
              </a:rPr>
              <a:t>相对 Mooncake 降低 ≥20%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2496312"/>
            <a:ext cx="3438144" cy="1883664"/>
          </a:xfrm>
          <a:prstGeom prst="roundRect">
            <a:avLst>
              <a:gd name="adj" fmla="val 2000"/>
            </a:avLst>
          </a:prstGeom>
          <a:solidFill>
            <a:srgbClr val="EAF6F1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81144" y="260604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</a:defRPr>
            </a:pPr>
            <a:r>
              <a:rPr/>
              <a:t>稳定逐字生成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81144" y="3044952"/>
            <a:ext cx="314553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TPOT（每个输出 Token 生成耗时）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前后台队列、速率及共享资源控制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后续系统目标：</a:t>
            </a:r>
            <a:r>
              <a:rPr b="1">
                <a:solidFill>
                  <a:srgbClr val="1D4ED8"/>
                </a:solidFill>
              </a:rPr>
              <a:t>后台满载时干扰 &lt;3%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2496312"/>
            <a:ext cx="3438144" cy="1883664"/>
          </a:xfrm>
          <a:prstGeom prst="roundRect">
            <a:avLst>
              <a:gd name="adj" fmla="val 2000"/>
            </a:avLst>
          </a:prstGeom>
          <a:solidFill>
            <a:srgbClr val="FFF6DE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38744" y="2606040"/>
            <a:ext cx="31455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</a:defRPr>
            </a:pPr>
            <a:r>
              <a:rPr/>
              <a:t>提高有效服务能力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38744" y="3044952"/>
            <a:ext cx="3145536" cy="12435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有效 QPS（每秒按服务目标完成请求数）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减少排队、保持后台搬运进度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后续系统目标：</a:t>
            </a:r>
            <a:r>
              <a:rPr b="1">
                <a:solidFill>
                  <a:srgbClr val="1D4ED8"/>
                </a:solidFill>
              </a:rPr>
              <a:t>同一服务目标下提升 ≥10%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9160"/>
            <a:ext cx="10753344" cy="107899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4818888"/>
            <a:ext cx="1046073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项目定位与两轮评审安排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23544" y="5257800"/>
            <a:ext cx="1046073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面向国产 AI 硬件的统一异构 KVCache 存储与调度底座；已有数据支持继续验证。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第一轮确认重点路径与判断标准，三周后提交场景化实测收益，评审正式需求纳入范围。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6208776"/>
            <a:ext cx="1078992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本轮确认继续验证</a:t>
            </a:r>
            <a:r>
              <a:rPr>
                <a:solidFill>
                  <a:srgbClr val="142D4E"/>
                </a:solidFill>
              </a:rPr>
              <a:t>的路径与方法，三周后以</a:t>
            </a:r>
            <a:r>
              <a:rPr b="1">
                <a:solidFill>
                  <a:srgbClr val="1D4ED8"/>
                </a:solidFill>
              </a:rPr>
              <a:t>可重复在线收益和适用范围</a:t>
            </a:r>
            <a:r>
              <a:rPr>
                <a:solidFill>
                  <a:srgbClr val="142D4E"/>
                </a:solidFill>
              </a:rPr>
              <a:t>形成需求纳入建议。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Mooncake 目标部署路径上的性能问题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/>
              <a:t>围绕设备接入、传输组织、控制处理、路径决策和共享资源，说明开销来源及增强方向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solidFill>
                  <a:srgbClr val="142D4E"/>
                </a:solidFill>
              </a:rPr>
              <a:t>优化重点：缩短正文搬运路径、减少控制开销、</a:t>
            </a:r>
            <a:r>
              <a:rPr b="1">
                <a:solidFill>
                  <a:srgbClr val="DC2626"/>
                </a:solidFill>
              </a:rPr>
              <a:t>按净收益选路</a:t>
            </a:r>
            <a:r>
              <a:rPr>
                <a:solidFill>
                  <a:srgbClr val="142D4E"/>
                </a:solidFill>
              </a:rPr>
              <a:t>，并保障前后台与多卡协同。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207008"/>
          <a:ext cx="11091671" cy="455371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749039"/>
                <a:gridCol w="4187952"/>
                <a:gridCol w="1737360"/>
              </a:tblGrid>
              <a:tr h="3566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问题组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目标部署路径与开销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机制解释、实验依据与适用范围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指标与措施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839419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正文搬运与设备接入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在采用主机中转的设备后端中，缓存正文沿“远端存储→主机内存→本地显存”加载；新增一次正文拷贝，并占用主机内存带宽和设备总线，延长首字等待。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Beluga §7.1 表5：两台8×H20、Qwen-32B、vLLM 0.8.5，LV-Eval 全命中</a:t>
                      </a:r>
                      <a:r>
                        <a:rPr b="1">
                          <a:solidFill>
                            <a:srgbClr val="1D4ED8"/>
                          </a:solidFill>
                        </a:rPr>
                        <a:t>平均首字时间13.00→1.36 s</a:t>
                      </a:r>
                      <a:r>
                        <a:rPr/>
                        <a:t>。对照为论文所选 Mooncake 路径与 Beluga；不代表所有后端都有中转。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首字时间；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设备直达，减少主机中转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839419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切片顺序与热点分发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模型逐层使用缓存，若按通用数据块顺序搬运，首层就绪可能等待后续层数据；同一热点前缀直接发给多个节点，源端重复发送，占用出口带宽。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按模型层顺序搬运，可在首层就绪后开始计算，并与后续层传输重叠。第6页一对八情景：二叉中继将</a:t>
                      </a:r>
                      <a:r>
                        <a:rPr b="1">
                          <a:solidFill>
                            <a:srgbClr val="1D4ED8"/>
                          </a:solidFill>
                        </a:rPr>
                        <a:t>源端发送量从8份降为2份</a:t>
                      </a:r>
                      <a:r>
                        <a:rPr/>
                        <a:t>；收益仍受中继层数和共享带宽限制。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首层等待；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按层流水与中继转发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839419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离散块与控制处理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跨框架缓存块可能离散且布局不同；细粒度读取会频繁注册内存、构造和提交描述符、查询元数据。单次搬运小，控制开销仍会累积到首字等待中。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Beluga §7.3 表6：Qwen-32B 稀疏读取16个 Token，</a:t>
                      </a:r>
                      <a:r>
                        <a:rPr b="1">
                          <a:solidFill>
                            <a:srgbClr val="1D4ED8"/>
                          </a:solidFill>
                        </a:rPr>
                        <a:t>耗时5260→211 µs</a:t>
                      </a:r>
                      <a:r>
                        <a:rPr/>
                        <a:t>，反映该访问形态的数据路径差异；该值不是元数据查询耗时。元数据收益在第5页单独建模。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首字时间；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元数据优化与描述符批量提交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839419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加载、重算与远端访问选择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命中缓存后，可拷贝至本地显存、直接读取远端，或在本地重算。低复用、链路拥塞时，加载及后续计算的总开销可能超过重算；固定加载会失去净收益。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决策须比较完整路径：查询、选路、传输、后缀计算及回退计入。远端直读还需计入逐步访问成本。第6页给出复用率与带宽的加载门限，</a:t>
                      </a:r>
                      <a:r>
                        <a:rPr b="1">
                          <a:solidFill>
                            <a:srgbClr val="DC2626"/>
                          </a:solidFill>
                        </a:rPr>
                        <a:t>低于门限回退重算</a:t>
                      </a:r>
                      <a:r>
                        <a:rPr/>
                        <a:t>。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首字及尾部时延；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动态选路与安全回退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839419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前后台与多卡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一致动作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后台换出或拉取会与前台生成、卡间通信争用网络、设备总线和显存带宽；张量并行多卡若命中或异常状态不同，可能出现部分卡加载、部分卡重算。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DualPath §5 协同管理数据传输与卡间集合通信；网络优先级不能覆盖全部总线与显存竞争。需结合限流与多卡一致决策，保障单字生成稳定，并在异常时统一回退。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单字生成耗时；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资源限流与多卡同步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879592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950" b="0">
                <a:solidFill>
                  <a:srgbClr val="526275"/>
                </a:solidFill>
                <a:latin typeface="Microsoft YaHei"/>
              </a:defRPr>
            </a:pPr>
            <a:r>
              <a:rPr/>
              <a:t>来源：Mooncake Transfer Engine 官方文档；Beluga arXiv v1 §7.1/§7.3；DualPath arXiv v1 §5。</a:t>
            </a:r>
            <a:r>
              <a:rPr b="1">
                <a:solidFill>
                  <a:srgbClr val="DC2626"/>
                </a:solidFill>
              </a:rPr>
              <a:t>外部实验为机制依据，非本项目实测</a:t>
            </a:r>
            <a:r>
              <a:rPr/>
              <a:t>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基于 Mooncake 的优化方案与交付目标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03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11项候选完整保留；优先＝收益验证，条件＝实验有效性，扩展＝按设备与价值选取；右列为后续目标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后续阶段：TTFT 降低 ≥10%，挑战20%；最终 E3：</a:t>
            </a:r>
            <a:r>
              <a:rPr b="1">
                <a:solidFill>
                  <a:srgbClr val="1D4ED8"/>
                </a:solidFill>
              </a:rPr>
              <a:t>TTFT 降低 ≥20%、有效 QPS 提升 ≥10%、TPOT 干扰 &lt;3%</a:t>
            </a:r>
            <a:r>
              <a:rPr>
                <a:solidFill>
                  <a:srgbClr val="142D4E"/>
                </a:solidFill>
              </a:rPr>
              <a:t>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1672" cy="4617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5330952"/>
                <a:gridCol w="3703320"/>
              </a:tblGrid>
              <a:tr h="32918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技术功能</a:t>
                      </a:r>
                      <a:endParaRPr lang="zh-CN" sz="106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6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具体优化手段与执行逻辑</a:t>
                      </a:r>
                      <a:endParaRPr lang="zh-CN" sz="106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原方案技术／后续交付目标</a:t>
                      </a:r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</a:tr>
              <a:tr h="48463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【优先】通信基准与收益边界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适配 UBMEM / URMA；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同请求分别测重算、查表、拉取、挂接与同步，求净收益及链路适用边界。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50%复用：净收益 / 加载总开销 ≥2；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净收益=节省重算−加载开销；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UBMEM/RDMA 带宽比 ≥1.3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【优先】CPU 零数据拷贝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注册设备内存并提交 DMA 描述符，由设备搬运数据；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只下发控制指令，独立核验主机内存旁路。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正文 CPU 搬运字节=0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利用率增量 &lt;5%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【优先】描述符与异步流水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将相邻物理块合并为连续区间、批量提交；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按层交错通信流与计算流，计算当前层时预取后续层。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条目压缩 ≥50%；</a:t>
                      </a:r>
                      <a:r>
                        <a:rPr sz="990" b="1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搬运隐藏 ≥60%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CPU 提交耗时降低 ≥40%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【条件】远端直读与安全回退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比较逐层远端直读与一次拷入本地显存的总成本；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持有有效租约再读，</a:t>
                      </a:r>
                      <a:r>
                        <a:rPr sz="99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失效时停止访问并回退重算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失效检测后安全回退 &lt;1 ms；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按生命周期成本选择直读 / 拷贝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【优先】动态选路与成本预估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按前缀长度、共享带宽及加载、挂接、同步开销预测净收益；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计入预估误差、探测和取消成本，</a:t>
                      </a:r>
                      <a:r>
                        <a:rPr sz="99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亏损即重算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决策 P99 &lt;5 µs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；准确率 ≥90%；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负收益请求比例 &lt;1%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【扩展】分层存储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按冷热与复用情况分层放置，异步换出冷块、预取热块；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对齐 SSD 数据块，按硬件能力验证设备存储直达。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150%容量压力：有效容量提升 ≥30%；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OOM 减少 ≥50%；SSD 吞吐 ≥峰值80%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【条件】语义校验与多卡同步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读取前核对模型、词表、模板、适配器、写入就绪位和租约六维信息；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尾部冲突只重算尾部，</a:t>
                      </a:r>
                      <a:r>
                        <a:rPr sz="99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任一卡分歧则全组回退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六维校验失败、尾部冲突、单卡分歧：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8类用例</a:t>
                      </a:r>
                      <a:r>
                        <a:rPr sz="99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均禁止错误消费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1">
                          <a:solidFill>
                            <a:srgbClr val="1D4ED8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TP=8 正常同步 P99 &lt;100 µs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【优先】前后台资源控制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前台拉取与后台换出映射不同优先级队列；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用限速和拥塞退避控制后台，</a:t>
                      </a:r>
                      <a:r>
                        <a:rPr sz="990" b="1">
                          <a:solidFill>
                            <a:srgbClr val="DC262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按积压与最低完成进度调整准入</a:t>
                      </a: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，兼顾前台时延与后台排出。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E3：TTFT 降低 ≥20%；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有效 QPS 提升 ≥10%；TPOT 干扰 &lt;3%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【扩展】软件中继分发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热点前缀先发中继，再逐层接力到目标节点；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父节点出口按子节点共享，分别评价源端流量与广播完成时间。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1-to-8：源端流量节省 ≥60%；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广播耗时降低 ≥40%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32004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【扩展】可选卸载与软件降级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比较可选设备卸载的收益和开销；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设备缺失或失效时切回软件路径，保证无卸载时仍可运行。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卸载 CPU 占用降低 ≥30%；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软件通路切换 &lt;500 µs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95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【扩展】无锁读取与页迁移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拷贝新页并切换映射，读者继续访问旧页；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待读者退出宽限期后释放旧页，避免迁移阻塞读取。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32读者：前台停顿 &lt;1 ms；</a:t>
                      </a:r>
                      <a:endParaRPr lang="zh-CN" sz="990"/>
                    </a:p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99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迁移引入延迟 P99 &lt;50 µs</a:t>
                      </a:r>
                      <a:endParaRPr lang="zh-CN" sz="99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6080760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6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UBMEM：统一总线内存共享协议；URMA：用户态高性能远程内存访问接口。直读、存储直达与卸载按能力独立验证。</a:t>
            </a:r>
            <a:endParaRPr lang="zh-CN" sz="96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9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已有验证：收益判断的依据与后续推进基础</a:t>
            </a:r>
            <a:endParaRPr lang="zh-CN" sz="1900"/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04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00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通信、检索与实际推理三方面已有验证；分别支持成本测量、优化可行性和缓存复用收益判断</a:t>
            </a:r>
            <a:endParaRPr lang="zh-CN" sz="1000"/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第二轮更新：优先展示2—3项</a:t>
            </a:r>
            <a:r>
              <a:rPr b="1">
                <a:solidFill>
                  <a:srgbClr val="DC2626"/>
                </a:solidFill>
              </a:rPr>
              <a:t>代表性实测</a:t>
            </a:r>
            <a:r>
              <a:rPr>
                <a:solidFill>
                  <a:srgbClr val="142D4E"/>
                </a:solidFill>
              </a:rPr>
              <a:t>，保留历史基准；详细配置、</a:t>
            </a:r>
            <a:r>
              <a:rPr b="1">
                <a:solidFill>
                  <a:srgbClr val="1D4ED8"/>
                </a:solidFill>
              </a:rPr>
              <a:t>收益边界和需求建议</a:t>
            </a:r>
            <a:r>
              <a:rPr>
                <a:solidFill>
                  <a:srgbClr val="142D4E"/>
                </a:solidFill>
              </a:rPr>
              <a:t>进入附录与工作簿。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43584"/>
            <a:ext cx="3529584" cy="181051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" y="1353312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通信通路：建立传输基准</a:t>
            </a:r>
            <a:endParaRPr lang="zh-CN" sz="1220"/>
          </a:p>
        </p:txBody>
      </p:sp>
      <p:sp>
        <p:nvSpPr>
          <p:cNvPr id="9" name="TextBox 8"/>
          <p:cNvSpPr txBox="1"/>
          <p:nvPr/>
        </p:nvSpPr>
        <p:spPr>
          <a:xfrm>
            <a:off x="694944" y="1792224"/>
            <a:ext cx="323697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完成 URMA / UBMEM 主机通信基准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主机侧大块带宽：</a:t>
            </a: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42 GB/s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提供主机通路的传输能力量级，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为目标设备路径对照建立基础。</a:t>
            </a:r>
            <a:endParaRPr lang="zh-CN" sz="1100"/>
          </a:p>
        </p:txBody>
      </p:sp>
      <p:sp>
        <p:nvSpPr>
          <p:cNvPr id="10" name="Rounded Rectangle 9"/>
          <p:cNvSpPr/>
          <p:nvPr/>
        </p:nvSpPr>
        <p:spPr>
          <a:xfrm>
            <a:off x="4334255" y="1243584"/>
            <a:ext cx="3529584" cy="181051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353312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前缀检索：验证优化方向</a:t>
            </a:r>
            <a:endParaRPr lang="zh-CN" sz="1220"/>
          </a:p>
        </p:txBody>
      </p:sp>
      <p:sp>
        <p:nvSpPr>
          <p:cNvPr id="12" name="TextBox 11"/>
          <p:cNvSpPr txBox="1"/>
          <p:nvPr/>
        </p:nvSpPr>
        <p:spPr>
          <a:xfrm>
            <a:off x="4480559" y="1792224"/>
            <a:ext cx="323697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基于统一总线共享内存优化检索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检索性能提升 &gt;30%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说明检索路径具备优化空间，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支持继续细化控制面开销。</a:t>
            </a:r>
            <a:endParaRPr lang="zh-CN" sz="1100"/>
          </a:p>
        </p:txBody>
      </p:sp>
      <p:sp>
        <p:nvSpPr>
          <p:cNvPr id="13" name="Rounded Rectangle 12"/>
          <p:cNvSpPr/>
          <p:nvPr/>
        </p:nvSpPr>
        <p:spPr>
          <a:xfrm>
            <a:off x="8119871" y="1243584"/>
            <a:ext cx="3529584" cy="1810512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66175" y="1353312"/>
            <a:ext cx="3236976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22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推理对照：确认复用收益</a:t>
            </a:r>
            <a:endParaRPr lang="zh-CN" sz="1220"/>
          </a:p>
        </p:txBody>
      </p:sp>
      <p:sp>
        <p:nvSpPr>
          <p:cNvPr id="15" name="TextBox 14"/>
          <p:cNvSpPr txBox="1"/>
          <p:nvPr/>
        </p:nvSpPr>
        <p:spPr>
          <a:xfrm>
            <a:off x="8266175" y="1792224"/>
            <a:ext cx="3236976" cy="11704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MooncakeStore 前缀拉取 vs 重算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8B / 72B</a:t>
            </a: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：</a:t>
            </a:r>
            <a:r>
              <a:rPr sz="11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TTFT 实测收益明显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长短输入与部分/完整前缀对照，</a:t>
            </a:r>
            <a:endParaRPr lang="zh-CN" sz="110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1100" b="0">
                <a:solidFill>
                  <a:srgbClr val="263B53"/>
                </a:solidFill>
                <a:latin typeface="Microsoft YaHei"/>
                <a:ea typeface="Microsoft YaHei"/>
                <a:cs typeface="Microsoft YaHei"/>
              </a:rPr>
              <a:t>确认缓存复用具有实际收益。</a:t>
            </a:r>
            <a:endParaRPr lang="zh-CN" sz="110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48640" y="3291840"/>
          <a:ext cx="11091672" cy="2221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617720"/>
                <a:gridCol w="4462272"/>
              </a:tblGrid>
              <a:tr h="35661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支持的判断</a:t>
                      </a:r>
                      <a:endParaRPr lang="zh-CN" sz="115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15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已有验证提供的依据</a:t>
                      </a:r>
                      <a:endParaRPr lang="zh-CN" sz="1150"/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同条件新增优化的宏观收益与适用范围</a:t>
                      </a:r>
                    </a:p>
                  </a:txBody>
                  <a:tcPr anchor="ctr" marL="64008" marR="64008" marT="20117" marB="20117">
                    <a:solidFill>
                      <a:srgbClr val="142D4E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传输成本可测量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主机基准给出链路能力量级；收益评价需同时对照拉取开销与重算耗时。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同条件测设备传输与在线等待，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记录共享带宽与 CPU 搬运。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控制开销值得优化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共享内存检索已取得性能改善，支持进一步减少查表、注册与提交开销。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固定查询开关，测低载／控制瓶颈附近，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确认 TTFT、尾时延与有效吞吐。</a:t>
                      </a:r>
                    </a:p>
                  </a:txBody>
                  <a:tcPr anchor="ctr" marL="64008" marR="64008" marT="20117" marB="20117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复用收益前提成立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080" b="0">
                          <a:solidFill>
                            <a:srgbClr val="263B5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多模型、序列长度与命中率对照，实测证实前缀拉取相对重算收益明显。</a:t>
                      </a:r>
                      <a:endParaRPr lang="zh-CN" sz="1080"/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32B待补；同硬件比较优化与基线，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记录多卡及混压的收益边界。</a:t>
                      </a:r>
                    </a:p>
                  </a:txBody>
                  <a:tcPr anchor="ctr" marL="64008" marR="64008" marT="20117" marB="20117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4360" y="5650992"/>
            <a:ext cx="10972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7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推理对照范围：8B / 72B；1K / 8K / 32K / 50K / 100K；前缀命中30% / 50% / 70% / 90% / 98% / 100%。</a:t>
            </a:r>
            <a:endParaRPr lang="zh-CN" sz="97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70" b="0">
                <a:solidFill>
                  <a:srgbClr val="526275"/>
                </a:solidFill>
                <a:latin typeface="Microsoft YaHei"/>
                <a:ea typeface="Microsoft YaHei"/>
                <a:cs typeface="Microsoft YaHei"/>
              </a:rPr>
              <a:t>32B 后续补充；后续建模在明确条件下分析优化增量，目标设备与混压测试再确认可实现的收益。</a:t>
            </a:r>
            <a:endParaRPr lang="zh-CN" sz="97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元数据优化：时延、排队拐点与业务价值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05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查表优化在低载减少直接开销；待验证：低载及控制瓶颈附近，在线 TTFT、尾时延与有效吞吐分别改善多少？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solidFill>
                  <a:srgbClr val="142D4E"/>
                </a:solidFill>
              </a:rPr>
              <a:t>元数据优化的直接收益为0.30 ms；接近控制瓶颈时收益放大，</a:t>
            </a:r>
            <a:r>
              <a:rPr b="1">
                <a:solidFill>
                  <a:srgbClr val="DC2626"/>
                </a:solidFill>
              </a:rPr>
              <a:t>服务台容量仍不能直接等同系统 QPS</a:t>
            </a:r>
            <a:r>
              <a:rPr>
                <a:solidFill>
                  <a:srgbClr val="142D4E"/>
                </a:solidFill>
              </a:rPr>
              <a:t>。</a:t>
            </a:r>
          </a:p>
        </p:txBody>
      </p:sp>
      <p:pic>
        <p:nvPicPr>
          <p:cNvPr id="7" name="Picture 6" descr="P05_元数据拐点与锚点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1197864"/>
            <a:ext cx="5687568" cy="44805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46520" y="1188720"/>
            <a:ext cx="517550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30" b="1">
                <a:solidFill>
                  <a:srgbClr val="142D4E"/>
                </a:solidFill>
                <a:latin typeface="Microsoft YaHei"/>
              </a:defRPr>
            </a:pPr>
            <a:r>
              <a:rPr/>
              <a:t>模型摘图：查表开销与服务台排队</a:t>
            </a:r>
          </a:p>
        </p:txBody>
      </p:sp>
      <p:pic>
        <p:nvPicPr>
          <p:cNvPr id="9" name="Picture 8" descr="P05_公式摘图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37376" y="1536192"/>
            <a:ext cx="5010912" cy="120700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46520" y="2770632"/>
            <a:ext cx="5175504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80" b="1">
                <a:solidFill>
                  <a:srgbClr val="142D4E"/>
                </a:solidFill>
                <a:latin typeface="Microsoft YaHei"/>
              </a:defRPr>
            </a:pPr>
            <a:r>
              <a:rPr/>
              <a:t>同模型、分工况：这些数值说明什么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28232" y="3081528"/>
          <a:ext cx="5212079" cy="26243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60704"/>
                <a:gridCol w="1874519"/>
                <a:gridCol w="2276856"/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负载 / 约束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模型结果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业务含义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低载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6.25→5.95 ms</a:t>
                      </a:r>
                      <a:br/>
                      <a:r>
                        <a:rPr b="1">
                          <a:solidFill>
                            <a:srgbClr val="1D4ED8"/>
                          </a:solidFill>
                        </a:rPr>
                        <a:t>−0.30 ms</a:t>
                      </a:r>
                      <a:r>
                        <a:rPr/>
                        <a:t> / −4.8%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直接缩短查表路径；</a:t>
                      </a:r>
                      <a:br/>
                      <a:r>
                        <a:rPr/>
                        <a:t>生成阶段无直接提速项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λ=900</a:t>
                      </a:r>
                      <a:br/>
                      <a:r>
                        <a:rPr/>
                        <a:t>基线利用率90%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51.30→13.96 ms</a:t>
                      </a:r>
                      <a:br/>
                      <a:r>
                        <a:rPr/>
                        <a:t>条件 P99 降72.8%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服务台接近瓶颈；</a:t>
                      </a:r>
                      <a:br/>
                      <a:r>
                        <a:rPr b="1">
                          <a:solidFill>
                            <a:srgbClr val="DC2626"/>
                          </a:solidFill>
                        </a:rPr>
                        <a:t>排队收益明显放大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服务台容量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1000→1429 req/s</a:t>
                      </a:r>
                      <a:br/>
                      <a:r>
                        <a:rPr/>
                        <a:t>容量上限提升42.9%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超过容量即不稳态；</a:t>
                      </a:r>
                      <a:br/>
                      <a:r>
                        <a:rPr/>
                        <a:t>全系统仍受算力和加载限制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578358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120 ms约束</a:t>
                      </a:r>
                      <a:br/>
                      <a:r>
                        <a:rPr/>
                        <a:t>固定路径99 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780.7→1209.3 req/s</a:t>
                      </a:r>
                      <a:br/>
                      <a:r>
                        <a:rPr/>
                        <a:t>可承载速率提升54.9%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仅元数据服务台上界；</a:t>
                      </a:r>
                      <a:br/>
                      <a:r>
                        <a:rPr/>
                        <a:t>21 ms滞留预算，另作工况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94360" y="5925312"/>
            <a:ext cx="10972800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960" b="0">
                <a:solidFill>
                  <a:srgbClr val="526275"/>
                </a:solidFill>
                <a:latin typeface="Microsoft YaHei"/>
              </a:defRPr>
            </a:pPr>
            <a:r>
              <a:rPr/>
              <a:t>场景输入：查表1.0→0.7 ms；低载固定5.25 ms。排队采用单服务台泊松到达、指数服务；RTT与服务时间分别定义。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单项技术：选路分界、前台目标与中继收益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06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主验证：动态选路与资源控制；中继按设备开展条件验证，比较拓扑、转发方式及实际场景收益。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 b="1">
                <a:solidFill>
                  <a:srgbClr val="DC2626"/>
                </a:solidFill>
              </a:rPr>
              <a:t>加载按净收益选路</a:t>
            </a:r>
            <a:r>
              <a:rPr>
                <a:solidFill>
                  <a:srgbClr val="142D4E"/>
                </a:solidFill>
              </a:rPr>
              <a:t>；</a:t>
            </a:r>
            <a:r>
              <a:rPr b="1">
                <a:solidFill>
                  <a:srgbClr val="DC2626"/>
                </a:solidFill>
              </a:rPr>
              <a:t>QoS须保持后台可持续进度</a:t>
            </a:r>
            <a:r>
              <a:rPr>
                <a:solidFill>
                  <a:srgbClr val="142D4E"/>
                </a:solidFill>
              </a:rPr>
              <a:t>；中继减少源端流量，不保证广播完成时间同比例缩短。</a:t>
            </a:r>
          </a:p>
        </p:txBody>
      </p:sp>
      <p:pic>
        <p:nvPicPr>
          <p:cNvPr id="7" name="Picture 6" descr="P06_选路门限与锚点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2920" y="1225296"/>
            <a:ext cx="3895344" cy="2898648"/>
          </a:xfrm>
          <a:prstGeom prst="rect">
            <a:avLst/>
          </a:prstGeom>
        </p:spPr>
      </p:pic>
      <p:pic>
        <p:nvPicPr>
          <p:cNvPr id="8" name="Picture 7" descr="P06_QoS拐点与锚点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462272" y="1225296"/>
            <a:ext cx="3703320" cy="289864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84464" y="1188720"/>
            <a:ext cx="335584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80" b="1">
                <a:solidFill>
                  <a:srgbClr val="142D4E"/>
                </a:solidFill>
                <a:latin typeface="Microsoft YaHei"/>
              </a:defRPr>
            </a:pPr>
            <a:r>
              <a:rPr/>
              <a:t>模型摘图：受限重叠与路径选择</a:t>
            </a:r>
          </a:p>
        </p:txBody>
      </p:sp>
      <p:pic>
        <p:nvPicPr>
          <p:cNvPr id="10" name="Picture 9" descr="P06_公式摘图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6175" y="1517904"/>
            <a:ext cx="3355848" cy="88696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293608" y="2487168"/>
            <a:ext cx="3346704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/>
              <a:t>D为拉取字节；B为共享GB/s；</a:t>
            </a:r>
          </a:p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/>
              <a:t>Ts为后缀计算，H为隐藏量（ms）。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990088"/>
            <a:ext cx="33558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50" b="1">
                <a:solidFill>
                  <a:srgbClr val="142D4E"/>
                </a:solidFill>
                <a:latin typeface="Microsoft YaHei"/>
              </a:defRPr>
            </a:pPr>
            <a:r>
              <a:rPr/>
              <a:t>二叉中继：一对八、同一完整前缀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8275320" y="3319272"/>
          <a:ext cx="3364992" cy="841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1832"/>
                <a:gridCol w="2423160"/>
              </a:tblGrid>
              <a:tr h="2743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比较对象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结果 / 变化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源端发送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8份→2份；−75%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广播完成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511.3→383.6 ms；−25%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48640" y="4251960"/>
            <a:ext cx="10972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80" b="1">
                <a:solidFill>
                  <a:srgbClr val="142D4E"/>
                </a:solidFill>
                <a:latin typeface="Microsoft YaHei"/>
              </a:defRPr>
            </a:pPr>
            <a:r>
              <a:rPr/>
              <a:t>把图上的收益与工程条件对应起来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48640" y="4553712"/>
          <a:ext cx="11091672" cy="13441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3986784"/>
                <a:gridCol w="5897880"/>
              </a:tblGrid>
              <a:tr h="31089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机制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模型锚点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工程含义与达标条件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动态选路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70%门限7.94 GB/s</a:t>
                      </a:r>
                      <a:r>
                        <a:rPr/>
                        <a:t>；100%门限11.28 GB/s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低于门限选择重算；查询0.70 + 决策0.05 ms为两条路径共同成本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资源控制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控制后18.56 ms；3%目标18.75 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输入100、完成70 Gbps则积压30；稳态需准入≤70或增加排出通路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34442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软件中继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源端流量降75%；完成时间只降25%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每父42 GB/s出口由两子共享，3级转发仍有开销；</a:t>
                      </a:r>
                      <a:r>
                        <a:rPr b="1">
                          <a:solidFill>
                            <a:srgbClr val="DC2626"/>
                          </a:solidFill>
                        </a:rPr>
                        <a:t>未达降40%目标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94360" y="6016752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930" b="0">
                <a:solidFill>
                  <a:srgbClr val="526275"/>
                </a:solidFill>
                <a:latin typeface="Microsoft YaHei"/>
              </a:defRPr>
            </a:pPr>
            <a:r>
              <a:rPr/>
              <a:t>场景输入：8K、TP=8（八卡张量并行）、完整前缀合计2.5 GiB；QoS采用线性压力情景，2%残余竞争与70%后台进度为假设。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同硬件全系统建模：总收益与技术贡献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07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04088"/>
            <a:ext cx="11082528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曲面为敏感性扫描；同硬件参考：TP=8、8K、42 GB/s、70%前缀（场景输入）</a:t>
            </a:r>
          </a:p>
          <a:p>
            <a:pPr>
              <a:lnSpc>
                <a:spcPct val="108000"/>
              </a:lnSpc>
              <a:spcAft>
                <a:spcPts val="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待验证：基线已有能力、分项增量、组合交互及场景范围；第二轮按同条件对照选定实测点。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solidFill>
                  <a:srgbClr val="142D4E"/>
                </a:solidFill>
              </a:rPr>
              <a:t>70%前缀条件情景：TTFT 187.15→146.69 ms，降低21.6%；</a:t>
            </a:r>
            <a:r>
              <a:rPr b="1">
                <a:solidFill>
                  <a:srgbClr val="DC2626"/>
                </a:solidFill>
              </a:rPr>
              <a:t>收益依赖复用率、共享带宽和基线已有能力</a:t>
            </a:r>
            <a:r>
              <a:rPr>
                <a:solidFill>
                  <a:srgbClr val="142D4E"/>
                </a:solidFill>
              </a:rPr>
              <a:t>。</a:t>
            </a:r>
          </a:p>
        </p:txBody>
      </p:sp>
      <p:pic>
        <p:nvPicPr>
          <p:cNvPr id="7" name="Picture 6" descr="P07_系统三维锚点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93776" y="1225296"/>
            <a:ext cx="5715000" cy="31089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37376" y="1188720"/>
            <a:ext cx="5202936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142D4E"/>
                </a:solidFill>
                <a:latin typeface="Microsoft YaHei"/>
              </a:defRPr>
            </a:pPr>
            <a:r>
              <a:rPr/>
              <a:t>模型摘图：完整路径与收益对账</a:t>
            </a:r>
          </a:p>
        </p:txBody>
      </p:sp>
      <p:pic>
        <p:nvPicPr>
          <p:cNvPr id="9" name="Picture 8" descr="P07_公式摘图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19088" y="1517904"/>
            <a:ext cx="5184648" cy="11155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437376" y="2660904"/>
            <a:ext cx="52029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526275"/>
                </a:solidFill>
                <a:latin typeface="Microsoft YaHei"/>
              </a:defRPr>
            </a:pPr>
            <a:r>
              <a:rPr/>
              <a:t>Tf固定路径；Ts后缀；tm查表、td提交、tq决策；τ加载、H隐藏。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defRPr sz="900" b="0">
                <a:solidFill>
                  <a:srgbClr val="526275"/>
                </a:solidFill>
                <a:latin typeface="Microsoft YaHei"/>
              </a:defRPr>
            </a:pPr>
            <a:r>
              <a:rPr/>
              <a:t>h为实际块命中率（16 Token对齐）；耗时单位ms。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28232" y="3017520"/>
          <a:ext cx="5212079" cy="132587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3816"/>
                <a:gridCol w="2542032"/>
                <a:gridCol w="1856231"/>
              </a:tblGrid>
              <a:tr h="30175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指标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基线 → 优化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2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结果对应的条件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TTFT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187.15→146.69 ms；−21.6%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70%前缀，同硬件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TPOT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21.29→18.56 ms；−12.8%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有限后台窗资源控制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34137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P99 TTFT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190.76→149.21 ms；−21.8%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λ=1，</a:t>
                      </a:r>
                      <a:r>
                        <a:rPr b="1">
                          <a:solidFill>
                            <a:srgbClr val="DC2626"/>
                          </a:solidFill>
                        </a:rPr>
                        <a:t>仅元数据队列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548640" y="4389120"/>
            <a:ext cx="583387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A→C：带宽10→42，TTFT减少57.20 ms。</a:t>
            </a:r>
            <a:endParaRPr lang="zh-CN" sz="950"/>
          </a:p>
          <a:p>
            <a:pPr>
              <a:lnSpc>
                <a:spcPct val="100000"/>
              </a:lnSpc>
              <a:spcAft>
                <a:spcPts val="0"/>
              </a:spcAft>
            </a:pPr>
            <a:r>
              <a:rPr sz="95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rPr>
              <a:t>B→C：查表100→0.7，TTFT减少99.30 ms。</a:t>
            </a:r>
            <a:endParaRPr lang="zh-CN" sz="950"/>
          </a:p>
        </p:txBody>
      </p:sp>
      <p:sp>
        <p:nvSpPr>
          <p:cNvPr id="13" name="TextBox 12"/>
          <p:cNvSpPr txBox="1"/>
          <p:nvPr/>
        </p:nvSpPr>
        <p:spPr>
          <a:xfrm>
            <a:off x="6437376" y="4434840"/>
            <a:ext cx="5202936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980" b="1">
                <a:solidFill>
                  <a:srgbClr val="142D4E"/>
                </a:solidFill>
                <a:latin typeface="Microsoft YaHei"/>
              </a:defRPr>
            </a:pPr>
            <a:r>
              <a:rPr/>
              <a:t>前缀30/70/80/100%：TTFT降9.8/21.6/28.1/16.3%。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548640" y="4773168"/>
          <a:ext cx="11091672" cy="1216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76856"/>
                <a:gridCol w="2651760"/>
                <a:gridCol w="6163056"/>
              </a:tblGrid>
              <a:tr h="28346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技术贡献（70%健康网络）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单独启用 / 移除损失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9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为什么产生这一收益</a:t>
                      </a:r>
                    </a:p>
                  </a:txBody>
                  <a:tcPr anchor="ctr" marL="64008" marR="64008" marT="22860" marB="22860">
                    <a:solidFill>
                      <a:srgbClr val="142D4E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元数据控制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0.30 / 0.30 ms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查表1.0→0.7 ms，只减少控制路径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描述符与提交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13.40 / 13.40 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提交15.4→2.0 ms是场景输入，需设备校准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按层异步流水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26.81 / 26.81 ms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隐藏上限60%，实际还受后缀工作量与首层等待限制</a:t>
                      </a:r>
                    </a:p>
                  </a:txBody>
                  <a:tcPr anchor="ctr" marL="64008" marR="64008" marT="22860" marB="22860">
                    <a:solidFill>
                      <a:srgbClr val="EAF2FF"/>
                    </a:solidFill>
                  </a:tcPr>
                </a:tc>
              </a:tr>
              <a:tr h="23317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动态选路（本工况）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−0.05 / −0.05 ms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defRPr sz="101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健康网络增加决策成本；拥塞时避免固定拉取的额外开销</a:t>
                      </a:r>
                    </a:p>
                  </a:txBody>
                  <a:tcPr anchor="ctr" marL="64008" marR="64008" marT="22860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594360" y="6053328"/>
            <a:ext cx="109728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940" b="0">
                <a:solidFill>
                  <a:srgbClr val="526275"/>
                </a:solidFill>
                <a:latin typeface="Microsoft YaHei"/>
              </a:defRPr>
            </a:pPr>
            <a:r>
              <a:rPr/>
              <a:t>基线已有30% / 60%隐藏时，TTFT降幅为15.6% / 8.5%；TPOT资源控制另节省2.73 ms（有限窗）；有效QPS通过稳定负载扫描验证。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优化收益验证目标与需求纳入依据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08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三周识别路径、场景、在线宏观收益与代价；依据有效实测形成建议，正式需求纳入由第二轮评审决定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三周判断条件</a:t>
            </a:r>
            <a:r>
              <a:rPr b="1">
                <a:solidFill>
                  <a:srgbClr val="DC2626"/>
                </a:solidFill>
              </a:rPr>
              <a:t>在第1周按场景预先确定</a:t>
            </a:r>
            <a:r>
              <a:rPr>
                <a:solidFill>
                  <a:srgbClr val="142D4E"/>
                </a:solidFill>
              </a:rPr>
              <a:t>；</a:t>
            </a:r>
            <a:r>
              <a:rPr b="1">
                <a:solidFill>
                  <a:srgbClr val="1D4ED8"/>
                </a:solidFill>
              </a:rPr>
              <a:t>缺阈值标待定</a:t>
            </a:r>
            <a:r>
              <a:rPr>
                <a:solidFill>
                  <a:srgbClr val="142D4E"/>
                </a:solidFill>
              </a:rPr>
              <a:t>，不自动判通过或失败，也不统一要求三周≥20%。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5" cy="27340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880360"/>
                <a:gridCol w="3703320"/>
                <a:gridCol w="3093415"/>
              </a:tblGrid>
              <a:tr h="35661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验证层次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比较条件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三周需要回答的问题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需求判断用途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单项优化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同硬件、同请求、同负载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仅切换指定机制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在线指标是否改善？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主要节省哪段开销？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支持能力必要性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明确目标场景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场景边界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短／长输入、低／高复用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正常／拥塞、前台／混压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收益在哪些条件成立？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是否出现退化及代价？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确定启用条件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限定需求适用范围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组合优化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固定机制集合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对照同条件原生或现有基线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总收益、交互和主要贡献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避免单项收益简单相加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选择组合开发范围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解释增量来源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结果判定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有效、可重复的实测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保留失败、超时与代价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建议纳入／限定场景纳入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继续验证／暂缓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形成技术建议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正式审批另行记录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48640" y="4178808"/>
            <a:ext cx="11094415" cy="1316736"/>
          </a:xfrm>
          <a:prstGeom prst="roundRect">
            <a:avLst>
              <a:gd name="adj" fmla="val 2000"/>
            </a:avLst>
          </a:prstGeom>
          <a:solidFill>
            <a:srgbClr val="EAF2FF"/>
          </a:solidFill>
          <a:ln w="10160">
            <a:solidFill>
              <a:srgbClr val="D4DF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4297680"/>
            <a:ext cx="10744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25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后续系统目标（正式开发与独立验收）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4944" y="4690872"/>
            <a:ext cx="1074420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阶段代表工况：</a:t>
            </a:r>
            <a:r>
              <a:rPr b="1">
                <a:solidFill>
                  <a:srgbClr val="1D4ED8"/>
                </a:solidFill>
              </a:rPr>
              <a:t>平均 TTFT 降低 ≥10%，挑战20%</a:t>
            </a:r>
            <a:r>
              <a:rPr>
                <a:solidFill>
                  <a:srgbClr val="1F2937"/>
                </a:solidFill>
              </a:rPr>
              <a:t>；</a:t>
            </a:r>
            <a:r>
              <a:rPr b="1">
                <a:solidFill>
                  <a:srgbClr val="1D4ED8"/>
                </a:solidFill>
              </a:rPr>
              <a:t>P99 TTFT 降低 ≥20%，挑战50%</a:t>
            </a:r>
            <a:r>
              <a:rPr>
                <a:solidFill>
                  <a:srgbClr val="1F2937"/>
                </a:solidFill>
              </a:rPr>
              <a:t>。</a:t>
            </a:r>
          </a:p>
          <a:p>
            <a:pPr algn="l">
              <a:lnSpc>
                <a:spcPct val="112000"/>
              </a:lnSpc>
              <a:spcAft>
                <a:spcPts val="400"/>
              </a:spcAft>
              <a:defRPr sz="115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E3最终系统：真实两节点混压，</a:t>
            </a:r>
            <a:r>
              <a:rPr b="1">
                <a:solidFill>
                  <a:srgbClr val="1D4ED8"/>
                </a:solidFill>
              </a:rPr>
              <a:t>TTFT 降低 ≥20%、有效 QPS 提升 ≥10%、TPOT 干扰 &lt;3%</a:t>
            </a:r>
            <a:r>
              <a:rPr>
                <a:solidFill>
                  <a:srgbClr val="1F2937"/>
                </a:solidFill>
              </a:rPr>
              <a:t>，并检查后台进度。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641848"/>
            <a:ext cx="109728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3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有效实验：公平对照、正确计算、真实路径、工作量等价和重复性。局部收益不自动关闭E阶段；SLO为约定服务时延目标。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三周优化收益验证安排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09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第一轮确认的启动日为D0；按可用条件选取代表场景，优先验证六条路径，未具备条件的部分保留待验证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三周提交的是</a:t>
            </a:r>
            <a:r>
              <a:rPr b="1">
                <a:solidFill>
                  <a:srgbClr val="DC2626"/>
                </a:solidFill>
              </a:rPr>
              <a:t>场景化实际收益与取舍依据</a:t>
            </a:r>
            <a:r>
              <a:rPr>
                <a:solidFill>
                  <a:srgbClr val="142D4E"/>
                </a:solidFill>
              </a:rPr>
              <a:t>；设备和链路作为实验条件，资源申请不替代收益结论。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5" cy="3456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2514600"/>
                <a:gridCol w="2697480"/>
                <a:gridCol w="4099255"/>
              </a:tblGrid>
              <a:tr h="35661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优化路径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重点场景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观测指标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周内动作与预期结论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元数据快路径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短输入、低载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控制瓶颈附近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TTFT、尾时延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有效 QPS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第1周固定查询开关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第2周测量，第3周复验边界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传输与多通道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大小数据块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设备直达、多卡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在线加载等待、TTFT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实际带宽与 CPU 代价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按真实设备对照传输参数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识别搬运改善的在线增量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描述符与按层流水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控制开销敏感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部分前缀命中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TTFT、首层等待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提交开销与隐藏量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分别切换批量提交和流水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测单项、交互及基线已有能力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动态选路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低复用、正常网络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拥塞与不利链路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TTFT、负收益比例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决策及回退成本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固定缓存条件比较策略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明确加载／重算启用边界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前后台资源控制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纯前台与混压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固定后台目标负载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TPOT、TTFT尾部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有效 QPS、完成／积压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同包有无后台测干扰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比较混压增益与后台代价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51663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组合对照与复验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选定代表场景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可共存的有效机制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总收益、交互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独立轮次及离散度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第3周复验并比较组合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形成需求建议与暂缓理由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4828032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5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条件扩展：分层容量、中继分发、直读／卸载／迁移按设备与价值选取。真实设备、链路和负载决定可验证范围。</a:t>
            </a:r>
          </a:p>
        </p:txBody>
      </p:sp>
      <p:sp>
        <p:nvSpPr>
          <p:cNvPr id="20" name="TextBox 16"/>
          <p:cNvSpPr txBox="1"/>
          <p:nvPr/>
        </p:nvSpPr>
        <p:spPr>
          <a:xfrm>
            <a:off x="594360" y="5367528"/>
            <a:ext cx="109728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105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第1周：固定条件与筛选</a:t>
            </a:r>
            <a:r>
              <a:rPr>
                <a:solidFill>
                  <a:srgbClr val="142D4E"/>
                </a:solidFill>
              </a:rPr>
              <a:t>　　</a:t>
            </a:r>
            <a:r>
              <a:rPr b="1">
                <a:solidFill>
                  <a:srgbClr val="1D4ED8"/>
                </a:solidFill>
              </a:rPr>
              <a:t>第2周：单项收益及场景边界</a:t>
            </a:r>
            <a:r>
              <a:rPr>
                <a:solidFill>
                  <a:srgbClr val="142D4E"/>
                </a:solidFill>
              </a:rPr>
              <a:t>　　</a:t>
            </a:r>
            <a:r>
              <a:rPr b="1">
                <a:solidFill>
                  <a:srgbClr val="1D4ED8"/>
                </a:solidFill>
              </a:rPr>
              <a:t>第3周：复验、组合与需求建议</a:t>
            </a:r>
          </a:p>
          <a:p>
            <a:pPr>
              <a:lnSpc>
                <a:spcPct val="112000"/>
              </a:lnSpc>
              <a:spcAft>
                <a:spcPts val="0"/>
              </a:spcAft>
              <a:defRPr sz="105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配置与结果依据R11及配套三周计划接续；未执行项保持待验证，候选任务不承诺全部三周完成。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292608"/>
            <a:ext cx="98755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z="22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两轮评审结论与下一步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49808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z="11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已有基础支持继续验证；三周后依据场景化实际收益，判断正式需求纳入范围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091672" y="3200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10 / 12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353312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01  已有基础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通信、检索与缓存复用已有验证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主机通信42 GB/s，检索改善&gt;30%。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8B／72B拉取相对重算收益已确认。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三层模型说明增量空间与边界，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模型预测仍待真实设备校准。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45352" y="1188720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7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28232" y="1353312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02  本轮验证重点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优先检验能改变在线指标的路径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元数据、传输与多通道、描述符与流水，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动态选路、前后台控制及组合。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设备安全访问和多卡一致性保障实验有效，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扩展项按条件选择。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749039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FFF5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13631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03  三周提交结果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优化措施、宏观收益与适用边界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提交实际幅度、比较基线与主要贡献，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同时记录可重复性、代价和证据位置。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保留退化、无收益及证据不足结果，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给出纳入范围、继续验证或暂缓建议。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45352" y="3749039"/>
            <a:ext cx="5394960" cy="2331720"/>
          </a:xfrm>
          <a:prstGeom prst="roundRect">
            <a:avLst>
              <a:gd name="adj" fmla="val 2000"/>
            </a:avLst>
          </a:prstGeom>
          <a:solidFill>
            <a:srgbClr val="EAF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3913631"/>
            <a:ext cx="5029200" cy="20025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spcAft>
                <a:spcPts val="800"/>
              </a:spcAft>
              <a:defRPr sz="14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04  本轮评审事项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250" b="1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1D4ED8"/>
                </a:solidFill>
              </a:rPr>
              <a:t>继续验证及第二轮判断内容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确认重点路径、代表场景与比较方法，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预先确定各场景的收益判断条件。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三周允许简化实验实现；正式开发与系统验收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200" b="0">
                <a:solidFill>
                  <a:srgbClr val="1F2937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F2937"/>
                </a:solidFill>
              </a:rPr>
              <a:t>目标在后续阶段独立兑现。</a:t>
            </a:r>
          </a:p>
        </p:txBody>
      </p:sp>
      <p:sp>
        <p:nvSpPr>
          <p:cNvPr id="30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>
                <a:solidFill>
                  <a:srgbClr val="DC2626"/>
                </a:solidFill>
              </a:rPr>
              <a:t>以三周实测确定正式需求范围</a:t>
            </a:r>
            <a:r>
              <a:rPr>
                <a:solidFill>
                  <a:srgbClr val="142D4E"/>
                </a:solidFill>
              </a:rPr>
              <a:t>，优先建议纳入有场景依据和</a:t>
            </a:r>
            <a:r>
              <a:rPr b="1">
                <a:solidFill>
                  <a:srgbClr val="1D4ED8"/>
                </a:solidFill>
              </a:rPr>
              <a:t>可重复宏观收益</a:t>
            </a:r>
            <a:r>
              <a:rPr>
                <a:solidFill>
                  <a:srgbClr val="142D4E"/>
                </a:solidFill>
              </a:rPr>
              <a:t>的能力；当前审批状态为待评审。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</a:defRPr>
            </a:pPr>
            <a:r>
              <a:rPr/>
              <a:t>补充推导、参数分类与复算说明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12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000" b="0">
                <a:solidFill>
                  <a:srgbClr val="526275"/>
                </a:solidFill>
                <a:latin typeface="Microsoft YaHei"/>
              </a:defRPr>
            </a:pPr>
            <a:r>
              <a:rPr/>
              <a:t>模型页数字由同一份 inputs.json 和 model.py 生成；已有测试、场景输入、模型输出与交付目标分别标明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  <a:defRPr sz="1100" b="1">
                <a:solidFill>
                  <a:srgbClr val="FFFFFF"/>
                </a:solidFill>
                <a:latin typeface="Microsoft YaHei"/>
              </a:defRPr>
            </a:pPr>
            <a:r>
              <a:rPr>
                <a:solidFill>
                  <a:srgbClr val="142D4E"/>
                </a:solidFill>
              </a:rPr>
              <a:t>按同一组输入复算，区分已有报告、场景假设、模型输出与交付目标。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1672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4672584"/>
                <a:gridCol w="5093208"/>
              </a:tblGrid>
              <a:tr h="3566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分类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本次内容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2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使用边界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已有报告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8B/72B前缀拉取收益；检索改善 &gt;30%；主机带宽42 GB/s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DC2626"/>
                          </a:solidFill>
                        </a:rPr>
                        <a:t>检索改善不直接等同固定时延</a:t>
                      </a:r>
                      <a:r>
                        <a:rPr/>
                        <a:t>；前缀拉取收益已实测确认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场景输入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1.0→0.7 ms；提交15.4→2.0 ms；隐藏上限60%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基线无层序协同是所选路径假设，非Mooncake固有缺陷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40538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模型输出 / 目标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同参结果；E3目标20% / 10% / &lt;3%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10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DC2626"/>
                          </a:solidFill>
                        </a:rPr>
                        <a:t>模型不等于已达成</a:t>
                      </a:r>
                      <a:r>
                        <a:rPr/>
                        <a:t>；后台可持续进度与有效吞吐独立验证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2926080"/>
          <a:ext cx="11091671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1095"/>
                <a:gridCol w="4645152"/>
                <a:gridCol w="4535424"/>
              </a:tblGrid>
              <a:tr h="356616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模型环节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统一关系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70" b="1">
                          <a:solidFill>
                            <a:srgbClr val="FFFFFF"/>
                          </a:solidFill>
                          <a:latin typeface="Microsoft YaHei"/>
                        </a:defRPr>
                      </a:pPr>
                      <a:r>
                        <a:rPr/>
                        <a:t>必要限制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实际前缀 / 字节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P=floor(N×h_nom/16)×16；h=P/N；40 KiB/token/卡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 b="1">
                          <a:solidFill>
                            <a:srgbClr val="1D4ED8"/>
                          </a:solidFill>
                        </a:rPr>
                        <a:t>8K每卡320 MiB，八卡合计2.5 GiB</a:t>
                      </a:r>
                      <a:r>
                        <a:rPr/>
                        <a:t>；布局待后端确认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部分命中 / 后缀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T后缀=240×[(1−a)(1−h)+a(1−h²)] ms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a为计算分解假设；正文a=1保守情景，不称置信区间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逐层流水窗口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隐藏=min(60%×加载,79/80×min(加载,后缀))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均匀80层、无额外事件成本；全命中隐藏=0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元数据排队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W99(ms)=1000ln(100)/(μ−λ)，μ=1000/service_ms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服务台稳态；P05 λ900独立压力，P07 λ1低载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决策 / 中继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加载与重算共同计入已付查表及决策开销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中途取消累计开销另计；中继减少源流量不保证缩短40%</a:t>
                      </a:r>
                    </a:p>
                  </a:txBody>
                  <a:tcPr anchor="ctr" marL="64008" marR="64008" marT="32004" marB="32004">
                    <a:solidFill>
                      <a:srgbClr val="EAF2FF"/>
                    </a:solidFill>
                  </a:tcPr>
                </a:tc>
              </a:tr>
              <a:tr h="352044"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1">
                          <a:solidFill>
                            <a:srgbClr val="142D4E"/>
                          </a:solidFill>
                          <a:latin typeface="Microsoft YaHei"/>
                        </a:defRPr>
                      </a:pPr>
                      <a:r>
                        <a:rPr/>
                        <a:t>贡献与去掉损失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同一基线、同一前缀与共享资源计算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50" b="0">
                          <a:solidFill>
                            <a:srgbClr val="263B53"/>
                          </a:solidFill>
                          <a:latin typeface="Microsoft YaHei"/>
                        </a:defRPr>
                      </a:pPr>
                      <a:r>
                        <a:rPr/>
                        <a:t>成本项允许负值；</a:t>
                      </a:r>
                      <a:r>
                        <a:rPr b="1">
                          <a:solidFill>
                            <a:srgbClr val="DC2626"/>
                          </a:solidFill>
                        </a:rPr>
                        <a:t>后台有限窗不等于E3稳态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" y="5577840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2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  <a:hlinkClick r:id="rIdAssetsV10"/>
              </a:rPr>
              <a:t>复算资产：统一异构KVCache存储池_关键技术汇报_V10_模型资产/；输入、结果、公式及图表均随本稿交付。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934456"/>
            <a:ext cx="109728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2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  <a:hlinkClick r:id="rIdModelV10"/>
              </a:rPr>
              <a:t>三周实测用于模型校准与需求取舍；当前预测保持不变。参数与敏感性数据见配套《模型与参数说明》。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900" b="1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优化路径、适用场景与需求建议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091672" y="292608"/>
            <a:ext cx="6400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11 /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86384"/>
            <a:ext cx="11082528" cy="2651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00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场景与优化手段一一对应；新增结果及建议均待验证，后续按配置、实测结果和证据位置回填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318504"/>
            <a:ext cx="11091672" cy="338328"/>
          </a:xfrm>
          <a:prstGeom prst="rect">
            <a:avLst/>
          </a:prstGeom>
          <a:solidFill>
            <a:srgbClr val="EFF6FF"/>
          </a:solidFill>
          <a:ln w="9525"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重点结论左侧强调条"/>
          <p:cNvSpPr/>
          <p:nvPr/>
        </p:nvSpPr>
        <p:spPr>
          <a:xfrm>
            <a:off x="548640" y="6318504"/>
            <a:ext cx="64008" cy="338328"/>
          </a:xfrm>
          <a:prstGeom prst="rect">
            <a:avLst/>
          </a:prstGeom>
          <a:solidFill>
            <a:srgbClr val="1D4ED8"/>
          </a:solidFill>
          <a:ln w="9525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6373368"/>
            <a:ext cx="107899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1100" b="0">
                <a:solidFill>
                  <a:srgbClr val="142D4E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142D4E"/>
                </a:solidFill>
              </a:rPr>
              <a:t>最关键的2—3项实际结果同步到第4或第7页；</a:t>
            </a:r>
            <a:r>
              <a:rPr b="1">
                <a:solidFill>
                  <a:srgbClr val="DC2626"/>
                </a:solidFill>
              </a:rPr>
              <a:t>不以任务完成比例或表格填写数量自动决定需求纳入</a:t>
            </a:r>
            <a:r>
              <a:rPr>
                <a:solidFill>
                  <a:srgbClr val="142D4E"/>
                </a:solidFill>
              </a:rPr>
              <a:t>。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188720"/>
          <a:ext cx="11094415" cy="40325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377440"/>
                <a:gridCol w="2971800"/>
                <a:gridCol w="1993392"/>
                <a:gridCol w="2105863"/>
              </a:tblGrid>
              <a:tr h="356616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优化路径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场景与瓶颈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局部变化与宏观指标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当前结论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FFFFFF"/>
                          </a:solidFill>
                        </a:rPr>
                        <a:t>拟形成的需求</a:t>
                      </a:r>
                    </a:p>
                  </a:txBody>
                  <a:tcPr anchor="ctr" marL="64008" marR="64008" marT="32004" marB="32004">
                    <a:solidFill>
                      <a:srgbClr val="142D4E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元数据快路径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短输入、低载／控制瓶颈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查询与排队等待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局部查询时延 → TTFT／P99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有效 QPS（持续负载）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局部检索改善&gt;30%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在线增量待验证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查询优化的启用条件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与适用负载范围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传输与多通道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大小块、设备通路、多卡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正文搬运及共享链路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实际搬运／等待 → TTFT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记录 CPU 与带宽代价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主机基准已测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新增在线增量待验证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设备路径、多通道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及拓扑适配范围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描述符与按层流水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控制敏感、部分前缀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提交与首层等待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提交／隐藏量 → TTFT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拆分单项与交互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设计与模型已有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真实设备增量待验证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批量提交与流水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各自启用边界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动态选路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低复用、正常／拥塞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加载可能比重算慢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选路成本 → TTFT／负收益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缓存条件与策略差异单列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模型分界已有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实际策略增量待验证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成本预估、选路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与回退适用条件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前后台资源控制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前台与混压、固定后台量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共享资源竞争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前台 TPOT／TTFT／有效 QPS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后台完成、积压与代价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有限窗模型已有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在线混压增量待验证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准入、限速和优先级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及后台进度约束</a:t>
                      </a:r>
                    </a:p>
                  </a:txBody>
                  <a:tcPr anchor="ctr" marL="64008" marR="64008" marT="32004" marB="32004">
                    <a:solidFill>
                      <a:srgbClr val="EAF1FF"/>
                    </a:solidFill>
                  </a:tcPr>
                </a:tc>
              </a:tr>
              <a:tr h="612648"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1">
                          <a:solidFill>
                            <a:srgbClr val="142D4E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42D4E"/>
                          </a:solidFill>
                        </a:rPr>
                        <a:t>组合对照与复验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选定代表工况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机制交互与基线已有能力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实测总收益及分项贡献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轮次、离散度、代价与退化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结果待运行／待录入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需求建议待验证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建议组合开发范围</a:t>
                      </a:r>
                    </a:p>
                    <a:p>
                      <a:pPr>
                        <a:lnSpc>
                          <a:spcPct val="112000"/>
                        </a:lnSpc>
                        <a:spcAft>
                          <a:spcPts val="0"/>
                        </a:spcAft>
                        <a:defRPr sz="1030" b="0">
                          <a:solidFill>
                            <a:srgbClr val="1F2937"/>
                          </a:solidFill>
                          <a:latin typeface="Microsoft YaHei"/>
                          <a:ea typeface="Microsoft YaHei"/>
                          <a:cs typeface="Microsoft YaHei"/>
                        </a:defRPr>
                      </a:pPr>
                      <a:r>
                        <a:rPr>
                          <a:solidFill>
                            <a:srgbClr val="1F2937"/>
                          </a:solidFill>
                        </a:rPr>
                        <a:t>评审决定另记</a:t>
                      </a:r>
                    </a:p>
                  </a:txBody>
                  <a:tcPr anchor="ctr" marL="64008" marR="64008" marT="32004" marB="32004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5358384"/>
            <a:ext cx="109728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  <a:defRPr sz="95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建议状态：建议纳入／限定场景纳入／继续验证／暂缓。正式审批另记，候选追踪号不等于已批准需求。</a:t>
            </a:r>
          </a:p>
        </p:txBody>
      </p:sp>
      <p:sp>
        <p:nvSpPr>
          <p:cNvPr id="20" name="TextBox 16"/>
          <p:cNvSpPr txBox="1"/>
          <p:nvPr/>
        </p:nvSpPr>
        <p:spPr>
          <a:xfrm>
            <a:off x="594360" y="5815584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  <a:defRPr sz="950" b="0">
                <a:solidFill>
                  <a:srgbClr val="66758A"/>
                </a:solidFill>
                <a:latin typeface="Microsoft YaHei"/>
                <a:ea typeface="Microsoft YaHei"/>
                <a:cs typeface="Microsoft YaHei"/>
              </a:defRPr>
            </a:pPr>
            <a:r>
              <a:rPr>
                <a:solidFill>
                  <a:srgbClr val="66758A"/>
                </a:solidFill>
              </a:rPr>
              <a:t>第二轮回填：能力、场景、实际幅度、比较基线、证据位置、收益边界、代价及建议开发范围。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