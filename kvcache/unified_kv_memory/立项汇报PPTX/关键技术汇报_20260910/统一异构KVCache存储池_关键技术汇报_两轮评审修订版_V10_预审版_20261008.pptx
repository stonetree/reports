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60" r:id="rId12"/>
    <p:sldId id="261" r:id="rId13"/>
    <p:sldId id="262" r:id="rId14"/>
    <p:sldId id="263" r:id="rId15"/>
    <p:sldId id="265" r:id="rId17"/>
    <p:sldId id="259" r:id="rId11"/>
    <p:sldId id="264" r:id="rId16"/>
    <p:sldId id="267" r:id="rIdV10Slide12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9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10.xml"/><Relationship Id="rId17" Type="http://schemas.openxmlformats.org/officeDocument/2006/relationships/slide" Target="slides/slide8.xml"/><Relationship Id="rId18" Type="http://schemas.openxmlformats.org/officeDocument/2006/relationships/slide" Target="slides/slide11.xml"/><Relationship Id="rIdV10Slide12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基线：服务1.0 ms</c:v>
                </c:pt>
              </c:strCache>
            </c:strRef>
          </c:tx>
          <c:spPr>
            <a:ln w="20320">
              <a:solidFill>
                <a:srgbClr val="C53A3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500</c:v>
                </c:pt>
                <c:pt idx="2">
                  <c:v>800</c:v>
                </c:pt>
                <c:pt idx="3">
                  <c:v>900</c:v>
                </c:pt>
                <c:pt idx="4">
                  <c:v>960</c:v>
                </c:pt>
                <c:pt idx="5">
                  <c:v>980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9.855170185988092</c:v>
                </c:pt>
                <c:pt idx="1">
                  <c:v>14.460340371976184</c:v>
                </c:pt>
                <c:pt idx="2">
                  <c:v>28.275850929940457</c:v>
                </c:pt>
                <c:pt idx="3">
                  <c:v>51.301701859880914</c:v>
                </c:pt>
                <c:pt idx="4">
                  <c:v>120.37925464970229</c:v>
                </c:pt>
                <c:pt idx="5">
                  <c:v>235.50850929940458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优化：服务0.7 ms</c:v>
                </c:pt>
              </c:strCache>
            </c:strRef>
          </c:tx>
          <c:spPr>
            <a:ln w="20320">
              <a:solidFill>
                <a:srgbClr val="245D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500</c:v>
                </c:pt>
                <c:pt idx="2">
                  <c:v>800</c:v>
                </c:pt>
                <c:pt idx="3">
                  <c:v>900</c:v>
                </c:pt>
                <c:pt idx="4">
                  <c:v>960</c:v>
                </c:pt>
                <c:pt idx="5">
                  <c:v>980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8.473619130191665</c:v>
                </c:pt>
                <c:pt idx="1">
                  <c:v>10.209414046448714</c:v>
                </c:pt>
                <c:pt idx="2">
                  <c:v>12.576407114071962</c:v>
                </c:pt>
                <c:pt idx="3">
                  <c:v>13.962484135653144</c:v>
                </c:pt>
                <c:pt idx="4">
                  <c:v>15.078107104242877</c:v>
                </c:pt>
                <c:pt idx="5">
                  <c:v>15.516302962393834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元数据服务台到达率 / req/s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条件 P99 TTFT / 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固定加载</c:v>
                </c:pt>
              </c:strCache>
            </c:strRef>
          </c:tx>
          <c:spPr>
            <a:ln w="20320">
              <a:solidFill>
                <a:srgbClr val="C53A3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42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629.933626085612</c:v>
                </c:pt>
                <c:pt idx="1">
                  <c:v>379.6734874189453</c:v>
                </c:pt>
                <c:pt idx="2">
                  <c:v>238.9021594189453</c:v>
                </c:pt>
                <c:pt idx="3">
                  <c:v>187.9773881822917</c:v>
                </c:pt>
                <c:pt idx="4">
                  <c:v>162.951374315625</c:v>
                </c:pt>
                <c:pt idx="5">
                  <c:v>143.2880777061012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动态选择</c:v>
                </c:pt>
              </c:strCache>
            </c:strRef>
          </c:tx>
          <c:spPr>
            <a:ln w="20320">
              <a:solidFill>
                <a:srgbClr val="245D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42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240.75</c:v>
                </c:pt>
                <c:pt idx="1">
                  <c:v>240.75</c:v>
                </c:pt>
                <c:pt idx="2">
                  <c:v>238.9021594189453</c:v>
                </c:pt>
                <c:pt idx="3">
                  <c:v>187.9773881822917</c:v>
                </c:pt>
                <c:pt idx="4">
                  <c:v>162.951374315625</c:v>
                </c:pt>
                <c:pt idx="5">
                  <c:v>143.2880777061012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已付控制后的重算</c:v>
                </c:pt>
              </c:strCache>
            </c:strRef>
          </c:tx>
          <c:spPr>
            <a:ln w="20320">
              <a:solidFill>
                <a:srgbClr val="13977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42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240.75</c:v>
                </c:pt>
                <c:pt idx="1">
                  <c:v>240.75</c:v>
                </c:pt>
                <c:pt idx="2">
                  <c:v>240.75</c:v>
                </c:pt>
                <c:pt idx="3">
                  <c:v>240.75</c:v>
                </c:pt>
                <c:pt idx="4">
                  <c:v>240.75</c:v>
                </c:pt>
                <c:pt idx="5">
                  <c:v>240.75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共享带宽取样点 / GB/s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总路径时间 / 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无控制</c:v>
                </c:pt>
              </c:strCache>
            </c:strRef>
          </c:tx>
          <c:spPr>
            <a:ln w="20320">
              <a:solidFill>
                <a:srgbClr val="C53A3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18.2</c:v>
                </c:pt>
                <c:pt idx="1">
                  <c:v>18.8188</c:v>
                </c:pt>
                <c:pt idx="2">
                  <c:v>19.4376</c:v>
                </c:pt>
                <c:pt idx="3">
                  <c:v>20.0564</c:v>
                </c:pt>
                <c:pt idx="4">
                  <c:v>20.6752</c:v>
                </c:pt>
                <c:pt idx="5">
                  <c:v>21.293999999999997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残余2%情景</c:v>
                </c:pt>
              </c:strCache>
            </c:strRef>
          </c:tx>
          <c:spPr>
            <a:ln w="20320">
              <a:solidFill>
                <a:srgbClr val="245D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18.2</c:v>
                </c:pt>
                <c:pt idx="1">
                  <c:v>18.2728</c:v>
                </c:pt>
                <c:pt idx="2">
                  <c:v>18.3456</c:v>
                </c:pt>
                <c:pt idx="3">
                  <c:v>18.4184</c:v>
                </c:pt>
                <c:pt idx="4">
                  <c:v>18.4912</c:v>
                </c:pt>
                <c:pt idx="5">
                  <c:v>18.564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3%目标线</c:v>
                </c:pt>
              </c:strCache>
            </c:strRef>
          </c:tx>
          <c:spPr>
            <a:ln w="20320">
              <a:solidFill>
                <a:srgbClr val="13977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18.746</c:v>
                </c:pt>
                <c:pt idx="1">
                  <c:v>18.746</c:v>
                </c:pt>
                <c:pt idx="2">
                  <c:v>18.746</c:v>
                </c:pt>
                <c:pt idx="3">
                  <c:v>18.746</c:v>
                </c:pt>
                <c:pt idx="4">
                  <c:v>18.746</c:v>
                </c:pt>
                <c:pt idx="5">
                  <c:v>18.746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后台输入负载 / Gbps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平均 TPOT / 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Relationship Id="rId6" Type="http://schemas.openxmlformats.org/officeDocument/2006/relationships/chart" Target="../charts/chart1.xml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7.xml"/><Relationship Id="rId7" Type="http://schemas.openxmlformats.org/officeDocument/2006/relationships/chart" Target="../charts/chart2.xml"/><Relationship Id="rId8" Type="http://schemas.openxmlformats.org/officeDocument/2006/relationships/chart" Target="../charts/chart3.xml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8.xml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21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1.xml"/><Relationship Id="rIdAssetsV10" Type="http://schemas.openxmlformats.org/officeDocument/2006/relationships/hyperlink" Target="&#32479;&#19968;&#24322;&#26500;KVCache&#23384;&#20648;&#27744;_&#20851;&#38190;&#25216;&#26415;&#27719;&#25253;_V10_&#27169;&#22411;&#36164;&#20135;/README.md" TargetMode="External"/><Relationship Id="rIdModelV10" Type="http://schemas.openxmlformats.org/officeDocument/2006/relationships/hyperlink" Target="&#32479;&#19968;&#24322;&#26500;KVCache&#23384;&#20648;&#27744;_&#20851;&#38190;&#25216;&#26415;&#27719;&#25253;_&#27169;&#22411;&#19982;&#21442;&#25968;&#35828;&#26126;_V10_20261008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KVCache（大模型注意力键值缓存：复用历史 Key / Value 状态，减少重复计算）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142D4E"/>
                </a:solidFill>
                <a:latin typeface="Microsoft YaHei"/>
              </a:defRPr>
            </a:pPr>
            <a:r>
              <a:rPr/>
              <a:t>统一异构 KVCache 存储池关键技术汇报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2821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3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D4ED8"/>
                </a:solidFill>
              </a:rPr>
              <a:t>关键优化进展、三周收益验证与需求纳入评审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96312"/>
            <a:ext cx="3438144" cy="1883664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6060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</a:defRPr>
            </a:pPr>
            <a:r>
              <a:rPr/>
              <a:t>降低首字等待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3044952"/>
            <a:ext cx="314553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TTFT（首个输出 Token 响应时间）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控制面精简、批量描述符与设备直达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后续系统目标：</a:t>
            </a:r>
            <a:r>
              <a:rPr b="1">
                <a:solidFill>
                  <a:srgbClr val="1D4ED8"/>
                </a:solidFill>
              </a:rPr>
              <a:t>相对 Mooncake 降低 ≥20%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496312"/>
            <a:ext cx="3438144" cy="1883664"/>
          </a:xfrm>
          <a:prstGeom prst="roundRect">
            <a:avLst>
              <a:gd name="adj" fmla="val 2000"/>
            </a:avLst>
          </a:prstGeom>
          <a:solidFill>
            <a:srgbClr val="EAF6F1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060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</a:defRPr>
            </a:pPr>
            <a:r>
              <a:rPr/>
              <a:t>稳定逐字生成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3044952"/>
            <a:ext cx="314553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TPOT（每个输出 Token 生成耗时）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前后台队列、速率及共享资源控制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后续系统目标：</a:t>
            </a:r>
            <a:r>
              <a:rPr b="1">
                <a:solidFill>
                  <a:srgbClr val="1D4ED8"/>
                </a:solidFill>
              </a:rPr>
              <a:t>后台满载时干扰 &lt;3%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496312"/>
            <a:ext cx="3438144" cy="1883664"/>
          </a:xfrm>
          <a:prstGeom prst="roundRect">
            <a:avLst>
              <a:gd name="adj" fmla="val 2000"/>
            </a:avLst>
          </a:prstGeom>
          <a:solidFill>
            <a:srgbClr val="FFF6DE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26060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</a:defRPr>
            </a:pPr>
            <a:r>
              <a:rPr/>
              <a:t>提高有效服务能力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44952"/>
            <a:ext cx="314553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有效 QPS（每秒按服务目标完成请求数）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减少排队、保持后台搬运进度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后续系统目标：</a:t>
            </a:r>
            <a:r>
              <a:rPr b="1">
                <a:solidFill>
                  <a:srgbClr val="1D4ED8"/>
                </a:solidFill>
              </a:rPr>
              <a:t>同一服务目标下提升 ≥10%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10753344" cy="107899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4818888"/>
            <a:ext cx="10460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项目定位与两轮评审安排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5257800"/>
            <a:ext cx="104607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面向国产 AI 硬件的统一异构 KVCache 存储与调度底座；已有数据支持继续验证。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第一轮确认重点路径与判断标准，三周后提交场景化实测收益，评审正式需求纳入范围。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08776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本轮确认继续验证</a:t>
            </a:r>
            <a:r>
              <a:rPr>
                <a:solidFill>
                  <a:srgbClr val="142D4E"/>
                </a:solidFill>
              </a:rPr>
              <a:t>的路径与方法，三周后以</a:t>
            </a:r>
            <a:r>
              <a:rPr b="1">
                <a:solidFill>
                  <a:srgbClr val="1D4ED8"/>
                </a:solidFill>
              </a:rPr>
              <a:t>可重复在线收益和适用范围</a:t>
            </a:r>
            <a:r>
              <a:rPr>
                <a:solidFill>
                  <a:srgbClr val="142D4E"/>
                </a:solidFill>
              </a:rPr>
              <a:t>形成需求纳入建议。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Mooncake 目标部署路径上的性能问题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围绕设备接入、传输组织、控制处理、路径决策和共享资源，说明开销来源及增强方向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solidFill>
                  <a:srgbClr val="142D4E"/>
                </a:solidFill>
              </a:rPr>
              <a:t>优化重点：缩短正文搬运路径、减少控制开销、</a:t>
            </a:r>
            <a:r>
              <a:rPr b="1">
                <a:solidFill>
                  <a:srgbClr val="DC2626"/>
                </a:solidFill>
              </a:rPr>
              <a:t>按净收益选路</a:t>
            </a:r>
            <a:r>
              <a:rPr>
                <a:solidFill>
                  <a:srgbClr val="142D4E"/>
                </a:solidFill>
              </a:rPr>
              <a:t>，并保障前后台与多卡协同。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07008"/>
          <a:ext cx="11091671" cy="4553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749039"/>
                <a:gridCol w="4187952"/>
                <a:gridCol w="1737360"/>
              </a:tblGrid>
              <a:tr h="3566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问题组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目标部署路径与开销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机制解释、实验依据与适用范围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指标与措施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正文搬运与设备接入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在采用主机中转的设备后端中，缓存正文沿“远端存储→主机内存→本地显存”加载；新增一次正文拷贝，并占用主机内存带宽和设备总线，延长首字等待。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Beluga §7.1 表5：两台8×H20、Qwen-32B、vLLM 0.8.5，LV-Eval 全命中</a:t>
                      </a:r>
                      <a:r>
                        <a:rPr b="1">
                          <a:solidFill>
                            <a:srgbClr val="1D4ED8"/>
                          </a:solidFill>
                        </a:rPr>
                        <a:t>平均首字时间13.00→1.36 s</a:t>
                      </a:r>
                      <a:r>
                        <a:rPr/>
                        <a:t>。对照为论文所选 Mooncake 路径与 Beluga；不代表所有后端都有中转。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首字时间；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设备直达，减少主机中转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切片顺序与热点分发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模型逐层使用缓存，若按通用数据块顺序搬运，首层就绪可能等待后续层数据；同一热点前缀直接发给多个节点，源端重复发送，占用出口带宽。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按模型层顺序搬运，可在首层就绪后开始计算，并与后续层传输重叠。第6页一对八情景：二叉中继将</a:t>
                      </a:r>
                      <a:r>
                        <a:rPr b="1">
                          <a:solidFill>
                            <a:srgbClr val="1D4ED8"/>
                          </a:solidFill>
                        </a:rPr>
                        <a:t>源端发送量从8份降为2份</a:t>
                      </a:r>
                      <a:r>
                        <a:rPr/>
                        <a:t>；收益仍受中继层数和共享带宽限制。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首层等待；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按层流水与中继转发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离散块与控制处理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跨框架缓存块可能离散且布局不同；细粒度读取会频繁注册内存、构造和提交描述符、查询元数据。单次搬运小，控制开销仍会累积到首字等待中。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Beluga §7.3 表6：Qwen-32B 稀疏读取16个 Token，</a:t>
                      </a:r>
                      <a:r>
                        <a:rPr b="1">
                          <a:solidFill>
                            <a:srgbClr val="1D4ED8"/>
                          </a:solidFill>
                        </a:rPr>
                        <a:t>耗时5260→211 µs</a:t>
                      </a:r>
                      <a:r>
                        <a:rPr/>
                        <a:t>，反映该访问形态的数据路径差异；该值不是元数据查询耗时。元数据收益在第5页单独建模。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首字时间；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元数据优化与描述符批量提交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加载、重算与远端访问选择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命中缓存后，可拷贝至本地显存、直接读取远端，或在本地重算。低复用、链路拥塞时，加载及后续计算的总开销可能超过重算；固定加载会失去净收益。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决策须比较完整路径：查询、选路、传输、后缀计算及回退计入。远端直读还需计入逐步访问成本。第6页给出复用率与带宽的加载门限，</a:t>
                      </a:r>
                      <a:r>
                        <a:rPr b="1">
                          <a:solidFill>
                            <a:srgbClr val="DC2626"/>
                          </a:solidFill>
                        </a:rPr>
                        <a:t>低于门限回退重算</a:t>
                      </a:r>
                      <a:r>
                        <a:rPr/>
                        <a:t>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首字及尾部时延；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动态选路与安全回退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前后台与多卡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一致动作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后台换出或拉取会与前台生成、卡间通信争用网络、设备总线和显存带宽；张量并行多卡若命中或异常状态不同，可能出现部分卡加载、部分卡重算。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DualPath §5 协同管理数据传输与卡间集合通信；网络优先级不能覆盖全部总线与显存竞争。需结合限流与多卡一致决策，保障单字生成稳定，并在异常时统一回退。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单字生成耗时；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资源限流与多卡同步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795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50" b="0">
                <a:solidFill>
                  <a:srgbClr val="526275"/>
                </a:solidFill>
                <a:latin typeface="Microsoft YaHei"/>
              </a:defRPr>
            </a:pPr>
            <a:r>
              <a:rPr/>
              <a:t>来源：Mooncake Transfer Engine 官方文档；Beluga arXiv v1 §7.1/§7.3；DualPath arXiv v1 §5。</a:t>
            </a:r>
            <a:r>
              <a:rPr b="1">
                <a:solidFill>
                  <a:srgbClr val="DC2626"/>
                </a:solidFill>
              </a:rPr>
              <a:t>外部实验为机制依据，非本项目实测</a:t>
            </a:r>
            <a:r>
              <a:rPr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基于 Mooncake 的优化方案与交付目标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11项候选完整保留；优先＝收益验证，条件＝实验有效性，扩展＝按设备与价值选取；右列为后续目标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后续阶段：TTFT 降低 ≥10%，挑战20%；最终 E3：</a:t>
            </a:r>
            <a:r>
              <a:rPr b="1">
                <a:solidFill>
                  <a:srgbClr val="1D4ED8"/>
                </a:solidFill>
              </a:rPr>
              <a:t>TTFT 降低 ≥20%、有效 QPS 提升 ≥10%、TPOT 干扰 &lt;3%</a:t>
            </a:r>
            <a:r>
              <a:rPr>
                <a:solidFill>
                  <a:srgbClr val="142D4E"/>
                </a:solidFill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167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5330952"/>
                <a:gridCol w="3703320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技术功能</a:t>
                      </a:r>
                      <a:endParaRPr lang="zh-CN" sz="106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具体优化手段与执行逻辑</a:t>
                      </a:r>
                      <a:endParaRPr lang="zh-CN" sz="106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原方案技术／后续交付目标</a:t>
                      </a:r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【优先】通信基准与收益边界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 UBMEM / URMA；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同请求分别测重算、查表、拉取、挂接与同步，求净收益及链路适用边界。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50%复用：净收益 / 加载总开销 ≥2；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净收益=节省重算−加载开销；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UBMEM/RDMA 带宽比 ≥1.3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【优先】CPU 零数据拷贝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注册设备内存并提交 DMA 描述符，由设备搬运数据；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只下发控制指令，独立核验主机内存旁路。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 CPU 搬运字节=0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利用率增量 &lt;5%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【优先】描述符与异步流水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将相邻物理块合并为连续区间、批量提交；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按层交错通信流与计算流，计算当前层时预取后续层。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条目压缩 ≥50%；</a:t>
                      </a:r>
                      <a:r>
                        <a:rPr sz="990" b="1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搬运隐藏 ≥60%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提交耗时降低 ≥40%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【条件】远端直读与安全回退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比较逐层远端直读与一次拷入本地显存的总成本；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持有有效租约再读，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失效时停止访问并回退重算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失效检测后安全回退 &lt;1 ms；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按生命周期成本选择直读 / 拷贝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【优先】动态选路与成本预估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按前缀长度、共享带宽及加载、挂接、同步开销预测净收益；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计入预估误差、探测和取消成本，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亏损即重算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 P99 &lt;5 µs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；准确率 ≥90%；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负收益请求比例 &lt;1%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【扩展】分层存储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按冷热与复用情况分层放置，异步换出冷块、预取热块；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 SSD 数据块，按硬件能力验证设备存储直达。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150%容量压力：有效容量提升 ≥30%；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OOM 减少 ≥50%；SSD 吞吐 ≥峰值80%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【条件】语义校验与多卡同步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读取前核对模型、词表、模板、适配器、写入就绪位和租约六维信息；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尾部冲突只重算尾部，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任一卡分歧则全组回退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六维校验失败、尾部冲突、单卡分歧：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8类用例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均禁止错误消费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TP=8 正常同步 P99 &lt;100 µs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【优先】前后台资源控制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前台拉取与后台换出映射不同优先级队列；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用限速和拥塞退避控制后台，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按积压与最低完成进度调整准入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，兼顾前台时延与后台排出。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E3：TTFT 降低 ≥20%；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QPS 提升 ≥10%；TPOT 干扰 &lt;3%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【扩展】软件中继分发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热点前缀先发中继，再逐层接力到目标节点；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父节点出口按子节点共享，分别评价源端流量与广播完成时间。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1-to-8：源端流量节省 ≥60%；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广播耗时降低 ≥40%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【扩展】可选卸载与软件降级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比较可选设备卸载的收益和开销；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设备缺失或失效时切回软件路径，保证无卸载时仍可运行。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卸载 CPU 占用降低 ≥30%；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软件通路切换 &lt;500 µs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【扩展】无锁读取与页迁移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拷贝新页并切换映射，读者继续访问旧页；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待读者退出宽限期后释放旧页，避免迁移阻塞读取。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32读者：前台停顿 &lt;1 ms；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迁移引入延迟 P99 &lt;50 µs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08076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6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UBMEM：统一总线内存共享协议；URMA：用户态高性能远程内存访问接口。直读、存储直达与卸载按能力独立验证。</a:t>
            </a:r>
            <a:endParaRPr lang="zh-CN" sz="9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已有验证：收益判断的依据与后续推进基础</a:t>
            </a:r>
            <a:endParaRPr lang="zh-CN" sz="1900"/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通信、检索与实际推理三方面已有验证；分别支持成本测量、优化可行性和缓存复用收益判断</a:t>
            </a:r>
            <a:endParaRPr lang="zh-CN" sz="1000"/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第二轮更新：优先展示2—3项</a:t>
            </a:r>
            <a:r>
              <a:rPr b="1">
                <a:solidFill>
                  <a:srgbClr val="DC2626"/>
                </a:solidFill>
              </a:rPr>
              <a:t>代表性实测</a:t>
            </a:r>
            <a:r>
              <a:rPr>
                <a:solidFill>
                  <a:srgbClr val="142D4E"/>
                </a:solidFill>
              </a:rPr>
              <a:t>，保留历史基准；详细配置、</a:t>
            </a:r>
            <a:r>
              <a:rPr b="1">
                <a:solidFill>
                  <a:srgbClr val="1D4ED8"/>
                </a:solidFill>
              </a:rPr>
              <a:t>收益边界和需求建议</a:t>
            </a:r>
            <a:r>
              <a:rPr>
                <a:solidFill>
                  <a:srgbClr val="142D4E"/>
                </a:solidFill>
              </a:rPr>
              <a:t>进入附录与工作簿。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43584"/>
            <a:ext cx="3529584" cy="181051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53312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通信通路：建立传输基准</a:t>
            </a:r>
            <a:endParaRPr lang="zh-CN" sz="1220"/>
          </a:p>
        </p:txBody>
      </p:sp>
      <p:sp>
        <p:nvSpPr>
          <p:cNvPr id="9" name="TextBox 8"/>
          <p:cNvSpPr txBox="1"/>
          <p:nvPr/>
        </p:nvSpPr>
        <p:spPr>
          <a:xfrm>
            <a:off x="694944" y="1792224"/>
            <a:ext cx="323697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完成 URMA / UBMEM 主机通信基准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主机侧大块带宽：</a:t>
            </a: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42 GB/s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提供主机通路的传输能力量级，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为目标设备路径对照建立基础。</a:t>
            </a:r>
            <a:endParaRPr lang="zh-CN" sz="1100"/>
          </a:p>
        </p:txBody>
      </p:sp>
      <p:sp>
        <p:nvSpPr>
          <p:cNvPr id="10" name="Rounded Rectangle 9"/>
          <p:cNvSpPr/>
          <p:nvPr/>
        </p:nvSpPr>
        <p:spPr>
          <a:xfrm>
            <a:off x="4334255" y="1243584"/>
            <a:ext cx="3529584" cy="181051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353312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前缀检索：验证优化方向</a:t>
            </a:r>
            <a:endParaRPr lang="zh-CN" sz="1220"/>
          </a:p>
        </p:txBody>
      </p:sp>
      <p:sp>
        <p:nvSpPr>
          <p:cNvPr id="12" name="TextBox 11"/>
          <p:cNvSpPr txBox="1"/>
          <p:nvPr/>
        </p:nvSpPr>
        <p:spPr>
          <a:xfrm>
            <a:off x="4480559" y="1792224"/>
            <a:ext cx="323697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基于统一总线共享内存优化检索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检索性能提升 &gt;30%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说明检索路径具备优化空间，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支持继续细化控制面开销。</a:t>
            </a:r>
            <a:endParaRPr lang="zh-CN" sz="1100"/>
          </a:p>
        </p:txBody>
      </p:sp>
      <p:sp>
        <p:nvSpPr>
          <p:cNvPr id="13" name="Rounded Rectangle 12"/>
          <p:cNvSpPr/>
          <p:nvPr/>
        </p:nvSpPr>
        <p:spPr>
          <a:xfrm>
            <a:off x="8119871" y="1243584"/>
            <a:ext cx="3529584" cy="181051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353312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推理对照：确认复用收益</a:t>
            </a:r>
            <a:endParaRPr lang="zh-CN" sz="1220"/>
          </a:p>
        </p:txBody>
      </p:sp>
      <p:sp>
        <p:nvSpPr>
          <p:cNvPr id="15" name="TextBox 14"/>
          <p:cNvSpPr txBox="1"/>
          <p:nvPr/>
        </p:nvSpPr>
        <p:spPr>
          <a:xfrm>
            <a:off x="8266175" y="1792224"/>
            <a:ext cx="323697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MooncakeStore 前缀拉取 vs 重算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8B / 72B</a:t>
            </a: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TTFT 实测收益明显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长短输入与部分/完整前缀对照，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确认缓存复用具有实际收益。</a:t>
            </a:r>
            <a:endParaRPr lang="zh-CN" sz="110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291840"/>
          <a:ext cx="11091672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617720"/>
                <a:gridCol w="4462272"/>
              </a:tblGrid>
              <a:tr h="3566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支持的判断</a:t>
                      </a:r>
                      <a:endParaRPr lang="zh-CN" sz="115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已有验证提供的依据</a:t>
                      </a:r>
                      <a:endParaRPr lang="zh-CN" sz="115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同条件新增优化的宏观收益与适用范围</a:t>
                      </a:r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传输成本可测量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主机基准给出链路能力量级；收益评价需同时对照拉取开销与重算耗时。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同条件测设备传输与在线等待，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记录共享带宽与 CPU 搬运。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控制开销值得优化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共享内存检索已取得性能改善，支持进一步减少查表、注册与提交开销。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固定查询开关，测低载／控制瓶颈附近，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确认 TTFT、尾时延与有效吞吐。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复用收益前提成立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多模型、序列长度与命中率对照，实测证实前缀拉取相对重算收益明显。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32B待补；同硬件比较优化与基线，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记录多卡及混压的收益边界。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" y="5650992"/>
            <a:ext cx="10972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7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推理对照范围：8B / 72B；1K / 8K / 32K / 50K / 100K；前缀命中30% / 50% / 70% / 90% / 98% / 100%。</a:t>
            </a:r>
            <a:endParaRPr lang="zh-CN" sz="97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7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32B 后续补充；后续建模在明确条件下分析优化增量，目标设备与混压测试再确认可实现的收益。</a:t>
            </a:r>
            <a:endParaRPr lang="zh-CN" sz="9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元数据优化：时延、排队拐点与业务价值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查表优化在低载减少直接开销；待验证：低载及控制瓶颈附近，在线 TTFT、尾时延与有效吞吐分别改善多少？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solidFill>
                  <a:srgbClr val="142D4E"/>
                </a:solidFill>
              </a:rPr>
              <a:t>元数据优化的直接收益为0.30 ms；接近控制瓶颈时收益放大，</a:t>
            </a:r>
            <a:r>
              <a:rPr b="1">
                <a:solidFill>
                  <a:srgbClr val="DC2626"/>
                </a:solidFill>
              </a:rPr>
              <a:t>服务台容量仍不能直接等同系统 QPS</a:t>
            </a:r>
            <a:r>
              <a:rPr>
                <a:solidFill>
                  <a:srgbClr val="142D4E"/>
                </a:solidFill>
              </a:rPr>
              <a:t>。</a:t>
            </a:r>
          </a:p>
        </p:txBody>
      </p:sp>
      <p:pic>
        <p:nvPicPr>
          <p:cNvPr id="7" name="Picture 6" descr="P05_元数据拐点与锚点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1197864"/>
            <a:ext cx="5687568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188720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30" b="1">
                <a:solidFill>
                  <a:srgbClr val="142D4E"/>
                </a:solidFill>
                <a:latin typeface="Microsoft YaHei"/>
              </a:defRPr>
            </a:pPr>
            <a:r>
              <a:rPr/>
              <a:t>模型摘图：查表开销与服务台排队</a:t>
            </a:r>
          </a:p>
        </p:txBody>
      </p:sp>
      <p:pic>
        <p:nvPicPr>
          <p:cNvPr id="9" name="Picture 8" descr="P05_公式摘图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1536192"/>
            <a:ext cx="5010912" cy="1207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2770632"/>
            <a:ext cx="517550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80" b="1">
                <a:solidFill>
                  <a:srgbClr val="142D4E"/>
                </a:solidFill>
                <a:latin typeface="Microsoft YaHei"/>
              </a:defRPr>
            </a:pPr>
            <a:r>
              <a:rPr/>
              <a:t>同模型、分工况：这些数值说明什么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28232" y="3081528"/>
          <a:ext cx="5212079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874519"/>
                <a:gridCol w="2276856"/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负载 / 约束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模型结果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业务含义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低载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6.25→5.95 ms</a:t>
                      </a:r>
                      <a:br/>
                      <a:r>
                        <a:rPr b="1">
                          <a:solidFill>
                            <a:srgbClr val="1D4ED8"/>
                          </a:solidFill>
                        </a:rPr>
                        <a:t>−0.30 ms</a:t>
                      </a:r>
                      <a:r>
                        <a:rPr/>
                        <a:t> / −4.8%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直接缩短查表路径；</a:t>
                      </a:r>
                      <a:br/>
                      <a:r>
                        <a:rPr/>
                        <a:t>生成阶段无直接提速项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λ=900</a:t>
                      </a:r>
                      <a:br/>
                      <a:r>
                        <a:rPr/>
                        <a:t>基线利用率90%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51.30→13.96 ms</a:t>
                      </a:r>
                      <a:br/>
                      <a:r>
                        <a:rPr/>
                        <a:t>条件 P99 降72.8%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服务台接近瓶颈；</a:t>
                      </a:r>
                      <a:br/>
                      <a:r>
                        <a:rPr b="1">
                          <a:solidFill>
                            <a:srgbClr val="DC2626"/>
                          </a:solidFill>
                        </a:rPr>
                        <a:t>排队收益明显放大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服务台容量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1000→1429 req/s</a:t>
                      </a:r>
                      <a:br/>
                      <a:r>
                        <a:rPr/>
                        <a:t>容量上限提升42.9%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超过容量即不稳态；</a:t>
                      </a:r>
                      <a:br/>
                      <a:r>
                        <a:rPr/>
                        <a:t>全系统仍受算力和加载限制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120 ms约束</a:t>
                      </a:r>
                      <a:br/>
                      <a:r>
                        <a:rPr/>
                        <a:t>固定路径99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780.7→1209.3 req/s</a:t>
                      </a:r>
                      <a:br/>
                      <a:r>
                        <a:rPr/>
                        <a:t>可承载速率提升54.9%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仅元数据服务台上界；</a:t>
                      </a:r>
                      <a:br/>
                      <a:r>
                        <a:rPr/>
                        <a:t>21 ms滞留预算，另作工况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94360" y="5925312"/>
            <a:ext cx="109728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60" b="0">
                <a:solidFill>
                  <a:srgbClr val="526275"/>
                </a:solidFill>
                <a:latin typeface="Microsoft YaHei"/>
              </a:defRPr>
            </a:pPr>
            <a:r>
              <a:rPr/>
              <a:t>场景输入：查表1.0→0.7 ms；低载固定5.25 ms。排队采用单服务台泊松到达、指数服务；RTT与服务时间分别定义。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单项技术：选路分界、前台目标与中继收益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主验证：动态选路与资源控制；中继按设备开展条件验证，比较拓扑、转发方式及实际场景收益。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加载按净收益选路</a:t>
            </a:r>
            <a:r>
              <a:rPr>
                <a:solidFill>
                  <a:srgbClr val="142D4E"/>
                </a:solidFill>
              </a:rPr>
              <a:t>；</a:t>
            </a:r>
            <a:r>
              <a:rPr b="1">
                <a:solidFill>
                  <a:srgbClr val="DC2626"/>
                </a:solidFill>
              </a:rPr>
              <a:t>QoS须保持后台可持续进度</a:t>
            </a:r>
            <a:r>
              <a:rPr>
                <a:solidFill>
                  <a:srgbClr val="142D4E"/>
                </a:solidFill>
              </a:rPr>
              <a:t>；中继减少源端流量，不保证广播完成时间同比例缩短。</a:t>
            </a:r>
          </a:p>
        </p:txBody>
      </p:sp>
      <p:pic>
        <p:nvPicPr>
          <p:cNvPr id="7" name="Picture 6" descr="P06_选路门限与锚点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225296"/>
            <a:ext cx="3895344" cy="2898648"/>
          </a:xfrm>
          <a:prstGeom prst="rect">
            <a:avLst/>
          </a:prstGeom>
        </p:spPr>
      </p:pic>
      <p:pic>
        <p:nvPicPr>
          <p:cNvPr id="8" name="Picture 7" descr="P06_QoS拐点与锚点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272" y="1225296"/>
            <a:ext cx="3703320" cy="2898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84464" y="1188720"/>
            <a:ext cx="33558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80" b="1">
                <a:solidFill>
                  <a:srgbClr val="142D4E"/>
                </a:solidFill>
                <a:latin typeface="Microsoft YaHei"/>
              </a:defRPr>
            </a:pPr>
            <a:r>
              <a:rPr/>
              <a:t>模型摘图：受限重叠与路径选择</a:t>
            </a:r>
          </a:p>
        </p:txBody>
      </p:sp>
      <p:pic>
        <p:nvPicPr>
          <p:cNvPr id="10" name="Picture 9" descr="P06_公式摘图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6175" y="1517904"/>
            <a:ext cx="3355848" cy="886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93608" y="2487168"/>
            <a:ext cx="3346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D为拉取字节；B为共享GB/s；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Ts为后缀计算，H为隐藏量（ms）。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99008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50" b="1">
                <a:solidFill>
                  <a:srgbClr val="142D4E"/>
                </a:solidFill>
                <a:latin typeface="Microsoft YaHei"/>
              </a:defRPr>
            </a:pPr>
            <a:r>
              <a:rPr/>
              <a:t>二叉中继：一对八、同一完整前缀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75320" y="3319272"/>
          <a:ext cx="3364992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832"/>
                <a:gridCol w="2423160"/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比较对象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结果 / 变化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源端发送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8份→2份；−75%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广播完成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511.3→383.6 ms；−25%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42519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80" b="1">
                <a:solidFill>
                  <a:srgbClr val="142D4E"/>
                </a:solidFill>
                <a:latin typeface="Microsoft YaHei"/>
              </a:defRPr>
            </a:pPr>
            <a:r>
              <a:rPr/>
              <a:t>把图上的收益与工程条件对应起来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553712"/>
          <a:ext cx="11091672" cy="134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3986784"/>
                <a:gridCol w="5897880"/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机制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模型锚点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工程含义与达标条件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动态选路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70%门限7.94 GB/s</a:t>
                      </a:r>
                      <a:r>
                        <a:rPr/>
                        <a:t>；100%门限11.28 GB/s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低于门限选择重算；查询0.70 + 决策0.05 ms为两条路径共同成本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资源控制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控制后18.56 ms；3%目标18.75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输入100、完成70 Gbps则积压30；稳态需准入≤70或增加排出通路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软件中继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源端流量降75%；完成时间只降25%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每父42 GB/s出口由两子共享，3级转发仍有开销；</a:t>
                      </a:r>
                      <a:r>
                        <a:rPr b="1">
                          <a:solidFill>
                            <a:srgbClr val="DC2626"/>
                          </a:solidFill>
                        </a:rPr>
                        <a:t>未达降40%目标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94360" y="601675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30" b="0">
                <a:solidFill>
                  <a:srgbClr val="526275"/>
                </a:solidFill>
                <a:latin typeface="Microsoft YaHei"/>
              </a:defRPr>
            </a:pPr>
            <a:r>
              <a:rPr/>
              <a:t>场景输入：8K、TP=8（八卡张量并行）、完整前缀合计2.5 GiB；QoS采用线性压力情景，2%残余竞争与70%后台进度为假设。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同硬件全系统建模：总收益与技术贡献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110825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曲面为敏感性扫描；同硬件参考：TP=8、8K、42 GB/s、70%前缀（场景输入）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待验证：基线已有能力、分项增量、组合交互及场景范围；第二轮按同条件对照选定实测点。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solidFill>
                  <a:srgbClr val="142D4E"/>
                </a:solidFill>
              </a:rPr>
              <a:t>70%前缀条件情景：TTFT 187.15→146.69 ms，降低21.6%；</a:t>
            </a:r>
            <a:r>
              <a:rPr b="1">
                <a:solidFill>
                  <a:srgbClr val="DC2626"/>
                </a:solidFill>
              </a:rPr>
              <a:t>收益依赖复用率、共享带宽和基线已有能力</a:t>
            </a:r>
            <a:r>
              <a:rPr>
                <a:solidFill>
                  <a:srgbClr val="142D4E"/>
                </a:solidFill>
              </a:rPr>
              <a:t>。</a:t>
            </a:r>
          </a:p>
        </p:txBody>
      </p:sp>
      <p:pic>
        <p:nvPicPr>
          <p:cNvPr id="7" name="Picture 6" descr="P07_系统三维锚点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" y="1225296"/>
            <a:ext cx="57150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37376" y="1188720"/>
            <a:ext cx="520293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142D4E"/>
                </a:solidFill>
                <a:latin typeface="Microsoft YaHei"/>
              </a:defRPr>
            </a:pPr>
            <a:r>
              <a:rPr/>
              <a:t>模型摘图：完整路径与收益对账</a:t>
            </a:r>
          </a:p>
        </p:txBody>
      </p:sp>
      <p:pic>
        <p:nvPicPr>
          <p:cNvPr id="9" name="Picture 8" descr="P07_公式摘图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088" y="1517904"/>
            <a:ext cx="5184648" cy="1115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37376" y="2660904"/>
            <a:ext cx="52029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526275"/>
                </a:solidFill>
                <a:latin typeface="Microsoft YaHei"/>
              </a:defRPr>
            </a:pPr>
            <a:r>
              <a:rPr/>
              <a:t>Tf固定路径；Ts后缀；tm查表、td提交、tq决策；τ加载、H隐藏。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526275"/>
                </a:solidFill>
                <a:latin typeface="Microsoft YaHei"/>
              </a:defRPr>
            </a:pPr>
            <a:r>
              <a:rPr/>
              <a:t>h为实际块命中率（16 Token对齐）；耗时单位ms。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28232" y="3017520"/>
          <a:ext cx="5212079" cy="1325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16"/>
                <a:gridCol w="2542032"/>
                <a:gridCol w="1856231"/>
              </a:tblGrid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指标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基线 → 优化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结果对应的条件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TTFT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187.15→146.69 ms；−21.6%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70%前缀，同硬件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TPOT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21.29→18.56 ms；−12.8%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有限后台窗资源控制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P99 TTFT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190.76→149.21 ms；−21.8%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λ=1，</a:t>
                      </a:r>
                      <a:r>
                        <a:rPr b="1">
                          <a:solidFill>
                            <a:srgbClr val="DC2626"/>
                          </a:solidFill>
                        </a:rPr>
                        <a:t>仅元数据队列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389120"/>
            <a:ext cx="58338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A→C：带宽10→42，TTFT减少57.20 ms。</a:t>
            </a:r>
            <a:endParaRPr lang="zh-CN" sz="95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B→C：查表100→0.7，TTFT减少99.30 ms。</a:t>
            </a:r>
            <a:endParaRPr lang="zh-CN" sz="950"/>
          </a:p>
        </p:txBody>
      </p:sp>
      <p:sp>
        <p:nvSpPr>
          <p:cNvPr id="13" name="TextBox 12"/>
          <p:cNvSpPr txBox="1"/>
          <p:nvPr/>
        </p:nvSpPr>
        <p:spPr>
          <a:xfrm>
            <a:off x="6437376" y="4434840"/>
            <a:ext cx="52029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80" b="1">
                <a:solidFill>
                  <a:srgbClr val="142D4E"/>
                </a:solidFill>
                <a:latin typeface="Microsoft YaHei"/>
              </a:defRPr>
            </a:pPr>
            <a:r>
              <a:rPr/>
              <a:t>前缀30/70/80/100%：TTFT降9.8/21.6/28.1/16.3%。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773168"/>
          <a:ext cx="11091672" cy="1216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651760"/>
                <a:gridCol w="6163056"/>
              </a:tblGrid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技术贡献（70%健康网络）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单独启用 / 移除损失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为什么产生这一收益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元数据控制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0.30 / 0.30 ms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查表1.0→0.7 ms，只减少控制路径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描述符与提交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13.40 / 13.40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提交15.4→2.0 ms是场景输入，需设备校准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按层异步流水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26.81 / 26.81 ms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隐藏上限60%，实际还受后缀工作量与首层等待限制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动态选路（本工况）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−0.05 / −0.05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健康网络增加决策成本；拥塞时避免固定拉取的额外开销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4360" y="605332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40" b="0">
                <a:solidFill>
                  <a:srgbClr val="526275"/>
                </a:solidFill>
                <a:latin typeface="Microsoft YaHei"/>
              </a:defRPr>
            </a:pPr>
            <a:r>
              <a:rPr/>
              <a:t>基线已有30% / 60%隐藏时，TTFT降幅为15.6% / 8.5%；TPOT资源控制另节省2.73 ms（有限窗）；有效QPS通过稳定负载扫描验证。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优化收益验证目标与需求纳入依据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三周识别路径、场景、在线宏观收益与代价；依据有效实测形成建议，正式需求纳入由第二轮评审决定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三周判断条件</a:t>
            </a:r>
            <a:r>
              <a:rPr b="1">
                <a:solidFill>
                  <a:srgbClr val="DC2626"/>
                </a:solidFill>
              </a:rPr>
              <a:t>在第1周按场景预先确定</a:t>
            </a:r>
            <a:r>
              <a:rPr>
                <a:solidFill>
                  <a:srgbClr val="142D4E"/>
                </a:solidFill>
              </a:rPr>
              <a:t>；</a:t>
            </a:r>
            <a:r>
              <a:rPr b="1">
                <a:solidFill>
                  <a:srgbClr val="1D4ED8"/>
                </a:solidFill>
              </a:rPr>
              <a:t>缺阈值标待定</a:t>
            </a:r>
            <a:r>
              <a:rPr>
                <a:solidFill>
                  <a:srgbClr val="142D4E"/>
                </a:solidFill>
              </a:rPr>
              <a:t>，不自动判通过或失败，也不统一要求三周≥20%。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273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880360"/>
                <a:gridCol w="3703320"/>
                <a:gridCol w="3093415"/>
              </a:tblGrid>
              <a:tr h="35661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验证层次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比较条件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三周需要回答的问题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需求判断用途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单项优化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同硬件、同请求、同负载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仅切换指定机制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在线指标是否改善？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主要节省哪段开销？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支持能力必要性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明确目标场景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场景边界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短／长输入、低／高复用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正常／拥塞、前台／混压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收益在哪些条件成立？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是否出现退化及代价？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确定启用条件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限定需求适用范围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组合优化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固定机制集合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对照同条件原生或现有基线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总收益、交互和主要贡献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避免单项收益简单相加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选择组合开发范围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解释增量来源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结果判定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有效、可重复的实测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保留失败、超时与代价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建议纳入／限定场景纳入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继续验证／暂缓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形成技术建议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正式审批另行记录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78808"/>
            <a:ext cx="11094415" cy="1316736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429768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后续系统目标（正式开发与独立验收）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69087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阶段代表工况：</a:t>
            </a:r>
            <a:r>
              <a:rPr b="1">
                <a:solidFill>
                  <a:srgbClr val="1D4ED8"/>
                </a:solidFill>
              </a:rPr>
              <a:t>平均 TTFT 降低 ≥10%，挑战20%</a:t>
            </a:r>
            <a:r>
              <a:rPr>
                <a:solidFill>
                  <a:srgbClr val="1F2937"/>
                </a:solidFill>
              </a:rPr>
              <a:t>；</a:t>
            </a:r>
            <a:r>
              <a:rPr b="1">
                <a:solidFill>
                  <a:srgbClr val="1D4ED8"/>
                </a:solidFill>
              </a:rPr>
              <a:t>P99 TTFT 降低 ≥20%，挑战50%</a:t>
            </a:r>
            <a:r>
              <a:rPr>
                <a:solidFill>
                  <a:srgbClr val="1F2937"/>
                </a:solidFill>
              </a:rPr>
              <a:t>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E3最终系统：真实两节点混压，</a:t>
            </a:r>
            <a:r>
              <a:rPr b="1">
                <a:solidFill>
                  <a:srgbClr val="1D4ED8"/>
                </a:solidFill>
              </a:rPr>
              <a:t>TTFT 降低 ≥20%、有效 QPS 提升 ≥10%、TPOT 干扰 &lt;3%</a:t>
            </a:r>
            <a:r>
              <a:rPr>
                <a:solidFill>
                  <a:srgbClr val="1F2937"/>
                </a:solidFill>
              </a:rPr>
              <a:t>，并检查后台进度。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41848"/>
            <a:ext cx="109728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3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有效实验：公平对照、正确计算、真实路径、工作量等价和重复性。局部收益不自动关闭E阶段；SLO为约定服务时延目标。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三周优化收益验证安排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第一轮确认的启动日为D0；按可用条件选取代表场景，优先验证六条路径，未具备条件的部分保留待验证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三周提交的是</a:t>
            </a:r>
            <a:r>
              <a:rPr b="1">
                <a:solidFill>
                  <a:srgbClr val="DC2626"/>
                </a:solidFill>
              </a:rPr>
              <a:t>场景化实际收益与取舍依据</a:t>
            </a:r>
            <a:r>
              <a:rPr>
                <a:solidFill>
                  <a:srgbClr val="142D4E"/>
                </a:solidFill>
              </a:rPr>
              <a:t>；设备和链路作为实验条件，资源申请不替代收益结论。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514600"/>
                <a:gridCol w="2697480"/>
                <a:gridCol w="4099255"/>
              </a:tblGrid>
              <a:tr h="35661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优化路径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重点场景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观测指标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周内动作与预期结论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元数据快路径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短输入、低载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控制瓶颈附近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TTFT、尾时延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有效 QPS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第1周固定查询开关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第2周测量，第3周复验边界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传输与多通道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大小数据块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设备直达、多卡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在线加载等待、TTFT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实际带宽与 CPU 代价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按真实设备对照传输参数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识别搬运改善的在线增量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描述符与按层流水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控制开销敏感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部分前缀命中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TTFT、首层等待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提交开销与隐藏量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分别切换批量提交和流水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测单项、交互及基线已有能力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动态选路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低复用、正常网络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拥塞与不利链路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TTFT、负收益比例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决策及回退成本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固定缓存条件比较策略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明确加载／重算启用边界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前后台资源控制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纯前台与混压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固定后台目标负载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TPOT、TTFT尾部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有效 QPS、完成／积压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同包有无后台测干扰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比较混压增益与后台代价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组合对照与复验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选定代表场景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可共存的有效机制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总收益、交互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独立轮次及离散度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第3周复验并比较组合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形成需求建议与暂缓理由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8280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5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条件扩展：分层容量、中继分发、直读／卸载／迁移按设备与价值选取。真实设备、链路和负载决定可验证范围。</a:t>
            </a:r>
          </a:p>
        </p:txBody>
      </p:sp>
      <p:sp>
        <p:nvSpPr>
          <p:cNvPr id="20" name="TextBox 16"/>
          <p:cNvSpPr txBox="1"/>
          <p:nvPr/>
        </p:nvSpPr>
        <p:spPr>
          <a:xfrm>
            <a:off x="594360" y="5367528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05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第1周：固定条件与筛选</a:t>
            </a:r>
            <a:r>
              <a:rPr>
                <a:solidFill>
                  <a:srgbClr val="142D4E"/>
                </a:solidFill>
              </a:rPr>
              <a:t>　　</a:t>
            </a:r>
            <a:r>
              <a:rPr b="1">
                <a:solidFill>
                  <a:srgbClr val="1D4ED8"/>
                </a:solidFill>
              </a:rPr>
              <a:t>第2周：单项收益及场景边界</a:t>
            </a:r>
            <a:r>
              <a:rPr>
                <a:solidFill>
                  <a:srgbClr val="142D4E"/>
                </a:solidFill>
              </a:rPr>
              <a:t>　　</a:t>
            </a:r>
            <a:r>
              <a:rPr b="1">
                <a:solidFill>
                  <a:srgbClr val="1D4ED8"/>
                </a:solidFill>
              </a:rPr>
              <a:t>第3周：复验、组合与需求建议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配置与结果依据R11及配套三周计划接续；未执行项保持待验证，候选任务不承诺全部三周完成。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z="22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两轮评审结论与下一步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z="11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已有基础支持继续验证；三周后依据场景化实际收益，判断正式需求纳入范围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20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10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01  已有基础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通信、检索与缓存复用已有验证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主机通信42 GB/s，检索改善&gt;30%。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8B／72B拉取相对重算收益已确认。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三层模型说明增量空间与边界，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模型预测仍待真实设备校准。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02  本轮验证重点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优先检验能改变在线指标的路径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元数据、传输与多通道、描述符与流水，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动态选路、前后台控制及组合。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设备安全访问和多卡一致性保障实验有效，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扩展项按条件选择。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03  三周提交结果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优化措施、宏观收益与适用边界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提交实际幅度、比较基线与主要贡献，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同时记录可重复性、代价和证据位置。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保留退化、无收益及证据不足结果，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给出纳入范围、继续验证或暂缓建议。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04  本轮评审事项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继续验证及第二轮判断内容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确认重点路径、代表场景与比较方法，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预先确定各场景的收益判断条件。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三周允许简化实验实现；正式开发与系统验收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目标在后续阶段独立兑现。</a:t>
            </a:r>
          </a:p>
        </p:txBody>
      </p:sp>
      <p:sp>
        <p:nvSpPr>
          <p:cNvPr id="30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以三周实测确定正式需求范围</a:t>
            </a:r>
            <a:r>
              <a:rPr>
                <a:solidFill>
                  <a:srgbClr val="142D4E"/>
                </a:solidFill>
              </a:rPr>
              <a:t>，优先建议纳入有场景依据和</a:t>
            </a:r>
            <a:r>
              <a:rPr b="1">
                <a:solidFill>
                  <a:srgbClr val="1D4ED8"/>
                </a:solidFill>
              </a:rPr>
              <a:t>可重复宏观收益</a:t>
            </a:r>
            <a:r>
              <a:rPr>
                <a:solidFill>
                  <a:srgbClr val="142D4E"/>
                </a:solidFill>
              </a:rPr>
              <a:t>的能力；当前审批状态为待评审。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补充推导、参数分类与复算说明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模型页数字由同一份 inputs.json 和 model.py 生成；已有测试、场景输入、模型输出与交付目标分别标明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solidFill>
                  <a:srgbClr val="142D4E"/>
                </a:solidFill>
              </a:rPr>
              <a:t>按同一组输入复算，区分已有报告、场景假设、模型输出与交付目标。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1672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672584"/>
                <a:gridCol w="5093208"/>
              </a:tblGrid>
              <a:tr h="3566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分类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本次内容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使用边界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已有报告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8B/72B前缀拉取收益；检索改善 &gt;30%；主机带宽42 GB/s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DC2626"/>
                          </a:solidFill>
                        </a:rPr>
                        <a:t>检索改善不直接等同固定时延</a:t>
                      </a:r>
                      <a:r>
                        <a:rPr/>
                        <a:t>；前缀拉取收益已实测确认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场景输入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1.0→0.7 ms；提交15.4→2.0 ms；隐藏上限60%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基线无层序协同是所选路径假设，非Mooncake固有缺陷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模型输出 / 目标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同参结果；E3目标20% / 10% / &lt;3%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DC2626"/>
                          </a:solidFill>
                        </a:rPr>
                        <a:t>模型不等于已达成</a:t>
                      </a:r>
                      <a:r>
                        <a:rPr/>
                        <a:t>；后台可持续进度与有效吞吐独立验证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26080"/>
          <a:ext cx="1109167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95"/>
                <a:gridCol w="4645152"/>
                <a:gridCol w="4535424"/>
              </a:tblGrid>
              <a:tr h="3566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模型环节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统一关系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必要限制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实际前缀 / 字节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P=floor(N×h_nom/16)×16；h=P/N；40 KiB/token/卡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8K每卡320 MiB，八卡合计2.5 GiB</a:t>
                      </a:r>
                      <a:r>
                        <a:rPr/>
                        <a:t>；布局待后端确认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部分命中 / 后缀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T后缀=240×[(1−a)(1−h)+a(1−h²)] ms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a为计算分解假设；正文a=1保守情景，不称置信区间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逐层流水窗口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隐藏=min(60%×加载,79/80×min(加载,后缀))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均匀80层、无额外事件成本；全命中隐藏=0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元数据排队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W99(ms)=1000ln(100)/(μ−λ)，μ=1000/service_ms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服务台稳态；P05 λ900独立压力，P07 λ1低载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决策 / 中继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加载与重算共同计入已付查表及决策开销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中途取消累计开销另计；中继减少源流量不保证缩短40%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贡献与去掉损失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同一基线、同一前缀与共享资源计算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成本项允许负值；</a:t>
                      </a:r>
                      <a:r>
                        <a:rPr b="1">
                          <a:solidFill>
                            <a:srgbClr val="DC2626"/>
                          </a:solidFill>
                        </a:rPr>
                        <a:t>后台有限窗不等于E3稳态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57784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2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  <a:hlinkClick r:id="rIdAssetsV10"/>
              </a:rPr>
              <a:t>复算资产：统一异构KVCache存储池_关键技术汇报_V10_模型资产/；输入、结果、公式及图表均随本稿交付。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34456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2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  <a:hlinkClick r:id="rIdModelV10"/>
              </a:rPr>
              <a:t>三周实测用于模型校准与需求取舍；当前预测保持不变。参数与敏感性数据见配套《模型与参数说明》。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优化路径、适用场景与需求建议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场景与优化手段一一对应；新增结果及建议均待验证，后续按配置、实测结果和证据位置回填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最关键的2—3项实际结果同步到第4或第7页；</a:t>
            </a:r>
            <a:r>
              <a:rPr b="1">
                <a:solidFill>
                  <a:srgbClr val="DC2626"/>
                </a:solidFill>
              </a:rPr>
              <a:t>不以任务完成比例或表格填写数量自动决定需求纳入</a:t>
            </a:r>
            <a:r>
              <a:rPr>
                <a:solidFill>
                  <a:srgbClr val="142D4E"/>
                </a:solidFill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971800"/>
                <a:gridCol w="1993392"/>
                <a:gridCol w="2105863"/>
              </a:tblGrid>
              <a:tr h="35661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优化路径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场景与瓶颈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局部变化与宏观指标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当前结论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拟形成的需求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元数据快路径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短输入、低载／控制瓶颈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查询与排队等待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局部查询时延 → TTFT／P99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有效 QPS（持续负载）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局部检索改善&gt;30%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在线增量待验证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查询优化的启用条件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与适用负载范围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传输与多通道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大小块、设备通路、多卡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正文搬运及共享链路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实际搬运／等待 → TTFT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记录 CPU 与带宽代价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主机基准已测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新增在线增量待验证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设备路径、多通道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及拓扑适配范围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描述符与按层流水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控制敏感、部分前缀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提交与首层等待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提交／隐藏量 → TTFT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拆分单项与交互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设计与模型已有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真实设备增量待验证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批量提交与流水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各自启用边界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动态选路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低复用、正常／拥塞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加载可能比重算慢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选路成本 → TTFT／负收益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缓存条件与策略差异单列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模型分界已有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实际策略增量待验证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成本预估、选路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与回退适用条件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前后台资源控制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前台与混压、固定后台量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共享资源竞争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前台 TPOT／TTFT／有效 QPS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后台完成、积压与代价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有限窗模型已有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在线混压增量待验证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准入、限速和优先级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及后台进度约束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组合对照与复验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选定代表工况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机制交互与基线已有能力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实测总收益及分项贡献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轮次、离散度、代价与退化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结果待运行／待录入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需求建议待验证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建议组合开发范围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评审决定另记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358384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5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建议状态：建议纳入／限定场景纳入／继续验证／暂缓。正式审批另记，候选追踪号不等于已批准需求。</a:t>
            </a:r>
          </a:p>
        </p:txBody>
      </p:sp>
      <p:sp>
        <p:nvSpPr>
          <p:cNvPr id="20" name="TextBox 16"/>
          <p:cNvSpPr txBox="1"/>
          <p:nvPr/>
        </p:nvSpPr>
        <p:spPr>
          <a:xfrm>
            <a:off x="594360" y="5815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5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第二轮回填：能力、场景、实际幅度、比较基线、证据位置、收益边界、代价及建议开发范围。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