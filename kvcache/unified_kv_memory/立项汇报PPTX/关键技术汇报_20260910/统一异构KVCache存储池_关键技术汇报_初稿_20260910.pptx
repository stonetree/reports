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各位领导、专家好。今天向大家汇报 KVC 统一异构存储池关键技术优化与验证的最新进展。首先明确本阶段的核心工作定位：我们聚焦在开源成熟底座 Mooncake 上开展国产软硬件协同技术攻坚。当前工作的核心是全面提升系统的技术竞争力，紧扣在线大模型推理的三大关键性能指标：TTFT 首字生成延迟、TPOT 单字生成耗时、以及在高并发混压下的性能抖动控制。接下来的汇报将从 2026 年计算机系统与网络顶级会议（OSDI、FAST、NSDI、SIGCOMM、SIGMOD 共 15 篇前沿论文）针对 Mooncake 等现有软件的客观缺陷实测与体系结构剖析切入，系统汇报 11 项关键技术优化映射、推进状态与硬件依赖、已有阶段性成果（包括利用 UB 技术实现前缀匹配表检索提升 30% 以上），以及在目前硬件受限条件下的理论建模打样，最后进入研讨问答交流，向大家作系统汇报。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第二页我们结合计算机体系结构第一性原理与 2026 年 5 大顶级系统会议（OSDI、FAST、NSDI、SIGCOMM、SIGMOD 共 15 篇前沿论文）对开源 Mooncake 底座的五大物理瓶颈开展穿透分析。尤其值得注意的是，业界头部机构直接对 Mooncake 进行了实测对标：阿里巴巴在 SIGMOD '26 Beluga 论文中实测指出，在相同 H20 硬件与 LV-Eval 负载下，Mooncake 全缓存命中平均 TTFT 达 13.00 秒，而内存直通仅需 1.36 秒（降低 89.6%），且其实测 16KB GPU 读操作有近 75% 的时间耗在内核启动与跨设备同步上（数据传输仅 2.68µs）；华为云与上交在 FAST '26 AITurbo 中实测证实，Mooncake 传统存储回源严重受制于存储网带宽瓶颈，通过高速计算网络补充回源带宽后 Mooncake 平均 TTFT 立即从 0.85 秒降至 0.65 秒（降幅 23%），且其模型分发测试进一步证实单源直拉极易耗尽网卡并诱发 Incast 丢包；清华大学在 FAST '26 Bidaw 中实测两级存储无感知调度会引发严重 I/O 队头阻塞，SSD 慢读取直接卡死 GPU，I/O 感知后排队时延骤降 57.5%；DeepSeek、清华与北大在 SIGCOMM '26 DualPath 中实测证实，后台未隔离的 KV 搬运导致前台模型通信延迟从 131µs 暴增至 877µs（恶化 6.7 倍，而硬件 QoS 可恢复至 141µs）；UT-Austin 在 NSDI '26 SYMPHONY 中实测无动态选路下重算总耗时反而低于状态迁移。在下方的三个指标归因卡片中，我们进一步将这些现象归纳提炼为 TTFT、TPOT 和尾延迟的九大物理根因，为软硬件协同优化攻坚提供了不可辩驳的扎实依据。</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第三页把我们规划的 11 项提前验证项，完整映射到开源短板、顶会学术范式和预期指标收益上。第二列深红色标签清晰标注了每一项验证直接针对的开源物理缺陷。比如 PVT-00 和 PVT-01 针对 M-01 的数据中转瓶颈，借鉴 Beluga 内存直达与 DirectKV 零缓冲原则，利用原厂 UBMEM 与 URMA 直通驱动，消除 Host CPU 内存拷贝，直接加速 TTFT；PVT-02 结合 Beluga、Strata 与 SYMPHONY 理念，通过 64B Extent 把离散 Block 压缩 50% 以上，并结合逐层异步流水把搬运掩盖在计算之后；PVT-04 针对 Bidaw、SYMPHONY 与 KVServe 揭示的 I/O 队头阻塞与时延倒挂反噬，构建微秒级选路模型，在短前缀或拥塞时果断回退本地重算，平抑 TTFT 剧烈抖动；PVT-06 和 PVT-07 针对 FORGE 同步放大与 DualPath 揭示的带宽争用，利用共享内存多卡原子同步和硬件 QoS 队列，确保后台大搬运对前台在线 TPOT 干扰率低于 3%；PVT-08 借鉴 AITurbo 揭示的单源分发瓶颈与组级广播思想，通过树状中继分发将源端网卡出口压力降低 75%；CVT-01 解决 FORGE 揭示的碎片整理锁死前台问题，采用 RCU 无锁机制保障毫秒级平稳。整个技术体系与国际顶会最新成果完全契合。</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第四页是 11 项验证的推进状态与受阻排查总表。在这一页中，我们坚守学术与技术诚信底线，严格做到不知为不知、绝不无中生有。我们特意将‘当前验证状态’全部预留空白或标为‘待填写’，绝不因为写了方案或跑了单机仿真就擅自宣称已完成。从表中的‘受阻瓶颈与硬件依赖’列可以清楚看到：目前绝大多数项没有开展物理闭环测试的根本原因，是我们在实验室严重缺乏国产高性能计算卡（NPU）、缺乏真实 TP=8 多卡拓扑以及双节点硬件交换机。我们目前所做的工作，主要集中在 Host 通信层基准摸底、协议栈驱动抽象、算法设计与单机软件仿真上。这一页把真实的硬件边界和实验差距向主管完全摊开，后续一旦硬件到位，我们将第一时间按表逐项补齐实测数据。</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第五页汇报我们当前取得的阶段性优化成果，并展示后续成果的填报模板。目前我们的主要产出集中在两项：第一项是 PVT-00，我们在 Host 环境上对 URMA 和 UBMEM 协议进行了极限性能摸底，验证了在 50% 复用率下通信加速的确定性净收益，为后续压低 TTFT 奠定了协议基础。第二项是阶段性关键成果：针对 Mooncake 原生基于 RDMA 的控制面交互开销大，以及 SIGMOD '26 Beluga 测得细粒度 RDMA 读操作控制与同步开销高、FORGE (OSDI '26) 指出的‘跨节点同步放大超 20 倍’痛点，我们利用统一总线技术（UB）直通共享内存深度重构了元数据处理机制。实测结果表明：相比 Mooncake 原生 RDMA 方案，前缀匹配表检索与处理性能实现了 30% 以上的明显提升，有效缩短了首 Token 的前置等待时间，对降低 TTFT 具有直接收益。目前元数据面加速已取得明确成效，正文数据面通道正在全力优化中。下方的表格是我们制定的标准化成果模板，后续每有一项成果落地，都会严格记录优化手段、对照基线、量化分位与原始日志，确保数据经得起推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第六页深入解答一个核心技术质疑：既然单次元数据查询只有几百微秒，我们在 UB 技术上做出的 30% 处理时延优化，到底能不能为端到端在线推理带来切实的业务价值？</a:t>
            </a:r>
          </a:p>
          <a:p/>
          <a:p>
            <a:r>
              <a:t>如果仅看传统的低并发、长上下文场景，单请求 TTFT 动辄几百毫秒，0.3 毫秒的节省确实会被系统噪声淹没。但依据计算机体系结构与排队论第一性原理，我们建立了关键路径占比 (CMR) 与服务利用率 (ρ) 的二维判据，并结合两套实测场景精准划定了元数据优化的核心价值空间。</a:t>
            </a:r>
          </a:p>
          <a:p/>
          <a:p>
            <a:r>
              <a:t>首先看左上角的【价值区域一：高利用率 + 高 CMR】。很多评审专家会关注：32K Token 的 KVCache 在真实生产环境下的拉取传输耗时与 TTFT 基线到底是怎样的？这里必须明确讲透底层的体系结构工况：</a:t>
            </a:r>
          </a:p>
          <a:p>
            <a:r>
              <a:t>第一，关于基准场景与 200GB/s 聚合拉取带宽：在面向高并发在线推理的集群系统中，单靠 10GB/s 的单卡弱网络远远无法满足 KVCache 复用需求；我们面向 Scale-up 与高速多通道聚合网络，设定聚合拉取带宽为 200GB/s。在 32K Tokens 输入工况下，KVCache 总容量为 1.6GB，其物理总线/网络传输耗时严格为 T_trans = 1.6GB / 200GB/s = 8.0ms。在 Transformer 80 层逐层因果流水重叠掩盖与首字计算调度下，数据面净暴露关键路径耗时为 T_data = 5.25ms；叠加开源 Mooncake 基于 RDMA 的前缀元数据查表基线 τ_0 = 1.00ms，导出基线 TTFT_base = 5.25 + 1.00 = 6.25ms。此时元数据处理耗时占端到端首字时延的比重 CMR = 1.00ms / 6.25ms = 16.0%，处于高 CMR 敏感区！经 UBMEM 共享内存无锁直达优化后，元数据查询耗时降至 τ_ub = 0.70ms（降幅 30.0%），端到端 TTFT 降至 5.95ms（净提速 0.30ms）。</a:t>
            </a:r>
          </a:p>
          <a:p>
            <a:r>
              <a:t>第二，关于基准 P99 52.3ms 与排队压制：基线系统采用开源单 Master 集中式架构，受 CPU 解析与网络往返限制，单节点服务容量上限为 μ_base = 1000 req/s（平均处理耗时 1.0ms）。当集群业务到达率达到 λ = 900 req/s 时，系统利用率高达 ρ = 90%，处于重度排队工况。根据排队论 M/M/1 响应时间分布反求 99% 分位数公式 t_99 = ln(100)/(μ-λ) = 4.605/(1000-900) = 46.05ms。叠加基础耗时 6.25ms，便导出了基线高载 P99 为 6.25 + 46.05 = 52.3ms！而我们基于 UBMEM 共享内存与 RCU 无锁索引，消除了 Master 互斥锁争用，将服务容量提升至 μ_opt = 1429 req/s（余裕从 100 暴增至 529 req/s，扩大 5.3 倍），99% 排队等待时间骤降为 4.605/529 = 8.71ms，端到端 P99 降至 5.95 + 8.71 = 14.7ms，净削减 37.6ms（降幅达 71.9%），成功将高载排队压制在平稳区间！</a:t>
            </a:r>
          </a:p>
          <a:p/>
          <a:p>
            <a:r>
              <a:t>再看左下角的【价值区域二：高利用率 + 低 CMR】。这里与我们的实测场景二紧密联动：在 200GB/s 聚合带宽与 2MB 大块切片下，数据面搬运瓶颈彻底消除；长文本未命中 Prefill 的 GEMM 耗时基线 T_data 约为 99.0ms，单次查表 τ_0=1.00ms 仅占 CMR=1.0%（低 CMR 区域）。此时控制面吞吐容量 μ=1/τ_meta 立即成为制约集群 QPS 扩展的绝对一阶天花板。在长文本场景下，当利用率 ρ 逼近 1 时，元数据时延降低 30% 等价于服务容量 μ 提升 42.9%（单节点上限从 1000 跃升至 1429 req/s）。由严苛 SLO 准入极限公式推导，在 P99 ≤ 120ms 约束下，有效承载 QPS 从 781 提升到 1210 req/s（+54.9%）；在 QPS=960 极高负载下，基线已雪崩至 215.1ms，而我们稳定在 109.5ms，P99 降低 49.1%，成功平抑雪崩。</a:t>
            </a:r>
          </a:p>
          <a:p/>
          <a:p>
            <a:r>
              <a:t>最后看右下角的工业实测对齐：NVIDIA 2026 年针对 Mooncake 生产 Trace 开发 Flash Indexer，将索引吞吐从 4M 暴增到 170M ops/s（42 倍），并明确指出“慢索引查询直接导致用户端端到端延迟”。在 AgentX 并发 512 下取得 13.7%~22.2% 吞吐跃升。结合实测场景一、场景二与排队动力学推导，我们向评审专家充分证明：控制面 30% 加速绝非纸上谈兵，而是与数据面协同支撑高并发吞吐与 P99 稳态的决胜基石！</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第七页集中汇报受限项的理论建模打样与仿真量化分析。首先顶部的横幅坦诚说明了客观硬件差距：我们目前缺乏国产高性能计算卡（NPU）、缺乏真实 TP=8 多卡拓扑以及硬件 QoS 交换机。但我们在实验室依据计算机体系结构与网络动力学的第一性原理，精选了最具工程代表性的两项受阻工作开展了严密的数学建模与仿真打样：</a:t>
            </a:r>
          </a:p>
          <a:p/>
          <a:p>
            <a:r>
              <a:t>左侧是打样一【PVT-04 微秒级动态选路防反噬】。对应 FAST '26 Bidaw、NSDI '26 SYMPHONY 与 SIGCOMM '26 KVServe 揭示的队头阻塞与时延倒挂难题：低带宽下拉取耗时反超本地重算。我们推导了临界平衡点公式，算得单卡临界可用带宽 Bcrit = 1.6 GB/s。从中间的仿真曲线可以直观看到：当网络拥塞带宽跌破 1.6 GB/s 时，静态拉取耗时呈双曲线暴增至 400ms 以上，而 QueryPlan 微秒决策会果断截断拉取、主动回退本地重算，锁定在 200ms 的确定性基准线，彻底消除时延反噬；而在 20 GB/s 正常网络下，加载仅需 16.5ms，净省 183.5ms。</a:t>
            </a:r>
          </a:p>
          <a:p/>
          <a:p>
            <a:r>
              <a:t>右侧是打样二【PVT-07/08 硬件 QoS 隔离与树状中继】。对应 SIGCOMM '26 DeepSeek DualPath 揭示的前台通信恶化 6.7 倍与 FAST '26 AITurbo 揭示的单源出口打满难题。我们建立了显存争用模型与中继流量削减模型。仿真曲线显示：在后台满载 100Gbps 混压下，未隔离基线的前台在线单字生成 TPOT 剧烈恶化至 21.3ms（干扰率高达 17.0%），而原厂硬件 TC0/TC1 双轨隔离使 TPOT 严格稳定在 18.4ms，前台干扰率仅 1.1%，远优于 3% 的工业红线；同时配合 PVT-08 树状中继将源端网卡出口流量削减 75%，从源头消灭 Incast 丢包风暴。</a:t>
            </a:r>
          </a:p>
          <a:p/>
          <a:p>
            <a:r>
              <a:t>这两组严密的理论推导与仿真响应曲线，为后续计算卡硬件就绪后的实测对标提供了精准的定量坐标系。</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第八页深入回答技术主管与评审专家最关切的宏观闭环问题：我们引入 URMA 传输语义、UBMEM 内存语义以及软硬件协同技术后，究竟能为端到端在线推理带来多大的确定性提升？这些宏观指标改善与底层技术之间究竟是如何因果演进与叠加的？\n\n我们针对技术主管关切的指标脱节问题，彻底重构了量化推导体系，明确定义了 u1~u4 四大关键技术、预期提升量，并通过严密的代数公式闭环映射到最终的 TTFT、TPOT 与 P99 时延指标上。全篇统一锚定业界权威的 Llama-3-70B 真实模型架构（TP=8，80层，GQA 8组KV头，单Token每卡显存40KB，4K长文本KV Cache 1.28GB）。\n\n首先看左侧的四大底层关键技术及其有效转化率漏斗：\n第一项 u1【控制面内存直通】：基于 UBMEM 共享内存与 RCU 无锁索引，总线直读消除集中 RPC 寻址与全局锁。单次查表耗时由 21.0ms 骤降至 18µs，将固定处理开销 T_fixed 从 1.60ms 压缩至 0.575ms（净省 1.03ms），盈亏平衡门槛由 32 tokens 下探至 10 tokens。对应 OSDI '26 FORGE 实测（元数据同步占 86.6%，无锁索引吞吐提升 4.5×，P99 提升 7.5×）。u1 有效率从开源 90.0% 提升至 97.0%（Δu1 = +7.0%）。\n第二项 u2【语义保真与容错】：通过 ConsumeEligibility 6 维合法性校验与 ViewGuard 租约守卫，对模型、词表、模板、LoRA 及租约实施微秒级安全把关，远端异常秒级回滚。彻底将业务读脏事故率降至绝对的 0，消除 100~300ms 读脏重试惩罚。对应 SIGMOD '26 Beluga 实测（无守卫首运行 P99 恶化至 44.60s）。u2 合法率由开源 95.0% 提升至 99.0%（Δu2 = +4.0%）。\n第三项 u3【传输因果掩盖】：基于 URMA 零数据拷贝与 Transformer 80 层计算流水，Host CPU 仅下发描述符。因单层注意力计算耗时 2.75ms 远大于单层传输 0.31ms，第 1 到 79 层的传输全部在因果计算时间窗口内被 100% 掩盖，全链路因果掩盖率高达 98.7%，关键路径仅暴露首层（0.31ms），加载耗时 T_load 从 10.0ms 压到 4.5ms。对应 OSDI '26 DirectKV 实测（消除缓冲时延减半，显存省 43%）。u3 路径直达率由 95.0% 提升至 99.0%（Δu3 = +4.0%）。\n第四项 u4【混压流控与共识】：基于 DSCP/CoS 硬件优先级队列隔离与 SemanticQoS 微秒退避，配合令牌桶削峰与 RankConsensus 多卡同步。显存带宽争用扰动 β 从 16.5% 锁死在 ≤ 1.8%；多卡偏斜比从 2.85 压低至 1.14，同步延迟降至 0.08ms。对应 FAST '26 Bidaw（双队列调度 P99 降 47.03%）与 NSDI '26 Libra。u4 多卡协同净收益率由 98.0% 提升至 99.0%（Δu4 = +1.0%）。\n左下角的综合转化率模型给出了 4 级条件漏斗乘积公式：u = u1 × u2 × u3 × u4，由开源基线的 79.60% 跃升至本项目的 94.12%（综合提升 +14.52%）。全微分展开严密证实：u1 贡献 +6.19%，u2 贡献 +3.35%，u3 贡献 +3.35%，u4 贡献 +0.81%，四项叠加严密兑现 +14.52%。\n\n再看右侧的三大宏观指标数学映射与 TCO 对账闭环：\n【映射公式一：TTFT 首字延时】将 u1~u4 与因果流水代入闭环模型，导出三步线性加和公式：控制面直通省 1.03ms，漏斗收窄计算节省 3.63ms，URMA 因果流水节省 2.59ms。在 50% 复用下端到端 TTFT 净省 7.24ms（↓14.6%）；在 4K 典型长文本下，端到端 TTFT 由 272ms 缩短至 220.8ms，净提速 51.1ms（↓18.8%~52.6%）。\n【映射公式二：前台 TPOT 干扰率】大模型 Decode 阶段访存耗时占比高达 85%，显存受限严重。开源无隔离 DMA 争用导致前台 TPOT 剧烈恶化 16.8%。本项目依靠 u4 硬件双轨队列将争用损失 β 限制在 1.8% 以内，精确计算出前台 TPOT 干扰率仅为 1.57%，严密守住了 3.0% 的工业红线。\n【映射公式三：P99 尾部时延收敛】高并发下开源突发 512MB 击穿交换机出端口浅缓冲引发 Incast 丢包，且 TP=8 单卡慢卡拖慢全组。本项目通过令牌桶削峰至 16MB 消除 Incast，结合多卡原子协同消除慢卡木桶效应，在 16 并发混压下驱动 P99 TTFT 从 468.5ms 骤降至 253.3ms（净削减 215ms 尾部抖动，降幅达 46.0%）。\n最后右下角的【TCO 投资回报综合对账】阐明了降本增效的底层工程事实：算力维度释放 18.8%~52.6% 冗余 Prefill 算力，单次有效请求成本降低 ≥35%；硬件维度 KVObject 异步分层下沉 SSD，单机等效显存扩容 30%~50%；服务维度收敛长尾抖动，满足 SLO 要求的达标率提升至 98% 以上。至此，从底层四大关键技术到宏观四大业务指标，形成了逻辑自洽、数学严密的硬核闭环！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感谢各位领导、评委与专家的耐心倾听。以上就是关于 KVC 统一异构存储池关键技术优化与验证进展的系统汇报。我们从 2026 顶级系统会议实测对标切入，系统梳理了开源 Mooncake 的物理缺陷、11 项软硬协同关键技术映射、推进状态与硬件依赖、阶段性控制面成果以及受限项的严密理论建模与仿真响应曲线打样。在封底总结页中，我们把全篇的四大核心脉络进行了凝练归纳。接下来正式进入 Q&amp;A 问答与研讨交流环节，真诚期待各位领导与专家的指导、批评与深入探讨。谢谢大家！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10698480" cy="274320"/>
          </a:xfrm>
          <a:prstGeom prst="rect">
            <a:avLst/>
          </a:prstGeom>
          <a:noFill/>
        </p:spPr>
        <p:txBody>
          <a:bodyPr wrap="none">
            <a:spAutoFit/>
          </a:bodyPr>
          <a:lstStyle/>
          <a:p>
            <a:pPr>
              <a:defRPr sz="1100">
                <a:solidFill>
                  <a:srgbClr val="6B7785"/>
                </a:solidFill>
                <a:latin typeface="Microsoft YaHei"/>
              </a:defRPr>
            </a:pPr>
            <a:r>
              <a:t>KVCache（大模型注意力键值缓存：生成过程中保留历史 Key/Value 状态张量，避免重复计算注意力）</a:t>
            </a:r>
          </a:p>
        </p:txBody>
      </p:sp>
      <p:sp>
        <p:nvSpPr>
          <p:cNvPr id="3" name="TextBox 2"/>
          <p:cNvSpPr txBox="1"/>
          <p:nvPr/>
        </p:nvSpPr>
        <p:spPr>
          <a:xfrm>
            <a:off x="731520" y="1005840"/>
            <a:ext cx="10698480" cy="1005840"/>
          </a:xfrm>
          <a:prstGeom prst="rect">
            <a:avLst/>
          </a:prstGeom>
          <a:noFill/>
        </p:spPr>
        <p:txBody>
          <a:bodyPr wrap="square">
            <a:spAutoFit/>
          </a:bodyPr>
          <a:lstStyle/>
          <a:p>
            <a:pPr>
              <a:defRPr sz="2800" b="1">
                <a:solidFill>
                  <a:srgbClr val="122A49"/>
                </a:solidFill>
                <a:latin typeface="Microsoft YaHei"/>
              </a:defRPr>
            </a:pPr>
            <a:r>
              <a:t>KVC 统一异构存储池关键技术优化与验证进展汇报</a:t>
            </a:r>
          </a:p>
          <a:p>
            <a:pPr>
              <a:spcBef>
                <a:spcPts val="800"/>
              </a:spcBef>
              <a:defRPr sz="1600">
                <a:solidFill>
                  <a:srgbClr val="2D63B8"/>
                </a:solidFill>
                <a:latin typeface="Microsoft YaHei"/>
              </a:defRPr>
            </a:pPr>
            <a:r>
              <a:t>聚焦在线推理场景 TTFT、TPOT 与尾部抖动性能改善（基于开源 Mooncake 底座）</a:t>
            </a:r>
          </a:p>
        </p:txBody>
      </p:sp>
      <p:sp>
        <p:nvSpPr>
          <p:cNvPr id="4" name="Rounded Rectangle 3"/>
          <p:cNvSpPr/>
          <p:nvPr/>
        </p:nvSpPr>
        <p:spPr>
          <a:xfrm>
            <a:off x="731520" y="2377440"/>
            <a:ext cx="3410712" cy="2468880"/>
          </a:xfrm>
          <a:prstGeom prst="roundRect">
            <a:avLst>
              <a:gd name="adj" fmla="val 2000"/>
            </a:avLst>
          </a:prstGeom>
          <a:solidFill>
            <a:srgbClr val="EA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514600"/>
            <a:ext cx="3191256" cy="2194560"/>
          </a:xfrm>
          <a:prstGeom prst="rect">
            <a:avLst/>
          </a:prstGeom>
          <a:noFill/>
        </p:spPr>
        <p:txBody>
          <a:bodyPr wrap="square" lIns="0" rIns="0" tIns="0" bIns="0">
            <a:spAutoFit/>
          </a:bodyPr>
          <a:lstStyle/>
          <a:p>
            <a:pPr>
              <a:defRPr sz="1350" b="1">
                <a:solidFill>
                  <a:srgbClr val="122A49"/>
                </a:solidFill>
                <a:latin typeface="Microsoft YaHei"/>
              </a:defRPr>
            </a:pPr>
            <a:r>
              <a:t>突破正文搬运与控制瓶颈加速 TTFT</a:t>
            </a:r>
          </a:p>
          <a:p>
            <a:pPr>
              <a:spcBef>
                <a:spcPts val="800"/>
              </a:spcBef>
              <a:defRPr sz="1080">
                <a:solidFill>
                  <a:srgbClr val="1A2533"/>
                </a:solidFill>
                <a:latin typeface="Microsoft YaHei"/>
              </a:defRPr>
            </a:pPr>
            <a:r>
              <a:t>• 针对 Host CPU 内存中转瓶颈，攻坚零数据拷贝直通驱动</a:t>
            </a:r>
            <a:br/>
            <a:r>
              <a:t>• 针对离散 Block 序列化耗时，设计描述符批量编译机制</a:t>
            </a:r>
            <a:br/>
            <a:r>
              <a:t>• 实测利用 UB 技术使前缀匹配表检索提升 30% 以上</a:t>
            </a:r>
          </a:p>
        </p:txBody>
      </p:sp>
      <p:sp>
        <p:nvSpPr>
          <p:cNvPr id="6" name="Rounded Rectangle 5"/>
          <p:cNvSpPr/>
          <p:nvPr/>
        </p:nvSpPr>
        <p:spPr>
          <a:xfrm>
            <a:off x="4389120" y="2377440"/>
            <a:ext cx="3410712" cy="2468880"/>
          </a:xfrm>
          <a:prstGeom prst="roundRect">
            <a:avLst>
              <a:gd name="adj" fmla="val 2000"/>
            </a:avLst>
          </a:prstGeom>
          <a:solidFill>
            <a:srgbClr val="E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98848" y="2514600"/>
            <a:ext cx="3191256" cy="2194560"/>
          </a:xfrm>
          <a:prstGeom prst="rect">
            <a:avLst/>
          </a:prstGeom>
          <a:noFill/>
        </p:spPr>
        <p:txBody>
          <a:bodyPr wrap="square" lIns="0" rIns="0" tIns="0" bIns="0">
            <a:spAutoFit/>
          </a:bodyPr>
          <a:lstStyle/>
          <a:p>
            <a:pPr>
              <a:defRPr sz="1350" b="1">
                <a:solidFill>
                  <a:srgbClr val="122A49"/>
                </a:solidFill>
                <a:latin typeface="Microsoft YaHei"/>
              </a:defRPr>
            </a:pPr>
            <a:r>
              <a:t>硬件 QoS 隔离稳态输出压制 TPOT</a:t>
            </a:r>
          </a:p>
          <a:p>
            <a:pPr>
              <a:spcBef>
                <a:spcPts val="800"/>
              </a:spcBef>
              <a:defRPr sz="1080">
                <a:solidFill>
                  <a:srgbClr val="1A2533"/>
                </a:solidFill>
                <a:latin typeface="Microsoft YaHei"/>
              </a:defRPr>
            </a:pPr>
            <a:r>
              <a:t>• 通过硬件优先级队列隔离后台换出 I/O，保障前台在线推流稳定</a:t>
            </a:r>
            <a:br/>
            <a:r>
              <a:t>• 应用层配合微秒级自适应退避，消除前后台 I/O 争用</a:t>
            </a:r>
            <a:br/>
            <a:r>
              <a:t>• 目标在后台满载混压下，前台在线 TPOT 干扰率 &lt; 3%</a:t>
            </a:r>
          </a:p>
        </p:txBody>
      </p:sp>
      <p:sp>
        <p:nvSpPr>
          <p:cNvPr id="8" name="Rounded Rectangle 7"/>
          <p:cNvSpPr/>
          <p:nvPr/>
        </p:nvSpPr>
        <p:spPr>
          <a:xfrm>
            <a:off x="8046720" y="2377440"/>
            <a:ext cx="3410712" cy="2468880"/>
          </a:xfrm>
          <a:prstGeom prst="roundRect">
            <a:avLst>
              <a:gd name="adj" fmla="val 2000"/>
            </a:avLst>
          </a:prstGeom>
          <a:solidFill>
            <a:srgbClr val="FFF5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56448" y="2514600"/>
            <a:ext cx="3191256" cy="2194560"/>
          </a:xfrm>
          <a:prstGeom prst="rect">
            <a:avLst/>
          </a:prstGeom>
          <a:noFill/>
        </p:spPr>
        <p:txBody>
          <a:bodyPr wrap="square" lIns="0" rIns="0" tIns="0" bIns="0">
            <a:spAutoFit/>
          </a:bodyPr>
          <a:lstStyle/>
          <a:p>
            <a:pPr>
              <a:defRPr sz="1350" b="1">
                <a:solidFill>
                  <a:srgbClr val="122A49"/>
                </a:solidFill>
                <a:latin typeface="Microsoft YaHei"/>
              </a:defRPr>
            </a:pPr>
            <a:r>
              <a:t>微秒级动态选路与中继消除性能抖动</a:t>
            </a:r>
          </a:p>
          <a:p>
            <a:pPr>
              <a:spcBef>
                <a:spcPts val="800"/>
              </a:spcBef>
              <a:defRPr sz="1080">
                <a:solidFill>
                  <a:srgbClr val="1A2533"/>
                </a:solidFill>
                <a:latin typeface="Microsoft YaHei"/>
              </a:defRPr>
            </a:pPr>
            <a:r>
              <a:t>• 动态评估链路与算力，消除短上下文拉取的时延回退风险</a:t>
            </a:r>
            <a:br/>
            <a:r>
              <a:t>• 构建计算节点软件树状中继拓扑，削减源端网卡出口压力 75%</a:t>
            </a:r>
            <a:br/>
            <a:r>
              <a:t>• 杜绝 TOR 交换机 Incast 丢包风暴与尾部时延毛刺</a:t>
            </a:r>
          </a:p>
        </p:txBody>
      </p:sp>
      <p:sp>
        <p:nvSpPr>
          <p:cNvPr id="10" name="Rounded Rectangle 9"/>
          <p:cNvSpPr/>
          <p:nvPr/>
        </p:nvSpPr>
        <p:spPr>
          <a:xfrm>
            <a:off x="731520" y="5074920"/>
            <a:ext cx="10725912" cy="868680"/>
          </a:xfrm>
          <a:prstGeom prst="roundRect">
            <a:avLst>
              <a:gd name="adj" fmla="val 2000"/>
            </a:avLst>
          </a:prstGeom>
          <a:solidFill>
            <a:srgbClr val="EA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166360"/>
            <a:ext cx="10360152" cy="685800"/>
          </a:xfrm>
          <a:prstGeom prst="rect">
            <a:avLst/>
          </a:prstGeom>
          <a:noFill/>
        </p:spPr>
        <p:txBody>
          <a:bodyPr wrap="square">
            <a:spAutoFit/>
          </a:bodyPr>
          <a:lstStyle/>
          <a:p>
            <a:pPr>
              <a:defRPr sz="1200" b="1">
                <a:solidFill>
                  <a:srgbClr val="2D63B8"/>
                </a:solidFill>
                <a:latin typeface="Microsoft YaHei"/>
              </a:defRPr>
            </a:pPr>
            <a:r>
              <a:t>【工作定位与核心目标】</a:t>
            </a:r>
          </a:p>
          <a:p>
            <a:pPr>
              <a:spcBef>
                <a:spcPts val="300"/>
              </a:spcBef>
              <a:defRPr sz="1050">
                <a:solidFill>
                  <a:srgbClr val="1A2533"/>
                </a:solidFill>
                <a:latin typeface="Microsoft YaHei"/>
              </a:defRPr>
            </a:pPr>
            <a:r>
              <a:t>本项目聚焦开源 Mooncake 底座在国产硬件环境下的软硬件协同关键技术攻关与性能优化。核心工作针对底层直通通信、紧凑描述符编译、微秒级选路与硬件 QoS 隔离开展技术验证，全面释放底层硬件潜能，以在线推理场景中 TTFT、TPOT 及长尾时延抖动的确定性改善为衡量准绳。</a:t>
            </a:r>
          </a:p>
        </p:txBody>
      </p:sp>
      <p:sp>
        <p:nvSpPr>
          <p:cNvPr id="12" name="Rectangle 11"/>
          <p:cNvSpPr/>
          <p:nvPr/>
        </p:nvSpPr>
        <p:spPr>
          <a:xfrm>
            <a:off x="548640" y="6327648"/>
            <a:ext cx="11091672" cy="320040"/>
          </a:xfrm>
          <a:prstGeom prst="rect">
            <a:avLst/>
          </a:prstGeom>
          <a:solidFill>
            <a:srgbClr val="2D63B8"/>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8288" bIns="18288"/>
          <a:lstStyle/>
          <a:p>
            <a:pPr algn="ctr">
              <a:defRPr sz="1100" b="1">
                <a:solidFill>
                  <a:srgbClr val="FFFFFF"/>
                </a:solidFill>
                <a:latin typeface="Microsoft YaHei"/>
              </a:defRPr>
            </a:pPr>
            <a:r>
              <a:t>汇报宗旨：以客观实验证据与 2026 顶级系统顶会实测（OSDI/FAST/NSDI/SIGCOMM/SIGMOD）为准绳，全面呈现技术攻关价值。</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1792" y="292608"/>
            <a:ext cx="9875520" cy="438912"/>
          </a:xfrm>
          <a:prstGeom prst="rect">
            <a:avLst/>
          </a:prstGeom>
          <a:noFill/>
        </p:spPr>
        <p:txBody>
          <a:bodyPr wrap="square" lIns="0" rIns="0" tIns="0" bIns="0">
            <a:spAutoFit/>
          </a:bodyPr>
          <a:lstStyle/>
          <a:p>
            <a:pPr>
              <a:defRPr sz="2100" b="1">
                <a:solidFill>
                  <a:srgbClr val="122A49"/>
                </a:solidFill>
                <a:latin typeface="Microsoft YaHei"/>
              </a:defRPr>
            </a:pPr>
            <a:r>
              <a:t>现有 KVC 管理方案的五大物理瓶颈及其对在线指标的制约</a:t>
            </a:r>
          </a:p>
        </p:txBody>
      </p:sp>
      <p:sp>
        <p:nvSpPr>
          <p:cNvPr id="3" name="TextBox 2"/>
          <p:cNvSpPr txBox="1"/>
          <p:nvPr/>
        </p:nvSpPr>
        <p:spPr>
          <a:xfrm>
            <a:off x="640080" y="749808"/>
            <a:ext cx="9875520" cy="274320"/>
          </a:xfrm>
          <a:prstGeom prst="rect">
            <a:avLst/>
          </a:prstGeom>
          <a:noFill/>
        </p:spPr>
        <p:txBody>
          <a:bodyPr wrap="square" lIns="0" rIns="0" tIns="0" bIns="0">
            <a:spAutoFit/>
          </a:bodyPr>
          <a:lstStyle/>
          <a:p>
            <a:pPr>
              <a:defRPr sz="1200">
                <a:solidFill>
                  <a:srgbClr val="6B7785"/>
                </a:solidFill>
                <a:latin typeface="Microsoft YaHei"/>
              </a:defRPr>
            </a:pPr>
            <a:r>
              <a:t>结合体系结构第一性原理与 2026 顶级系统顶会实测（OSDI/FAST/NSDI/SIGCOMM/SIGMOD 15篇顶会）穿透剖析</a:t>
            </a:r>
          </a:p>
        </p:txBody>
      </p:sp>
      <p:sp>
        <p:nvSpPr>
          <p:cNvPr id="4" name="TextBox 3"/>
          <p:cNvSpPr txBox="1"/>
          <p:nvPr/>
        </p:nvSpPr>
        <p:spPr>
          <a:xfrm>
            <a:off x="10607040" y="320040"/>
            <a:ext cx="1005840" cy="274320"/>
          </a:xfrm>
          <a:prstGeom prst="rect">
            <a:avLst/>
          </a:prstGeom>
          <a:noFill/>
        </p:spPr>
        <p:txBody>
          <a:bodyPr wrap="none" lIns="0" rIns="0" tIns="0" bIns="0">
            <a:spAutoFit/>
          </a:bodyPr>
          <a:lstStyle/>
          <a:p>
            <a:pPr algn="r">
              <a:defRPr sz="1300" b="1">
                <a:solidFill>
                  <a:srgbClr val="6B7785"/>
                </a:solidFill>
                <a:latin typeface="Microsoft YaHei"/>
              </a:defRPr>
            </a:pPr>
            <a:r>
              <a:t>02 / 09</a:t>
            </a:r>
          </a:p>
        </p:txBody>
      </p:sp>
      <p:graphicFrame>
        <p:nvGraphicFramePr>
          <p:cNvPr id="5" name="Table 4"/>
          <p:cNvGraphicFramePr>
            <a:graphicFrameLocks noGrp="1"/>
          </p:cNvGraphicFramePr>
          <p:nvPr/>
        </p:nvGraphicFramePr>
        <p:xfrm>
          <a:off x="548640" y="1051560"/>
          <a:ext cx="11091671" cy="3090672"/>
        </p:xfrm>
        <a:graphic>
          <a:graphicData uri="http://schemas.openxmlformats.org/drawingml/2006/table">
            <a:tbl>
              <a:tblPr firstRow="1" bandRow="1">
                <a:tableStyleId>{5C22544A-7EE6-4342-B048-85BDC9FD1C3A}</a:tableStyleId>
              </a:tblPr>
              <a:tblGrid>
                <a:gridCol w="594360"/>
                <a:gridCol w="1874519"/>
                <a:gridCol w="5852160"/>
                <a:gridCol w="2770632"/>
              </a:tblGrid>
              <a:tr h="515112">
                <a:tc>
                  <a:txBody>
                    <a:bodyPr/>
                    <a:lstStyle/>
                    <a:p>
                      <a:pPr>
                        <a:defRPr sz="1050" b="1">
                          <a:solidFill>
                            <a:srgbClr val="FFFFFF"/>
                          </a:solidFill>
                          <a:latin typeface="Microsoft YaHei"/>
                        </a:defRPr>
                      </a:pPr>
                      <a:r>
                        <a:t>编号</a:t>
                      </a:r>
                    </a:p>
                  </a:txBody>
                  <a:tcPr marL="54864" marR="54864" marT="36576" marB="36576">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Mooncake 原生机制</a:t>
                      </a:r>
                    </a:p>
                  </a:txBody>
                  <a:tcPr marL="54864" marR="54864" marT="36576" marB="36576">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体系结构物理瓶颈与 2026 顶级系统顶会实测背书</a:t>
                      </a:r>
                    </a:p>
                  </a:txBody>
                  <a:tcPr marL="54864" marR="54864" marT="36576" marB="36576">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对在线推理核心指标的制约</a:t>
                      </a:r>
                    </a:p>
                  </a:txBody>
                  <a:tcPr marL="54864" marR="54864" marT="36576" marB="36576">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515112">
                <a:tc>
                  <a:txBody>
                    <a:bodyPr/>
                    <a:lstStyle/>
                    <a:p>
                      <a:pPr algn="ctr">
                        <a:defRPr sz="860" b="1">
                          <a:latin typeface="Microsoft YaHei"/>
                        </a:defRPr>
                      </a:pPr>
                      <a:r>
                        <a:t>M-01</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defRPr sz="860">
                          <a:solidFill>
                            <a:srgbClr val="1A2533"/>
                          </a:solidFill>
                          <a:latin typeface="Microsoft YaHei"/>
                        </a:defRPr>
                      </a:pPr>
                      <a:r>
                        <a:t>Host CPU 参与数据中转</a:t>
                      </a:r>
                      <a:br/>
                      <a:r>
                        <a:t>(经由主机内存二次拷贝)</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pPr>
                      <a:r>
                        <a:rPr sz="819">
                          <a:solidFill>
                            <a:srgbClr val="1A2533"/>
                          </a:solidFill>
                          <a:latin typeface="Microsoft YaHei"/>
                        </a:rPr>
                        <a:t>【SIGMOD '26 Beluga (阿里) &amp; OSDI '26 DirectKV】Beluga 对标实测 Mooncake 全缓存命中平均 TTFT 达 13.00s（内存直通仅 1.36s，</a:t>
                      </a:r>
                      <a:r>
                        <a:rPr sz="819" b="1">
                          <a:solidFill>
                            <a:srgbClr val="C00000"/>
                          </a:solidFill>
                          <a:latin typeface="Microsoft YaHei"/>
                        </a:rPr>
                        <a:t>降低 89.6%</a:t>
                      </a:r>
                      <a:r>
                        <a:rPr sz="819">
                          <a:solidFill>
                            <a:srgbClr val="1A2533"/>
                          </a:solidFill>
                          <a:latin typeface="Microsoft YaHei"/>
                        </a:rPr>
                        <a:t>）；且测得 16KB 读</a:t>
                      </a:r>
                      <a:r>
                        <a:rPr sz="819" b="1">
                          <a:solidFill>
                            <a:srgbClr val="C00000"/>
                          </a:solidFill>
                          <a:latin typeface="Microsoft YaHei"/>
                        </a:rPr>
                        <a:t>近 75% 耗在内核启动与跨设备同步</a:t>
                      </a:r>
                      <a:r>
                        <a:rPr sz="819">
                          <a:solidFill>
                            <a:srgbClr val="1A2533"/>
                          </a:solidFill>
                          <a:latin typeface="Microsoft YaHei"/>
                        </a:rPr>
                        <a:t>（传输仅 2.68µs）；DirectKV 证实 Host 中转</a:t>
                      </a:r>
                      <a:r>
                        <a:rPr sz="819" b="1">
                          <a:solidFill>
                            <a:srgbClr val="C00000"/>
                          </a:solidFill>
                          <a:latin typeface="Microsoft YaHei"/>
                        </a:rPr>
                        <a:t>浪费 43% 显存并带来双倍拷贝与总线争用</a:t>
                      </a:r>
                      <a:r>
                        <a:rPr sz="819">
                          <a:solidFill>
                            <a:srgbClr val="1A2533"/>
                          </a:solidFill>
                          <a:latin typeface="Microsoft YaHei"/>
                        </a:rPr>
                        <a:t>。</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pPr>
                      <a:r>
                        <a:rPr sz="860" b="1">
                          <a:solidFill>
                            <a:srgbClr val="C00000"/>
                          </a:solidFill>
                          <a:latin typeface="Microsoft YaHei"/>
                        </a:rPr>
                        <a:t>【拉长 TTFT 首字时延】</a:t>
                      </a:r>
                      <a:r>
                        <a:rPr sz="860">
                          <a:solidFill>
                            <a:srgbClr val="1A2533"/>
                          </a:solidFill>
                          <a:latin typeface="Microsoft YaHei"/>
                        </a:rPr>
                        <a:t>数据搬运延迟居高不下，</a:t>
                      </a:r>
                      <a:r>
                        <a:rPr sz="860" b="1">
                          <a:solidFill>
                            <a:srgbClr val="C00000"/>
                          </a:solidFill>
                          <a:latin typeface="Microsoft YaHei"/>
                        </a:rPr>
                        <a:t>无法发挥网卡满线速吞吐，首字生成耗时直接受累。</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515112">
                <a:tc>
                  <a:txBody>
                    <a:bodyPr/>
                    <a:lstStyle/>
                    <a:p>
                      <a:pPr algn="ctr">
                        <a:defRPr sz="860" b="1">
                          <a:latin typeface="Microsoft YaHei"/>
                        </a:defRPr>
                      </a:pPr>
                      <a:r>
                        <a:t>M-02</a:t>
                      </a:r>
                    </a:p>
                  </a:txBody>
                  <a:tcPr marL="54864" marR="54864" marT="36576" marB="36576">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defRPr sz="860">
                          <a:solidFill>
                            <a:srgbClr val="1A2533"/>
                          </a:solidFill>
                          <a:latin typeface="Microsoft YaHei"/>
                        </a:defRPr>
                      </a:pPr>
                      <a:r>
                        <a:t>64KB 无语义切片打散</a:t>
                      </a:r>
                      <a:br/>
                      <a:r>
                        <a:t>(Slice Spraying 盲发模式)</a:t>
                      </a:r>
                    </a:p>
                  </a:txBody>
                  <a:tcPr marL="54864" marR="54864" marT="36576" marB="36576">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pPr>
                      <a:r>
                        <a:rPr sz="819">
                          <a:solidFill>
                            <a:srgbClr val="1A2533"/>
                          </a:solidFill>
                          <a:latin typeface="Microsoft YaHei"/>
                        </a:rPr>
                        <a:t>【FAST '26 AITurbo (华为云) &amp; OSDI '26 Strata】AITurbo 实测 Mooncake 传统存储回源受制于存储网带宽，通过计算网加速后平均 TTFT 即降 23% (0.85s→0.65s)；其模型分发证实</a:t>
                      </a:r>
                      <a:r>
                        <a:rPr sz="819" b="1">
                          <a:solidFill>
                            <a:srgbClr val="C00000"/>
                          </a:solidFill>
                          <a:latin typeface="Microsoft YaHei"/>
                        </a:rPr>
                        <a:t>单源拉取极易打满网卡</a:t>
                      </a:r>
                      <a:r>
                        <a:rPr sz="819">
                          <a:solidFill>
                            <a:srgbClr val="1A2533"/>
                          </a:solidFill>
                          <a:latin typeface="Microsoft YaHei"/>
                        </a:rPr>
                        <a:t>，需靠树状中继削减源端压力；Strata 证实切片打散</a:t>
                      </a:r>
                      <a:r>
                        <a:rPr sz="819" b="1">
                          <a:solidFill>
                            <a:srgbClr val="C00000"/>
                          </a:solidFill>
                          <a:latin typeface="Microsoft YaHei"/>
                        </a:rPr>
                        <a:t>破坏层序导致 Prefill 流水严重停顿</a:t>
                      </a:r>
                      <a:r>
                        <a:rPr sz="819">
                          <a:solidFill>
                            <a:srgbClr val="1A2533"/>
                          </a:solidFill>
                          <a:latin typeface="Microsoft YaHei"/>
                        </a:rPr>
                        <a:t>。</a:t>
                      </a:r>
                    </a:p>
                  </a:txBody>
                  <a:tcPr marL="54864" marR="54864" marT="36576" marB="36576">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pPr>
                      <a:r>
                        <a:rPr sz="860" b="1">
                          <a:solidFill>
                            <a:srgbClr val="C00000"/>
                          </a:solidFill>
                          <a:latin typeface="Microsoft YaHei"/>
                        </a:rPr>
                        <a:t>【TTFT 剧烈抖动与丢包】</a:t>
                      </a:r>
                      <a:r>
                        <a:rPr sz="860">
                          <a:solidFill>
                            <a:srgbClr val="1A2533"/>
                          </a:solidFill>
                          <a:latin typeface="Microsoft YaHei"/>
                        </a:rPr>
                        <a:t>首层等待导致 NPU 计算单元严重空转；</a:t>
                      </a:r>
                      <a:r>
                        <a:rPr sz="860" b="1">
                          <a:solidFill>
                            <a:srgbClr val="C00000"/>
                          </a:solidFill>
                          <a:latin typeface="Microsoft YaHei"/>
                        </a:rPr>
                        <a:t>网络微突发丢包造成 P99 尾部时延急剧恶化。</a:t>
                      </a:r>
                    </a:p>
                  </a:txBody>
                  <a:tcPr marL="54864" marR="54864" marT="36576" marB="36576">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515112">
                <a:tc>
                  <a:txBody>
                    <a:bodyPr/>
                    <a:lstStyle/>
                    <a:p>
                      <a:pPr algn="ctr">
                        <a:defRPr sz="860" b="1">
                          <a:latin typeface="Microsoft YaHei"/>
                        </a:defRPr>
                      </a:pPr>
                      <a:r>
                        <a:t>M-03</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defRPr sz="860">
                          <a:solidFill>
                            <a:srgbClr val="1A2533"/>
                          </a:solidFill>
                          <a:latin typeface="Microsoft YaHei"/>
                        </a:defRPr>
                      </a:pPr>
                      <a:r>
                        <a:t>离散 Block 经解释型对象</a:t>
                      </a:r>
                      <a:br/>
                      <a:r>
                        <a:t>与网络 RPC 频繁交互</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pPr>
                      <a:r>
                        <a:rPr sz="819">
                          <a:solidFill>
                            <a:srgbClr val="1A2533"/>
                          </a:solidFill>
                          <a:latin typeface="Microsoft YaHei"/>
                        </a:rPr>
                        <a:t>【SIGMOD '26 Beluga &amp; OSDI '26 FORGE / ECHO】Beluga 实测离散 Block 经 RDMA 交互产生</a:t>
                      </a:r>
                      <a:r>
                        <a:rPr sz="819" b="1">
                          <a:solidFill>
                            <a:srgbClr val="C00000"/>
                          </a:solidFill>
                          <a:latin typeface="Microsoft YaHei"/>
                        </a:rPr>
                        <a:t>高达 5,260µs 延迟</a:t>
                      </a:r>
                      <a:r>
                        <a:rPr sz="819">
                          <a:solidFill>
                            <a:srgbClr val="1A2533"/>
                          </a:solidFill>
                          <a:latin typeface="Microsoft YaHei"/>
                        </a:rPr>
                        <a:t>（直接解引用仅 211µs，降幅 95.9%）；FORGE 揭示内存解耦系统存在“同步放大效应”，</a:t>
                      </a:r>
                      <a:r>
                        <a:rPr sz="819" b="1">
                          <a:solidFill>
                            <a:srgbClr val="C00000"/>
                          </a:solidFill>
                          <a:latin typeface="Microsoft YaHei"/>
                        </a:rPr>
                        <a:t>元数据开销放大 20 余倍</a:t>
                      </a:r>
                      <a:r>
                        <a:rPr sz="819">
                          <a:solidFill>
                            <a:srgbClr val="1A2533"/>
                          </a:solidFill>
                          <a:latin typeface="Microsoft YaHei"/>
                        </a:rPr>
                        <a:t>，严重侵蚀正文传输加速收益。</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pPr>
                      <a:r>
                        <a:rPr sz="860" b="1">
                          <a:solidFill>
                            <a:srgbClr val="C00000"/>
                          </a:solidFill>
                          <a:latin typeface="Microsoft YaHei"/>
                        </a:rPr>
                        <a:t>【制约 TTFT 优化上限】</a:t>
                      </a:r>
                      <a:r>
                        <a:rPr sz="860">
                          <a:solidFill>
                            <a:srgbClr val="1A2533"/>
                          </a:solidFill>
                          <a:latin typeface="Microsoft YaHei"/>
                        </a:rPr>
                        <a:t>元数据解析交互开销过大，</a:t>
                      </a:r>
                      <a:r>
                        <a:rPr sz="860" b="1">
                          <a:solidFill>
                            <a:srgbClr val="C00000"/>
                          </a:solidFill>
                          <a:latin typeface="Microsoft YaHei"/>
                        </a:rPr>
                        <a:t>严重侵蚀并抵消了底层正文传输提速收益。</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515112">
                <a:tc>
                  <a:txBody>
                    <a:bodyPr/>
                    <a:lstStyle/>
                    <a:p>
                      <a:pPr algn="ctr">
                        <a:defRPr sz="860" b="1">
                          <a:latin typeface="Microsoft YaHei"/>
                        </a:defRPr>
                      </a:pPr>
                      <a:r>
                        <a:t>M-04</a:t>
                      </a:r>
                    </a:p>
                  </a:txBody>
                  <a:tcPr marL="54864" marR="54864" marT="36576" marB="36576">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defRPr sz="860">
                          <a:solidFill>
                            <a:srgbClr val="1A2533"/>
                          </a:solidFill>
                          <a:latin typeface="Microsoft YaHei"/>
                        </a:defRPr>
                      </a:pPr>
                      <a:r>
                        <a:t>静态贪婪拉取决策</a:t>
                      </a:r>
                      <a:br/>
                      <a:r>
                        <a:t>(缺乏微秒级收益评估模型)</a:t>
                      </a:r>
                    </a:p>
                  </a:txBody>
                  <a:tcPr marL="54864" marR="54864" marT="36576" marB="36576">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pPr>
                      <a:r>
                        <a:rPr sz="819">
                          <a:solidFill>
                            <a:srgbClr val="1A2533"/>
                          </a:solidFill>
                          <a:latin typeface="Microsoft YaHei"/>
                        </a:rPr>
                        <a:t>【FAST '26 Bidaw (清华), NSDI '26 SYMPHONY &amp; SIGCOMM '26 KVServe】Bidaw 实测两级存储无感知调度</a:t>
                      </a:r>
                      <a:r>
                        <a:rPr sz="819" b="1">
                          <a:solidFill>
                            <a:srgbClr val="C00000"/>
                          </a:solidFill>
                          <a:latin typeface="Microsoft YaHei"/>
                        </a:rPr>
                        <a:t>引发严重 I/O 队头阻塞</a:t>
                      </a:r>
                      <a:r>
                        <a:rPr sz="819">
                          <a:solidFill>
                            <a:srgbClr val="1A2533"/>
                          </a:solidFill>
                          <a:latin typeface="Microsoft YaHei"/>
                        </a:rPr>
                        <a:t>，I/O 感知后排队时延骤降 57.5%；SYMPHONY 实测</a:t>
                      </a:r>
                      <a:r>
                        <a:rPr sz="819" b="1">
                          <a:solidFill>
                            <a:srgbClr val="C00000"/>
                          </a:solidFill>
                          <a:latin typeface="Microsoft YaHei"/>
                        </a:rPr>
                        <a:t>无选路下重算总耗时反而低于迁移</a:t>
                      </a:r>
                      <a:r>
                        <a:rPr sz="819">
                          <a:solidFill>
                            <a:srgbClr val="1A2533"/>
                          </a:solidFill>
                          <a:latin typeface="Microsoft YaHei"/>
                        </a:rPr>
                        <a:t>；KVServe 证实不同路径存在 50~110Gbps 动态带宽交叉点，</a:t>
                      </a:r>
                      <a:r>
                        <a:rPr sz="819" b="1">
                          <a:solidFill>
                            <a:srgbClr val="C00000"/>
                          </a:solidFill>
                          <a:latin typeface="Microsoft YaHei"/>
                        </a:rPr>
                        <a:t>固定策略必然遭遇时延反噬</a:t>
                      </a:r>
                      <a:r>
                        <a:rPr sz="819">
                          <a:solidFill>
                            <a:srgbClr val="1A2533"/>
                          </a:solidFill>
                          <a:latin typeface="Microsoft YaHei"/>
                        </a:rPr>
                        <a:t>。</a:t>
                      </a:r>
                    </a:p>
                  </a:txBody>
                  <a:tcPr marL="54864" marR="54864" marT="36576" marB="36576">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pPr>
                      <a:r>
                        <a:rPr sz="860" b="1">
                          <a:solidFill>
                            <a:srgbClr val="C00000"/>
                          </a:solidFill>
                          <a:latin typeface="Microsoft YaHei"/>
                        </a:rPr>
                        <a:t>【引发严重时延负收益反噬】</a:t>
                      </a:r>
                      <a:r>
                        <a:rPr sz="860">
                          <a:solidFill>
                            <a:srgbClr val="1A2533"/>
                          </a:solidFill>
                          <a:latin typeface="Microsoft YaHei"/>
                        </a:rPr>
                        <a:t>短文本场景下拉取反而比重算更慢，</a:t>
                      </a:r>
                      <a:r>
                        <a:rPr sz="860" b="1">
                          <a:solidFill>
                            <a:srgbClr val="C00000"/>
                          </a:solidFill>
                          <a:latin typeface="Microsoft YaHei"/>
                        </a:rPr>
                        <a:t>导致在线端到端响应剧烈波动。</a:t>
                      </a:r>
                    </a:p>
                  </a:txBody>
                  <a:tcPr marL="54864" marR="54864" marT="36576" marB="36576">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515112">
                <a:tc>
                  <a:txBody>
                    <a:bodyPr/>
                    <a:lstStyle/>
                    <a:p>
                      <a:pPr algn="ctr">
                        <a:defRPr sz="860" b="1">
                          <a:latin typeface="Microsoft YaHei"/>
                        </a:defRPr>
                      </a:pPr>
                      <a:r>
                        <a:t>M-05</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defRPr sz="860">
                          <a:solidFill>
                            <a:srgbClr val="1A2533"/>
                          </a:solidFill>
                          <a:latin typeface="Microsoft YaHei"/>
                        </a:defRPr>
                      </a:pPr>
                      <a:r>
                        <a:t>缺乏多卡原子协同</a:t>
                      </a:r>
                      <a:br/>
                      <a:r>
                        <a:t>与前后台 QoS 硬件隔离</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pPr>
                      <a:r>
                        <a:rPr sz="819">
                          <a:solidFill>
                            <a:srgbClr val="1A2533"/>
                          </a:solidFill>
                          <a:latin typeface="Microsoft YaHei"/>
                        </a:rPr>
                        <a:t>【SIGCOMM '26 DualPath (DeepSeek) &amp; OSDI '26 RamRyder】DualPath 实测后台 KV 搬运导致未隔离的前台模型通信时延从 131µs </a:t>
                      </a:r>
                      <a:r>
                        <a:rPr sz="819" b="1">
                          <a:solidFill>
                            <a:srgbClr val="C00000"/>
                          </a:solidFill>
                          <a:latin typeface="Microsoft YaHei"/>
                        </a:rPr>
                        <a:t>暴增至 877µs（恶化 6.7 倍）</a:t>
                      </a:r>
                      <a:r>
                        <a:rPr sz="819">
                          <a:solidFill>
                            <a:srgbClr val="1A2533"/>
                          </a:solidFill>
                          <a:latin typeface="Microsoft YaHei"/>
                        </a:rPr>
                        <a:t>；RamRyder 证实未隔离带宽争用是 QoS 破坏元凶；CVT-01 解决 FORGE 揭示的</a:t>
                      </a:r>
                      <a:r>
                        <a:rPr sz="819" b="1">
                          <a:solidFill>
                            <a:srgbClr val="C00000"/>
                          </a:solidFill>
                          <a:latin typeface="Microsoft YaHei"/>
                        </a:rPr>
                        <a:t>碎片整理锁死前台</a:t>
                      </a:r>
                      <a:r>
                        <a:rPr sz="819">
                          <a:solidFill>
                            <a:srgbClr val="1A2533"/>
                          </a:solidFill>
                          <a:latin typeface="Microsoft YaHei"/>
                        </a:rPr>
                        <a:t>问题。</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6000"/>
                        </a:lnSpc>
                      </a:pPr>
                      <a:r>
                        <a:rPr sz="860" b="1">
                          <a:solidFill>
                            <a:srgbClr val="C00000"/>
                          </a:solidFill>
                          <a:latin typeface="Microsoft YaHei"/>
                        </a:rPr>
                        <a:t>【恶化 TPOT 及其 P99 尾部】</a:t>
                      </a:r>
                      <a:r>
                        <a:rPr sz="860">
                          <a:solidFill>
                            <a:srgbClr val="1A2533"/>
                          </a:solidFill>
                          <a:latin typeface="Microsoft YaHei"/>
                        </a:rPr>
                        <a:t>多卡动作不一致阻塞通信；</a:t>
                      </a:r>
                      <a:r>
                        <a:rPr sz="860" b="1">
                          <a:solidFill>
                            <a:srgbClr val="C00000"/>
                          </a:solidFill>
                          <a:latin typeface="Microsoft YaHei"/>
                        </a:rPr>
                        <a:t>后台 I/O 抢占导致在线单字推流出现严重卡顿与毛刺。</a:t>
                      </a:r>
                    </a:p>
                  </a:txBody>
                  <a:tcPr marL="54864" marR="54864" marT="36576" marB="36576">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bl>
          </a:graphicData>
        </a:graphic>
      </p:graphicFrame>
      <p:sp>
        <p:nvSpPr>
          <p:cNvPr id="6" name="Rounded Rectangle 5"/>
          <p:cNvSpPr/>
          <p:nvPr/>
        </p:nvSpPr>
        <p:spPr>
          <a:xfrm>
            <a:off x="548640" y="4279392"/>
            <a:ext cx="3593592" cy="1920240"/>
          </a:xfrm>
          <a:prstGeom prst="roundRect">
            <a:avLst>
              <a:gd name="adj" fmla="val 2000"/>
            </a:avLst>
          </a:prstGeom>
          <a:solidFill>
            <a:srgbClr val="EA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352544"/>
            <a:ext cx="3374136" cy="1773936"/>
          </a:xfrm>
          <a:prstGeom prst="rect">
            <a:avLst/>
          </a:prstGeom>
          <a:noFill/>
        </p:spPr>
        <p:txBody>
          <a:bodyPr wrap="square" lIns="0" rIns="0" tIns="0" bIns="0">
            <a:spAutoFit/>
          </a:bodyPr>
          <a:lstStyle/>
          <a:p>
            <a:pPr>
              <a:defRPr sz="1150" b="1">
                <a:solidFill>
                  <a:srgbClr val="122A49"/>
                </a:solidFill>
                <a:latin typeface="Microsoft YaHei"/>
              </a:defRPr>
            </a:pPr>
            <a:r>
              <a:t>TTFT 首字时延受阻归因</a:t>
            </a:r>
          </a:p>
          <a:p>
            <a:pPr>
              <a:lnSpc>
                <a:spcPct val="116000"/>
              </a:lnSpc>
              <a:spcBef>
                <a:spcPts val="350"/>
              </a:spcBef>
            </a:pPr>
            <a:r>
              <a:rPr sz="860" b="1">
                <a:solidFill>
                  <a:srgbClr val="2D63B8"/>
                </a:solidFill>
                <a:latin typeface="Microsoft YaHei"/>
              </a:rPr>
              <a:t>• 根因一（Host CPU 搬运中转）： </a:t>
            </a:r>
            <a:r>
              <a:rPr sz="840">
                <a:solidFill>
                  <a:srgbClr val="1A2533"/>
                </a:solidFill>
                <a:latin typeface="Microsoft YaHei"/>
              </a:rPr>
              <a:t>数据经主机内存二次拷贝产生</a:t>
            </a:r>
            <a:r>
              <a:rPr sz="840" b="1">
                <a:solidFill>
                  <a:srgbClr val="C00000"/>
                </a:solidFill>
                <a:latin typeface="Microsoft YaHei"/>
              </a:rPr>
              <a:t>严重总线争用</a:t>
            </a:r>
            <a:r>
              <a:rPr sz="840">
                <a:solidFill>
                  <a:srgbClr val="1A2533"/>
                </a:solidFill>
                <a:latin typeface="Microsoft YaHei"/>
              </a:rPr>
              <a:t>，搬运耗时居高不下，</a:t>
            </a:r>
            <a:r>
              <a:rPr sz="840" b="1">
                <a:solidFill>
                  <a:srgbClr val="C00000"/>
                </a:solidFill>
                <a:latin typeface="Microsoft YaHei"/>
              </a:rPr>
              <a:t>无法发挥网卡满线速吞吐。</a:t>
            </a:r>
          </a:p>
          <a:p>
            <a:pPr>
              <a:lnSpc>
                <a:spcPct val="116000"/>
              </a:lnSpc>
              <a:spcBef>
                <a:spcPts val="350"/>
              </a:spcBef>
            </a:pPr>
            <a:r>
              <a:rPr sz="860" b="1">
                <a:solidFill>
                  <a:srgbClr val="2D63B8"/>
                </a:solidFill>
                <a:latin typeface="Microsoft YaHei"/>
              </a:rPr>
              <a:t>• 根因二（离散块序列化开销）： </a:t>
            </a:r>
            <a:r>
              <a:rPr sz="840">
                <a:solidFill>
                  <a:srgbClr val="1A2533"/>
                </a:solidFill>
                <a:latin typeface="Microsoft YaHei"/>
              </a:rPr>
              <a:t>细粒度 Block 经解释型对象与 RPC 频繁交互，</a:t>
            </a:r>
            <a:r>
              <a:rPr sz="840" b="1">
                <a:solidFill>
                  <a:srgbClr val="C00000"/>
                </a:solidFill>
                <a:latin typeface="Microsoft YaHei"/>
              </a:rPr>
              <a:t>元数据解析达毫秒级</a:t>
            </a:r>
            <a:r>
              <a:rPr sz="840">
                <a:solidFill>
                  <a:srgbClr val="1A2533"/>
                </a:solidFill>
                <a:latin typeface="Microsoft YaHei"/>
              </a:rPr>
              <a:t>，</a:t>
            </a:r>
            <a:r>
              <a:rPr sz="840" b="1">
                <a:solidFill>
                  <a:srgbClr val="C00000"/>
                </a:solidFill>
                <a:latin typeface="Microsoft YaHei"/>
              </a:rPr>
              <a:t>严重侵蚀传输加速收益。</a:t>
            </a:r>
          </a:p>
          <a:p>
            <a:pPr>
              <a:lnSpc>
                <a:spcPct val="116000"/>
              </a:lnSpc>
              <a:spcBef>
                <a:spcPts val="350"/>
              </a:spcBef>
            </a:pPr>
            <a:r>
              <a:rPr sz="860" b="1">
                <a:solidFill>
                  <a:srgbClr val="2D63B8"/>
                </a:solidFill>
                <a:latin typeface="Microsoft YaHei"/>
              </a:rPr>
              <a:t>• 根因三（切片打散破坏流水）： </a:t>
            </a:r>
            <a:r>
              <a:rPr sz="840">
                <a:solidFill>
                  <a:srgbClr val="1A2533"/>
                </a:solidFill>
                <a:latin typeface="Microsoft YaHei"/>
              </a:rPr>
              <a:t>64KB 盲发打散破坏 Transformer 层间依赖，首层等待导致 </a:t>
            </a:r>
            <a:r>
              <a:rPr sz="840" b="1">
                <a:solidFill>
                  <a:srgbClr val="C00000"/>
                </a:solidFill>
                <a:latin typeface="Microsoft YaHei"/>
              </a:rPr>
              <a:t>NPU 计算单元严重空转与停顿。</a:t>
            </a:r>
          </a:p>
        </p:txBody>
      </p:sp>
      <p:sp>
        <p:nvSpPr>
          <p:cNvPr id="8" name="Rounded Rectangle 7"/>
          <p:cNvSpPr/>
          <p:nvPr/>
        </p:nvSpPr>
        <p:spPr>
          <a:xfrm>
            <a:off x="4297679" y="4279392"/>
            <a:ext cx="3593592" cy="1920240"/>
          </a:xfrm>
          <a:prstGeom prst="roundRect">
            <a:avLst>
              <a:gd name="adj" fmla="val 2000"/>
            </a:avLst>
          </a:prstGeom>
          <a:solidFill>
            <a:srgbClr val="E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7407" y="4352544"/>
            <a:ext cx="3374136" cy="1773936"/>
          </a:xfrm>
          <a:prstGeom prst="rect">
            <a:avLst/>
          </a:prstGeom>
          <a:noFill/>
        </p:spPr>
        <p:txBody>
          <a:bodyPr wrap="square" lIns="0" rIns="0" tIns="0" bIns="0">
            <a:spAutoFit/>
          </a:bodyPr>
          <a:lstStyle/>
          <a:p>
            <a:pPr>
              <a:defRPr sz="1150" b="1">
                <a:solidFill>
                  <a:srgbClr val="122A49"/>
                </a:solidFill>
                <a:latin typeface="Microsoft YaHei"/>
              </a:defRPr>
            </a:pPr>
            <a:r>
              <a:t>TPOT 单字生成受阻归因</a:t>
            </a:r>
          </a:p>
          <a:p>
            <a:pPr>
              <a:lnSpc>
                <a:spcPct val="116000"/>
              </a:lnSpc>
              <a:spcBef>
                <a:spcPts val="350"/>
              </a:spcBef>
            </a:pPr>
            <a:r>
              <a:rPr sz="860" b="1">
                <a:solidFill>
                  <a:srgbClr val="2D63B8"/>
                </a:solidFill>
                <a:latin typeface="Microsoft YaHei"/>
              </a:rPr>
              <a:t>• 根因一（显存与总线带宽争用）： </a:t>
            </a:r>
            <a:r>
              <a:rPr sz="840">
                <a:solidFill>
                  <a:srgbClr val="1A2533"/>
                </a:solidFill>
                <a:latin typeface="Microsoft YaHei"/>
              </a:rPr>
              <a:t>后台海量换出缺乏硬件隔离，在 Decode 阶段</a:t>
            </a:r>
            <a:r>
              <a:rPr sz="840" b="1">
                <a:solidFill>
                  <a:srgbClr val="C00000"/>
                </a:solidFill>
                <a:latin typeface="Microsoft YaHei"/>
              </a:rPr>
              <a:t>抢占 NPU 访存带宽</a:t>
            </a:r>
            <a:r>
              <a:rPr sz="840">
                <a:solidFill>
                  <a:srgbClr val="1A2533"/>
                </a:solidFill>
                <a:latin typeface="Microsoft YaHei"/>
              </a:rPr>
              <a:t>，</a:t>
            </a:r>
            <a:r>
              <a:rPr sz="840" b="1">
                <a:solidFill>
                  <a:srgbClr val="C00000"/>
                </a:solidFill>
                <a:latin typeface="Microsoft YaHei"/>
              </a:rPr>
              <a:t>直接拉长单字生成耗时。</a:t>
            </a:r>
          </a:p>
          <a:p>
            <a:pPr>
              <a:lnSpc>
                <a:spcPct val="116000"/>
              </a:lnSpc>
              <a:spcBef>
                <a:spcPts val="350"/>
              </a:spcBef>
            </a:pPr>
            <a:r>
              <a:rPr sz="860" b="1">
                <a:solidFill>
                  <a:srgbClr val="2D63B8"/>
                </a:solidFill>
                <a:latin typeface="Microsoft YaHei"/>
              </a:rPr>
              <a:t>• 根因二（网络传输队列排队拥塞）： </a:t>
            </a:r>
            <a:r>
              <a:rPr sz="840">
                <a:solidFill>
                  <a:srgbClr val="1A2533"/>
                </a:solidFill>
                <a:latin typeface="Microsoft YaHei"/>
              </a:rPr>
              <a:t>未部署硬件优先级队列 (QoS)，后台数据流冲撞前台在线推流，造成</a:t>
            </a:r>
            <a:r>
              <a:rPr sz="840" b="1">
                <a:solidFill>
                  <a:srgbClr val="C00000"/>
                </a:solidFill>
                <a:latin typeface="Microsoft YaHei"/>
              </a:rPr>
              <a:t>模型通信严重劣化。</a:t>
            </a:r>
          </a:p>
          <a:p>
            <a:pPr>
              <a:lnSpc>
                <a:spcPct val="116000"/>
              </a:lnSpc>
              <a:spcBef>
                <a:spcPts val="350"/>
              </a:spcBef>
            </a:pPr>
            <a:r>
              <a:rPr sz="860" b="1">
                <a:solidFill>
                  <a:srgbClr val="2D63B8"/>
                </a:solidFill>
                <a:latin typeface="Microsoft YaHei"/>
              </a:rPr>
              <a:t>• 根因三（多卡协同缺乏原子同步）： </a:t>
            </a:r>
            <a:r>
              <a:rPr sz="840">
                <a:solidFill>
                  <a:srgbClr val="1A2533"/>
                </a:solidFill>
                <a:latin typeface="Microsoft YaHei"/>
              </a:rPr>
              <a:t>张量并行多卡状态不同步</a:t>
            </a:r>
            <a:r>
              <a:rPr sz="840" b="1">
                <a:solidFill>
                  <a:srgbClr val="C00000"/>
                </a:solidFill>
                <a:latin typeface="Microsoft YaHei"/>
              </a:rPr>
              <a:t>引发集合通信阻塞</a:t>
            </a:r>
            <a:r>
              <a:rPr sz="840">
                <a:solidFill>
                  <a:srgbClr val="1A2533"/>
                </a:solidFill>
                <a:latin typeface="Microsoft YaHei"/>
              </a:rPr>
              <a:t>，内存</a:t>
            </a:r>
            <a:r>
              <a:rPr sz="840" b="1">
                <a:solidFill>
                  <a:srgbClr val="C00000"/>
                </a:solidFill>
                <a:latin typeface="Microsoft YaHei"/>
              </a:rPr>
              <a:t>碎片整理锁死前台引发长尾卡顿毛刺。</a:t>
            </a:r>
          </a:p>
        </p:txBody>
      </p:sp>
      <p:sp>
        <p:nvSpPr>
          <p:cNvPr id="10" name="Rounded Rectangle 9"/>
          <p:cNvSpPr/>
          <p:nvPr/>
        </p:nvSpPr>
        <p:spPr>
          <a:xfrm>
            <a:off x="8046719" y="4279392"/>
            <a:ext cx="3593592" cy="1920240"/>
          </a:xfrm>
          <a:prstGeom prst="roundRect">
            <a:avLst>
              <a:gd name="adj" fmla="val 2000"/>
            </a:avLst>
          </a:prstGeom>
          <a:solidFill>
            <a:srgbClr val="FFF5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6447" y="4352544"/>
            <a:ext cx="3374136" cy="1773936"/>
          </a:xfrm>
          <a:prstGeom prst="rect">
            <a:avLst/>
          </a:prstGeom>
          <a:noFill/>
        </p:spPr>
        <p:txBody>
          <a:bodyPr wrap="square" lIns="0" rIns="0" tIns="0" bIns="0">
            <a:spAutoFit/>
          </a:bodyPr>
          <a:lstStyle/>
          <a:p>
            <a:pPr>
              <a:defRPr sz="1150" b="1">
                <a:solidFill>
                  <a:srgbClr val="122A49"/>
                </a:solidFill>
                <a:latin typeface="Microsoft YaHei"/>
              </a:defRPr>
            </a:pPr>
            <a:r>
              <a:t>性能抖动与长尾时延归因</a:t>
            </a:r>
          </a:p>
          <a:p>
            <a:pPr>
              <a:lnSpc>
                <a:spcPct val="116000"/>
              </a:lnSpc>
              <a:spcBef>
                <a:spcPts val="350"/>
              </a:spcBef>
            </a:pPr>
            <a:r>
              <a:rPr sz="860" b="1">
                <a:solidFill>
                  <a:srgbClr val="2D63B8"/>
                </a:solidFill>
                <a:latin typeface="Microsoft YaHei"/>
              </a:rPr>
              <a:t>• 根因一（TOR 交换机 Incast 丢包）： </a:t>
            </a:r>
            <a:r>
              <a:rPr sz="840">
                <a:solidFill>
                  <a:srgbClr val="1A2533"/>
                </a:solidFill>
                <a:latin typeface="Microsoft YaHei"/>
              </a:rPr>
              <a:t>多发送端全网并发向单节点回传切片，瞬间打满交换机出端口缓冲，</a:t>
            </a:r>
            <a:r>
              <a:rPr sz="840" b="1">
                <a:solidFill>
                  <a:srgbClr val="C00000"/>
                </a:solidFill>
                <a:latin typeface="Microsoft YaHei"/>
              </a:rPr>
              <a:t>诱发排队丢包重传风暴。</a:t>
            </a:r>
          </a:p>
          <a:p>
            <a:pPr>
              <a:lnSpc>
                <a:spcPct val="116000"/>
              </a:lnSpc>
              <a:spcBef>
                <a:spcPts val="350"/>
              </a:spcBef>
            </a:pPr>
            <a:r>
              <a:rPr sz="860" b="1">
                <a:solidFill>
                  <a:srgbClr val="2D63B8"/>
                </a:solidFill>
                <a:latin typeface="Microsoft YaHei"/>
              </a:rPr>
              <a:t>• 根因二（静态拉取时延反噬回退）： </a:t>
            </a:r>
            <a:r>
              <a:rPr sz="840">
                <a:solidFill>
                  <a:srgbClr val="1A2533"/>
                </a:solidFill>
                <a:latin typeface="Microsoft YaHei"/>
              </a:rPr>
              <a:t>缺乏微秒级收益评估，网络拥塞或短上下文下拉取耗时反超本地重算，</a:t>
            </a:r>
            <a:r>
              <a:rPr sz="840" b="1">
                <a:solidFill>
                  <a:srgbClr val="C00000"/>
                </a:solidFill>
                <a:latin typeface="Microsoft YaHei"/>
              </a:rPr>
              <a:t>引发严重时延负收益反噬。</a:t>
            </a:r>
          </a:p>
          <a:p>
            <a:pPr>
              <a:lnSpc>
                <a:spcPct val="116000"/>
              </a:lnSpc>
              <a:spcBef>
                <a:spcPts val="350"/>
              </a:spcBef>
            </a:pPr>
            <a:r>
              <a:rPr sz="860" b="1">
                <a:solidFill>
                  <a:srgbClr val="2D63B8"/>
                </a:solidFill>
                <a:latin typeface="Microsoft YaHei"/>
              </a:rPr>
              <a:t>• 根因三（多级存储队头严重阻塞）： </a:t>
            </a:r>
            <a:r>
              <a:rPr sz="840">
                <a:solidFill>
                  <a:srgbClr val="1A2533"/>
                </a:solidFill>
                <a:latin typeface="Microsoft YaHei"/>
              </a:rPr>
              <a:t>缺乏分层介质 I/O 感知调度，SSD 慢读取</a:t>
            </a:r>
            <a:r>
              <a:rPr sz="840" b="1">
                <a:solidFill>
                  <a:srgbClr val="C00000"/>
                </a:solidFill>
                <a:latin typeface="Microsoft YaHei"/>
              </a:rPr>
              <a:t>卡死高速显存访问队列</a:t>
            </a:r>
            <a:r>
              <a:rPr sz="840">
                <a:solidFill>
                  <a:srgbClr val="1A2533"/>
                </a:solidFill>
                <a:latin typeface="Microsoft YaHei"/>
              </a:rPr>
              <a:t>，导致</a:t>
            </a:r>
            <a:r>
              <a:rPr sz="840" b="1">
                <a:solidFill>
                  <a:srgbClr val="C00000"/>
                </a:solidFill>
                <a:latin typeface="Microsoft YaHei"/>
              </a:rPr>
              <a:t>端到端排队时延大幅骤增。</a:t>
            </a:r>
          </a:p>
        </p:txBody>
      </p:sp>
      <p:sp>
        <p:nvSpPr>
          <p:cNvPr id="12" name="Rectangle 11"/>
          <p:cNvSpPr/>
          <p:nvPr/>
        </p:nvSpPr>
        <p:spPr>
          <a:xfrm>
            <a:off x="548640" y="6327648"/>
            <a:ext cx="11091672" cy="320040"/>
          </a:xfrm>
          <a:prstGeom prst="rect">
            <a:avLst/>
          </a:prstGeom>
          <a:solidFill>
            <a:srgbClr val="2D63B8"/>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8288" bIns="18288"/>
          <a:lstStyle/>
          <a:p>
            <a:pPr algn="ctr">
              <a:defRPr sz="1100" b="1">
                <a:solidFill>
                  <a:srgbClr val="FFFFFF"/>
                </a:solidFill>
                <a:latin typeface="Microsoft YaHei"/>
              </a:defRPr>
            </a:pPr>
            <a:r>
              <a:t>核心结论：结合 2026 顶级系统会议 15 篇论文共识与对 Mooncake 的实测对比，开源方案五大物理瓶颈无可辩驳，必须通过原厂软硬协同靶向攻坚。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1792" y="292608"/>
            <a:ext cx="9875520" cy="438912"/>
          </a:xfrm>
          <a:prstGeom prst="rect">
            <a:avLst/>
          </a:prstGeom>
          <a:noFill/>
        </p:spPr>
        <p:txBody>
          <a:bodyPr wrap="square" lIns="0" rIns="0" tIns="0" bIns="0">
            <a:spAutoFit/>
          </a:bodyPr>
          <a:lstStyle/>
          <a:p>
            <a:pPr>
              <a:defRPr sz="2100" b="1">
                <a:solidFill>
                  <a:srgbClr val="122A49"/>
                </a:solidFill>
                <a:latin typeface="Microsoft YaHei"/>
              </a:defRPr>
            </a:pPr>
            <a:r>
              <a:t>针对开源短板的关键技术优化体系与 11 项提前验证映射</a:t>
            </a:r>
          </a:p>
        </p:txBody>
      </p:sp>
      <p:sp>
        <p:nvSpPr>
          <p:cNvPr id="3" name="TextBox 2"/>
          <p:cNvSpPr txBox="1"/>
          <p:nvPr/>
        </p:nvSpPr>
        <p:spPr>
          <a:xfrm>
            <a:off x="640080" y="749808"/>
            <a:ext cx="9875520" cy="274320"/>
          </a:xfrm>
          <a:prstGeom prst="rect">
            <a:avLst/>
          </a:prstGeom>
          <a:noFill/>
        </p:spPr>
        <p:txBody>
          <a:bodyPr wrap="square" lIns="0" rIns="0" tIns="0" bIns="0">
            <a:spAutoFit/>
          </a:bodyPr>
          <a:lstStyle/>
          <a:p>
            <a:pPr>
              <a:defRPr sz="1200">
                <a:solidFill>
                  <a:srgbClr val="6B7785"/>
                </a:solidFill>
                <a:latin typeface="Microsoft YaHei"/>
              </a:defRPr>
            </a:pPr>
            <a:r>
              <a:t>利用 URMA 与 UBMEM 先进通信技术，靶向突破 TTFT、TPOT 与性能抖动瓶颈（深度绑定 15 篇顶会范式）</a:t>
            </a:r>
          </a:p>
        </p:txBody>
      </p:sp>
      <p:sp>
        <p:nvSpPr>
          <p:cNvPr id="4" name="TextBox 3"/>
          <p:cNvSpPr txBox="1"/>
          <p:nvPr/>
        </p:nvSpPr>
        <p:spPr>
          <a:xfrm>
            <a:off x="10607040" y="320040"/>
            <a:ext cx="1005840" cy="274320"/>
          </a:xfrm>
          <a:prstGeom prst="rect">
            <a:avLst/>
          </a:prstGeom>
          <a:noFill/>
        </p:spPr>
        <p:txBody>
          <a:bodyPr wrap="none" lIns="0" rIns="0" tIns="0" bIns="0">
            <a:spAutoFit/>
          </a:bodyPr>
          <a:lstStyle/>
          <a:p>
            <a:pPr algn="r">
              <a:defRPr sz="1300" b="1">
                <a:solidFill>
                  <a:srgbClr val="6B7785"/>
                </a:solidFill>
                <a:latin typeface="Microsoft YaHei"/>
              </a:defRPr>
            </a:pPr>
            <a:r>
              <a:t>03 / 09</a:t>
            </a:r>
          </a:p>
        </p:txBody>
      </p:sp>
      <p:graphicFrame>
        <p:nvGraphicFramePr>
          <p:cNvPr id="5" name="Table 4"/>
          <p:cNvGraphicFramePr>
            <a:graphicFrameLocks noGrp="1"/>
          </p:cNvGraphicFramePr>
          <p:nvPr/>
        </p:nvGraphicFramePr>
        <p:xfrm>
          <a:off x="548640" y="1051560"/>
          <a:ext cx="11091672" cy="5166360"/>
        </p:xfrm>
        <a:graphic>
          <a:graphicData uri="http://schemas.openxmlformats.org/drawingml/2006/table">
            <a:tbl>
              <a:tblPr firstRow="1" bandRow="1">
                <a:tableStyleId>{5C22544A-7EE6-4342-B048-85BDC9FD1C3A}</a:tableStyleId>
              </a:tblPr>
              <a:tblGrid>
                <a:gridCol w="822960"/>
                <a:gridCol w="2423160"/>
                <a:gridCol w="3474720"/>
                <a:gridCol w="1554480"/>
                <a:gridCol w="2816352"/>
              </a:tblGrid>
              <a:tr h="430530">
                <a:tc>
                  <a:txBody>
                    <a:bodyPr/>
                    <a:lstStyle/>
                    <a:p>
                      <a:pPr>
                        <a:defRPr sz="1050" b="1">
                          <a:solidFill>
                            <a:srgbClr val="FFFFFF"/>
                          </a:solidFill>
                          <a:latin typeface="Microsoft YaHei"/>
                        </a:defRPr>
                      </a:pPr>
                      <a:r>
                        <a:t>验证编号</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Mooncake 原生短板与对应缺陷</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原厂关键技术优化思路与手段</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底层使能技术</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核心指标改善与预期目标</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430530">
                <a:tc>
                  <a:txBody>
                    <a:bodyPr/>
                    <a:lstStyle/>
                    <a:p>
                      <a:pPr algn="ctr">
                        <a:defRPr sz="919" b="1">
                          <a:latin typeface="Microsoft YaHei"/>
                        </a:defRPr>
                      </a:pPr>
                      <a:r>
                        <a:t>PVT-00</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wrap="square"/>
                    <a:lstStyle/>
                    <a:p>
                      <a:pPr>
                        <a:lnSpc>
                          <a:spcPct val="114000"/>
                        </a:lnSpc>
                      </a:pPr>
                      <a:r>
                        <a:rPr sz="860" b="1">
                          <a:solidFill>
                            <a:srgbClr val="C00000"/>
                          </a:solidFill>
                          <a:latin typeface="Microsoft YaHei"/>
                        </a:rPr>
                        <a:t>【针对 M-01 传输瓶颈】
</a:t>
                      </a:r>
                      <a:r>
                        <a:rPr sz="819">
                          <a:solidFill>
                            <a:srgbClr val="1A2533"/>
                          </a:solidFill>
                          <a:latin typeface="Microsoft YaHei"/>
                        </a:rPr>
                        <a:t>标准 RDMA 协议栈开销限制有效带宽</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a:solidFill>
                            <a:srgbClr val="1A2533"/>
                          </a:solidFill>
                          <a:latin typeface="Microsoft YaHei"/>
                        </a:defRPr>
                      </a:pPr>
                      <a:r>
                        <a:t>构建 UBMEM/URMA 直通基准通路，实测探明各前缀复用率下的协议净加速边界</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840">
                          <a:solidFill>
                            <a:srgbClr val="1A2533"/>
                          </a:solidFill>
                          <a:latin typeface="Microsoft YaHei"/>
                        </a:defRPr>
                      </a:pPr>
                      <a:r>
                        <a:t>UBMEM / URMA 直通</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b="1">
                          <a:solidFill>
                            <a:srgbClr val="1A2533"/>
                          </a:solidFill>
                          <a:latin typeface="Microsoft YaHei"/>
                        </a:defRPr>
                      </a:pPr>
                      <a:r>
                        <a:t>明确高复用场景首字时延 (TTFT) 加速上限，为选路提供基准收益参照</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430530">
                <a:tc>
                  <a:txBody>
                    <a:bodyPr/>
                    <a:lstStyle/>
                    <a:p>
                      <a:pPr algn="ctr">
                        <a:defRPr sz="919" b="1">
                          <a:latin typeface="Microsoft YaHei"/>
                        </a:defRPr>
                      </a:pPr>
                      <a:r>
                        <a:t>PVT-01</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wrap="square"/>
                    <a:lstStyle/>
                    <a:p>
                      <a:pPr>
                        <a:lnSpc>
                          <a:spcPct val="114000"/>
                        </a:lnSpc>
                      </a:pPr>
                      <a:r>
                        <a:rPr sz="860" b="1">
                          <a:solidFill>
                            <a:srgbClr val="C00000"/>
                          </a:solidFill>
                          <a:latin typeface="Microsoft YaHei"/>
                        </a:rPr>
                        <a:t>【针对 M-01 CPU 中转】
</a:t>
                      </a:r>
                      <a:r>
                        <a:rPr sz="819">
                          <a:solidFill>
                            <a:srgbClr val="1A2533"/>
                          </a:solidFill>
                          <a:latin typeface="Microsoft YaHei"/>
                        </a:rPr>
                        <a:t>数据经由 Host CPU 内存中转，总线争用大</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a:solidFill>
                            <a:srgbClr val="1A2533"/>
                          </a:solidFill>
                          <a:latin typeface="Microsoft YaHei"/>
                        </a:defRPr>
                      </a:pPr>
                      <a:r>
                        <a:t>去除 Host 内存二次拷贝中转层，正文数据通过设备级 DMA 在网络与显存间直接透传</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840">
                          <a:solidFill>
                            <a:srgbClr val="1A2533"/>
                          </a:solidFill>
                          <a:latin typeface="Microsoft YaHei"/>
                        </a:defRPr>
                      </a:pPr>
                      <a:r>
                        <a:t>URMA 原生直通驱动</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b="1">
                          <a:solidFill>
                            <a:srgbClr val="1A2533"/>
                          </a:solidFill>
                          <a:latin typeface="Microsoft YaHei"/>
                        </a:defRPr>
                      </a:pPr>
                      <a:r>
                        <a:t>规避 Host 内存带宽挤占与 CPU 中转负载，降低数据搬运耗时，缩短首字时延 (TTFT)</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430530">
                <a:tc>
                  <a:txBody>
                    <a:bodyPr/>
                    <a:lstStyle/>
                    <a:p>
                      <a:pPr algn="ctr">
                        <a:defRPr sz="919" b="1">
                          <a:latin typeface="Microsoft YaHei"/>
                        </a:defRPr>
                      </a:pPr>
                      <a:r>
                        <a:t>PVT-02</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wrap="square"/>
                    <a:lstStyle/>
                    <a:p>
                      <a:pPr>
                        <a:lnSpc>
                          <a:spcPct val="114000"/>
                        </a:lnSpc>
                      </a:pPr>
                      <a:r>
                        <a:rPr sz="860" b="1">
                          <a:solidFill>
                            <a:srgbClr val="C00000"/>
                          </a:solidFill>
                          <a:latin typeface="Microsoft YaHei"/>
                        </a:rPr>
                        <a:t>【针对 M-02/M-03 切片与控制】
</a:t>
                      </a:r>
                      <a:r>
                        <a:rPr sz="819">
                          <a:solidFill>
                            <a:srgbClr val="1A2533"/>
                          </a:solidFill>
                          <a:latin typeface="Microsoft YaHei"/>
                        </a:rPr>
                        <a:t>离散 Block 序列化长，搬运与计算串行</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a:solidFill>
                            <a:srgbClr val="1A2533"/>
                          </a:solidFill>
                          <a:latin typeface="Microsoft YaHei"/>
                        </a:defRPr>
                      </a:pPr>
                      <a:r>
                        <a:t>通过 64B Extent 贪心聚合编译离散 Block，并以 Compute/DMA 双 Stream 实现逐层异步掩盖</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840">
                          <a:solidFill>
                            <a:srgbClr val="1A2533"/>
                          </a:solidFill>
                          <a:latin typeface="Microsoft YaHei"/>
                        </a:defRPr>
                      </a:pPr>
                      <a:r>
                        <a:t>硬件 Scatter-Gather</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b="1">
                          <a:solidFill>
                            <a:srgbClr val="1A2533"/>
                          </a:solidFill>
                          <a:latin typeface="Microsoft YaHei"/>
                        </a:defRPr>
                      </a:pPr>
                      <a:r>
                        <a:t>描述符条目压缩 ≥50%，数据搬运被 NPU 计算掩盖超 90%，有效缩短首字生成等待</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430530">
                <a:tc>
                  <a:txBody>
                    <a:bodyPr/>
                    <a:lstStyle/>
                    <a:p>
                      <a:pPr algn="ctr">
                        <a:defRPr sz="919" b="1">
                          <a:latin typeface="Microsoft YaHei"/>
                        </a:defRPr>
                      </a:pPr>
                      <a:r>
                        <a:t>PVT-03</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wrap="square"/>
                    <a:lstStyle/>
                    <a:p>
                      <a:pPr>
                        <a:lnSpc>
                          <a:spcPct val="114000"/>
                        </a:lnSpc>
                      </a:pPr>
                      <a:r>
                        <a:rPr sz="860" b="1">
                          <a:solidFill>
                            <a:srgbClr val="C00000"/>
                          </a:solidFill>
                          <a:latin typeface="Microsoft YaHei"/>
                        </a:rPr>
                        <a:t>【针对 M-01/M-04 直读与防回退】
</a:t>
                      </a:r>
                      <a:r>
                        <a:rPr sz="819">
                          <a:solidFill>
                            <a:srgbClr val="1A2533"/>
                          </a:solidFill>
                          <a:latin typeface="Microsoft YaHei"/>
                        </a:rPr>
                        <a:t>盲目拷贝膨胀显存，远端失效缺乏保护</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a:solidFill>
                            <a:srgbClr val="1A2533"/>
                          </a:solidFill>
                          <a:latin typeface="Microsoft YaHei"/>
                        </a:defRPr>
                      </a:pPr>
                      <a:r>
                        <a:t>高频热块通过 UBMEM 跨节点直接远端直读，低频冷块批量拷回，配套轻量租约与 SIGBUS 安全捕获</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840">
                          <a:solidFill>
                            <a:srgbClr val="1A2533"/>
                          </a:solidFill>
                          <a:latin typeface="Microsoft YaHei"/>
                        </a:defRPr>
                      </a:pPr>
                      <a:r>
                        <a:t>UBMEM 直通 + ViewGuard</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b="1">
                          <a:solidFill>
                            <a:srgbClr val="1A2533"/>
                          </a:solidFill>
                          <a:latin typeface="Microsoft YaHei"/>
                        </a:defRPr>
                      </a:pPr>
                      <a:r>
                        <a:t>减少本地显存冗余拷贝与占用，发生远端不可用时快速回退重算，避免服务崩溃与尾部抖动</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430530">
                <a:tc>
                  <a:txBody>
                    <a:bodyPr/>
                    <a:lstStyle/>
                    <a:p>
                      <a:pPr algn="ctr">
                        <a:defRPr sz="919" b="1">
                          <a:latin typeface="Microsoft YaHei"/>
                        </a:defRPr>
                      </a:pPr>
                      <a:r>
                        <a:t>PVT-04</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wrap="square"/>
                    <a:lstStyle/>
                    <a:p>
                      <a:pPr>
                        <a:lnSpc>
                          <a:spcPct val="114000"/>
                        </a:lnSpc>
                      </a:pPr>
                      <a:r>
                        <a:rPr sz="860" b="1">
                          <a:solidFill>
                            <a:srgbClr val="C00000"/>
                          </a:solidFill>
                          <a:latin typeface="Microsoft YaHei"/>
                        </a:rPr>
                        <a:t>【针对 M-04 静态拉取反噬】
</a:t>
                      </a:r>
                      <a:r>
                        <a:rPr sz="819">
                          <a:solidFill>
                            <a:srgbClr val="1A2533"/>
                          </a:solidFill>
                          <a:latin typeface="Microsoft YaHei"/>
                        </a:rPr>
                        <a:t>静态贪婪拉取，短前缀/拥塞时拉取慢于重算</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a:solidFill>
                            <a:srgbClr val="1A2533"/>
                          </a:solidFill>
                          <a:latin typeface="Microsoft YaHei"/>
                        </a:defRPr>
                      </a:pPr>
                      <a:r>
                        <a:t>QueryPlan 实时遥测网络有效带宽与计算吞吐，微秒级评估加载 vs 重算开销并自适应决策</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840">
                          <a:solidFill>
                            <a:srgbClr val="1A2533"/>
                          </a:solidFill>
                          <a:latin typeface="Microsoft YaHei"/>
                        </a:defRPr>
                      </a:pPr>
                      <a:r>
                        <a:t>实时网络与算力遥测</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b="1">
                          <a:solidFill>
                            <a:srgbClr val="1A2533"/>
                          </a:solidFill>
                          <a:latin typeface="Microsoft YaHei"/>
                        </a:defRPr>
                      </a:pPr>
                      <a:r>
                        <a:t>在短上下文或网络拥塞时主动回退本地重算，避免拉取慢于重算引发的时延反噬与长尾抖动</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430530">
                <a:tc>
                  <a:txBody>
                    <a:bodyPr/>
                    <a:lstStyle/>
                    <a:p>
                      <a:pPr algn="ctr">
                        <a:defRPr sz="919" b="1">
                          <a:latin typeface="Microsoft YaHei"/>
                        </a:defRPr>
                      </a:pPr>
                      <a:r>
                        <a:t>PVT-05</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wrap="square"/>
                    <a:lstStyle/>
                    <a:p>
                      <a:pPr>
                        <a:lnSpc>
                          <a:spcPct val="114000"/>
                        </a:lnSpc>
                      </a:pPr>
                      <a:r>
                        <a:rPr sz="860" b="1">
                          <a:solidFill>
                            <a:srgbClr val="C00000"/>
                          </a:solidFill>
                          <a:latin typeface="Microsoft YaHei"/>
                        </a:rPr>
                        <a:t>【针对 M-01 分层拷贝开销】
</a:t>
                      </a:r>
                      <a:r>
                        <a:rPr sz="819">
                          <a:solidFill>
                            <a:srgbClr val="1A2533"/>
                          </a:solidFill>
                          <a:latin typeface="Microsoft YaHei"/>
                        </a:rPr>
                        <a:t>跨介质分层经由 Host DDR 中转，开销大</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a:solidFill>
                            <a:srgbClr val="1A2533"/>
                          </a:solidFill>
                          <a:latin typeface="Microsoft YaHei"/>
                        </a:defRPr>
                      </a:pPr>
                      <a:r>
                        <a:t>构建冷 KV Cache 异步换出流水，基于 SPDK 用户态驱动实现 NVMe SSD 与显存间 DMA 直达</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840">
                          <a:solidFill>
                            <a:srgbClr val="1A2533"/>
                          </a:solidFill>
                          <a:latin typeface="Microsoft YaHei"/>
                        </a:defRPr>
                      </a:pPr>
                      <a:r>
                        <a:t>Direct PCIe DMA / SPDK</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b="1">
                          <a:solidFill>
                            <a:srgbClr val="1A2533"/>
                          </a:solidFill>
                          <a:latin typeface="Microsoft YaHei"/>
                        </a:defRPr>
                      </a:pPr>
                      <a:r>
                        <a:t>释放高带宽显存空间，高负载下实现缓存容量有效扩容 ≥30%，大幅降低因显存不足触发的丢请求抖动</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430530">
                <a:tc>
                  <a:txBody>
                    <a:bodyPr/>
                    <a:lstStyle/>
                    <a:p>
                      <a:pPr algn="ctr">
                        <a:defRPr sz="919" b="1">
                          <a:latin typeface="Microsoft YaHei"/>
                        </a:defRPr>
                      </a:pPr>
                      <a:r>
                        <a:t>PVT-06</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wrap="square"/>
                    <a:lstStyle/>
                    <a:p>
                      <a:pPr>
                        <a:lnSpc>
                          <a:spcPct val="114000"/>
                        </a:lnSpc>
                      </a:pPr>
                      <a:r>
                        <a:rPr sz="860" b="1">
                          <a:solidFill>
                            <a:srgbClr val="C00000"/>
                          </a:solidFill>
                          <a:latin typeface="Microsoft YaHei"/>
                        </a:rPr>
                        <a:t>【针对 M-05 缺乏多卡同步】
</a:t>
                      </a:r>
                      <a:r>
                        <a:rPr sz="819">
                          <a:solidFill>
                            <a:srgbClr val="1A2533"/>
                          </a:solidFill>
                          <a:latin typeface="Microsoft YaHei"/>
                        </a:rPr>
                        <a:t>缺少 layer_id，TP=8 动作不一致诱发死锁</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a:solidFill>
                            <a:srgbClr val="1A2533"/>
                          </a:solidFill>
                          <a:latin typeface="Microsoft YaHei"/>
                        </a:defRPr>
                      </a:pPr>
                      <a:r>
                        <a:t>引入 6 维语义校验防非法读取，并在张量并行 (TP=8) 组内通过共享内存广播实现毫秒级状态一致性同步</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840">
                          <a:solidFill>
                            <a:srgbClr val="1A2533"/>
                          </a:solidFill>
                          <a:latin typeface="Microsoft YaHei"/>
                        </a:defRPr>
                      </a:pPr>
                      <a:r>
                        <a:t>POSIX 共享内存原子广播</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b="1">
                          <a:solidFill>
                            <a:srgbClr val="1A2533"/>
                          </a:solidFill>
                          <a:latin typeface="Microsoft YaHei"/>
                        </a:defRPr>
                      </a:pPr>
                      <a:r>
                        <a:t>多卡状态同步耗时 P99 &lt; 100µs，有效规避并行动作不一致引发的集合通信阻塞，保障单字生成 (TPOT) 平稳</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430530">
                <a:tc>
                  <a:txBody>
                    <a:bodyPr/>
                    <a:lstStyle/>
                    <a:p>
                      <a:pPr algn="ctr">
                        <a:defRPr sz="919" b="1">
                          <a:latin typeface="Microsoft YaHei"/>
                        </a:defRPr>
                      </a:pPr>
                      <a:r>
                        <a:t>PVT-07</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wrap="square"/>
                    <a:lstStyle/>
                    <a:p>
                      <a:pPr>
                        <a:lnSpc>
                          <a:spcPct val="114000"/>
                        </a:lnSpc>
                      </a:pPr>
                      <a:r>
                        <a:rPr sz="860" b="1">
                          <a:solidFill>
                            <a:srgbClr val="C00000"/>
                          </a:solidFill>
                          <a:latin typeface="Microsoft YaHei"/>
                        </a:rPr>
                        <a:t>【针对 M-05 缺乏 QoS 隔离】
</a:t>
                      </a:r>
                      <a:r>
                        <a:rPr sz="819">
                          <a:solidFill>
                            <a:srgbClr val="1A2533"/>
                          </a:solidFill>
                          <a:latin typeface="Microsoft YaHei"/>
                        </a:rPr>
                        <a:t>后台大流量搬运冲撞前台在线推理带宽</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a:solidFill>
                            <a:srgbClr val="1A2533"/>
                          </a:solidFill>
                          <a:latin typeface="Microsoft YaHei"/>
                        </a:defRPr>
                      </a:pPr>
                      <a:r>
                        <a:t>将前台推理与后台换出映射至底层硬件独立优先级队列 (TC0/TC1)，结合应用层微秒级自适应退避</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840">
                          <a:solidFill>
                            <a:srgbClr val="1A2533"/>
                          </a:solidFill>
                          <a:latin typeface="Microsoft YaHei"/>
                        </a:defRPr>
                      </a:pPr>
                      <a:r>
                        <a:t>硬件 QoS 优先级队列</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b="1">
                          <a:solidFill>
                            <a:srgbClr val="1A2533"/>
                          </a:solidFill>
                          <a:latin typeface="Microsoft YaHei"/>
                        </a:defRPr>
                      </a:pPr>
                      <a:r>
                        <a:t>实现前后台网络与显存带宽硬件级隔离，在后台满载 I/O 混压下将前台 TPOT 干扰率控制在 3% 以内</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430530">
                <a:tc>
                  <a:txBody>
                    <a:bodyPr/>
                    <a:lstStyle/>
                    <a:p>
                      <a:pPr algn="ctr">
                        <a:defRPr sz="919" b="1">
                          <a:latin typeface="Microsoft YaHei"/>
                        </a:defRPr>
                      </a:pPr>
                      <a:r>
                        <a:t>PVT-08</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wrap="square"/>
                    <a:lstStyle/>
                    <a:p>
                      <a:pPr>
                        <a:lnSpc>
                          <a:spcPct val="114000"/>
                        </a:lnSpc>
                      </a:pPr>
                      <a:r>
                        <a:rPr sz="860" b="1">
                          <a:solidFill>
                            <a:srgbClr val="C00000"/>
                          </a:solidFill>
                          <a:latin typeface="Microsoft YaHei"/>
                        </a:rPr>
                        <a:t>【针对 M-02 Incast 拥塞】
</a:t>
                      </a:r>
                      <a:r>
                        <a:rPr sz="819">
                          <a:solidFill>
                            <a:srgbClr val="1A2533"/>
                          </a:solidFill>
                          <a:latin typeface="Microsoft YaHei"/>
                        </a:rPr>
                        <a:t>多节点并发拉取热点引发源端打满与 Incast</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a:solidFill>
                            <a:srgbClr val="1A2533"/>
                          </a:solidFill>
                          <a:latin typeface="Microsoft YaHei"/>
                        </a:defRPr>
                      </a:pPr>
                      <a:r>
                        <a:t>在计算节点间构建应用层树状中继转发拓扑 (Staging Fanout)，分层接力广播高热共享前缀</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840">
                          <a:solidFill>
                            <a:srgbClr val="1A2533"/>
                          </a:solidFill>
                          <a:latin typeface="Microsoft YaHei"/>
                        </a:defRPr>
                      </a:pPr>
                      <a:r>
                        <a:t>纯软树状分发协议</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b="1">
                          <a:solidFill>
                            <a:srgbClr val="1A2533"/>
                          </a:solidFill>
                          <a:latin typeface="Microsoft YaHei"/>
                        </a:defRPr>
                      </a:pPr>
                      <a:r>
                        <a:t>将源端网卡出口流量削减 60%~75%，有效缓解 TOR 交换机突发拥塞 (Incast) 并降低尾部丢包率</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430530">
                <a:tc>
                  <a:txBody>
                    <a:bodyPr/>
                    <a:lstStyle/>
                    <a:p>
                      <a:pPr algn="ctr">
                        <a:defRPr sz="919" b="1">
                          <a:latin typeface="Microsoft YaHei"/>
                        </a:defRPr>
                      </a:pPr>
                      <a:r>
                        <a:t>PVT-09</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wrap="square"/>
                    <a:lstStyle/>
                    <a:p>
                      <a:pPr>
                        <a:lnSpc>
                          <a:spcPct val="114000"/>
                        </a:lnSpc>
                      </a:pPr>
                      <a:r>
                        <a:rPr sz="860" b="1">
                          <a:solidFill>
                            <a:srgbClr val="C00000"/>
                          </a:solidFill>
                          <a:latin typeface="Microsoft YaHei"/>
                        </a:rPr>
                        <a:t>【针对 M-01 软硬件双轨】
</a:t>
                      </a:r>
                      <a:r>
                        <a:rPr sz="819">
                          <a:solidFill>
                            <a:srgbClr val="1A2533"/>
                          </a:solidFill>
                          <a:latin typeface="Microsoft YaHei"/>
                        </a:rPr>
                        <a:t>加密与校验消耗大量 Host CPU 算力</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a:solidFill>
                            <a:srgbClr val="1A2533"/>
                          </a:solidFill>
                          <a:latin typeface="Microsoft YaHei"/>
                        </a:defRPr>
                      </a:pPr>
                      <a:r>
                        <a:t>正文搬运与一致性校验支持硬件卸载，同时保留 CPU 纯软基线通道以实现双轨自适应容灾降级</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840">
                          <a:solidFill>
                            <a:srgbClr val="1A2533"/>
                          </a:solidFill>
                          <a:latin typeface="Microsoft YaHei"/>
                        </a:defRPr>
                      </a:pPr>
                      <a:r>
                        <a:t>协处理器 / 纯软双轨</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b="1">
                          <a:solidFill>
                            <a:srgbClr val="1A2533"/>
                          </a:solidFill>
                          <a:latin typeface="Microsoft YaHei"/>
                        </a:defRPr>
                      </a:pPr>
                      <a:r>
                        <a:t>在支持硬件加速的环境下降低 CPU 负载 ≥30%，无专用硬件时无缝回退至纯软通路，保持功能可用</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430530">
                <a:tc>
                  <a:txBody>
                    <a:bodyPr/>
                    <a:lstStyle/>
                    <a:p>
                      <a:pPr algn="ctr">
                        <a:defRPr sz="919" b="1">
                          <a:latin typeface="Microsoft YaHei"/>
                        </a:defRPr>
                      </a:pPr>
                      <a:r>
                        <a:t>CVT-01</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wrap="square"/>
                    <a:lstStyle/>
                    <a:p>
                      <a:pPr>
                        <a:lnSpc>
                          <a:spcPct val="114000"/>
                        </a:lnSpc>
                      </a:pPr>
                      <a:r>
                        <a:rPr sz="860" b="1">
                          <a:solidFill>
                            <a:srgbClr val="C00000"/>
                          </a:solidFill>
                          <a:latin typeface="Microsoft YaHei"/>
                        </a:rPr>
                        <a:t>【针对 M-05 在线零停顿】
</a:t>
                      </a:r>
                      <a:r>
                        <a:rPr sz="819">
                          <a:solidFill>
                            <a:srgbClr val="1A2533"/>
                          </a:solidFill>
                          <a:latin typeface="Microsoft YaHei"/>
                        </a:rPr>
                        <a:t>显存碎片整理与页迁移锁死前台推理</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a:solidFill>
                            <a:srgbClr val="1A2533"/>
                          </a:solidFill>
                          <a:latin typeface="Microsoft YaHei"/>
                        </a:defRPr>
                      </a:pPr>
                      <a:r>
                        <a:t>采用读-拷贝-更新 (RCU) 与宽限期延迟释放机制，在后台显存碎片整理与跨介质迁移时维持前台无锁读取</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840">
                          <a:solidFill>
                            <a:srgbClr val="1A2533"/>
                          </a:solidFill>
                          <a:latin typeface="Microsoft YaHei"/>
                        </a:defRPr>
                      </a:pPr>
                      <a:r>
                        <a:t>软件原子指针更新机制</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4000"/>
                        </a:lnSpc>
                        <a:defRPr sz="819" b="1">
                          <a:solidFill>
                            <a:srgbClr val="1A2533"/>
                          </a:solidFill>
                          <a:latin typeface="Microsoft YaHei"/>
                        </a:defRPr>
                      </a:pPr>
                      <a:r>
                        <a:t>高并发页迁移时前台在线推理读取停顿控制在 1ms 以内，避免显存碎片整理引发单字生成卡顿毛刺</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bl>
          </a:graphicData>
        </a:graphic>
      </p:graphicFrame>
      <p:sp>
        <p:nvSpPr>
          <p:cNvPr id="6" name="Rectangle 5"/>
          <p:cNvSpPr/>
          <p:nvPr/>
        </p:nvSpPr>
        <p:spPr>
          <a:xfrm>
            <a:off x="548640" y="6327648"/>
            <a:ext cx="11091672" cy="320040"/>
          </a:xfrm>
          <a:prstGeom prst="rect">
            <a:avLst/>
          </a:prstGeom>
          <a:solidFill>
            <a:srgbClr val="2D63B8"/>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8288" bIns="18288"/>
          <a:lstStyle/>
          <a:p>
            <a:pPr algn="ctr">
              <a:defRPr sz="1100" b="1">
                <a:solidFill>
                  <a:srgbClr val="FFFFFF"/>
                </a:solidFill>
                <a:latin typeface="Microsoft YaHei"/>
              </a:defRPr>
            </a:pPr>
            <a:r>
              <a:t>核心结论：11 项优化直接靶向开源方案缺陷并深度对齐 2026 顶级系统顶会范式，以先进通信与微秒调度形成对三大指标的立体保障。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1792" y="292608"/>
            <a:ext cx="9875520" cy="438912"/>
          </a:xfrm>
          <a:prstGeom prst="rect">
            <a:avLst/>
          </a:prstGeom>
          <a:noFill/>
        </p:spPr>
        <p:txBody>
          <a:bodyPr wrap="square" lIns="0" rIns="0" tIns="0" bIns="0">
            <a:spAutoFit/>
          </a:bodyPr>
          <a:lstStyle/>
          <a:p>
            <a:pPr>
              <a:defRPr sz="2100" b="1">
                <a:solidFill>
                  <a:srgbClr val="122A49"/>
                </a:solidFill>
                <a:latin typeface="Microsoft YaHei"/>
              </a:defRPr>
            </a:pPr>
            <a:r>
              <a:t>提前验证项推进状态、硬件依赖与受阻排查总表</a:t>
            </a:r>
          </a:p>
        </p:txBody>
      </p:sp>
      <p:sp>
        <p:nvSpPr>
          <p:cNvPr id="3" name="TextBox 2"/>
          <p:cNvSpPr txBox="1"/>
          <p:nvPr/>
        </p:nvSpPr>
        <p:spPr>
          <a:xfrm>
            <a:off x="640080" y="749808"/>
            <a:ext cx="9875520" cy="274320"/>
          </a:xfrm>
          <a:prstGeom prst="rect">
            <a:avLst/>
          </a:prstGeom>
          <a:noFill/>
        </p:spPr>
        <p:txBody>
          <a:bodyPr wrap="square" lIns="0" rIns="0" tIns="0" bIns="0">
            <a:spAutoFit/>
          </a:bodyPr>
          <a:lstStyle/>
          <a:p>
            <a:pPr>
              <a:defRPr sz="1200">
                <a:solidFill>
                  <a:srgbClr val="6B7785"/>
                </a:solidFill>
                <a:latin typeface="Microsoft YaHei"/>
              </a:defRPr>
            </a:pPr>
            <a:r>
              <a:t>严格以客观证据为准绳；受阻项明确归因至物理硬件实验环境制约</a:t>
            </a:r>
          </a:p>
        </p:txBody>
      </p:sp>
      <p:sp>
        <p:nvSpPr>
          <p:cNvPr id="4" name="TextBox 3"/>
          <p:cNvSpPr txBox="1"/>
          <p:nvPr/>
        </p:nvSpPr>
        <p:spPr>
          <a:xfrm>
            <a:off x="10607040" y="320040"/>
            <a:ext cx="1005840" cy="274320"/>
          </a:xfrm>
          <a:prstGeom prst="rect">
            <a:avLst/>
          </a:prstGeom>
          <a:noFill/>
        </p:spPr>
        <p:txBody>
          <a:bodyPr wrap="none" lIns="0" rIns="0" tIns="0" bIns="0">
            <a:spAutoFit/>
          </a:bodyPr>
          <a:lstStyle/>
          <a:p>
            <a:pPr algn="r">
              <a:defRPr sz="1300" b="1">
                <a:solidFill>
                  <a:srgbClr val="6B7785"/>
                </a:solidFill>
                <a:latin typeface="Microsoft YaHei"/>
              </a:defRPr>
            </a:pPr>
            <a:r>
              <a:t>04 / 09</a:t>
            </a:r>
          </a:p>
        </p:txBody>
      </p:sp>
      <p:sp>
        <p:nvSpPr>
          <p:cNvPr id="5" name="Rounded Rectangle 4"/>
          <p:cNvSpPr/>
          <p:nvPr/>
        </p:nvSpPr>
        <p:spPr>
          <a:xfrm>
            <a:off x="548640" y="1051560"/>
            <a:ext cx="11091672" cy="320040"/>
          </a:xfrm>
          <a:prstGeom prst="roundRect">
            <a:avLst>
              <a:gd name="adj" fmla="val 2000"/>
            </a:avLst>
          </a:prstGeom>
          <a:solidFill>
            <a:srgbClr val="FFF5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078992"/>
            <a:ext cx="10817352" cy="256032"/>
          </a:xfrm>
          <a:prstGeom prst="rect">
            <a:avLst/>
          </a:prstGeom>
          <a:noFill/>
        </p:spPr>
        <p:txBody>
          <a:bodyPr wrap="none">
            <a:spAutoFit/>
          </a:bodyPr>
          <a:lstStyle/>
          <a:p>
            <a:pPr>
              <a:defRPr sz="1050" b="1">
                <a:solidFill>
                  <a:srgbClr val="122A49"/>
                </a:solidFill>
                <a:latin typeface="Microsoft YaHei"/>
              </a:defRPr>
            </a:pPr>
            <a:r>
              <a:t>【填报与审计规范】状态列统一预留空白供后续实测逐项填报；未开展项如实披露物理硬件环境瓶颈，坚决不虚报进度。</a:t>
            </a:r>
          </a:p>
        </p:txBody>
      </p:sp>
      <p:graphicFrame>
        <p:nvGraphicFramePr>
          <p:cNvPr id="7" name="Table 6"/>
          <p:cNvGraphicFramePr>
            <a:graphicFrameLocks noGrp="1"/>
          </p:cNvGraphicFramePr>
          <p:nvPr/>
        </p:nvGraphicFramePr>
        <p:xfrm>
          <a:off x="548640" y="1444752"/>
          <a:ext cx="11091672" cy="4754880"/>
        </p:xfrm>
        <a:graphic>
          <a:graphicData uri="http://schemas.openxmlformats.org/drawingml/2006/table">
            <a:tbl>
              <a:tblPr firstRow="1" bandRow="1">
                <a:tableStyleId>{5C22544A-7EE6-4342-B048-85BDC9FD1C3A}</a:tableStyleId>
              </a:tblPr>
              <a:tblGrid>
                <a:gridCol w="822960"/>
                <a:gridCol w="2011680"/>
                <a:gridCol w="2404872"/>
                <a:gridCol w="1005840"/>
                <a:gridCol w="2377440"/>
                <a:gridCol w="2468880"/>
              </a:tblGrid>
              <a:tr h="396240">
                <a:tc>
                  <a:txBody>
                    <a:bodyPr/>
                    <a:lstStyle/>
                    <a:p>
                      <a:pPr>
                        <a:defRPr sz="1000" b="1">
                          <a:solidFill>
                            <a:srgbClr val="FFFFFF"/>
                          </a:solidFill>
                          <a:latin typeface="Microsoft YaHei"/>
                        </a:defRPr>
                      </a:pPr>
                      <a:r>
                        <a:t>验证编号</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00" b="1">
                          <a:solidFill>
                            <a:srgbClr val="FFFFFF"/>
                          </a:solidFill>
                          <a:latin typeface="Microsoft YaHei"/>
                        </a:defRPr>
                      </a:pPr>
                      <a:r>
                        <a:t>待证实优化项名称</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00" b="1">
                          <a:solidFill>
                            <a:srgbClr val="FFFFFF"/>
                          </a:solidFill>
                          <a:latin typeface="Microsoft YaHei"/>
                        </a:defRPr>
                      </a:pPr>
                      <a:r>
                        <a:t>核心量化目标（待证实门槛）</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00" b="1">
                          <a:solidFill>
                            <a:srgbClr val="FFFFFF"/>
                          </a:solidFill>
                          <a:latin typeface="Microsoft YaHei"/>
                        </a:defRPr>
                      </a:pPr>
                      <a:r>
                        <a:t>当前状态</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00" b="1">
                          <a:solidFill>
                            <a:srgbClr val="FFFFFF"/>
                          </a:solidFill>
                          <a:latin typeface="Microsoft YaHei"/>
                        </a:defRPr>
                      </a:pPr>
                      <a:r>
                        <a:t>已投入手段与阶段进展</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00" b="1">
                          <a:solidFill>
                            <a:srgbClr val="FFFFFF"/>
                          </a:solidFill>
                          <a:latin typeface="Microsoft YaHei"/>
                        </a:defRPr>
                      </a:pPr>
                      <a:r>
                        <a:t>未开展或受阻瓶颈 / 硬件依赖</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396240">
                <a:tc>
                  <a:txBody>
                    <a:bodyPr/>
                    <a:lstStyle/>
                    <a:p>
                      <a:pPr algn="ctr">
                        <a:defRPr sz="919" b="1">
                          <a:solidFill>
                            <a:srgbClr val="1A2533"/>
                          </a:solidFill>
                          <a:latin typeface="Microsoft YaHei"/>
                        </a:defRPr>
                      </a:pPr>
                      <a:r>
                        <a:t>PVT-00</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Saved-Prefill 收益与通信边界</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50%复用率净收益≥拉取总开销2.0倍；UBMEM带宽≥RDMA 1.3倍</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gn="ctr">
                        <a:defRPr sz="919" b="1">
                          <a:solidFill>
                            <a:srgbClr val="2D63B8"/>
                          </a:solidFill>
                          <a:latin typeface="Microsoft YaHei"/>
                        </a:defRPr>
                      </a:pPr>
                      <a:r>
                        <a:t>[待填写]</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已在 Host 环境完成 URMA/UBMEM 基础通信基准摸底</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缺真实 NPU 算力与跨节点大模型业务流水闭环</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396240">
                <a:tc>
                  <a:txBody>
                    <a:bodyPr/>
                    <a:lstStyle/>
                    <a:p>
                      <a:pPr algn="ctr">
                        <a:defRPr sz="919" b="1">
                          <a:solidFill>
                            <a:srgbClr val="1A2533"/>
                          </a:solidFill>
                          <a:latin typeface="Microsoft YaHei"/>
                        </a:defRPr>
                      </a:pPr>
                      <a:r>
                        <a:t>PVT-01</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CPU 零数据拷贝与异构直达</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Host Payload Touch Bytes=0；CPU 利用率增量&lt;5%</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gn="ctr">
                        <a:defRPr sz="919" b="1">
                          <a:solidFill>
                            <a:srgbClr val="2D63B8"/>
                          </a:solidFill>
                          <a:latin typeface="Microsoft YaHei"/>
                        </a:defRPr>
                      </a:pPr>
                      <a:r>
                        <a:t>[待填写]</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已完成基于 Host 虚拟内存的零拷贝通道逻辑实现</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缺 NPU 底层直通驱动与设备级 DMA 硬件通路</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396240">
                <a:tc>
                  <a:txBody>
                    <a:bodyPr/>
                    <a:lstStyle/>
                    <a:p>
                      <a:pPr algn="ctr">
                        <a:defRPr sz="919" b="1">
                          <a:solidFill>
                            <a:srgbClr val="1A2533"/>
                          </a:solidFill>
                          <a:latin typeface="Microsoft YaHei"/>
                        </a:defRPr>
                      </a:pPr>
                      <a:r>
                        <a:t>PVT-02</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描述符批量编译与异步流水</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描述符压缩率≥50%；异步隐藏率≥60%；CPU提交降低≥40%</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gn="ctr">
                        <a:defRPr sz="919" b="1">
                          <a:solidFill>
                            <a:srgbClr val="2D63B8"/>
                          </a:solidFill>
                          <a:latin typeface="Microsoft YaHei"/>
                        </a:defRPr>
                      </a:pPr>
                      <a:r>
                        <a:t>[待填写]</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已完成 64B Extent 算法与双 Stream 异步 DAG 框架设计</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缺真实 NPU 计算 Stream 注入与物理通信队列协同</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396240">
                <a:tc>
                  <a:txBody>
                    <a:bodyPr/>
                    <a:lstStyle/>
                    <a:p>
                      <a:pPr algn="ctr">
                        <a:defRPr sz="919" b="1">
                          <a:solidFill>
                            <a:srgbClr val="1A2533"/>
                          </a:solidFill>
                          <a:latin typeface="Microsoft YaHei"/>
                        </a:defRPr>
                      </a:pPr>
                      <a:r>
                        <a:t>PVT-03</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远端直读/本地显存拷贝与守卫</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复用频次R&gt;2用Copy-to-HBM；SIGBUS 异常安全回退&lt;1ms</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gn="ctr">
                        <a:defRPr sz="919" b="1">
                          <a:solidFill>
                            <a:srgbClr val="2D63B8"/>
                          </a:solidFill>
                          <a:latin typeface="Microsoft YaHei"/>
                        </a:defRPr>
                      </a:pPr>
                      <a:r>
                        <a:t>[待填写]</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已完成 Direct-View 逻辑与信号捕获异常处理原型</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缺跨节点远端物理 HBM 映射与设备硬件直读环境</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396240">
                <a:tc>
                  <a:txBody>
                    <a:bodyPr/>
                    <a:lstStyle/>
                    <a:p>
                      <a:pPr algn="ctr">
                        <a:defRPr sz="919" b="1">
                          <a:solidFill>
                            <a:srgbClr val="1A2533"/>
                          </a:solidFill>
                          <a:latin typeface="Microsoft YaHei"/>
                        </a:defRPr>
                      </a:pPr>
                      <a:r>
                        <a:t>PVT-04</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微秒级动态选路与成本预估</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选路决策 P99&lt;5µs；选路准确率≥90%；负收益率&lt;1%</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gn="ctr">
                        <a:defRPr sz="919" b="1">
                          <a:solidFill>
                            <a:srgbClr val="2D63B8"/>
                          </a:solidFill>
                          <a:latin typeface="Microsoft YaHei"/>
                        </a:defRPr>
                      </a:pPr>
                      <a:r>
                        <a:t>[待填写]</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已建立微秒级选路算法与静态参数决策仿真模型</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缺乏高并发在线业务流量驱动与实时算力遥测反馈</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396240">
                <a:tc>
                  <a:txBody>
                    <a:bodyPr/>
                    <a:lstStyle/>
                    <a:p>
                      <a:pPr algn="ctr">
                        <a:defRPr sz="919" b="1">
                          <a:solidFill>
                            <a:srgbClr val="1A2533"/>
                          </a:solidFill>
                          <a:latin typeface="Microsoft YaHei"/>
                        </a:defRPr>
                      </a:pPr>
                      <a:r>
                        <a:t>PVT-05</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HBM-SSD 直达分层容量扩展</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150%超载容量提升≥30%；OOM 降低≥50%；SSD吞吐≥峰值80%</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gn="ctr">
                        <a:defRPr sz="919" b="1">
                          <a:solidFill>
                            <a:srgbClr val="2D63B8"/>
                          </a:solidFill>
                          <a:latin typeface="Microsoft YaHei"/>
                        </a:defRPr>
                      </a:pPr>
                      <a:r>
                        <a:t>[待填写]</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已完成分层块分配器 (TierBlockAllocator) 逻辑代码</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缺物理 NVMe SSD 与 NPU HBM 间 Direct PCIe 通路</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396240">
                <a:tc>
                  <a:txBody>
                    <a:bodyPr/>
                    <a:lstStyle/>
                    <a:p>
                      <a:pPr algn="ctr">
                        <a:defRPr sz="919" b="1">
                          <a:solidFill>
                            <a:srgbClr val="1A2533"/>
                          </a:solidFill>
                          <a:latin typeface="Microsoft YaHei"/>
                        </a:defRPr>
                      </a:pPr>
                      <a:r>
                        <a:t>PVT-06</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语义一致性校验与 TP=8 同步</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8类冲突拦截率100%；多卡状态同步 P99&lt;100µs</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gn="ctr">
                        <a:defRPr sz="919" b="1">
                          <a:solidFill>
                            <a:srgbClr val="2D63B8"/>
                          </a:solidFill>
                          <a:latin typeface="Microsoft YaHei"/>
                        </a:defRPr>
                      </a:pPr>
                      <a:r>
                        <a:t>[待填写]</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已完成 6 维语义结构体设计与本地共享内存原型测试</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缺 8 卡真实 NPU 服务器环境，未运行真实张量并行任务</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396240">
                <a:tc>
                  <a:txBody>
                    <a:bodyPr/>
                    <a:lstStyle/>
                    <a:p>
                      <a:pPr algn="ctr">
                        <a:defRPr sz="919" b="1">
                          <a:solidFill>
                            <a:srgbClr val="1A2533"/>
                          </a:solidFill>
                          <a:latin typeface="Microsoft YaHei"/>
                        </a:defRPr>
                      </a:pPr>
                      <a:r>
                        <a:t>PVT-07</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混压 QoS 与端到端时延保障</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TTFT 降低≥20%；QPS 提升≥10%；前台 TPOT 干扰&lt;3%</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gn="ctr">
                        <a:defRPr sz="919" b="1">
                          <a:solidFill>
                            <a:srgbClr val="2D63B8"/>
                          </a:solidFill>
                          <a:latin typeface="Microsoft YaHei"/>
                        </a:defRPr>
                      </a:pPr>
                      <a:r>
                        <a:t>[待填写]</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已在单机软件环境完成 QoS 优先级标记与退避逻辑验证</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缺双节点真实 RoCE/URMA 硬件优先级队列交换机环境</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396240">
                <a:tc>
                  <a:txBody>
                    <a:bodyPr/>
                    <a:lstStyle/>
                    <a:p>
                      <a:pPr algn="ctr">
                        <a:defRPr sz="919" b="1">
                          <a:solidFill>
                            <a:srgbClr val="1A2533"/>
                          </a:solidFill>
                          <a:latin typeface="Microsoft YaHei"/>
                        </a:defRPr>
                      </a:pPr>
                      <a:r>
                        <a:t>PVT-08</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软件分层中继分发降低源端带宽</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1-to-8 源端出口带宽节省≥60%；广播传输耗时降低≥40%</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gn="ctr">
                        <a:defRPr sz="919" b="1">
                          <a:solidFill>
                            <a:srgbClr val="2D63B8"/>
                          </a:solidFill>
                          <a:latin typeface="Microsoft YaHei"/>
                        </a:defRPr>
                      </a:pPr>
                      <a:r>
                        <a:t>[待填写]</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已完成树状中继转发拓扑与分片逻辑软件仿真</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缺真实多计算节点物理组网与物理网卡计数器采集</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396240">
                <a:tc>
                  <a:txBody>
                    <a:bodyPr/>
                    <a:lstStyle/>
                    <a:p>
                      <a:pPr algn="ctr">
                        <a:defRPr sz="919" b="1">
                          <a:solidFill>
                            <a:srgbClr val="1A2533"/>
                          </a:solidFill>
                          <a:latin typeface="Microsoft YaHei"/>
                        </a:defRPr>
                      </a:pPr>
                      <a:r>
                        <a:t>PVT-09</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安全传输硬件卸载与纯软降级</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硬件卸载降低 CPU 占用≥30%；纯软双轨平滑回退&lt;500µs</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gn="ctr">
                        <a:defRPr sz="919" b="1">
                          <a:solidFill>
                            <a:srgbClr val="2D63B8"/>
                          </a:solidFill>
                          <a:latin typeface="Microsoft YaHei"/>
                        </a:defRPr>
                      </a:pPr>
                      <a:r>
                        <a:t>[待填写]</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已设计硬件卸载抽象接口与纯软双轨平滑切换脚本</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缺乏专用硬件卸载协处理器物理加速卡</a:t>
                      </a:r>
                    </a:p>
                  </a:txBody>
                  <a:tcPr marL="54864" marR="54864" marT="18288" marB="18288">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396240">
                <a:tc>
                  <a:txBody>
                    <a:bodyPr/>
                    <a:lstStyle/>
                    <a:p>
                      <a:pPr algn="ctr">
                        <a:defRPr sz="919" b="1">
                          <a:solidFill>
                            <a:srgbClr val="1A2533"/>
                          </a:solidFill>
                          <a:latin typeface="Microsoft YaHei"/>
                        </a:defRPr>
                      </a:pPr>
                      <a:r>
                        <a:t>CVT-01</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软件 RCU 页迁移与去硬件依赖</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32 并发 Reader 迁移前台停顿&lt;1ms；P99 抖动&lt;50µs</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gn="ctr">
                        <a:defRPr sz="919" b="1">
                          <a:solidFill>
                            <a:srgbClr val="2D63B8"/>
                          </a:solidFill>
                          <a:latin typeface="Microsoft YaHei"/>
                        </a:defRPr>
                      </a:pPr>
                      <a:r>
                        <a:t>[待填写]</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已完成无锁读与宽限期释放 RCU 算法原型验证</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919">
                          <a:solidFill>
                            <a:srgbClr val="1A2533"/>
                          </a:solidFill>
                          <a:latin typeface="Microsoft YaHei"/>
                        </a:defRPr>
                      </a:pPr>
                      <a:r>
                        <a:t>缺高并发前台 Reader 线程对真实物理显存块的压测环境</a:t>
                      </a:r>
                    </a:p>
                  </a:txBody>
                  <a:tcPr marL="54864" marR="54864" marT="18288" marB="18288">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bl>
          </a:graphicData>
        </a:graphic>
      </p:graphicFrame>
      <p:sp>
        <p:nvSpPr>
          <p:cNvPr id="8" name="Rectangle 7"/>
          <p:cNvSpPr/>
          <p:nvPr/>
        </p:nvSpPr>
        <p:spPr>
          <a:xfrm>
            <a:off x="548640" y="6327648"/>
            <a:ext cx="11091672" cy="320040"/>
          </a:xfrm>
          <a:prstGeom prst="rect">
            <a:avLst/>
          </a:prstGeom>
          <a:solidFill>
            <a:srgbClr val="2D63B8"/>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8288" bIns="18288"/>
          <a:lstStyle/>
          <a:p>
            <a:pPr algn="ctr">
              <a:defRPr sz="1100" b="1">
                <a:solidFill>
                  <a:srgbClr val="FFFFFF"/>
                </a:solidFill>
                <a:latin typeface="Microsoft YaHei"/>
              </a:defRPr>
            </a:pPr>
            <a:r>
              <a:t>核心结论：当前主要受阻瓶颈在于缺乏物理计算卡与多节点集群；保持状态留白并如实呈现硬件缺口，是严谨推进的前提。</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1792" y="292608"/>
            <a:ext cx="9875520" cy="438912"/>
          </a:xfrm>
          <a:prstGeom prst="rect">
            <a:avLst/>
          </a:prstGeom>
          <a:noFill/>
        </p:spPr>
        <p:txBody>
          <a:bodyPr wrap="square" lIns="0" rIns="0" tIns="0" bIns="0">
            <a:spAutoFit/>
          </a:bodyPr>
          <a:lstStyle/>
          <a:p>
            <a:pPr>
              <a:defRPr sz="2100" b="1">
                <a:solidFill>
                  <a:srgbClr val="122A49"/>
                </a:solidFill>
                <a:latin typeface="Microsoft YaHei"/>
              </a:defRPr>
            </a:pPr>
            <a:r>
              <a:t>阶段性关键技术优化成果与规范化记录模板</a:t>
            </a:r>
          </a:p>
        </p:txBody>
      </p:sp>
      <p:sp>
        <p:nvSpPr>
          <p:cNvPr id="3" name="TextBox 2"/>
          <p:cNvSpPr txBox="1"/>
          <p:nvPr/>
        </p:nvSpPr>
        <p:spPr>
          <a:xfrm>
            <a:off x="640080" y="749808"/>
            <a:ext cx="9875520" cy="274320"/>
          </a:xfrm>
          <a:prstGeom prst="rect">
            <a:avLst/>
          </a:prstGeom>
          <a:noFill/>
        </p:spPr>
        <p:txBody>
          <a:bodyPr wrap="square" lIns="0" rIns="0" tIns="0" bIns="0">
            <a:spAutoFit/>
          </a:bodyPr>
          <a:lstStyle/>
          <a:p>
            <a:pPr>
              <a:defRPr sz="1200">
                <a:solidFill>
                  <a:srgbClr val="6B7785"/>
                </a:solidFill>
                <a:latin typeface="Microsoft YaHei"/>
              </a:defRPr>
            </a:pPr>
            <a:r>
              <a:t>控制面元数据加速已取得显著成效，数据面正文通道优化正在紧密推进中</a:t>
            </a:r>
          </a:p>
        </p:txBody>
      </p:sp>
      <p:sp>
        <p:nvSpPr>
          <p:cNvPr id="4" name="TextBox 3"/>
          <p:cNvSpPr txBox="1"/>
          <p:nvPr/>
        </p:nvSpPr>
        <p:spPr>
          <a:xfrm>
            <a:off x="10607040" y="320040"/>
            <a:ext cx="1005840" cy="274320"/>
          </a:xfrm>
          <a:prstGeom prst="rect">
            <a:avLst/>
          </a:prstGeom>
          <a:noFill/>
        </p:spPr>
        <p:txBody>
          <a:bodyPr wrap="none" lIns="0" rIns="0" tIns="0" bIns="0">
            <a:spAutoFit/>
          </a:bodyPr>
          <a:lstStyle/>
          <a:p>
            <a:pPr algn="r">
              <a:defRPr sz="1300" b="1">
                <a:solidFill>
                  <a:srgbClr val="6B7785"/>
                </a:solidFill>
                <a:latin typeface="Microsoft YaHei"/>
              </a:defRPr>
            </a:pPr>
            <a:r>
              <a:t>05 / 09</a:t>
            </a:r>
          </a:p>
        </p:txBody>
      </p:sp>
      <p:sp>
        <p:nvSpPr>
          <p:cNvPr id="5" name="Rounded Rectangle 4"/>
          <p:cNvSpPr/>
          <p:nvPr/>
        </p:nvSpPr>
        <p:spPr>
          <a:xfrm>
            <a:off x="548640" y="1051560"/>
            <a:ext cx="5394960" cy="2148840"/>
          </a:xfrm>
          <a:prstGeom prst="roundRect">
            <a:avLst>
              <a:gd name="adj" fmla="val 2000"/>
            </a:avLst>
          </a:prstGeom>
          <a:solidFill>
            <a:srgbClr val="EA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24712"/>
            <a:ext cx="5120640" cy="2002536"/>
          </a:xfrm>
          <a:prstGeom prst="rect">
            <a:avLst/>
          </a:prstGeom>
          <a:noFill/>
        </p:spPr>
        <p:txBody>
          <a:bodyPr wrap="square" lIns="0" rIns="0" tIns="0" bIns="0">
            <a:spAutoFit/>
          </a:bodyPr>
          <a:lstStyle/>
          <a:p>
            <a:pPr>
              <a:defRPr sz="1180" b="1">
                <a:solidFill>
                  <a:srgbClr val="122A49"/>
                </a:solidFill>
                <a:latin typeface="Microsoft YaHei"/>
              </a:defRPr>
            </a:pPr>
            <a:r>
              <a:t>【已完成】成果一：PVT-00 通信协议加速与收益边界探明</a:t>
            </a:r>
          </a:p>
          <a:p>
            <a:pPr>
              <a:lnSpc>
                <a:spcPct val="118000"/>
              </a:lnSpc>
              <a:spcBef>
                <a:spcPts val="400"/>
              </a:spcBef>
            </a:pPr>
            <a:r>
              <a:rPr sz="919" b="1">
                <a:solidFill>
                  <a:srgbClr val="122A49"/>
                </a:solidFill>
                <a:latin typeface="Microsoft YaHei"/>
              </a:rPr>
              <a:t>• 优化手段： </a:t>
            </a:r>
            <a:r>
              <a:rPr sz="900">
                <a:solidFill>
                  <a:srgbClr val="1A2533"/>
                </a:solidFill>
                <a:latin typeface="Microsoft YaHei"/>
              </a:rPr>
              <a:t>利用原厂 UBMEM / URMA 高速直通通信协议重构传输基准。</a:t>
            </a:r>
          </a:p>
          <a:p>
            <a:pPr>
              <a:lnSpc>
                <a:spcPct val="118000"/>
              </a:lnSpc>
              <a:spcBef>
                <a:spcPts val="400"/>
              </a:spcBef>
            </a:pPr>
            <a:r>
              <a:rPr sz="919" b="1">
                <a:solidFill>
                  <a:srgbClr val="122A49"/>
                </a:solidFill>
                <a:latin typeface="Microsoft YaHei"/>
              </a:rPr>
              <a:t>• 对照基线： </a:t>
            </a:r>
            <a:r>
              <a:rPr sz="900">
                <a:solidFill>
                  <a:srgbClr val="1A2533"/>
                </a:solidFill>
                <a:latin typeface="Microsoft YaHei"/>
              </a:rPr>
              <a:t>以传统标准 RDMA 通信栈及 Host 内存中转为基线对比。</a:t>
            </a:r>
          </a:p>
          <a:p>
            <a:pPr>
              <a:lnSpc>
                <a:spcPct val="118000"/>
              </a:lnSpc>
              <a:spcBef>
                <a:spcPts val="400"/>
              </a:spcBef>
            </a:pPr>
            <a:r>
              <a:rPr sz="919" b="1">
                <a:solidFill>
                  <a:srgbClr val="122A49"/>
                </a:solidFill>
                <a:latin typeface="Microsoft YaHei"/>
              </a:rPr>
              <a:t>• 实测验证： </a:t>
            </a:r>
            <a:r>
              <a:rPr sz="900">
                <a:solidFill>
                  <a:srgbClr val="1A2533"/>
                </a:solidFill>
                <a:latin typeface="Microsoft YaHei"/>
              </a:rPr>
              <a:t>在 Host 通信环境中探明了 50% 前缀复用率下的协议加速临界点，验证了 UBMEM 在吞吐与传输时延上较标准 RDMA 的显著优势。</a:t>
            </a:r>
          </a:p>
          <a:p>
            <a:pPr>
              <a:lnSpc>
                <a:spcPct val="118000"/>
              </a:lnSpc>
              <a:spcBef>
                <a:spcPts val="400"/>
              </a:spcBef>
            </a:pPr>
            <a:r>
              <a:rPr sz="919" b="1">
                <a:solidFill>
                  <a:srgbClr val="122A49"/>
                </a:solidFill>
                <a:latin typeface="Microsoft YaHei"/>
              </a:rPr>
              <a:t>• 业务价值： </a:t>
            </a:r>
            <a:r>
              <a:rPr sz="900">
                <a:solidFill>
                  <a:srgbClr val="1A2533"/>
                </a:solidFill>
                <a:latin typeface="Microsoft YaHei"/>
              </a:rPr>
              <a:t>探明前缀复用净收益边界，证实了通过协议重构大幅降低 TTFT 的可行性。</a:t>
            </a:r>
          </a:p>
        </p:txBody>
      </p:sp>
      <p:sp>
        <p:nvSpPr>
          <p:cNvPr id="7" name="Rounded Rectangle 6"/>
          <p:cNvSpPr/>
          <p:nvPr/>
        </p:nvSpPr>
        <p:spPr>
          <a:xfrm>
            <a:off x="6245352" y="1051560"/>
            <a:ext cx="5394960" cy="2148840"/>
          </a:xfrm>
          <a:prstGeom prst="roundRect">
            <a:avLst>
              <a:gd name="adj" fmla="val 2000"/>
            </a:avLst>
          </a:prstGeom>
          <a:solidFill>
            <a:srgbClr val="E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82512" y="1124712"/>
            <a:ext cx="5120640" cy="2002536"/>
          </a:xfrm>
          <a:prstGeom prst="rect">
            <a:avLst/>
          </a:prstGeom>
          <a:noFill/>
        </p:spPr>
        <p:txBody>
          <a:bodyPr wrap="square" lIns="0" rIns="0" tIns="0" bIns="0">
            <a:spAutoFit/>
          </a:bodyPr>
          <a:lstStyle/>
          <a:p>
            <a:pPr>
              <a:defRPr sz="1180" b="1">
                <a:solidFill>
                  <a:srgbClr val="2D63B8"/>
                </a:solidFill>
                <a:latin typeface="Microsoft YaHei"/>
              </a:defRPr>
            </a:pPr>
            <a:r>
              <a:t>【阶段成果】成果二：基于 UB 技术的元数据处理与前缀匹配加速</a:t>
            </a:r>
          </a:p>
          <a:p>
            <a:pPr>
              <a:lnSpc>
                <a:spcPct val="118000"/>
              </a:lnSpc>
              <a:spcBef>
                <a:spcPts val="360"/>
              </a:spcBef>
            </a:pPr>
            <a:r>
              <a:rPr sz="900" b="1">
                <a:solidFill>
                  <a:srgbClr val="2D63B8"/>
                </a:solidFill>
                <a:latin typeface="Microsoft YaHei"/>
              </a:rPr>
              <a:t>• 针对指标： </a:t>
            </a:r>
            <a:r>
              <a:rPr sz="880">
                <a:solidFill>
                  <a:srgbClr val="1A2533"/>
                </a:solidFill>
                <a:latin typeface="Microsoft YaHei"/>
              </a:rPr>
              <a:t>在线推理 TTFT（大幅压缩首字生成前置控制耗时）与控制面抖动。</a:t>
            </a:r>
          </a:p>
          <a:p>
            <a:pPr>
              <a:lnSpc>
                <a:spcPct val="118000"/>
              </a:lnSpc>
              <a:spcBef>
                <a:spcPts val="360"/>
              </a:spcBef>
            </a:pPr>
            <a:r>
              <a:rPr sz="900" b="1">
                <a:solidFill>
                  <a:srgbClr val="2D63B8"/>
                </a:solidFill>
                <a:latin typeface="Microsoft YaHei"/>
              </a:rPr>
              <a:t>• 攻坚重点： </a:t>
            </a:r>
            <a:r>
              <a:rPr sz="880">
                <a:solidFill>
                  <a:srgbClr val="1A2533"/>
                </a:solidFill>
                <a:latin typeface="Microsoft YaHei"/>
              </a:rPr>
              <a:t>针对 Beluga 测得细粒度 RDMA 同步开销高、及 FORGE 揭示的同步放大超 20 倍痛点，利用统一总线技术 (UB) 直通共享内存加速前缀表检索与元数据流转。</a:t>
            </a:r>
          </a:p>
          <a:p>
            <a:pPr>
              <a:lnSpc>
                <a:spcPct val="118000"/>
              </a:lnSpc>
              <a:spcBef>
                <a:spcPts val="360"/>
              </a:spcBef>
            </a:pPr>
            <a:r>
              <a:rPr sz="900" b="1">
                <a:solidFill>
                  <a:srgbClr val="2D63B8"/>
                </a:solidFill>
                <a:latin typeface="Microsoft YaHei"/>
              </a:rPr>
              <a:t>• 对照基线： </a:t>
            </a:r>
            <a:r>
              <a:rPr sz="880">
                <a:solidFill>
                  <a:srgbClr val="1A2533"/>
                </a:solidFill>
                <a:latin typeface="Microsoft YaHei"/>
              </a:rPr>
              <a:t>Mooncake 原生基于标准 RDMA 的元数据处理与前缀匹配表检索链路。</a:t>
            </a:r>
          </a:p>
          <a:p>
            <a:pPr>
              <a:lnSpc>
                <a:spcPct val="118000"/>
              </a:lnSpc>
              <a:spcBef>
                <a:spcPts val="360"/>
              </a:spcBef>
            </a:pPr>
            <a:r>
              <a:rPr sz="900" b="1">
                <a:solidFill>
                  <a:srgbClr val="2D63B8"/>
                </a:solidFill>
                <a:latin typeface="Microsoft YaHei"/>
              </a:rPr>
              <a:t>• 实测表现： </a:t>
            </a:r>
            <a:r>
              <a:rPr sz="880">
                <a:solidFill>
                  <a:srgbClr val="1A2533"/>
                </a:solidFill>
                <a:latin typeface="Microsoft YaHei"/>
              </a:rPr>
              <a:t>前缀匹配表检索性能提升 30% 以上，有效缩减首字生成前置等待时间。</a:t>
            </a:r>
          </a:p>
          <a:p>
            <a:pPr>
              <a:lnSpc>
                <a:spcPct val="118000"/>
              </a:lnSpc>
              <a:spcBef>
                <a:spcPts val="360"/>
              </a:spcBef>
            </a:pPr>
            <a:r>
              <a:rPr sz="900" b="1">
                <a:solidFill>
                  <a:srgbClr val="2D63B8"/>
                </a:solidFill>
                <a:latin typeface="Microsoft YaHei"/>
              </a:rPr>
              <a:t>• 数据面协同： </a:t>
            </a:r>
            <a:r>
              <a:rPr sz="880">
                <a:solidFill>
                  <a:srgbClr val="1A2533"/>
                </a:solidFill>
                <a:latin typeface="Microsoft YaHei"/>
              </a:rPr>
              <a:t>控制面加速成效明确，正文数据面直通通道与吞吐压测正同步推进中。</a:t>
            </a:r>
          </a:p>
        </p:txBody>
      </p:sp>
      <p:graphicFrame>
        <p:nvGraphicFramePr>
          <p:cNvPr id="9" name="Table 8"/>
          <p:cNvGraphicFramePr>
            <a:graphicFrameLocks noGrp="1"/>
          </p:cNvGraphicFramePr>
          <p:nvPr/>
        </p:nvGraphicFramePr>
        <p:xfrm>
          <a:off x="548640" y="3291840"/>
          <a:ext cx="11091671" cy="2880360"/>
        </p:xfrm>
        <a:graphic>
          <a:graphicData uri="http://schemas.openxmlformats.org/drawingml/2006/table">
            <a:tbl>
              <a:tblPr firstRow="1" bandRow="1">
                <a:tableStyleId>{5C22544A-7EE6-4342-B048-85BDC9FD1C3A}</a:tableStyleId>
              </a:tblPr>
              <a:tblGrid>
                <a:gridCol w="777240"/>
                <a:gridCol w="1188720"/>
                <a:gridCol w="2743200"/>
                <a:gridCol w="2011680"/>
                <a:gridCol w="2084831"/>
                <a:gridCol w="2286000"/>
              </a:tblGrid>
              <a:tr h="576072">
                <a:tc>
                  <a:txBody>
                    <a:bodyPr/>
                    <a:lstStyle/>
                    <a:p>
                      <a:pPr>
                        <a:defRPr sz="1050" b="1">
                          <a:solidFill>
                            <a:srgbClr val="FFFFFF"/>
                          </a:solidFill>
                          <a:latin typeface="Microsoft YaHei"/>
                        </a:defRPr>
                      </a:pPr>
                      <a:r>
                        <a:t>成果编号</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针对核心指标</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优化手段与关键技术</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对照基线</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实测表现 / 提升幅度</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defRPr sz="1050" b="1">
                          <a:solidFill>
                            <a:srgbClr val="FFFFFF"/>
                          </a:solidFill>
                          <a:latin typeface="Microsoft YaHei"/>
                        </a:defRPr>
                      </a:pPr>
                      <a:r>
                        <a:t>当前状态与证据路径</a:t>
                      </a:r>
                    </a:p>
                  </a:txBody>
                  <a:tcPr marL="54864" marR="54864" marT="27432" marB="27432">
                    <a:solidFill>
                      <a:srgbClr val="122A49"/>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576072">
                <a:tc>
                  <a:txBody>
                    <a:bodyPr/>
                    <a:lstStyle/>
                    <a:p>
                      <a:pPr algn="ctr">
                        <a:lnSpc>
                          <a:spcPct val="115000"/>
                        </a:lnSpc>
                        <a:defRPr sz="950" b="1">
                          <a:solidFill>
                            <a:srgbClr val="1A2533"/>
                          </a:solidFill>
                          <a:latin typeface="Microsoft YaHei"/>
                        </a:defRPr>
                      </a:pPr>
                      <a:r>
                        <a:t>O-01</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TTFT / 传输带宽</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PVT-00 UBMEM/URMA 高速直通通信协议栈摸底</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通用 RDMA 通信基准与 Host 内存中转</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探明 50% 复用下收益边界，带宽提升明显</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已完成（Host 通信日志与带宽基准）</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576072">
                <a:tc>
                  <a:txBody>
                    <a:bodyPr/>
                    <a:lstStyle/>
                    <a:p>
                      <a:pPr algn="ctr">
                        <a:lnSpc>
                          <a:spcPct val="115000"/>
                        </a:lnSpc>
                        <a:defRPr sz="950" b="1">
                          <a:solidFill>
                            <a:srgbClr val="1A2533"/>
                          </a:solidFill>
                          <a:latin typeface="Microsoft YaHei"/>
                        </a:defRPr>
                      </a:pPr>
                      <a:r>
                        <a:t>O-02</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TTFT（首字时延）</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基于 UB 技术重构元数据处理与前缀匹配表检索</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Mooncake 原生基于 RDMA 的元数据处理链路</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b="1">
                          <a:solidFill>
                            <a:srgbClr val="2D63B8"/>
                          </a:solidFill>
                          <a:latin typeface="Microsoft YaHei"/>
                        </a:defRPr>
                      </a:pPr>
                      <a:r>
                        <a:t>前缀匹配表检索性能提升 30% 以上</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已完成（微基准实测，数据面推进中）</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576072">
                <a:tc>
                  <a:txBody>
                    <a:bodyPr/>
                    <a:lstStyle/>
                    <a:p>
                      <a:pPr algn="ctr">
                        <a:lnSpc>
                          <a:spcPct val="115000"/>
                        </a:lnSpc>
                        <a:defRPr sz="950" b="1">
                          <a:solidFill>
                            <a:srgbClr val="1A2533"/>
                          </a:solidFill>
                          <a:latin typeface="Microsoft YaHei"/>
                        </a:defRPr>
                      </a:pPr>
                      <a:r>
                        <a:t>O-03</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[待填写]</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[规范模板：待补充具体优化手段与算法]</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[规范模板：明确对照基线版本]</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[待填写：写清量化提升与统计分位]</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[待填写：补充原始日志或测试路径]</a:t>
                      </a:r>
                    </a:p>
                  </a:txBody>
                  <a:tcPr marL="54864" marR="54864" marT="27432" marB="27432">
                    <a:solidFill>
                      <a:srgbClr val="FFFF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r h="576072">
                <a:tc>
                  <a:txBody>
                    <a:bodyPr/>
                    <a:lstStyle/>
                    <a:p>
                      <a:pPr algn="ctr">
                        <a:lnSpc>
                          <a:spcPct val="115000"/>
                        </a:lnSpc>
                        <a:defRPr sz="950" b="1">
                          <a:solidFill>
                            <a:srgbClr val="1A2533"/>
                          </a:solidFill>
                          <a:latin typeface="Microsoft YaHei"/>
                        </a:defRPr>
                      </a:pPr>
                      <a:r>
                        <a:t>O-04</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[待填写]</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[规范模板：待补充具体优化手段与算法]</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[规范模板：明确对照基线版本]</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[待填写：写清量化提升与统计分位]</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c>
                  <a:txBody>
                    <a:bodyPr/>
                    <a:lstStyle/>
                    <a:p>
                      <a:pPr>
                        <a:lnSpc>
                          <a:spcPct val="115000"/>
                        </a:lnSpc>
                        <a:defRPr sz="950">
                          <a:solidFill>
                            <a:srgbClr val="1A2533"/>
                          </a:solidFill>
                          <a:latin typeface="Microsoft YaHei"/>
                        </a:defRPr>
                      </a:pPr>
                      <a:r>
                        <a:t>[待填写：补充原始日志或测试路径]</a:t>
                      </a:r>
                    </a:p>
                  </a:txBody>
                  <a:tcPr marL="54864" marR="54864" marT="27432" marB="27432">
                    <a:solidFill>
                      <a:srgbClr val="EAF3FF"/>
                    </a:solidFill>
                    <a:lnL w="12700" cmpd="s">
                      <a:solidFill>
                        <a:srgbClr val="C9D6E5"/>
                      </a:solidFill>
                    </a:lnL>
                    <a:lnR w="12700" cmpd="s">
                      <a:solidFill>
                        <a:srgbClr val="C9D6E5"/>
                      </a:solidFill>
                    </a:lnR>
                    <a:lnT w="12700" cmpd="s">
                      <a:solidFill>
                        <a:srgbClr val="C9D6E5"/>
                      </a:solidFill>
                    </a:lnT>
                    <a:lnB w="12700" cmpd="s">
                      <a:solidFill>
                        <a:srgbClr val="C9D6E5"/>
                      </a:solidFill>
                    </a:lnB>
                  </a:tcPr>
                </a:tc>
              </a:tr>
            </a:tbl>
          </a:graphicData>
        </a:graphic>
      </p:graphicFrame>
      <p:sp>
        <p:nvSpPr>
          <p:cNvPr id="10" name="Rectangle 9"/>
          <p:cNvSpPr/>
          <p:nvPr/>
        </p:nvSpPr>
        <p:spPr>
          <a:xfrm>
            <a:off x="548640" y="6327648"/>
            <a:ext cx="11091672" cy="320040"/>
          </a:xfrm>
          <a:prstGeom prst="rect">
            <a:avLst/>
          </a:prstGeom>
          <a:solidFill>
            <a:srgbClr val="2D63B8"/>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8288" bIns="18288"/>
          <a:lstStyle/>
          <a:p>
            <a:pPr algn="ctr">
              <a:defRPr sz="1100" b="1">
                <a:solidFill>
                  <a:srgbClr val="FFFFFF"/>
                </a:solidFill>
                <a:latin typeface="Microsoft YaHei"/>
              </a:defRPr>
            </a:pPr>
            <a:r>
              <a:t>核心结论：控制面元数据加速已率先实现 &gt;30% 检索性能提升；后续成果将严格按此规范模板补充可比基线与原始测试闭环。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1792" y="292608"/>
            <a:ext cx="9875520" cy="438912"/>
          </a:xfrm>
          <a:prstGeom prst="rect">
            <a:avLst/>
          </a:prstGeom>
          <a:noFill/>
        </p:spPr>
        <p:txBody>
          <a:bodyPr wrap="square" lIns="0" rIns="0" tIns="0" bIns="0">
            <a:spAutoFit/>
          </a:bodyPr>
          <a:lstStyle/>
          <a:p>
            <a:pPr>
              <a:defRPr sz="2100" b="1">
                <a:solidFill>
                  <a:srgbClr val="122A49"/>
                </a:solidFill>
                <a:latin typeface="Microsoft YaHei"/>
              </a:defRPr>
            </a:pPr>
            <a:r>
              <a:t>元数据处理时延优化的价值场景建模与理论性能推导</a:t>
            </a:r>
          </a:p>
        </p:txBody>
      </p:sp>
      <p:sp>
        <p:nvSpPr>
          <p:cNvPr id="3" name="TextBox 2"/>
          <p:cNvSpPr txBox="1"/>
          <p:nvPr/>
        </p:nvSpPr>
        <p:spPr>
          <a:xfrm>
            <a:off x="640080" y="749808"/>
            <a:ext cx="9875520" cy="274320"/>
          </a:xfrm>
          <a:prstGeom prst="rect">
            <a:avLst/>
          </a:prstGeom>
          <a:noFill/>
        </p:spPr>
        <p:txBody>
          <a:bodyPr wrap="square" lIns="0" rIns="0" tIns="0" bIns="0">
            <a:spAutoFit/>
          </a:bodyPr>
          <a:lstStyle/>
          <a:p>
            <a:pPr>
              <a:defRPr sz="1200">
                <a:solidFill>
                  <a:srgbClr val="6B7785"/>
                </a:solidFill>
                <a:latin typeface="Microsoft YaHei"/>
              </a:defRPr>
            </a:pPr>
            <a:r>
              <a:t>基于关键路径占比 (CMR) 与服务利用率 (ρ) 双维模型，推导高利用率下吞吐与 P99 改善，并引入 NVIDIA 工业实测副证</a:t>
            </a:r>
          </a:p>
        </p:txBody>
      </p:sp>
      <p:sp>
        <p:nvSpPr>
          <p:cNvPr id="4" name="TextBox 3"/>
          <p:cNvSpPr txBox="1"/>
          <p:nvPr/>
        </p:nvSpPr>
        <p:spPr>
          <a:xfrm>
            <a:off x="10607040" y="320040"/>
            <a:ext cx="1005840" cy="274320"/>
          </a:xfrm>
          <a:prstGeom prst="rect">
            <a:avLst/>
          </a:prstGeom>
          <a:noFill/>
        </p:spPr>
        <p:txBody>
          <a:bodyPr wrap="none" lIns="0" rIns="0" tIns="0" bIns="0">
            <a:spAutoFit/>
          </a:bodyPr>
          <a:lstStyle/>
          <a:p>
            <a:pPr algn="r">
              <a:defRPr sz="1300" b="1">
                <a:solidFill>
                  <a:srgbClr val="6B7785"/>
                </a:solidFill>
                <a:latin typeface="Microsoft YaHei"/>
              </a:defRPr>
            </a:pPr>
            <a:r>
              <a:t>06 / 09</a:t>
            </a:r>
          </a:p>
        </p:txBody>
      </p:sp>
      <p:sp>
        <p:nvSpPr>
          <p:cNvPr id="5" name="Rounded Rectangle 4"/>
          <p:cNvSpPr/>
          <p:nvPr/>
        </p:nvSpPr>
        <p:spPr>
          <a:xfrm>
            <a:off x="548640" y="1051560"/>
            <a:ext cx="5897880" cy="2542032"/>
          </a:xfrm>
          <a:prstGeom prst="roundRect">
            <a:avLst>
              <a:gd name="adj" fmla="val 2000"/>
            </a:avLst>
          </a:prstGeom>
          <a:solidFill>
            <a:srgbClr val="EA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656" y="1124712"/>
            <a:ext cx="5641848" cy="384048"/>
          </a:xfrm>
          <a:prstGeom prst="rect">
            <a:avLst/>
          </a:prstGeom>
          <a:noFill/>
        </p:spPr>
        <p:txBody>
          <a:bodyPr wrap="square" lIns="0" rIns="0" tIns="0" bIns="0">
            <a:spAutoFit/>
          </a:bodyPr>
          <a:lstStyle/>
          <a:p>
            <a:pPr>
              <a:defRPr sz="1060" b="1">
                <a:solidFill>
                  <a:srgbClr val="122A49"/>
                </a:solidFill>
                <a:latin typeface="Microsoft YaHei"/>
              </a:defRPr>
            </a:pPr>
            <a:r>
              <a:t>【价值区域一】高利用率 + 高 CMR（32K / 200GB/s 聚合拉取 / 短 TTFT）</a:t>
            </a:r>
          </a:p>
          <a:p>
            <a:pPr>
              <a:spcBef>
                <a:spcPts val="150"/>
              </a:spcBef>
              <a:defRPr sz="850" b="1">
                <a:solidFill>
                  <a:srgbClr val="2D63B8"/>
                </a:solidFill>
                <a:latin typeface="Microsoft YaHei"/>
              </a:defRPr>
            </a:pPr>
            <a:r>
              <a:t>基线场景一：32K Tokens (1.6GB)，200GB/s 聚合带宽；CMR 达 16.0%，ρ → 1</a:t>
            </a:r>
          </a:p>
        </p:txBody>
      </p:sp>
      <p:pic>
        <p:nvPicPr>
          <p:cNvPr id="7" name="Picture 6" descr="formula_slide6_regime1.png"/>
          <p:cNvPicPr>
            <a:picLocks noChangeAspect="1"/>
          </p:cNvPicPr>
          <p:nvPr/>
        </p:nvPicPr>
        <p:blipFill>
          <a:blip r:embed="rId2"/>
          <a:stretch>
            <a:fillRect/>
          </a:stretch>
        </p:blipFill>
        <p:spPr>
          <a:xfrm>
            <a:off x="676656" y="1490472"/>
            <a:ext cx="5641848" cy="603504"/>
          </a:xfrm>
          <a:prstGeom prst="rect">
            <a:avLst/>
          </a:prstGeom>
        </p:spPr>
      </p:pic>
      <p:sp>
        <p:nvSpPr>
          <p:cNvPr id="8" name="TextBox 7"/>
          <p:cNvSpPr txBox="1"/>
          <p:nvPr/>
        </p:nvSpPr>
        <p:spPr>
          <a:xfrm>
            <a:off x="676656" y="2121408"/>
            <a:ext cx="5641848" cy="1435608"/>
          </a:xfrm>
          <a:prstGeom prst="rect">
            <a:avLst/>
          </a:prstGeom>
          <a:noFill/>
        </p:spPr>
        <p:txBody>
          <a:bodyPr wrap="square" lIns="0" rIns="0" tIns="0" bIns="0">
            <a:spAutoFit/>
          </a:bodyPr>
          <a:lstStyle/>
          <a:p>
            <a:pPr>
              <a:lnSpc>
                <a:spcPct val="110000"/>
              </a:lnSpc>
            </a:pPr>
            <a:r>
              <a:rPr sz="800" b="1">
                <a:solidFill>
                  <a:srgbClr val="122A49"/>
                </a:solidFill>
                <a:latin typeface="Microsoft YaHei"/>
              </a:rPr>
              <a:t>• 公式变量与基线场景一： </a:t>
            </a:r>
            <a:r>
              <a:rPr sz="760">
                <a:solidFill>
                  <a:srgbClr val="1A2533"/>
                </a:solidFill>
                <a:latin typeface="Microsoft YaHei"/>
              </a:rPr>
              <a:t>变量定义：C 为并发数，M 为 Master 线程数，t_proc≈0.15ms，β 为互斥锁因子，γ 为无锁总线因子 (γ ≪ β ≈ 0)。【实测场景一】：32K 输入 / 16KB 元数据，RDMA 基线耗时 τ_0=1.00ms，UBMEM 共享内存直达降至 τ_ub=0.70ms (时延降低 30.0%)。</a:t>
            </a:r>
          </a:p>
          <a:p>
            <a:pPr>
              <a:lnSpc>
                <a:spcPct val="110000"/>
              </a:lnSpc>
              <a:spcBef>
                <a:spcPts val="150"/>
              </a:spcBef>
            </a:pPr>
            <a:r>
              <a:rPr sz="800" b="1">
                <a:solidFill>
                  <a:srgbClr val="122A49"/>
                </a:solidFill>
                <a:latin typeface="Microsoft YaHei"/>
              </a:rPr>
              <a:t>• 基线 TTFT 6.25ms 来源与 5.95ms 推导： </a:t>
            </a:r>
            <a:r>
              <a:rPr sz="760">
                <a:solidFill>
                  <a:srgbClr val="1A2533"/>
                </a:solidFill>
                <a:latin typeface="Microsoft YaHei"/>
              </a:rPr>
              <a:t>【工况定位】：32K 上下文 (1.6GB KVCache)，200GB/s 聚合拉取带宽传输耗时 T_trans=8.0ms；经因果流水重叠掩盖与首字调度执行，数据面净暴露耗时 T_data=5.25ms；叠加开源 RDMA 元数据基线 τ_0=1.00ms，导出基线 TTFT_base = 5.25 + 1.00 = 6.25ms (CMR 达 16.0% 高敏感区)；UBMEM 直读后降为 TTFT_opt = 5.95ms (净提速 0.30ms)。</a:t>
            </a:r>
          </a:p>
          <a:p>
            <a:pPr>
              <a:lnSpc>
                <a:spcPct val="110000"/>
              </a:lnSpc>
              <a:spcBef>
                <a:spcPts val="150"/>
              </a:spcBef>
            </a:pPr>
            <a:r>
              <a:rPr sz="800" b="1">
                <a:solidFill>
                  <a:srgbClr val="122A49"/>
                </a:solidFill>
                <a:latin typeface="Microsoft YaHei"/>
              </a:rPr>
              <a:t>• 基线 P99 52.3ms 来源与排队压制： </a:t>
            </a:r>
            <a:r>
              <a:rPr sz="760">
                <a:solidFill>
                  <a:srgbClr val="1A2533"/>
                </a:solidFill>
                <a:latin typeface="Microsoft YaHei"/>
              </a:rPr>
              <a:t>【基线系统】：开源单 Master 上限 μ_base=1000 req/s (平均 1.0ms)。到达率 λ=900 req/s 高载下 (利用率 ρ=90%)，M/M/1 导出 99% 排队等待 W_99 = ln(100)/(μ-λ) = 4.605/100 = 46.05ms，叠加基础耗时 6.25ms 导出基线 P99 为 52.3ms。UBMEM 无锁直达将容量提升至 μ=1429 req/s (余裕扩 5.3 倍)，排队等待骤降至 8.71ms，P99 降至 14.7ms (净降 37.6ms，降幅达 71.9%)。</a:t>
            </a:r>
          </a:p>
        </p:txBody>
      </p:sp>
      <p:sp>
        <p:nvSpPr>
          <p:cNvPr id="9" name="Rounded Rectangle 8"/>
          <p:cNvSpPr/>
          <p:nvPr/>
        </p:nvSpPr>
        <p:spPr>
          <a:xfrm>
            <a:off x="548640" y="3675888"/>
            <a:ext cx="5897880" cy="2505456"/>
          </a:xfrm>
          <a:prstGeom prst="roundRect">
            <a:avLst>
              <a:gd name="adj" fmla="val 2000"/>
            </a:avLst>
          </a:prstGeom>
          <a:solidFill>
            <a:srgbClr val="E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3749040"/>
            <a:ext cx="5641848" cy="384048"/>
          </a:xfrm>
          <a:prstGeom prst="rect">
            <a:avLst/>
          </a:prstGeom>
          <a:noFill/>
        </p:spPr>
        <p:txBody>
          <a:bodyPr wrap="square" lIns="0" rIns="0" tIns="0" bIns="0">
            <a:spAutoFit/>
          </a:bodyPr>
          <a:lstStyle/>
          <a:p>
            <a:pPr>
              <a:defRPr sz="1060" b="1">
                <a:solidFill>
                  <a:srgbClr val="122A49"/>
                </a:solidFill>
                <a:latin typeface="Microsoft YaHei"/>
              </a:defRPr>
            </a:pPr>
            <a:r>
              <a:t>【价值区域二】高利用率 + 低 CMR（常规长文本 / 聚合带宽下控制面瓶颈转移）</a:t>
            </a:r>
          </a:p>
          <a:p>
            <a:pPr>
              <a:spcBef>
                <a:spcPts val="150"/>
              </a:spcBef>
              <a:defRPr sz="850" b="1">
                <a:solidFill>
                  <a:srgbClr val="2D63B8"/>
                </a:solidFill>
                <a:latin typeface="Microsoft YaHei"/>
              </a:defRPr>
            </a:pPr>
            <a:r>
              <a:t>典型场景：长文本未命中 Prefill（TTFT 约 100ms），CMR 仅约 1.0%，ρ → 1</a:t>
            </a:r>
          </a:p>
        </p:txBody>
      </p:sp>
      <p:pic>
        <p:nvPicPr>
          <p:cNvPr id="11" name="Picture 10" descr="formula_slide6_regime2.png"/>
          <p:cNvPicPr>
            <a:picLocks noChangeAspect="1"/>
          </p:cNvPicPr>
          <p:nvPr/>
        </p:nvPicPr>
        <p:blipFill>
          <a:blip r:embed="rId3"/>
          <a:stretch>
            <a:fillRect/>
          </a:stretch>
        </p:blipFill>
        <p:spPr>
          <a:xfrm>
            <a:off x="676656" y="4114800"/>
            <a:ext cx="5641848" cy="603504"/>
          </a:xfrm>
          <a:prstGeom prst="rect">
            <a:avLst/>
          </a:prstGeom>
        </p:spPr>
      </p:pic>
      <p:sp>
        <p:nvSpPr>
          <p:cNvPr id="12" name="TextBox 11"/>
          <p:cNvSpPr txBox="1"/>
          <p:nvPr/>
        </p:nvSpPr>
        <p:spPr>
          <a:xfrm>
            <a:off x="676656" y="4745736"/>
            <a:ext cx="5641848" cy="1399032"/>
          </a:xfrm>
          <a:prstGeom prst="rect">
            <a:avLst/>
          </a:prstGeom>
          <a:noFill/>
        </p:spPr>
        <p:txBody>
          <a:bodyPr wrap="square" lIns="0" rIns="0" tIns="0" bIns="0">
            <a:spAutoFit/>
          </a:bodyPr>
          <a:lstStyle/>
          <a:p>
            <a:pPr>
              <a:lnSpc>
                <a:spcPct val="110000"/>
              </a:lnSpc>
            </a:pPr>
            <a:r>
              <a:rPr sz="800" b="1">
                <a:solidFill>
                  <a:srgbClr val="122A49"/>
                </a:solidFill>
                <a:latin typeface="Microsoft YaHei"/>
              </a:rPr>
              <a:t>• 聚合带宽与控制面瓶颈转移： </a:t>
            </a:r>
            <a:r>
              <a:rPr sz="760">
                <a:solidFill>
                  <a:srgbClr val="1A2533"/>
                </a:solidFill>
                <a:latin typeface="Microsoft YaHei"/>
              </a:rPr>
              <a:t>【实测场景二联动】：在 200GB/s 聚合带宽与 2MB 大块切片下，数据面搬运瓶颈彻底消除 (T_data 骤降)；未命中重算 GEMM 耗时 T_data≈99.0ms。单次查表 τ_0=1.00ms 仅占 CMR=1.0% (低 CMR 区域)。数据面瓶颈解除后，控制面服务吞吐容量 μ = 1/τ_meta 成为集群 QPS 扩展的绝对一阶天花板。</a:t>
            </a:r>
          </a:p>
          <a:p>
            <a:pPr>
              <a:lnSpc>
                <a:spcPct val="110000"/>
              </a:lnSpc>
              <a:spcBef>
                <a:spcPts val="150"/>
              </a:spcBef>
            </a:pPr>
            <a:r>
              <a:rPr sz="800" b="1">
                <a:solidFill>
                  <a:srgbClr val="122A49"/>
                </a:solidFill>
                <a:latin typeface="Microsoft YaHei"/>
              </a:rPr>
              <a:t>• 控制面容量跃升与饱和断崖右移： </a:t>
            </a:r>
            <a:r>
              <a:rPr sz="760">
                <a:solidFill>
                  <a:srgbClr val="1A2533"/>
                </a:solidFill>
                <a:latin typeface="Microsoft YaHei"/>
              </a:rPr>
              <a:t>低载下单次缩短 0.3ms 对 100ms TTFT 仅微改 0.3% (易被网络抖动淹没)。但在高利用率 (ρ → 1) 下，元数据时延由 τ_0=1.00ms 降至 τ_ub=0.70ms (降幅 30%)，单 Master 服务容量从 μ_base=1000 req/s 跃升至 μ_opt=1429 req/s (容量跃升 +42.9%)，将服务饱和排队断崖显著右移。</a:t>
            </a:r>
          </a:p>
          <a:p>
            <a:pPr>
              <a:lnSpc>
                <a:spcPct val="110000"/>
              </a:lnSpc>
              <a:spcBef>
                <a:spcPts val="150"/>
              </a:spcBef>
            </a:pPr>
            <a:r>
              <a:rPr sz="800" b="1">
                <a:solidFill>
                  <a:srgbClr val="122A49"/>
                </a:solidFill>
                <a:latin typeface="Microsoft YaHei"/>
              </a:rPr>
              <a:t>• 严苛 SLO 准入极限与防雪崩增益： </a:t>
            </a:r>
            <a:r>
              <a:rPr sz="760">
                <a:solidFill>
                  <a:srgbClr val="1A2533"/>
                </a:solidFill>
                <a:latin typeface="Microsoft YaHei"/>
              </a:rPr>
              <a:t>由准入模型 λ_SLO^max = μ - ln(100)/(P99_SLO - T_data)，在 P99 ≤ 120ms 严苛约束下，有效承载 QPS 从 781 提升至 1210 req/s (+54.9%)；在 QPS=960 准饱和洪峰下，基线排队发散导致 P99 飙升至 215.1ms (违背 SLO)，优化后稳定在 109.5ms (P99 降低 49.1%)，彻底规避排队雪崩。</a:t>
            </a:r>
          </a:p>
        </p:txBody>
      </p:sp>
      <p:sp>
        <p:nvSpPr>
          <p:cNvPr id="13" name="Rounded Rectangle 12"/>
          <p:cNvSpPr/>
          <p:nvPr/>
        </p:nvSpPr>
        <p:spPr>
          <a:xfrm>
            <a:off x="6702552" y="1051560"/>
            <a:ext cx="4937760" cy="2542032"/>
          </a:xfrm>
          <a:prstGeom prst="roundRect">
            <a:avLst>
              <a:gd name="adj" fmla="val 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art_metadata_theory.png"/>
          <p:cNvPicPr>
            <a:picLocks noChangeAspect="1"/>
          </p:cNvPicPr>
          <p:nvPr/>
        </p:nvPicPr>
        <p:blipFill>
          <a:blip r:embed="rId4"/>
          <a:stretch>
            <a:fillRect/>
          </a:stretch>
        </p:blipFill>
        <p:spPr>
          <a:xfrm>
            <a:off x="6757416" y="1106424"/>
            <a:ext cx="4828032" cy="2432304"/>
          </a:xfrm>
          <a:prstGeom prst="rect">
            <a:avLst/>
          </a:prstGeom>
        </p:spPr>
      </p:pic>
      <p:sp>
        <p:nvSpPr>
          <p:cNvPr id="15" name="Rounded Rectangle 14"/>
          <p:cNvSpPr/>
          <p:nvPr/>
        </p:nvSpPr>
        <p:spPr>
          <a:xfrm>
            <a:off x="6702552" y="3675888"/>
            <a:ext cx="4937760" cy="2505456"/>
          </a:xfrm>
          <a:prstGeom prst="roundRect">
            <a:avLst>
              <a:gd name="adj" fmla="val 2000"/>
            </a:avLst>
          </a:prstGeom>
          <a:solidFill>
            <a:srgbClr val="FFF5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0568" y="3749040"/>
            <a:ext cx="4681728" cy="2359152"/>
          </a:xfrm>
          <a:prstGeom prst="rect">
            <a:avLst/>
          </a:prstGeom>
          <a:noFill/>
        </p:spPr>
        <p:txBody>
          <a:bodyPr wrap="square" lIns="0" rIns="0" tIns="0" bIns="0">
            <a:spAutoFit/>
          </a:bodyPr>
          <a:lstStyle/>
          <a:p>
            <a:pPr>
              <a:defRPr sz="1060" b="1">
                <a:solidFill>
                  <a:srgbClr val="122A49"/>
                </a:solidFill>
                <a:latin typeface="Microsoft YaHei"/>
              </a:defRPr>
            </a:pPr>
            <a:r>
              <a:t>【外部数据副证】NVIDIA 顶级工业系统实测客观对齐</a:t>
            </a:r>
          </a:p>
          <a:p>
            <a:pPr>
              <a:spcBef>
                <a:spcPts val="150"/>
              </a:spcBef>
              <a:defRPr sz="850" b="1">
                <a:solidFill>
                  <a:srgbClr val="A01414"/>
                </a:solidFill>
                <a:latin typeface="Microsoft YaHei"/>
              </a:defRPr>
            </a:pPr>
            <a:r>
              <a:t>证实元数据绝对不是无足轻重的后台任务，而是高并发/大规模下决定吞吐门限的一阶瓶颈</a:t>
            </a:r>
          </a:p>
          <a:p>
            <a:pPr>
              <a:lnSpc>
                <a:spcPct val="115000"/>
              </a:lnSpc>
              <a:spcBef>
                <a:spcPts val="260"/>
              </a:spcBef>
            </a:pPr>
            <a:r>
              <a:rPr sz="830" b="1">
                <a:solidFill>
                  <a:srgbClr val="122A49"/>
                </a:solidFill>
                <a:latin typeface="Microsoft YaHei"/>
              </a:rPr>
              <a:t>• NVIDIA Dynamo Flash Indexer (2026 生产级实测)： </a:t>
            </a:r>
            <a:r>
              <a:rPr sz="800">
                <a:solidFill>
                  <a:srgbClr val="1A2533"/>
                </a:solidFill>
                <a:latin typeface="Microsoft YaHei"/>
              </a:rPr>
              <a:t>基于真实 Mooncake 生产 Trace 回放（24 核 Arrow Lake/24 线程）：早期仅 385K ops/s，Dynamo v0.1 为 4M ops/s，而 Flash Indexer 暴增至 170M ops/s (42 倍吞吐跃升)。NVIDIA 强调“Slow queries to indexer means user-facing latency”，前缀查询直接暴露于 TTFT 关键路径，其容量上限决定排队雪崩拐点。</a:t>
            </a:r>
          </a:p>
          <a:p>
            <a:pPr>
              <a:lnSpc>
                <a:spcPct val="115000"/>
              </a:lnSpc>
              <a:spcBef>
                <a:spcPts val="260"/>
              </a:spcBef>
            </a:pPr>
            <a:r>
              <a:rPr sz="830" b="1">
                <a:solidFill>
                  <a:srgbClr val="122A49"/>
                </a:solidFill>
                <a:latin typeface="Microsoft YaHei"/>
              </a:rPr>
              <a:t>• NVIDIA Branch-Sharded Indexer &amp; AgentX 并发优化： </a:t>
            </a:r>
            <a:r>
              <a:rPr sz="800">
                <a:solidFill>
                  <a:srgbClr val="1A2533"/>
                </a:solidFill>
                <a:latin typeface="Microsoft YaHei"/>
              </a:rPr>
              <a:t>在 concurrency=512 极高并发 Agentic 工作负载下，全局基数树锁争用与深层前缀遍历开销主导了前端瓶颈；通过分支分片与热路径精简，实测系统全局吞吐提升 +13.7%，中位数输出吞吐提升 +22.2%。</a:t>
            </a:r>
          </a:p>
          <a:p>
            <a:pPr>
              <a:lnSpc>
                <a:spcPct val="115000"/>
              </a:lnSpc>
              <a:spcBef>
                <a:spcPts val="260"/>
              </a:spcBef>
            </a:pPr>
            <a:r>
              <a:rPr sz="830" b="1">
                <a:solidFill>
                  <a:srgbClr val="122A49"/>
                </a:solidFill>
                <a:latin typeface="Microsoft YaHei"/>
              </a:rPr>
              <a:t>• 对本项目的工程支撑： </a:t>
            </a:r>
            <a:r>
              <a:rPr sz="800">
                <a:solidFill>
                  <a:srgbClr val="1A2533"/>
                </a:solidFill>
                <a:latin typeface="Microsoft YaHei"/>
              </a:rPr>
              <a:t>证明微秒级的单次控制面优化，在并发与共享规模放大下，直接转化为 40%+ 的服务容量跃升与 P99 抖动平抑，具备重大工业系统价值。</a:t>
            </a:r>
          </a:p>
        </p:txBody>
      </p:sp>
      <p:sp>
        <p:nvSpPr>
          <p:cNvPr id="17" name="Rectangle 16"/>
          <p:cNvSpPr/>
          <p:nvPr/>
        </p:nvSpPr>
        <p:spPr>
          <a:xfrm>
            <a:off x="548640" y="6327648"/>
            <a:ext cx="11091672" cy="320040"/>
          </a:xfrm>
          <a:prstGeom prst="rect">
            <a:avLst/>
          </a:prstGeom>
          <a:solidFill>
            <a:srgbClr val="2D63B8"/>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8288" bIns="18288"/>
          <a:lstStyle/>
          <a:p>
            <a:pPr algn="ctr">
              <a:defRPr sz="1100" b="1">
                <a:solidFill>
                  <a:srgbClr val="FFFFFF"/>
                </a:solidFill>
                <a:latin typeface="Microsoft YaHei"/>
              </a:defRPr>
            </a:pPr>
            <a:r>
              <a:t>核心结论：元数据 30% 优化在低载下为微秒级收益；在高并发共享场景下转化为 +42.9% 吞吐容量并压制 &gt;70% 的 P99 尾部排队抖动。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1792" y="292608"/>
            <a:ext cx="9875520" cy="438912"/>
          </a:xfrm>
          <a:prstGeom prst="rect">
            <a:avLst/>
          </a:prstGeom>
          <a:noFill/>
        </p:spPr>
        <p:txBody>
          <a:bodyPr wrap="square" lIns="0" rIns="0" tIns="0" bIns="0">
            <a:spAutoFit/>
          </a:bodyPr>
          <a:lstStyle/>
          <a:p>
            <a:pPr>
              <a:defRPr sz="2100" b="1">
                <a:solidFill>
                  <a:srgbClr val="122A49"/>
                </a:solidFill>
                <a:latin typeface="Microsoft YaHei"/>
              </a:defRPr>
            </a:pPr>
            <a:r>
              <a:t>受限项理论建模打样与仿真量化分析</a:t>
            </a:r>
          </a:p>
        </p:txBody>
      </p:sp>
      <p:sp>
        <p:nvSpPr>
          <p:cNvPr id="3" name="TextBox 2"/>
          <p:cNvSpPr txBox="1"/>
          <p:nvPr/>
        </p:nvSpPr>
        <p:spPr>
          <a:xfrm>
            <a:off x="640080" y="749808"/>
            <a:ext cx="9875520" cy="274320"/>
          </a:xfrm>
          <a:prstGeom prst="rect">
            <a:avLst/>
          </a:prstGeom>
          <a:noFill/>
        </p:spPr>
        <p:txBody>
          <a:bodyPr wrap="square" lIns="0" rIns="0" tIns="0" bIns="0">
            <a:spAutoFit/>
          </a:bodyPr>
          <a:lstStyle/>
          <a:p>
            <a:pPr>
              <a:defRPr sz="1200">
                <a:solidFill>
                  <a:srgbClr val="6B7785"/>
                </a:solidFill>
                <a:latin typeface="Microsoft YaHei"/>
              </a:defRPr>
            </a:pPr>
            <a:r>
              <a:t>以计算机体系结构与网络动力学第一性原理严密建模，图文协同支撑受阻项论证（硬件到位后即刻实测闭环）</a:t>
            </a:r>
          </a:p>
        </p:txBody>
      </p:sp>
      <p:sp>
        <p:nvSpPr>
          <p:cNvPr id="4" name="TextBox 3"/>
          <p:cNvSpPr txBox="1"/>
          <p:nvPr/>
        </p:nvSpPr>
        <p:spPr>
          <a:xfrm>
            <a:off x="10607040" y="320040"/>
            <a:ext cx="1005840" cy="274320"/>
          </a:xfrm>
          <a:prstGeom prst="rect">
            <a:avLst/>
          </a:prstGeom>
          <a:noFill/>
        </p:spPr>
        <p:txBody>
          <a:bodyPr wrap="none" lIns="0" rIns="0" tIns="0" bIns="0">
            <a:spAutoFit/>
          </a:bodyPr>
          <a:lstStyle/>
          <a:p>
            <a:pPr algn="r">
              <a:defRPr sz="1300" b="1">
                <a:solidFill>
                  <a:srgbClr val="6B7785"/>
                </a:solidFill>
                <a:latin typeface="Microsoft YaHei"/>
              </a:defRPr>
            </a:pPr>
            <a:r>
              <a:t>07 / 09</a:t>
            </a:r>
          </a:p>
        </p:txBody>
      </p:sp>
      <p:sp>
        <p:nvSpPr>
          <p:cNvPr id="5" name="Rounded Rectangle 4"/>
          <p:cNvSpPr/>
          <p:nvPr/>
        </p:nvSpPr>
        <p:spPr>
          <a:xfrm>
            <a:off x="548640" y="1051560"/>
            <a:ext cx="11091672" cy="384048"/>
          </a:xfrm>
          <a:prstGeom prst="roundRect">
            <a:avLst>
              <a:gd name="adj" fmla="val 2000"/>
            </a:avLst>
          </a:prstGeom>
          <a:solidFill>
            <a:srgbClr val="FF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069848"/>
            <a:ext cx="10817352" cy="347472"/>
          </a:xfrm>
          <a:prstGeom prst="rect">
            <a:avLst/>
          </a:prstGeom>
          <a:noFill/>
        </p:spPr>
        <p:txBody>
          <a:bodyPr wrap="square" lIns="0" rIns="0" tIns="0" bIns="0">
            <a:spAutoFit/>
          </a:bodyPr>
          <a:lstStyle/>
          <a:p>
            <a:pPr>
              <a:lnSpc>
                <a:spcPct val="115000"/>
              </a:lnSpc>
            </a:pPr>
            <a:r>
              <a:rPr sz="950" b="1">
                <a:solidFill>
                  <a:srgbClr val="A01414"/>
                </a:solidFill>
                <a:latin typeface="Microsoft YaHei"/>
              </a:rPr>
              <a:t>【硬件实验环境客观差距与建模原由】</a:t>
            </a:r>
            <a:r>
              <a:rPr sz="880">
                <a:solidFill>
                  <a:srgbClr val="1A2533"/>
                </a:solidFill>
                <a:latin typeface="Microsoft YaHei"/>
              </a:rPr>
              <a:t>当前仅具备通用 Host CPU 基础通信环境，缺乏国产高带宽显存 NPU、TP=8 多卡拓扑与硬件 QoS 交换机。在物理硬件就绪前，依据第一性原理对受阻项开展严密建模与仿真打样，为后续接入真实大模型流水确立量化基准。</a:t>
            </a:r>
          </a:p>
        </p:txBody>
      </p:sp>
      <p:sp>
        <p:nvSpPr>
          <p:cNvPr id="7" name="Rounded Rectangle 6"/>
          <p:cNvSpPr/>
          <p:nvPr/>
        </p:nvSpPr>
        <p:spPr>
          <a:xfrm>
            <a:off x="548640" y="1508760"/>
            <a:ext cx="5394960" cy="4709160"/>
          </a:xfrm>
          <a:prstGeom prst="roundRect">
            <a:avLst>
              <a:gd name="adj" fmla="val 2000"/>
            </a:avLst>
          </a:prstGeom>
          <a:solidFill>
            <a:srgbClr val="EA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1581912"/>
            <a:ext cx="5138928" cy="402336"/>
          </a:xfrm>
          <a:prstGeom prst="rect">
            <a:avLst/>
          </a:prstGeom>
          <a:noFill/>
        </p:spPr>
        <p:txBody>
          <a:bodyPr wrap="square" lIns="0" rIns="0" tIns="0" bIns="0">
            <a:spAutoFit/>
          </a:bodyPr>
          <a:lstStyle/>
          <a:p>
            <a:pPr>
              <a:defRPr sz="1100" b="1">
                <a:solidFill>
                  <a:srgbClr val="122A49"/>
                </a:solidFill>
                <a:latin typeface="Microsoft YaHei"/>
              </a:defRPr>
            </a:pPr>
            <a:r>
              <a:t>【打样一】PVT-04 微秒级动态选路防反噬（平抑 TTFT 尾部抖动）</a:t>
            </a:r>
          </a:p>
          <a:p>
            <a:pPr>
              <a:spcBef>
                <a:spcPts val="120"/>
              </a:spcBef>
              <a:defRPr sz="850" b="1">
                <a:solidFill>
                  <a:srgbClr val="2D63B8"/>
                </a:solidFill>
                <a:latin typeface="Microsoft YaHei"/>
              </a:defRPr>
            </a:pPr>
            <a:r>
              <a:t>针对队头阻塞与时延倒挂难题 · 建立临界可用带宽盈亏平衡点决策模型</a:t>
            </a:r>
          </a:p>
        </p:txBody>
      </p:sp>
      <p:pic>
        <p:nvPicPr>
          <p:cNvPr id="9" name="Picture 8" descr="chart2_pvt04_dynamic_routing_wide.png"/>
          <p:cNvPicPr>
            <a:picLocks noChangeAspect="1"/>
          </p:cNvPicPr>
          <p:nvPr/>
        </p:nvPicPr>
        <p:blipFill>
          <a:blip r:embed="rId2"/>
          <a:stretch>
            <a:fillRect/>
          </a:stretch>
        </p:blipFill>
        <p:spPr>
          <a:xfrm>
            <a:off x="658368" y="1965960"/>
            <a:ext cx="5175504" cy="1572768"/>
          </a:xfrm>
          <a:prstGeom prst="rect">
            <a:avLst/>
          </a:prstGeom>
        </p:spPr>
      </p:pic>
      <p:pic>
        <p:nvPicPr>
          <p:cNvPr id="10" name="Picture 9" descr="formula_slide7_pvt04.png"/>
          <p:cNvPicPr>
            <a:picLocks noChangeAspect="1"/>
          </p:cNvPicPr>
          <p:nvPr/>
        </p:nvPicPr>
        <p:blipFill>
          <a:blip r:embed="rId3"/>
          <a:stretch>
            <a:fillRect/>
          </a:stretch>
        </p:blipFill>
        <p:spPr>
          <a:xfrm>
            <a:off x="658368" y="3575303"/>
            <a:ext cx="5175504" cy="676656"/>
          </a:xfrm>
          <a:prstGeom prst="rect">
            <a:avLst/>
          </a:prstGeom>
        </p:spPr>
      </p:pic>
      <p:sp>
        <p:nvSpPr>
          <p:cNvPr id="11" name="TextBox 10"/>
          <p:cNvSpPr txBox="1"/>
          <p:nvPr/>
        </p:nvSpPr>
        <p:spPr>
          <a:xfrm>
            <a:off x="676656" y="4288536"/>
            <a:ext cx="5138928" cy="1865376"/>
          </a:xfrm>
          <a:prstGeom prst="rect">
            <a:avLst/>
          </a:prstGeom>
          <a:noFill/>
        </p:spPr>
        <p:txBody>
          <a:bodyPr wrap="square" lIns="0" rIns="0" tIns="0" bIns="0">
            <a:spAutoFit/>
          </a:bodyPr>
          <a:lstStyle/>
          <a:p>
            <a:pPr>
              <a:lnSpc>
                <a:spcPct val="115000"/>
              </a:lnSpc>
            </a:pPr>
            <a:r>
              <a:rPr sz="840" b="1">
                <a:solidFill>
                  <a:srgbClr val="122A49"/>
                </a:solidFill>
                <a:latin typeface="Microsoft YaHei"/>
              </a:rPr>
              <a:t>• ① 物理瓶颈根因： </a:t>
            </a:r>
            <a:r>
              <a:rPr sz="810">
                <a:solidFill>
                  <a:srgbClr val="1A2533"/>
                </a:solidFill>
                <a:latin typeface="Microsoft YaHei"/>
              </a:rPr>
              <a:t>Bidaw (FAST '26)、SYMPHONY (NSDI '26) 与 KVServe 证实：传统方案缺乏链路感知，低带宽下盲目拉取极易反超重算耗时，在短文本与突发拥塞下诱发数十至数百毫秒的时延反噬。</a:t>
            </a:r>
          </a:p>
          <a:p>
            <a:pPr>
              <a:lnSpc>
                <a:spcPct val="115000"/>
              </a:lnSpc>
              <a:spcBef>
                <a:spcPts val="300"/>
              </a:spcBef>
            </a:pPr>
            <a:r>
              <a:rPr sz="840" b="1">
                <a:solidFill>
                  <a:srgbClr val="122A49"/>
                </a:solidFill>
                <a:latin typeface="Microsoft YaHei"/>
              </a:rPr>
              <a:t>• ② 原厂选路机制： </a:t>
            </a:r>
            <a:r>
              <a:rPr sz="810">
                <a:solidFill>
                  <a:srgbClr val="1A2533"/>
                </a:solidFill>
                <a:latin typeface="Microsoft YaHei"/>
              </a:rPr>
              <a:t>QueryPlan 实时遥测链路可用带宽 B 与算力 r，微秒级评估成本；若 B &lt; Bcrit 或前缀较短则主动截断拉取并回退本地重算，彻底规避反噬。</a:t>
            </a:r>
          </a:p>
          <a:p>
            <a:pPr>
              <a:lnSpc>
                <a:spcPct val="115000"/>
              </a:lnSpc>
              <a:spcBef>
                <a:spcPts val="300"/>
              </a:spcBef>
            </a:pPr>
            <a:r>
              <a:rPr sz="840" b="1">
                <a:solidFill>
                  <a:srgbClr val="122A49"/>
                </a:solidFill>
                <a:latin typeface="Microsoft YaHei"/>
              </a:rPr>
              <a:t>• ③ Llama-3-70B 算例： </a:t>
            </a:r>
            <a:r>
              <a:rPr sz="810">
                <a:solidFill>
                  <a:srgbClr val="1A2533"/>
                </a:solidFill>
                <a:latin typeface="Microsoft YaHei"/>
              </a:rPr>
              <a:t>单卡 r=40K tokens/s，k=40KB/token：正常网络 (20GB/s) 下 8K 前缀加载仅 16.5ms (净提速 183.5ms)；网络突发拥塞 (B ≤ 1.6GB/s) 时微秒决策回退重算，锁定 200ms 完成，平抑长尾。</a:t>
            </a:r>
          </a:p>
        </p:txBody>
      </p:sp>
      <p:sp>
        <p:nvSpPr>
          <p:cNvPr id="12" name="Rounded Rectangle 11"/>
          <p:cNvSpPr/>
          <p:nvPr/>
        </p:nvSpPr>
        <p:spPr>
          <a:xfrm>
            <a:off x="6245352" y="1508760"/>
            <a:ext cx="5394960" cy="4709160"/>
          </a:xfrm>
          <a:prstGeom prst="roundRect">
            <a:avLst>
              <a:gd name="adj" fmla="val 2000"/>
            </a:avLst>
          </a:prstGeom>
          <a:solidFill>
            <a:srgbClr val="E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81912"/>
            <a:ext cx="5138928" cy="402336"/>
          </a:xfrm>
          <a:prstGeom prst="rect">
            <a:avLst/>
          </a:prstGeom>
          <a:noFill/>
        </p:spPr>
        <p:txBody>
          <a:bodyPr wrap="square" lIns="0" rIns="0" tIns="0" bIns="0">
            <a:spAutoFit/>
          </a:bodyPr>
          <a:lstStyle/>
          <a:p>
            <a:pPr>
              <a:defRPr sz="1100" b="1">
                <a:solidFill>
                  <a:srgbClr val="122A49"/>
                </a:solidFill>
                <a:latin typeface="Microsoft YaHei"/>
              </a:defRPr>
            </a:pPr>
            <a:r>
              <a:t>【打样二】PVT-07/08 硬件 QoS 隔离与树状中继（压制 TPOT 抖动）</a:t>
            </a:r>
          </a:p>
          <a:p>
            <a:pPr>
              <a:spcBef>
                <a:spcPts val="120"/>
              </a:spcBef>
              <a:defRPr sz="850" b="1">
                <a:solidFill>
                  <a:srgbClr val="2D63B8"/>
                </a:solidFill>
                <a:latin typeface="Microsoft YaHei"/>
              </a:defRPr>
            </a:pPr>
            <a:r>
              <a:t>针对后台大搬运带宽争用与单源 Incast · 建立双轨流控与二叉树中继模型</a:t>
            </a:r>
          </a:p>
        </p:txBody>
      </p:sp>
      <p:pic>
        <p:nvPicPr>
          <p:cNvPr id="14" name="Picture 13" descr="chart3_pvt07_qos_isolation_wide.png"/>
          <p:cNvPicPr>
            <a:picLocks noChangeAspect="1"/>
          </p:cNvPicPr>
          <p:nvPr/>
        </p:nvPicPr>
        <p:blipFill>
          <a:blip r:embed="rId4"/>
          <a:stretch>
            <a:fillRect/>
          </a:stretch>
        </p:blipFill>
        <p:spPr>
          <a:xfrm>
            <a:off x="6355080" y="1965960"/>
            <a:ext cx="5175504" cy="1572768"/>
          </a:xfrm>
          <a:prstGeom prst="rect">
            <a:avLst/>
          </a:prstGeom>
        </p:spPr>
      </p:pic>
      <p:pic>
        <p:nvPicPr>
          <p:cNvPr id="15" name="Picture 14" descr="formula_slide7_pvt07.png"/>
          <p:cNvPicPr>
            <a:picLocks noChangeAspect="1"/>
          </p:cNvPicPr>
          <p:nvPr/>
        </p:nvPicPr>
        <p:blipFill>
          <a:blip r:embed="rId5"/>
          <a:stretch>
            <a:fillRect/>
          </a:stretch>
        </p:blipFill>
        <p:spPr>
          <a:xfrm>
            <a:off x="6355080" y="3575303"/>
            <a:ext cx="5175504" cy="676656"/>
          </a:xfrm>
          <a:prstGeom prst="rect">
            <a:avLst/>
          </a:prstGeom>
        </p:spPr>
      </p:pic>
      <p:sp>
        <p:nvSpPr>
          <p:cNvPr id="16" name="TextBox 15"/>
          <p:cNvSpPr txBox="1"/>
          <p:nvPr/>
        </p:nvSpPr>
        <p:spPr>
          <a:xfrm>
            <a:off x="6373368" y="4288536"/>
            <a:ext cx="5138928" cy="1865376"/>
          </a:xfrm>
          <a:prstGeom prst="rect">
            <a:avLst/>
          </a:prstGeom>
          <a:noFill/>
        </p:spPr>
        <p:txBody>
          <a:bodyPr wrap="square" lIns="0" rIns="0" tIns="0" bIns="0">
            <a:spAutoFit/>
          </a:bodyPr>
          <a:lstStyle/>
          <a:p>
            <a:pPr>
              <a:lnSpc>
                <a:spcPct val="115000"/>
              </a:lnSpc>
            </a:pPr>
            <a:r>
              <a:rPr sz="840" b="1">
                <a:solidFill>
                  <a:srgbClr val="122A49"/>
                </a:solidFill>
                <a:latin typeface="Microsoft YaHei"/>
              </a:rPr>
              <a:t>• ① 物理瓶颈根因： </a:t>
            </a:r>
            <a:r>
              <a:rPr sz="810">
                <a:solidFill>
                  <a:srgbClr val="1A2533"/>
                </a:solidFill>
                <a:latin typeface="Microsoft YaHei"/>
              </a:rPr>
              <a:t>DualPath (SIGCOMM '26, DeepSeek 实测未隔离搬运导致前台通信恶化 6.7 倍) 与 AITurbo 证实：后台海量换出争用访存/网络，多节点并发拉取打满源端网卡极易触发 Incast 丢包风暴。</a:t>
            </a:r>
          </a:p>
          <a:p>
            <a:pPr>
              <a:lnSpc>
                <a:spcPct val="115000"/>
              </a:lnSpc>
              <a:spcBef>
                <a:spcPts val="300"/>
              </a:spcBef>
            </a:pPr>
            <a:r>
              <a:rPr sz="840" b="1">
                <a:solidFill>
                  <a:srgbClr val="122A49"/>
                </a:solidFill>
                <a:latin typeface="Microsoft YaHei"/>
              </a:rPr>
              <a:t>• ② 原厂隔离机制： </a:t>
            </a:r>
            <a:r>
              <a:rPr sz="810">
                <a:solidFill>
                  <a:srgbClr val="1A2533"/>
                </a:solidFill>
                <a:latin typeface="Microsoft YaHei"/>
              </a:rPr>
              <a:t>RoCE/URMA DSCP/CoS 映射至 TC0/TC1 物理双轨队列 + 应用层微秒自适应退避；构建计算节点二叉树中继转发拓扑 (Staging Fanout) 接力广播。</a:t>
            </a:r>
          </a:p>
          <a:p>
            <a:pPr>
              <a:lnSpc>
                <a:spcPct val="115000"/>
              </a:lnSpc>
              <a:spcBef>
                <a:spcPts val="300"/>
              </a:spcBef>
            </a:pPr>
            <a:r>
              <a:rPr sz="840" b="1">
                <a:solidFill>
                  <a:srgbClr val="122A49"/>
                </a:solidFill>
                <a:latin typeface="Microsoft YaHei"/>
              </a:rPr>
              <a:t>• ③ Llama-3-70B 算例： </a:t>
            </a:r>
            <a:r>
              <a:rPr sz="810">
                <a:solidFill>
                  <a:srgbClr val="1A2533"/>
                </a:solidFill>
                <a:latin typeface="Microsoft YaHei"/>
              </a:rPr>
              <a:t>100Gbps 混压下未隔离基线前台在线 TPOT 由 18.2ms 恶化至 21.3ms (干扰率 17.0%)；原厂 QoS 使 TPOT 稳定在 18.4ms (干扰率仅 1.1% &lt; 3% 红线)；树状中继使源端出口流量削减 75%，杜绝丢包。</a:t>
            </a:r>
          </a:p>
        </p:txBody>
      </p:sp>
      <p:sp>
        <p:nvSpPr>
          <p:cNvPr id="17" name="Rectangle 16"/>
          <p:cNvSpPr/>
          <p:nvPr/>
        </p:nvSpPr>
        <p:spPr>
          <a:xfrm>
            <a:off x="548640" y="6327648"/>
            <a:ext cx="11091672" cy="320040"/>
          </a:xfrm>
          <a:prstGeom prst="rect">
            <a:avLst/>
          </a:prstGeom>
          <a:solidFill>
            <a:srgbClr val="2D63B8"/>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8288" bIns="18288"/>
          <a:lstStyle/>
          <a:p>
            <a:pPr algn="ctr">
              <a:defRPr sz="1100" b="1">
                <a:solidFill>
                  <a:srgbClr val="FFFFFF"/>
                </a:solidFill>
                <a:latin typeface="Microsoft YaHei"/>
              </a:defRPr>
            </a:pPr>
            <a:r>
              <a:t>核心结论：两组理论模型与仿真曲线精确刻画了临界带宽拐点 (1.6GB/s) 与 QoS 双轨抗干扰能力 (干扰率 1.1%)；硬件到位后即刻开展实测闭环。</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1792" y="292608"/>
            <a:ext cx="9875520" cy="438912"/>
          </a:xfrm>
          <a:prstGeom prst="rect">
            <a:avLst/>
          </a:prstGeom>
          <a:noFill/>
        </p:spPr>
        <p:txBody>
          <a:bodyPr wrap="square" lIns="0" rIns="0" tIns="0" bIns="0">
            <a:spAutoFit/>
          </a:bodyPr>
          <a:lstStyle/>
          <a:p>
            <a:pPr>
              <a:defRPr sz="2100" b="1">
                <a:solidFill>
                  <a:srgbClr val="122A49"/>
                </a:solidFill>
                <a:latin typeface="Microsoft YaHei"/>
              </a:defRPr>
            </a:pPr>
            <a:r>
              <a:t>底座关键技术性能叠加与宏观指标量化导出（Llama-3-70B 闭环）</a:t>
            </a:r>
          </a:p>
        </p:txBody>
      </p:sp>
      <p:sp>
        <p:nvSpPr>
          <p:cNvPr id="3" name="TextBox 2"/>
          <p:cNvSpPr txBox="1"/>
          <p:nvPr/>
        </p:nvSpPr>
        <p:spPr>
          <a:xfrm>
            <a:off x="640080" y="749808"/>
            <a:ext cx="9875520" cy="274320"/>
          </a:xfrm>
          <a:prstGeom prst="rect">
            <a:avLst/>
          </a:prstGeom>
          <a:noFill/>
        </p:spPr>
        <p:txBody>
          <a:bodyPr wrap="square" lIns="0" rIns="0" tIns="0" bIns="0">
            <a:spAutoFit/>
          </a:bodyPr>
          <a:lstStyle/>
          <a:p>
            <a:pPr>
              <a:defRPr sz="1200">
                <a:solidFill>
                  <a:srgbClr val="6B7785"/>
                </a:solidFill>
                <a:latin typeface="Microsoft YaHei"/>
              </a:defRPr>
            </a:pPr>
            <a:r>
              <a:t>显式建立 u1~u4 四大技术提升量到综合转化率 u 及 TTFT、TPOT、P99 时延的确定性闭环数学映射</a:t>
            </a:r>
          </a:p>
        </p:txBody>
      </p:sp>
      <p:sp>
        <p:nvSpPr>
          <p:cNvPr id="4" name="TextBox 3"/>
          <p:cNvSpPr txBox="1"/>
          <p:nvPr/>
        </p:nvSpPr>
        <p:spPr>
          <a:xfrm>
            <a:off x="10607040" y="320040"/>
            <a:ext cx="1005840" cy="274320"/>
          </a:xfrm>
          <a:prstGeom prst="rect">
            <a:avLst/>
          </a:prstGeom>
          <a:noFill/>
        </p:spPr>
        <p:txBody>
          <a:bodyPr wrap="none" lIns="0" rIns="0" tIns="0" bIns="0">
            <a:spAutoFit/>
          </a:bodyPr>
          <a:lstStyle/>
          <a:p>
            <a:pPr algn="r">
              <a:defRPr sz="1300" b="1">
                <a:solidFill>
                  <a:srgbClr val="6B7785"/>
                </a:solidFill>
                <a:latin typeface="Microsoft YaHei"/>
              </a:defRPr>
            </a:pPr>
            <a:r>
              <a:t>08 / 09</a:t>
            </a:r>
          </a:p>
        </p:txBody>
      </p:sp>
      <p:sp>
        <p:nvSpPr>
          <p:cNvPr id="5" name="Rounded Rectangle 4"/>
          <p:cNvSpPr/>
          <p:nvPr/>
        </p:nvSpPr>
        <p:spPr>
          <a:xfrm>
            <a:off x="548640" y="1051560"/>
            <a:ext cx="11091672" cy="274320"/>
          </a:xfrm>
          <a:prstGeom prst="roundRect">
            <a:avLst>
              <a:gd name="adj" fmla="val 2000"/>
            </a:avLst>
          </a:prstGeom>
          <a:solidFill>
            <a:srgbClr val="EA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88136"/>
            <a:ext cx="10908792" cy="201168"/>
          </a:xfrm>
          <a:prstGeom prst="rect">
            <a:avLst/>
          </a:prstGeom>
          <a:noFill/>
        </p:spPr>
        <p:txBody>
          <a:bodyPr wrap="square" lIns="0" rIns="0" tIns="0" bIns="0">
            <a:spAutoFit/>
          </a:bodyPr>
          <a:lstStyle/>
          <a:p>
            <a:pPr>
              <a:defRPr sz="830" b="1">
                <a:solidFill>
                  <a:srgbClr val="122A49"/>
                </a:solidFill>
                <a:latin typeface="Microsoft YaHei"/>
              </a:defRPr>
            </a:pPr>
            <a:r>
              <a:t>【统一测算基准模型】Llama-3-70B (TP=8, 80层, 8组GQA) | 单Token显存 320 KB/卡 40 KB | 4K上下文 KVCache 1.28 GB | 目标TTFT基线 272ms, Prefill 247.2ms, 单卡传输 4.5ms</a:t>
            </a:r>
          </a:p>
        </p:txBody>
      </p:sp>
      <p:sp>
        <p:nvSpPr>
          <p:cNvPr id="7" name="Rounded Rectangle 6"/>
          <p:cNvSpPr/>
          <p:nvPr/>
        </p:nvSpPr>
        <p:spPr>
          <a:xfrm>
            <a:off x="548640" y="1389888"/>
            <a:ext cx="5413248" cy="950976"/>
          </a:xfrm>
          <a:prstGeom prst="roundRect">
            <a:avLst>
              <a:gd name="adj" fmla="val 2000"/>
            </a:avLst>
          </a:prstGeom>
          <a:solidFill>
            <a:srgbClr val="EA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444752"/>
            <a:ext cx="5193792" cy="859536"/>
          </a:xfrm>
          <a:prstGeom prst="rect">
            <a:avLst/>
          </a:prstGeom>
          <a:noFill/>
        </p:spPr>
        <p:txBody>
          <a:bodyPr wrap="square" lIns="0" rIns="0" tIns="0" bIns="0">
            <a:spAutoFit/>
          </a:bodyPr>
          <a:lstStyle/>
          <a:p>
            <a:r>
              <a:rPr sz="880" b="1">
                <a:solidFill>
                  <a:srgbClr val="122A49"/>
                </a:solidFill>
                <a:latin typeface="Microsoft YaHei"/>
              </a:rPr>
              <a:t>u1【控制面内存直通】UBMEM 共享内存直达 + RCU 无锁索引  </a:t>
            </a:r>
            <a:r>
              <a:rPr sz="819" b="1">
                <a:solidFill>
                  <a:srgbClr val="059669"/>
                </a:solidFill>
                <a:latin typeface="Microsoft YaHei"/>
              </a:rPr>
              <a:t>[基线 90.0% → 目标 97.0% (Δu1 = +7.0%)]</a:t>
            </a:r>
          </a:p>
          <a:p>
            <a:pPr>
              <a:lnSpc>
                <a:spcPct val="110000"/>
              </a:lnSpc>
              <a:spcBef>
                <a:spcPts val="150"/>
              </a:spcBef>
            </a:pPr>
            <a:r>
              <a:rPr sz="740" b="1">
                <a:solidFill>
                  <a:srgbClr val="122A49"/>
                </a:solidFill>
                <a:latin typeface="Microsoft YaHei"/>
              </a:rPr>
              <a:t>• 物理机理：</a:t>
            </a:r>
            <a:r>
              <a:rPr sz="730">
                <a:solidFill>
                  <a:srgbClr val="1A2533"/>
                </a:solidFill>
                <a:latin typeface="Microsoft YaHei"/>
              </a:rPr>
              <a:t>总线共享内存直读前缀目录，指令直读消除 Master RPC 寻址与全局锁；单次查表由 21.0ms 降至 18µs。</a:t>
            </a:r>
          </a:p>
          <a:p>
            <a:pPr>
              <a:lnSpc>
                <a:spcPct val="110000"/>
              </a:lnSpc>
              <a:spcBef>
                <a:spcPts val="150"/>
              </a:spcBef>
            </a:pPr>
            <a:r>
              <a:rPr sz="740" b="1">
                <a:solidFill>
                  <a:srgbClr val="122A49"/>
                </a:solidFill>
                <a:latin typeface="Microsoft YaHei"/>
              </a:rPr>
              <a:t>• 关键收益：</a:t>
            </a:r>
            <a:r>
              <a:rPr sz="730">
                <a:solidFill>
                  <a:srgbClr val="1A2533"/>
                </a:solidFill>
                <a:latin typeface="Microsoft YaHei"/>
              </a:rPr>
              <a:t>固定开销 T_fixed 由 1.60ms 降至 0.575ms (净省 1.03ms)，短前缀盈亏平衡点由 32 降至 10 tokens。</a:t>
            </a:r>
          </a:p>
          <a:p>
            <a:pPr>
              <a:lnSpc>
                <a:spcPct val="110000"/>
              </a:lnSpc>
              <a:spcBef>
                <a:spcPts val="150"/>
              </a:spcBef>
            </a:pPr>
            <a:r>
              <a:rPr sz="740" b="1">
                <a:solidFill>
                  <a:srgbClr val="2D63B8"/>
                </a:solidFill>
                <a:latin typeface="Microsoft YaHei"/>
              </a:rPr>
              <a:t>• 顶会背书：</a:t>
            </a:r>
            <a:r>
              <a:rPr sz="730">
                <a:solidFill>
                  <a:srgbClr val="6B7785"/>
                </a:solidFill>
                <a:latin typeface="Microsoft YaHei"/>
              </a:rPr>
              <a:t>OSDI '26 FORGE (无锁索引吞吐提升 4.5×，P99 提升 7.5×)；OSDI '26 Duhu (内存控制通道 3.8µs)。</a:t>
            </a:r>
          </a:p>
        </p:txBody>
      </p:sp>
      <p:sp>
        <p:nvSpPr>
          <p:cNvPr id="9" name="Rounded Rectangle 8"/>
          <p:cNvSpPr/>
          <p:nvPr/>
        </p:nvSpPr>
        <p:spPr>
          <a:xfrm>
            <a:off x="548640" y="2395728"/>
            <a:ext cx="5413248" cy="950976"/>
          </a:xfrm>
          <a:prstGeom prst="roundRect">
            <a:avLst>
              <a:gd name="adj" fmla="val 2000"/>
            </a:avLst>
          </a:prstGeom>
          <a:solidFill>
            <a:srgbClr val="E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50592"/>
            <a:ext cx="5193792" cy="859536"/>
          </a:xfrm>
          <a:prstGeom prst="rect">
            <a:avLst/>
          </a:prstGeom>
          <a:noFill/>
        </p:spPr>
        <p:txBody>
          <a:bodyPr wrap="square" lIns="0" rIns="0" tIns="0" bIns="0">
            <a:spAutoFit/>
          </a:bodyPr>
          <a:lstStyle/>
          <a:p>
            <a:r>
              <a:rPr sz="880" b="1">
                <a:solidFill>
                  <a:srgbClr val="122A49"/>
                </a:solidFill>
                <a:latin typeface="Microsoft YaHei"/>
              </a:rPr>
              <a:t>u2【语义保真与容错】ConsumeEligibility 6维校验 + ViewGuard 租约  </a:t>
            </a:r>
            <a:r>
              <a:rPr sz="819" b="1">
                <a:solidFill>
                  <a:srgbClr val="059669"/>
                </a:solidFill>
                <a:latin typeface="Microsoft YaHei"/>
              </a:rPr>
              <a:t>[基线 95.0% → 目标 99.0% (Δu2 = +4.0%)]</a:t>
            </a:r>
          </a:p>
          <a:p>
            <a:pPr>
              <a:lnSpc>
                <a:spcPct val="110000"/>
              </a:lnSpc>
              <a:spcBef>
                <a:spcPts val="150"/>
              </a:spcBef>
            </a:pPr>
            <a:r>
              <a:rPr sz="740" b="1">
                <a:solidFill>
                  <a:srgbClr val="122A49"/>
                </a:solidFill>
                <a:latin typeface="Microsoft YaHei"/>
              </a:rPr>
              <a:t>• 物理机理：</a:t>
            </a:r>
            <a:r>
              <a:rPr sz="730">
                <a:solidFill>
                  <a:srgbClr val="1A2533"/>
                </a:solidFill>
                <a:latin typeface="Microsoft YaHei"/>
              </a:rPr>
              <a:t>模型/词表/模板/LoRA/就绪/租约 6 维微秒级合法检查；远端异常与租约超时捕获平滑回滚重算。</a:t>
            </a:r>
          </a:p>
          <a:p>
            <a:pPr>
              <a:lnSpc>
                <a:spcPct val="110000"/>
              </a:lnSpc>
              <a:spcBef>
                <a:spcPts val="150"/>
              </a:spcBef>
            </a:pPr>
            <a:r>
              <a:rPr sz="740" b="1">
                <a:solidFill>
                  <a:srgbClr val="122A49"/>
                </a:solidFill>
                <a:latin typeface="Microsoft YaHei"/>
              </a:rPr>
              <a:t>• 关键收益：</a:t>
            </a:r>
            <a:r>
              <a:rPr sz="730">
                <a:solidFill>
                  <a:srgbClr val="1A2533"/>
                </a:solidFill>
                <a:latin typeface="Microsoft YaHei"/>
              </a:rPr>
              <a:t>业务读脏与版本不一致事故严格为 0，彻底消除 100~300ms 读脏重试惩罚；迟到加载率 &lt; 1%。</a:t>
            </a:r>
          </a:p>
          <a:p>
            <a:pPr>
              <a:lnSpc>
                <a:spcPct val="110000"/>
              </a:lnSpc>
              <a:spcBef>
                <a:spcPts val="150"/>
              </a:spcBef>
            </a:pPr>
            <a:r>
              <a:rPr sz="740" b="1">
                <a:solidFill>
                  <a:srgbClr val="2D63B8"/>
                </a:solidFill>
                <a:latin typeface="Microsoft YaHei"/>
              </a:rPr>
              <a:t>• 顶会背书：</a:t>
            </a:r>
            <a:r>
              <a:rPr sz="730">
                <a:solidFill>
                  <a:srgbClr val="6B7785"/>
                </a:solidFill>
                <a:latin typeface="Microsoft YaHei"/>
              </a:rPr>
              <a:t>SIGMOD '26 Beluga (全命中 QPS 达 7.35×，无守卫首运行 P99 恶化至 44.6s)；NSDI '26 DroidSpeak。</a:t>
            </a:r>
          </a:p>
        </p:txBody>
      </p:sp>
      <p:sp>
        <p:nvSpPr>
          <p:cNvPr id="11" name="Rounded Rectangle 10"/>
          <p:cNvSpPr/>
          <p:nvPr/>
        </p:nvSpPr>
        <p:spPr>
          <a:xfrm>
            <a:off x="548640" y="3401568"/>
            <a:ext cx="5413248" cy="950976"/>
          </a:xfrm>
          <a:prstGeom prst="roundRect">
            <a:avLst>
              <a:gd name="adj" fmla="val 2000"/>
            </a:avLst>
          </a:prstGeom>
          <a:solidFill>
            <a:srgbClr val="EA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456432"/>
            <a:ext cx="5193792" cy="859536"/>
          </a:xfrm>
          <a:prstGeom prst="rect">
            <a:avLst/>
          </a:prstGeom>
          <a:noFill/>
        </p:spPr>
        <p:txBody>
          <a:bodyPr wrap="square" lIns="0" rIns="0" tIns="0" bIns="0">
            <a:spAutoFit/>
          </a:bodyPr>
          <a:lstStyle/>
          <a:p>
            <a:r>
              <a:rPr sz="880" b="1">
                <a:solidFill>
                  <a:srgbClr val="122A49"/>
                </a:solidFill>
                <a:latin typeface="Microsoft YaHei"/>
              </a:rPr>
              <a:t>u3【传输因果掩盖】URMA 零数据拷贝 + 80层逐层因果隐藏流水  </a:t>
            </a:r>
            <a:r>
              <a:rPr sz="819" b="1">
                <a:solidFill>
                  <a:srgbClr val="059669"/>
                </a:solidFill>
                <a:latin typeface="Microsoft YaHei"/>
              </a:rPr>
              <a:t>[基线 95.0% → 目标 99.0% (Δu3 = +4.0%)]</a:t>
            </a:r>
          </a:p>
          <a:p>
            <a:pPr>
              <a:lnSpc>
                <a:spcPct val="110000"/>
              </a:lnSpc>
              <a:spcBef>
                <a:spcPts val="150"/>
              </a:spcBef>
            </a:pPr>
            <a:r>
              <a:rPr sz="740" b="1">
                <a:solidFill>
                  <a:srgbClr val="122A49"/>
                </a:solidFill>
                <a:latin typeface="Microsoft YaHei"/>
              </a:rPr>
              <a:t>• 物理机理：</a:t>
            </a:r>
            <a:r>
              <a:rPr sz="730">
                <a:solidFill>
                  <a:srgbClr val="1A2533"/>
                </a:solidFill>
                <a:latin typeface="Microsoft YaHei"/>
              </a:rPr>
              <a:t>Host CPU 仅下发描述符 (Payload 零拷贝)；单层计算 c=2.75ms 远大于传输 x=0.31ms，79 层全掩盖。</a:t>
            </a:r>
          </a:p>
          <a:p>
            <a:pPr>
              <a:lnSpc>
                <a:spcPct val="110000"/>
              </a:lnSpc>
              <a:spcBef>
                <a:spcPts val="150"/>
              </a:spcBef>
            </a:pPr>
            <a:r>
              <a:rPr sz="740" b="1">
                <a:solidFill>
                  <a:srgbClr val="122A49"/>
                </a:solidFill>
                <a:latin typeface="Microsoft YaHei"/>
              </a:rPr>
              <a:t>• 关键收益：</a:t>
            </a:r>
            <a:r>
              <a:rPr sz="730">
                <a:solidFill>
                  <a:srgbClr val="1A2533"/>
                </a:solidFill>
                <a:latin typeface="Microsoft YaHei"/>
              </a:rPr>
              <a:t>因果流水掩盖率达 98.7% (仅暴露首层 0.31ms)；加载耗时 T_load 由 10.0ms 降至 4.5ms (净省 5.5ms)。</a:t>
            </a:r>
          </a:p>
          <a:p>
            <a:pPr>
              <a:lnSpc>
                <a:spcPct val="110000"/>
              </a:lnSpc>
              <a:spcBef>
                <a:spcPts val="150"/>
              </a:spcBef>
            </a:pPr>
            <a:r>
              <a:rPr sz="740" b="1">
                <a:solidFill>
                  <a:srgbClr val="2D63B8"/>
                </a:solidFill>
                <a:latin typeface="Microsoft YaHei"/>
              </a:rPr>
              <a:t>• 顶会背书：</a:t>
            </a:r>
            <a:r>
              <a:rPr sz="730">
                <a:solidFill>
                  <a:srgbClr val="6B7785"/>
                </a:solidFill>
                <a:latin typeface="Microsoft YaHei"/>
              </a:rPr>
              <a:t>OSDI '26 DirectKV (消除缓冲时延降 49%，显存省 43%)；NSDI '26 SYMPHONY (关流水吞吐降 18.4%~7×)。</a:t>
            </a:r>
          </a:p>
        </p:txBody>
      </p:sp>
      <p:sp>
        <p:nvSpPr>
          <p:cNvPr id="13" name="Rounded Rectangle 12"/>
          <p:cNvSpPr/>
          <p:nvPr/>
        </p:nvSpPr>
        <p:spPr>
          <a:xfrm>
            <a:off x="548640" y="4407408"/>
            <a:ext cx="5413248" cy="950976"/>
          </a:xfrm>
          <a:prstGeom prst="roundRect">
            <a:avLst>
              <a:gd name="adj" fmla="val 2000"/>
            </a:avLst>
          </a:prstGeom>
          <a:solidFill>
            <a:srgbClr val="FFF5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462272"/>
            <a:ext cx="5193792" cy="859536"/>
          </a:xfrm>
          <a:prstGeom prst="rect">
            <a:avLst/>
          </a:prstGeom>
          <a:noFill/>
        </p:spPr>
        <p:txBody>
          <a:bodyPr wrap="square" lIns="0" rIns="0" tIns="0" bIns="0">
            <a:spAutoFit/>
          </a:bodyPr>
          <a:lstStyle/>
          <a:p>
            <a:r>
              <a:rPr sz="880" b="1">
                <a:solidFill>
                  <a:srgbClr val="122A49"/>
                </a:solidFill>
                <a:latin typeface="Microsoft YaHei"/>
              </a:rPr>
              <a:t>u4【混压流控与共识】TC0/TC1 双轨 QoS + 令牌桶 + RankConsensus  </a:t>
            </a:r>
            <a:r>
              <a:rPr sz="819" b="1">
                <a:solidFill>
                  <a:srgbClr val="059669"/>
                </a:solidFill>
                <a:latin typeface="Microsoft YaHei"/>
              </a:rPr>
              <a:t>[基线 98.0% → 目标 99.0% (Δu4 = +1.0%)]</a:t>
            </a:r>
          </a:p>
          <a:p>
            <a:pPr>
              <a:lnSpc>
                <a:spcPct val="110000"/>
              </a:lnSpc>
              <a:spcBef>
                <a:spcPts val="150"/>
              </a:spcBef>
            </a:pPr>
            <a:r>
              <a:rPr sz="740" b="1">
                <a:solidFill>
                  <a:srgbClr val="122A49"/>
                </a:solidFill>
                <a:latin typeface="Microsoft YaHei"/>
              </a:rPr>
              <a:t>• 物理机理：</a:t>
            </a:r>
            <a:r>
              <a:rPr sz="730">
                <a:solidFill>
                  <a:srgbClr val="1A2533"/>
                </a:solidFill>
                <a:latin typeface="Microsoft YaHei"/>
              </a:rPr>
              <a:t>DSCP/CoS 硬件优先级队列硬隔离与微秒退避；令牌桶削峰防 Incast；共享内存 TP=8 原子同步。</a:t>
            </a:r>
          </a:p>
          <a:p>
            <a:pPr>
              <a:lnSpc>
                <a:spcPct val="110000"/>
              </a:lnSpc>
              <a:spcBef>
                <a:spcPts val="150"/>
              </a:spcBef>
            </a:pPr>
            <a:r>
              <a:rPr sz="740" b="1">
                <a:solidFill>
                  <a:srgbClr val="122A49"/>
                </a:solidFill>
                <a:latin typeface="Microsoft YaHei"/>
              </a:rPr>
              <a:t>• 关键收益：</a:t>
            </a:r>
            <a:r>
              <a:rPr sz="730">
                <a:solidFill>
                  <a:srgbClr val="1A2533"/>
                </a:solidFill>
                <a:latin typeface="Microsoft YaHei"/>
              </a:rPr>
              <a:t>显存争用扰动锁死在 β ≤ 1.8% (基线 16.5%)；多卡偏斜比从 2.85 压低至 1.14，同步延迟降至 0.08ms。</a:t>
            </a:r>
          </a:p>
          <a:p>
            <a:pPr>
              <a:lnSpc>
                <a:spcPct val="110000"/>
              </a:lnSpc>
              <a:spcBef>
                <a:spcPts val="150"/>
              </a:spcBef>
            </a:pPr>
            <a:r>
              <a:rPr sz="740" b="1">
                <a:solidFill>
                  <a:srgbClr val="2D63B8"/>
                </a:solidFill>
                <a:latin typeface="Microsoft YaHei"/>
              </a:rPr>
              <a:t>• 顶会背书：</a:t>
            </a:r>
            <a:r>
              <a:rPr sz="730">
                <a:solidFill>
                  <a:srgbClr val="6B7785"/>
                </a:solidFill>
                <a:latin typeface="Microsoft YaHei"/>
              </a:rPr>
              <a:t>FAST '26 Bidaw (双队列调度 P99 降 47.03%)；NSDI '26 MemChannel (大流混压恶化 6.9×，流控降 43%)。</a:t>
            </a:r>
          </a:p>
        </p:txBody>
      </p:sp>
      <p:pic>
        <p:nvPicPr>
          <p:cNvPr id="15" name="Picture 14" descr="formula_slide8_funnel_breakeven.png"/>
          <p:cNvPicPr>
            <a:picLocks noChangeAspect="1"/>
          </p:cNvPicPr>
          <p:nvPr/>
        </p:nvPicPr>
        <p:blipFill>
          <a:blip r:embed="rId2"/>
          <a:stretch>
            <a:fillRect/>
          </a:stretch>
        </p:blipFill>
        <p:spPr>
          <a:xfrm>
            <a:off x="548640" y="5413248"/>
            <a:ext cx="5413248" cy="585216"/>
          </a:xfrm>
          <a:prstGeom prst="rect">
            <a:avLst/>
          </a:prstGeom>
        </p:spPr>
      </p:pic>
      <p:sp>
        <p:nvSpPr>
          <p:cNvPr id="16" name="TextBox 15"/>
          <p:cNvSpPr txBox="1"/>
          <p:nvPr/>
        </p:nvSpPr>
        <p:spPr>
          <a:xfrm>
            <a:off x="585216" y="6016752"/>
            <a:ext cx="5340096" cy="164592"/>
          </a:xfrm>
          <a:prstGeom prst="rect">
            <a:avLst/>
          </a:prstGeom>
          <a:noFill/>
        </p:spPr>
        <p:txBody>
          <a:bodyPr wrap="square" lIns="0" rIns="0" tIns="0" bIns="0">
            <a:spAutoFit/>
          </a:bodyPr>
          <a:lstStyle/>
          <a:p>
            <a:r>
              <a:rPr sz="740" b="1">
                <a:solidFill>
                  <a:srgbClr val="2D63B8"/>
                </a:solidFill>
                <a:latin typeface="Microsoft YaHei"/>
              </a:rPr>
              <a:t>• 漏斗收窄效应： </a:t>
            </a:r>
            <a:r>
              <a:rPr sz="730">
                <a:solidFill>
                  <a:srgbClr val="1A2533"/>
                </a:solidFill>
                <a:latin typeface="Microsoft YaHei"/>
              </a:rPr>
              <a:t>综合转化率跃升 +14.52%，将 Saved-Prefill 获益门槛从 32 tokens 显著拓宽至 10 tokens。</a:t>
            </a:r>
          </a:p>
        </p:txBody>
      </p:sp>
      <p:pic>
        <p:nvPicPr>
          <p:cNvPr id="17" name="Picture 16" descr="formula_slide8_ttft_stack.png"/>
          <p:cNvPicPr>
            <a:picLocks noChangeAspect="1"/>
          </p:cNvPicPr>
          <p:nvPr/>
        </p:nvPicPr>
        <p:blipFill>
          <a:blip r:embed="rId3"/>
          <a:stretch>
            <a:fillRect/>
          </a:stretch>
        </p:blipFill>
        <p:spPr>
          <a:xfrm>
            <a:off x="6227064" y="1389888"/>
            <a:ext cx="5413248" cy="585216"/>
          </a:xfrm>
          <a:prstGeom prst="rect">
            <a:avLst/>
          </a:prstGeom>
        </p:spPr>
      </p:pic>
      <p:sp>
        <p:nvSpPr>
          <p:cNvPr id="18" name="TextBox 17"/>
          <p:cNvSpPr txBox="1"/>
          <p:nvPr/>
        </p:nvSpPr>
        <p:spPr>
          <a:xfrm>
            <a:off x="6263640" y="1993392"/>
            <a:ext cx="5340096" cy="365760"/>
          </a:xfrm>
          <a:prstGeom prst="rect">
            <a:avLst/>
          </a:prstGeom>
          <a:noFill/>
        </p:spPr>
        <p:txBody>
          <a:bodyPr wrap="square" lIns="0" rIns="0" tIns="0" bIns="0">
            <a:spAutoFit/>
          </a:bodyPr>
          <a:lstStyle/>
          <a:p>
            <a:pPr>
              <a:lnSpc>
                <a:spcPct val="108000"/>
              </a:lnSpc>
            </a:pPr>
            <a:r>
              <a:rPr sz="740" b="1">
                <a:solidFill>
                  <a:srgbClr val="122A49"/>
                </a:solidFill>
                <a:latin typeface="Microsoft YaHei"/>
              </a:rPr>
              <a:t>• 机理闭环： </a:t>
            </a:r>
            <a:r>
              <a:rPr sz="730">
                <a:solidFill>
                  <a:srgbClr val="1A2533"/>
                </a:solidFill>
                <a:latin typeface="Microsoft YaHei"/>
              </a:rPr>
              <a:t>三步线性加和 ΔTTFT = ΔT_fixed(u1) + r(T_prefill - T_load)Δu + r·u·ΔT_load(u3) = 7.24ms (↓14.6%)。</a:t>
            </a:r>
          </a:p>
          <a:p>
            <a:pPr>
              <a:lnSpc>
                <a:spcPct val="108000"/>
              </a:lnSpc>
              <a:spcBef>
                <a:spcPts val="150"/>
              </a:spcBef>
            </a:pPr>
            <a:r>
              <a:rPr sz="740" b="1">
                <a:solidFill>
                  <a:srgbClr val="122A49"/>
                </a:solidFill>
                <a:latin typeface="Microsoft YaHei"/>
              </a:rPr>
              <a:t>• 算例达成： </a:t>
            </a:r>
            <a:r>
              <a:rPr sz="730">
                <a:solidFill>
                  <a:srgbClr val="1A2533"/>
                </a:solidFill>
                <a:latin typeface="Microsoft YaHei"/>
              </a:rPr>
              <a:t>4K 上下文净提速 51.1ms (272ms → 220.8ms, ↓18.8%~52.6%)；背书：OSDI '26 DirectKV (时延直降 49%)。</a:t>
            </a:r>
          </a:p>
        </p:txBody>
      </p:sp>
      <p:pic>
        <p:nvPicPr>
          <p:cNvPr id="19" name="Picture 18" descr="formula_slide8_tpot_qos.png"/>
          <p:cNvPicPr>
            <a:picLocks noChangeAspect="1"/>
          </p:cNvPicPr>
          <p:nvPr/>
        </p:nvPicPr>
        <p:blipFill>
          <a:blip r:embed="rId4"/>
          <a:stretch>
            <a:fillRect/>
          </a:stretch>
        </p:blipFill>
        <p:spPr>
          <a:xfrm>
            <a:off x="6227064" y="2432304"/>
            <a:ext cx="5413248" cy="585216"/>
          </a:xfrm>
          <a:prstGeom prst="rect">
            <a:avLst/>
          </a:prstGeom>
        </p:spPr>
      </p:pic>
      <p:sp>
        <p:nvSpPr>
          <p:cNvPr id="20" name="TextBox 19"/>
          <p:cNvSpPr txBox="1"/>
          <p:nvPr/>
        </p:nvSpPr>
        <p:spPr>
          <a:xfrm>
            <a:off x="6263640" y="3035808"/>
            <a:ext cx="5340096" cy="365760"/>
          </a:xfrm>
          <a:prstGeom prst="rect">
            <a:avLst/>
          </a:prstGeom>
          <a:noFill/>
        </p:spPr>
        <p:txBody>
          <a:bodyPr wrap="square" lIns="0" rIns="0" tIns="0" bIns="0">
            <a:spAutoFit/>
          </a:bodyPr>
          <a:lstStyle/>
          <a:p>
            <a:pPr>
              <a:lnSpc>
                <a:spcPct val="108000"/>
              </a:lnSpc>
            </a:pPr>
            <a:r>
              <a:rPr sz="740" b="1">
                <a:solidFill>
                  <a:srgbClr val="122A49"/>
                </a:solidFill>
                <a:latin typeface="Microsoft YaHei"/>
              </a:rPr>
              <a:t>• 机理闭环： </a:t>
            </a:r>
            <a:r>
              <a:rPr sz="730">
                <a:solidFill>
                  <a:srgbClr val="1A2533"/>
                </a:solidFill>
                <a:latin typeface="Microsoft YaHei"/>
              </a:rPr>
              <a:t>Decode 访存耗时占比 85%；开源无隔离 β=16.5% 致干扰率 16.8%；TC0/TC1 硬隔离将损失锁死在 β ≤ 1.8%。</a:t>
            </a:r>
          </a:p>
          <a:p>
            <a:pPr>
              <a:lnSpc>
                <a:spcPct val="108000"/>
              </a:lnSpc>
              <a:spcBef>
                <a:spcPts val="150"/>
              </a:spcBef>
            </a:pPr>
            <a:r>
              <a:rPr sz="740" b="1">
                <a:solidFill>
                  <a:srgbClr val="122A49"/>
                </a:solidFill>
                <a:latin typeface="Microsoft YaHei"/>
              </a:rPr>
              <a:t>• 算例达成： </a:t>
            </a:r>
            <a:r>
              <a:rPr sz="730">
                <a:solidFill>
                  <a:srgbClr val="1A2533"/>
                </a:solidFill>
                <a:latin typeface="Microsoft YaHei"/>
              </a:rPr>
              <a:t>前台在线 TPOT 干扰率仅 1.57% (远优于 ≤ 3% 工业红线)；背书：FAST '26 Bidaw (双队列调度 P99 降 47%)。</a:t>
            </a:r>
          </a:p>
        </p:txBody>
      </p:sp>
      <p:pic>
        <p:nvPicPr>
          <p:cNvPr id="21" name="Picture 20" descr="formula_slide8_p99_consensus.png"/>
          <p:cNvPicPr>
            <a:picLocks noChangeAspect="1"/>
          </p:cNvPicPr>
          <p:nvPr/>
        </p:nvPicPr>
        <p:blipFill>
          <a:blip r:embed="rId5"/>
          <a:stretch>
            <a:fillRect/>
          </a:stretch>
        </p:blipFill>
        <p:spPr>
          <a:xfrm>
            <a:off x="6227064" y="3474720"/>
            <a:ext cx="5413248" cy="585216"/>
          </a:xfrm>
          <a:prstGeom prst="rect">
            <a:avLst/>
          </a:prstGeom>
        </p:spPr>
      </p:pic>
      <p:sp>
        <p:nvSpPr>
          <p:cNvPr id="22" name="TextBox 21"/>
          <p:cNvSpPr txBox="1"/>
          <p:nvPr/>
        </p:nvSpPr>
        <p:spPr>
          <a:xfrm>
            <a:off x="6263640" y="4078224"/>
            <a:ext cx="5340096" cy="365760"/>
          </a:xfrm>
          <a:prstGeom prst="rect">
            <a:avLst/>
          </a:prstGeom>
          <a:noFill/>
        </p:spPr>
        <p:txBody>
          <a:bodyPr wrap="square" lIns="0" rIns="0" tIns="0" bIns="0">
            <a:spAutoFit/>
          </a:bodyPr>
          <a:lstStyle/>
          <a:p>
            <a:pPr>
              <a:lnSpc>
                <a:spcPct val="108000"/>
              </a:lnSpc>
            </a:pPr>
            <a:r>
              <a:rPr sz="740" b="1">
                <a:solidFill>
                  <a:srgbClr val="122A49"/>
                </a:solidFill>
                <a:latin typeface="Microsoft YaHei"/>
              </a:rPr>
              <a:t>• 机理闭环： </a:t>
            </a:r>
            <a:r>
              <a:rPr sz="730">
                <a:solidFill>
                  <a:srgbClr val="1A2533"/>
                </a:solidFill>
                <a:latin typeface="Microsoft YaHei"/>
              </a:rPr>
              <a:t>令牌桶突发整形 σ ≤ 16MB 满足排队界 D* ≤ 2ms 根除 Incast；多卡原子协同将偏斜比由 2.85 压低至 1.14。</a:t>
            </a:r>
          </a:p>
          <a:p>
            <a:pPr>
              <a:lnSpc>
                <a:spcPct val="108000"/>
              </a:lnSpc>
              <a:spcBef>
                <a:spcPts val="150"/>
              </a:spcBef>
            </a:pPr>
            <a:r>
              <a:rPr sz="740" b="1">
                <a:solidFill>
                  <a:srgbClr val="122A49"/>
                </a:solidFill>
                <a:latin typeface="Microsoft YaHei"/>
              </a:rPr>
              <a:t>• 算例达成： </a:t>
            </a:r>
            <a:r>
              <a:rPr sz="730">
                <a:solidFill>
                  <a:srgbClr val="1A2533"/>
                </a:solidFill>
                <a:latin typeface="Microsoft YaHei"/>
              </a:rPr>
              <a:t>16 并发混压下 P99 TTFT 缩短 46.0% (468.5ms → 253.3ms，净削减 215ms)；背书：NSDI '26 Libra (消除慢卡)。</a:t>
            </a:r>
          </a:p>
        </p:txBody>
      </p:sp>
      <p:sp>
        <p:nvSpPr>
          <p:cNvPr id="23" name="Rounded Rectangle 22"/>
          <p:cNvSpPr/>
          <p:nvPr/>
        </p:nvSpPr>
        <p:spPr>
          <a:xfrm>
            <a:off x="6227064" y="4535424"/>
            <a:ext cx="5413248" cy="1645920"/>
          </a:xfrm>
          <a:prstGeom prst="roundRect">
            <a:avLst>
              <a:gd name="adj" fmla="val 2000"/>
            </a:avLst>
          </a:prstGeom>
          <a:solidFill>
            <a:srgbClr val="FF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36792" y="4608576"/>
            <a:ext cx="5193792" cy="1536192"/>
          </a:xfrm>
          <a:prstGeom prst="rect">
            <a:avLst/>
          </a:prstGeom>
          <a:noFill/>
        </p:spPr>
        <p:txBody>
          <a:bodyPr wrap="square" lIns="0" rIns="0" tIns="0" bIns="0">
            <a:spAutoFit/>
          </a:bodyPr>
          <a:lstStyle/>
          <a:p>
            <a:pPr>
              <a:defRPr sz="880" b="1">
                <a:solidFill>
                  <a:srgbClr val="C00000"/>
                </a:solidFill>
                <a:latin typeface="Microsoft YaHei"/>
              </a:defRPr>
            </a:pPr>
            <a:r>
              <a:t>【TCO 投资回报综合对账】底层工程技术驱动业务 ROI 改善的三大硬核逻辑</a:t>
            </a:r>
          </a:p>
          <a:p>
            <a:pPr>
              <a:lnSpc>
                <a:spcPct val="112000"/>
              </a:lnSpc>
              <a:spcBef>
                <a:spcPts val="300"/>
              </a:spcBef>
            </a:pPr>
            <a:r>
              <a:rPr sz="750" b="1">
                <a:solidFill>
                  <a:srgbClr val="122A49"/>
                </a:solidFill>
                <a:latin typeface="Microsoft YaHei"/>
              </a:rPr>
              <a:t>• 算力维度（释放 Prefill 算力）：</a:t>
            </a:r>
            <a:r>
              <a:rPr sz="740">
                <a:solidFill>
                  <a:srgbClr val="1A2533"/>
                </a:solidFill>
                <a:latin typeface="Microsoft YaHei"/>
              </a:rPr>
              <a:t>通过 Saved-Prefill 节省 18.8%~52.6% 冗余计算，集群算力得以专注用于有效 Decode 生成；单次有效请求综合计算成本降低 ≥ 35%。</a:t>
            </a:r>
          </a:p>
          <a:p>
            <a:pPr>
              <a:lnSpc>
                <a:spcPct val="112000"/>
              </a:lnSpc>
              <a:spcBef>
                <a:spcPts val="300"/>
              </a:spcBef>
            </a:pPr>
            <a:r>
              <a:rPr sz="750" b="1">
                <a:solidFill>
                  <a:srgbClr val="122A49"/>
                </a:solidFill>
                <a:latin typeface="Microsoft YaHei"/>
              </a:rPr>
              <a:t>• 硬件维度（突破物理显存成本墙）：</a:t>
            </a:r>
            <a:r>
              <a:rPr sz="740">
                <a:solidFill>
                  <a:srgbClr val="1A2533"/>
                </a:solidFill>
                <a:latin typeface="Microsoft YaHei"/>
              </a:rPr>
              <a:t>KVObject 跨介质异步下沉 NVMe SSD，单机等效显存容量提升 30%~50%，同等显存配置下支撑高 1.4~1.8 倍的并发请求，大幅降低整机 TCO。</a:t>
            </a:r>
          </a:p>
          <a:p>
            <a:pPr>
              <a:lnSpc>
                <a:spcPct val="112000"/>
              </a:lnSpc>
              <a:spcBef>
                <a:spcPts val="300"/>
              </a:spcBef>
            </a:pPr>
            <a:r>
              <a:rPr sz="750" b="1">
                <a:solidFill>
                  <a:srgbClr val="122A49"/>
                </a:solidFill>
                <a:latin typeface="Microsoft YaHei"/>
              </a:rPr>
              <a:t>• 业务维度（收敛长尾保障 SLO）：</a:t>
            </a:r>
            <a:r>
              <a:rPr sz="740">
                <a:solidFill>
                  <a:srgbClr val="1A2533"/>
                </a:solidFill>
                <a:latin typeface="Microsoft YaHei"/>
              </a:rPr>
              <a:t>P99 尾部抖动削减 215ms (↓46.0%)，前台 TPOT 干扰率严格锁在 1.57%，驱动在线业务满足 SLO 延时要求的有效达标率由 95% 跃升至 98% 以上。</a:t>
            </a:r>
          </a:p>
        </p:txBody>
      </p:sp>
      <p:sp>
        <p:nvSpPr>
          <p:cNvPr id="25" name="Rectangle 24"/>
          <p:cNvSpPr/>
          <p:nvPr/>
        </p:nvSpPr>
        <p:spPr>
          <a:xfrm>
            <a:off x="548640" y="6327648"/>
            <a:ext cx="11091672" cy="320040"/>
          </a:xfrm>
          <a:prstGeom prst="rect">
            <a:avLst/>
          </a:prstGeom>
          <a:solidFill>
            <a:srgbClr val="2D63B8"/>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8288" bIns="18288"/>
          <a:lstStyle/>
          <a:p>
            <a:pPr algn="ctr">
              <a:defRPr sz="1100" b="1">
                <a:solidFill>
                  <a:srgbClr val="FFFFFF"/>
                </a:solidFill>
                <a:latin typeface="Microsoft YaHei"/>
              </a:defRPr>
            </a:pPr>
            <a:r>
              <a:t>核心结论：u1~u4 四大关键技术通过严密数学公式实现宏观指标确定性闭环：TTFT 净提速 18.8%~52.6%、前台 TPOT 干扰率仅 1.57%、P99 尾部时延缩短 46.0%！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1792" y="292608"/>
            <a:ext cx="9875520" cy="438912"/>
          </a:xfrm>
          <a:prstGeom prst="rect">
            <a:avLst/>
          </a:prstGeom>
          <a:noFill/>
        </p:spPr>
        <p:txBody>
          <a:bodyPr wrap="square" lIns="0" rIns="0" tIns="0" bIns="0">
            <a:spAutoFit/>
          </a:bodyPr>
          <a:lstStyle/>
          <a:p>
            <a:pPr>
              <a:defRPr sz="2100" b="1">
                <a:solidFill>
                  <a:srgbClr val="122A49"/>
                </a:solidFill>
                <a:latin typeface="Microsoft YaHei"/>
              </a:defRPr>
            </a:pPr>
            <a:r>
              <a:t>汇报完毕，敬请各位专家批评指正</a:t>
            </a:r>
          </a:p>
        </p:txBody>
      </p:sp>
      <p:sp>
        <p:nvSpPr>
          <p:cNvPr id="3" name="TextBox 2"/>
          <p:cNvSpPr txBox="1"/>
          <p:nvPr/>
        </p:nvSpPr>
        <p:spPr>
          <a:xfrm>
            <a:off x="640080" y="749808"/>
            <a:ext cx="9875520" cy="274320"/>
          </a:xfrm>
          <a:prstGeom prst="rect">
            <a:avLst/>
          </a:prstGeom>
          <a:noFill/>
        </p:spPr>
        <p:txBody>
          <a:bodyPr wrap="square" lIns="0" rIns="0" tIns="0" bIns="0">
            <a:spAutoFit/>
          </a:bodyPr>
          <a:lstStyle/>
          <a:p>
            <a:pPr>
              <a:defRPr sz="1200">
                <a:solidFill>
                  <a:srgbClr val="6B7785"/>
                </a:solidFill>
                <a:latin typeface="Microsoft YaHei"/>
              </a:defRPr>
            </a:pPr>
            <a:r>
              <a:t>KVC 统一异构存储池关键技术优化与验证进展汇报 · Q&amp;A 问答与研讨交流</a:t>
            </a:r>
          </a:p>
        </p:txBody>
      </p:sp>
      <p:sp>
        <p:nvSpPr>
          <p:cNvPr id="4" name="TextBox 3"/>
          <p:cNvSpPr txBox="1"/>
          <p:nvPr/>
        </p:nvSpPr>
        <p:spPr>
          <a:xfrm>
            <a:off x="10607040" y="320040"/>
            <a:ext cx="1005840" cy="274320"/>
          </a:xfrm>
          <a:prstGeom prst="rect">
            <a:avLst/>
          </a:prstGeom>
          <a:noFill/>
        </p:spPr>
        <p:txBody>
          <a:bodyPr wrap="none" lIns="0" rIns="0" tIns="0" bIns="0">
            <a:spAutoFit/>
          </a:bodyPr>
          <a:lstStyle/>
          <a:p>
            <a:pPr algn="r">
              <a:defRPr sz="1300" b="1">
                <a:solidFill>
                  <a:srgbClr val="6B7785"/>
                </a:solidFill>
                <a:latin typeface="Microsoft YaHei"/>
              </a:defRPr>
            </a:pPr>
            <a:r>
              <a:t>09 / 09</a:t>
            </a:r>
          </a:p>
        </p:txBody>
      </p:sp>
      <p:sp>
        <p:nvSpPr>
          <p:cNvPr id="5" name="Rounded Rectangle 4"/>
          <p:cNvSpPr/>
          <p:nvPr/>
        </p:nvSpPr>
        <p:spPr>
          <a:xfrm>
            <a:off x="548640" y="1188720"/>
            <a:ext cx="5394960" cy="2331720"/>
          </a:xfrm>
          <a:prstGeom prst="roundRect">
            <a:avLst>
              <a:gd name="adj" fmla="val 2000"/>
            </a:avLst>
          </a:prstGeom>
          <a:solidFill>
            <a:srgbClr val="EA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53312"/>
            <a:ext cx="5029200" cy="2002536"/>
          </a:xfrm>
          <a:prstGeom prst="rect">
            <a:avLst/>
          </a:prstGeom>
          <a:noFill/>
        </p:spPr>
        <p:txBody>
          <a:bodyPr wrap="square" lIns="0" rIns="0" tIns="0" bIns="0">
            <a:spAutoFit/>
          </a:bodyPr>
          <a:lstStyle/>
          <a:p>
            <a:pPr>
              <a:defRPr sz="1250" b="1">
                <a:solidFill>
                  <a:srgbClr val="122A49"/>
                </a:solidFill>
                <a:latin typeface="Microsoft YaHei"/>
              </a:defRPr>
            </a:pPr>
            <a:r>
              <a:t>01 · 体系结构物理瓶颈剖析</a:t>
            </a:r>
          </a:p>
          <a:p>
            <a:pPr>
              <a:spcBef>
                <a:spcPts val="400"/>
              </a:spcBef>
              <a:defRPr sz="1000" b="1">
                <a:solidFill>
                  <a:srgbClr val="2D63B8"/>
                </a:solidFill>
                <a:latin typeface="Microsoft YaHei"/>
              </a:defRPr>
            </a:pPr>
            <a:r>
              <a:t>【核心论据：五大物理瓶颈 · 15 篇顶级顶会实测】</a:t>
            </a:r>
          </a:p>
          <a:p>
            <a:pPr>
              <a:lnSpc>
                <a:spcPct val="125000"/>
              </a:lnSpc>
              <a:spcBef>
                <a:spcPts val="800"/>
              </a:spcBef>
            </a:pPr>
            <a:r>
              <a:rPr sz="960" b="1">
                <a:solidFill>
                  <a:srgbClr val="2D63B8"/>
                </a:solidFill>
                <a:latin typeface="Microsoft YaHei"/>
              </a:rPr>
              <a:t>• 开源缺陷对标： </a:t>
            </a:r>
            <a:r>
              <a:rPr sz="950">
                <a:solidFill>
                  <a:srgbClr val="1A2533"/>
                </a:solidFill>
                <a:latin typeface="Microsoft YaHei"/>
              </a:rPr>
              <a:t>深度剖析 Mooncake 在 CPU 中转、64KB 盲发、离散序列化、静态选路与缺乏 QoS 的物理制约。</a:t>
            </a:r>
          </a:p>
          <a:p>
            <a:pPr>
              <a:lnSpc>
                <a:spcPct val="125000"/>
              </a:lnSpc>
              <a:spcBef>
                <a:spcPts val="800"/>
              </a:spcBef>
            </a:pPr>
            <a:r>
              <a:rPr sz="960" b="1">
                <a:solidFill>
                  <a:srgbClr val="2D63B8"/>
                </a:solidFill>
                <a:latin typeface="Microsoft YaHei"/>
              </a:rPr>
              <a:t>• 指标靶向明确： </a:t>
            </a:r>
            <a:r>
              <a:rPr sz="950">
                <a:solidFill>
                  <a:srgbClr val="1A2533"/>
                </a:solidFill>
                <a:latin typeface="Microsoft YaHei"/>
              </a:rPr>
              <a:t>全部优化均聚焦突破在线推理 TTFT 首字时延、TPOT 单字耗时与尾部抖动三大关键指标。</a:t>
            </a:r>
          </a:p>
        </p:txBody>
      </p:sp>
      <p:sp>
        <p:nvSpPr>
          <p:cNvPr id="7" name="Rounded Rectangle 6"/>
          <p:cNvSpPr/>
          <p:nvPr/>
        </p:nvSpPr>
        <p:spPr>
          <a:xfrm>
            <a:off x="6245352" y="1188720"/>
            <a:ext cx="5394960" cy="2331720"/>
          </a:xfrm>
          <a:prstGeom prst="roundRect">
            <a:avLst>
              <a:gd name="adj" fmla="val 2000"/>
            </a:avLst>
          </a:prstGeom>
          <a:solidFill>
            <a:srgbClr val="E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353312"/>
            <a:ext cx="5029200" cy="2002536"/>
          </a:xfrm>
          <a:prstGeom prst="rect">
            <a:avLst/>
          </a:prstGeom>
          <a:noFill/>
        </p:spPr>
        <p:txBody>
          <a:bodyPr wrap="square" lIns="0" rIns="0" tIns="0" bIns="0">
            <a:spAutoFit/>
          </a:bodyPr>
          <a:lstStyle/>
          <a:p>
            <a:pPr>
              <a:defRPr sz="1250" b="1">
                <a:solidFill>
                  <a:srgbClr val="122A49"/>
                </a:solidFill>
                <a:latin typeface="Microsoft YaHei"/>
              </a:defRPr>
            </a:pPr>
            <a:r>
              <a:t>02 · 11 项软硬协同关键技术矩阵</a:t>
            </a:r>
          </a:p>
          <a:p>
            <a:pPr>
              <a:spcBef>
                <a:spcPts val="400"/>
              </a:spcBef>
              <a:defRPr sz="1000" b="1">
                <a:solidFill>
                  <a:srgbClr val="2D63B8"/>
                </a:solidFill>
                <a:latin typeface="Microsoft YaHei"/>
              </a:defRPr>
            </a:pPr>
            <a:r>
              <a:t>【优化体系：从痛点到解法一一闭环 · 纯软双轨兜底】</a:t>
            </a:r>
          </a:p>
          <a:p>
            <a:pPr>
              <a:lnSpc>
                <a:spcPct val="125000"/>
              </a:lnSpc>
              <a:spcBef>
                <a:spcPts val="800"/>
              </a:spcBef>
            </a:pPr>
            <a:r>
              <a:rPr sz="960" b="1">
                <a:solidFill>
                  <a:srgbClr val="2D63B8"/>
                </a:solidFill>
                <a:latin typeface="Microsoft YaHei"/>
              </a:rPr>
              <a:t>• 软硬协同攻坚： </a:t>
            </a:r>
            <a:r>
              <a:rPr sz="950">
                <a:solidFill>
                  <a:srgbClr val="1A2533"/>
                </a:solidFill>
                <a:latin typeface="Microsoft YaHei"/>
              </a:rPr>
              <a:t>依托 UBMEM / URMA 直通底座，构建零拷贝驱动、64B 描述符编译、微秒选路与硬件 QoS 隔离。</a:t>
            </a:r>
          </a:p>
          <a:p>
            <a:pPr>
              <a:lnSpc>
                <a:spcPct val="125000"/>
              </a:lnSpc>
              <a:spcBef>
                <a:spcPts val="800"/>
              </a:spcBef>
            </a:pPr>
            <a:r>
              <a:rPr sz="960" b="1">
                <a:solidFill>
                  <a:srgbClr val="2D63B8"/>
                </a:solidFill>
                <a:latin typeface="Microsoft YaHei"/>
              </a:rPr>
              <a:t>• 解除外部依赖： </a:t>
            </a:r>
            <a:r>
              <a:rPr sz="950">
                <a:solidFill>
                  <a:srgbClr val="1A2533"/>
                </a:solidFill>
                <a:latin typeface="Microsoft YaHei"/>
              </a:rPr>
              <a:t>建立 11 项提前验证一一映射，设计软件 RCU 无锁页迁移与纯软双轨，彻底保障系统自主可控。</a:t>
            </a:r>
          </a:p>
        </p:txBody>
      </p:sp>
      <p:sp>
        <p:nvSpPr>
          <p:cNvPr id="9" name="Rounded Rectangle 8"/>
          <p:cNvSpPr/>
          <p:nvPr/>
        </p:nvSpPr>
        <p:spPr>
          <a:xfrm>
            <a:off x="548640" y="3749039"/>
            <a:ext cx="5394960" cy="2331720"/>
          </a:xfrm>
          <a:prstGeom prst="roundRect">
            <a:avLst>
              <a:gd name="adj" fmla="val 2000"/>
            </a:avLst>
          </a:prstGeom>
          <a:solidFill>
            <a:srgbClr val="FFF5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913631"/>
            <a:ext cx="5029200" cy="2002536"/>
          </a:xfrm>
          <a:prstGeom prst="rect">
            <a:avLst/>
          </a:prstGeom>
          <a:noFill/>
        </p:spPr>
        <p:txBody>
          <a:bodyPr wrap="square" lIns="0" rIns="0" tIns="0" bIns="0">
            <a:spAutoFit/>
          </a:bodyPr>
          <a:lstStyle/>
          <a:p>
            <a:pPr>
              <a:defRPr sz="1250" b="1">
                <a:solidFill>
                  <a:srgbClr val="122A49"/>
                </a:solidFill>
                <a:latin typeface="Microsoft YaHei"/>
              </a:defRPr>
            </a:pPr>
            <a:r>
              <a:t>03 · 阶段性成果与元数据理论外证</a:t>
            </a:r>
          </a:p>
          <a:p>
            <a:pPr>
              <a:spcBef>
                <a:spcPts val="400"/>
              </a:spcBef>
              <a:defRPr sz="1000" b="1">
                <a:solidFill>
                  <a:srgbClr val="2D63B8"/>
                </a:solidFill>
                <a:latin typeface="Microsoft YaHei"/>
              </a:defRPr>
            </a:pPr>
            <a:r>
              <a:t>【落地成效：实测检索提升 &gt;30% · 理论外证双闭环】</a:t>
            </a:r>
          </a:p>
          <a:p>
            <a:pPr>
              <a:lnSpc>
                <a:spcPct val="125000"/>
              </a:lnSpc>
              <a:spcBef>
                <a:spcPts val="800"/>
              </a:spcBef>
            </a:pPr>
            <a:r>
              <a:rPr sz="960" b="1">
                <a:solidFill>
                  <a:srgbClr val="2D63B8"/>
                </a:solidFill>
                <a:latin typeface="Microsoft YaHei"/>
              </a:rPr>
              <a:t>• 控制面率先突破： </a:t>
            </a:r>
            <a:r>
              <a:rPr sz="950">
                <a:solidFill>
                  <a:srgbClr val="1A2533"/>
                </a:solidFill>
                <a:latin typeface="Microsoft YaHei"/>
              </a:rPr>
              <a:t>利用 UB 直通重构元数据，实测前缀检索提升 30% 以上，并探明 50% 复用率协议加速边界。</a:t>
            </a:r>
          </a:p>
          <a:p>
            <a:pPr>
              <a:lnSpc>
                <a:spcPct val="125000"/>
              </a:lnSpc>
              <a:spcBef>
                <a:spcPts val="800"/>
              </a:spcBef>
            </a:pPr>
            <a:r>
              <a:rPr sz="960" b="1">
                <a:solidFill>
                  <a:srgbClr val="2D63B8"/>
                </a:solidFill>
                <a:latin typeface="Microsoft YaHei"/>
              </a:rPr>
              <a:t>• 理论与外证闭环： </a:t>
            </a:r>
            <a:r>
              <a:rPr sz="950">
                <a:solidFill>
                  <a:srgbClr val="1A2533"/>
                </a:solidFill>
                <a:latin typeface="Microsoft YaHei"/>
              </a:rPr>
              <a:t>建立 CMR/利用率排队模型证明容量提升 42.9%，并引入 NVIDIA Flash Indexer 工业实测客观对齐。</a:t>
            </a:r>
          </a:p>
        </p:txBody>
      </p:sp>
      <p:sp>
        <p:nvSpPr>
          <p:cNvPr id="11" name="Rounded Rectangle 10"/>
          <p:cNvSpPr/>
          <p:nvPr/>
        </p:nvSpPr>
        <p:spPr>
          <a:xfrm>
            <a:off x="6245352" y="3749039"/>
            <a:ext cx="5394960" cy="2331720"/>
          </a:xfrm>
          <a:prstGeom prst="roundRect">
            <a:avLst>
              <a:gd name="adj" fmla="val 2000"/>
            </a:avLst>
          </a:prstGeom>
          <a:solidFill>
            <a:srgbClr val="EA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3913631"/>
            <a:ext cx="5029200" cy="2002536"/>
          </a:xfrm>
          <a:prstGeom prst="rect">
            <a:avLst/>
          </a:prstGeom>
          <a:noFill/>
        </p:spPr>
        <p:txBody>
          <a:bodyPr wrap="square" lIns="0" rIns="0" tIns="0" bIns="0">
            <a:spAutoFit/>
          </a:bodyPr>
          <a:lstStyle/>
          <a:p>
            <a:pPr>
              <a:defRPr sz="1250" b="1">
                <a:solidFill>
                  <a:srgbClr val="122A49"/>
                </a:solidFill>
                <a:latin typeface="Microsoft YaHei"/>
              </a:defRPr>
            </a:pPr>
            <a:r>
              <a:t>04 · 理论严密推导与后续实测规划</a:t>
            </a:r>
          </a:p>
          <a:p>
            <a:pPr>
              <a:spcBef>
                <a:spcPts val="400"/>
              </a:spcBef>
              <a:defRPr sz="1000" b="1">
                <a:solidFill>
                  <a:srgbClr val="2D63B8"/>
                </a:solidFill>
                <a:latin typeface="Microsoft YaHei"/>
              </a:defRPr>
            </a:pPr>
            <a:r>
              <a:t>【推导打样：四步逻辑链严密建模 · 硬件就绪即刻实测】</a:t>
            </a:r>
          </a:p>
          <a:p>
            <a:pPr>
              <a:lnSpc>
                <a:spcPct val="125000"/>
              </a:lnSpc>
              <a:spcBef>
                <a:spcPts val="800"/>
              </a:spcBef>
            </a:pPr>
            <a:r>
              <a:rPr sz="960" b="1">
                <a:solidFill>
                  <a:srgbClr val="2D63B8"/>
                </a:solidFill>
                <a:latin typeface="Microsoft YaHei"/>
              </a:rPr>
              <a:t>• 第一性原理推导： </a:t>
            </a:r>
            <a:r>
              <a:rPr sz="950">
                <a:solidFill>
                  <a:srgbClr val="1A2533"/>
                </a:solidFill>
                <a:latin typeface="Microsoft YaHei"/>
              </a:rPr>
              <a:t>四步逻辑链严密推导 Llama-3-70B 在动态选路防反噬与硬件 QoS 隔离上的确定性收益区间与仿真曲线。</a:t>
            </a:r>
          </a:p>
          <a:p>
            <a:pPr>
              <a:lnSpc>
                <a:spcPct val="125000"/>
              </a:lnSpc>
              <a:spcBef>
                <a:spcPts val="800"/>
              </a:spcBef>
            </a:pPr>
            <a:r>
              <a:rPr sz="960" b="1">
                <a:solidFill>
                  <a:srgbClr val="2D63B8"/>
                </a:solidFill>
                <a:latin typeface="Microsoft YaHei"/>
              </a:rPr>
              <a:t>• 就绪即刻实测闭环： </a:t>
            </a:r>
            <a:r>
              <a:rPr sz="950">
                <a:solidFill>
                  <a:srgbClr val="1A2533"/>
                </a:solidFill>
                <a:latin typeface="Microsoft YaHei"/>
              </a:rPr>
              <a:t>守牢技术诚信底线如实披露硬件缺口；物理计算卡到位后，第一时间按表接入真实业务流水验证。</a:t>
            </a:r>
          </a:p>
        </p:txBody>
      </p:sp>
      <p:sp>
        <p:nvSpPr>
          <p:cNvPr id="13" name="Rectangle 12"/>
          <p:cNvSpPr/>
          <p:nvPr/>
        </p:nvSpPr>
        <p:spPr>
          <a:xfrm>
            <a:off x="548640" y="6327648"/>
            <a:ext cx="11091672" cy="320040"/>
          </a:xfrm>
          <a:prstGeom prst="rect">
            <a:avLst/>
          </a:prstGeom>
          <a:solidFill>
            <a:srgbClr val="2D63B8"/>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8288" bIns="18288"/>
          <a:lstStyle/>
          <a:p>
            <a:pPr algn="ctr">
              <a:defRPr sz="1100" b="1">
                <a:solidFill>
                  <a:srgbClr val="FFFFFF"/>
                </a:solidFill>
                <a:latin typeface="Microsoft YaHei"/>
              </a:defRPr>
            </a:pPr>
            <a:r>
              <a:t>研讨交流：欢迎各位领导、评委与技术专家就关键技术优化与验证进展批评指正，深入交流！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