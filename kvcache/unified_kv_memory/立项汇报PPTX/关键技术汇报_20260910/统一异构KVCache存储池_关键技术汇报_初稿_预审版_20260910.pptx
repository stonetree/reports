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785"/>
                </a:solidFill>
                <a:latin typeface="Microsoft YaHei"/>
              </a:defRPr>
            </a:pPr>
            <a:r>
              <a:t>KVCache（大模型注意力键值缓存：生成过程中保留历史 Key/Value 状态张量，避免重复计算注意力）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22A49"/>
                </a:solidFill>
                <a:latin typeface="Microsoft YaHei"/>
              </a:defRPr>
            </a:pPr>
            <a:r>
              <a:t>KVC 统一异构存储池关键技术优化与验证进展汇报</a:t>
            </a:r>
          </a:p>
          <a:p>
            <a:pPr>
              <a:spcBef>
                <a:spcPts val="800"/>
              </a:spcBef>
              <a:defRPr sz="1600">
                <a:solidFill>
                  <a:srgbClr val="2D63B8"/>
                </a:solidFill>
                <a:latin typeface="Microsoft YaHei"/>
              </a:defRPr>
            </a:pPr>
            <a:r>
              <a:t>聚焦在线推理场景 TTFT、TPOT 与尾部抖动性能改善（基于开源 Mooncake 底座）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377440"/>
            <a:ext cx="3410712" cy="2468880"/>
          </a:xfrm>
          <a:prstGeom prst="roundRect">
            <a:avLst>
              <a:gd name="adj" fmla="val 2000"/>
            </a:avLst>
          </a:prstGeom>
          <a:solidFill>
            <a:srgbClr val="EA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2514600"/>
            <a:ext cx="3191256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50" b="1">
                <a:solidFill>
                  <a:srgbClr val="122A49"/>
                </a:solidFill>
                <a:latin typeface="Microsoft YaHei"/>
              </a:defRPr>
            </a:pPr>
            <a:r>
              <a:t>突破正文搬运与控制瓶颈加速 TTFT</a:t>
            </a:r>
          </a:p>
          <a:p>
            <a:pPr>
              <a:spcBef>
                <a:spcPts val="800"/>
              </a:spcBef>
              <a:defRPr sz="1080">
                <a:solidFill>
                  <a:srgbClr val="1A2533"/>
                </a:solidFill>
                <a:latin typeface="Microsoft YaHei"/>
              </a:defRPr>
            </a:pPr>
            <a:r>
              <a:t>• 针对 Host CPU 内存中转瓶颈，攻坚零数据拷贝直通驱动</a:t>
            </a:r>
            <a:br/>
            <a:r>
              <a:t>• 针对离散 Block 序列化耗时，设计描述符批量编译机制</a:t>
            </a:r>
            <a:br/>
            <a:r>
              <a:t>• 实测利用 UB 技术使前缀匹配表检索提升 30% 以上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377440"/>
            <a:ext cx="3410712" cy="2468880"/>
          </a:xfrm>
          <a:prstGeom prst="roundRect">
            <a:avLst>
              <a:gd name="adj" fmla="val 2000"/>
            </a:avLst>
          </a:prstGeom>
          <a:solidFill>
            <a:srgbClr val="E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98848" y="2514600"/>
            <a:ext cx="3191256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50" b="1">
                <a:solidFill>
                  <a:srgbClr val="122A49"/>
                </a:solidFill>
                <a:latin typeface="Microsoft YaHei"/>
              </a:defRPr>
            </a:pPr>
            <a:r>
              <a:t>硬件 QoS 隔离稳态输出压制 TPOT</a:t>
            </a:r>
          </a:p>
          <a:p>
            <a:pPr>
              <a:spcBef>
                <a:spcPts val="800"/>
              </a:spcBef>
              <a:defRPr sz="1080">
                <a:solidFill>
                  <a:srgbClr val="1A2533"/>
                </a:solidFill>
                <a:latin typeface="Microsoft YaHei"/>
              </a:defRPr>
            </a:pPr>
            <a:r>
              <a:t>• 通过硬件优先级队列隔离后台换出 I/O，保障前台在线推流稳定</a:t>
            </a:r>
            <a:br/>
            <a:r>
              <a:t>• 应用层配合微秒级自适应退避，消除前后台 I/O 争用</a:t>
            </a:r>
            <a:br/>
            <a:r>
              <a:t>• 目标在后台满载混压下，前台在线 TPOT 干扰率 &lt; 3%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2377440"/>
            <a:ext cx="3410712" cy="2468880"/>
          </a:xfrm>
          <a:prstGeom prst="roundRect">
            <a:avLst>
              <a:gd name="adj" fmla="val 2000"/>
            </a:avLst>
          </a:prstGeom>
          <a:solidFill>
            <a:srgbClr val="FFF5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56448" y="2514600"/>
            <a:ext cx="3191256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50" b="1">
                <a:solidFill>
                  <a:srgbClr val="122A49"/>
                </a:solidFill>
                <a:latin typeface="Microsoft YaHei"/>
              </a:defRPr>
            </a:pPr>
            <a:r>
              <a:t>微秒级动态选路与中继消除性能抖动</a:t>
            </a:r>
          </a:p>
          <a:p>
            <a:pPr>
              <a:spcBef>
                <a:spcPts val="800"/>
              </a:spcBef>
              <a:defRPr sz="1080">
                <a:solidFill>
                  <a:srgbClr val="1A2533"/>
                </a:solidFill>
                <a:latin typeface="Microsoft YaHei"/>
              </a:defRPr>
            </a:pPr>
            <a:r>
              <a:t>• 动态评估链路与算力，消除短上下文拉取的时延回退风险</a:t>
            </a:r>
            <a:br/>
            <a:r>
              <a:t>• 构建计算节点软件树状中继拓扑，削减源端网卡出口压力 75%</a:t>
            </a:r>
            <a:br/>
            <a:r>
              <a:t>• 杜绝 TOR 交换机 Incast 丢包风暴与尾部时延毛刺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074920"/>
            <a:ext cx="10725912" cy="868680"/>
          </a:xfrm>
          <a:prstGeom prst="roundRect">
            <a:avLst>
              <a:gd name="adj" fmla="val 2000"/>
            </a:avLst>
          </a:prstGeom>
          <a:solidFill>
            <a:srgbClr val="EA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166360"/>
            <a:ext cx="103601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D63B8"/>
                </a:solidFill>
                <a:latin typeface="Microsoft YaHei"/>
              </a:defRPr>
            </a:pPr>
            <a:r>
              <a:t>【工作定位与核心目标】</a:t>
            </a:r>
          </a:p>
          <a:p>
            <a:pPr>
              <a:spcBef>
                <a:spcPts val="300"/>
              </a:spcBef>
              <a:defRPr sz="1050">
                <a:solidFill>
                  <a:srgbClr val="1A2533"/>
                </a:solidFill>
                <a:latin typeface="Microsoft YaHei"/>
              </a:defRPr>
            </a:pPr>
            <a:r>
              <a:t>本项目聚焦开源 Mooncake 底座在国产硬件环境下的软硬件协同关键技术攻关与性能优化。核心工作针对底层直通通信、紧凑描述符编译、微秒级选路与硬件 QoS 隔离开展技术验证，全面释放底层硬件潜能，以在线推理场景中 TTFT、TPOT 及长尾时延抖动的确定性改善为衡量准绳。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327648"/>
            <a:ext cx="11091672" cy="320040"/>
          </a:xfrm>
          <a:prstGeom prst="rect">
            <a:avLst/>
          </a:prstGeom>
          <a:solidFill>
            <a:srgbClr val="2D6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8288" bIns="18288"/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汇报宗旨：以客观实验证据与 2026 顶级系统顶会实测（OSDI/FAST/NSDI/SIGCOMM/SIGMOD）为准绳，全面呈现技术攻关价值。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292608"/>
            <a:ext cx="987552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122A49"/>
                </a:solidFill>
                <a:latin typeface="Microsoft YaHei"/>
              </a:defRPr>
            </a:pPr>
            <a:r>
              <a:t>现有 KVC 管理方案的五大物理瓶颈及其对在线指标的制约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6B7785"/>
                </a:solidFill>
                <a:latin typeface="Microsoft YaHei"/>
              </a:defRPr>
            </a:pPr>
            <a:r>
              <a:t>结合体系结构第一性原理与 2026 顶级系统顶会实测（OSDI/FAST/NSDI/SIGCOMM/SIGMOD 15篇顶会）穿透剖析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320040"/>
            <a:ext cx="10058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300" b="1">
                <a:solidFill>
                  <a:srgbClr val="6B7785"/>
                </a:solidFill>
                <a:latin typeface="Microsoft YaHei"/>
              </a:defRPr>
            </a:pPr>
            <a:r>
              <a:t>02 / 09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051560"/>
          <a:ext cx="11091671" cy="30906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4360"/>
                <a:gridCol w="1874519"/>
                <a:gridCol w="5852160"/>
                <a:gridCol w="2770632"/>
              </a:tblGrid>
              <a:tr h="515112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编号</a:t>
                      </a:r>
                    </a:p>
                  </a:txBody>
                  <a:tcPr marL="54864" marR="54864" marT="36576" marB="36576">
                    <a:solidFill>
                      <a:srgbClr val="122A49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Mooncake 原生机制</a:t>
                      </a:r>
                    </a:p>
                  </a:txBody>
                  <a:tcPr marL="54864" marR="54864" marT="36576" marB="36576">
                    <a:solidFill>
                      <a:srgbClr val="122A49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体系结构物理瓶颈与 2026 顶级系统顶会实测背书</a:t>
                      </a:r>
                    </a:p>
                  </a:txBody>
                  <a:tcPr marL="54864" marR="54864" marT="36576" marB="36576">
                    <a:solidFill>
                      <a:srgbClr val="122A49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对在线推理核心指标的制约</a:t>
                      </a:r>
                    </a:p>
                  </a:txBody>
                  <a:tcPr marL="54864" marR="54864" marT="36576" marB="36576">
                    <a:solidFill>
                      <a:srgbClr val="122A49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</a:tr>
              <a:tr h="515112">
                <a:tc>
                  <a:txBody>
                    <a:bodyPr/>
                    <a:lstStyle/>
                    <a:p>
                      <a:pPr algn="ctr">
                        <a:defRPr sz="860" b="1">
                          <a:latin typeface="Microsoft YaHei"/>
                        </a:defRPr>
                      </a:pPr>
                      <a:r>
                        <a:t>M-01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6000"/>
                        </a:lnSpc>
                        <a:defRPr sz="860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Host CPU 参与数据中转</a:t>
                      </a:r>
                      <a:br/>
                      <a:r>
                        <a:t>(经由主机内存二次拷贝)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819">
                          <a:solidFill>
                            <a:srgbClr val="1A2533"/>
                          </a:solidFill>
                          <a:latin typeface="Microsoft YaHei"/>
                        </a:rPr>
                        <a:t>【SIGMOD '26 Beluga (阿里) &amp; OSDI '26 DirectKV】Beluga 对标实测 Mooncake 全缓存命中平均 TTFT 达 13.00s（内存直通仅 1.36s，</a:t>
                      </a:r>
                      <a:r>
                        <a:rPr sz="819" b="1">
                          <a:solidFill>
                            <a:srgbClr val="C00000"/>
                          </a:solidFill>
                          <a:latin typeface="Microsoft YaHei"/>
                        </a:rPr>
                        <a:t>降低 89.6%</a:t>
                      </a:r>
                      <a:r>
                        <a:rPr sz="819">
                          <a:solidFill>
                            <a:srgbClr val="1A2533"/>
                          </a:solidFill>
                          <a:latin typeface="Microsoft YaHei"/>
                        </a:rPr>
                        <a:t>）；且测得 16KB 读</a:t>
                      </a:r>
                      <a:r>
                        <a:rPr sz="819" b="1">
                          <a:solidFill>
                            <a:srgbClr val="C00000"/>
                          </a:solidFill>
                          <a:latin typeface="Microsoft YaHei"/>
                        </a:rPr>
                        <a:t>近 75% 耗在内核启动与跨设备同步</a:t>
                      </a:r>
                      <a:r>
                        <a:rPr sz="819">
                          <a:solidFill>
                            <a:srgbClr val="1A2533"/>
                          </a:solidFill>
                          <a:latin typeface="Microsoft YaHei"/>
                        </a:rPr>
                        <a:t>（传输仅 2.68µs）；DirectKV 证实 Host 中转</a:t>
                      </a:r>
                      <a:r>
                        <a:rPr sz="819" b="1">
                          <a:solidFill>
                            <a:srgbClr val="C00000"/>
                          </a:solidFill>
                          <a:latin typeface="Microsoft YaHei"/>
                        </a:rPr>
                        <a:t>浪费 43% 显存并带来双倍拷贝与总线争用</a:t>
                      </a:r>
                      <a:r>
                        <a:rPr sz="819">
                          <a:solidFill>
                            <a:srgbClr val="1A2533"/>
                          </a:solidFill>
                          <a:latin typeface="Microsoft YaHei"/>
                        </a:rPr>
                        <a:t>。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860" b="1">
                          <a:solidFill>
                            <a:srgbClr val="C00000"/>
                          </a:solidFill>
                          <a:latin typeface="Microsoft YaHei"/>
                        </a:rPr>
                        <a:t>【拉长 TTFT 首字时延】</a:t>
                      </a:r>
                      <a:r>
                        <a:rPr sz="860">
                          <a:solidFill>
                            <a:srgbClr val="1A2533"/>
                          </a:solidFill>
                          <a:latin typeface="Microsoft YaHei"/>
                        </a:rPr>
                        <a:t>数据搬运延迟居高不下，</a:t>
                      </a:r>
                      <a:r>
                        <a:rPr sz="860" b="1">
                          <a:solidFill>
                            <a:srgbClr val="C00000"/>
                          </a:solidFill>
                          <a:latin typeface="Microsoft YaHei"/>
                        </a:rPr>
                        <a:t>无法发挥网卡满线速吞吐，首字生成耗时直接受累。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</a:tr>
              <a:tr h="515112">
                <a:tc>
                  <a:txBody>
                    <a:bodyPr/>
                    <a:lstStyle/>
                    <a:p>
                      <a:pPr algn="ctr">
                        <a:defRPr sz="860" b="1">
                          <a:latin typeface="Microsoft YaHei"/>
                        </a:defRPr>
                      </a:pPr>
                      <a:r>
                        <a:t>M-02</a:t>
                      </a:r>
                    </a:p>
                  </a:txBody>
                  <a:tcPr marL="54864" marR="54864" marT="36576" marB="36576">
                    <a:solidFill>
                      <a:srgbClr val="EAF3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6000"/>
                        </a:lnSpc>
                        <a:defRPr sz="860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64KB 无语义切片打散</a:t>
                      </a:r>
                      <a:br/>
                      <a:r>
                        <a:t>(Slice Spraying 盲发模式)</a:t>
                      </a:r>
                    </a:p>
                  </a:txBody>
                  <a:tcPr marL="54864" marR="54864" marT="36576" marB="36576">
                    <a:solidFill>
                      <a:srgbClr val="EAF3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819">
                          <a:solidFill>
                            <a:srgbClr val="1A2533"/>
                          </a:solidFill>
                          <a:latin typeface="Microsoft YaHei"/>
                        </a:rPr>
                        <a:t>【FAST '26 AITurbo (华为云) &amp; OSDI '26 Strata】AITurbo 实测 Mooncake 传统存储回源受制于存储网带宽，通过计算网加速后平均 TTFT 即降 23% (0.85s→0.65s)；其模型分发证实</a:t>
                      </a:r>
                      <a:r>
                        <a:rPr sz="819" b="1">
                          <a:solidFill>
                            <a:srgbClr val="C00000"/>
                          </a:solidFill>
                          <a:latin typeface="Microsoft YaHei"/>
                        </a:rPr>
                        <a:t>单源拉取极易打满网卡</a:t>
                      </a:r>
                      <a:r>
                        <a:rPr sz="819">
                          <a:solidFill>
                            <a:srgbClr val="1A2533"/>
                          </a:solidFill>
                          <a:latin typeface="Microsoft YaHei"/>
                        </a:rPr>
                        <a:t>，需靠树状中继削减源端压力；Strata 证实切片打散</a:t>
                      </a:r>
                      <a:r>
                        <a:rPr sz="819" b="1">
                          <a:solidFill>
                            <a:srgbClr val="C00000"/>
                          </a:solidFill>
                          <a:latin typeface="Microsoft YaHei"/>
                        </a:rPr>
                        <a:t>破坏层序导致 Prefill 流水严重停顿</a:t>
                      </a:r>
                      <a:r>
                        <a:rPr sz="819">
                          <a:solidFill>
                            <a:srgbClr val="1A2533"/>
                          </a:solidFill>
                          <a:latin typeface="Microsoft YaHei"/>
                        </a:rPr>
                        <a:t>。</a:t>
                      </a:r>
                    </a:p>
                  </a:txBody>
                  <a:tcPr marL="54864" marR="54864" marT="36576" marB="36576">
                    <a:solidFill>
                      <a:srgbClr val="EAF3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860" b="1">
                          <a:solidFill>
                            <a:srgbClr val="C00000"/>
                          </a:solidFill>
                          <a:latin typeface="Microsoft YaHei"/>
                        </a:rPr>
                        <a:t>【TTFT 剧烈抖动与丢包】</a:t>
                      </a:r>
                      <a:r>
                        <a:rPr sz="860">
                          <a:solidFill>
                            <a:srgbClr val="1A2533"/>
                          </a:solidFill>
                          <a:latin typeface="Microsoft YaHei"/>
                        </a:rPr>
                        <a:t>首层等待导致 NPU 计算单元严重空转；</a:t>
                      </a:r>
                      <a:r>
                        <a:rPr sz="860" b="1">
                          <a:solidFill>
                            <a:srgbClr val="C00000"/>
                          </a:solidFill>
                          <a:latin typeface="Microsoft YaHei"/>
                        </a:rPr>
                        <a:t>网络微突发丢包造成 P99 尾部时延急剧恶化。</a:t>
                      </a:r>
                    </a:p>
                  </a:txBody>
                  <a:tcPr marL="54864" marR="54864" marT="36576" marB="36576">
                    <a:solidFill>
                      <a:srgbClr val="EAF3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</a:tr>
              <a:tr h="515112">
                <a:tc>
                  <a:txBody>
                    <a:bodyPr/>
                    <a:lstStyle/>
                    <a:p>
                      <a:pPr algn="ctr">
                        <a:defRPr sz="860" b="1">
                          <a:latin typeface="Microsoft YaHei"/>
                        </a:defRPr>
                      </a:pPr>
                      <a:r>
                        <a:t>M-03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6000"/>
                        </a:lnSpc>
                        <a:defRPr sz="860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离散 Block 经解释型对象</a:t>
                      </a:r>
                      <a:br/>
                      <a:r>
                        <a:t>与网络 RPC 频繁交互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819">
                          <a:solidFill>
                            <a:srgbClr val="1A2533"/>
                          </a:solidFill>
                          <a:latin typeface="Microsoft YaHei"/>
                        </a:rPr>
                        <a:t>【SIGMOD '26 Beluga &amp; OSDI '26 FORGE / ECHO】Beluga 实测离散 Block 经 RDMA 交互产生</a:t>
                      </a:r>
                      <a:r>
                        <a:rPr sz="819" b="1">
                          <a:solidFill>
                            <a:srgbClr val="C00000"/>
                          </a:solidFill>
                          <a:latin typeface="Microsoft YaHei"/>
                        </a:rPr>
                        <a:t>高达 5,260µs 延迟</a:t>
                      </a:r>
                      <a:r>
                        <a:rPr sz="819">
                          <a:solidFill>
                            <a:srgbClr val="1A2533"/>
                          </a:solidFill>
                          <a:latin typeface="Microsoft YaHei"/>
                        </a:rPr>
                        <a:t>（直接解引用仅 211µs，降幅 95.9%）；FORGE 揭示内存解耦系统存在“同步放大效应”，</a:t>
                      </a:r>
                      <a:r>
                        <a:rPr sz="819" b="1">
                          <a:solidFill>
                            <a:srgbClr val="C00000"/>
                          </a:solidFill>
                          <a:latin typeface="Microsoft YaHei"/>
                        </a:rPr>
                        <a:t>元数据开销放大 20 余倍</a:t>
                      </a:r>
                      <a:r>
                        <a:rPr sz="819">
                          <a:solidFill>
                            <a:srgbClr val="1A2533"/>
                          </a:solidFill>
                          <a:latin typeface="Microsoft YaHei"/>
                        </a:rPr>
                        <a:t>，严重侵蚀正文传输加速收益。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860" b="1">
                          <a:solidFill>
                            <a:srgbClr val="C00000"/>
                          </a:solidFill>
                          <a:latin typeface="Microsoft YaHei"/>
                        </a:rPr>
                        <a:t>【制约 TTFT 优化上限】</a:t>
                      </a:r>
                      <a:r>
                        <a:rPr sz="860">
                          <a:solidFill>
                            <a:srgbClr val="1A2533"/>
                          </a:solidFill>
                          <a:latin typeface="Microsoft YaHei"/>
                        </a:rPr>
                        <a:t>元数据解析交互开销过大，</a:t>
                      </a:r>
                      <a:r>
                        <a:rPr sz="860" b="1">
                          <a:solidFill>
                            <a:srgbClr val="C00000"/>
                          </a:solidFill>
                          <a:latin typeface="Microsoft YaHei"/>
                        </a:rPr>
                        <a:t>严重侵蚀并抵消了底层正文传输提速收益。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</a:tr>
              <a:tr h="515112">
                <a:tc>
                  <a:txBody>
                    <a:bodyPr/>
                    <a:lstStyle/>
                    <a:p>
                      <a:pPr algn="ctr">
                        <a:defRPr sz="860" b="1">
                          <a:latin typeface="Microsoft YaHei"/>
                        </a:defRPr>
                      </a:pPr>
                      <a:r>
                        <a:t>M-04</a:t>
                      </a:r>
                    </a:p>
                  </a:txBody>
                  <a:tcPr marL="54864" marR="54864" marT="36576" marB="36576">
                    <a:solidFill>
                      <a:srgbClr val="EAF3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6000"/>
                        </a:lnSpc>
                        <a:defRPr sz="860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静态贪婪拉取决策</a:t>
                      </a:r>
                      <a:br/>
                      <a:r>
                        <a:t>(缺乏微秒级收益评估模型)</a:t>
                      </a:r>
                    </a:p>
                  </a:txBody>
                  <a:tcPr marL="54864" marR="54864" marT="36576" marB="36576">
                    <a:solidFill>
                      <a:srgbClr val="EAF3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819">
                          <a:solidFill>
                            <a:srgbClr val="1A2533"/>
                          </a:solidFill>
                          <a:latin typeface="Microsoft YaHei"/>
                        </a:rPr>
                        <a:t>【FAST '26 Bidaw (清华), NSDI '26 SYMPHONY &amp; SIGCOMM '26 KVServe】Bidaw 实测两级存储无感知调度</a:t>
                      </a:r>
                      <a:r>
                        <a:rPr sz="819" b="1">
                          <a:solidFill>
                            <a:srgbClr val="C00000"/>
                          </a:solidFill>
                          <a:latin typeface="Microsoft YaHei"/>
                        </a:rPr>
                        <a:t>引发严重 I/O 队头阻塞</a:t>
                      </a:r>
                      <a:r>
                        <a:rPr sz="819">
                          <a:solidFill>
                            <a:srgbClr val="1A2533"/>
                          </a:solidFill>
                          <a:latin typeface="Microsoft YaHei"/>
                        </a:rPr>
                        <a:t>，I/O 感知后排队时延骤降 57.5%；SYMPHONY 实测</a:t>
                      </a:r>
                      <a:r>
                        <a:rPr sz="819" b="1">
                          <a:solidFill>
                            <a:srgbClr val="C00000"/>
                          </a:solidFill>
                          <a:latin typeface="Microsoft YaHei"/>
                        </a:rPr>
                        <a:t>无选路下重算总耗时反而低于迁移</a:t>
                      </a:r>
                      <a:r>
                        <a:rPr sz="819">
                          <a:solidFill>
                            <a:srgbClr val="1A2533"/>
                          </a:solidFill>
                          <a:latin typeface="Microsoft YaHei"/>
                        </a:rPr>
                        <a:t>；KVServe 证实不同路径存在 50~110Gbps 动态带宽交叉点，</a:t>
                      </a:r>
                      <a:r>
                        <a:rPr sz="819" b="1">
                          <a:solidFill>
                            <a:srgbClr val="C00000"/>
                          </a:solidFill>
                          <a:latin typeface="Microsoft YaHei"/>
                        </a:rPr>
                        <a:t>固定策略必然遭遇时延反噬</a:t>
                      </a:r>
                      <a:r>
                        <a:rPr sz="819">
                          <a:solidFill>
                            <a:srgbClr val="1A2533"/>
                          </a:solidFill>
                          <a:latin typeface="Microsoft YaHei"/>
                        </a:rPr>
                        <a:t>。</a:t>
                      </a:r>
                    </a:p>
                  </a:txBody>
                  <a:tcPr marL="54864" marR="54864" marT="36576" marB="36576">
                    <a:solidFill>
                      <a:srgbClr val="EAF3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860" b="1">
                          <a:solidFill>
                            <a:srgbClr val="C00000"/>
                          </a:solidFill>
                          <a:latin typeface="Microsoft YaHei"/>
                        </a:rPr>
                        <a:t>【引发严重时延负收益反噬】</a:t>
                      </a:r>
                      <a:r>
                        <a:rPr sz="860">
                          <a:solidFill>
                            <a:srgbClr val="1A2533"/>
                          </a:solidFill>
                          <a:latin typeface="Microsoft YaHei"/>
                        </a:rPr>
                        <a:t>短文本场景下拉取反而比重算更慢，</a:t>
                      </a:r>
                      <a:r>
                        <a:rPr sz="860" b="1">
                          <a:solidFill>
                            <a:srgbClr val="C00000"/>
                          </a:solidFill>
                          <a:latin typeface="Microsoft YaHei"/>
                        </a:rPr>
                        <a:t>导致在线端到端响应剧烈波动。</a:t>
                      </a:r>
                    </a:p>
                  </a:txBody>
                  <a:tcPr marL="54864" marR="54864" marT="36576" marB="36576">
                    <a:solidFill>
                      <a:srgbClr val="EAF3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</a:tr>
              <a:tr h="515112">
                <a:tc>
                  <a:txBody>
                    <a:bodyPr/>
                    <a:lstStyle/>
                    <a:p>
                      <a:pPr algn="ctr">
                        <a:defRPr sz="860" b="1">
                          <a:latin typeface="Microsoft YaHei"/>
                        </a:defRPr>
                      </a:pPr>
                      <a:r>
                        <a:t>M-05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6000"/>
                        </a:lnSpc>
                        <a:defRPr sz="860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缺乏多卡原子协同</a:t>
                      </a:r>
                      <a:br/>
                      <a:r>
                        <a:t>与前后台 QoS 硬件隔离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819">
                          <a:solidFill>
                            <a:srgbClr val="1A2533"/>
                          </a:solidFill>
                          <a:latin typeface="Microsoft YaHei"/>
                        </a:rPr>
                        <a:t>【SIGCOMM '26 DualPath (DeepSeek) &amp; OSDI '26 RamRyder】DualPath 实测后台 KV 搬运导致未隔离的前台模型通信时延从 131µs </a:t>
                      </a:r>
                      <a:r>
                        <a:rPr sz="819" b="1">
                          <a:solidFill>
                            <a:srgbClr val="C00000"/>
                          </a:solidFill>
                          <a:latin typeface="Microsoft YaHei"/>
                        </a:rPr>
                        <a:t>暴增至 877µs（恶化 6.7 倍）</a:t>
                      </a:r>
                      <a:r>
                        <a:rPr sz="819">
                          <a:solidFill>
                            <a:srgbClr val="1A2533"/>
                          </a:solidFill>
                          <a:latin typeface="Microsoft YaHei"/>
                        </a:rPr>
                        <a:t>；RamRyder 证实未隔离带宽争用是 QoS 破坏元凶；CVT-01 解决 FORGE 揭示的</a:t>
                      </a:r>
                      <a:r>
                        <a:rPr sz="819" b="1">
                          <a:solidFill>
                            <a:srgbClr val="C00000"/>
                          </a:solidFill>
                          <a:latin typeface="Microsoft YaHei"/>
                        </a:rPr>
                        <a:t>碎片整理锁死前台</a:t>
                      </a:r>
                      <a:r>
                        <a:rPr sz="819">
                          <a:solidFill>
                            <a:srgbClr val="1A2533"/>
                          </a:solidFill>
                          <a:latin typeface="Microsoft YaHei"/>
                        </a:rPr>
                        <a:t>问题。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860" b="1">
                          <a:solidFill>
                            <a:srgbClr val="C00000"/>
                          </a:solidFill>
                          <a:latin typeface="Microsoft YaHei"/>
                        </a:rPr>
                        <a:t>【恶化 TPOT 及其 P99 尾部】</a:t>
                      </a:r>
                      <a:r>
                        <a:rPr sz="860">
                          <a:solidFill>
                            <a:srgbClr val="1A2533"/>
                          </a:solidFill>
                          <a:latin typeface="Microsoft YaHei"/>
                        </a:rPr>
                        <a:t>多卡动作不一致阻塞通信；</a:t>
                      </a:r>
                      <a:r>
                        <a:rPr sz="860" b="1">
                          <a:solidFill>
                            <a:srgbClr val="C00000"/>
                          </a:solidFill>
                          <a:latin typeface="Microsoft YaHei"/>
                        </a:rPr>
                        <a:t>后台 I/O 抢占导致在线单字推流出现严重卡顿与毛刺。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279392"/>
            <a:ext cx="3593592" cy="1920240"/>
          </a:xfrm>
          <a:prstGeom prst="roundRect">
            <a:avLst>
              <a:gd name="adj" fmla="val 2000"/>
            </a:avLst>
          </a:prstGeom>
          <a:solidFill>
            <a:srgbClr val="EA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4352544"/>
            <a:ext cx="3374136" cy="17739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122A49"/>
                </a:solidFill>
                <a:latin typeface="Microsoft YaHei"/>
              </a:defRPr>
            </a:pPr>
            <a:r>
              <a:t>TTFT 首字时延受阻归因</a:t>
            </a:r>
          </a:p>
          <a:p>
            <a:pPr>
              <a:lnSpc>
                <a:spcPct val="116000"/>
              </a:lnSpc>
              <a:spcBef>
                <a:spcPts val="350"/>
              </a:spcBef>
            </a:pPr>
            <a:r>
              <a:rPr sz="860" b="1">
                <a:solidFill>
                  <a:srgbClr val="2D63B8"/>
                </a:solidFill>
                <a:latin typeface="Microsoft YaHei"/>
              </a:rPr>
              <a:t>• 根因一（Host CPU 搬运中转）： </a:t>
            </a:r>
            <a:r>
              <a:rPr sz="840">
                <a:solidFill>
                  <a:srgbClr val="1A2533"/>
                </a:solidFill>
                <a:latin typeface="Microsoft YaHei"/>
              </a:rPr>
              <a:t>数据经主机内存二次拷贝产生</a:t>
            </a:r>
            <a:r>
              <a:rPr sz="840" b="1">
                <a:solidFill>
                  <a:srgbClr val="C00000"/>
                </a:solidFill>
                <a:latin typeface="Microsoft YaHei"/>
              </a:rPr>
              <a:t>严重总线争用</a:t>
            </a:r>
            <a:r>
              <a:rPr sz="840">
                <a:solidFill>
                  <a:srgbClr val="1A2533"/>
                </a:solidFill>
                <a:latin typeface="Microsoft YaHei"/>
              </a:rPr>
              <a:t>，搬运耗时居高不下，</a:t>
            </a:r>
            <a:r>
              <a:rPr sz="840" b="1">
                <a:solidFill>
                  <a:srgbClr val="C00000"/>
                </a:solidFill>
                <a:latin typeface="Microsoft YaHei"/>
              </a:rPr>
              <a:t>无法发挥网卡满线速吞吐。</a:t>
            </a:r>
          </a:p>
          <a:p>
            <a:pPr>
              <a:lnSpc>
                <a:spcPct val="116000"/>
              </a:lnSpc>
              <a:spcBef>
                <a:spcPts val="350"/>
              </a:spcBef>
            </a:pPr>
            <a:r>
              <a:rPr sz="860" b="1">
                <a:solidFill>
                  <a:srgbClr val="2D63B8"/>
                </a:solidFill>
                <a:latin typeface="Microsoft YaHei"/>
              </a:rPr>
              <a:t>• 根因二（离散块序列化开销）： </a:t>
            </a:r>
            <a:r>
              <a:rPr sz="840">
                <a:solidFill>
                  <a:srgbClr val="1A2533"/>
                </a:solidFill>
                <a:latin typeface="Microsoft YaHei"/>
              </a:rPr>
              <a:t>细粒度 Block 经解释型对象与 RPC 频繁交互，</a:t>
            </a:r>
            <a:r>
              <a:rPr sz="840" b="1">
                <a:solidFill>
                  <a:srgbClr val="C00000"/>
                </a:solidFill>
                <a:latin typeface="Microsoft YaHei"/>
              </a:rPr>
              <a:t>元数据解析达毫秒级</a:t>
            </a:r>
            <a:r>
              <a:rPr sz="840">
                <a:solidFill>
                  <a:srgbClr val="1A2533"/>
                </a:solidFill>
                <a:latin typeface="Microsoft YaHei"/>
              </a:rPr>
              <a:t>，</a:t>
            </a:r>
            <a:r>
              <a:rPr sz="840" b="1">
                <a:solidFill>
                  <a:srgbClr val="C00000"/>
                </a:solidFill>
                <a:latin typeface="Microsoft YaHei"/>
              </a:rPr>
              <a:t>严重侵蚀传输加速收益。</a:t>
            </a:r>
          </a:p>
          <a:p>
            <a:pPr>
              <a:lnSpc>
                <a:spcPct val="116000"/>
              </a:lnSpc>
              <a:spcBef>
                <a:spcPts val="350"/>
              </a:spcBef>
            </a:pPr>
            <a:r>
              <a:rPr sz="860" b="1">
                <a:solidFill>
                  <a:srgbClr val="2D63B8"/>
                </a:solidFill>
                <a:latin typeface="Microsoft YaHei"/>
              </a:rPr>
              <a:t>• 根因三（切片打散破坏流水）： </a:t>
            </a:r>
            <a:r>
              <a:rPr sz="840">
                <a:solidFill>
                  <a:srgbClr val="1A2533"/>
                </a:solidFill>
                <a:latin typeface="Microsoft YaHei"/>
              </a:rPr>
              <a:t>64KB 盲发打散破坏 Transformer 层间依赖，首层等待导致 </a:t>
            </a:r>
            <a:r>
              <a:rPr sz="840" b="1">
                <a:solidFill>
                  <a:srgbClr val="C00000"/>
                </a:solidFill>
                <a:latin typeface="Microsoft YaHei"/>
              </a:rPr>
              <a:t>NPU 计算单元严重空转与停顿。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79" y="4279392"/>
            <a:ext cx="3593592" cy="1920240"/>
          </a:xfrm>
          <a:prstGeom prst="roundRect">
            <a:avLst>
              <a:gd name="adj" fmla="val 2000"/>
            </a:avLst>
          </a:prstGeom>
          <a:solidFill>
            <a:srgbClr val="E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07407" y="4352544"/>
            <a:ext cx="3374136" cy="17739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122A49"/>
                </a:solidFill>
                <a:latin typeface="Microsoft YaHei"/>
              </a:defRPr>
            </a:pPr>
            <a:r>
              <a:t>TPOT 单字生成受阻归因</a:t>
            </a:r>
          </a:p>
          <a:p>
            <a:pPr>
              <a:lnSpc>
                <a:spcPct val="116000"/>
              </a:lnSpc>
              <a:spcBef>
                <a:spcPts val="350"/>
              </a:spcBef>
            </a:pPr>
            <a:r>
              <a:rPr sz="860" b="1">
                <a:solidFill>
                  <a:srgbClr val="2D63B8"/>
                </a:solidFill>
                <a:latin typeface="Microsoft YaHei"/>
              </a:rPr>
              <a:t>• 根因一（显存与总线带宽争用）： </a:t>
            </a:r>
            <a:r>
              <a:rPr sz="840">
                <a:solidFill>
                  <a:srgbClr val="1A2533"/>
                </a:solidFill>
                <a:latin typeface="Microsoft YaHei"/>
              </a:rPr>
              <a:t>后台海量换出缺乏硬件隔离，在 Decode 阶段</a:t>
            </a:r>
            <a:r>
              <a:rPr sz="840" b="1">
                <a:solidFill>
                  <a:srgbClr val="C00000"/>
                </a:solidFill>
                <a:latin typeface="Microsoft YaHei"/>
              </a:rPr>
              <a:t>抢占 NPU 访存带宽</a:t>
            </a:r>
            <a:r>
              <a:rPr sz="840">
                <a:solidFill>
                  <a:srgbClr val="1A2533"/>
                </a:solidFill>
                <a:latin typeface="Microsoft YaHei"/>
              </a:rPr>
              <a:t>，</a:t>
            </a:r>
            <a:r>
              <a:rPr sz="840" b="1">
                <a:solidFill>
                  <a:srgbClr val="C00000"/>
                </a:solidFill>
                <a:latin typeface="Microsoft YaHei"/>
              </a:rPr>
              <a:t>直接拉长单字生成耗时。</a:t>
            </a:r>
          </a:p>
          <a:p>
            <a:pPr>
              <a:lnSpc>
                <a:spcPct val="116000"/>
              </a:lnSpc>
              <a:spcBef>
                <a:spcPts val="350"/>
              </a:spcBef>
            </a:pPr>
            <a:r>
              <a:rPr sz="860" b="1">
                <a:solidFill>
                  <a:srgbClr val="2D63B8"/>
                </a:solidFill>
                <a:latin typeface="Microsoft YaHei"/>
              </a:rPr>
              <a:t>• 根因二（网络传输队列排队拥塞）： </a:t>
            </a:r>
            <a:r>
              <a:rPr sz="840">
                <a:solidFill>
                  <a:srgbClr val="1A2533"/>
                </a:solidFill>
                <a:latin typeface="Microsoft YaHei"/>
              </a:rPr>
              <a:t>未部署硬件优先级队列 (QoS)，后台数据流冲撞前台在线推流，造成</a:t>
            </a:r>
            <a:r>
              <a:rPr sz="840" b="1">
                <a:solidFill>
                  <a:srgbClr val="C00000"/>
                </a:solidFill>
                <a:latin typeface="Microsoft YaHei"/>
              </a:rPr>
              <a:t>模型通信严重劣化。</a:t>
            </a:r>
          </a:p>
          <a:p>
            <a:pPr>
              <a:lnSpc>
                <a:spcPct val="116000"/>
              </a:lnSpc>
              <a:spcBef>
                <a:spcPts val="350"/>
              </a:spcBef>
            </a:pPr>
            <a:r>
              <a:rPr sz="860" b="1">
                <a:solidFill>
                  <a:srgbClr val="2D63B8"/>
                </a:solidFill>
                <a:latin typeface="Microsoft YaHei"/>
              </a:rPr>
              <a:t>• 根因三（多卡协同缺乏原子同步）： </a:t>
            </a:r>
            <a:r>
              <a:rPr sz="840">
                <a:solidFill>
                  <a:srgbClr val="1A2533"/>
                </a:solidFill>
                <a:latin typeface="Microsoft YaHei"/>
              </a:rPr>
              <a:t>张量并行多卡状态不同步</a:t>
            </a:r>
            <a:r>
              <a:rPr sz="840" b="1">
                <a:solidFill>
                  <a:srgbClr val="C00000"/>
                </a:solidFill>
                <a:latin typeface="Microsoft YaHei"/>
              </a:rPr>
              <a:t>引发集合通信阻塞</a:t>
            </a:r>
            <a:r>
              <a:rPr sz="840">
                <a:solidFill>
                  <a:srgbClr val="1A2533"/>
                </a:solidFill>
                <a:latin typeface="Microsoft YaHei"/>
              </a:rPr>
              <a:t>，内存</a:t>
            </a:r>
            <a:r>
              <a:rPr sz="840" b="1">
                <a:solidFill>
                  <a:srgbClr val="C00000"/>
                </a:solidFill>
                <a:latin typeface="Microsoft YaHei"/>
              </a:rPr>
              <a:t>碎片整理锁死前台引发长尾卡顿毛刺。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19" y="4279392"/>
            <a:ext cx="3593592" cy="1920240"/>
          </a:xfrm>
          <a:prstGeom prst="roundRect">
            <a:avLst>
              <a:gd name="adj" fmla="val 2000"/>
            </a:avLst>
          </a:prstGeom>
          <a:solidFill>
            <a:srgbClr val="FFF5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56447" y="4352544"/>
            <a:ext cx="3374136" cy="17739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122A49"/>
                </a:solidFill>
                <a:latin typeface="Microsoft YaHei"/>
              </a:defRPr>
            </a:pPr>
            <a:r>
              <a:t>性能抖动与长尾时延归因</a:t>
            </a:r>
          </a:p>
          <a:p>
            <a:pPr>
              <a:lnSpc>
                <a:spcPct val="116000"/>
              </a:lnSpc>
              <a:spcBef>
                <a:spcPts val="350"/>
              </a:spcBef>
            </a:pPr>
            <a:r>
              <a:rPr sz="860" b="1">
                <a:solidFill>
                  <a:srgbClr val="2D63B8"/>
                </a:solidFill>
                <a:latin typeface="Microsoft YaHei"/>
              </a:rPr>
              <a:t>• 根因一（TOR 交换机 Incast 丢包）： </a:t>
            </a:r>
            <a:r>
              <a:rPr sz="840">
                <a:solidFill>
                  <a:srgbClr val="1A2533"/>
                </a:solidFill>
                <a:latin typeface="Microsoft YaHei"/>
              </a:rPr>
              <a:t>多发送端全网并发向单节点回传切片，瞬间打满交换机出端口缓冲，</a:t>
            </a:r>
            <a:r>
              <a:rPr sz="840" b="1">
                <a:solidFill>
                  <a:srgbClr val="C00000"/>
                </a:solidFill>
                <a:latin typeface="Microsoft YaHei"/>
              </a:rPr>
              <a:t>诱发排队丢包重传风暴。</a:t>
            </a:r>
          </a:p>
          <a:p>
            <a:pPr>
              <a:lnSpc>
                <a:spcPct val="116000"/>
              </a:lnSpc>
              <a:spcBef>
                <a:spcPts val="350"/>
              </a:spcBef>
            </a:pPr>
            <a:r>
              <a:rPr sz="860" b="1">
                <a:solidFill>
                  <a:srgbClr val="2D63B8"/>
                </a:solidFill>
                <a:latin typeface="Microsoft YaHei"/>
              </a:rPr>
              <a:t>• 根因二（静态拉取时延反噬回退）： </a:t>
            </a:r>
            <a:r>
              <a:rPr sz="840">
                <a:solidFill>
                  <a:srgbClr val="1A2533"/>
                </a:solidFill>
                <a:latin typeface="Microsoft YaHei"/>
              </a:rPr>
              <a:t>缺乏微秒级收益评估，网络拥塞或短上下文下拉取耗时反超本地重算，</a:t>
            </a:r>
            <a:r>
              <a:rPr sz="840" b="1">
                <a:solidFill>
                  <a:srgbClr val="C00000"/>
                </a:solidFill>
                <a:latin typeface="Microsoft YaHei"/>
              </a:rPr>
              <a:t>引发严重时延负收益反噬。</a:t>
            </a:r>
          </a:p>
          <a:p>
            <a:pPr>
              <a:lnSpc>
                <a:spcPct val="116000"/>
              </a:lnSpc>
              <a:spcBef>
                <a:spcPts val="350"/>
              </a:spcBef>
            </a:pPr>
            <a:r>
              <a:rPr sz="860" b="1">
                <a:solidFill>
                  <a:srgbClr val="2D63B8"/>
                </a:solidFill>
                <a:latin typeface="Microsoft YaHei"/>
              </a:rPr>
              <a:t>• 根因三（多级存储队头严重阻塞）： </a:t>
            </a:r>
            <a:r>
              <a:rPr sz="840">
                <a:solidFill>
                  <a:srgbClr val="1A2533"/>
                </a:solidFill>
                <a:latin typeface="Microsoft YaHei"/>
              </a:rPr>
              <a:t>缺乏分层介质 I/O 感知调度，SSD 慢读取</a:t>
            </a:r>
            <a:r>
              <a:rPr sz="840" b="1">
                <a:solidFill>
                  <a:srgbClr val="C00000"/>
                </a:solidFill>
                <a:latin typeface="Microsoft YaHei"/>
              </a:rPr>
              <a:t>卡死高速显存访问队列</a:t>
            </a:r>
            <a:r>
              <a:rPr sz="840">
                <a:solidFill>
                  <a:srgbClr val="1A2533"/>
                </a:solidFill>
                <a:latin typeface="Microsoft YaHei"/>
              </a:rPr>
              <a:t>，导致</a:t>
            </a:r>
            <a:r>
              <a:rPr sz="840" b="1">
                <a:solidFill>
                  <a:srgbClr val="C00000"/>
                </a:solidFill>
                <a:latin typeface="Microsoft YaHei"/>
              </a:rPr>
              <a:t>端到端排队时延大幅骤增。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327648"/>
            <a:ext cx="11091672" cy="320040"/>
          </a:xfrm>
          <a:prstGeom prst="rect">
            <a:avLst/>
          </a:prstGeom>
          <a:solidFill>
            <a:srgbClr val="2D6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8288" bIns="18288"/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核心结论：结合 2026 顶级系统会议 15 篇论文共识与对 Mooncake 的实测对比，开源方案五大物理瓶颈无可辩驳，必须通过原厂软硬协同靶向攻坚。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292608"/>
            <a:ext cx="987552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122A49"/>
                </a:solidFill>
                <a:latin typeface="Microsoft YaHei"/>
              </a:defRPr>
            </a:pPr>
            <a:r>
              <a:t>针对开源短板的关键技术优化体系与 11 项提前验证映射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6B7785"/>
                </a:solidFill>
                <a:latin typeface="Microsoft YaHei"/>
              </a:defRPr>
            </a:pPr>
            <a:r>
              <a:t>利用 URMA 与 UBMEM 先进通信技术，靶向突破 TTFT、TPOT 与性能抖动瓶颈（深度绑定 15 篇顶会范式）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320040"/>
            <a:ext cx="10058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300" b="1">
                <a:solidFill>
                  <a:srgbClr val="6B7785"/>
                </a:solidFill>
                <a:latin typeface="Microsoft YaHei"/>
              </a:defRPr>
            </a:pPr>
            <a:r>
              <a:t>03 / 09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051560"/>
          <a:ext cx="11091672" cy="5166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2423160"/>
                <a:gridCol w="3474720"/>
                <a:gridCol w="1554480"/>
                <a:gridCol w="2816352"/>
              </a:tblGrid>
              <a:tr h="43053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验证编号</a:t>
                      </a:r>
                    </a:p>
                  </a:txBody>
                  <a:tcPr marL="54864" marR="54864" marT="27432" marB="27432">
                    <a:solidFill>
                      <a:srgbClr val="122A49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Mooncake 原生短板与对应缺陷</a:t>
                      </a:r>
                    </a:p>
                  </a:txBody>
                  <a:tcPr marL="54864" marR="54864" marT="27432" marB="27432">
                    <a:solidFill>
                      <a:srgbClr val="122A49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原厂关键技术优化思路与手段</a:t>
                      </a:r>
                    </a:p>
                  </a:txBody>
                  <a:tcPr marL="54864" marR="54864" marT="27432" marB="27432">
                    <a:solidFill>
                      <a:srgbClr val="122A49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底层使能技术</a:t>
                      </a:r>
                    </a:p>
                  </a:txBody>
                  <a:tcPr marL="54864" marR="54864" marT="27432" marB="27432">
                    <a:solidFill>
                      <a:srgbClr val="122A49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核心指标改善与预期目标</a:t>
                      </a:r>
                    </a:p>
                  </a:txBody>
                  <a:tcPr marL="54864" marR="54864" marT="27432" marB="27432">
                    <a:solidFill>
                      <a:srgbClr val="122A49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</a:tr>
              <a:tr h="430530">
                <a:tc>
                  <a:txBody>
                    <a:bodyPr/>
                    <a:lstStyle/>
                    <a:p>
                      <a:pPr algn="ctr">
                        <a:defRPr sz="919" b="1">
                          <a:latin typeface="Microsoft YaHei"/>
                        </a:defRPr>
                      </a:pPr>
                      <a:r>
                        <a:t>PVT-00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860" b="1">
                          <a:solidFill>
                            <a:srgbClr val="C00000"/>
                          </a:solidFill>
                          <a:latin typeface="Microsoft YaHei"/>
                        </a:rPr>
                        <a:t>【针对 M-01 传输瓶颈】
</a:t>
                      </a:r>
                      <a:r>
                        <a:rPr sz="819">
                          <a:solidFill>
                            <a:srgbClr val="1A2533"/>
                          </a:solidFill>
                          <a:latin typeface="Microsoft YaHei"/>
                        </a:rPr>
                        <a:t>标准 RDMA 协议栈开销限制有效带宽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4000"/>
                        </a:lnSpc>
                        <a:defRPr sz="819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构建 UBMEM/URMA 直通基准通路，实测探明各前缀复用率下的协议净加速边界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840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UBMEM / URMA 直通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4000"/>
                        </a:lnSpc>
                        <a:defRPr sz="819" b="1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明确高复用场景首字时延 (TTFT) 加速上限，为选路提供基准收益参照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</a:tr>
              <a:tr h="430530">
                <a:tc>
                  <a:txBody>
                    <a:bodyPr/>
                    <a:lstStyle/>
                    <a:p>
                      <a:pPr algn="ctr">
                        <a:defRPr sz="919" b="1">
                          <a:latin typeface="Microsoft YaHei"/>
                        </a:defRPr>
                      </a:pPr>
                      <a:r>
                        <a:t>PVT-01</a:t>
                      </a:r>
                    </a:p>
                  </a:txBody>
                  <a:tcPr marL="54864" marR="54864" marT="18288" marB="18288">
                    <a:solidFill>
                      <a:srgbClr val="EAF3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860" b="1">
                          <a:solidFill>
                            <a:srgbClr val="C00000"/>
                          </a:solidFill>
                          <a:latin typeface="Microsoft YaHei"/>
                        </a:rPr>
                        <a:t>【针对 M-01 CPU 中转】
</a:t>
                      </a:r>
                      <a:r>
                        <a:rPr sz="819">
                          <a:solidFill>
                            <a:srgbClr val="1A2533"/>
                          </a:solidFill>
                          <a:latin typeface="Microsoft YaHei"/>
                        </a:rPr>
                        <a:t>数据经由 Host CPU 内存中转，总线争用大</a:t>
                      </a:r>
                    </a:p>
                  </a:txBody>
                  <a:tcPr marL="54864" marR="54864" marT="18288" marB="18288">
                    <a:solidFill>
                      <a:srgbClr val="EAF3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4000"/>
                        </a:lnSpc>
                        <a:defRPr sz="819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去除 Host 内存二次拷贝中转层，正文数据通过设备级 DMA 在网络与显存间直接透传</a:t>
                      </a:r>
                    </a:p>
                  </a:txBody>
                  <a:tcPr marL="54864" marR="54864" marT="18288" marB="18288">
                    <a:solidFill>
                      <a:srgbClr val="EAF3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840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URMA 原生直通驱动</a:t>
                      </a:r>
                    </a:p>
                  </a:txBody>
                  <a:tcPr marL="54864" marR="54864" marT="18288" marB="18288">
                    <a:solidFill>
                      <a:srgbClr val="EAF3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4000"/>
                        </a:lnSpc>
                        <a:defRPr sz="819" b="1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规避 Host 内存带宽挤占与 CPU 中转负载，降低数据搬运耗时，缩短首字时延 (TTFT)</a:t>
                      </a:r>
                    </a:p>
                  </a:txBody>
                  <a:tcPr marL="54864" marR="54864" marT="18288" marB="18288">
                    <a:solidFill>
                      <a:srgbClr val="EAF3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</a:tr>
              <a:tr h="430530">
                <a:tc>
                  <a:txBody>
                    <a:bodyPr/>
                    <a:lstStyle/>
                    <a:p>
                      <a:pPr algn="ctr">
                        <a:defRPr sz="919" b="1">
                          <a:latin typeface="Microsoft YaHei"/>
                        </a:defRPr>
                      </a:pPr>
                      <a:r>
                        <a:t>PVT-02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860" b="1">
                          <a:solidFill>
                            <a:srgbClr val="C00000"/>
                          </a:solidFill>
                          <a:latin typeface="Microsoft YaHei"/>
                        </a:rPr>
                        <a:t>【针对 M-02/M-03 切片与控制】
</a:t>
                      </a:r>
                      <a:r>
                        <a:rPr sz="819">
                          <a:solidFill>
                            <a:srgbClr val="1A2533"/>
                          </a:solidFill>
                          <a:latin typeface="Microsoft YaHei"/>
                        </a:rPr>
                        <a:t>离散 Block 序列化长，搬运与计算串行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4000"/>
                        </a:lnSpc>
                        <a:defRPr sz="819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通过 64B Extent 贪心聚合编译离散 Block，并以 Compute/DMA 双 Stream 实现逐层异步掩盖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840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硬件 Scatter-Gather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4000"/>
                        </a:lnSpc>
                        <a:defRPr sz="819" b="1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描述符条目压缩 ≥50%，数据搬运被 NPU 计算掩盖超 90%，有效缩短首字生成等待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</a:tr>
              <a:tr h="430530">
                <a:tc>
                  <a:txBody>
                    <a:bodyPr/>
                    <a:lstStyle/>
                    <a:p>
                      <a:pPr algn="ctr">
                        <a:defRPr sz="919" b="1">
                          <a:latin typeface="Microsoft YaHei"/>
                        </a:defRPr>
                      </a:pPr>
                      <a:r>
                        <a:t>PVT-03</a:t>
                      </a:r>
                    </a:p>
                  </a:txBody>
                  <a:tcPr marL="54864" marR="54864" marT="18288" marB="18288">
                    <a:solidFill>
                      <a:srgbClr val="EAF3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860" b="1">
                          <a:solidFill>
                            <a:srgbClr val="C00000"/>
                          </a:solidFill>
                          <a:latin typeface="Microsoft YaHei"/>
                        </a:rPr>
                        <a:t>【针对 M-01/M-04 直读与防回退】
</a:t>
                      </a:r>
                      <a:r>
                        <a:rPr sz="819">
                          <a:solidFill>
                            <a:srgbClr val="1A2533"/>
                          </a:solidFill>
                          <a:latin typeface="Microsoft YaHei"/>
                        </a:rPr>
                        <a:t>盲目拷贝膨胀显存，远端失效缺乏保护</a:t>
                      </a:r>
                    </a:p>
                  </a:txBody>
                  <a:tcPr marL="54864" marR="54864" marT="18288" marB="18288">
                    <a:solidFill>
                      <a:srgbClr val="EAF3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4000"/>
                        </a:lnSpc>
                        <a:defRPr sz="819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高频热块通过 UBMEM 跨节点直接远端直读，低频冷块批量拷回，配套轻量租约与 SIGBUS 安全捕获</a:t>
                      </a:r>
                    </a:p>
                  </a:txBody>
                  <a:tcPr marL="54864" marR="54864" marT="18288" marB="18288">
                    <a:solidFill>
                      <a:srgbClr val="EAF3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840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UBMEM 直通 + ViewGuard</a:t>
                      </a:r>
                    </a:p>
                  </a:txBody>
                  <a:tcPr marL="54864" marR="54864" marT="18288" marB="18288">
                    <a:solidFill>
                      <a:srgbClr val="EAF3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4000"/>
                        </a:lnSpc>
                        <a:defRPr sz="819" b="1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减少本地显存冗余拷贝与占用，发生远端不可用时快速回退重算，避免服务崩溃与尾部抖动</a:t>
                      </a:r>
                    </a:p>
                  </a:txBody>
                  <a:tcPr marL="54864" marR="54864" marT="18288" marB="18288">
                    <a:solidFill>
                      <a:srgbClr val="EAF3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</a:tr>
              <a:tr h="430530">
                <a:tc>
                  <a:txBody>
                    <a:bodyPr/>
                    <a:lstStyle/>
                    <a:p>
                      <a:pPr algn="ctr">
                        <a:defRPr sz="919" b="1">
                          <a:latin typeface="Microsoft YaHei"/>
                        </a:defRPr>
                      </a:pPr>
                      <a:r>
                        <a:t>PVT-04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860" b="1">
                          <a:solidFill>
                            <a:srgbClr val="C00000"/>
                          </a:solidFill>
                          <a:latin typeface="Microsoft YaHei"/>
                        </a:rPr>
                        <a:t>【针对 M-04 静态拉取反噬】
</a:t>
                      </a:r>
                      <a:r>
                        <a:rPr sz="819">
                          <a:solidFill>
                            <a:srgbClr val="1A2533"/>
                          </a:solidFill>
                          <a:latin typeface="Microsoft YaHei"/>
                        </a:rPr>
                        <a:t>静态贪婪拉取，短前缀/拥塞时拉取慢于重算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4000"/>
                        </a:lnSpc>
                        <a:defRPr sz="819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QueryPlan 实时遥测网络有效带宽与计算吞吐，微秒级评估加载 vs 重算开销并自适应决策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840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实时网络与算力遥测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4000"/>
                        </a:lnSpc>
                        <a:defRPr sz="819" b="1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在短上下文或网络拥塞时主动回退本地重算，避免拉取慢于重算引发的时延反噬与长尾抖动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</a:tr>
              <a:tr h="430530">
                <a:tc>
                  <a:txBody>
                    <a:bodyPr/>
                    <a:lstStyle/>
                    <a:p>
                      <a:pPr algn="ctr">
                        <a:defRPr sz="919" b="1">
                          <a:latin typeface="Microsoft YaHei"/>
                        </a:defRPr>
                      </a:pPr>
                      <a:r>
                        <a:t>PVT-05</a:t>
                      </a:r>
                    </a:p>
                  </a:txBody>
                  <a:tcPr marL="54864" marR="54864" marT="18288" marB="18288">
                    <a:solidFill>
                      <a:srgbClr val="EAF3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860" b="1">
                          <a:solidFill>
                            <a:srgbClr val="C00000"/>
                          </a:solidFill>
                          <a:latin typeface="Microsoft YaHei"/>
                        </a:rPr>
                        <a:t>【针对 M-01 分层拷贝开销】
</a:t>
                      </a:r>
                      <a:r>
                        <a:rPr sz="819">
                          <a:solidFill>
                            <a:srgbClr val="1A2533"/>
                          </a:solidFill>
                          <a:latin typeface="Microsoft YaHei"/>
                        </a:rPr>
                        <a:t>跨介质分层经由 Host DDR 中转，开销大</a:t>
                      </a:r>
                    </a:p>
                  </a:txBody>
                  <a:tcPr marL="54864" marR="54864" marT="18288" marB="18288">
                    <a:solidFill>
                      <a:srgbClr val="EAF3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4000"/>
                        </a:lnSpc>
                        <a:defRPr sz="819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构建冷 KV Cache 异步换出流水，基于 SPDK 用户态驱动实现 NVMe SSD 与显存间 DMA 直达</a:t>
                      </a:r>
                    </a:p>
                  </a:txBody>
                  <a:tcPr marL="54864" marR="54864" marT="18288" marB="18288">
                    <a:solidFill>
                      <a:srgbClr val="EAF3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840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Direct PCIe DMA / SPDK</a:t>
                      </a:r>
                    </a:p>
                  </a:txBody>
                  <a:tcPr marL="54864" marR="54864" marT="18288" marB="18288">
                    <a:solidFill>
                      <a:srgbClr val="EAF3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4000"/>
                        </a:lnSpc>
                        <a:defRPr sz="819" b="1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释放高带宽显存空间，高负载下实现缓存容量有效扩容 ≥30%，大幅降低因显存不足触发的丢请求抖动</a:t>
                      </a:r>
                    </a:p>
                  </a:txBody>
                  <a:tcPr marL="54864" marR="54864" marT="18288" marB="18288">
                    <a:solidFill>
                      <a:srgbClr val="EAF3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</a:tr>
              <a:tr h="430530">
                <a:tc>
                  <a:txBody>
                    <a:bodyPr/>
                    <a:lstStyle/>
                    <a:p>
                      <a:pPr algn="ctr">
                        <a:defRPr sz="919" b="1">
                          <a:latin typeface="Microsoft YaHei"/>
                        </a:defRPr>
                      </a:pPr>
                      <a:r>
                        <a:t>PVT-06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860" b="1">
                          <a:solidFill>
                            <a:srgbClr val="C00000"/>
                          </a:solidFill>
                          <a:latin typeface="Microsoft YaHei"/>
                        </a:rPr>
                        <a:t>【针对 M-05 缺乏多卡同步】
</a:t>
                      </a:r>
                      <a:r>
                        <a:rPr sz="819">
                          <a:solidFill>
                            <a:srgbClr val="1A2533"/>
                          </a:solidFill>
                          <a:latin typeface="Microsoft YaHei"/>
                        </a:rPr>
                        <a:t>缺少 layer_id，TP=8 动作不一致诱发死锁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4000"/>
                        </a:lnSpc>
                        <a:defRPr sz="819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引入 6 维语义校验防非法读取，并在张量并行 (TP=8) 组内通过共享内存广播实现毫秒级状态一致性同步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840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POSIX 共享内存原子广播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4000"/>
                        </a:lnSpc>
                        <a:defRPr sz="819" b="1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多卡状态同步耗时 P99 &lt; 100µs，有效规避并行动作不一致引发的集合通信阻塞，保障单字生成 (TPOT) 平稳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</a:tr>
              <a:tr h="430530">
                <a:tc>
                  <a:txBody>
                    <a:bodyPr/>
                    <a:lstStyle/>
                    <a:p>
                      <a:pPr algn="ctr">
                        <a:defRPr sz="919" b="1">
                          <a:latin typeface="Microsoft YaHei"/>
                        </a:defRPr>
                      </a:pPr>
                      <a:r>
                        <a:t>PVT-07</a:t>
                      </a:r>
                    </a:p>
                  </a:txBody>
                  <a:tcPr marL="54864" marR="54864" marT="18288" marB="18288">
                    <a:solidFill>
                      <a:srgbClr val="EAF3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860" b="1">
                          <a:solidFill>
                            <a:srgbClr val="C00000"/>
                          </a:solidFill>
                          <a:latin typeface="Microsoft YaHei"/>
                        </a:rPr>
                        <a:t>【针对 M-05 缺乏 QoS 隔离】
</a:t>
                      </a:r>
                      <a:r>
                        <a:rPr sz="819">
                          <a:solidFill>
                            <a:srgbClr val="1A2533"/>
                          </a:solidFill>
                          <a:latin typeface="Microsoft YaHei"/>
                        </a:rPr>
                        <a:t>后台大流量搬运冲撞前台在线推理带宽</a:t>
                      </a:r>
                    </a:p>
                  </a:txBody>
                  <a:tcPr marL="54864" marR="54864" marT="18288" marB="18288">
                    <a:solidFill>
                      <a:srgbClr val="EAF3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4000"/>
                        </a:lnSpc>
                        <a:defRPr sz="819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将前台推理与后台换出映射至底层硬件独立优先级队列 (TC0/TC1)，结合应用层微秒级自适应退避</a:t>
                      </a:r>
                    </a:p>
                  </a:txBody>
                  <a:tcPr marL="54864" marR="54864" marT="18288" marB="18288">
                    <a:solidFill>
                      <a:srgbClr val="EAF3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840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硬件 QoS 优先级队列</a:t>
                      </a:r>
                    </a:p>
                  </a:txBody>
                  <a:tcPr marL="54864" marR="54864" marT="18288" marB="18288">
                    <a:solidFill>
                      <a:srgbClr val="EAF3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4000"/>
                        </a:lnSpc>
                        <a:defRPr sz="819" b="1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实现前后台网络与显存带宽硬件级隔离，在后台满载 I/O 混压下将前台 TPOT 干扰率控制在 3% 以内</a:t>
                      </a:r>
                    </a:p>
                  </a:txBody>
                  <a:tcPr marL="54864" marR="54864" marT="18288" marB="18288">
                    <a:solidFill>
                      <a:srgbClr val="EAF3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</a:tr>
              <a:tr h="430530">
                <a:tc>
                  <a:txBody>
                    <a:bodyPr/>
                    <a:lstStyle/>
                    <a:p>
                      <a:pPr algn="ctr">
                        <a:defRPr sz="919" b="1">
                          <a:latin typeface="Microsoft YaHei"/>
                        </a:defRPr>
                      </a:pPr>
                      <a:r>
                        <a:t>PVT-08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860" b="1">
                          <a:solidFill>
                            <a:srgbClr val="C00000"/>
                          </a:solidFill>
                          <a:latin typeface="Microsoft YaHei"/>
                        </a:rPr>
                        <a:t>【针对 M-02 Incast 拥塞】
</a:t>
                      </a:r>
                      <a:r>
                        <a:rPr sz="819">
                          <a:solidFill>
                            <a:srgbClr val="1A2533"/>
                          </a:solidFill>
                          <a:latin typeface="Microsoft YaHei"/>
                        </a:rPr>
                        <a:t>多节点并发拉取热点引发源端打满与 Incast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4000"/>
                        </a:lnSpc>
                        <a:defRPr sz="819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在计算节点间构建应用层树状中继转发拓扑 (Staging Fanout)，分层接力广播高热共享前缀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840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纯软树状分发协议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4000"/>
                        </a:lnSpc>
                        <a:defRPr sz="819" b="1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将源端网卡出口流量削减 60%~75%，有效缓解 TOR 交换机突发拥塞 (Incast) 并降低尾部丢包率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</a:tr>
              <a:tr h="430530">
                <a:tc>
                  <a:txBody>
                    <a:bodyPr/>
                    <a:lstStyle/>
                    <a:p>
                      <a:pPr algn="ctr">
                        <a:defRPr sz="919" b="1">
                          <a:latin typeface="Microsoft YaHei"/>
                        </a:defRPr>
                      </a:pPr>
                      <a:r>
                        <a:t>PVT-09</a:t>
                      </a:r>
                    </a:p>
                  </a:txBody>
                  <a:tcPr marL="54864" marR="54864" marT="18288" marB="18288">
                    <a:solidFill>
                      <a:srgbClr val="EAF3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860" b="1">
                          <a:solidFill>
                            <a:srgbClr val="C00000"/>
                          </a:solidFill>
                          <a:latin typeface="Microsoft YaHei"/>
                        </a:rPr>
                        <a:t>【针对 M-01 软硬件双轨】
</a:t>
                      </a:r>
                      <a:r>
                        <a:rPr sz="819">
                          <a:solidFill>
                            <a:srgbClr val="1A2533"/>
                          </a:solidFill>
                          <a:latin typeface="Microsoft YaHei"/>
                        </a:rPr>
                        <a:t>加密与校验消耗大量 Host CPU 算力</a:t>
                      </a:r>
                    </a:p>
                  </a:txBody>
                  <a:tcPr marL="54864" marR="54864" marT="18288" marB="18288">
                    <a:solidFill>
                      <a:srgbClr val="EAF3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4000"/>
                        </a:lnSpc>
                        <a:defRPr sz="819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正文搬运与一致性校验支持硬件卸载，同时保留 CPU 纯软基线通道以实现双轨自适应容灾降级</a:t>
                      </a:r>
                    </a:p>
                  </a:txBody>
                  <a:tcPr marL="54864" marR="54864" marT="18288" marB="18288">
                    <a:solidFill>
                      <a:srgbClr val="EAF3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840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协处理器 / 纯软双轨</a:t>
                      </a:r>
                    </a:p>
                  </a:txBody>
                  <a:tcPr marL="54864" marR="54864" marT="18288" marB="18288">
                    <a:solidFill>
                      <a:srgbClr val="EAF3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4000"/>
                        </a:lnSpc>
                        <a:defRPr sz="819" b="1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在支持硬件加速的环境下降低 CPU 负载 ≥30%，无专用硬件时无缝回退至纯软通路，保持功能可用</a:t>
                      </a:r>
                    </a:p>
                  </a:txBody>
                  <a:tcPr marL="54864" marR="54864" marT="18288" marB="18288">
                    <a:solidFill>
                      <a:srgbClr val="EAF3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</a:tr>
              <a:tr h="430530">
                <a:tc>
                  <a:txBody>
                    <a:bodyPr/>
                    <a:lstStyle/>
                    <a:p>
                      <a:pPr algn="ctr">
                        <a:defRPr sz="919" b="1">
                          <a:latin typeface="Microsoft YaHei"/>
                        </a:defRPr>
                      </a:pPr>
                      <a:r>
                        <a:t>CVT-01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860" b="1">
                          <a:solidFill>
                            <a:srgbClr val="C00000"/>
                          </a:solidFill>
                          <a:latin typeface="Microsoft YaHei"/>
                        </a:rPr>
                        <a:t>【针对 M-05 在线零停顿】
</a:t>
                      </a:r>
                      <a:r>
                        <a:rPr sz="819">
                          <a:solidFill>
                            <a:srgbClr val="1A2533"/>
                          </a:solidFill>
                          <a:latin typeface="Microsoft YaHei"/>
                        </a:rPr>
                        <a:t>显存碎片整理与页迁移锁死前台推理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4000"/>
                        </a:lnSpc>
                        <a:defRPr sz="819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采用读-拷贝-更新 (RCU) 与宽限期延迟释放机制，在后台显存碎片整理与跨介质迁移时维持前台无锁读取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840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软件原子指针更新机制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4000"/>
                        </a:lnSpc>
                        <a:defRPr sz="819" b="1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高并发页迁移时前台在线推理读取停顿控制在 1ms 以内，避免显存碎片整理引发单字生成卡顿毛刺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48640" y="6327648"/>
            <a:ext cx="11091672" cy="320040"/>
          </a:xfrm>
          <a:prstGeom prst="rect">
            <a:avLst/>
          </a:prstGeom>
          <a:solidFill>
            <a:srgbClr val="2D6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8288" bIns="18288"/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核心结论：11 项优化直接靶向开源方案缺陷并深度对齐 2026 顶级系统顶会范式，以先进通信与微秒调度形成对三大指标的立体保障。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292608"/>
            <a:ext cx="987552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122A49"/>
                </a:solidFill>
                <a:latin typeface="Microsoft YaHei"/>
              </a:defRPr>
            </a:pPr>
            <a:r>
              <a:t>提前验证项推进状态、硬件依赖与受阻排查总表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6B7785"/>
                </a:solidFill>
                <a:latin typeface="Microsoft YaHei"/>
              </a:defRPr>
            </a:pPr>
            <a:r>
              <a:t>严格以客观证据为准绳；受阻项明确归因至物理硬件实验环境制约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320040"/>
            <a:ext cx="10058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300" b="1">
                <a:solidFill>
                  <a:srgbClr val="6B7785"/>
                </a:solidFill>
                <a:latin typeface="Microsoft YaHei"/>
              </a:defRPr>
            </a:pPr>
            <a:r>
              <a:t>04 / 09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051560"/>
            <a:ext cx="11091672" cy="320040"/>
          </a:xfrm>
          <a:prstGeom prst="roundRect">
            <a:avLst>
              <a:gd name="adj" fmla="val 2000"/>
            </a:avLst>
          </a:prstGeom>
          <a:solidFill>
            <a:srgbClr val="FFF5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078992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122A49"/>
                </a:solidFill>
                <a:latin typeface="Microsoft YaHei"/>
              </a:defRPr>
            </a:pPr>
            <a:r>
              <a:t>【填报与审计规范】状态列统一预留空白供后续实测逐项填报；未开展项如实披露物理硬件环境瓶颈，坚决不虚报进度。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44752"/>
          <a:ext cx="11091672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2011680"/>
                <a:gridCol w="2404872"/>
                <a:gridCol w="1005840"/>
                <a:gridCol w="2377440"/>
                <a:gridCol w="2468880"/>
              </a:tblGrid>
              <a:tr h="3962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验证编号</a:t>
                      </a:r>
                    </a:p>
                  </a:txBody>
                  <a:tcPr marL="54864" marR="54864" marT="27432" marB="27432">
                    <a:solidFill>
                      <a:srgbClr val="122A49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待证实优化项名称</a:t>
                      </a:r>
                    </a:p>
                  </a:txBody>
                  <a:tcPr marL="54864" marR="54864" marT="27432" marB="27432">
                    <a:solidFill>
                      <a:srgbClr val="122A49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核心量化目标（待证实门槛）</a:t>
                      </a:r>
                    </a:p>
                  </a:txBody>
                  <a:tcPr marL="54864" marR="54864" marT="27432" marB="27432">
                    <a:solidFill>
                      <a:srgbClr val="122A49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当前状态</a:t>
                      </a:r>
                    </a:p>
                  </a:txBody>
                  <a:tcPr marL="54864" marR="54864" marT="27432" marB="27432">
                    <a:solidFill>
                      <a:srgbClr val="122A49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已投入手段与阶段进展</a:t>
                      </a:r>
                    </a:p>
                  </a:txBody>
                  <a:tcPr marL="54864" marR="54864" marT="27432" marB="27432">
                    <a:solidFill>
                      <a:srgbClr val="122A49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未开展或受阻瓶颈 / 硬件依赖</a:t>
                      </a:r>
                    </a:p>
                  </a:txBody>
                  <a:tcPr marL="54864" marR="54864" marT="27432" marB="27432">
                    <a:solidFill>
                      <a:srgbClr val="122A49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>
                        <a:defRPr sz="919" b="1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PVT-00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Saved-Prefill 收益与通信边界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50%复用率净收益≥拉取总开销2.0倍；UBMEM带宽≥RDMA 1.3倍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919" b="1">
                          <a:solidFill>
                            <a:srgbClr val="2D63B8"/>
                          </a:solidFill>
                          <a:latin typeface="Microsoft YaHei"/>
                        </a:defRPr>
                      </a:pPr>
                      <a:r>
                        <a:t>[待填写]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已在 Host 环境完成 URMA/UBMEM 基础通信基准摸底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缺真实 NPU 算力与跨节点大模型业务流水闭环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>
                        <a:defRPr sz="919" b="1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PVT-01</a:t>
                      </a:r>
                    </a:p>
                  </a:txBody>
                  <a:tcPr marL="54864" marR="54864" marT="18288" marB="18288">
                    <a:solidFill>
                      <a:srgbClr val="EAF3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CPU 零数据拷贝与异构直达</a:t>
                      </a:r>
                    </a:p>
                  </a:txBody>
                  <a:tcPr marL="54864" marR="54864" marT="18288" marB="18288">
                    <a:solidFill>
                      <a:srgbClr val="EAF3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Host Payload Touch Bytes=0；CPU 利用率增量&lt;5%</a:t>
                      </a:r>
                    </a:p>
                  </a:txBody>
                  <a:tcPr marL="54864" marR="54864" marT="18288" marB="18288">
                    <a:solidFill>
                      <a:srgbClr val="EAF3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919" b="1">
                          <a:solidFill>
                            <a:srgbClr val="2D63B8"/>
                          </a:solidFill>
                          <a:latin typeface="Microsoft YaHei"/>
                        </a:defRPr>
                      </a:pPr>
                      <a:r>
                        <a:t>[待填写]</a:t>
                      </a:r>
                    </a:p>
                  </a:txBody>
                  <a:tcPr marL="54864" marR="54864" marT="18288" marB="18288">
                    <a:solidFill>
                      <a:srgbClr val="EAF3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已完成基于 Host 虚拟内存的零拷贝通道逻辑实现</a:t>
                      </a:r>
                    </a:p>
                  </a:txBody>
                  <a:tcPr marL="54864" marR="54864" marT="18288" marB="18288">
                    <a:solidFill>
                      <a:srgbClr val="EAF3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缺 NPU 底层直通驱动与设备级 DMA 硬件通路</a:t>
                      </a:r>
                    </a:p>
                  </a:txBody>
                  <a:tcPr marL="54864" marR="54864" marT="18288" marB="18288">
                    <a:solidFill>
                      <a:srgbClr val="EAF3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>
                        <a:defRPr sz="919" b="1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PVT-02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描述符批量编译与异步流水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描述符压缩率≥50%；异步隐藏率≥60%；CPU提交降低≥40%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919" b="1">
                          <a:solidFill>
                            <a:srgbClr val="2D63B8"/>
                          </a:solidFill>
                          <a:latin typeface="Microsoft YaHei"/>
                        </a:defRPr>
                      </a:pPr>
                      <a:r>
                        <a:t>[待填写]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已完成 64B Extent 算法与双 Stream 异步 DAG 框架设计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缺真实 NPU 计算 Stream 注入与物理通信队列协同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>
                        <a:defRPr sz="919" b="1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PVT-03</a:t>
                      </a:r>
                    </a:p>
                  </a:txBody>
                  <a:tcPr marL="54864" marR="54864" marT="18288" marB="18288">
                    <a:solidFill>
                      <a:srgbClr val="EAF3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远端直读/本地显存拷贝与守卫</a:t>
                      </a:r>
                    </a:p>
                  </a:txBody>
                  <a:tcPr marL="54864" marR="54864" marT="18288" marB="18288">
                    <a:solidFill>
                      <a:srgbClr val="EAF3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复用频次R&gt;2用Copy-to-HBM；SIGBUS 异常安全回退&lt;1ms</a:t>
                      </a:r>
                    </a:p>
                  </a:txBody>
                  <a:tcPr marL="54864" marR="54864" marT="18288" marB="18288">
                    <a:solidFill>
                      <a:srgbClr val="EAF3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919" b="1">
                          <a:solidFill>
                            <a:srgbClr val="2D63B8"/>
                          </a:solidFill>
                          <a:latin typeface="Microsoft YaHei"/>
                        </a:defRPr>
                      </a:pPr>
                      <a:r>
                        <a:t>[待填写]</a:t>
                      </a:r>
                    </a:p>
                  </a:txBody>
                  <a:tcPr marL="54864" marR="54864" marT="18288" marB="18288">
                    <a:solidFill>
                      <a:srgbClr val="EAF3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已完成 Direct-View 逻辑与信号捕获异常处理原型</a:t>
                      </a:r>
                    </a:p>
                  </a:txBody>
                  <a:tcPr marL="54864" marR="54864" marT="18288" marB="18288">
                    <a:solidFill>
                      <a:srgbClr val="EAF3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缺跨节点远端物理 HBM 映射与设备硬件直读环境</a:t>
                      </a:r>
                    </a:p>
                  </a:txBody>
                  <a:tcPr marL="54864" marR="54864" marT="18288" marB="18288">
                    <a:solidFill>
                      <a:srgbClr val="EAF3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>
                        <a:defRPr sz="919" b="1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PVT-04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微秒级动态选路与成本预估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选路决策 P99&lt;5µs；选路准确率≥90%；负收益率&lt;1%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919" b="1">
                          <a:solidFill>
                            <a:srgbClr val="2D63B8"/>
                          </a:solidFill>
                          <a:latin typeface="Microsoft YaHei"/>
                        </a:defRPr>
                      </a:pPr>
                      <a:r>
                        <a:t>[待填写]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已建立微秒级选路算法与静态参数决策仿真模型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缺乏高并发在线业务流量驱动与实时算力遥测反馈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>
                        <a:defRPr sz="919" b="1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PVT-05</a:t>
                      </a:r>
                    </a:p>
                  </a:txBody>
                  <a:tcPr marL="54864" marR="54864" marT="18288" marB="18288">
                    <a:solidFill>
                      <a:srgbClr val="EAF3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HBM-SSD 直达分层容量扩展</a:t>
                      </a:r>
                    </a:p>
                  </a:txBody>
                  <a:tcPr marL="54864" marR="54864" marT="18288" marB="18288">
                    <a:solidFill>
                      <a:srgbClr val="EAF3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150%超载容量提升≥30%；OOM 降低≥50%；SSD吞吐≥峰值80%</a:t>
                      </a:r>
                    </a:p>
                  </a:txBody>
                  <a:tcPr marL="54864" marR="54864" marT="18288" marB="18288">
                    <a:solidFill>
                      <a:srgbClr val="EAF3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919" b="1">
                          <a:solidFill>
                            <a:srgbClr val="2D63B8"/>
                          </a:solidFill>
                          <a:latin typeface="Microsoft YaHei"/>
                        </a:defRPr>
                      </a:pPr>
                      <a:r>
                        <a:t>[待填写]</a:t>
                      </a:r>
                    </a:p>
                  </a:txBody>
                  <a:tcPr marL="54864" marR="54864" marT="18288" marB="18288">
                    <a:solidFill>
                      <a:srgbClr val="EAF3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已完成分层块分配器 (TierBlockAllocator) 逻辑代码</a:t>
                      </a:r>
                    </a:p>
                  </a:txBody>
                  <a:tcPr marL="54864" marR="54864" marT="18288" marB="18288">
                    <a:solidFill>
                      <a:srgbClr val="EAF3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缺物理 NVMe SSD 与 NPU HBM 间 Direct PCIe 通路</a:t>
                      </a:r>
                    </a:p>
                  </a:txBody>
                  <a:tcPr marL="54864" marR="54864" marT="18288" marB="18288">
                    <a:solidFill>
                      <a:srgbClr val="EAF3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>
                        <a:defRPr sz="919" b="1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PVT-06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语义一致性校验与 TP=8 同步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8类冲突拦截率100%；多卡状态同步 P99&lt;100µs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919" b="1">
                          <a:solidFill>
                            <a:srgbClr val="2D63B8"/>
                          </a:solidFill>
                          <a:latin typeface="Microsoft YaHei"/>
                        </a:defRPr>
                      </a:pPr>
                      <a:r>
                        <a:t>[待填写]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已完成 6 维语义结构体设计与本地共享内存原型测试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缺 8 卡真实 NPU 服务器环境，未运行真实张量并行任务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>
                        <a:defRPr sz="919" b="1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PVT-07</a:t>
                      </a:r>
                    </a:p>
                  </a:txBody>
                  <a:tcPr marL="54864" marR="54864" marT="18288" marB="18288">
                    <a:solidFill>
                      <a:srgbClr val="EAF3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混压 QoS 与端到端时延保障</a:t>
                      </a:r>
                    </a:p>
                  </a:txBody>
                  <a:tcPr marL="54864" marR="54864" marT="18288" marB="18288">
                    <a:solidFill>
                      <a:srgbClr val="EAF3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TTFT 降低≥20%；QPS 提升≥10%；前台 TPOT 干扰&lt;3%</a:t>
                      </a:r>
                    </a:p>
                  </a:txBody>
                  <a:tcPr marL="54864" marR="54864" marT="18288" marB="18288">
                    <a:solidFill>
                      <a:srgbClr val="EAF3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919" b="1">
                          <a:solidFill>
                            <a:srgbClr val="2D63B8"/>
                          </a:solidFill>
                          <a:latin typeface="Microsoft YaHei"/>
                        </a:defRPr>
                      </a:pPr>
                      <a:r>
                        <a:t>[待填写]</a:t>
                      </a:r>
                    </a:p>
                  </a:txBody>
                  <a:tcPr marL="54864" marR="54864" marT="18288" marB="18288">
                    <a:solidFill>
                      <a:srgbClr val="EAF3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已在单机软件环境完成 QoS 优先级标记与退避逻辑验证</a:t>
                      </a:r>
                    </a:p>
                  </a:txBody>
                  <a:tcPr marL="54864" marR="54864" marT="18288" marB="18288">
                    <a:solidFill>
                      <a:srgbClr val="EAF3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缺双节点真实 RoCE/URMA 硬件优先级队列交换机环境</a:t>
                      </a:r>
                    </a:p>
                  </a:txBody>
                  <a:tcPr marL="54864" marR="54864" marT="18288" marB="18288">
                    <a:solidFill>
                      <a:srgbClr val="EAF3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>
                        <a:defRPr sz="919" b="1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PVT-08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软件分层中继分发降低源端带宽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1-to-8 源端出口带宽节省≥60%；广播传输耗时降低≥40%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919" b="1">
                          <a:solidFill>
                            <a:srgbClr val="2D63B8"/>
                          </a:solidFill>
                          <a:latin typeface="Microsoft YaHei"/>
                        </a:defRPr>
                      </a:pPr>
                      <a:r>
                        <a:t>[待填写]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已完成树状中继转发拓扑与分片逻辑软件仿真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缺真实多计算节点物理组网与物理网卡计数器采集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>
                        <a:defRPr sz="919" b="1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PVT-09</a:t>
                      </a:r>
                    </a:p>
                  </a:txBody>
                  <a:tcPr marL="54864" marR="54864" marT="18288" marB="18288">
                    <a:solidFill>
                      <a:srgbClr val="EAF3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安全传输硬件卸载与纯软降级</a:t>
                      </a:r>
                    </a:p>
                  </a:txBody>
                  <a:tcPr marL="54864" marR="54864" marT="18288" marB="18288">
                    <a:solidFill>
                      <a:srgbClr val="EAF3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硬件卸载降低 CPU 占用≥30%；纯软双轨平滑回退&lt;500µs</a:t>
                      </a:r>
                    </a:p>
                  </a:txBody>
                  <a:tcPr marL="54864" marR="54864" marT="18288" marB="18288">
                    <a:solidFill>
                      <a:srgbClr val="EAF3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919" b="1">
                          <a:solidFill>
                            <a:srgbClr val="2D63B8"/>
                          </a:solidFill>
                          <a:latin typeface="Microsoft YaHei"/>
                        </a:defRPr>
                      </a:pPr>
                      <a:r>
                        <a:t>[待填写]</a:t>
                      </a:r>
                    </a:p>
                  </a:txBody>
                  <a:tcPr marL="54864" marR="54864" marT="18288" marB="18288">
                    <a:solidFill>
                      <a:srgbClr val="EAF3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已设计硬件卸载抽象接口与纯软双轨平滑切换脚本</a:t>
                      </a:r>
                    </a:p>
                  </a:txBody>
                  <a:tcPr marL="54864" marR="54864" marT="18288" marB="18288">
                    <a:solidFill>
                      <a:srgbClr val="EAF3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缺乏专用硬件卸载协处理器物理加速卡</a:t>
                      </a:r>
                    </a:p>
                  </a:txBody>
                  <a:tcPr marL="54864" marR="54864" marT="18288" marB="18288">
                    <a:solidFill>
                      <a:srgbClr val="EAF3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>
                        <a:defRPr sz="919" b="1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CVT-01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软件 RCU 页迁移与去硬件依赖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32 并发 Reader 迁移前台停顿&lt;1ms；P99 抖动&lt;50µs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919" b="1">
                          <a:solidFill>
                            <a:srgbClr val="2D63B8"/>
                          </a:solidFill>
                          <a:latin typeface="Microsoft YaHei"/>
                        </a:defRPr>
                      </a:pPr>
                      <a:r>
                        <a:t>[待填写]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已完成无锁读与宽限期释放 RCU 算法原型验证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缺高并发前台 Reader 线程对真实物理显存块的压测环境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6327648"/>
            <a:ext cx="11091672" cy="320040"/>
          </a:xfrm>
          <a:prstGeom prst="rect">
            <a:avLst/>
          </a:prstGeom>
          <a:solidFill>
            <a:srgbClr val="2D6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8288" bIns="18288"/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核心结论：当前主要受阻瓶颈在于缺乏物理计算卡与多节点集群；保持状态留白并如实呈现硬件缺口，是严谨推进的前提。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292608"/>
            <a:ext cx="987552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122A49"/>
                </a:solidFill>
                <a:latin typeface="Microsoft YaHei"/>
              </a:defRPr>
            </a:pPr>
            <a:r>
              <a:t>阶段性关键技术优化成果与规范化记录模板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6B7785"/>
                </a:solidFill>
                <a:latin typeface="Microsoft YaHei"/>
              </a:defRPr>
            </a:pPr>
            <a:r>
              <a:t>控制面元数据加速已取得显著成效，数据面正文通道优化正在紧密推进中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320040"/>
            <a:ext cx="10058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300" b="1">
                <a:solidFill>
                  <a:srgbClr val="6B7785"/>
                </a:solidFill>
                <a:latin typeface="Microsoft YaHei"/>
              </a:defRPr>
            </a:pPr>
            <a:r>
              <a:t>05 / 09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051560"/>
            <a:ext cx="5394960" cy="2148840"/>
          </a:xfrm>
          <a:prstGeom prst="roundRect">
            <a:avLst>
              <a:gd name="adj" fmla="val 2000"/>
            </a:avLst>
          </a:prstGeom>
          <a:solidFill>
            <a:srgbClr val="EA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124712"/>
            <a:ext cx="5120640" cy="2002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80" b="1">
                <a:solidFill>
                  <a:srgbClr val="122A49"/>
                </a:solidFill>
                <a:latin typeface="Microsoft YaHei"/>
              </a:defRPr>
            </a:pPr>
            <a:r>
              <a:t>【已完成】成果一：PVT-00 通信协议加速与收益边界探明</a:t>
            </a:r>
          </a:p>
          <a:p>
            <a:pPr>
              <a:lnSpc>
                <a:spcPct val="118000"/>
              </a:lnSpc>
              <a:spcBef>
                <a:spcPts val="400"/>
              </a:spcBef>
            </a:pPr>
            <a:r>
              <a:rPr sz="919" b="1">
                <a:solidFill>
                  <a:srgbClr val="122A49"/>
                </a:solidFill>
                <a:latin typeface="Microsoft YaHei"/>
              </a:rPr>
              <a:t>• 优化手段： </a:t>
            </a:r>
            <a:r>
              <a:rPr sz="900">
                <a:solidFill>
                  <a:srgbClr val="1A2533"/>
                </a:solidFill>
                <a:latin typeface="Microsoft YaHei"/>
              </a:rPr>
              <a:t>利用原厂 UBMEM / URMA 高速直通通信协议重构传输基准。</a:t>
            </a:r>
          </a:p>
          <a:p>
            <a:pPr>
              <a:lnSpc>
                <a:spcPct val="118000"/>
              </a:lnSpc>
              <a:spcBef>
                <a:spcPts val="400"/>
              </a:spcBef>
            </a:pPr>
            <a:r>
              <a:rPr sz="919" b="1">
                <a:solidFill>
                  <a:srgbClr val="122A49"/>
                </a:solidFill>
                <a:latin typeface="Microsoft YaHei"/>
              </a:rPr>
              <a:t>• 对照基线： </a:t>
            </a:r>
            <a:r>
              <a:rPr sz="900">
                <a:solidFill>
                  <a:srgbClr val="1A2533"/>
                </a:solidFill>
                <a:latin typeface="Microsoft YaHei"/>
              </a:rPr>
              <a:t>以传统标准 RDMA 通信栈及 Host 内存中转为基线对比。</a:t>
            </a:r>
          </a:p>
          <a:p>
            <a:pPr>
              <a:lnSpc>
                <a:spcPct val="118000"/>
              </a:lnSpc>
              <a:spcBef>
                <a:spcPts val="400"/>
              </a:spcBef>
            </a:pPr>
            <a:r>
              <a:rPr sz="919" b="1">
                <a:solidFill>
                  <a:srgbClr val="122A49"/>
                </a:solidFill>
                <a:latin typeface="Microsoft YaHei"/>
              </a:rPr>
              <a:t>• 实测验证： </a:t>
            </a:r>
            <a:r>
              <a:rPr sz="900">
                <a:solidFill>
                  <a:srgbClr val="1A2533"/>
                </a:solidFill>
                <a:latin typeface="Microsoft YaHei"/>
              </a:rPr>
              <a:t>在 Host 通信环境中探明了 50% 前缀复用率下的协议加速临界点，验证了 UBMEM 在吞吐与传输时延上较标准 RDMA 的显著优势。</a:t>
            </a:r>
          </a:p>
          <a:p>
            <a:pPr>
              <a:lnSpc>
                <a:spcPct val="118000"/>
              </a:lnSpc>
              <a:spcBef>
                <a:spcPts val="400"/>
              </a:spcBef>
            </a:pPr>
            <a:r>
              <a:rPr sz="919" b="1">
                <a:solidFill>
                  <a:srgbClr val="122A49"/>
                </a:solidFill>
                <a:latin typeface="Microsoft YaHei"/>
              </a:rPr>
              <a:t>• 业务价值： </a:t>
            </a:r>
            <a:r>
              <a:rPr sz="900">
                <a:solidFill>
                  <a:srgbClr val="1A2533"/>
                </a:solidFill>
                <a:latin typeface="Microsoft YaHei"/>
              </a:rPr>
              <a:t>探明前缀复用净收益边界，证实了通过协议重构大幅降低 TTFT 的可行性。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1051560"/>
            <a:ext cx="5394960" cy="2148840"/>
          </a:xfrm>
          <a:prstGeom prst="roundRect">
            <a:avLst>
              <a:gd name="adj" fmla="val 2000"/>
            </a:avLst>
          </a:prstGeom>
          <a:solidFill>
            <a:srgbClr val="E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82512" y="1124712"/>
            <a:ext cx="5120640" cy="2002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80" b="1">
                <a:solidFill>
                  <a:srgbClr val="2D63B8"/>
                </a:solidFill>
                <a:latin typeface="Microsoft YaHei"/>
              </a:defRPr>
            </a:pPr>
            <a:r>
              <a:t>【阶段成果】成果二：基于 UB 技术的元数据处理与前缀匹配加速</a:t>
            </a:r>
          </a:p>
          <a:p>
            <a:pPr>
              <a:lnSpc>
                <a:spcPct val="118000"/>
              </a:lnSpc>
              <a:spcBef>
                <a:spcPts val="360"/>
              </a:spcBef>
            </a:pPr>
            <a:r>
              <a:rPr sz="900" b="1">
                <a:solidFill>
                  <a:srgbClr val="2D63B8"/>
                </a:solidFill>
                <a:latin typeface="Microsoft YaHei"/>
              </a:rPr>
              <a:t>• 针对指标： </a:t>
            </a:r>
            <a:r>
              <a:rPr sz="880">
                <a:solidFill>
                  <a:srgbClr val="1A2533"/>
                </a:solidFill>
                <a:latin typeface="Microsoft YaHei"/>
              </a:rPr>
              <a:t>在线推理 TTFT（大幅压缩首字生成前置控制耗时）与控制面抖动。</a:t>
            </a:r>
          </a:p>
          <a:p>
            <a:pPr>
              <a:lnSpc>
                <a:spcPct val="118000"/>
              </a:lnSpc>
              <a:spcBef>
                <a:spcPts val="360"/>
              </a:spcBef>
            </a:pPr>
            <a:r>
              <a:rPr sz="900" b="1">
                <a:solidFill>
                  <a:srgbClr val="2D63B8"/>
                </a:solidFill>
                <a:latin typeface="Microsoft YaHei"/>
              </a:rPr>
              <a:t>• 攻坚重点： </a:t>
            </a:r>
            <a:r>
              <a:rPr sz="880">
                <a:solidFill>
                  <a:srgbClr val="1A2533"/>
                </a:solidFill>
                <a:latin typeface="Microsoft YaHei"/>
              </a:rPr>
              <a:t>针对 Beluga 测得细粒度 RDMA 同步开销高、及 FORGE 揭示的同步放大超 20 倍痛点，利用统一总线技术 (UB) 直通共享内存加速前缀表检索与元数据流转。</a:t>
            </a:r>
          </a:p>
          <a:p>
            <a:pPr>
              <a:lnSpc>
                <a:spcPct val="118000"/>
              </a:lnSpc>
              <a:spcBef>
                <a:spcPts val="360"/>
              </a:spcBef>
            </a:pPr>
            <a:r>
              <a:rPr sz="900" b="1">
                <a:solidFill>
                  <a:srgbClr val="2D63B8"/>
                </a:solidFill>
                <a:latin typeface="Microsoft YaHei"/>
              </a:rPr>
              <a:t>• 对照基线： </a:t>
            </a:r>
            <a:r>
              <a:rPr sz="880">
                <a:solidFill>
                  <a:srgbClr val="1A2533"/>
                </a:solidFill>
                <a:latin typeface="Microsoft YaHei"/>
              </a:rPr>
              <a:t>Mooncake 原生基于标准 RDMA 的元数据处理与前缀匹配表检索链路。</a:t>
            </a:r>
          </a:p>
          <a:p>
            <a:pPr>
              <a:lnSpc>
                <a:spcPct val="118000"/>
              </a:lnSpc>
              <a:spcBef>
                <a:spcPts val="360"/>
              </a:spcBef>
            </a:pPr>
            <a:r>
              <a:rPr sz="900" b="1">
                <a:solidFill>
                  <a:srgbClr val="2D63B8"/>
                </a:solidFill>
                <a:latin typeface="Microsoft YaHei"/>
              </a:rPr>
              <a:t>• 实测表现： </a:t>
            </a:r>
            <a:r>
              <a:rPr sz="880">
                <a:solidFill>
                  <a:srgbClr val="1A2533"/>
                </a:solidFill>
                <a:latin typeface="Microsoft YaHei"/>
              </a:rPr>
              <a:t>前缀匹配表检索性能提升 30% 以上，有效缩减首字生成前置等待时间。</a:t>
            </a:r>
          </a:p>
          <a:p>
            <a:pPr>
              <a:lnSpc>
                <a:spcPct val="118000"/>
              </a:lnSpc>
              <a:spcBef>
                <a:spcPts val="360"/>
              </a:spcBef>
            </a:pPr>
            <a:r>
              <a:rPr sz="900" b="1">
                <a:solidFill>
                  <a:srgbClr val="2D63B8"/>
                </a:solidFill>
                <a:latin typeface="Microsoft YaHei"/>
              </a:rPr>
              <a:t>• 数据面协同： </a:t>
            </a:r>
            <a:r>
              <a:rPr sz="880">
                <a:solidFill>
                  <a:srgbClr val="1A2533"/>
                </a:solidFill>
                <a:latin typeface="Microsoft YaHei"/>
              </a:rPr>
              <a:t>控制面加速成效明确，正文数据面直通通道与吞吐压测正同步推进中。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3291840"/>
          <a:ext cx="11091671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"/>
                <a:gridCol w="1188720"/>
                <a:gridCol w="2743200"/>
                <a:gridCol w="2011680"/>
                <a:gridCol w="2084831"/>
                <a:gridCol w="2286000"/>
              </a:tblGrid>
              <a:tr h="576072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成果编号</a:t>
                      </a:r>
                    </a:p>
                  </a:txBody>
                  <a:tcPr marL="54864" marR="54864" marT="27432" marB="27432">
                    <a:solidFill>
                      <a:srgbClr val="122A49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针对核心指标</a:t>
                      </a:r>
                    </a:p>
                  </a:txBody>
                  <a:tcPr marL="54864" marR="54864" marT="27432" marB="27432">
                    <a:solidFill>
                      <a:srgbClr val="122A49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优化手段与关键技术</a:t>
                      </a:r>
                    </a:p>
                  </a:txBody>
                  <a:tcPr marL="54864" marR="54864" marT="27432" marB="27432">
                    <a:solidFill>
                      <a:srgbClr val="122A49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对照基线</a:t>
                      </a:r>
                    </a:p>
                  </a:txBody>
                  <a:tcPr marL="54864" marR="54864" marT="27432" marB="27432">
                    <a:solidFill>
                      <a:srgbClr val="122A49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实测表现 / 提升幅度</a:t>
                      </a:r>
                    </a:p>
                  </a:txBody>
                  <a:tcPr marL="54864" marR="54864" marT="27432" marB="27432">
                    <a:solidFill>
                      <a:srgbClr val="122A49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当前状态与证据路径</a:t>
                      </a:r>
                    </a:p>
                  </a:txBody>
                  <a:tcPr marL="54864" marR="54864" marT="27432" marB="27432">
                    <a:solidFill>
                      <a:srgbClr val="122A49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defRPr sz="950" b="1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O-01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defRPr sz="950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TTFT / 传输带宽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defRPr sz="950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PVT-00 UBMEM/URMA 高速直通通信协议栈摸底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defRPr sz="950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通用 RDMA 通信基准与 Host 内存中转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defRPr sz="950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探明 50% 复用下收益边界，带宽提升明显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defRPr sz="950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已完成（Host 通信日志与带宽基准）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defRPr sz="950" b="1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O-02</a:t>
                      </a:r>
                    </a:p>
                  </a:txBody>
                  <a:tcPr marL="54864" marR="54864" marT="27432" marB="27432">
                    <a:solidFill>
                      <a:srgbClr val="EAF3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defRPr sz="950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TTFT（首字时延）</a:t>
                      </a:r>
                    </a:p>
                  </a:txBody>
                  <a:tcPr marL="54864" marR="54864" marT="27432" marB="27432">
                    <a:solidFill>
                      <a:srgbClr val="EAF3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defRPr sz="950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基于 UB 技术重构元数据处理与前缀匹配表检索</a:t>
                      </a:r>
                    </a:p>
                  </a:txBody>
                  <a:tcPr marL="54864" marR="54864" marT="27432" marB="27432">
                    <a:solidFill>
                      <a:srgbClr val="EAF3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defRPr sz="950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Mooncake 原生基于 RDMA 的元数据处理链路</a:t>
                      </a:r>
                    </a:p>
                  </a:txBody>
                  <a:tcPr marL="54864" marR="54864" marT="27432" marB="27432">
                    <a:solidFill>
                      <a:srgbClr val="EAF3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defRPr sz="950" b="1">
                          <a:solidFill>
                            <a:srgbClr val="2D63B8"/>
                          </a:solidFill>
                          <a:latin typeface="Microsoft YaHei"/>
                        </a:defRPr>
                      </a:pPr>
                      <a:r>
                        <a:t>前缀匹配表检索性能提升 30% 以上</a:t>
                      </a:r>
                    </a:p>
                  </a:txBody>
                  <a:tcPr marL="54864" marR="54864" marT="27432" marB="27432">
                    <a:solidFill>
                      <a:srgbClr val="EAF3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defRPr sz="950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已完成（微基准实测，数据面推进中）</a:t>
                      </a:r>
                    </a:p>
                  </a:txBody>
                  <a:tcPr marL="54864" marR="54864" marT="27432" marB="27432">
                    <a:solidFill>
                      <a:srgbClr val="EAF3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defRPr sz="950" b="1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O-03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defRPr sz="950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[待填写]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defRPr sz="950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[规范模板：待补充具体优化手段与算法]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defRPr sz="950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[规范模板：明确对照基线版本]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defRPr sz="950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[待填写：写清量化提升与统计分位]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defRPr sz="950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[待填写：补充原始日志或测试路径]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defRPr sz="950" b="1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O-04</a:t>
                      </a:r>
                    </a:p>
                  </a:txBody>
                  <a:tcPr marL="54864" marR="54864" marT="27432" marB="27432">
                    <a:solidFill>
                      <a:srgbClr val="EAF3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defRPr sz="950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[待填写]</a:t>
                      </a:r>
                    </a:p>
                  </a:txBody>
                  <a:tcPr marL="54864" marR="54864" marT="27432" marB="27432">
                    <a:solidFill>
                      <a:srgbClr val="EAF3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defRPr sz="950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[规范模板：待补充具体优化手段与算法]</a:t>
                      </a:r>
                    </a:p>
                  </a:txBody>
                  <a:tcPr marL="54864" marR="54864" marT="27432" marB="27432">
                    <a:solidFill>
                      <a:srgbClr val="EAF3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defRPr sz="950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[规范模板：明确对照基线版本]</a:t>
                      </a:r>
                    </a:p>
                  </a:txBody>
                  <a:tcPr marL="54864" marR="54864" marT="27432" marB="27432">
                    <a:solidFill>
                      <a:srgbClr val="EAF3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defRPr sz="950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[待填写：写清量化提升与统计分位]</a:t>
                      </a:r>
                    </a:p>
                  </a:txBody>
                  <a:tcPr marL="54864" marR="54864" marT="27432" marB="27432">
                    <a:solidFill>
                      <a:srgbClr val="EAF3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defRPr sz="950">
                          <a:solidFill>
                            <a:srgbClr val="1A2533"/>
                          </a:solidFill>
                          <a:latin typeface="Microsoft YaHei"/>
                        </a:defRPr>
                      </a:pPr>
                      <a:r>
                        <a:t>[待填写：补充原始日志或测试路径]</a:t>
                      </a:r>
                    </a:p>
                  </a:txBody>
                  <a:tcPr marL="54864" marR="54864" marT="27432" marB="27432">
                    <a:solidFill>
                      <a:srgbClr val="EAF3FF"/>
                    </a:solidFill>
                    <a:lnL w="12700" cmpd="s">
                      <a:solidFill>
                        <a:srgbClr val="C9D6E5"/>
                      </a:solidFill>
                    </a:lnL>
                    <a:lnR w="12700" cmpd="s">
                      <a:solidFill>
                        <a:srgbClr val="C9D6E5"/>
                      </a:solidFill>
                    </a:lnR>
                    <a:lnT w="12700" cmpd="s">
                      <a:solidFill>
                        <a:srgbClr val="C9D6E5"/>
                      </a:solidFill>
                    </a:lnT>
                    <a:lnB w="12700" cmpd="s">
                      <a:solidFill>
                        <a:srgbClr val="C9D6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548640" y="6327648"/>
            <a:ext cx="11091672" cy="320040"/>
          </a:xfrm>
          <a:prstGeom prst="rect">
            <a:avLst/>
          </a:prstGeom>
          <a:solidFill>
            <a:srgbClr val="2D6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8288" bIns="18288"/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核心结论：控制面元数据加速已率先实现 &gt;30% 检索性能提升；后续成果将严格按此规范模板补充可比基线与原始测试闭环。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292608"/>
            <a:ext cx="987552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122A49"/>
                </a:solidFill>
                <a:latin typeface="Microsoft YaHei"/>
              </a:defRPr>
            </a:pPr>
            <a:r>
              <a:t>元数据处理时延优化的价值场景建模与理论性能推导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6B7785"/>
                </a:solidFill>
                <a:latin typeface="Microsoft YaHei"/>
              </a:defRPr>
            </a:pPr>
            <a:r>
              <a:t>基于关键路径占比 (CMR) 与服务利用率 (ρ) 双维模型，推导高利用率下吞吐与 P99 改善，并引入 NVIDIA 工业实测副证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320040"/>
            <a:ext cx="10058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300" b="1">
                <a:solidFill>
                  <a:srgbClr val="6B7785"/>
                </a:solidFill>
                <a:latin typeface="Microsoft YaHei"/>
              </a:defRPr>
            </a:pPr>
            <a:r>
              <a:t>06 / 09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051560"/>
            <a:ext cx="5897880" cy="2542032"/>
          </a:xfrm>
          <a:prstGeom prst="roundRect">
            <a:avLst>
              <a:gd name="adj" fmla="val 2000"/>
            </a:avLst>
          </a:prstGeom>
          <a:solidFill>
            <a:srgbClr val="EA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" y="1124712"/>
            <a:ext cx="5641848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60" b="1">
                <a:solidFill>
                  <a:srgbClr val="122A49"/>
                </a:solidFill>
                <a:latin typeface="Microsoft YaHei"/>
              </a:defRPr>
            </a:pPr>
            <a:r>
              <a:t>【价值区域一】高利用率 + 高 CMR（32K / 200GB/s 聚合拉取 / 短 TTFT）</a:t>
            </a:r>
          </a:p>
          <a:p>
            <a:pPr>
              <a:spcBef>
                <a:spcPts val="150"/>
              </a:spcBef>
              <a:defRPr sz="850" b="1">
                <a:solidFill>
                  <a:srgbClr val="2D63B8"/>
                </a:solidFill>
                <a:latin typeface="Microsoft YaHei"/>
              </a:defRPr>
            </a:pPr>
            <a:r>
              <a:t>基线场景一：32K Tokens (1.6GB)，200GB/s 聚合带宽；CMR 达 16.0%，ρ → 1</a:t>
            </a:r>
          </a:p>
        </p:txBody>
      </p:sp>
      <p:pic>
        <p:nvPicPr>
          <p:cNvPr id="7" name="Picture 6" descr="formula_slide6_regim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1490472"/>
            <a:ext cx="5641848" cy="6035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76656" y="2121408"/>
            <a:ext cx="5641848" cy="1435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800" b="1">
                <a:solidFill>
                  <a:srgbClr val="122A49"/>
                </a:solidFill>
                <a:latin typeface="Microsoft YaHei"/>
              </a:rPr>
              <a:t>• 公式变量与基线场景一： </a:t>
            </a:r>
            <a:r>
              <a:rPr sz="760">
                <a:solidFill>
                  <a:srgbClr val="1A2533"/>
                </a:solidFill>
                <a:latin typeface="Microsoft YaHei"/>
              </a:rPr>
              <a:t>变量定义：C 为并发数，M 为 Master 线程数，t_proc≈0.15ms，β 为互斥锁因子，γ 为无锁总线因子 (γ ≪ β ≈ 0)。【实测场景一】：32K 输入 / 16KB 元数据，RDMA 基线耗时 τ_0=1.00ms，UBMEM 共享内存直达降至 τ_ub=0.70ms (时延降低 30.0%)。</a:t>
            </a:r>
          </a:p>
          <a:p>
            <a:pPr>
              <a:lnSpc>
                <a:spcPct val="110000"/>
              </a:lnSpc>
              <a:spcBef>
                <a:spcPts val="150"/>
              </a:spcBef>
            </a:pPr>
            <a:r>
              <a:rPr sz="800" b="1">
                <a:solidFill>
                  <a:srgbClr val="122A49"/>
                </a:solidFill>
                <a:latin typeface="Microsoft YaHei"/>
              </a:rPr>
              <a:t>• 基线 TTFT 6.25ms 来源与 5.95ms 推导： </a:t>
            </a:r>
            <a:r>
              <a:rPr sz="760">
                <a:solidFill>
                  <a:srgbClr val="1A2533"/>
                </a:solidFill>
                <a:latin typeface="Microsoft YaHei"/>
              </a:rPr>
              <a:t>【工况定位】：32K 上下文 (1.6GB KVCache)，200GB/s 聚合拉取带宽传输耗时 T_trans=8.0ms；经因果流水重叠掩盖与首字调度执行，数据面净暴露耗时 T_data=5.25ms；叠加开源 RDMA 元数据基线 τ_0=1.00ms，导出基线 TTFT_base = 5.25 + 1.00 = 6.25ms (CMR 达 16.0% 高敏感区)；UBMEM 直读后降为 TTFT_opt = 5.95ms (净提速 0.30ms)。</a:t>
            </a:r>
          </a:p>
          <a:p>
            <a:pPr>
              <a:lnSpc>
                <a:spcPct val="110000"/>
              </a:lnSpc>
              <a:spcBef>
                <a:spcPts val="150"/>
              </a:spcBef>
            </a:pPr>
            <a:r>
              <a:rPr sz="800" b="1">
                <a:solidFill>
                  <a:srgbClr val="122A49"/>
                </a:solidFill>
                <a:latin typeface="Microsoft YaHei"/>
              </a:rPr>
              <a:t>• 基线 P99 52.3ms 来源与排队压制： </a:t>
            </a:r>
            <a:r>
              <a:rPr sz="760">
                <a:solidFill>
                  <a:srgbClr val="1A2533"/>
                </a:solidFill>
                <a:latin typeface="Microsoft YaHei"/>
              </a:rPr>
              <a:t>【基线系统】：开源单 Master 上限 μ_base=1000 req/s (平均 1.0ms)。到达率 λ=900 req/s 高载下 (利用率 ρ=90%)，M/M/1 导出 99% 排队等待 W_99 = ln(100)/(μ-λ) = 4.605/100 = 46.05ms，叠加基础耗时 6.25ms 导出基线 P99 为 52.3ms。UBMEM 无锁直达将容量提升至 μ=1429 req/s (余裕扩 5.3 倍)，排队等待骤降至 8.71ms，P99 降至 14.7ms (净降 37.6ms，降幅达 71.9%)。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675888"/>
            <a:ext cx="5897880" cy="2505456"/>
          </a:xfrm>
          <a:prstGeom prst="roundRect">
            <a:avLst>
              <a:gd name="adj" fmla="val 2000"/>
            </a:avLst>
          </a:prstGeom>
          <a:solidFill>
            <a:srgbClr val="E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3749040"/>
            <a:ext cx="5641848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60" b="1">
                <a:solidFill>
                  <a:srgbClr val="122A49"/>
                </a:solidFill>
                <a:latin typeface="Microsoft YaHei"/>
              </a:defRPr>
            </a:pPr>
            <a:r>
              <a:t>【价值区域二】高利用率 + 低 CMR（常规长文本 / 聚合带宽下控制面瓶颈转移）</a:t>
            </a:r>
          </a:p>
          <a:p>
            <a:pPr>
              <a:spcBef>
                <a:spcPts val="150"/>
              </a:spcBef>
              <a:defRPr sz="850" b="1">
                <a:solidFill>
                  <a:srgbClr val="2D63B8"/>
                </a:solidFill>
                <a:latin typeface="Microsoft YaHei"/>
              </a:defRPr>
            </a:pPr>
            <a:r>
              <a:t>典型场景：长文本未命中 Prefill（TTFT 约 100ms），CMR 仅约 1.0%，ρ → 1</a:t>
            </a:r>
          </a:p>
        </p:txBody>
      </p:sp>
      <p:pic>
        <p:nvPicPr>
          <p:cNvPr id="11" name="Picture 10" descr="formula_slide6_regim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4114800"/>
            <a:ext cx="5641848" cy="6035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6656" y="4745736"/>
            <a:ext cx="5641848" cy="1399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800" b="1">
                <a:solidFill>
                  <a:srgbClr val="122A49"/>
                </a:solidFill>
                <a:latin typeface="Microsoft YaHei"/>
              </a:rPr>
              <a:t>• 聚合带宽与控制面瓶颈转移： </a:t>
            </a:r>
            <a:r>
              <a:rPr sz="760">
                <a:solidFill>
                  <a:srgbClr val="1A2533"/>
                </a:solidFill>
                <a:latin typeface="Microsoft YaHei"/>
              </a:rPr>
              <a:t>【实测场景二联动】：在 200GB/s 聚合带宽与 2MB 大块切片下，数据面搬运瓶颈彻底消除 (T_data 骤降)；未命中重算 GEMM 耗时 T_data≈99.0ms。单次查表 τ_0=1.00ms 仅占 CMR=1.0% (低 CMR 区域)。数据面瓶颈解除后，控制面服务吞吐容量 μ = 1/τ_meta 成为集群 QPS 扩展的绝对一阶天花板。</a:t>
            </a:r>
          </a:p>
          <a:p>
            <a:pPr>
              <a:lnSpc>
                <a:spcPct val="110000"/>
              </a:lnSpc>
              <a:spcBef>
                <a:spcPts val="150"/>
              </a:spcBef>
            </a:pPr>
            <a:r>
              <a:rPr sz="800" b="1">
                <a:solidFill>
                  <a:srgbClr val="122A49"/>
                </a:solidFill>
                <a:latin typeface="Microsoft YaHei"/>
              </a:rPr>
              <a:t>• 控制面容量跃升与饱和断崖右移： </a:t>
            </a:r>
            <a:r>
              <a:rPr sz="760">
                <a:solidFill>
                  <a:srgbClr val="1A2533"/>
                </a:solidFill>
                <a:latin typeface="Microsoft YaHei"/>
              </a:rPr>
              <a:t>低载下单次缩短 0.3ms 对 100ms TTFT 仅微改 0.3% (易被网络抖动淹没)。但在高利用率 (ρ → 1) 下，元数据时延由 τ_0=1.00ms 降至 τ_ub=0.70ms (降幅 30%)，单 Master 服务容量从 μ_base=1000 req/s 跃升至 μ_opt=1429 req/s (容量跃升 +42.9%)，将服务饱和排队断崖显著右移。</a:t>
            </a:r>
          </a:p>
          <a:p>
            <a:pPr>
              <a:lnSpc>
                <a:spcPct val="110000"/>
              </a:lnSpc>
              <a:spcBef>
                <a:spcPts val="150"/>
              </a:spcBef>
            </a:pPr>
            <a:r>
              <a:rPr sz="800" b="1">
                <a:solidFill>
                  <a:srgbClr val="122A49"/>
                </a:solidFill>
                <a:latin typeface="Microsoft YaHei"/>
              </a:rPr>
              <a:t>• 严苛 SLO 准入极限与防雪崩增益： </a:t>
            </a:r>
            <a:r>
              <a:rPr sz="760">
                <a:solidFill>
                  <a:srgbClr val="1A2533"/>
                </a:solidFill>
                <a:latin typeface="Microsoft YaHei"/>
              </a:rPr>
              <a:t>由准入模型 λ_SLO^max = μ - ln(100)/(P99_SLO - T_data)，在 P99 ≤ 120ms 严苛约束下，有效承载 QPS 从 781 提升至 1210 req/s (+54.9%)；在 QPS=960 准饱和洪峰下，基线排队发散导致 P99 飙升至 215.1ms (违背 SLO)，优化后稳定在 109.5ms (P99 降低 49.1%)，彻底规避排队雪崩。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02552" y="1051560"/>
            <a:ext cx="4937760" cy="254203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hart_metadata_theo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7416" y="1106424"/>
            <a:ext cx="4828032" cy="2432304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702552" y="3675888"/>
            <a:ext cx="4937760" cy="2505456"/>
          </a:xfrm>
          <a:prstGeom prst="roundRect">
            <a:avLst>
              <a:gd name="adj" fmla="val 2000"/>
            </a:avLst>
          </a:prstGeom>
          <a:solidFill>
            <a:srgbClr val="FFF5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30568" y="3749040"/>
            <a:ext cx="4681728" cy="2359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60" b="1">
                <a:solidFill>
                  <a:srgbClr val="122A49"/>
                </a:solidFill>
                <a:latin typeface="Microsoft YaHei"/>
              </a:defRPr>
            </a:pPr>
            <a:r>
              <a:t>【外部数据副证】NVIDIA 顶级工业系统实测客观对齐</a:t>
            </a:r>
          </a:p>
          <a:p>
            <a:pPr>
              <a:spcBef>
                <a:spcPts val="150"/>
              </a:spcBef>
              <a:defRPr sz="850" b="1">
                <a:solidFill>
                  <a:srgbClr val="A01414"/>
                </a:solidFill>
                <a:latin typeface="Microsoft YaHei"/>
              </a:defRPr>
            </a:pPr>
            <a:r>
              <a:t>证实元数据绝对不是无足轻重的后台任务，而是高并发/大规模下决定吞吐门限的一阶瓶颈</a:t>
            </a:r>
          </a:p>
          <a:p>
            <a:pPr>
              <a:lnSpc>
                <a:spcPct val="115000"/>
              </a:lnSpc>
              <a:spcBef>
                <a:spcPts val="260"/>
              </a:spcBef>
            </a:pPr>
            <a:r>
              <a:rPr sz="830" b="1">
                <a:solidFill>
                  <a:srgbClr val="122A49"/>
                </a:solidFill>
                <a:latin typeface="Microsoft YaHei"/>
              </a:rPr>
              <a:t>• NVIDIA Dynamo Flash Indexer (2026 生产级实测)： </a:t>
            </a:r>
            <a:r>
              <a:rPr sz="800">
                <a:solidFill>
                  <a:srgbClr val="1A2533"/>
                </a:solidFill>
                <a:latin typeface="Microsoft YaHei"/>
              </a:rPr>
              <a:t>基于真实 Mooncake 生产 Trace 回放（24 核 Arrow Lake/24 线程）：早期仅 385K ops/s，Dynamo v0.1 为 4M ops/s，而 Flash Indexer 暴增至 170M ops/s (42 倍吞吐跃升)。NVIDIA 强调“Slow queries to indexer means user-facing latency”，前缀查询直接暴露于 TTFT 关键路径，其容量上限决定排队雪崩拐点。</a:t>
            </a:r>
          </a:p>
          <a:p>
            <a:pPr>
              <a:lnSpc>
                <a:spcPct val="115000"/>
              </a:lnSpc>
              <a:spcBef>
                <a:spcPts val="260"/>
              </a:spcBef>
            </a:pPr>
            <a:r>
              <a:rPr sz="830" b="1">
                <a:solidFill>
                  <a:srgbClr val="122A49"/>
                </a:solidFill>
                <a:latin typeface="Microsoft YaHei"/>
              </a:rPr>
              <a:t>• NVIDIA Branch-Sharded Indexer &amp; AgentX 并发优化： </a:t>
            </a:r>
            <a:r>
              <a:rPr sz="800">
                <a:solidFill>
                  <a:srgbClr val="1A2533"/>
                </a:solidFill>
                <a:latin typeface="Microsoft YaHei"/>
              </a:rPr>
              <a:t>在 concurrency=512 极高并发 Agentic 工作负载下，全局基数树锁争用与深层前缀遍历开销主导了前端瓶颈；通过分支分片与热路径精简，实测系统全局吞吐提升 +13.7%，中位数输出吞吐提升 +22.2%。</a:t>
            </a:r>
          </a:p>
          <a:p>
            <a:pPr>
              <a:lnSpc>
                <a:spcPct val="115000"/>
              </a:lnSpc>
              <a:spcBef>
                <a:spcPts val="260"/>
              </a:spcBef>
            </a:pPr>
            <a:r>
              <a:rPr sz="830" b="1">
                <a:solidFill>
                  <a:srgbClr val="122A49"/>
                </a:solidFill>
                <a:latin typeface="Microsoft YaHei"/>
              </a:rPr>
              <a:t>• 对本项目的工程支撑： </a:t>
            </a:r>
            <a:r>
              <a:rPr sz="800">
                <a:solidFill>
                  <a:srgbClr val="1A2533"/>
                </a:solidFill>
                <a:latin typeface="Microsoft YaHei"/>
              </a:rPr>
              <a:t>证明微秒级的单次控制面优化，在并发与共享规模放大下，直接转化为 40%+ 的服务容量跃升与 P99 抖动平抑，具备重大工业系统价值。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327648"/>
            <a:ext cx="11091672" cy="320040"/>
          </a:xfrm>
          <a:prstGeom prst="rect">
            <a:avLst/>
          </a:prstGeom>
          <a:solidFill>
            <a:srgbClr val="2D6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8288" bIns="18288"/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核心结论：元数据 30% 优化在低载下为微秒级收益；在高并发共享场景下转化为 +42.9% 吞吐容量并压制 &gt;70% 的 P99 尾部排队抖动。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292608"/>
            <a:ext cx="987552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122A49"/>
                </a:solidFill>
                <a:latin typeface="Microsoft YaHei"/>
              </a:defRPr>
            </a:pPr>
            <a:r>
              <a:t>受限项理论建模打样与仿真量化分析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6B7785"/>
                </a:solidFill>
                <a:latin typeface="Microsoft YaHei"/>
              </a:defRPr>
            </a:pPr>
            <a:r>
              <a:t>以计算机体系结构与网络动力学第一性原理严密建模，图文协同支撑受阻项论证（硬件到位后即刻实测闭环）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320040"/>
            <a:ext cx="10058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300" b="1">
                <a:solidFill>
                  <a:srgbClr val="6B7785"/>
                </a:solidFill>
                <a:latin typeface="Microsoft YaHei"/>
              </a:defRPr>
            </a:pPr>
            <a:r>
              <a:t>07 / 09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051560"/>
            <a:ext cx="11091672" cy="384048"/>
          </a:xfrm>
          <a:prstGeom prst="roundRect">
            <a:avLst>
              <a:gd name="adj" fmla="val 2000"/>
            </a:avLst>
          </a:prstGeom>
          <a:solidFill>
            <a:srgbClr val="FF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069848"/>
            <a:ext cx="10817352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950" b="1">
                <a:solidFill>
                  <a:srgbClr val="A01414"/>
                </a:solidFill>
                <a:latin typeface="Microsoft YaHei"/>
              </a:rPr>
              <a:t>【硬件实验环境客观差距与建模原由】</a:t>
            </a:r>
            <a:r>
              <a:rPr sz="880">
                <a:solidFill>
                  <a:srgbClr val="1A2533"/>
                </a:solidFill>
                <a:latin typeface="Microsoft YaHei"/>
              </a:rPr>
              <a:t>当前仅具备通用 Host CPU 基础通信环境，缺乏国产高带宽显存 NPU、TP=8 多卡拓扑与硬件 QoS 交换机。在物理硬件就绪前，依据第一性原理对受阻项开展严密建模与仿真打样，为后续接入真实大模型流水确立量化基准。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08760"/>
            <a:ext cx="5394960" cy="4709160"/>
          </a:xfrm>
          <a:prstGeom prst="roundRect">
            <a:avLst>
              <a:gd name="adj" fmla="val 2000"/>
            </a:avLst>
          </a:prstGeom>
          <a:solidFill>
            <a:srgbClr val="EA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1581912"/>
            <a:ext cx="5138928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122A49"/>
                </a:solidFill>
                <a:latin typeface="Microsoft YaHei"/>
              </a:defRPr>
            </a:pPr>
            <a:r>
              <a:t>【打样一】PVT-04 微秒级动态选路防反噬（平抑 TTFT 尾部抖动）</a:t>
            </a:r>
          </a:p>
          <a:p>
            <a:pPr>
              <a:spcBef>
                <a:spcPts val="120"/>
              </a:spcBef>
              <a:defRPr sz="850" b="1">
                <a:solidFill>
                  <a:srgbClr val="2D63B8"/>
                </a:solidFill>
                <a:latin typeface="Microsoft YaHei"/>
              </a:defRPr>
            </a:pPr>
            <a:r>
              <a:t>针对队头阻塞与时延倒挂难题 · 建立临界可用带宽盈亏平衡点决策模型</a:t>
            </a:r>
          </a:p>
        </p:txBody>
      </p:sp>
      <p:pic>
        <p:nvPicPr>
          <p:cNvPr id="9" name="Picture 8" descr="chart2_pvt04_dynamic_routing_w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965960"/>
            <a:ext cx="5175504" cy="1572768"/>
          </a:xfrm>
          <a:prstGeom prst="rect">
            <a:avLst/>
          </a:prstGeom>
        </p:spPr>
      </p:pic>
      <p:pic>
        <p:nvPicPr>
          <p:cNvPr id="10" name="Picture 9" descr="formula_slide7_pvt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575303"/>
            <a:ext cx="5175504" cy="6766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76656" y="4288536"/>
            <a:ext cx="5138928" cy="18653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840" b="1">
                <a:solidFill>
                  <a:srgbClr val="122A49"/>
                </a:solidFill>
                <a:latin typeface="Microsoft YaHei"/>
              </a:rPr>
              <a:t>• ① 物理瓶颈根因： </a:t>
            </a:r>
            <a:r>
              <a:rPr sz="810">
                <a:solidFill>
                  <a:srgbClr val="1A2533"/>
                </a:solidFill>
                <a:latin typeface="Microsoft YaHei"/>
              </a:rPr>
              <a:t>Bidaw (FAST '26)、SYMPHONY (NSDI '26) 与 KVServe 证实：传统方案缺乏链路感知，低带宽下盲目拉取极易反超重算耗时，在短文本与突发拥塞下诱发数十至数百毫秒的时延反噬。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840" b="1">
                <a:solidFill>
                  <a:srgbClr val="122A49"/>
                </a:solidFill>
                <a:latin typeface="Microsoft YaHei"/>
              </a:rPr>
              <a:t>• ② 原厂选路机制： </a:t>
            </a:r>
            <a:r>
              <a:rPr sz="810">
                <a:solidFill>
                  <a:srgbClr val="1A2533"/>
                </a:solidFill>
                <a:latin typeface="Microsoft YaHei"/>
              </a:rPr>
              <a:t>QueryPlan 实时遥测链路可用带宽 B 与算力 r，微秒级评估成本；若 B &lt; Bcrit 或前缀较短则主动截断拉取并回退本地重算，彻底规避反噬。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840" b="1">
                <a:solidFill>
                  <a:srgbClr val="122A49"/>
                </a:solidFill>
                <a:latin typeface="Microsoft YaHei"/>
              </a:rPr>
              <a:t>• ③ Llama-3-70B 算例： </a:t>
            </a:r>
            <a:r>
              <a:rPr sz="810">
                <a:solidFill>
                  <a:srgbClr val="1A2533"/>
                </a:solidFill>
                <a:latin typeface="Microsoft YaHei"/>
              </a:rPr>
              <a:t>单卡 r=40K tokens/s，k=40KB/token：正常网络 (20GB/s) 下 8K 前缀加载仅 16.5ms (净提速 183.5ms)；网络突发拥塞 (B ≤ 1.6GB/s) 时微秒决策回退重算，锁定 200ms 完成，平抑长尾。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5352" y="1508760"/>
            <a:ext cx="5394960" cy="4709160"/>
          </a:xfrm>
          <a:prstGeom prst="roundRect">
            <a:avLst>
              <a:gd name="adj" fmla="val 2000"/>
            </a:avLst>
          </a:prstGeom>
          <a:solidFill>
            <a:srgbClr val="E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1581912"/>
            <a:ext cx="5138928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122A49"/>
                </a:solidFill>
                <a:latin typeface="Microsoft YaHei"/>
              </a:defRPr>
            </a:pPr>
            <a:r>
              <a:t>【打样二】PVT-07/08 硬件 QoS 隔离与树状中继（压制 TPOT 抖动）</a:t>
            </a:r>
          </a:p>
          <a:p>
            <a:pPr>
              <a:spcBef>
                <a:spcPts val="120"/>
              </a:spcBef>
              <a:defRPr sz="850" b="1">
                <a:solidFill>
                  <a:srgbClr val="2D63B8"/>
                </a:solidFill>
                <a:latin typeface="Microsoft YaHei"/>
              </a:defRPr>
            </a:pPr>
            <a:r>
              <a:t>针对后台大搬运带宽争用与单源 Incast · 建立双轨流控与二叉树中继模型</a:t>
            </a:r>
          </a:p>
        </p:txBody>
      </p:sp>
      <p:pic>
        <p:nvPicPr>
          <p:cNvPr id="14" name="Picture 13" descr="chart3_pvt07_qos_isolation_wid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1965960"/>
            <a:ext cx="5175504" cy="1572768"/>
          </a:xfrm>
          <a:prstGeom prst="rect">
            <a:avLst/>
          </a:prstGeom>
        </p:spPr>
      </p:pic>
      <p:pic>
        <p:nvPicPr>
          <p:cNvPr id="15" name="Picture 14" descr="formula_slide7_pvt0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3575303"/>
            <a:ext cx="5175504" cy="67665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373368" y="4288536"/>
            <a:ext cx="5138928" cy="18653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840" b="1">
                <a:solidFill>
                  <a:srgbClr val="122A49"/>
                </a:solidFill>
                <a:latin typeface="Microsoft YaHei"/>
              </a:rPr>
              <a:t>• ① 物理瓶颈根因： </a:t>
            </a:r>
            <a:r>
              <a:rPr sz="810">
                <a:solidFill>
                  <a:srgbClr val="1A2533"/>
                </a:solidFill>
                <a:latin typeface="Microsoft YaHei"/>
              </a:rPr>
              <a:t>DualPath (SIGCOMM '26, DeepSeek 实测未隔离搬运导致前台通信恶化 6.7 倍) 与 AITurbo 证实：后台海量换出争用访存/网络，多节点并发拉取打满源端网卡极易触发 Incast 丢包风暴。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840" b="1">
                <a:solidFill>
                  <a:srgbClr val="122A49"/>
                </a:solidFill>
                <a:latin typeface="Microsoft YaHei"/>
              </a:rPr>
              <a:t>• ② 原厂隔离机制： </a:t>
            </a:r>
            <a:r>
              <a:rPr sz="810">
                <a:solidFill>
                  <a:srgbClr val="1A2533"/>
                </a:solidFill>
                <a:latin typeface="Microsoft YaHei"/>
              </a:rPr>
              <a:t>RoCE/URMA DSCP/CoS 映射至 TC0/TC1 物理双轨队列 + 应用层微秒自适应退避；构建计算节点二叉树中继转发拓扑 (Staging Fanout) 接力广播。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840" b="1">
                <a:solidFill>
                  <a:srgbClr val="122A49"/>
                </a:solidFill>
                <a:latin typeface="Microsoft YaHei"/>
              </a:rPr>
              <a:t>• ③ Llama-3-70B 算例： </a:t>
            </a:r>
            <a:r>
              <a:rPr sz="810">
                <a:solidFill>
                  <a:srgbClr val="1A2533"/>
                </a:solidFill>
                <a:latin typeface="Microsoft YaHei"/>
              </a:rPr>
              <a:t>100Gbps 混压下未隔离基线前台在线 TPOT 由 18.2ms 恶化至 21.3ms (干扰率 17.0%)；原厂 QoS 使 TPOT 稳定在 18.4ms (干扰率仅 1.1% &lt; 3% 红线)；树状中继使源端出口流量削减 75%，杜绝丢包。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327648"/>
            <a:ext cx="11091672" cy="320040"/>
          </a:xfrm>
          <a:prstGeom prst="rect">
            <a:avLst/>
          </a:prstGeom>
          <a:solidFill>
            <a:srgbClr val="2D6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8288" bIns="18288"/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核心结论：两组理论模型与仿真曲线精确刻画了临界带宽拐点 (1.6GB/s) 与 QoS 双轨抗干扰能力 (干扰率 1.1%)；硬件到位后即刻开展实测闭环。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292608"/>
            <a:ext cx="987552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122A49"/>
                </a:solidFill>
                <a:latin typeface="Microsoft YaHei"/>
              </a:defRPr>
            </a:pPr>
            <a:r>
              <a:t>底座关键技术性能叠加与宏观指标量化导出（Llama-3-70B 闭环）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6B7785"/>
                </a:solidFill>
                <a:latin typeface="Microsoft YaHei"/>
              </a:defRPr>
            </a:pPr>
            <a:r>
              <a:t>显式建立 u1~u4 四大技术提升量到综合转化率 u 及 TTFT、TPOT、P99 时延的确定性闭环数学映射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320040"/>
            <a:ext cx="10058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300" b="1">
                <a:solidFill>
                  <a:srgbClr val="6B7785"/>
                </a:solidFill>
                <a:latin typeface="Microsoft YaHei"/>
              </a:defRPr>
            </a:pPr>
            <a:r>
              <a:t>08 / 09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051560"/>
            <a:ext cx="11091672" cy="274320"/>
          </a:xfrm>
          <a:prstGeom prst="roundRect">
            <a:avLst>
              <a:gd name="adj" fmla="val 2000"/>
            </a:avLst>
          </a:prstGeom>
          <a:solidFill>
            <a:srgbClr val="EA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088136"/>
            <a:ext cx="1090879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30" b="1">
                <a:solidFill>
                  <a:srgbClr val="122A49"/>
                </a:solidFill>
                <a:latin typeface="Microsoft YaHei"/>
              </a:defRPr>
            </a:pPr>
            <a:r>
              <a:t>【统一测算基准模型】Llama-3-70B (TP=8, 80层, 8组GQA) | 单Token显存 320 KB/卡 40 KB | 4K上下文 KVCache 1.28 GB | 目标TTFT基线 272ms, Prefill 247.2ms, 单卡传输 4.5ms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89888"/>
            <a:ext cx="5413248" cy="950976"/>
          </a:xfrm>
          <a:prstGeom prst="roundRect">
            <a:avLst>
              <a:gd name="adj" fmla="val 2000"/>
            </a:avLst>
          </a:prstGeom>
          <a:solidFill>
            <a:srgbClr val="EA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444752"/>
            <a:ext cx="5193792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80" b="1">
                <a:solidFill>
                  <a:srgbClr val="122A49"/>
                </a:solidFill>
                <a:latin typeface="Microsoft YaHei"/>
              </a:rPr>
              <a:t>u1【控制面内存直通】UBMEM 共享内存直达 + RCU 无锁索引  </a:t>
            </a:r>
            <a:r>
              <a:rPr sz="819" b="1">
                <a:solidFill>
                  <a:srgbClr val="059669"/>
                </a:solidFill>
                <a:latin typeface="Microsoft YaHei"/>
              </a:rPr>
              <a:t>[基线 90.0% → 目标 97.0% (Δu1 = +7.0%)]</a:t>
            </a:r>
          </a:p>
          <a:p>
            <a:pPr>
              <a:lnSpc>
                <a:spcPct val="110000"/>
              </a:lnSpc>
              <a:spcBef>
                <a:spcPts val="150"/>
              </a:spcBef>
            </a:pPr>
            <a:r>
              <a:rPr sz="740" b="1">
                <a:solidFill>
                  <a:srgbClr val="122A49"/>
                </a:solidFill>
                <a:latin typeface="Microsoft YaHei"/>
              </a:rPr>
              <a:t>• 物理机理：</a:t>
            </a:r>
            <a:r>
              <a:rPr sz="730">
                <a:solidFill>
                  <a:srgbClr val="1A2533"/>
                </a:solidFill>
                <a:latin typeface="Microsoft YaHei"/>
              </a:rPr>
              <a:t>总线共享内存直读前缀目录，指令直读消除 Master RPC 寻址与全局锁；单次查表由 21.0ms 降至 18µs。</a:t>
            </a:r>
          </a:p>
          <a:p>
            <a:pPr>
              <a:lnSpc>
                <a:spcPct val="110000"/>
              </a:lnSpc>
              <a:spcBef>
                <a:spcPts val="150"/>
              </a:spcBef>
            </a:pPr>
            <a:r>
              <a:rPr sz="740" b="1">
                <a:solidFill>
                  <a:srgbClr val="122A49"/>
                </a:solidFill>
                <a:latin typeface="Microsoft YaHei"/>
              </a:rPr>
              <a:t>• 关键收益：</a:t>
            </a:r>
            <a:r>
              <a:rPr sz="730">
                <a:solidFill>
                  <a:srgbClr val="1A2533"/>
                </a:solidFill>
                <a:latin typeface="Microsoft YaHei"/>
              </a:rPr>
              <a:t>固定开销 T_fixed 由 1.60ms 降至 0.575ms (净省 1.03ms)，短前缀盈亏平衡点由 32 降至 10 tokens。</a:t>
            </a:r>
          </a:p>
          <a:p>
            <a:pPr>
              <a:lnSpc>
                <a:spcPct val="110000"/>
              </a:lnSpc>
              <a:spcBef>
                <a:spcPts val="150"/>
              </a:spcBef>
            </a:pPr>
            <a:r>
              <a:rPr sz="740" b="1">
                <a:solidFill>
                  <a:srgbClr val="2D63B8"/>
                </a:solidFill>
                <a:latin typeface="Microsoft YaHei"/>
              </a:rPr>
              <a:t>• 顶会背书：</a:t>
            </a:r>
            <a:r>
              <a:rPr sz="730">
                <a:solidFill>
                  <a:srgbClr val="6B7785"/>
                </a:solidFill>
                <a:latin typeface="Microsoft YaHei"/>
              </a:rPr>
              <a:t>OSDI '26 FORGE (无锁索引吞吐提升 4.5×，P99 提升 7.5×)；OSDI '26 Duhu (内存控制通道 3.8µs)。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95728"/>
            <a:ext cx="5413248" cy="950976"/>
          </a:xfrm>
          <a:prstGeom prst="roundRect">
            <a:avLst>
              <a:gd name="adj" fmla="val 2000"/>
            </a:avLst>
          </a:prstGeom>
          <a:solidFill>
            <a:srgbClr val="E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450592"/>
            <a:ext cx="5193792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80" b="1">
                <a:solidFill>
                  <a:srgbClr val="122A49"/>
                </a:solidFill>
                <a:latin typeface="Microsoft YaHei"/>
              </a:rPr>
              <a:t>u2【语义保真与容错】ConsumeEligibility 6维校验 + ViewGuard 租约  </a:t>
            </a:r>
            <a:r>
              <a:rPr sz="819" b="1">
                <a:solidFill>
                  <a:srgbClr val="059669"/>
                </a:solidFill>
                <a:latin typeface="Microsoft YaHei"/>
              </a:rPr>
              <a:t>[基线 95.0% → 目标 99.0% (Δu2 = +4.0%)]</a:t>
            </a:r>
          </a:p>
          <a:p>
            <a:pPr>
              <a:lnSpc>
                <a:spcPct val="110000"/>
              </a:lnSpc>
              <a:spcBef>
                <a:spcPts val="150"/>
              </a:spcBef>
            </a:pPr>
            <a:r>
              <a:rPr sz="740" b="1">
                <a:solidFill>
                  <a:srgbClr val="122A49"/>
                </a:solidFill>
                <a:latin typeface="Microsoft YaHei"/>
              </a:rPr>
              <a:t>• 物理机理：</a:t>
            </a:r>
            <a:r>
              <a:rPr sz="730">
                <a:solidFill>
                  <a:srgbClr val="1A2533"/>
                </a:solidFill>
                <a:latin typeface="Microsoft YaHei"/>
              </a:rPr>
              <a:t>模型/词表/模板/LoRA/就绪/租约 6 维微秒级合法检查；远端异常与租约超时捕获平滑回滚重算。</a:t>
            </a:r>
          </a:p>
          <a:p>
            <a:pPr>
              <a:lnSpc>
                <a:spcPct val="110000"/>
              </a:lnSpc>
              <a:spcBef>
                <a:spcPts val="150"/>
              </a:spcBef>
            </a:pPr>
            <a:r>
              <a:rPr sz="740" b="1">
                <a:solidFill>
                  <a:srgbClr val="122A49"/>
                </a:solidFill>
                <a:latin typeface="Microsoft YaHei"/>
              </a:rPr>
              <a:t>• 关键收益：</a:t>
            </a:r>
            <a:r>
              <a:rPr sz="730">
                <a:solidFill>
                  <a:srgbClr val="1A2533"/>
                </a:solidFill>
                <a:latin typeface="Microsoft YaHei"/>
              </a:rPr>
              <a:t>业务读脏与版本不一致事故严格为 0，彻底消除 100~300ms 读脏重试惩罚；迟到加载率 &lt; 1%。</a:t>
            </a:r>
          </a:p>
          <a:p>
            <a:pPr>
              <a:lnSpc>
                <a:spcPct val="110000"/>
              </a:lnSpc>
              <a:spcBef>
                <a:spcPts val="150"/>
              </a:spcBef>
            </a:pPr>
            <a:r>
              <a:rPr sz="740" b="1">
                <a:solidFill>
                  <a:srgbClr val="2D63B8"/>
                </a:solidFill>
                <a:latin typeface="Microsoft YaHei"/>
              </a:rPr>
              <a:t>• 顶会背书：</a:t>
            </a:r>
            <a:r>
              <a:rPr sz="730">
                <a:solidFill>
                  <a:srgbClr val="6B7785"/>
                </a:solidFill>
                <a:latin typeface="Microsoft YaHei"/>
              </a:rPr>
              <a:t>SIGMOD '26 Beluga (全命中 QPS 达 7.35×，无守卫首运行 P99 恶化至 44.6s)；NSDI '26 DroidSpeak。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401568"/>
            <a:ext cx="5413248" cy="950976"/>
          </a:xfrm>
          <a:prstGeom prst="roundRect">
            <a:avLst>
              <a:gd name="adj" fmla="val 2000"/>
            </a:avLst>
          </a:prstGeom>
          <a:solidFill>
            <a:srgbClr val="EA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3456432"/>
            <a:ext cx="5193792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80" b="1">
                <a:solidFill>
                  <a:srgbClr val="122A49"/>
                </a:solidFill>
                <a:latin typeface="Microsoft YaHei"/>
              </a:rPr>
              <a:t>u3【传输因果掩盖】URMA 零数据拷贝 + 80层逐层因果隐藏流水  </a:t>
            </a:r>
            <a:r>
              <a:rPr sz="819" b="1">
                <a:solidFill>
                  <a:srgbClr val="059669"/>
                </a:solidFill>
                <a:latin typeface="Microsoft YaHei"/>
              </a:rPr>
              <a:t>[基线 95.0% → 目标 99.0% (Δu3 = +4.0%)]</a:t>
            </a:r>
          </a:p>
          <a:p>
            <a:pPr>
              <a:lnSpc>
                <a:spcPct val="110000"/>
              </a:lnSpc>
              <a:spcBef>
                <a:spcPts val="150"/>
              </a:spcBef>
            </a:pPr>
            <a:r>
              <a:rPr sz="740" b="1">
                <a:solidFill>
                  <a:srgbClr val="122A49"/>
                </a:solidFill>
                <a:latin typeface="Microsoft YaHei"/>
              </a:rPr>
              <a:t>• 物理机理：</a:t>
            </a:r>
            <a:r>
              <a:rPr sz="730">
                <a:solidFill>
                  <a:srgbClr val="1A2533"/>
                </a:solidFill>
                <a:latin typeface="Microsoft YaHei"/>
              </a:rPr>
              <a:t>Host CPU 仅下发描述符 (Payload 零拷贝)；单层计算 c=2.75ms 远大于传输 x=0.31ms，79 层全掩盖。</a:t>
            </a:r>
          </a:p>
          <a:p>
            <a:pPr>
              <a:lnSpc>
                <a:spcPct val="110000"/>
              </a:lnSpc>
              <a:spcBef>
                <a:spcPts val="150"/>
              </a:spcBef>
            </a:pPr>
            <a:r>
              <a:rPr sz="740" b="1">
                <a:solidFill>
                  <a:srgbClr val="122A49"/>
                </a:solidFill>
                <a:latin typeface="Microsoft YaHei"/>
              </a:rPr>
              <a:t>• 关键收益：</a:t>
            </a:r>
            <a:r>
              <a:rPr sz="730">
                <a:solidFill>
                  <a:srgbClr val="1A2533"/>
                </a:solidFill>
                <a:latin typeface="Microsoft YaHei"/>
              </a:rPr>
              <a:t>因果流水掩盖率达 98.7% (仅暴露首层 0.31ms)；加载耗时 T_load 由 10.0ms 降至 4.5ms (净省 5.5ms)。</a:t>
            </a:r>
          </a:p>
          <a:p>
            <a:pPr>
              <a:lnSpc>
                <a:spcPct val="110000"/>
              </a:lnSpc>
              <a:spcBef>
                <a:spcPts val="150"/>
              </a:spcBef>
            </a:pPr>
            <a:r>
              <a:rPr sz="740" b="1">
                <a:solidFill>
                  <a:srgbClr val="2D63B8"/>
                </a:solidFill>
                <a:latin typeface="Microsoft YaHei"/>
              </a:rPr>
              <a:t>• 顶会背书：</a:t>
            </a:r>
            <a:r>
              <a:rPr sz="730">
                <a:solidFill>
                  <a:srgbClr val="6B7785"/>
                </a:solidFill>
                <a:latin typeface="Microsoft YaHei"/>
              </a:rPr>
              <a:t>OSDI '26 DirectKV (消除缓冲时延降 49%，显存省 43%)；NSDI '26 SYMPHONY (关流水吞吐降 18.4%~7×)。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407408"/>
            <a:ext cx="5413248" cy="950976"/>
          </a:xfrm>
          <a:prstGeom prst="roundRect">
            <a:avLst>
              <a:gd name="adj" fmla="val 2000"/>
            </a:avLst>
          </a:prstGeom>
          <a:solidFill>
            <a:srgbClr val="FFF5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4462272"/>
            <a:ext cx="5193792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80" b="1">
                <a:solidFill>
                  <a:srgbClr val="122A49"/>
                </a:solidFill>
                <a:latin typeface="Microsoft YaHei"/>
              </a:rPr>
              <a:t>u4【混压流控与共识】TC0/TC1 双轨 QoS + 令牌桶 + RankConsensus  </a:t>
            </a:r>
            <a:r>
              <a:rPr sz="819" b="1">
                <a:solidFill>
                  <a:srgbClr val="059669"/>
                </a:solidFill>
                <a:latin typeface="Microsoft YaHei"/>
              </a:rPr>
              <a:t>[基线 98.0% → 目标 99.0% (Δu4 = +1.0%)]</a:t>
            </a:r>
          </a:p>
          <a:p>
            <a:pPr>
              <a:lnSpc>
                <a:spcPct val="110000"/>
              </a:lnSpc>
              <a:spcBef>
                <a:spcPts val="150"/>
              </a:spcBef>
            </a:pPr>
            <a:r>
              <a:rPr sz="740" b="1">
                <a:solidFill>
                  <a:srgbClr val="122A49"/>
                </a:solidFill>
                <a:latin typeface="Microsoft YaHei"/>
              </a:rPr>
              <a:t>• 物理机理：</a:t>
            </a:r>
            <a:r>
              <a:rPr sz="730">
                <a:solidFill>
                  <a:srgbClr val="1A2533"/>
                </a:solidFill>
                <a:latin typeface="Microsoft YaHei"/>
              </a:rPr>
              <a:t>DSCP/CoS 硬件优先级队列硬隔离与微秒退避；令牌桶削峰防 Incast；共享内存 TP=8 原子同步。</a:t>
            </a:r>
          </a:p>
          <a:p>
            <a:pPr>
              <a:lnSpc>
                <a:spcPct val="110000"/>
              </a:lnSpc>
              <a:spcBef>
                <a:spcPts val="150"/>
              </a:spcBef>
            </a:pPr>
            <a:r>
              <a:rPr sz="740" b="1">
                <a:solidFill>
                  <a:srgbClr val="122A49"/>
                </a:solidFill>
                <a:latin typeface="Microsoft YaHei"/>
              </a:rPr>
              <a:t>• 关键收益：</a:t>
            </a:r>
            <a:r>
              <a:rPr sz="730">
                <a:solidFill>
                  <a:srgbClr val="1A2533"/>
                </a:solidFill>
                <a:latin typeface="Microsoft YaHei"/>
              </a:rPr>
              <a:t>显存争用扰动锁死在 β ≤ 1.8% (基线 16.5%)；多卡偏斜比从 2.85 压低至 1.14，同步延迟降至 0.08ms。</a:t>
            </a:r>
          </a:p>
          <a:p>
            <a:pPr>
              <a:lnSpc>
                <a:spcPct val="110000"/>
              </a:lnSpc>
              <a:spcBef>
                <a:spcPts val="150"/>
              </a:spcBef>
            </a:pPr>
            <a:r>
              <a:rPr sz="740" b="1">
                <a:solidFill>
                  <a:srgbClr val="2D63B8"/>
                </a:solidFill>
                <a:latin typeface="Microsoft YaHei"/>
              </a:rPr>
              <a:t>• 顶会背书：</a:t>
            </a:r>
            <a:r>
              <a:rPr sz="730">
                <a:solidFill>
                  <a:srgbClr val="6B7785"/>
                </a:solidFill>
                <a:latin typeface="Microsoft YaHei"/>
              </a:rPr>
              <a:t>FAST '26 Bidaw (双队列调度 P99 降 47.03%)；NSDI '26 MemChannel (大流混压恶化 6.9×，流控降 43%)。</a:t>
            </a:r>
          </a:p>
        </p:txBody>
      </p:sp>
      <p:pic>
        <p:nvPicPr>
          <p:cNvPr id="15" name="Picture 14" descr="formula_slide8_funnel_breakev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413248"/>
            <a:ext cx="5413248" cy="5852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85216" y="6016752"/>
            <a:ext cx="5340096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40" b="1">
                <a:solidFill>
                  <a:srgbClr val="2D63B8"/>
                </a:solidFill>
                <a:latin typeface="Microsoft YaHei"/>
              </a:rPr>
              <a:t>• 漏斗收窄效应： </a:t>
            </a:r>
            <a:r>
              <a:rPr sz="730">
                <a:solidFill>
                  <a:srgbClr val="1A2533"/>
                </a:solidFill>
                <a:latin typeface="Microsoft YaHei"/>
              </a:rPr>
              <a:t>综合转化率跃升 +14.52%，将 Saved-Prefill 获益门槛从 32 tokens 显著拓宽至 10 tokens。</a:t>
            </a:r>
          </a:p>
        </p:txBody>
      </p:sp>
      <p:pic>
        <p:nvPicPr>
          <p:cNvPr id="17" name="Picture 16" descr="formula_slide8_ttft_st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7064" y="1389888"/>
            <a:ext cx="5413248" cy="58521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263640" y="1993392"/>
            <a:ext cx="534009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740" b="1">
                <a:solidFill>
                  <a:srgbClr val="122A49"/>
                </a:solidFill>
                <a:latin typeface="Microsoft YaHei"/>
              </a:rPr>
              <a:t>• 机理闭环： </a:t>
            </a:r>
            <a:r>
              <a:rPr sz="730">
                <a:solidFill>
                  <a:srgbClr val="1A2533"/>
                </a:solidFill>
                <a:latin typeface="Microsoft YaHei"/>
              </a:rPr>
              <a:t>三步线性加和 ΔTTFT = ΔT_fixed(u1) + r(T_prefill - T_load)Δu + r·u·ΔT_load(u3) = 7.24ms (↓14.6%)。</a:t>
            </a:r>
          </a:p>
          <a:p>
            <a:pPr>
              <a:lnSpc>
                <a:spcPct val="108000"/>
              </a:lnSpc>
              <a:spcBef>
                <a:spcPts val="150"/>
              </a:spcBef>
            </a:pPr>
            <a:r>
              <a:rPr sz="740" b="1">
                <a:solidFill>
                  <a:srgbClr val="122A49"/>
                </a:solidFill>
                <a:latin typeface="Microsoft YaHei"/>
              </a:rPr>
              <a:t>• 算例达成： </a:t>
            </a:r>
            <a:r>
              <a:rPr sz="730">
                <a:solidFill>
                  <a:srgbClr val="1A2533"/>
                </a:solidFill>
                <a:latin typeface="Microsoft YaHei"/>
              </a:rPr>
              <a:t>4K 上下文净提速 51.1ms (272ms → 220.8ms, ↓18.8%~52.6%)；背书：OSDI '26 DirectKV (时延直降 49%)。</a:t>
            </a:r>
          </a:p>
        </p:txBody>
      </p:sp>
      <p:pic>
        <p:nvPicPr>
          <p:cNvPr id="19" name="Picture 18" descr="formula_slide8_tpot_q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7064" y="2432304"/>
            <a:ext cx="5413248" cy="58521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263640" y="3035808"/>
            <a:ext cx="534009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740" b="1">
                <a:solidFill>
                  <a:srgbClr val="122A49"/>
                </a:solidFill>
                <a:latin typeface="Microsoft YaHei"/>
              </a:rPr>
              <a:t>• 机理闭环： </a:t>
            </a:r>
            <a:r>
              <a:rPr sz="730">
                <a:solidFill>
                  <a:srgbClr val="1A2533"/>
                </a:solidFill>
                <a:latin typeface="Microsoft YaHei"/>
              </a:rPr>
              <a:t>Decode 访存耗时占比 85%；开源无隔离 β=16.5% 致干扰率 16.8%；TC0/TC1 硬隔离将损失锁死在 β ≤ 1.8%。</a:t>
            </a:r>
          </a:p>
          <a:p>
            <a:pPr>
              <a:lnSpc>
                <a:spcPct val="108000"/>
              </a:lnSpc>
              <a:spcBef>
                <a:spcPts val="150"/>
              </a:spcBef>
            </a:pPr>
            <a:r>
              <a:rPr sz="740" b="1">
                <a:solidFill>
                  <a:srgbClr val="122A49"/>
                </a:solidFill>
                <a:latin typeface="Microsoft YaHei"/>
              </a:rPr>
              <a:t>• 算例达成： </a:t>
            </a:r>
            <a:r>
              <a:rPr sz="730">
                <a:solidFill>
                  <a:srgbClr val="1A2533"/>
                </a:solidFill>
                <a:latin typeface="Microsoft YaHei"/>
              </a:rPr>
              <a:t>前台在线 TPOT 干扰率仅 1.57% (远优于 ≤ 3% 工业红线)；背书：FAST '26 Bidaw (双队列调度 P99 降 47%)。</a:t>
            </a:r>
          </a:p>
        </p:txBody>
      </p:sp>
      <p:pic>
        <p:nvPicPr>
          <p:cNvPr id="21" name="Picture 20" descr="formula_slide8_p99_consensu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7064" y="3474720"/>
            <a:ext cx="5413248" cy="58521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263640" y="4078224"/>
            <a:ext cx="534009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740" b="1">
                <a:solidFill>
                  <a:srgbClr val="122A49"/>
                </a:solidFill>
                <a:latin typeface="Microsoft YaHei"/>
              </a:rPr>
              <a:t>• 机理闭环： </a:t>
            </a:r>
            <a:r>
              <a:rPr sz="730">
                <a:solidFill>
                  <a:srgbClr val="1A2533"/>
                </a:solidFill>
                <a:latin typeface="Microsoft YaHei"/>
              </a:rPr>
              <a:t>令牌桶突发整形 σ ≤ 16MB 满足排队界 D* ≤ 2ms 根除 Incast；多卡原子协同将偏斜比由 2.85 压低至 1.14。</a:t>
            </a:r>
          </a:p>
          <a:p>
            <a:pPr>
              <a:lnSpc>
                <a:spcPct val="108000"/>
              </a:lnSpc>
              <a:spcBef>
                <a:spcPts val="150"/>
              </a:spcBef>
            </a:pPr>
            <a:r>
              <a:rPr sz="740" b="1">
                <a:solidFill>
                  <a:srgbClr val="122A49"/>
                </a:solidFill>
                <a:latin typeface="Microsoft YaHei"/>
              </a:rPr>
              <a:t>• 算例达成： </a:t>
            </a:r>
            <a:r>
              <a:rPr sz="730">
                <a:solidFill>
                  <a:srgbClr val="1A2533"/>
                </a:solidFill>
                <a:latin typeface="Microsoft YaHei"/>
              </a:rPr>
              <a:t>16 并发混压下 P99 TTFT 缩短 46.0% (468.5ms → 253.3ms，净削减 215ms)；背书：NSDI '26 Libra (消除慢卡)。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27064" y="4535424"/>
            <a:ext cx="5413248" cy="1645920"/>
          </a:xfrm>
          <a:prstGeom prst="roundRect">
            <a:avLst>
              <a:gd name="adj" fmla="val 2000"/>
            </a:avLst>
          </a:prstGeom>
          <a:solidFill>
            <a:srgbClr val="FF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36792" y="4608576"/>
            <a:ext cx="5193792" cy="1536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80" b="1">
                <a:solidFill>
                  <a:srgbClr val="C00000"/>
                </a:solidFill>
                <a:latin typeface="Microsoft YaHei"/>
              </a:defRPr>
            </a:pPr>
            <a:r>
              <a:t>【TCO 投资回报综合对账】底层工程技术驱动业务 ROI 改善的三大硬核逻辑</a:t>
            </a:r>
          </a:p>
          <a:p>
            <a:pPr>
              <a:lnSpc>
                <a:spcPct val="112000"/>
              </a:lnSpc>
              <a:spcBef>
                <a:spcPts val="300"/>
              </a:spcBef>
            </a:pPr>
            <a:r>
              <a:rPr sz="750" b="1">
                <a:solidFill>
                  <a:srgbClr val="122A49"/>
                </a:solidFill>
                <a:latin typeface="Microsoft YaHei"/>
              </a:rPr>
              <a:t>• 算力维度（释放 Prefill 算力）：</a:t>
            </a:r>
            <a:r>
              <a:rPr sz="740">
                <a:solidFill>
                  <a:srgbClr val="1A2533"/>
                </a:solidFill>
                <a:latin typeface="Microsoft YaHei"/>
              </a:rPr>
              <a:t>通过 Saved-Prefill 节省 18.8%~52.6% 冗余计算，集群算力得以专注用于有效 Decode 生成；单次有效请求综合计算成本降低 ≥ 35%。</a:t>
            </a:r>
          </a:p>
          <a:p>
            <a:pPr>
              <a:lnSpc>
                <a:spcPct val="112000"/>
              </a:lnSpc>
              <a:spcBef>
                <a:spcPts val="300"/>
              </a:spcBef>
            </a:pPr>
            <a:r>
              <a:rPr sz="750" b="1">
                <a:solidFill>
                  <a:srgbClr val="122A49"/>
                </a:solidFill>
                <a:latin typeface="Microsoft YaHei"/>
              </a:rPr>
              <a:t>• 硬件维度（突破物理显存成本墙）：</a:t>
            </a:r>
            <a:r>
              <a:rPr sz="740">
                <a:solidFill>
                  <a:srgbClr val="1A2533"/>
                </a:solidFill>
                <a:latin typeface="Microsoft YaHei"/>
              </a:rPr>
              <a:t>KVObject 跨介质异步下沉 NVMe SSD，单机等效显存容量提升 30%~50%，同等显存配置下支撑高 1.4~1.8 倍的并发请求，大幅降低整机 TCO。</a:t>
            </a:r>
          </a:p>
          <a:p>
            <a:pPr>
              <a:lnSpc>
                <a:spcPct val="112000"/>
              </a:lnSpc>
              <a:spcBef>
                <a:spcPts val="300"/>
              </a:spcBef>
            </a:pPr>
            <a:r>
              <a:rPr sz="750" b="1">
                <a:solidFill>
                  <a:srgbClr val="122A49"/>
                </a:solidFill>
                <a:latin typeface="Microsoft YaHei"/>
              </a:rPr>
              <a:t>• 业务维度（收敛长尾保障 SLO）：</a:t>
            </a:r>
            <a:r>
              <a:rPr sz="740">
                <a:solidFill>
                  <a:srgbClr val="1A2533"/>
                </a:solidFill>
                <a:latin typeface="Microsoft YaHei"/>
              </a:rPr>
              <a:t>P99 尾部抖动削减 215ms (↓46.0%)，前台 TPOT 干扰率严格锁在 1.57%，驱动在线业务满足 SLO 延时要求的有效达标率由 95% 跃升至 98% 以上。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6327648"/>
            <a:ext cx="11091672" cy="320040"/>
          </a:xfrm>
          <a:prstGeom prst="rect">
            <a:avLst/>
          </a:prstGeom>
          <a:solidFill>
            <a:srgbClr val="2D6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8288" bIns="18288"/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核心结论：u1~u4 四大关键技术通过严密数学公式实现宏观指标确定性闭环：TTFT 净提速 18.8%~52.6%、前台 TPOT 干扰率仅 1.57%、P99 尾部时延缩短 46.0%！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292608"/>
            <a:ext cx="987552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122A49"/>
                </a:solidFill>
                <a:latin typeface="Microsoft YaHei"/>
              </a:defRPr>
            </a:pPr>
            <a:r>
              <a:t>汇报完毕，敬请各位专家批评指正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6B7785"/>
                </a:solidFill>
                <a:latin typeface="Microsoft YaHei"/>
              </a:defRPr>
            </a:pPr>
            <a:r>
              <a:t>KVC 统一异构存储池关键技术优化与验证进展汇报 · Q&amp;A 问答与研讨交流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320040"/>
            <a:ext cx="10058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300" b="1">
                <a:solidFill>
                  <a:srgbClr val="6B7785"/>
                </a:solidFill>
                <a:latin typeface="Microsoft YaHei"/>
              </a:defRPr>
            </a:pPr>
            <a:r>
              <a:t>09 / 09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5394960" cy="2331720"/>
          </a:xfrm>
          <a:prstGeom prst="roundRect">
            <a:avLst>
              <a:gd name="adj" fmla="val 2000"/>
            </a:avLst>
          </a:prstGeom>
          <a:solidFill>
            <a:srgbClr val="EA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53312"/>
            <a:ext cx="5029200" cy="2002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50" b="1">
                <a:solidFill>
                  <a:srgbClr val="122A49"/>
                </a:solidFill>
                <a:latin typeface="Microsoft YaHei"/>
              </a:defRPr>
            </a:pPr>
            <a:r>
              <a:t>01 · 体系结构物理瓶颈剖析</a:t>
            </a:r>
          </a:p>
          <a:p>
            <a:pPr>
              <a:spcBef>
                <a:spcPts val="400"/>
              </a:spcBef>
              <a:defRPr sz="1000" b="1">
                <a:solidFill>
                  <a:srgbClr val="2D63B8"/>
                </a:solidFill>
                <a:latin typeface="Microsoft YaHei"/>
              </a:defRPr>
            </a:pPr>
            <a:r>
              <a:t>【核心论据：五大物理瓶颈 · 15 篇顶级顶会实测】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960" b="1">
                <a:solidFill>
                  <a:srgbClr val="2D63B8"/>
                </a:solidFill>
                <a:latin typeface="Microsoft YaHei"/>
              </a:rPr>
              <a:t>• 开源缺陷对标： </a:t>
            </a:r>
            <a:r>
              <a:rPr sz="950">
                <a:solidFill>
                  <a:srgbClr val="1A2533"/>
                </a:solidFill>
                <a:latin typeface="Microsoft YaHei"/>
              </a:rPr>
              <a:t>深度剖析 Mooncake 在 CPU 中转、64KB 盲发、离散序列化、静态选路与缺乏 QoS 的物理制约。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960" b="1">
                <a:solidFill>
                  <a:srgbClr val="2D63B8"/>
                </a:solidFill>
                <a:latin typeface="Microsoft YaHei"/>
              </a:rPr>
              <a:t>• 指标靶向明确： </a:t>
            </a:r>
            <a:r>
              <a:rPr sz="950">
                <a:solidFill>
                  <a:srgbClr val="1A2533"/>
                </a:solidFill>
                <a:latin typeface="Microsoft YaHei"/>
              </a:rPr>
              <a:t>全部优化均聚焦突破在线推理 TTFT 首字时延、TPOT 单字耗时与尾部抖动三大关键指标。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1188720"/>
            <a:ext cx="5394960" cy="2331720"/>
          </a:xfrm>
          <a:prstGeom prst="roundRect">
            <a:avLst>
              <a:gd name="adj" fmla="val 2000"/>
            </a:avLst>
          </a:prstGeom>
          <a:solidFill>
            <a:srgbClr val="E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28232" y="1353312"/>
            <a:ext cx="5029200" cy="2002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50" b="1">
                <a:solidFill>
                  <a:srgbClr val="122A49"/>
                </a:solidFill>
                <a:latin typeface="Microsoft YaHei"/>
              </a:defRPr>
            </a:pPr>
            <a:r>
              <a:t>02 · 11 项软硬协同关键技术矩阵</a:t>
            </a:r>
          </a:p>
          <a:p>
            <a:pPr>
              <a:spcBef>
                <a:spcPts val="400"/>
              </a:spcBef>
              <a:defRPr sz="1000" b="1">
                <a:solidFill>
                  <a:srgbClr val="2D63B8"/>
                </a:solidFill>
                <a:latin typeface="Microsoft YaHei"/>
              </a:defRPr>
            </a:pPr>
            <a:r>
              <a:t>【优化体系：从痛点到解法一一闭环 · 纯软双轨兜底】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960" b="1">
                <a:solidFill>
                  <a:srgbClr val="2D63B8"/>
                </a:solidFill>
                <a:latin typeface="Microsoft YaHei"/>
              </a:rPr>
              <a:t>• 软硬协同攻坚： </a:t>
            </a:r>
            <a:r>
              <a:rPr sz="950">
                <a:solidFill>
                  <a:srgbClr val="1A2533"/>
                </a:solidFill>
                <a:latin typeface="Microsoft YaHei"/>
              </a:rPr>
              <a:t>依托 UBMEM / URMA 直通底座，构建零拷贝驱动、64B 描述符编译、微秒选路与硬件 QoS 隔离。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960" b="1">
                <a:solidFill>
                  <a:srgbClr val="2D63B8"/>
                </a:solidFill>
                <a:latin typeface="Microsoft YaHei"/>
              </a:rPr>
              <a:t>• 解除外部依赖： </a:t>
            </a:r>
            <a:r>
              <a:rPr sz="950">
                <a:solidFill>
                  <a:srgbClr val="1A2533"/>
                </a:solidFill>
                <a:latin typeface="Microsoft YaHei"/>
              </a:rPr>
              <a:t>建立 11 项提前验证一一映射，设计软件 RCU 无锁页迁移与纯软双轨，彻底保障系统自主可控。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749039"/>
            <a:ext cx="5394960" cy="2331720"/>
          </a:xfrm>
          <a:prstGeom prst="roundRect">
            <a:avLst>
              <a:gd name="adj" fmla="val 2000"/>
            </a:avLst>
          </a:prstGeom>
          <a:solidFill>
            <a:srgbClr val="FFF5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3913631"/>
            <a:ext cx="5029200" cy="2002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50" b="1">
                <a:solidFill>
                  <a:srgbClr val="122A49"/>
                </a:solidFill>
                <a:latin typeface="Microsoft YaHei"/>
              </a:defRPr>
            </a:pPr>
            <a:r>
              <a:t>03 · 阶段性成果与元数据理论外证</a:t>
            </a:r>
          </a:p>
          <a:p>
            <a:pPr>
              <a:spcBef>
                <a:spcPts val="400"/>
              </a:spcBef>
              <a:defRPr sz="1000" b="1">
                <a:solidFill>
                  <a:srgbClr val="2D63B8"/>
                </a:solidFill>
                <a:latin typeface="Microsoft YaHei"/>
              </a:defRPr>
            </a:pPr>
            <a:r>
              <a:t>【落地成效：实测检索提升 &gt;30% · 理论外证双闭环】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960" b="1">
                <a:solidFill>
                  <a:srgbClr val="2D63B8"/>
                </a:solidFill>
                <a:latin typeface="Microsoft YaHei"/>
              </a:rPr>
              <a:t>• 控制面率先突破： </a:t>
            </a:r>
            <a:r>
              <a:rPr sz="950">
                <a:solidFill>
                  <a:srgbClr val="1A2533"/>
                </a:solidFill>
                <a:latin typeface="Microsoft YaHei"/>
              </a:rPr>
              <a:t>利用 UB 直通重构元数据，实测前缀检索提升 30% 以上，并探明 50% 复用率协议加速边界。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960" b="1">
                <a:solidFill>
                  <a:srgbClr val="2D63B8"/>
                </a:solidFill>
                <a:latin typeface="Microsoft YaHei"/>
              </a:rPr>
              <a:t>• 理论与外证闭环： </a:t>
            </a:r>
            <a:r>
              <a:rPr sz="950">
                <a:solidFill>
                  <a:srgbClr val="1A2533"/>
                </a:solidFill>
                <a:latin typeface="Microsoft YaHei"/>
              </a:rPr>
              <a:t>建立 CMR/利用率排队模型证明容量提升 42.9%，并引入 NVIDIA Flash Indexer 工业实测客观对齐。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3749039"/>
            <a:ext cx="5394960" cy="2331720"/>
          </a:xfrm>
          <a:prstGeom prst="roundRect">
            <a:avLst>
              <a:gd name="adj" fmla="val 2000"/>
            </a:avLst>
          </a:prstGeom>
          <a:solidFill>
            <a:srgbClr val="EA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3913631"/>
            <a:ext cx="5029200" cy="2002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50" b="1">
                <a:solidFill>
                  <a:srgbClr val="122A49"/>
                </a:solidFill>
                <a:latin typeface="Microsoft YaHei"/>
              </a:defRPr>
            </a:pPr>
            <a:r>
              <a:t>04 · 理论严密推导与后续实测规划</a:t>
            </a:r>
          </a:p>
          <a:p>
            <a:pPr>
              <a:spcBef>
                <a:spcPts val="400"/>
              </a:spcBef>
              <a:defRPr sz="1000" b="1">
                <a:solidFill>
                  <a:srgbClr val="2D63B8"/>
                </a:solidFill>
                <a:latin typeface="Microsoft YaHei"/>
              </a:defRPr>
            </a:pPr>
            <a:r>
              <a:t>【推导打样：四步逻辑链严密建模 · 硬件就绪即刻实测】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960" b="1">
                <a:solidFill>
                  <a:srgbClr val="2D63B8"/>
                </a:solidFill>
                <a:latin typeface="Microsoft YaHei"/>
              </a:rPr>
              <a:t>• 第一性原理推导： </a:t>
            </a:r>
            <a:r>
              <a:rPr sz="950">
                <a:solidFill>
                  <a:srgbClr val="1A2533"/>
                </a:solidFill>
                <a:latin typeface="Microsoft YaHei"/>
              </a:rPr>
              <a:t>四步逻辑链严密推导 Llama-3-70B 在动态选路防反噬与硬件 QoS 隔离上的确定性收益区间与仿真曲线。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960" b="1">
                <a:solidFill>
                  <a:srgbClr val="2D63B8"/>
                </a:solidFill>
                <a:latin typeface="Microsoft YaHei"/>
              </a:rPr>
              <a:t>• 就绪即刻实测闭环： </a:t>
            </a:r>
            <a:r>
              <a:rPr sz="950">
                <a:solidFill>
                  <a:srgbClr val="1A2533"/>
                </a:solidFill>
                <a:latin typeface="Microsoft YaHei"/>
              </a:rPr>
              <a:t>守牢技术诚信底线如实披露硬件缺口；物理计算卡到位后，第一时间按表接入真实业务流水验证。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327648"/>
            <a:ext cx="11091672" cy="320040"/>
          </a:xfrm>
          <a:prstGeom prst="rect">
            <a:avLst/>
          </a:prstGeom>
          <a:solidFill>
            <a:srgbClr val="2D6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8288" bIns="18288"/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研讨交流：欢迎各位领导、评委与技术专家就关键技术优化与验证进展批评指正，深入交流！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