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7785"/>
                </a:solidFill>
                <a:latin typeface="Microsoft YaHei"/>
              </a:defRPr>
            </a:pPr>
            <a:r>
              <a:t>KVCache（大模型注意力键值缓存：生成过程中保留历史 Key/Value 状态张量，避免重复计算注意力）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22A49"/>
                </a:solidFill>
                <a:latin typeface="Microsoft YaHei"/>
              </a:defRPr>
            </a:pPr>
            <a:r>
              <a:t>KVC 统一异构存储池关键技术优化与验证进展汇报</a:t>
            </a:r>
          </a:p>
          <a:p>
            <a:pPr>
              <a:spcBef>
                <a:spcPts val="800"/>
              </a:spcBef>
              <a:defRPr sz="1600">
                <a:solidFill>
                  <a:srgbClr val="2D63B8"/>
                </a:solidFill>
                <a:latin typeface="Microsoft YaHei"/>
              </a:defRPr>
            </a:pPr>
            <a:r>
              <a:t>聚焦在线推理场景 TTFT、TPOT 与尾部抖动性能改善（基于开源 Mooncake 底座）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10712" cy="246888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31912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22A49"/>
                </a:solidFill>
                <a:latin typeface="Microsoft YaHei"/>
              </a:defRPr>
            </a:pPr>
            <a:r>
              <a:t>突破正文搬运与控制瓶颈加速 TTFT</a:t>
            </a:r>
          </a:p>
          <a:p>
            <a:pPr>
              <a:spcBef>
                <a:spcPts val="800"/>
              </a:spcBef>
              <a:defRPr sz="1080">
                <a:solidFill>
                  <a:srgbClr val="1A2533"/>
                </a:solidFill>
                <a:latin typeface="Microsoft YaHei"/>
              </a:defRPr>
            </a:pPr>
            <a:r>
              <a:t>• 针对 Host CPU 内存中转瓶颈，攻坚零数据拷贝直通驱动</a:t>
            </a:r>
            <a:br/>
            <a:r>
              <a:t>• 针对离散 Block 序列化耗时，设计描述符批量编译机制</a:t>
            </a:r>
            <a:br/>
            <a:r>
              <a:t>• 实测利用 UB 技术使前缀匹配表检索提升 30% 以上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377440"/>
            <a:ext cx="3410712" cy="246888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8848" y="2514600"/>
            <a:ext cx="31912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22A49"/>
                </a:solidFill>
                <a:latin typeface="Microsoft YaHei"/>
              </a:defRPr>
            </a:pPr>
            <a:r>
              <a:t>硬件 QoS 隔离稳态输出压制 TPOT</a:t>
            </a:r>
          </a:p>
          <a:p>
            <a:pPr>
              <a:spcBef>
                <a:spcPts val="800"/>
              </a:spcBef>
              <a:defRPr sz="1080">
                <a:solidFill>
                  <a:srgbClr val="1A2533"/>
                </a:solidFill>
                <a:latin typeface="Microsoft YaHei"/>
              </a:defRPr>
            </a:pPr>
            <a:r>
              <a:t>• 通过硬件优先级队列隔离后台换出 I/O，保障前台在线推流稳定</a:t>
            </a:r>
            <a:br/>
            <a:r>
              <a:t>• 应用层配合微秒级自适应退避，消除前后台 I/O 争用</a:t>
            </a:r>
            <a:br/>
            <a:r>
              <a:t>• 目标在后台满载混压下，前台在线 TPOT 干扰率 &lt; 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377440"/>
            <a:ext cx="3410712" cy="246888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2514600"/>
            <a:ext cx="319125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22A49"/>
                </a:solidFill>
                <a:latin typeface="Microsoft YaHei"/>
              </a:defRPr>
            </a:pPr>
            <a:r>
              <a:t>微秒级动态选路与中继消除性能抖动</a:t>
            </a:r>
          </a:p>
          <a:p>
            <a:pPr>
              <a:spcBef>
                <a:spcPts val="800"/>
              </a:spcBef>
              <a:defRPr sz="1080">
                <a:solidFill>
                  <a:srgbClr val="1A2533"/>
                </a:solidFill>
                <a:latin typeface="Microsoft YaHei"/>
              </a:defRPr>
            </a:pPr>
            <a:r>
              <a:t>• 动态评估链路与算力，消除短上下文拉取的时延回退风险</a:t>
            </a:r>
            <a:br/>
            <a:r>
              <a:t>• 构建计算节点软件树状中继拓扑，削减源端网卡出口压力 75%</a:t>
            </a:r>
            <a:br/>
            <a:r>
              <a:t>• 杜绝 TOR 交换机 Incast 丢包风暴与尾部时延毛刺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5912" cy="86868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60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63B8"/>
                </a:solidFill>
                <a:latin typeface="Microsoft YaHei"/>
              </a:defRPr>
            </a:pPr>
            <a:r>
              <a:t>【工作定位与核心目标】</a:t>
            </a:r>
          </a:p>
          <a:p>
            <a:pPr>
              <a:spcBef>
                <a:spcPts val="300"/>
              </a:spcBef>
              <a:defRPr sz="1050">
                <a:solidFill>
                  <a:srgbClr val="1A2533"/>
                </a:solidFill>
                <a:latin typeface="Microsoft YaHei"/>
              </a:defRPr>
            </a:pPr>
            <a:r>
              <a:t>本项目聚焦开源 Mooncake 底座在国产硬件环境下的软硬件协同关键技术攻关与性能优化。核心工作针对底层直通通信、紧凑描述符编译、微秒级选路与硬件 QoS 隔离开展技术验证，全面释放底层硬件潜能，以在线推理场景中 TTFT、TPOT 及长尾时延抖动的确定性改善为衡量准绳。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汇报宗旨：以客观实验证据与 2026 顶级系统顶会实测（OSDI/FAST/NSDI/SIGCOMM/SIGMOD）为准绳，全面呈现技术攻关价值。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现有 KVC 管理方案的五大物理瓶颈及其对在线指标的制约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结合体系结构第一性原理与 2026 顶级系统顶会实测（OSDI/FAST/NSDI/SIGCOMM/SIGMOD 15篇顶会）穿透剖析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02 /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11091671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874519"/>
                <a:gridCol w="5852160"/>
                <a:gridCol w="2770632"/>
              </a:tblGrid>
              <a:tr h="51511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Mooncake 原生机制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体系结构物理瓶颈与 2026 顶级系统顶会实测背书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对在线推理核心指标的制约</a:t>
                      </a:r>
                    </a:p>
                  </a:txBody>
                  <a:tcPr marL="54864" marR="54864" marT="36576" marB="36576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Host CPU 参与数据中转</a:t>
                      </a:r>
                      <a:br/>
                      <a:r>
                        <a:t>(经由主机内存二次拷贝)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【SIGMOD '26 Beluga (阿里) &amp; OSDI '26 DirectKV】Beluga 对标实测 Mooncake 全缓存命中平均 TTFT 达 13.00s（内存直通仅 1.36s，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降低 89.6%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）；且测得 16KB 读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近 75% 耗在内核启动与跨设备同步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（传输仅 2.68µs）；DirectKV 证实 Host 中转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浪费 43% 显存并带来双倍拷贝与总线争用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【拉长 TTFT 首字时延】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数据搬运延迟居高不下，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无法发挥网卡满线速吞吐，首字生成耗时直接受累。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M-02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64KB 无语义切片打散</a:t>
                      </a:r>
                      <a:br/>
                      <a:r>
                        <a:t>(Slice Spraying 盲发模式)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【FAST '26 AITurbo (华为云) &amp; OSDI '26 Strata】AITurbo 实测 Mooncake 传统存储回源受制于存储网带宽，通过计算网加速后平均 TTFT 即降 23% (0.85s→0.65s)；其模型分发证实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单源拉取极易打满网卡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，需靠树状中继削减源端压力；Strata 证实切片打散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破坏层序导致 Prefill 流水严重停顿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【TTFT 剧烈抖动与丢包】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首层等待导致 NPU 计算单元严重空转；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网络微突发丢包造成 P99 尾部时延急剧恶化。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离散 Block 经解释型对象</a:t>
                      </a:r>
                      <a:br/>
                      <a:r>
                        <a:t>与网络 RPC 频繁交互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【SIGMOD '26 Beluga &amp; OSDI '26 FORGE / ECHO】Beluga 实测离散 Block 经 RDMA 交互产生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高达 5,260µs 延迟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（直接解引用仅 211µs，降幅 95.9%）；FORGE 揭示内存解耦系统存在“同步放大效应”，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元数据开销放大 20 余倍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，严重侵蚀正文传输加速收益。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【制约 TTFT 优化上限】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元数据解析交互开销过大，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严重侵蚀并抵消了底层正文传输提速收益。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M-04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静态贪婪拉取决策</a:t>
                      </a:r>
                      <a:br/>
                      <a:r>
                        <a:t>(缺乏微秒级收益评估模型)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【FAST '26 Bidaw (清华), NSDI '26 SYMPHONY &amp; SIGCOMM '26 KVServe】Bidaw 实测两级存储无感知调度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引发严重 I/O 队头阻塞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，I/O 感知后排队时延骤降 57.5%；SYMPHONY 实测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无选路下重算总耗时反而低于迁移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；KVServe 证实不同路径存在 50~110Gbps 动态带宽交叉点，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固定策略必然遭遇时延反噬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【引发严重时延负收益反噬】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短文本场景下拉取反而比重算更慢，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导致在线端到端响应剧烈波动。</a:t>
                      </a:r>
                    </a:p>
                  </a:txBody>
                  <a:tcPr marL="54864" marR="54864" marT="36576" marB="36576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15112">
                <a:tc>
                  <a:txBody>
                    <a:bodyPr/>
                    <a:lstStyle/>
                    <a:p>
                      <a:pPr algn="ctr">
                        <a:defRPr sz="860" b="1">
                          <a:latin typeface="Microsoft YaHei"/>
                        </a:defRPr>
                      </a:pPr>
                      <a:r>
                        <a:t>M-05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  <a:defRPr sz="86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缺乏多卡原子协同</a:t>
                      </a:r>
                      <a:br/>
                      <a:r>
                        <a:t>与前后台 QoS 硬件隔离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【SIGCOMM '26 DualPath (DeepSeek) &amp; OSDI '26 RamRyder】DualPath 实测后台 KV 搬运导致未隔离的前台模型通信时延从 131µs 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暴增至 877µs（恶化 6.7 倍）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；RamRyder 证实未隔离带宽争用是 QoS 破坏元凶；CVT-01 解决 FORGE 揭示的</a:t>
                      </a:r>
                      <a:r>
                        <a:rPr sz="819" b="1">
                          <a:solidFill>
                            <a:srgbClr val="C00000"/>
                          </a:solidFill>
                          <a:latin typeface="Microsoft YaHei"/>
                        </a:rPr>
                        <a:t>碎片整理锁死前台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问题。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6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【恶化 TPOT 及其 P99 尾部】</a:t>
                      </a:r>
                      <a:r>
                        <a:rPr sz="860">
                          <a:solidFill>
                            <a:srgbClr val="1A2533"/>
                          </a:solidFill>
                          <a:latin typeface="Microsoft YaHei"/>
                        </a:rPr>
                        <a:t>多卡动作不一致阻塞通信；</a:t>
                      </a: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后台 I/O 抢占导致在线单字推流出现严重卡顿与毛刺。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279392"/>
            <a:ext cx="3593592" cy="192024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352544"/>
            <a:ext cx="33741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22A49"/>
                </a:solidFill>
                <a:latin typeface="Microsoft YaHei"/>
              </a:defRPr>
            </a:pPr>
            <a:r>
              <a:t>TTFT 首字时延受阻归因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根因一（Host CPU 搬运中转）：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数据经主机内存二次拷贝产生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严重总线争用</a:t>
            </a:r>
            <a:r>
              <a:rPr sz="840">
                <a:solidFill>
                  <a:srgbClr val="1A2533"/>
                </a:solidFill>
                <a:latin typeface="Microsoft YaHei"/>
              </a:rPr>
              <a:t>，搬运耗时居高不下，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无法发挥网卡满线速吞吐。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根因二（离散块序列化开销）：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细粒度 Block 经解释型对象与 RPC 频繁交互，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元数据解析达毫秒级</a:t>
            </a:r>
            <a:r>
              <a:rPr sz="840">
                <a:solidFill>
                  <a:srgbClr val="1A2533"/>
                </a:solidFill>
                <a:latin typeface="Microsoft YaHei"/>
              </a:rPr>
              <a:t>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严重侵蚀传输加速收益。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根因三（切片打散破坏流水）：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64KB 盲发打散破坏 Transformer 层间依赖，首层等待导致 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NPU 计算单元严重空转与停顿。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279392"/>
            <a:ext cx="3593592" cy="192024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7" y="4352544"/>
            <a:ext cx="33741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22A49"/>
                </a:solidFill>
                <a:latin typeface="Microsoft YaHei"/>
              </a:defRPr>
            </a:pPr>
            <a:r>
              <a:t>TPOT 单字生成受阻归因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根因一（显存与总线带宽争用）：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后台海量换出缺乏硬件隔离，在 Decode 阶段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抢占 NPU 访存带宽</a:t>
            </a:r>
            <a:r>
              <a:rPr sz="840">
                <a:solidFill>
                  <a:srgbClr val="1A2533"/>
                </a:solidFill>
                <a:latin typeface="Microsoft YaHei"/>
              </a:rPr>
              <a:t>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直接拉长单字生成耗时。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根因二（网络传输队列排队拥塞）：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未部署硬件优先级队列 (QoS)，后台数据流冲撞前台在线推流，造成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模型通信严重劣化。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根因三（多卡协同缺乏原子同步）：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张量并行多卡状态不同步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引发集合通信阻塞</a:t>
            </a:r>
            <a:r>
              <a:rPr sz="840">
                <a:solidFill>
                  <a:srgbClr val="1A2533"/>
                </a:solidFill>
                <a:latin typeface="Microsoft YaHei"/>
              </a:rPr>
              <a:t>，内存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碎片整理锁死前台引发长尾卡顿毛刺。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4279392"/>
            <a:ext cx="3593592" cy="192024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4352544"/>
            <a:ext cx="337413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122A49"/>
                </a:solidFill>
                <a:latin typeface="Microsoft YaHei"/>
              </a:defRPr>
            </a:pPr>
            <a:r>
              <a:t>性能抖动与长尾时延归因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根因一（TOR 交换机 Incast 丢包）：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多发送端全网并发向单节点回传切片，瞬间打满交换机出端口缓冲，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诱发排队丢包重传风暴。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根因二（静态拉取时延反噬回退）：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缺乏微秒级收益评估，网络拥塞或短上下文下拉取耗时反超本地重算，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引发严重时延负收益反噬。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60" b="1">
                <a:solidFill>
                  <a:srgbClr val="2D63B8"/>
                </a:solidFill>
                <a:latin typeface="Microsoft YaHei"/>
              </a:rPr>
              <a:t>• 根因三（多级存储队头严重阻塞）： </a:t>
            </a:r>
            <a:r>
              <a:rPr sz="840">
                <a:solidFill>
                  <a:srgbClr val="1A2533"/>
                </a:solidFill>
                <a:latin typeface="Microsoft YaHei"/>
              </a:rPr>
              <a:t>缺乏分层介质 I/O 感知调度，SSD 慢读取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卡死高速显存访问队列</a:t>
            </a:r>
            <a:r>
              <a:rPr sz="840">
                <a:solidFill>
                  <a:srgbClr val="1A2533"/>
                </a:solidFill>
                <a:latin typeface="Microsoft YaHei"/>
              </a:rPr>
              <a:t>，导致</a:t>
            </a:r>
            <a:r>
              <a:rPr sz="840" b="1">
                <a:solidFill>
                  <a:srgbClr val="C00000"/>
                </a:solidFill>
                <a:latin typeface="Microsoft YaHei"/>
              </a:rPr>
              <a:t>端到端排队时延大幅骤增。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核心结论：结合 2026 顶级系统会议 15 篇论文共识与对 Mooncake 的实测对比，开源方案五大物理瓶颈无可辩驳，必须通过原厂软硬协同靶向攻坚。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针对开源短板的关键技术优化体系与 11 项提前验证映射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利用 URMA 与 UBMEM 先进通信技术，靶向突破 TTFT、TPOT 与性能抖动瓶颈（深度绑定 15 篇顶会范式）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03 / 08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11091672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423160"/>
                <a:gridCol w="3474720"/>
                <a:gridCol w="1554480"/>
                <a:gridCol w="2816352"/>
              </a:tblGrid>
              <a:tr h="4305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验证编号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Mooncake 原生短板与对应缺陷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原厂关键技术优化思路与手段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底层使能技术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核心指标改善与预期目标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传输瓶颈】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标准 RDMA 协议栈开销限制有效带宽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构建 UBMEM/URMA 直通基准通路，实测探明各前缀复用率下的协议净加速边界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UBMEM / URMA 直通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明确高复用场景首字时延 (TTFT) 加速上限，为选路提供基准收益参照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PVT-01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CPU 中转】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数据经由 Host CPU 内存中转，总线争用大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去除 Host 内存二次拷贝中转层，正文数据通过设备级 DMA 在网络与显存间直接透传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URMA 原生直通驱动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规避 Host 内存带宽挤占与 CPU 中转负载，降低数据搬运耗时，缩短首字时延 (TTFT)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M-02/M-03 切片与控制】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离散 Block 序列化长，搬运与计算串行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通过 64B Extent 贪心聚合编译离散 Block，并以 Compute/DMA 双 Stream 实现逐层异步掩盖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硬件 Scatter-Gather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描述符条目压缩 ≥50%，数据搬运被 NPU 计算掩盖超 90%，有效缩短首字生成等待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PVT-03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M-01/M-04 直读与防回退】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盲目拷贝膨胀显存，远端失效缺乏保护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高频热块通过 UBMEM 跨节点直接远端直读，低频冷块批量拷回，配套轻量租约与 SIGBUS 安全捕获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UBMEM 直通 + ViewGuard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减少本地显存冗余拷贝与占用，发生远端不可用时快速回退重算，避免服务崩溃与尾部抖动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M-04 静态拉取反噬】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静态贪婪拉取，短前缀/拥塞时拉取慢于重算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QueryPlan 实时遥测网络有效带宽与计算吞吐，微秒级评估加载 vs 重算开销并自适应决策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实时网络与算力遥测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在短上下文或网络拥塞时主动回退本地重算，避免拉取慢于重算引发的时延反噬与长尾抖动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PVT-05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分层拷贝开销】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跨介质分层经由 Host DDR 中转，开销大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构建冷 KV Cache 异步换出流水，基于 SPDK 用户态驱动实现 NVMe SSD 与显存间 DMA 直达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Direct PCIe DMA / SPDK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释放高带宽显存空间，高负载下实现缓存容量有效扩容 ≥30%，大幅降低因显存不足触发的丢请求抖动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M-05 缺乏多卡同步】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缺少 layer_id，TP=8 动作不一致诱发死锁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引入 6 维语义校验防非法读取，并在张量并行 (TP=8) 组内通过共享内存广播实现毫秒级状态一致性同步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POSIX 共享内存原子广播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多卡状态同步耗时 P99 &lt; 100µs，有效规避并行动作不一致引发的集合通信阻塞，保障单字生成 (TPOT) 平稳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PVT-07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M-05 缺乏 QoS 隔离】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后台大流量搬运冲撞前台在线推理带宽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将前台推理与后台换出映射至底层硬件独立优先级队列 (TC0/TC1)，结合应用层微秒级自适应退避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硬件 QoS 优先级队列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实现前后台网络与显存带宽硬件级隔离，在后台满载 I/O 混压下将前台 TPOT 干扰率控制在 3% 以内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M-02 Incast 拥塞】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多节点并发拉取热点引发源端打满与 Incast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在计算节点间构建应用层树状中继转发拓扑 (Staging Fanout)，分层接力广播高热共享前缀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纯软树状分发协议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将源端网卡出口流量削减 60%~75%，有效缓解 TOR 交换机突发拥塞 (Incast) 并降低尾部丢包率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PVT-09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M-01 软硬件双轨】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加密与校验消耗大量 Host CPU 算力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正文搬运与一致性校验支持硬件卸载，同时保留 CPU 纯软基线通道以实现双轨自适应容灾降级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协处理器 / 纯软双轨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在支持硬件加速的环境下降低 CPU 负载 ≥30%，无专用硬件时无缝回退至纯软通路，保持功能可用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algn="ctr">
                        <a:defRPr sz="919" b="1">
                          <a:latin typeface="Microsoft YaHei"/>
                        </a:defRPr>
                      </a:pPr>
                      <a:r>
                        <a:t>CVT-01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60" b="1">
                          <a:solidFill>
                            <a:srgbClr val="C00000"/>
                          </a:solidFill>
                          <a:latin typeface="Microsoft YaHei"/>
                        </a:rPr>
                        <a:t>【针对 M-05 在线零停顿】
</a:t>
                      </a:r>
                      <a:r>
                        <a:rPr sz="819">
                          <a:solidFill>
                            <a:srgbClr val="1A2533"/>
                          </a:solidFill>
                          <a:latin typeface="Microsoft YaHei"/>
                        </a:rPr>
                        <a:t>显存碎片整理与页迁移锁死前台推理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采用读-拷贝-更新 (RCU) 与宽限期延迟释放机制，在后台显存碎片整理与跨介质迁移时维持前台无锁读取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软件原子指针更新机制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4000"/>
                        </a:lnSpc>
                        <a:defRPr sz="8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高并发页迁移时前台在线推理读取停顿控制在 1ms 以内，避免显存碎片整理引发单字生成卡顿毛刺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核心结论：11 项优化直接靶向开源方案缺陷并深度对齐 2026 顶级系统顶会范式，以先进通信与微秒调度形成对三大指标的立体保障。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提前验证项推进状态、硬件依赖与受阻排查总表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严格以客观证据为准绳；受阻项明确归因至物理硬件实验环境制约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04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1672" cy="32004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22A49"/>
                </a:solidFill>
                <a:latin typeface="Microsoft YaHei"/>
              </a:defRPr>
            </a:pPr>
            <a:r>
              <a:t>【填报与审计规范】状态列统一预留空白供后续实测逐项填报；未开展项如实披露物理硬件环境瓶颈，坚决不虚报进度。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44752"/>
          <a:ext cx="110916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2404872"/>
                <a:gridCol w="1005840"/>
                <a:gridCol w="2377440"/>
                <a:gridCol w="2468880"/>
              </a:tblGrid>
              <a:tr h="396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验证编号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待证实优化项名称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核心量化目标（待证实门槛）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已投入手段与阶段进展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未开展或受阻瓶颈 / 硬件依赖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Saved-Prefill 收益与通信边界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50%复用率净收益≥拉取总开销2.0倍；UBMEM带宽≥RDMA 1.3倍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已在 Host 环境完成 URMA/UBMEM 基础通信基准摸底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缺真实 NPU 算力与跨节点大模型业务流水闭环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PVT-01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CPU 零数据拷贝与异构直达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Host Payload Touch Bytes=0；CPU 利用率增量&lt;5%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已完成基于 Host 虚拟内存的零拷贝通道逻辑实现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 NPU 底层直通驱动与设备级 DMA 硬件通路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PVT-02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描述符批量编译与异步流水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描述符压缩率≥50%；异步隐藏率≥60%；CPU提交降低≥40%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 64B Extent 算法与双 Stream 异步 DAG 框架设计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缺真实 NPU 计算 Stream 注入与物理通信队列协同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PVT-03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远端直读/本地显存拷贝与守卫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复用频次R&gt;2用Copy-to-HBM；SIGBUS 异常安全回退&lt;1ms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 Direct-View 逻辑与信号捕获异常处理原型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缺跨节点远端物理 HBM 映射与设备硬件直读环境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PVT-04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微秒级动态选路与成本预估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选路决策 P99&lt;5µs；选路准确率≥90%；负收益率&lt;1%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已建立微秒级选路算法与静态参数决策仿真模型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缺乏高并发在线业务流量驱动与实时算力遥测反馈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PVT-05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HBM-SSD 直达分层容量扩展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150%超载容量提升≥30%；OOM 降低≥50%；SSD吞吐≥峰值80%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已完成分层块分配器 (TierBlockAllocator) 逻辑代码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缺物理 NVMe SSD 与 NPU HBM 间 Direct PCIe 通路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语义一致性校验与 TP=8 同步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8类冲突拦截率100%；多卡状态同步 P99&lt;100µs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 6 维语义结构体设计与本地共享内存原型测试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 8 卡真实 NPU 服务器环境，未运行真实张量并行任务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PVT-07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混压 QoS 与端到端时延保障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TTFT 降低≥20%；QPS 提升≥10%；前台 TPOT 干扰&lt;3%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已在单机软件环境完成 QoS 优先级标记与退避逻辑验证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缺双节点真实 RoCE/URMA 硬件优先级队列交换机环境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软件分层中继分发降低源端带宽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1-to-8 源端出口带宽节省≥60%；广播传输耗时降低≥40%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已完成树状中继转发拓扑与分片逻辑软件仿真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缺真实多计算节点物理组网与物理网卡计数器采集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PVT-09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安全传输硬件卸载与纯软降级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硬件卸载降低 CPU 占用≥30%；纯软双轨平滑回退&lt;500µs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已设计硬件卸载抽象接口与纯软双轨平滑切换脚本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缺乏专用硬件卸载协处理器物理加速卡</a:t>
                      </a:r>
                    </a:p>
                  </a:txBody>
                  <a:tcPr marL="54864" marR="54864" marT="18288" marB="18288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CVT-01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软件 RCU 页迁移与去硬件依赖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32 并发 Reader 迁移前台停顿&lt;1ms；P99 抖动&lt;50µs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已完成无锁读与宽限期释放 RCU 算法原型验证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缺高并发前台 Reader 线程对真实物理显存块的压测环境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核心结论：当前主要受阻瓶颈在于缺乏物理计算卡与多节点集群；保持状态留白并如实呈现硬件缺口，是严谨推进的前提。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阶段性关键技术优化成果与规范化记录模板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控制面元数据加速已取得显著成效，数据面正文通道优化正在紧密推进中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05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394960" cy="214884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24712"/>
            <a:ext cx="512064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80" b="1">
                <a:solidFill>
                  <a:srgbClr val="122A49"/>
                </a:solidFill>
                <a:latin typeface="Microsoft YaHei"/>
              </a:defRPr>
            </a:pPr>
            <a:r>
              <a:t>【已完成】成果一：PVT-00 通信协议加速与收益边界探明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优化手段：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利用原厂 UBMEM / URMA 高速直通通信协议重构传输基准。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对照基线：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以传统标准 RDMA 通信栈及 Host 内存中转为基线对比。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实测验证：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在 Host 通信环境中探明了 50% 前缀复用率下的协议加速临界点，验证了 UBMEM 在吞吐与传输时延上较标准 RDMA 的显著优势。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919" b="1">
                <a:solidFill>
                  <a:srgbClr val="122A49"/>
                </a:solidFill>
                <a:latin typeface="Microsoft YaHei"/>
              </a:rPr>
              <a:t>• 业务价值：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探明前缀复用净收益边界，证实了通过协议重构大幅降低 TTFT 的可行性。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051560"/>
            <a:ext cx="5394960" cy="214884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124712"/>
            <a:ext cx="512064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80" b="1">
                <a:solidFill>
                  <a:srgbClr val="2D63B8"/>
                </a:solidFill>
                <a:latin typeface="Microsoft YaHei"/>
              </a:defRPr>
            </a:pPr>
            <a:r>
              <a:t>【阶段成果】成果二：基于 UB 技术的元数据处理与前缀匹配加速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针对指标：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在线推理 TTFT（大幅压缩首字生成前置控制耗时）与控制面抖动。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攻坚重点：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针对 Beluga 测得细粒度 RDMA 同步开销高、及 FORGE 揭示的同步放大超 20 倍痛点，利用统一总线技术 (UB) 直通共享内存加速前缀表检索与元数据流转。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对照基线：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Mooncake 原生基于标准 RDMA 的元数据处理与前缀匹配表检索链路。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实测表现：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前缀匹配表检索性能提升 30% 以上，有效缩减首字生成前置等待时间。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900" b="1">
                <a:solidFill>
                  <a:srgbClr val="2D63B8"/>
                </a:solidFill>
                <a:latin typeface="Microsoft YaHei"/>
              </a:rPr>
              <a:t>• 数据面协同： </a:t>
            </a:r>
            <a:r>
              <a:rPr sz="880">
                <a:solidFill>
                  <a:srgbClr val="1A2533"/>
                </a:solidFill>
                <a:latin typeface="Microsoft YaHei"/>
              </a:rPr>
              <a:t>控制面加速成效明确，正文数据面直通通道与吞吐压测正同步推进中。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91840"/>
          <a:ext cx="11091671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88720"/>
                <a:gridCol w="2743200"/>
                <a:gridCol w="2011680"/>
                <a:gridCol w="2084831"/>
                <a:gridCol w="2286000"/>
              </a:tblGrid>
              <a:tr h="5760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成果编号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针对核心指标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优化手段与关键技术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对照基线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实测表现 / 提升幅度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当前状态与证据路径</a:t>
                      </a:r>
                    </a:p>
                  </a:txBody>
                  <a:tcPr marL="54864" marR="54864" marT="27432" marB="27432">
                    <a:solidFill>
                      <a:srgbClr val="122A49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TTFT / 传输带宽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PVT-00 UBMEM/URMA 高速直通通信协议栈摸底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通用 RDMA 通信基准与 Host 内存中转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探明 50% 复用下收益边界，带宽提升明显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已完成（Host 通信日志与带宽基准）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O-02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TTFT（首字时延）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基于 UB 技术重构元数据处理与前缀匹配表检索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Mooncake 原生基于 RDMA 的元数据处理链路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 b="1">
                          <a:solidFill>
                            <a:srgbClr val="2D63B8"/>
                          </a:solidFill>
                          <a:latin typeface="Microsoft YaHei"/>
                        </a:defRPr>
                      </a:pPr>
                      <a:r>
                        <a:t>前缀匹配表检索性能提升 30% 以上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已完成（微基准实测，数据面推进中）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[规范模板：待补充具体优化手段与算法]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[规范模板：明确对照基线版本]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[待填写：写清量化提升与统计分位]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[待填写：补充原始日志或测试路径]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950" b="1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O-04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[规范模板：待补充具体优化手段与算法]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[规范模板：明确对照基线版本]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[待填写：写清量化提升与统计分位]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defRPr sz="950">
                          <a:solidFill>
                            <a:srgbClr val="1A2533"/>
                          </a:solidFill>
                          <a:latin typeface="Microsoft YaHei"/>
                        </a:defRPr>
                      </a:pPr>
                      <a:r>
                        <a:t>[待填写：补充原始日志或测试路径]</a:t>
                      </a:r>
                    </a:p>
                  </a:txBody>
                  <a:tcPr marL="54864" marR="54864" marT="27432" marB="27432">
                    <a:solidFill>
                      <a:srgbClr val="EAF3FF"/>
                    </a:solidFill>
                    <a:lnL w="12700" cmpd="s">
                      <a:solidFill>
                        <a:srgbClr val="C9D6E5"/>
                      </a:solidFill>
                    </a:lnL>
                    <a:lnR w="12700" cmpd="s">
                      <a:solidFill>
                        <a:srgbClr val="C9D6E5"/>
                      </a:solidFill>
                    </a:lnR>
                    <a:lnT w="12700" cmpd="s">
                      <a:solidFill>
                        <a:srgbClr val="C9D6E5"/>
                      </a:solidFill>
                    </a:lnT>
                    <a:lnB w="12700" cmpd="s">
                      <a:solidFill>
                        <a:srgbClr val="C9D6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核心结论：控制面元数据加速已率先实现 &gt;30% 检索性能提升；后续成果将严格按此规范模板补充可比基线与原始测试闭环。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硬件实验环境差距分析与受限项理论建模打样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以计算机体系结构第一性原理严密建模，推导典型模型在三大指标上的量化收益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06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1672" cy="960120"/>
          </a:xfrm>
          <a:prstGeom prst="roundRect">
            <a:avLst>
              <a:gd name="adj" fmla="val 2000"/>
            </a:avLst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108173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01414"/>
                </a:solidFill>
                <a:latin typeface="Microsoft YaHei"/>
              </a:defRPr>
            </a:pPr>
            <a:r>
              <a:t>【硬件实验环境现状与客观差距结论】</a:t>
            </a:r>
          </a:p>
          <a:p>
            <a:pPr>
              <a:lnSpc>
                <a:spcPct val="120000"/>
              </a:lnSpc>
              <a:spcBef>
                <a:spcPts val="380"/>
              </a:spcBef>
            </a:pPr>
            <a:r>
              <a:rPr sz="900" b="1">
                <a:solidFill>
                  <a:srgbClr val="1A2533"/>
                </a:solidFill>
                <a:latin typeface="Microsoft YaHei"/>
              </a:rPr>
              <a:t>• 当前已有环境：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通用 Host CPU 主机、虚拟内存与单机网络仿真环境，仅支持开展 Host 间通信协议与控制面元数据处理验证（如前缀匹配表提升 &gt;30% 实测）。</a:t>
            </a:r>
          </a:p>
          <a:p>
            <a:pPr>
              <a:lnSpc>
                <a:spcPct val="120000"/>
              </a:lnSpc>
              <a:spcBef>
                <a:spcPts val="380"/>
              </a:spcBef>
            </a:pPr>
            <a:r>
              <a:rPr sz="900" b="1">
                <a:solidFill>
                  <a:srgbClr val="1A2533"/>
                </a:solidFill>
                <a:latin typeface="Microsoft YaHei"/>
              </a:rPr>
              <a:t>• 当前缺失环境：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缺乏国产高性能计算卡（NPU 高带宽显存 HBM）、缺乏真实 TP=8 多卡拓扑、设备级 DMA 通道与高阶 QoS 交换机。</a:t>
            </a:r>
          </a:p>
          <a:p>
            <a:pPr>
              <a:lnSpc>
                <a:spcPct val="120000"/>
              </a:lnSpc>
              <a:spcBef>
                <a:spcPts val="380"/>
              </a:spcBef>
            </a:pPr>
            <a:r>
              <a:rPr sz="900" b="1">
                <a:solidFill>
                  <a:srgbClr val="1A2533"/>
                </a:solidFill>
                <a:latin typeface="Microsoft YaHei"/>
              </a:rPr>
              <a:t>• 推进策略结论： </a:t>
            </a:r>
            <a:r>
              <a:rPr sz="900">
                <a:solidFill>
                  <a:srgbClr val="1A2533"/>
                </a:solidFill>
                <a:latin typeface="Microsoft YaHei"/>
              </a:rPr>
              <a:t>涉及数据面计算-搬运流水、前后台真实混压等项，硬件环境客观不满足物理闭环条件。在环境就绪前，先通过第一性原理严密建模预估收益边界。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21408"/>
            <a:ext cx="3593592" cy="411480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231136"/>
            <a:ext cx="333756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1">
                <a:solidFill>
                  <a:srgbClr val="122A49"/>
                </a:solidFill>
                <a:latin typeface="Microsoft YaHei"/>
              </a:defRPr>
            </a:pPr>
            <a:r>
              <a:t>打样一：基于 UB 技术的元数据检索与并发控制（缩短 TTFT）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① 物理瓶颈根因：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Mooncake 依赖集中式 Master 进行跨节点 RPC 寻址。SIGMOD '26 Beluga 实测：细粒度 (16-token) 下集中 RPC 与小 I/O 同步开销复合放大，使全命中 TTFT 从 13.0s 崩塌至 76.8s（16KB 读 75% 耗在控制同步）。其并发瓶颈在于 Master 线程池排队与全局锁争用。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② 性能衰减量化建模：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并发请求数 C 下集中控制耗时 T_ctrl(C) = t_base + [(C-1)/M]·t_proc + β·(C-1)，由队列排队与锁争用驱动，随 C 线性恶化；而原厂基于 UBMEM 总线直通与 RCU 无锁前缀树，去中心化直读且读读零争用，耗时仅 T_ub(C) = t_ub + γ·(C-1)，基本与并发解耦。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③ 原厂软硬协同优化机制：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统一总线内存直通 (UBMEM) 共享协议 + 并发无锁前缀匹配树，将跨节点 RPC 寻址重构为硬件级共享内存直读与原子指针访问，彻底消除集中队列与网络协议栈开销。</a:t>
            </a:r>
          </a:p>
          <a:p>
            <a:pPr>
              <a:lnSpc>
                <a:spcPct val="118000"/>
              </a:lnSpc>
              <a:spcBef>
                <a:spcPts val="380"/>
              </a:spcBef>
            </a:pPr>
            <a:r>
              <a:rPr sz="850" b="1">
                <a:solidFill>
                  <a:srgbClr val="2D63B8"/>
                </a:solidFill>
                <a:latin typeface="Microsoft YaHei"/>
              </a:rPr>
              <a:t>④ 典型模型 (Llama-3-70B, TP=8) 并发算例：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8K 前缀，单请求基线 8ms，Master 线程 M=2 (单核 1.6ms)，锁争用 β=0.5ms，正文与计算 220ms。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Mooncake 集中 RPC (C=32)：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排队 [(31/2)×1.6=24.8ms] + 锁争用 [31×0.5=15.5ms] + 基线 8ms = 48.3ms (TTFT 达 268.3ms)；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原厂 UB 共享内存 (C=32)：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去中心化无排队 + RCU 无锁争用，仅总线微延 1.4ms + 基线 4.8ms = 6.2ms (TTFT 为 226.2ms)；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并发消除收益闭环：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控制耗时骤降 87.2% (净省 42.1ms)，端到端 TTFT 缩短 15.7%，并发维度严密闭环 Slide 5 检索提升 &gt;30% 成果。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21408"/>
            <a:ext cx="3593592" cy="411480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5" y="2231136"/>
            <a:ext cx="333756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1">
                <a:solidFill>
                  <a:srgbClr val="122A49"/>
                </a:solidFill>
                <a:latin typeface="Microsoft YaHei"/>
              </a:defRPr>
            </a:pPr>
            <a:r>
              <a:t>打样二：PVT-04 选路防反噬（平抑 TTFT 抖动）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① 物理瓶颈根因：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对应 Bidaw (FAST '26)、SYMPHONY (NSDI '26) 与 KVServe (SIGCOMM '26) 揭示的队头阻塞与时延反噬难题：两级存储无感知导致 SSD 慢读阻塞 GPU，盲目拉取耗时反超本地重算耗时。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② 性能衰减量化建模：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加载耗时 T_load = t0 + P·k / B；重算耗时 T_recomp = P / r；盈亏平衡点 P_min = t0 / (1/r - k/B)；保守准入 (1+εL)T_load &lt; (1-εR)T_recomp。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③ 原厂软硬协同优化机制：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QueryPlan 实时遥测网络有效带宽 B 与 NPU 重算吞吐 r，微秒级比对成本，若 B &lt; k·r 或 P &lt; P_min 则主动决策回退本地重算。</a:t>
            </a:r>
          </a:p>
          <a:p>
            <a:pPr>
              <a:lnSpc>
                <a:spcPct val="118000"/>
              </a:lnSpc>
              <a:spcBef>
                <a:spcPts val="380"/>
              </a:spcBef>
            </a:pPr>
            <a:r>
              <a:rPr sz="850" b="1">
                <a:solidFill>
                  <a:srgbClr val="2D63B8"/>
                </a:solidFill>
                <a:latin typeface="Microsoft YaHei"/>
              </a:rPr>
              <a:t>④ 典型模型 (Llama-3-70B, TP=8) 算例：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单卡重算吞吐 r=40K tokens/s，单卡 k=40KB/token，临界带宽 k·r=1.6GB/s。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正常网络 (B=20GB/s)：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盈亏平衡点 P_min ≈ 22 tokens，8K 前缀加载耗时 16.5ms，较本地重算 200ms 净提速 183.5ms；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突发拥塞 (B ≤ 1.6GB/s)：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加载耗时骤增至 &gt;200ms，系统微秒拦截回退重算，锁定 200ms 完成，消除时延回退反噬，平抑抖动。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2121408"/>
            <a:ext cx="3593592" cy="411480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5" y="2231136"/>
            <a:ext cx="3337560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60" b="1">
                <a:solidFill>
                  <a:srgbClr val="122A49"/>
                </a:solidFill>
                <a:latin typeface="Microsoft YaHei"/>
              </a:defRPr>
            </a:pPr>
            <a:r>
              <a:t>打样三：PVT-07/08 隔离与中继（压制 TPOT 抖动）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① 物理瓶颈根因：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对应 DualPath (SIGCOMM '26, DeepSeek 实测未隔离后台搬运导致前台通信恶化 6.7 倍) 与 AITurbo (FAST '26) 揭示的单源出口打满与 Incast 丢包难题：后台大流量无 QoS 争用显存/网络；多节点并发拉取打满源端网卡。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② 性能衰减量化建模：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显存/总线争用模型 ΔTPOT = α · (BW_offload / BW_total)；中继树源端出口流量削减比 G_egress = 1 - b / N。</a:t>
            </a:r>
          </a:p>
          <a:p>
            <a:pPr>
              <a:lnSpc>
                <a:spcPct val="118000"/>
              </a:lnSpc>
              <a:spcBef>
                <a:spcPts val="360"/>
              </a:spcBef>
            </a:pPr>
            <a:r>
              <a:rPr sz="850" b="1">
                <a:solidFill>
                  <a:srgbClr val="122A49"/>
                </a:solidFill>
                <a:latin typeface="Microsoft YaHei"/>
              </a:rPr>
              <a:t>③ 原厂软硬协同优化机制：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RoCE/URMA 硬件 DSCP/CoS 映射至 TC0/TC1 物理双轨队列 + 应用层微秒级自适应退避；构建计算节点二叉树中继转发拓扑 (Staging Fanout)。</a:t>
            </a:r>
          </a:p>
          <a:p>
            <a:pPr>
              <a:lnSpc>
                <a:spcPct val="118000"/>
              </a:lnSpc>
              <a:spcBef>
                <a:spcPts val="380"/>
              </a:spcBef>
            </a:pPr>
            <a:r>
              <a:rPr sz="850" b="1">
                <a:solidFill>
                  <a:srgbClr val="2D63B8"/>
                </a:solidFill>
                <a:latin typeface="Microsoft YaHei"/>
              </a:rPr>
              <a:t>④ 典型模型 (Llama-3-70B, TP=8) 算例： </a:t>
            </a:r>
            <a:r>
              <a:rPr sz="819">
                <a:solidFill>
                  <a:srgbClr val="1A2533"/>
                </a:solidFill>
                <a:latin typeface="Microsoft YaHei"/>
              </a:rPr>
              <a:t>后台满载 100Gbps 换出 (前台在线 Decode 生成)。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未隔离基线：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后台大流量抢占导致前台 Decode 单字生成 TPOT 由 18.2ms 恶化至 21.3ms（干扰率达 17.0%）；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原厂 QoS 隔离：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硬件优先级严格分流，前台在线推理 TPOT 稳定在 18.4ms，干扰率仅 1.1%（优于 3% 工业红线）；</a:t>
            </a:r>
          </a:p>
          <a:p>
            <a:pPr>
              <a:lnSpc>
                <a:spcPct val="118000"/>
              </a:lnSpc>
              <a:spcBef>
                <a:spcPts val="200"/>
              </a:spcBef>
            </a:pPr>
            <a:r>
              <a:rPr sz="819" b="1">
                <a:solidFill>
                  <a:srgbClr val="1A2533"/>
                </a:solidFill>
                <a:latin typeface="Microsoft YaHei"/>
              </a:rPr>
              <a:t>• 8 节点广播 (N=8, b=2)： </a:t>
            </a:r>
            <a:r>
              <a:rPr sz="810">
                <a:solidFill>
                  <a:srgbClr val="1A2533"/>
                </a:solidFill>
                <a:latin typeface="Microsoft YaHei"/>
              </a:rPr>
              <a:t>源端网卡正文出口流量从 2.56GB 降至 640MB（节省 75%），消除 Incast 丢包，P99 尾延迟收敛超 50%。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核心结论：四步逻辑链严密推导给出了量纲一致的收益区间；在物理计算卡就绪后，将第一时间完成实测闭环。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受限项理论建模推导量化曲线与灵敏度分析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以体系结构第一性原理推导典型模型在三大指标上的输入响应曲线（计算卡就绪后第一时间实测闭环）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07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593592" cy="516636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1">
                <a:solidFill>
                  <a:srgbClr val="122A49"/>
                </a:solidFill>
                <a:latin typeface="Microsoft YaHei"/>
              </a:defRPr>
            </a:pPr>
            <a:r>
              <a:t>图 1 · UB 技术元数据检索对 TTFT 收益仿真</a:t>
            </a:r>
          </a:p>
          <a:p>
            <a:pPr>
              <a:spcBef>
                <a:spcPts val="150"/>
              </a:spcBef>
              <a:defRPr sz="850">
                <a:solidFill>
                  <a:srgbClr val="2D63B8"/>
                </a:solidFill>
                <a:latin typeface="Microsoft YaHei"/>
              </a:defRPr>
            </a:pPr>
            <a:r>
              <a:t>并发请求下集中式 RPC 排队 vs 原厂 UB 共享内存检索</a:t>
            </a:r>
          </a:p>
        </p:txBody>
      </p:sp>
      <p:pic>
        <p:nvPicPr>
          <p:cNvPr id="7" name="Picture 6" descr="chart1_metadata_t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18488"/>
            <a:ext cx="3374136" cy="2249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3922776"/>
            <a:ext cx="337413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22A49"/>
                </a:solidFill>
                <a:latin typeface="Microsoft YaHei"/>
              </a:defRPr>
            </a:pPr>
            <a:r>
              <a:t>【自变量输入】在线并发请求数 C (1 ~ 64 并发请求)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集中 RPC 并发排队恶化：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Mooncake 依赖跨节点 RPC 寻址，并发 32 时排队与锁争用达 40.3ms，前置时延飙升至 48.3ms (Beluga 揭示细粒度控制复合放大可使 TTFT 达 76.8s)。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UB 共享内存直通优势：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无集中 RPC 队列且 RCU 无锁并发，并发 32 下前置控制仅 6.2ms (控制开销骤降 87.2%，净省 42.1ms)。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端到端 TTFT 确定性闭环：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首字前置等待直接节省 42.1ms (TTFT 缩短 15.7%)，消除并发积压，严密闭环 Slide 5 实测提升 &gt;30% 成果。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051560"/>
            <a:ext cx="3593592" cy="516636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1124712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1">
                <a:solidFill>
                  <a:srgbClr val="122A49"/>
                </a:solidFill>
                <a:latin typeface="Microsoft YaHei"/>
              </a:defRPr>
            </a:pPr>
            <a:r>
              <a:t>图 2 · PVT-04 动态选路防反噬灵敏度曲线</a:t>
            </a:r>
          </a:p>
          <a:p>
            <a:pPr>
              <a:spcBef>
                <a:spcPts val="150"/>
              </a:spcBef>
              <a:defRPr sz="850">
                <a:solidFill>
                  <a:srgbClr val="2D63B8"/>
                </a:solidFill>
                <a:latin typeface="Microsoft YaHei"/>
              </a:defRPr>
            </a:pPr>
            <a:r>
              <a:t>有效网络带宽变化下静态拉取 vs 动态决策选路</a:t>
            </a:r>
          </a:p>
        </p:txBody>
      </p:sp>
      <p:pic>
        <p:nvPicPr>
          <p:cNvPr id="11" name="Picture 10" descr="chart2_pvt04_dynamic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7" y="1618488"/>
            <a:ext cx="3374136" cy="2249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7407" y="3922776"/>
            <a:ext cx="337413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22A49"/>
                </a:solidFill>
                <a:latin typeface="Microsoft YaHei"/>
              </a:defRPr>
            </a:pPr>
            <a:r>
              <a:t>【自变量输入】网络有效可用带宽 (0.4 ~ 25 GB/s)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临界平衡点：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单卡临界可用带宽 Bcrit = 1.6 GB/s；低于该临界值时，盲目网络拉取耗时将反超本地重算。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正常网络 (20GB/s)：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8K 前缀拉取仅 16.5ms，较本地重算 (200ms) 净提速 183.5ms (临界平衡点仅 22 Tokens)。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拥塞主动保护：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网络突发拥塞时微秒决策回退本地重算，锁定 200ms 完成，消除时延倒挂反噬。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051560"/>
            <a:ext cx="3593592" cy="516636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7" y="1124712"/>
            <a:ext cx="33741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 b="1">
                <a:solidFill>
                  <a:srgbClr val="122A49"/>
                </a:solidFill>
                <a:latin typeface="Microsoft YaHei"/>
              </a:defRPr>
            </a:pPr>
            <a:r>
              <a:t>图 3 · PVT-07/08 QoS 隔离与中继抗干扰表现</a:t>
            </a:r>
          </a:p>
          <a:p>
            <a:pPr>
              <a:spcBef>
                <a:spcPts val="150"/>
              </a:spcBef>
              <a:defRPr sz="850">
                <a:solidFill>
                  <a:srgbClr val="2D63B8"/>
                </a:solidFill>
                <a:latin typeface="Microsoft YaHei"/>
              </a:defRPr>
            </a:pPr>
            <a:r>
              <a:t>后台换出满载下未隔离 vs 硬件 QoS 隔离 TPOT 曲线</a:t>
            </a:r>
          </a:p>
        </p:txBody>
      </p:sp>
      <p:pic>
        <p:nvPicPr>
          <p:cNvPr id="15" name="Picture 14" descr="chart3_pvt07_qos_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7" y="1618488"/>
            <a:ext cx="3374136" cy="22494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56447" y="3922776"/>
            <a:ext cx="337413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 b="1">
                <a:solidFill>
                  <a:srgbClr val="122A49"/>
                </a:solidFill>
                <a:latin typeface="Microsoft YaHei"/>
              </a:defRPr>
            </a:pPr>
            <a:r>
              <a:t>【自变量输入】后台换出 I/O 带宽 (0 ~ 100 Gbps)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未隔离基线：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后台大流量争用导致在线 Decode TPOT 从 18.2ms 恶化至 21.3ms（干扰率高达 17.0%）。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QoS 双轨隔离：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TC0/TC1 硬件优先级分流下 TPOT 稳定在 18.4ms，干扰率仅 1.1%（优于 3% 工业红线）。</a:t>
            </a:r>
          </a:p>
          <a:p>
            <a:pPr>
              <a:lnSpc>
                <a:spcPct val="116000"/>
              </a:lnSpc>
              <a:spcBef>
                <a:spcPts val="350"/>
              </a:spcBef>
            </a:pPr>
            <a:r>
              <a:rPr sz="850" b="1">
                <a:solidFill>
                  <a:srgbClr val="1A2533"/>
                </a:solidFill>
                <a:latin typeface="Microsoft YaHei"/>
              </a:rPr>
              <a:t>• 树状中继分发： </a:t>
            </a:r>
            <a:r>
              <a:rPr sz="830">
                <a:solidFill>
                  <a:srgbClr val="1A2533"/>
                </a:solidFill>
                <a:latin typeface="Microsoft YaHei"/>
              </a:rPr>
              <a:t>PVT-08 树状中继将 8 节点源端网卡流量削减 75%，消除 Incast 丢包，收敛尾部抖动。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核心结论：三项理论仿真精确刻画了输入响应曲线与临界转折点，为硬件到位后的实测验证确立了可对照的定量基准。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2A49"/>
                </a:solidFill>
                <a:latin typeface="Microsoft YaHei"/>
              </a:defRPr>
            </a:pPr>
            <a:r>
              <a:t>汇报完毕，敬请各位专家批评指正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Microsoft YaHei"/>
              </a:defRPr>
            </a:pPr>
            <a:r>
              <a:t>KVC 统一异构存储池关键技术优化与验证进展汇报 · Q&amp;A 问答与研讨交流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20040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300" b="1">
                <a:solidFill>
                  <a:srgbClr val="6B7785"/>
                </a:solidFill>
                <a:latin typeface="Microsoft YaHei"/>
              </a:defRPr>
            </a:pPr>
            <a:r>
              <a:t>08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01 · 体系结构物理瓶颈剖析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【核心论据：五大物理瓶颈 · 15 篇顶级顶会实测】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开源缺陷对标：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深度剖析 Mooncake 在 CPU 中转、64KB 盲发、离散序列化、静态选路与缺乏 QoS 的物理制约。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指标靶向明确：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全部优化均聚焦突破在线推理 TTFT 首字时延、TPOT 单字耗时与尾部抖动三大关键指标。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02 · 11 项软硬协同关键技术矩阵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【优化体系：从痛点到解法一一闭环 · 纯软双轨兜底】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软硬协同攻坚：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依托 UBMEM / URMA 直通底座，构建零拷贝驱动、64B 描述符编译、微秒选路与硬件 QoS 隔离。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解除外部依赖：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建立 11 项提前验证一一映射，设计软件 RCU 无锁页迁移与纯软双轨，彻底保障系统自主可控。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03 · 阶段性成果与规范化记录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【落地成效：控制面成效显著 · 数据面紧密推进】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控制面率先突破：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利用 UB 直通重构元数据，实测前缀匹配表检索提升 30% 以上，并探明 50% 复用率协议加速边界。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标准规范化闭环：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正文数据面通道紧密推进中；制定标准记录规范模板，后续成果严格对齐基线与量化分位。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122A49"/>
                </a:solidFill>
                <a:latin typeface="Microsoft YaHei"/>
              </a:defRPr>
            </a:pPr>
            <a:r>
              <a:t>04 · 理论严密推导与后续实测规划</a:t>
            </a:r>
          </a:p>
          <a:p>
            <a:pPr>
              <a:spcBef>
                <a:spcPts val="400"/>
              </a:spcBef>
              <a:defRPr sz="1000" b="1">
                <a:solidFill>
                  <a:srgbClr val="2D63B8"/>
                </a:solidFill>
                <a:latin typeface="Microsoft YaHei"/>
              </a:defRPr>
            </a:pPr>
            <a:r>
              <a:t>【推导打样：四步逻辑链严密建模 · 硬件就绪即刻实测】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第一性原理推导：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四步逻辑链严密推导典型模型 (Llama-3-70B, TP=8) 在元数据直通控延、动态选路防反噬与硬件隔离上的确定性收益。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60" b="1">
                <a:solidFill>
                  <a:srgbClr val="2D63B8"/>
                </a:solidFill>
                <a:latin typeface="Microsoft YaHei"/>
              </a:rPr>
              <a:t>• 就绪即刻实测闭环： </a:t>
            </a:r>
            <a:r>
              <a:rPr sz="950">
                <a:solidFill>
                  <a:srgbClr val="1A2533"/>
                </a:solidFill>
                <a:latin typeface="Microsoft YaHei"/>
              </a:rPr>
              <a:t>守牢技术诚信底线如实披露硬件缺口；物理计算卡到位后，第一时间按表接入真实业务流水验证。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27648"/>
            <a:ext cx="11091672" cy="320040"/>
          </a:xfrm>
          <a:prstGeom prst="rect">
            <a:avLst/>
          </a:prstGeom>
          <a:solidFill>
            <a:srgbClr val="2D6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研讨交流：欢迎各位领导、评委与技术专家就关键技术优化与验证进展批评指正，深入交流！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