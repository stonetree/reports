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44976f197149c9" /><Relationship Type="http://schemas.openxmlformats.org/officeDocument/2006/relationships/extended-properties" Target="/docProps/app.xml" Id="R0ad8f08e962640e1" /><Relationship Type="http://schemas.openxmlformats.org/officeDocument/2006/relationships/officeDocument" Target="/ppt/presentation.xml" Id="R8c773fce09654a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dd21a58a47422a"/>
  </p:sldMasterIdLst>
  <p:notesMasterIdLst>
    <p:notesMasterId xmlns:r="http://schemas.openxmlformats.org/officeDocument/2006/relationships" r:id="R793bc938925047fb"/>
  </p:notesMasterIdLst>
  <p:sldIdLst>
    <p:sldId xmlns:r="http://schemas.openxmlformats.org/officeDocument/2006/relationships" id="256" r:id="Rf56143379f094899"/>
    <p:sldId xmlns:r="http://schemas.openxmlformats.org/officeDocument/2006/relationships" id="257" r:id="R1f7b3eb6ccc8480a"/>
    <p:sldId xmlns:r="http://schemas.openxmlformats.org/officeDocument/2006/relationships" id="258" r:id="R1d89c6b0f2574f9a"/>
    <p:sldId xmlns:r="http://schemas.openxmlformats.org/officeDocument/2006/relationships" id="259" r:id="R88ddf3d5beae4a5d"/>
    <p:sldId xmlns:r="http://schemas.openxmlformats.org/officeDocument/2006/relationships" id="260" r:id="Rc37976edbbcb4594"/>
    <p:sldId xmlns:r="http://schemas.openxmlformats.org/officeDocument/2006/relationships" id="261" r:id="R7450f1047f434668"/>
    <p:sldId xmlns:r="http://schemas.openxmlformats.org/officeDocument/2006/relationships" id="262" r:id="R272bf00c2c77481a"/>
    <p:sldId xmlns:r="http://schemas.openxmlformats.org/officeDocument/2006/relationships" id="263" r:id="R7f365ddf6b79426e"/>
    <p:sldId xmlns:r="http://schemas.openxmlformats.org/officeDocument/2006/relationships" id="264" r:id="R8d8060e282c94c94"/>
    <p:sldId xmlns:r="http://schemas.openxmlformats.org/officeDocument/2006/relationships" id="265" r:id="R4c6771ebf20f4e38"/>
    <p:sldId xmlns:r="http://schemas.openxmlformats.org/officeDocument/2006/relationships" id="266" r:id="R3fdb823a4a1c493b"/>
    <p:sldId xmlns:r="http://schemas.openxmlformats.org/officeDocument/2006/relationships" id="267" r:id="Rca568166f3104fb4"/>
    <p:sldId xmlns:r="http://schemas.openxmlformats.org/officeDocument/2006/relationships" id="268" r:id="R76ead8a556b545c0"/>
    <p:sldId xmlns:r="http://schemas.openxmlformats.org/officeDocument/2006/relationships" id="269" r:id="R3026ca30f8c3484f"/>
    <p:sldId xmlns:r="http://schemas.openxmlformats.org/officeDocument/2006/relationships" id="270" r:id="R83b5323663bd4c3c"/>
    <p:sldId xmlns:r="http://schemas.openxmlformats.org/officeDocument/2006/relationships" id="271" r:id="R823ca10edef349d5"/>
    <p:sldId xmlns:r="http://schemas.openxmlformats.org/officeDocument/2006/relationships" id="272" r:id="R045383b1e6564e2c"/>
    <p:sldId xmlns:r="http://schemas.openxmlformats.org/officeDocument/2006/relationships" id="273" r:id="Ra9714f9cd5374c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a54759712f42e6" /><Relationship Type="http://schemas.openxmlformats.org/officeDocument/2006/relationships/slideMaster" Target="/ppt/slideMasters/slideMaster1.xml" Id="Rb9dd21a58a47422a" /><Relationship Type="http://schemas.openxmlformats.org/officeDocument/2006/relationships/notesMaster" Target="/ppt/notesMasters/notesMaster1.xml" Id="R793bc938925047fb" /><Relationship Type="http://schemas.openxmlformats.org/officeDocument/2006/relationships/presProps" Target="/ppt/presProps.xml" Id="R3c3a85e437a84784" /><Relationship Type="http://schemas.openxmlformats.org/officeDocument/2006/relationships/tableStyles" Target="/ppt/tableStyles.xml" Id="R59aa954d17834cea" /><Relationship Type="http://schemas.openxmlformats.org/officeDocument/2006/relationships/slide" Target="/ppt/slides/slide1.xml" Id="Rf56143379f094899" /><Relationship Type="http://schemas.openxmlformats.org/officeDocument/2006/relationships/slide" Target="/ppt/slides/slide2.xml" Id="R1f7b3eb6ccc8480a" /><Relationship Type="http://schemas.openxmlformats.org/officeDocument/2006/relationships/slide" Target="/ppt/slides/slide3.xml" Id="R1d89c6b0f2574f9a" /><Relationship Type="http://schemas.openxmlformats.org/officeDocument/2006/relationships/slide" Target="/ppt/slides/slide4.xml" Id="R88ddf3d5beae4a5d" /><Relationship Type="http://schemas.openxmlformats.org/officeDocument/2006/relationships/slide" Target="/ppt/slides/slide5.xml" Id="Rc37976edbbcb4594" /><Relationship Type="http://schemas.openxmlformats.org/officeDocument/2006/relationships/slide" Target="/ppt/slides/slide6.xml" Id="R7450f1047f434668" /><Relationship Type="http://schemas.openxmlformats.org/officeDocument/2006/relationships/slide" Target="/ppt/slides/slide7.xml" Id="R272bf00c2c77481a" /><Relationship Type="http://schemas.openxmlformats.org/officeDocument/2006/relationships/slide" Target="/ppt/slides/slide8.xml" Id="R7f365ddf6b79426e" /><Relationship Type="http://schemas.openxmlformats.org/officeDocument/2006/relationships/slide" Target="/ppt/slides/slide9.xml" Id="R8d8060e282c94c94" /><Relationship Type="http://schemas.openxmlformats.org/officeDocument/2006/relationships/slide" Target="/ppt/slides/slide10.xml" Id="R4c6771ebf20f4e38" /><Relationship Type="http://schemas.openxmlformats.org/officeDocument/2006/relationships/slide" Target="/ppt/slides/slide11.xml" Id="R3fdb823a4a1c493b" /><Relationship Type="http://schemas.openxmlformats.org/officeDocument/2006/relationships/slide" Target="/ppt/slides/slide12.xml" Id="Rca568166f3104fb4" /><Relationship Type="http://schemas.openxmlformats.org/officeDocument/2006/relationships/slide" Target="/ppt/slides/slide13.xml" Id="R76ead8a556b545c0" /><Relationship Type="http://schemas.openxmlformats.org/officeDocument/2006/relationships/slide" Target="/ppt/slides/slide14.xml" Id="R3026ca30f8c3484f" /><Relationship Type="http://schemas.openxmlformats.org/officeDocument/2006/relationships/slide" Target="/ppt/slides/slide15.xml" Id="R83b5323663bd4c3c" /><Relationship Type="http://schemas.openxmlformats.org/officeDocument/2006/relationships/slide" Target="/ppt/slides/slide16.xml" Id="R823ca10edef349d5" /><Relationship Type="http://schemas.openxmlformats.org/officeDocument/2006/relationships/slide" Target="/ppt/slides/slide17.xml" Id="R045383b1e6564e2c" /><Relationship Type="http://schemas.openxmlformats.org/officeDocument/2006/relationships/slide" Target="/ppt/slides/slide18.xml" Id="Ra9714f9cd5374c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41024d5e654b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Luna Engineering">
      <a:dk1>
        <a:srgbClr val="0F172A"/>
      </a:dk1>
      <a:lt1>
        <a:srgbClr val="FFFFFF"/>
      </a:lt1>
      <a:dk2>
        <a:srgbClr val="1E3A8A"/>
      </a:dk2>
      <a:lt2>
        <a:srgbClr val="E2E8F0"/>
      </a:lt2>
      <a:accent1>
        <a:srgbClr val="1D4ED8"/>
      </a:accent1>
      <a:accent2>
        <a:srgbClr val="1E3A8A"/>
      </a:accent2>
      <a:accent3>
        <a:srgbClr val="047857"/>
      </a:accent3>
      <a:accent4>
        <a:srgbClr val="DC2626"/>
      </a:accent4>
      <a:accent5>
        <a:srgbClr val="B45309"/>
      </a:accent5>
      <a:accent6>
        <a:srgbClr val="BE123C"/>
      </a:accent6>
      <a:hlink>
        <a:srgbClr val="1D4ED8"/>
      </a:hlink>
      <a:folHlink>
        <a:srgbClr val="1D4E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na Engineer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d0d9d188804ba7" /><Relationship Type="http://schemas.openxmlformats.org/officeDocument/2006/relationships/notesMaster" Target="/ppt/notesMasters/notesMaster1.xml" Id="R012edc35adde42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c4b1fb07164400" /><Relationship Type="http://schemas.openxmlformats.org/officeDocument/2006/relationships/notesMaster" Target="/ppt/notesMasters/notesMaster1.xml" Id="R5bb54c38c4fe41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b76105b72e4293" /><Relationship Type="http://schemas.openxmlformats.org/officeDocument/2006/relationships/notesMaster" Target="/ppt/notesMasters/notesMaster1.xml" Id="R4d779cb213774a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7d9bfe7428488e" /><Relationship Type="http://schemas.openxmlformats.org/officeDocument/2006/relationships/notesMaster" Target="/ppt/notesMasters/notesMaster1.xml" Id="R19011f286f5d44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0118386b684d31" /><Relationship Type="http://schemas.openxmlformats.org/officeDocument/2006/relationships/notesMaster" Target="/ppt/notesMasters/notesMaster1.xml" Id="Rf36228b974764c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b50394a009407c" /><Relationship Type="http://schemas.openxmlformats.org/officeDocument/2006/relationships/notesMaster" Target="/ppt/notesMasters/notesMaster1.xml" Id="R471ccbaaadb24f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3baa7594ab46f9" /><Relationship Type="http://schemas.openxmlformats.org/officeDocument/2006/relationships/notesMaster" Target="/ppt/notesMasters/notesMaster1.xml" Id="R28b403b129774f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55e6323b0e472e" /><Relationship Type="http://schemas.openxmlformats.org/officeDocument/2006/relationships/notesMaster" Target="/ppt/notesMasters/notesMaster1.xml" Id="R0fb8bf008fbb4d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5806af724c4bb7" /><Relationship Type="http://schemas.openxmlformats.org/officeDocument/2006/relationships/notesMaster" Target="/ppt/notesMasters/notesMaster1.xml" Id="Rd0d876a0106b42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5c1505ab7d4b65" /><Relationship Type="http://schemas.openxmlformats.org/officeDocument/2006/relationships/notesMaster" Target="/ppt/notesMasters/notesMaster1.xml" Id="Ra722fd4e8c0b41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871a7642a1444c" /><Relationship Type="http://schemas.openxmlformats.org/officeDocument/2006/relationships/notesMaster" Target="/ppt/notesMasters/notesMaster1.xml" Id="R959c488b22de4b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54917bf8de4c20" /><Relationship Type="http://schemas.openxmlformats.org/officeDocument/2006/relationships/notesMaster" Target="/ppt/notesMasters/notesMaster1.xml" Id="Rcab4a1d7be9945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4fda22a7fc4707" /><Relationship Type="http://schemas.openxmlformats.org/officeDocument/2006/relationships/notesMaster" Target="/ppt/notesMasters/notesMaster1.xml" Id="R3a5592113a6149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cddd4c5a0f4569" /><Relationship Type="http://schemas.openxmlformats.org/officeDocument/2006/relationships/notesMaster" Target="/ppt/notesMasters/notesMaster1.xml" Id="Rf91426b8753f4e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b68af40ce84b28" /><Relationship Type="http://schemas.openxmlformats.org/officeDocument/2006/relationships/notesMaster" Target="/ppt/notesMasters/notesMaster1.xml" Id="R26646d669d3f4f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da0dbeb00846a5" /><Relationship Type="http://schemas.openxmlformats.org/officeDocument/2006/relationships/notesMaster" Target="/ppt/notesMasters/notesMaster1.xml" Id="R24029dc8c4ee45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6b5d7a7cc74a13" /><Relationship Type="http://schemas.openxmlformats.org/officeDocument/2006/relationships/notesMaster" Target="/ppt/notesMasters/notesMaster1.xml" Id="Rb37654fd827e40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a9f03106e14218" /><Relationship Type="http://schemas.openxmlformats.org/officeDocument/2006/relationships/notesMaster" Target="/ppt/notesMasters/notesMaster1.xml" Id="Rbbaa1b928eaa46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本页先交代汇报边界。今天讨论的是一套条件化理论，而不是把单请求查询结果包装成端到端成绩。已有信息只有 16K Token 单请求查询：TCP 为几毫秒级，RDMA 为几百微秒级，URMA 比 RDMA 再低约 30%～40%，绝对值、分位数和计时边界都未知。后续页面会把这条观测放到它真正所在的局部路径，再用关键路径、共享资源和通信约束推导出可验证条件。评审需要判断的，是哪些参数最值得优先补齐，以及软件功能层和底层通信库需要提供哪些可观测、可控的机制。 评审开场应先说明：本页给出的是问题边界和可验证条件，后续所有数字都必须回到同一口径复算。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这页是整个汇报的证据闸门。用户提供的观测只覆盖单个请求、不同输入长度下的前缀匹配查询，且没有原始计时日志。我们可以说 TCP、RDMA、URMA 之间存在协议层级的局部差异，却不能说并发查询已经具备某个吞吐，也不能把 URMA 的相对下降直接乘到端到端 TTFT 上。理论模型的作用是把未知量显式列出，找到会改变结论符号的参数。后面的命题都要回到这张表：哪些是观测，哪些是抽象算例，哪些必须通过提前验证收敛。来源：统一异构 KVCache 存储池_推理性能理论建模与 KPCL 通信需求推导_V1.0.md，第 1 节。 这张边界表也决定证据分级：观测只支持局部判断，理论只支持条件化推导，剩余参数必须通过验证补齐。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这一页把业务场景与指标边界对齐。长公共前缀主要看 TTFT，因为复用直接跳过部分 Prefill；持续生成已经进入 Decode，关注 TPOT 和 ITL，后台干扰是否降低前台有效显存服务速率是关键；多源、多卡加载要看组完成后的尾部，而不是单流平均；冷会话恢复还要看后台换出和恢复进度。时间戳定义同样重要：TTFT 从约定入口到首 Token 可见，TPOT 只对多 Token 输出定义，ITL 观察逐 Token 间隔。失败和超时请求必须保留在到达分母，成功样本的 P99 不能单独讲成服务质量。来源：源文档第 2、3 节。 讲解时把计时边界、统计分母和业务路径同时指出，避免把 TTFT、TPOT、ITL 或 P99 混成一个指标。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TTFT 不能把查询、加载、计算、同步等模块时延简单相加。我们把入口排队、候选查询、资格校验、源与目标预留、批量提交、设备可消费、多卡范围就绪以及剩余输入计算画成依赖图。式中 f_v 表示任务 v 的完成时刻，d_v 是自身执行时间，前置任务中最晚完成者决定它何时能开始。加载分支和重算分支是候选路径，不要求同一请求同时执行。共享网卡、显存、CPU 或计算引擎的资源等待也必须进入图。这样才能回答：某个节点变快，是否真的落在首字关键路径上。来源：源文档第 4 节。 依赖图的价值在于识别关键路径，任何节点变快后都要检查是否出现新的关键路径或资源等待。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这里直接回应评审最容易产生的误解。把查询基线设为 q，把其余路径设为 U，查询占比 f=q/(U+q)，查询自身降幅记为 r_q。端到端直接降幅最多是 f 乘以 r_q。用户口述的 URMA 相对 RDMA 下降约 30%～40%，若要仅靠这一个环节解释 20% TTFT 目标，查询在原 TTFT 中要占约 50%～66.7%。这与“查询只是局部环节”的前提不一致。因此它的工程价值可能是降低短前缀的使用门槛，或在查询服务接近饱和时降低排队，但并发收益和端到端收益都要另外测。来源：源文档第 5 节。 这条上限应成为查询微基准的使用边界，查询占比和并发排队没有实测前不能外推到整条请求。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这一页把“复用多少 Token”转换成实际资源量。常规全层注意力下，逻辑缓存字节量由层数、前缀长度、KV 头数、头维度和元素字节数决定，系数 2 来自 Key 与 Value。计算节省也不是简单按命中比例线性外推，因为后缀仍要对前缀做注意力。式中的 Roofline 下界只用于排除不可能情况，不能把峰值算力或峰值带宽写成保证耗时。进一步把重算时间、剩余计算、查询与决策开销、固定加载开销和有效传输速率放到同一公式中，可以反求加载时间预算。来源：源文档第 6 节。 字节量与计算量是后续参数校准的共同输入，必须按真实布局、复制和资源路径记录，而不是只看逻辑 Token 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评审中最容易被追问的就是自研增量。设已有缓存基线的暴露加载时间占 TTFT 比例为 α，增强后该部分缩为原来的 r，新增控制开销占比为 η，增量收益就是 α(1−r)−η。如果 α 小于目标降幅加控制开销，即使把这段瓶颈完全消除也无法达到目标。这个表达式要求先固定比较对象：如果基线已经跳过相同前缀计算，就不能把那部分节省再次计入。也要逐项核对基线是否已有逐层加载、原生设备传输和前后台限速。来源：源文档第 6.4 节。 这页对应增量收益的独立检验，评审需要看到基线同等能力的测量结果，才能区分通用缓存收益和自研贡献。 理论流水值只说明在指定递推条件下存在收益边界，端到端结果仍要把入口、控制、排队和输出纳入同一日程。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逐层流水的论证不依赖口号，而是一个可递推的构造。第 l 层数据可用时刻 A_l 等于前一层可用时刻加传输时间 x_l，第 l 层计算完成时刻 F_l 等于前一层计算完成和本层数据可用的较晚者再加计算时间 c_l。当每层时间相同，串行耗时是 L(x+c)，流水耗时是 x+c 加上 L−1 个 max(x,c)。当 x=c、L=32 时，加载与计算子路径的理论降幅是 48.4375%，这只是抽象子路径算例，不能直接写成 TTFT 预测。端到端还包含排队、控制、输出，且并行后每层耗时可能变化。来源：源文档第 7 节。 理论流水值只说明在指定递推条件下存在收益边界，端到端结果仍要把入口、控制、排队和输出纳入同一日程。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一页证明了理想流水的上限，这一页回答工程落地前提。框架必须允许按层或合法范围消费，计算任务需要有可重叠的时间窗口，设备可见性要与传输完成正确关联，预取不能把目标显存占满，且并行后传输或计算不能显著变慢。对通信库来说，单纯返回“整个请求完成”不够。KPCL 至少要能报告分段完成和目标可见事件，表达前置依赖，限制提交批次等待和预取深度，并在依赖改变时支持取消或受控失败。优先级应跟随当前最紧的计算依赖，而不是永久把首层大数据放在最高级。来源：源文档第 7 节和第 13 节。 如果框架或库无法报告这些事件，流水就只能停留在纸面模型，验证应优先确认事件语义和依赖可见性。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这页按评审补充约束修正 TPOT 解释。β 表示后台干扰造成的前台有效显存服务速率损失，不是后台 NIC 带宽占比。固定模型、批量和上下文后，把每步生成中的显存服务时间记为 m，其余不可重叠时间为 t_f，纯前台显存服务占比为 w。干扰率 I 等于 wβ/(1−β)，因此给定 3% 干扰目标，可以反推出 β 的上限。理论算例显示，w 越大，允许的速率损失越小。真正需要的软件控制是识别并限制会拖慢 HBM 服务的后台操作，同时保留换出、恢复和重建的最低进度。只分配网卡优先级不能单独证明前台显存干扰已经受控。来源：源文档第 8 节。 β 的测量应围绕前台有效显存服务速率变化设计，后台网络流量占比只能作为背景信息，不能替代该变量。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尾延迟不只由峰值带宽决定。对任意长度为 u 的时间区间，输入流量可以用突发 σ 加长期速率 ρ 描述，系统则用速率 R 和启动延迟 θ 描述可提供服务。当 R 大于等于 ρ 时，按序无丢失服务的最大时延可由 θ 加 σ/R 约束。这个边界的价值是能把目标时限反推成接口条件：突发不能超过 R(D*−θ)，并且服务要有余量。KVC 如果为了限制突发而在库调用前排队，这段整形等待依然属于 TTFT。前后台混压时，后台平均速率和后台突发都会吃掉前台剩余服务，不能只看峰值链路带宽。来源：源文档第 9 节。 网络演算边界给出接口设计方向，真实 P99 仍需按到达样本、服务样本和前后台混压日志核对。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多卡场景不能把每条子流的平均表现简单合并。共同计算步骤需要一组关联子流，整步可消费的时间由所有必要成员中最晚到齐者决定。若各成员独立同分布，组完成分布是单流分布的 k 次方，k=8 时，组的 99% 分位大约对应单成员的 99.87445% 分位。若不具备独立性，只能用并集上界做风险预算，8 个必要成员平均分配 1% 尾概率时，每个成员都要控制到 0.125% 以内。共享接收端拥塞属于共同随机因素，必须单独建模。软件要记录共同组起点、必要成员、剩余字节、截止时间和共享接收瓶颈。来源：源文档第 10 节。 组完成的必要成员集合必须由计算依赖定义，不能把非必要流或普通单流 P99 误当作整步完成边界。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这页把单请求命中结果与业务 P99 之间的距离讲清楚。设命中路径比例为 h，命中与未命中条件分布分别为 F_h 和 F_m，全体分布是两者按比例混合。即使命中路径已经很快，只要 P99 阈值以上仍主要由未命中、重算排队或失败回退组成，继续优化命中路径也不会改变全体 P99。更不能把两个理论上界的差异直接写成实际 P99 百分比改善。要做严谨评估，至少要保留路径标识、到达分母、失败样本和同类业务分桶。来源：源文档第 10.1 节和第 9.5 节。 混合分布页的重点是路径比例和条件尾部都要保留，命中路径单独改善不等于业务整体尾部改善。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直接回答为什么不是一次性脚本或静态规则。命中状态、数据位置、并发程度、共享资源占用、租约和设备可见性都会随请求变化，所以加载、重算、回退、分段和并发组的选择不能只做一次。软件功能层持续读取完成、错误、队列、服务和反压反馈，执行准入、依赖、组完成和资源控制，再把结果交给推理执行。这个论证支撑“需要一个持续运行的功能层”，但不自动推出所有实现都必须由本项目重写。哪些能力已经存在，哪些接口需要补齐，哪些逻辑应放在库侧或框架侧，都要用基线对比和最少验证来定。来源：源文档第 1、13、14 节。 持续运行功能层的边界要通过基线和接口对比确定，理论上需要该功能不等于所有实现都必须由本项目重写。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理论公式转成通信库面对的八类工作负载。高频小控制消息需要低开销有限排队；分段前缀加载需要批量提交和真实完成量；层间流水需要分段完成与依赖事件；多卡协同需要逐成员状态和组完成；前后台混压需要限速、观测和反压；多源汇聚要控制接收端在途量；一对多分发要隔离慢目标；超时、撤销与恢复要定义部分完成、取消、排空和错误边界。统一任务记录 J_i 包含释放时刻、截止时刻、组、前置依赖、源、目标、字节量、共享资源、可见条件和失败动作。来源：源文档第 13 节。 八类通信模式不是功能清单，而是从依赖、突发、服务和失败约束反推出的负载记录与事件需求。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这一页落到工程接口。理论模型给出的不是一个脱离上下文的带宽数字，而是一组约束：在指定源和目标、分段方式、并发组、背景到达约束和设备可见性定义下，任务获得不低于 R 的服务、最大启动延迟不高于 θ、允许突发不超过 σ，并按任务时限报告完成或受控失败。KVC 负责选择副本、范围、布局、路径、准入和降级，KPCL 或平台负责批量提交、实际完成、服务、信用、可见性和错误反馈。能力未确认时，应把它写成联合需求，而不能写成已发布 API 保证。源文档也明确区分内存通信与存储后端职责。来源：源文档第 13 节。 联合需求应同时给出服务、启动延迟、突发和失败边界，只有这样才能进入代码接口、回放和验收。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这页给出最少预验证，而不是日历排期。先补会改变结论符号或可行区域的参数：第一是 α，判断相对已有缓存基线是否有独立收益空间；第二是每层数据可用与计算依赖，决定流水是否真实可用及 x/c 比值；第三是前台显存服务占比 w、干扰损失 β、突发 σ、最低服务 R 和启动延迟 θ；最后才是全链路混压与多卡组完成。E0 到 E3 是验证目标，不能写成已经完成。若理想下界仍超过业务预算，应收缩场景或改变部署。条件证伪阶段还要验证硬件多播、原子重映射和 DPU 卸载是否真的必要，避免把外部依赖当作主路径前提。来源：源文档第 14、15、17 节及项目阶段定义。 E0 到 E3 只描述要验证的目标，阶段是否通过要等待真实参数和完整混压证据，不提前写成完成状态。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最后把评审问题收束到四个可以落地的判断。第一，已有查询差异如何进入真实 TTFT，查询占比是否足够；第二，缓存加载是否真的落在关键路径上，逐层依赖能否与计算重叠；第三，前台有效显存服务损失、突发、最低服务和启动延迟是否存在可测参数及库侧反馈；第四，最少预验证先补哪个参数才能改变结论。当前材料支持的是条件化可行性，不是无条件的端到端承诺。建议按这四个问题决定 E0～E3 的验证顺序与实现范围。 封底建议把讨论聚焦到四个能改变实现范围的问题，先收紧参数，再决定哪些机制进入端到端闭环。 评审开场应先说明：本页给出的是问题边界和可验证条件，后续所有数字都必须回到同一口径复算。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7547266ce42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316fe6693348dd" /><Relationship Type="http://schemas.openxmlformats.org/officeDocument/2006/relationships/slideLayout" Target="/ppt/slideLayouts/slideLayout1.xml" Id="R28088dd8315b43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088dd8315b43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Luna Engineering">
      <a:dk1>
        <a:srgbClr val="0F172A"/>
      </a:dk1>
      <a:lt1>
        <a:srgbClr val="FFFFFF"/>
      </a:lt1>
      <a:dk2>
        <a:srgbClr val="1E3A8A"/>
      </a:dk2>
      <a:lt2>
        <a:srgbClr val="E2E8F0"/>
      </a:lt2>
      <a:accent1>
        <a:srgbClr val="1D4ED8"/>
      </a:accent1>
      <a:accent2>
        <a:srgbClr val="1E3A8A"/>
      </a:accent2>
      <a:accent3>
        <a:srgbClr val="047857"/>
      </a:accent3>
      <a:accent4>
        <a:srgbClr val="DC2626"/>
      </a:accent4>
      <a:accent5>
        <a:srgbClr val="B45309"/>
      </a:accent5>
      <a:accent6>
        <a:srgbClr val="BE123C"/>
      </a:accent6>
      <a:hlink>
        <a:srgbClr val="1D4ED8"/>
      </a:hlink>
      <a:folHlink>
        <a:srgbClr val="1D4E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na Engineer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787a1d1d14ac2" /><Relationship Type="http://schemas.openxmlformats.org/officeDocument/2006/relationships/notesSlide" Target="/ppt/notesSlides/notesSlide1.xml" Id="Rc62a50012d9440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e74cdfd0145f8" /><Relationship Type="http://schemas.openxmlformats.org/officeDocument/2006/relationships/notesSlide" Target="/ppt/notesSlides/notesSlide2.xml" Id="R1bb1801a7f1c46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38ef7990b4d59" /><Relationship Type="http://schemas.openxmlformats.org/officeDocument/2006/relationships/notesSlide" Target="/ppt/notesSlides/notesSlide3.xml" Id="R61948c84264941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90799a2a3417d" /><Relationship Type="http://schemas.openxmlformats.org/officeDocument/2006/relationships/notesSlide" Target="/ppt/notesSlides/notesSlide4.xml" Id="Ra460c0ab791f43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fcc35e2d8467c" /><Relationship Type="http://schemas.openxmlformats.org/officeDocument/2006/relationships/chart" Target="/ppt/slides/charts/chart1.xml" Id="Rd768678968a94501" /><Relationship Type="http://schemas.openxmlformats.org/officeDocument/2006/relationships/notesSlide" Target="/ppt/notesSlides/notesSlide5.xml" Id="R6ff8274234a14d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6488e64904c1c" /><Relationship Type="http://schemas.openxmlformats.org/officeDocument/2006/relationships/notesSlide" Target="/ppt/notesSlides/notesSlide6.xml" Id="R0be95f7ab71c4c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5236cb8554114" /><Relationship Type="http://schemas.openxmlformats.org/officeDocument/2006/relationships/chart" Target="/ppt/slides/charts/chart2.xml" Id="R46fb9b431d1a40fa" /><Relationship Type="http://schemas.openxmlformats.org/officeDocument/2006/relationships/notesSlide" Target="/ppt/notesSlides/notesSlide7.xml" Id="R7b7908335ad44a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3a32405cf4fdf" /><Relationship Type="http://schemas.openxmlformats.org/officeDocument/2006/relationships/notesSlide" Target="/ppt/notesSlides/notesSlide8.xml" Id="R3d61c368e7724f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4bae2972841b3" /><Relationship Type="http://schemas.openxmlformats.org/officeDocument/2006/relationships/notesSlide" Target="/ppt/notesSlides/notesSlide9.xml" Id="Rf948c591179742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d89dee8a54fb6" /><Relationship Type="http://schemas.openxmlformats.org/officeDocument/2006/relationships/chart" Target="/ppt/slides/charts/chart3.xml" Id="R642616d834df48a9" /><Relationship Type="http://schemas.openxmlformats.org/officeDocument/2006/relationships/notesSlide" Target="/ppt/notesSlides/notesSlide10.xml" Id="Rb8c92f900d6845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01afa60304544" /><Relationship Type="http://schemas.openxmlformats.org/officeDocument/2006/relationships/notesSlide" Target="/ppt/notesSlides/notesSlide11.xml" Id="R2dd17100888d4d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80da41690442f" /><Relationship Type="http://schemas.openxmlformats.org/officeDocument/2006/relationships/notesSlide" Target="/ppt/notesSlides/notesSlide12.xml" Id="Rad7d47c993d241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7c30bea754bf7" /><Relationship Type="http://schemas.openxmlformats.org/officeDocument/2006/relationships/notesSlide" Target="/ppt/notesSlides/notesSlide13.xml" Id="R5b42bb33788542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2825dbeba4e68" /><Relationship Type="http://schemas.openxmlformats.org/officeDocument/2006/relationships/notesSlide" Target="/ppt/notesSlides/notesSlide14.xml" Id="Rc5cea6fb82b441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8612288464e1d" /><Relationship Type="http://schemas.openxmlformats.org/officeDocument/2006/relationships/notesSlide" Target="/ppt/notesSlides/notesSlide15.xml" Id="R027292f275034e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182188c9a4629" /><Relationship Type="http://schemas.openxmlformats.org/officeDocument/2006/relationships/notesSlide" Target="/ppt/notesSlides/notesSlide16.xml" Id="R427dc10e925349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abf75477c4554" /><Relationship Type="http://schemas.openxmlformats.org/officeDocument/2006/relationships/notesSlide" Target="/ppt/notesSlides/notesSlide17.xml" Id="Rcd48ecd529584b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3e80310e64e6d" /><Relationship Type="http://schemas.openxmlformats.org/officeDocument/2006/relationships/notesSlide" Target="/ppt/notesSlides/notesSlide18.xml" Id="R697b4798baab4469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r_q=30%</c:v>
          </c:tx>
          <c:spPr>
            <a:ln xmlns:a="http://schemas.openxmlformats.org/drawingml/2006/main" w="28575">
              <a:solidFill>
                <a:srgbClr val="1D4ED8"/>
              </a:solidFill>
              <a:prstDash val="solid"/>
            </a:ln>
          </c:spPr>
          <c:marker>
            <c:symbol val="none"/>
          </c:marker>
          <c:cat>
            <c:strLit>
              <c:ptCount val="8"/>
              <c:pt idx="0">
                <c:v>10%</c:v>
              </c:pt>
              <c:pt idx="1">
                <c:v>20%</c:v>
              </c:pt>
              <c:pt idx="2">
                <c:v>30%</c:v>
              </c:pt>
              <c:pt idx="3">
                <c:v>40%</c:v>
              </c:pt>
              <c:pt idx="4">
                <c:v>50%</c:v>
              </c:pt>
              <c:pt idx="5">
                <c:v>60%</c:v>
              </c:pt>
              <c:pt idx="6">
                <c:v>70%</c:v>
              </c:pt>
              <c:pt idx="7">
                <c:v>80%</c:v>
              </c:pt>
            </c:strLit>
          </c:cat>
          <c:val>
            <c:numLit>
              <c:formatCode>0%</c:formatCode>
              <c:ptCount val="8"/>
              <c:pt idx="0">
                <c:v>0.03</c:v>
              </c:pt>
              <c:pt idx="1">
                <c:v>0.06</c:v>
              </c:pt>
              <c:pt idx="2">
                <c:v>0.09</c:v>
              </c:pt>
              <c:pt idx="3">
                <c:v>0.12</c:v>
              </c:pt>
              <c:pt idx="4">
                <c:v>0.15</c:v>
              </c:pt>
              <c:pt idx="5">
                <c:v>0.18</c:v>
              </c:pt>
              <c:pt idx="6">
                <c:v>0.21</c:v>
              </c:pt>
              <c:pt idx="7">
                <c:v>0.24</c:v>
              </c:pt>
            </c:numLit>
          </c:val>
          <c:smooth val="0"/>
        </c:ser>
        <c:ser>
          <c:idx val="1"/>
          <c:order val="1"/>
          <c:tx>
            <c:v>r_q=40%</c:v>
          </c:tx>
          <c:spPr>
            <a:ln xmlns:a="http://schemas.openxmlformats.org/drawingml/2006/main" w="28575">
              <a:solidFill>
                <a:srgbClr val="047857"/>
              </a:solidFill>
              <a:prstDash val="solid"/>
            </a:ln>
          </c:spPr>
          <c:marker>
            <c:symbol val="none"/>
          </c:marker>
          <c:cat>
            <c:strLit>
              <c:ptCount val="8"/>
              <c:pt idx="0">
                <c:v>10%</c:v>
              </c:pt>
              <c:pt idx="1">
                <c:v>20%</c:v>
              </c:pt>
              <c:pt idx="2">
                <c:v>30%</c:v>
              </c:pt>
              <c:pt idx="3">
                <c:v>40%</c:v>
              </c:pt>
              <c:pt idx="4">
                <c:v>50%</c:v>
              </c:pt>
              <c:pt idx="5">
                <c:v>60%</c:v>
              </c:pt>
              <c:pt idx="6">
                <c:v>70%</c:v>
              </c:pt>
              <c:pt idx="7">
                <c:v>80%</c:v>
              </c:pt>
            </c:strLit>
          </c:cat>
          <c:val>
            <c:numLit>
              <c:formatCode>0%</c:formatCode>
              <c:ptCount val="8"/>
              <c:pt idx="0">
                <c:v>0.04</c:v>
              </c:pt>
              <c:pt idx="1">
                <c:v>0.08</c:v>
              </c:pt>
              <c:pt idx="2">
                <c:v>0.12</c:v>
              </c:pt>
              <c:pt idx="3">
                <c:v>0.16</c:v>
              </c:pt>
              <c:pt idx="4">
                <c:v>0.2</c:v>
              </c:pt>
              <c:pt idx="5">
                <c:v>0.24</c:v>
              </c:pt>
              <c:pt idx="6">
                <c:v>0.28</c:v>
              </c:pt>
              <c:pt idx="7">
                <c:v>0.32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4755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查询占原 TTFT 比例 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理论直接降幅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47556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η=0%</c:v>
          </c:tx>
          <c:spPr>
            <a:ln xmlns:a="http://schemas.openxmlformats.org/drawingml/2006/main" w="28575">
              <a:solidFill>
                <a:srgbClr val="1D4ED8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50%</c:v>
              </c:pt>
              <c:pt idx="1">
                <c:v>60%</c:v>
              </c:pt>
              <c:pt idx="2">
                <c:v>70%</c:v>
              </c:pt>
              <c:pt idx="3">
                <c:v>80%</c:v>
              </c:pt>
              <c:pt idx="4">
                <c:v>90%</c:v>
              </c:pt>
              <c:pt idx="5">
                <c:v>100%</c:v>
              </c:pt>
            </c:strLit>
          </c:cat>
          <c:val>
            <c:numLit>
              <c:formatCode>0%</c:formatCode>
              <c:ptCount val="6"/>
              <c:pt idx="0">
                <c:v>0.6</c:v>
              </c:pt>
              <c:pt idx="1">
                <c:v>0.6667</c:v>
              </c:pt>
              <c:pt idx="2">
                <c:v>0.7143</c:v>
              </c:pt>
              <c:pt idx="3">
                <c:v>0.75</c:v>
              </c:pt>
              <c:pt idx="4">
                <c:v>0.7778</c:v>
              </c:pt>
              <c:pt idx="5">
                <c:v>0.8</c:v>
              </c:pt>
            </c:numLit>
          </c:val>
          <c:smooth val="0"/>
        </c:ser>
        <c:ser>
          <c:idx val="1"/>
          <c:order val="1"/>
          <c:tx>
            <c:v>η=1%</c:v>
          </c:tx>
          <c:spPr>
            <a:ln xmlns:a="http://schemas.openxmlformats.org/drawingml/2006/main" w="28575">
              <a:solidFill>
                <a:srgbClr val="047857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50%</c:v>
              </c:pt>
              <c:pt idx="1">
                <c:v>60%</c:v>
              </c:pt>
              <c:pt idx="2">
                <c:v>70%</c:v>
              </c:pt>
              <c:pt idx="3">
                <c:v>80%</c:v>
              </c:pt>
              <c:pt idx="4">
                <c:v>90%</c:v>
              </c:pt>
              <c:pt idx="5">
                <c:v>100%</c:v>
              </c:pt>
            </c:strLit>
          </c:cat>
          <c:val>
            <c:numLit>
              <c:formatCode>0%</c:formatCode>
              <c:ptCount val="6"/>
              <c:pt idx="0">
                <c:v>0.58</c:v>
              </c:pt>
              <c:pt idx="1">
                <c:v>0.65</c:v>
              </c:pt>
              <c:pt idx="2">
                <c:v>0.7</c:v>
              </c:pt>
              <c:pt idx="3">
                <c:v>0.7375</c:v>
              </c:pt>
              <c:pt idx="4">
                <c:v>0.7667</c:v>
              </c:pt>
              <c:pt idx="5">
                <c:v>0.79</c:v>
              </c:pt>
            </c:numLit>
          </c:val>
          <c:smooth val="0"/>
        </c:ser>
        <c:ser>
          <c:idx val="2"/>
          <c:order val="2"/>
          <c:tx>
            <c:v>η=3%</c:v>
          </c:tx>
          <c:spPr>
            <a:ln xmlns:a="http://schemas.openxmlformats.org/drawingml/2006/main" w="28575">
              <a:solidFill>
                <a:srgbClr val="DC2626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50%</c:v>
              </c:pt>
              <c:pt idx="1">
                <c:v>60%</c:v>
              </c:pt>
              <c:pt idx="2">
                <c:v>70%</c:v>
              </c:pt>
              <c:pt idx="3">
                <c:v>80%</c:v>
              </c:pt>
              <c:pt idx="4">
                <c:v>90%</c:v>
              </c:pt>
              <c:pt idx="5">
                <c:v>100%</c:v>
              </c:pt>
            </c:strLit>
          </c:cat>
          <c:val>
            <c:numLit>
              <c:formatCode>0%</c:formatCode>
              <c:ptCount val="6"/>
              <c:pt idx="0">
                <c:v>0.54</c:v>
              </c:pt>
              <c:pt idx="1">
                <c:v>0.63</c:v>
              </c:pt>
              <c:pt idx="2">
                <c:v>0.6714</c:v>
              </c:pt>
              <c:pt idx="3">
                <c:v>0.7125</c:v>
              </c:pt>
              <c:pt idx="4">
                <c:v>0.7444</c:v>
              </c:pt>
              <c:pt idx="5">
                <c:v>0.77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4755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α：基线 TTFT 中暴露加载占比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允许剩余比例 r_max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47556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β 上限</c:v>
          </c:tx>
          <c:spPr>
            <a:solidFill xmlns:a="http://schemas.openxmlformats.org/drawingml/2006/main">
              <a:srgbClr val="1D4ED8"/>
            </a:solidFill>
          </c:spPr>
          <c:cat>
            <c:numLit>
              <c:formatCode>General</c:formatCode>
              <c:ptCount val="4"/>
              <c:pt idx="0">
                <c:v>0.25</c:v>
              </c:pt>
              <c:pt idx="1">
                <c:v>0.5</c:v>
              </c:pt>
              <c:pt idx="2">
                <c:v>0.75</c:v>
              </c:pt>
              <c:pt idx="3">
                <c:v>1.0</c:v>
              </c:pt>
            </c:numLit>
          </c:cat>
          <c:val>
            <c:numLit>
              <c:formatCode>0.0%</c:formatCode>
              <c:ptCount val="4"/>
              <c:pt idx="0">
                <c:v>0.10714</c:v>
              </c:pt>
              <c:pt idx="1">
                <c:v>0.0566</c:v>
              </c:pt>
              <c:pt idx="2">
                <c:v>0.03846</c:v>
              </c:pt>
              <c:pt idx="3">
                <c:v>0.02913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4755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w：纯前台生成时间中显存服务占比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允许 β 上限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2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885E7-3B35-4457-9387-3A3BDBC3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900E2-6F17-498D-9763-93DD35A3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667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A3DCC-FF6E-48A8-8B0D-D5356934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大模型推理性能理论论证 · 评审汇报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F8950-BF7B-4E83-B722-F12503AC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统一异构 KVCache 存储池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E869F-17A5-4D58-BAD2-0693C283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推理性能理论建模与 KPCL 通信需求推导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63506-0364-44ED-A71B-FF266FDE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条件可行性论证 · 以关键路径、资源约束和可验证接口为主线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D2FEB-ED5C-47C9-B3A1-E08CA12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KVCache：大模型历史 Key/Value 激活状态缓存；TTFT：首字生成延迟；TPOT：每个输出 Token 的平均生成耗时。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45361-F10D-45E5-B20A-091CE98F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KPCL：本项目底层通信接口库，封装通信机制并报告完成与错误。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ED1AE-D5D3-4A65-A339-6EF95BA3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3333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72163-AC82-4E9E-B75D-6986C4F8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 关键路径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EB51C-FA95-40AA-9148-6DE24C8D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查询只是局部环节，收益取决于暴露加载占比与可重叠依赖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3C531-D45B-4E79-9EC2-27CD148A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3333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03EE7-B138-4C29-B3F5-919BB2B6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TPOT 干扰预算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DFA88-CE5B-43D9-98A4-0EC54B86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后台干扰需要单独预算，保证前台逐字生成稳定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6B0A9-1445-4DAC-8812-61376A9A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05125"/>
            <a:ext cx="3333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9E34D-7233-416F-BE98-F985D4CC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尾延迟与库能力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7252D-975A-444F-8B19-756AB3B4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把突发、组完成、服务下界转换为可执行通信契约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D55D7-FB26-4A79-9137-62606F58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评审目的：确认哪些机制值得进入最小验证闭环，哪些结论仍需参数校准。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D24B1-27CF-43AA-977A-D78EBF46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0A118-B250-45E2-9AF5-C40D86F5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3D72C-4310-40B0-AB35-74D3484E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93055-C787-489B-82FB-A2606C56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当前交付的是条件化可行性与验证边界，不是无条件的端到端性能承诺。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1119E-9DE2-4B60-BFE1-87998381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2026-09-07  ·  Luna 构建版  ·  正式演讲版 / 预审提交版</a:t>
            </a:r>
          </a:p>
        </p:txBody>
      </p:sp>
    </p:spTree>
    <p:extLst>
      <p:ext uri="{BB962C8B-B14F-4D97-AF65-F5344CB8AC3E}">
        <p14:creationId xmlns:p14="http://schemas.microsoft.com/office/powerpoint/2010/main" val="793895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267482-B4F7-42A1-AB5F-FCF1BE78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证据边界：已有查询结果证明了什么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45A51-9B44-4F03-9FC9-C86BFDED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先把“已知观测、理论算例、待测参数”分开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6BD13-467A-494E-870C-8F280C23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6B69C-8C2A-404C-BA0F-ED2BD386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4E203-E4AF-4F0F-A543-10A8A99E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57250"/>
            <a:ext cx="2524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C09A8-A92D-40D6-A0EB-FC74CEB9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14400"/>
            <a:ext cx="2333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用户口述观测 · 绝对值未知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571500" y="1257300"/>
          <a:ext xmlns:a="http://schemas.openxmlformats.org/drawingml/2006/main" cx="10001250" cy="2305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2571750"/>
                <a:gridCol w="2571750"/>
                <a:gridCol w="2762250"/>
              </a:tblGrid>
              <a:tr h="4610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当前可采用表达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不能由此推出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下一步校准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16K 单请求查询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几毫秒级；RDMA 几百微秒级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并发容量、生产分布、P50/P99、端到端 TTFT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补齐计时起止、重复次数、并发与分位数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URMA 相对 RDMA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查询时延进一步降低约 30%～40%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 同比例下降；更不能推出 QPS 改善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测量查询占比与排队影响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理论模型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给出收益条件、失效区域、接口诉求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目标平台已落入可行区；E0～E3 已完成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用最少预验证收紧关键变量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自研增量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只与已有缓存系统的共同能力做比较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把通用命中收益再次归给自研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固定基线后测暴露加载占比与控制开销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00222-59A7-484A-870F-EDED6F9E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C947C-4526-4E85-A70D-08777D6C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评审要先接受的三条边界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CD5D5-66BA-440B-BF62-E3E29B86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单请求查询数据只支持“查询局部收益”判断。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9CF15-C308-4B51-8CDB-9DE9102B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理论数字均标注条件边界，不代表实测或保证。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ED0ED-8CDC-4E37-A78C-00BE8599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E0～E3 是验证目标，不能写成完成状态。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9EC78-BA2B-4FB1-AAEC-0847BE8D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524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DFD72-00D0-4285-93EB-09A8F10D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本次主论证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395B8-AB18-41CE-B371-B13A2630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把性能问题拆成三个可复算命题：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BD24C-669A-424C-A0AC-3BAFC5D0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加载是否暴露在 TTFT 关键路径上。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094B7-7036-4036-99C6-8B743A86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后台操作造成的前台有效显存服务损失。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BCB80-EFF7-473E-85F8-01237168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突发、组完成和服务下界如何进入尾时延。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EB6B4-517E-4D3C-89E5-3590AE98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D6437-202F-4AB5-AF34-B30BFD03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64B85-376C-4F6A-BDE4-1004B955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0DCDC-D12F-4751-BD75-4531EECC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证据分级：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36C52-89B4-4651-8291-0D59488C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先证明“有条件可行”，再用最少验证收紧参数；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不把局部查询加速当作整套系统成绩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84821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0CB9A6-95F6-484D-BD64-6E9CFDE2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四类业务场景：指标、依赖和边界必须对齐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4A21B-936C-4688-AE39-0BE8A7D8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复用、持续生成、并发加载、冷会话恢复分别建模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84FFE-394B-489D-BEF8-3FB4449F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C94A7-5E41-4DBA-9E8D-A67B40B6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4B187-2C6C-4CF5-92E5-1D15D969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9094C-D1EA-4A2A-BD53-70857882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长公共前缀 / 多轮会话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48E16-5864-4135-B238-E6DF511E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首要指标：TTFT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A1B14-88BE-404E-9C3E-1912909C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查询、加载、设备接入、剩余输入计算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860AB-4B8A-47E6-9F80-5631C6CE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前缀复用减少 Prefill；收益要扣除加载与准入成本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FEFD2-B196-4E32-8B05-6575B94C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1094C-9953-46CA-9A43-8D0B6684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90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已接入本地缓存的持续生成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E60A3-99C5-4D22-8213-3FF0F872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049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首要指标：TPOT、ITL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078F6-E594-462C-82C8-AD2A8B95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每步模型计算、显存访问、多卡通信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F9565-A93D-4804-B95F-E7963768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后台操作影响前台有效显存服务速率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7A738-AABB-4E01-B26C-A7577C03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F0ACC-8A13-4D75-8A0D-1A7A98B2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多请求、多源、多卡并发加载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0E679-1377-4AF6-83FC-0E2010E5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首要指标：TTFT P99、ITL P99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4756B-93AA-4AB1-8A31-0276FB0C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汇聚队列、最后一个必要子流、共同接收资源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455E5-B3BB-4BDA-9635-293171DB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组完成由最慢必要成员决定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4DF82-86F5-41C8-BF78-13D169F4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F41FB-F683-4875-909D-FBBA5CC5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冷会话恢复 / 容量压力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5313D-DA57-4B9E-ABFB-A3F81333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19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首要指标：TTFT P99、恢复期 ITL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02EEBD-4C28-4037-9832-2F7DDF1D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存储读出、正文加载、换出进度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C951E-F812-43E6-8F6D-882D35F9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平均容量可行不等于突发时限可行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2A37E-F51A-4DF7-90F0-2D37F046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514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705A71-68EC-4B33-9A91-B00C3ECF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 = t₁ − t₀（入口到首 Token 可见的时间）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A6FB4-1637-4450-9374-E691D764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05375"/>
            <a:ext cx="552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541A98-98B1-45EE-8E87-85AE0E3B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91100"/>
            <a:ext cx="529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TPOT = (t_M − t₁)/(M−1)（M&gt;1；输出 Token 平均生成耗时）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9A8C97-1F0A-4DB9-BB34-EE00B245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ITLⱼ = tⱼ − tⱼ₋₁：局部停顿；客户端按块接收时不能把块间隔直接当成逐 Token 间隔。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B4AC01-B912-46D9-8E1A-8CCAC28E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FF2180-AD4C-4143-9644-692463B3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50273-7CFF-46DC-94C8-5BB3FBE9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D0EA7F-0D4E-4C20-BE98-F8E28073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指标口径：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D989DD-B2E9-4C22-A3F4-A935CCA2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从同一组时间戳出发，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失败与超时请求留在到达分母中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，P99 不能靠删掉最慢样本得到。</a:t>
            </a:r>
          </a:p>
        </p:txBody>
      </p:sp>
    </p:spTree>
    <p:extLst>
      <p:ext uri="{BB962C8B-B14F-4D97-AF65-F5344CB8AC3E}">
        <p14:creationId xmlns:p14="http://schemas.microsoft.com/office/powerpoint/2010/main" val="107230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B06977E-0B94-45B6-B54C-9C418F86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TTFT 的关键路径来自依赖图，而不是模块时延相加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0EB95-EA48-422B-95CC-9AFB99FA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DAG（有向无环依赖图）把可并行和必须等待的关系写清楚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604DA-F48D-4844-968A-A9BF58EE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7C638-0465-4F47-8CFD-13D781B9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63F46-5368-4C98-831F-2439CAC5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4100C-7249-4982-97E4-176C587C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08BFD-6F41-406B-8D1B-72AD57AF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E504F-A3E4-44F1-AD92-B26D5B65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入口与排队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47258-F23F-4382-983B-71029298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2935D-B87E-48EC-9805-E9C99FCE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身份及候选查询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86CA5-7DAD-494A-9429-F23403D5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110F1-A891-47B4-94DB-BCC8B699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资格校验与加载决策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C3F48-67DD-45FE-A2A4-BB4B9903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75425-0DD6-4FA7-A5BB-872F6840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源持有 / 目标预留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558DE-F02E-4519-B22B-5EFE708B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3BFEF-DBEC-4D7C-AD62-CCF09926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批量提交 / 正文加载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E5ED2-A308-4C14-94E0-A91FEFC0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7771C-8131-4441-A361-AC1144D9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目标设备可消费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F90D6-A135-442E-A2FA-1E2714BB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83674-DB6E-4FEB-85B7-379CD335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2897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必要多卡范围就绪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C6846-3007-49E5-93E5-2093CFAB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4800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BDA7D-387D-47C8-91F1-4A867058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2897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剩余输入计算 / 首字返回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409C6-978E-404F-A3C4-BB4C1534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95475"/>
            <a:ext cx="114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ADB93-3EA6-4294-9B5B-EC0B3E77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8097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02D950-34B8-4162-9BB7-26AE3F6B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95475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C51E4-44B4-40AB-B3F4-2FD19DD2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D7814E-C9C2-4594-9968-7A65E689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954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C6003C-4EBC-4773-8C2C-85620491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8097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BA197-5662-42F5-9B53-43F95A6E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95475"/>
            <a:ext cx="495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03F198-D517-488A-ADDA-06C266FA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BB6559-433B-41CE-A688-6B8553CF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95475"/>
            <a:ext cx="114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9B00E7-9CF7-4E4B-A087-0AB7EFFF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8097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3099EC-8212-4DA5-9CEF-098DB8AD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17170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7FE1C-F57C-41B8-9860-903DE7CE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1571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590F58-E560-4E1F-9A3E-5B8619D8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953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C455FD-DCBC-4381-A0F4-7E6AD69F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1905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39D01E-8713-4263-8098-D2C115AF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24225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B55A66-76A7-4006-B9E3-2B1160FE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385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E9013A-729A-4761-85A7-ECF06135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1619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351B9A-85F4-4AA5-B621-32DD6C06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238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框架重算准入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B50060-3301-4140-A6F7-A7BD273C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71700"/>
            <a:ext cx="953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88A134-F427-4917-86F4-099D3887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44118A-C5CF-4B68-8F49-7DAEACE0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476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BA3FF2-B640-4B2A-9CF1-8874435F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0045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947671-5575-420A-A241-96A4815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24250"/>
            <a:ext cx="190500" cy="1905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564D72-A653-4F86-882C-7FDBC758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723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62A454-7C1B-438E-8541-AB56CD5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01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fᵥ = dᵥ + max(fᵤ)（任务 v 完成时刻 = 自身耗时 + 前置任务最晚完成）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E168AD-AE70-4A11-AE66-2C92403D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E8C472-6492-4010-90F4-6F1ED054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三条记账规则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7FB5B3-678D-41B5-B7B9-17E73FFC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组完成已含数据到齐，后续只加额外协调。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FDF227-5C88-40A8-ADF4-41D20F8D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可见性若含在传输完成定义中，不重复添加。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17806F-F6C5-4F22-8185-75997D46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网络排队、存储读出和布局转换只记一次。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ECE4D3-14AD-4929-8377-0F04DDC1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共享网卡、显存、CPU 或计算引擎的排队要作为资源约束加入图。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633ED9-C6D0-45AC-BE58-38F0E2D8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574B08-675D-4A35-9D6F-EDA8F78D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F96AE9-2111-4F4B-B0F4-B5DD8AB2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23CC5B-FDBB-4021-AEEE-72705F70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关键路径：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C07EBD-A2D9-4294-8C53-15F9B011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每个节点只能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按真实依赖结算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；缩短非关键节点可能不改变 TTFT，改变队列负载还需重算日程。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FC9A86-2EE9-48D2-ADE4-52AF97D1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4 节 · 公式为条件化模型</a:t>
            </a:r>
          </a:p>
        </p:txBody>
      </p:sp>
    </p:spTree>
    <p:extLst>
      <p:ext uri="{BB962C8B-B14F-4D97-AF65-F5344CB8AC3E}">
        <p14:creationId xmlns:p14="http://schemas.microsoft.com/office/powerpoint/2010/main" val="856524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D385AC-F80C-48D4-A5D4-5445FAAF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查询 Amdahl 上限：URMA 局部加速不能单独承担端到端目标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69C22-85F7-4A12-8C4F-5ECF1CA9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只有查询占比足够大，局部收益才会显著暴露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9986E-6C71-4EC7-8F73-016EE138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A6FD0-F7B4-49D4-ADFC-28942033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4FC9C-F950-45CD-A76C-68B2B750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57250"/>
            <a:ext cx="2524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E48A1-255F-470A-AC96-15B677C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14400"/>
            <a:ext cx="2333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用户口述观测 · 绝对值未知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CC7EB-96C1-44B3-9A9D-8CC2CC46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E75CF-6B2F-4393-BEFD-55FC1D76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662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 直接降幅 = r_q · f（r_q：查询自身降幅；f：查询占原 TTFT 比例）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20654-5569-4BB5-8CBC-ACDF5B0D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若 r_q = 30%～40%，目标 γ = 20%，则查询占比需满足：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963D4-266C-42A9-B004-7533DDCE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04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98235-1426-4D79-9C75-7FE57ECF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81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f ≥ γ / r_q  ⇒  f 约为 50%～66.7%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E3455-B1AE-43B5-B774-8D85F484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524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55CFF-A952-4568-8DB8-362EB023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边界解释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9E1AC-B7B4-4375-B617-084E165F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若查询只占 TTFT 的 10%，局部降幅只折算为约 3%～4%。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08990-2E21-4602-B505-B744B7C5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查询并行于其他工作时，直接收益可能更低。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BE20F-D9A5-40FC-ADD2-826FD03B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查询服务接近饱和时，额外排队收益需另建模型。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666750" y="4000500"/>
          <a:ext xmlns:a="http://schemas.openxmlformats.org/drawingml/2006/main" cx="7239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68678968a94501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FC54C-0F7C-48F0-A95B-5F61EC0A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429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A2790-83E2-49AD-9777-184F4034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86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曲线读法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3F36E-CECB-4F60-96A9-2820083F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482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横轴：查询占原 TTFT 比例 f。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BEF1A-7224-4990-A748-F51D2AA0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纵轴：理论直接降幅 f·r_q。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B337D-D0C3-4827-AE84-E3C9B8E2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816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不含并发排队和关键路径变化。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5026C-53D2-4316-BD0A-3E99CFB5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A4927E-E4E9-4D8C-9AAF-47134616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4E2A08-8C08-4FD7-BF20-EF318F2A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1DE64-E89F-4891-8A89-B71787D5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查询结论：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45E516-5C77-478B-8C7B-5D1D938B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已有数据可作为查询环节的协议对照，却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不足以证明端到端 TTFT、QPS 或 P99 改善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020A1F-0F85-4D41-A185-C0E98E6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5 节 · 查询观测为用户口述，绝对值与分位数未知</a:t>
            </a:r>
          </a:p>
        </p:txBody>
      </p:sp>
    </p:spTree>
    <p:extLst>
      <p:ext uri="{BB962C8B-B14F-4D97-AF65-F5344CB8AC3E}">
        <p14:creationId xmlns:p14="http://schemas.microsoft.com/office/powerpoint/2010/main" val="924166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0BDADC-1927-427A-B25A-AB899775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复用收益先从字节量和计算量算清，再反求加载预算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B068D-E2EA-494B-83F0-8822190A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KVCache（大模型历史 Key/Value 激活状态）复用的收益不是命中 Token 比例的线性函数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CA1D7-83D9-4D6B-B64A-AA6B8739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D05CD-4099-4CDC-894B-CF377B0F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26457-AD57-4A0B-87A5-A69BF1CD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82070-B986-4CF3-8BB2-84BFD2F1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11091-0030-401A-8F4E-BA272C67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C9F9F-80CA-40D1-985B-BAD849E2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V_logical = 2 · L · p · H_kv · d · 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97279-1324-4109-8C5B-934C2418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L：层数；p：可复用前缀 Token 数；H_kv：KV 头数；d：每头维度；w：每元素字节数。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5A7B5-EFA6-4ED5-BED1-443BCF96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23DFC-7DA6-4666-AEA1-68285E7C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ΔF = a·p + b·p(p+1)/2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3D92A-93E9-4120-A9CD-84E2C42B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a：每 Token 投影/前馈计算系数；b：因果注意力位置对计算系数。后缀仍需对前缀做注意力。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39698-6E90-4BC3-9D2A-BE9671DA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38250"/>
            <a:ext cx="5334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126FD-C111-4A8A-84F8-13657E50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物理限制只给下界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753DE-E119-4CBE-82AB-EE6E5C48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B47BE-FCF9-4F79-A033-25AB9D62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 ≥ max(F / P_max, V_mem / B_max)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C1CE6-F74E-4B6F-BBE8-81751E83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P_max：计算能力上限；B_max：显存/总线带宽上限。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CF045-2CD3-4504-8FE0-450B2C4C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峰值带宽用于排除不可能情况，不能直接当作可交付上界。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CD262-A4A0-47D7-909F-214DF6EF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实际字节量要覆盖布局、量化、对齐、重传与副本。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13892-C60A-4EB5-83E2-3862B6A6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104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069A8-8350-41A6-A51C-24B5D882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 TTFT 目标反求加载预算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CF4C5-75EF-4FCD-8D41-6658DB74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T_reuse = U₁ + H + A + V/B + P_s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C914E3-5258-4670-A4B4-FA57DF54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R_budget = (P₀−P_s)+(U₀−U₁)−H−A−γT_recompute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480315-37C9-4AF2-90D1-2737D6F7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672E5-385D-4595-85CD-5553EA06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52975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B ≥ V / R_budget（R_budget&gt;0 时的有效传输速率下限）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39743-7F10-43E8-9566-6BA03C0F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V：经过该资源的实际字节量；B：有效传输速率。若 R_budget≤0 且 V&gt;0，则顺序加载路径无法达标。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709693-1A24-4EA1-BC3C-CCFC97CD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E9606-19BC-442D-9F57-AA759BF6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73A927-2E82-46D9-A7CC-8C4EC0C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34ACB6-E6BC-48A8-A069-ADAAB958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计算基础：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7D648-086E-4BC7-8096-1AF8E253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先按模型结构求真实字节量与可节省计算，再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把目标降幅转成可检验的有效带宽预算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020D2B-BBDF-41E5-A3BD-0B74E333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6 节 · 公式与曲线均为理论算例</a:t>
            </a:r>
          </a:p>
        </p:txBody>
      </p:sp>
    </p:spTree>
    <p:extLst>
      <p:ext uri="{BB962C8B-B14F-4D97-AF65-F5344CB8AC3E}">
        <p14:creationId xmlns:p14="http://schemas.microsoft.com/office/powerpoint/2010/main" val="556318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D9C5F2-4D20-4223-93C9-A30456B8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自研增量要和已有缓存基线比较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A9072-1418-4E9C-B5FA-C78C153B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只有减少基线仍暴露的瓶颈，才构成独立收益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5D3A5-C9CA-4969-8E44-4B5DCF55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CE90B-9411-4AF0-92F1-41D26F35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D0C6D-EBAC-420C-BCF9-E3D20A71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BE995-0D98-4049-965D-CC57AD79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09172-F6E8-4A47-8B37-80E35D4A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361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FD724-2FA5-4FA9-8FF2-617BD329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G = α(1−r) − 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EB42B-87A9-4B43-A8F5-4E5BBF9D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α：基线 TTFT 中暴露的加载时间占比；r：增强后该时间相对基线的比例；η：新增控制开销占比。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322D1-E5F4-4165-9B0E-DCF5938C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AAC18-6694-4A4E-AFC7-B934D925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G ≥ γ  ⇒  r ≤ 1 − (γ+η)/α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2E643-3F0D-483D-96DD-1B99CBE1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0"/>
            <a:ext cx="5524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F3A37-3CEC-4074-B105-5D330069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47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评审要问的基线问题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2DF09-F397-4C57-ABDD-BF1CA280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基线是否已经支持前缀复用？若支持，重算节省不重复计入。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B6238-A4C7-483C-A09B-84598646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基线是否已有逐层加载、设备直传或前后台限速？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FB83E-69D0-4DAA-894F-0A9DD4B8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新增控制开销是否仍小于暴露瓶颈空间？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762000" y="3524250"/>
          <a:ext xmlns:a="http://schemas.openxmlformats.org/drawingml/2006/main" cx="68580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fb9b431d1a40fa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47B09-BB1E-49A1-B112-10D1F71E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固定目标 γ=20%；α=50%、η=0% 时 r_max=60% 作为公式校验。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00D29-DB50-4F03-9A9B-A30D7358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8AE5B-DDA2-49B6-8556-F05C4D34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不能做的归因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13BEB-6553-4D1A-BEBD-8760869C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不能把通用命中收益再次写成自研收益。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D1FD4-22BA-45C9-A987-BDAEFE78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不能把查询、流水、容量提升的百分比直接相加。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3910CD-A2A3-47E6-BF24-D8D23E59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29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基线已有能力必须逐项核对。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0B5E8-B4AA-40C4-BE2E-001E4A15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D9C3F-ACEF-4AFB-9CFB-DB4CDEA0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22E17-59E4-4733-9330-19F07D70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5D0DA1-D989-494C-B563-6FF1C10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自研价值：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508CEF-A02F-44EF-AFDC-60313AD0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自研增量的证据是“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相对同等缓存能力仍减少关键路径或资源冲突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”，而不是重新计入通用缓存收益。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3DE48B-BB08-4C1B-B0BA-664D2F9B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6.4 节 · 基线能力需逐项核对</a:t>
            </a:r>
          </a:p>
        </p:txBody>
      </p:sp>
    </p:spTree>
    <p:extLst>
      <p:ext uri="{BB962C8B-B14F-4D97-AF65-F5344CB8AC3E}">
        <p14:creationId xmlns:p14="http://schemas.microsoft.com/office/powerpoint/2010/main" val="983452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FD427E-DB72-4473-80FA-03DBBBAB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逐层流水的收益有构造性证明，也有明确边界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98AC1-A044-409D-8E64-93A97443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流水能减少暴露加载时间，但端到端收益取决于真实依赖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321EC-7B4E-4100-AEAA-B21F66E7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4B231-991B-492C-BE9E-9F7BEC0F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258AE-7681-4034-A839-99694B80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9DBDB-A068-4C16-AB44-B441CE30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B7949-CF15-4BE8-B7FE-6BBCC9BD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19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50269-9FEE-43DA-9AE4-32961359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96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A_l = A_{l−1}+x_l；F_l = max(F_{l−1},A_l)+c_l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0E0A1-E469-41EF-B7AC-1D3EC271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A_l：第 l 层数据可用时刻；F_l：第 l 层计算完成时刻；x_l：传输阶段时间；c_l：消费计算时间。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857FF-F460-4841-9D4F-05C646B6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3FFCC-16DF-4FEC-9809-FF55AAE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T_pipe = x+c+(L−1)·max(x,c)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9113A-6D75-4D8B-A31B-CE6AC7E8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BEB58-156A-492F-89C4-9B9E548E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T_serial = L(x+c)；ΔT=(L−1)·min(x,c)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7659C-5B92-486E-8A94-76ED994F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5143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C7C3C-45E5-473F-9C40-B2F73DA8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66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理论算例（条件明确）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E91CA-5FF7-432D-B29D-1CACE2FF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47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当每层 x_l=x、c_l=c，流水与计算可重叠。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1ECDC-F02D-41B7-A2FB-60598FE2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当 x=c，子路径最大相对降幅为 (L−1)/(2L)。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B7716-1241-4112-8D04-12C72CD1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33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▸ L=32 时为 48.4375%，仅属于加载+计算子路径。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6BDC8-A0AB-4795-9F87-031B3F9D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若并行后 x′、c′ 改变，必须重新计算。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F922B-42D2-4EBA-BB47-25B12AE3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串行：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1F4C8-1FE7-4F8C-BA89-562A002F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1A812-F2C5-4FE9-843D-D71CCDB1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99DA5-AB17-4C9E-A0CD-4881B8ED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55291-A56A-467A-935C-A21B56BB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F3881-BCA6-4850-9962-FA71C923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E42F0-280E-4D1D-86C0-4DE2D1FA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C1CA0B-AB93-4E67-9BD4-858A5579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2319B-5754-4D9D-B386-E1700933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786358-2FD2-44DF-ABAE-721684E4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6F291B-F170-4B89-B9B1-7D2A254F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61A968-AFBE-4AA3-A131-F0F6F042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AC2C14-9B1F-441B-9F4B-7CD03735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0C5D2C-3579-44A0-87AC-945FEBFB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9B050F-86BC-435D-B6E6-EA0DA7E7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3868D7-6C98-4364-B2A4-01730BFD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5D1BB9-D2EF-4CA1-8A24-1640F114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859AAF-C6CA-4F1B-A8C9-5728972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流水：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A82552-7B06-438C-BCA0-6491C81D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EC15AF-433D-40F8-ADC1-1883AC07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883229-8CE1-46E4-9F85-7CFFCC79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E21CBD-9432-401F-AD50-FE92135D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8799B8-7282-4CB0-9812-CECEF7A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8A98CA-DA82-40DD-849A-1F157943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5AA617-68E9-4E53-B858-EDD428F6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DFB50C-B9B5-4A50-AC36-9DA0F855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26A84E-898A-4665-ADD2-2C098590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F7FF8E-6DDF-4BBA-81A4-0ACC4ECC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23769F-AFFB-4C9D-9F9F-1E3A4B65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6BC2FB-3997-4586-ADD0-FE333FAB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102D38-C1A6-4A61-A2EF-B973A643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272C52-BBAF-4F20-8BA0-43A112C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E809D4-23E8-4EF1-96D1-0A329A9C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3535E8-3B9B-4DF0-8B77-9EBD30BA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18D7F0-A445-4DF0-8C78-E4E80530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图示只说明构造关系，不代表目标设备时间比例。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C96BBD-C7EA-41E6-BF0E-F1F447A9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0253E8-35D1-45F2-9489-9968E29F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01E044-703D-4564-A26B-B9C6A0A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B46AB3-AFB3-4334-9C4A-1EB467C8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流水结论：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9725E5-218B-48B5-BDE7-72F4313A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只有在框架允许逐层消费、计算可重叠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、可见性正确关联且资源未被拖慢时，流水收益才成立。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6C64BE-4BDC-41C9-965D-0A50991B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7 节 · L=32、x=c 仅为子路径理论算例</a:t>
            </a:r>
          </a:p>
        </p:txBody>
      </p:sp>
    </p:spTree>
    <p:extLst>
      <p:ext uri="{BB962C8B-B14F-4D97-AF65-F5344CB8AC3E}">
        <p14:creationId xmlns:p14="http://schemas.microsoft.com/office/powerpoint/2010/main" val="2142931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B9618D-9162-4CC8-A0CF-69C14F24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流水能否落地，取决于框架与通信事件是否可表达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3C367-E4F3-475A-83AE-32ABF71E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把“逐层可消费”拆成可验证的库能力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F4EE7-3AE1-4990-BBCA-961D5EED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E4504-5ED2-42F9-BF9F-AE131BC6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E8E39-DBF5-4CCF-949B-40A7C3FC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33375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5E6F0-9501-4FA6-AEAC-540DA608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前提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38CA3-7F35-4288-955E-75192589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962BA-CA2E-457F-9927-E0548F8D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框架允许按层或合法范围消费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A263F-145E-4227-807A-AFC2DF40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14E13-63B3-481C-9FB4-1BD44A13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预取目标显存有足够空间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5BE31-BC42-481E-BC52-FD405866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662C9-7BC7-4576-9315-3C9EFAFC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传输与计算可重叠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6D0C9-E1F7-4032-999C-D7E89F83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06C27-B957-4F8E-A7E0-671BC161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设备可见性与依赖一致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6E94E-8EF8-435B-900D-4803DE28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33500"/>
            <a:ext cx="333375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F9689-B468-4A5E-A58E-973E7E57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库事件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F8B41-7E20-4B17-B5B5-F94DDDAD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76D68-55E3-4DFA-9513-18CCCE14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288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分段完成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AA756-70E0-4A56-8AEC-BEB21C3C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384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9F857-1763-4F45-86C5-17A38B08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目标可见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C1CC2-8735-4E5C-A78F-C3D4F145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DEAF9-ED55-489A-AF29-1536D562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依赖满足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C058E5-F3A7-46EB-BF23-C5D2C433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671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2ABE7-3B64-43BC-886E-62193A92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取消 / 超时 / 受控失败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355D2E-F136-4AE3-9759-A7EF5B10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33375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D92926-BEEB-41F5-8803-E360DE15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24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调度约束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59A0A-12A0-43B9-8415-B108EA9B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6E8537-EB63-4E95-AF4F-4C4E4AE6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288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限制预取深度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6813D5-2595-4F6D-A26C-8759F3F1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3B5EE-AEDD-48DD-8EBA-892E7991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按当前最紧依赖提优先级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8DFF17-039F-4C2C-AC0C-BBE07D83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642E0-A428-4903-8A55-4336B32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不永久抬高首层大数据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F5B28C-2D45-430E-9DCF-E5E8CC80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C9C292-6A93-4CC7-9685-E1BBB36C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按净收益与剩余时限选择加载或重算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E52BBA-FFEA-445E-B926-F2E95E66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104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CD7C07-F2F2-42D8-B6D5-6C596277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硬约束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987025-FFB2-48B8-ABD7-214F15C1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若源侧逐层生成、并行网卡、布局变换或资源争用改变日程，必须回到完整依赖图重算；不能沿用串行时间。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7EC68F-8887-433C-856B-DE0E262A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KPCL：底层通信接口库，封装通信机制并报告完成与错误；需求应写成可观测事件和服务约束。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F47DD2-4CF9-4231-B0AC-74B584A0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FBCDC2-5267-4CF3-80A3-487B99FD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DFC90B-D20C-4F2D-8F42-9DA64674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F2D02F-C72A-4C09-BD77-5943C02D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接口诉求：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7734C1-3D4B-4A24-95D3-2AEBAA35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KPCL 需要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表达分段完成、目标可见、依赖事件和撤销边界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，才能让流水成为可调度对象。</a:t>
            </a:r>
          </a:p>
        </p:txBody>
      </p:sp>
    </p:spTree>
    <p:extLst>
      <p:ext uri="{BB962C8B-B14F-4D97-AF65-F5344CB8AC3E}">
        <p14:creationId xmlns:p14="http://schemas.microsoft.com/office/powerpoint/2010/main" val="1213633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4170F4-3234-42F0-BDCB-BC68ACB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TPOT 干扰预算：β 是前台有效显存服务速率损失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AA35B-7E5A-461B-B172-F9B8D14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TPOT（每个输出 Token 的平均生成耗时）要落到前台服务速率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85E3E-6CE2-4BBF-841B-58B6DAED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B9EC9-A019-4916-935E-BBD3845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42ED3-B41E-4203-B7C2-D6091658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A4734-EE68-459A-92A2-2C73FE3D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1101E-8915-47AA-AFF8-24A6D1FC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6DCD1-DD54-443A-8054-2491CA60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τ(β)=t_f + m/(1−β)；I = wβ/(1−β)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AEF30-33FF-4DB2-9517-66F1292D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β：后台干扰造成的前台有效显存服务速率损失；m：显存服务时间；w=m/(t_f+m)。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5F498-97E2-4BED-B955-45AFADED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76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95D9A-182C-40D4-A682-A53915F6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β ≤ ε/(w+ε)（当干扰目标 I≤ε）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666750" y="3333750"/>
          <a:ext xmlns:a="http://schemas.openxmlformats.org/drawingml/2006/main" cx="5905500" cy="190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2616d834df48a9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7A360-565F-4B7A-A62E-0C9127AD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4572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5F5F9-02DC-4BEC-8396-8EC5DE13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52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理论算例：目标 ε=3%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6FF9E-D904-4C88-BED4-67DCCDB2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33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w=1 时 β≤2.913%。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8F719-A6E6-4278-9F3C-EC8E144A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9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w=0.5 时 β≤5.660%。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E396E-D918-489E-AD2F-2D836C4E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▸ β 不是后台 NIC 带宽占比。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BA9AE-DD9C-4F70-AD96-7C80D67C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1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需要识别会降低前台有效显存服务速率的后台操作。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B2400-66DF-41CC-9BC8-9BD66230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29250"/>
            <a:ext cx="3143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6225E-66B8-4C70-AFB2-C69E6A3E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5149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∂τ/∂β = m/(1−β)²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8293D-8C28-41A4-9CAB-8C1F381D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48350"/>
            <a:ext cx="447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固定模型、批量、上下文及其余时间时，β 越高，相同干扰波动带来的逐 Token 时延波动越大。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570AA-8E99-490B-9AF8-E6629F8F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3A73B6-7A16-4D9E-AA78-64968C16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003A8D-5DD8-4BCF-ACC6-827F124C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DE4B7-4755-4A2C-8889-F7E7BE2F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TPOT 结论：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F2307-0F3D-4D7A-9E43-76F0123C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仅给网卡分配逻辑队列不能证明 β 已受控；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前台损失预算与后台最低进度必须同时满足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94A718-C9FC-41A6-AFD1-A8E20F42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8 节 · β 为前台有效显存服务速率损失</a:t>
            </a:r>
          </a:p>
        </p:txBody>
      </p:sp>
    </p:spTree>
    <p:extLst>
      <p:ext uri="{BB962C8B-B14F-4D97-AF65-F5344CB8AC3E}">
        <p14:creationId xmlns:p14="http://schemas.microsoft.com/office/powerpoint/2010/main" val="8725378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FF258-108A-4118-8806-0C1313B9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尾延迟突发：把“能提供的服务”写成资源约束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D2FC7-61BC-4243-84AD-ED0DAC40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确定性边界约束突发、最低服务和启动延迟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93D9E-ED32-452D-A7AF-ECBD047E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DB1A8-21C2-4402-9AB1-C7DBDC88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C5986-F7AE-4488-9674-74308AA2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C5184-0B93-4B39-8077-D07CCC8E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6FF0F-8C33-4250-BD79-656B6200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EF1EB-90ED-424D-971E-B6769B7A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A(t+u)−A(t) ≤ σ + ρu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96E4D-AD96-4901-BCA1-F6A0E35E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σ：允许突发字节量；ρ：长期到达速率。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B0D45-ECFB-4395-B3FD-729774D8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BC7D6-D09C-4F62-A6E1-4E6BFF91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B(u)=R[u−θ]₊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ABB5B-B8BD-468F-8DC7-72E684C8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R：可保证最低服务速率；θ：服务启动延迟及阻塞预算。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1EA93-18FC-48FC-AAB5-D4F8A6E1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4286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B6CE5-E3C4-4F55-BDEA-CFEAAC4D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D_max ≤ θ + σ/R（R≥ρ）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5F856-BB8D-4066-ADA5-820F3F7C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71500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B8137-1928-4EEF-B35F-E23292B1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从目标倒推接口参数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B1A3A-89B1-4A73-87EB-157A4218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859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若要 D_max≤D*，需要 σ≤R(D*−θ)，且 D*&gt;θ、ρ&lt;R。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EF912-5F82-4C41-A74D-4B9440F0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降低突发：控制发起节奏、并发和准入。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B4C0A-3C01-4D4B-93AF-E21D5F92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提高最低服务：底层需要真实的服务保证。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82E0C-4567-4965-857B-EE7F07F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缩短阻塞：限制不可抢占操作粒度。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A3D96-F9E4-400A-9734-AA08DE2A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909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▸ 整形等待须计入端到端计时。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F9EC1-44BF-41D7-A2CA-DFAD84DC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1049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65DA9-0C3E-43D2-9212-A1E93C4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前后台混压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CBEA9-4D96-478B-ABDD-D24FC283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5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后台平均速率 ρ_b 和后台突发 σ_b 会共同减少前台剩余服务。给前台平均分带宽，不能单独限定短时阻塞。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F0B7C8-4888-4459-91D8-A81A12C1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前台优先级仅在真实瓶颈上生效，且不能靠后台永久饥饿兑现生产承诺。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DA988D-7A6C-4B89-8650-F76E3545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884E1-46F6-4196-AB60-7112C38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BE23D9-ED51-48E8-8D75-5BAB913F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69975-39D8-419B-A5F0-4027EBAF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尾延迟结论：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7BF211-226E-418B-92AD-2B7FC1C8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P99 的可控方向是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减少突发、提高最低服务、缩短不可抢占阻塞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，并把整形等待计入 TTFT。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506833-2553-461B-B13D-62B188C9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9 节 · 确定性边界不等于实际 P99</a:t>
            </a:r>
          </a:p>
        </p:txBody>
      </p:sp>
    </p:spTree>
    <p:extLst>
      <p:ext uri="{BB962C8B-B14F-4D97-AF65-F5344CB8AC3E}">
        <p14:creationId xmlns:p14="http://schemas.microsoft.com/office/powerpoint/2010/main" val="20607493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735CF4-83C2-4396-87FA-33612AB4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多卡协同要看组完成：最后一个必要成员决定整步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35443-EDDD-40E3-BB25-796F9659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Coflow（同一计算步骤的一组关联子流）改变尾部预算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FBD1D-579F-4F15-B609-3A927625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BCD91-5400-4063-A42E-25A2F63C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5F3B7-A50C-4EB4-B4ED-FA45DE75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370AE-E5F6-46BD-91DF-B183A909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6BC9A-ADB6-4B74-8839-8EB390A3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F21B8-7634-4A53-B270-1591A75E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T_group = max(T₁,…,T_k)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80F3A-5749-437E-B11C-CE058C7B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T_r：第 r 个必要成员从共同组起点到可消费的时间；组完成只统计必要成员。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36FC8-E8DC-4F70-A4DE-1411BF83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048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66E5D-EFCF-4595-BFE5-DB457E85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独立同分布的理论算例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6553F-9CE3-4558-9321-86E8625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DC866-47E7-4C61-BC52-D5C49010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F_group(t)=F(t)^k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1D7CB-A1BB-466F-95A5-0AEA110B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k=8 时，组 99% 分位对应单成员约 99.87445% 分位。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114C4-4391-45DC-A779-AC35A492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不能把各卡普通 P99 直接当作整组 P99。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E3C99-9098-4BC9-9DBB-49F5F71D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5524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1463E-17F7-4297-8E09-F2B50CF6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无独立性时的保守风险预算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0FEC6-0A6D-46F5-AB1F-1D85C2E5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4476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C530C-815F-4AC2-A11F-73FD3CF8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33725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P(T_group&gt;t) ≤ Σ P(T_r&gt;t)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F0C60-FB87-4674-A05B-D5A002D7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8 个必要成员平均分配 1% 尾概率预算：每个成员≤0.125%，覆盖率约 99.875%。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8379C-FEF1-4CA8-BFB0-46DB14FB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共享拥塞需作为共同随机因素建模。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09171-4FBB-4C25-98E9-FA60B983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8112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9D81D-B655-4634-A7A9-F85F7C1E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共同组起点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3D06C-6957-400F-8516-0210F741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05375"/>
            <a:ext cx="16192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E315F-76A4-4D41-A852-52C9E461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00625"/>
            <a:ext cx="16192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536ED-C03C-4FCF-9B6C-B33CA3A2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95875"/>
            <a:ext cx="16192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44CFCE-BE73-4AA0-9A78-DCDA1D1B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91125"/>
            <a:ext cx="16192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421E80-265E-4B85-A5C0-CA1F57A1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29225"/>
            <a:ext cx="1619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5E077-D4EE-4D69-ACC5-50472355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29225"/>
            <a:ext cx="16192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C51043-93B4-4014-9847-16416783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29225"/>
            <a:ext cx="161925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B3527D-8C38-417A-B9E0-7685BF63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29225"/>
            <a:ext cx="161925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47A4D0-2A98-4FDF-A29B-A4B76B0F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00625"/>
            <a:ext cx="1619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13DBD8-35F5-47B4-A60D-81EE3700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435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八条必要子流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DAFFBB-F606-47F4-BBFB-4F4F0117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29225"/>
            <a:ext cx="1285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1EBBE3-8F89-4C75-94E3-5944B046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435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334211-7418-4A7D-99BC-5FD95A29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1619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CF9268-CFFA-4BEC-BC45-77D65E1D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1435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最后必要成员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21ACAA-1CE7-4810-9D26-33C13282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29225"/>
            <a:ext cx="1238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CF9990-1568-4ABE-B049-C9401AE7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435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724652-2180-4875-B03B-D9AB423C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00625"/>
            <a:ext cx="1524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0439A8-6171-47B9-A564-DF231CE8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1435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组完成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F94050-FD43-4DB3-A72C-1EC98B51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无量纲示意：组完成 = max(T_r)，优化对象是最后一个必要成员。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266DB8-59DE-459E-B78F-17B7132E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B400F4-E29A-4241-8120-EF2284AC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CABA9F-90C4-4E53-A61B-BEDA867B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B1D8D8-EC32-4C60-BB16-65B6A7C4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组完成结论：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630D06-4BE1-4324-AA7F-4EB172E5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优化对象是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最后一个必要成员的到齐时间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；多卡状态同步只统一动作，不自动增加慢卡带宽。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201B21-9252-4BF1-8778-E7C2FC9E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10 节 · 组完成风险预算为理论推导</a:t>
            </a:r>
          </a:p>
        </p:txBody>
      </p:sp>
    </p:spTree>
    <p:extLst>
      <p:ext uri="{BB962C8B-B14F-4D97-AF65-F5344CB8AC3E}">
        <p14:creationId xmlns:p14="http://schemas.microsoft.com/office/powerpoint/2010/main" val="1467173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F10F93-3629-43E6-803A-F02B8AAC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路径混合决定业务 P99：命中路径快，不等于全体请求快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3F099-05FF-4B28-BBE0-9EF5DE32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命中比例、未命中重算和失败回退必须一起看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5E640-5832-41EA-8FB2-62AA3246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1A704-26C0-45C2-A6F0-FF77821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F949A-CE6D-420A-A0DC-5E9EE907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D8DC6-CB8E-4F8E-A07B-6DC3F01F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2272F-1E2F-4A9A-AE71-2CCDE36A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37597-2F38-4FE8-9249-3A6BD975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F_T(t)=hF_h(t)+(1−h)F_m(t)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74919-C7F2-453B-99E4-9E7B64C0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h：命中路径请求比例；F_h、F_m：命中与未命中条件分布。命中与时延不要求独立。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E738E-B909-4C2B-A178-6F41AC62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5048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23BA6-6B94-4C3B-8D31-5B723F6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为什么单一命中场景不能代表业务 P99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36B60-3896-4B05-A4F3-C397BFDC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 P99 阈值以上已经没有命中样本，继续缩短命中路径不会改变该尾分位。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58544-2F96-4C19-8B15-9BBD6C8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未命中重算排队、失败回退和高压力路径可能主导尾部。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83DB6-59DE-4380-8074-1B8065C7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命中与未命中比例随业务画像变化，必须分桶观察。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53E4F-E5F5-4A04-9084-B3E0F581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5334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340AB-B6CB-47AD-980E-3E14B713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全体请求的混合路径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C37D3-BB54-4BDC-89EB-9B5F0289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138112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F6E5C-6470-4A05-9085-2482321F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命中路径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F8285-2FE0-4DAC-99B4-69ED6711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138112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3D9D6-2933-4D58-9B8F-FBBDEDD5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00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未命中 / 回退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1C833A-20B6-4C5D-A47A-93BF927F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16213-6631-4AC6-8039-4AE4744A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8DDCC7-0B39-44D1-8726-E594FB3B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1907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31BC7-A98D-4EA6-8294-EE2C7D6C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05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全体分布 F_T(t)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6E202-BD9A-42E1-B00C-62DFB9CC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814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尾部可能由未命中或失败回退主导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1C8D95-68BC-4E6F-A7DB-1B406FEB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 与 (1−h) 是待测路径比例，不在此页填入业务占比。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04CC9F-10D3-4220-A5A1-091CFBB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522D3-1DA0-4D8B-9C92-D5E0368D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P99 口径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C31DA5-941A-4329-A503-55868C81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01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P99 是 99% 样本不超过的时延分位值；不能只报告成功样本，也不能把“边界收紧”直接写成“实际 P99 降低了 X%”。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8556D7-BF04-4BB3-939D-651811B4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1B9BB8-FDB7-430F-A4B0-477A9673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F0C672-2634-4D36-9AE8-37B84D1D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9AFDEB-9A35-4CDB-8212-69AA0A45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P99 结论：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5BE1A1-F6AB-4AAF-BBED-D27A3FD0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局部命中路径改善只影响它在业务混合分布中的那一部分样本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，未命中和回退路径仍需单独压缩。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1A7F1C-3BE6-4659-9393-8B659A1C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9.5、10.1 节 · 不把边界收紧写成实际百分比改善</a:t>
            </a:r>
          </a:p>
        </p:txBody>
      </p:sp>
    </p:spTree>
    <p:extLst>
      <p:ext uri="{BB962C8B-B14F-4D97-AF65-F5344CB8AC3E}">
        <p14:creationId xmlns:p14="http://schemas.microsoft.com/office/powerpoint/2010/main" val="10231082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C1FBB7-2649-4252-9DCA-ECD6D8C3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为什么需要持续运行的软件功能层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06362-5557-4387-B61D-97D795FA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命中、位置、并发和共享资源变化时，准入与依赖仍在变化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D59DF-C8A5-402F-B821-5A04D799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A9A11-28C0-4290-AD75-A2591D94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23336-A71A-4480-8CA3-4D965436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8DA6D-14D6-4C14-809F-716958B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状态变化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68124-80E4-45B9-9B65-C9537948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命中与未命中、对象位置、租约、设备可见性持续变化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CA902-D13F-4BD7-86F3-19C4C4A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FC397-6DCB-4402-B7CF-EA5A37C0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BACDE-D3BA-4974-91D9-D5F13B1F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持续决策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9D267-6FF7-4F3F-A723-08A2C73E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判断加载、重算、回退、分段范围和并发组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C17FC-5832-4A60-9CB1-03808E94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812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4CFD5-6A41-4315-AD86-A5C653E9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0C558-F490-49F7-875B-F98C6C1C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资源控制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39BD5-6FA4-46CF-AB46-02FEE455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限制突发、预取深度、后台进度和共享资源占用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886F5-3692-4DEB-B8C4-AF1BEE0F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AD892-5759-4D04-A9C6-92D23068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9CD24-6CAE-451E-B444-07F664D3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反馈闭环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CF0A8-5544-4675-AD7C-1764609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读取真实完成、错误、队列、可见性与取消结果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423AD-F4BB-4C24-BF24-CCEBCE8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1049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56A98-E31A-4274-80CA-1859F3B5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功能层需要持续运行的原因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35597-09EF-41E9-9DB5-E377E6AA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它随请求和资源状态变化执行准入、依赖、分组与资源控制。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5871A-565C-4781-8F9F-58271C2D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它把 KPCL 的完成、错误、服务和反压反馈接回推理执行。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E04D40-56D1-4DDD-AA1F-53AE69A9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9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这说明需要该功能层，不自动证明所有代码都必须自研或重写。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54A814-D49E-4D00-A660-E6B6FE4E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43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实现边界应通过基线能力、可观测接口与最少验证确定。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3C8A6-A2A0-4C8B-812D-9ABE9A7F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9B117E-A403-4D1E-BC61-D516F76C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3FB2CA-DD49-4F75-806F-5E9F83A6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E96374-27FC-4F6D-BF17-B144DDCE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功能层结论：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DD67D1-1273-459C-BC20-EB9272A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软件价值在于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持续执行准入、依赖、分组和资源控制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，并利用库反馈调整路径；自研范围仍需与基线和接口能力逐项核对。</a:t>
            </a:r>
          </a:p>
        </p:txBody>
      </p:sp>
    </p:spTree>
    <p:extLst>
      <p:ext uri="{BB962C8B-B14F-4D97-AF65-F5344CB8AC3E}">
        <p14:creationId xmlns:p14="http://schemas.microsoft.com/office/powerpoint/2010/main" val="1739086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8044B-9ED7-401E-9788-AF54DCAF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KPCL 典型业务通信模型：从业务依赖反推接口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921A4-5B63-407C-AB41-5EE417AA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每种模式都要记录释放、截止、组、依赖、路径和失败动作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620D7-D768-4DDA-B624-845BE4F7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D3089-37DF-476D-B94F-A4FF9414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238250"/>
          <a:ext xmlns:a="http://schemas.openxmlformats.org/drawingml/2006/main" cx="10858500" cy="41338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2762250"/>
                <a:gridCol w="2952750"/>
                <a:gridCol w="3048000"/>
              </a:tblGrid>
              <a:tr h="4593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模型约束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KVC 持续运行职责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KPCL / 平台机制职责</a:t>
                      </a:r>
                    </a:p>
                  </a:txBody>
                  <a:tcPr marL="57150" marR="57150" marT="38100" marB="38100" anchor="ctr">
                    <a:solidFill>
                      <a:srgbClr val="1E3A8A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高频小控制消息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查询路径预算、消息率、突发、尾概率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查询合并、摘要、快速失败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有限排队、服务预留、可靠完成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分段前缀加载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有效带宽与固定开销预算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副本、范围、布局、路径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批量提交、真实完成量、可见性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层间加载流水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层数据到齐与计算依赖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预取深度、就绪范围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依赖事件、分段完成、设备同步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多卡协同加载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组完成与风险预算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必要成员、慢流策略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逐成员状态、信用、实际路径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前后台混压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资源损失与后台稳定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发起、准入、后台节奏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限速、观测、反压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多源汇聚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突发上限、最低服务、启动延迟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来源选择、合并、并发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接收在途量、拥塞反馈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一对多热点分发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源出口与逐目标完成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副本、树状中继、目标选择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逐目标完成、重传、慢目标隔离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5931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超时、撤销与恢复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截止、终止访问、缓冲复用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降级、代际、生命周期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部分完成、取消、排空、错误边界</a:t>
                      </a:r>
                    </a:p>
                  </a:txBody>
                  <a:tcPr marL="57150" marR="57150" marT="38100" marB="38100"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E2C8D-2C8C-423B-9E2F-6A8A2071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B462C-4710-434B-9EF9-BC82898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44023-0246-4B0B-BFE3-7CD69D84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B3C39-7FE4-4ECD-94A2-D673B9C8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通信模型：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9BC0D-4F6F-4BD0-9A4B-3023CED8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KPCL 需求来自依赖与资源模型，不来自“更快传输”四个字；库必须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报告真实完成、可见性、反压和受控失败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5C441-2CC2-40DC-B430-40600468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13 节 · 八类通信模式与任务记录 J_i</a:t>
            </a:r>
          </a:p>
        </p:txBody>
      </p:sp>
    </p:spTree>
    <p:extLst>
      <p:ext uri="{BB962C8B-B14F-4D97-AF65-F5344CB8AC3E}">
        <p14:creationId xmlns:p14="http://schemas.microsoft.com/office/powerpoint/2010/main" val="16360772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D7BC27-47B1-4205-9FBC-0EB77F7C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从目标到可执行库能力：需求必须带服务、事件和边界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2C1CB-B99D-4294-AD68-D8DD3F1C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数值未确认时写成需求，不写成已发布 API 保证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EFD0C-A8D9-4CEB-A378-EDCC80B5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371AE-B7AC-4C24-920E-DA21175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BD902-DEC5-4A34-9B99-5829B101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89801-8E96-4834-BEB3-F1661736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业务目标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83A96-77AB-4DB8-9D66-C86A4ADD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192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满足某个 TTFT / TPOT / ITL 时间预算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1A42C-F02F-4BEA-B393-9A7A9E28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先定义时间戳和统计分母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18BA9-77AB-45F6-8343-471C2BB5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45F3F-0087-4D5C-BFD1-6DED14B5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资源模型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69DE8-39A8-477D-9648-2939D1A8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669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突发 σ、长期到达 ρ、最低服务 R、启动延迟 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ECBF1-9BB9-4F39-8355-9F0488F5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能否形成可用服务曲线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45345-67AD-412A-8F55-FCC29043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8BAEF-CC65-4B6F-A9B9-DE2A1E30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通信任务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60B2E-06E6-4221-AAF4-D07F2228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14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 / 目标、分段、组、依赖、可见性、失败动作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B4960-1E03-48BE-ADC9-A9C06E99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957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支持回放和逐样本对账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0F805-1878-48DA-A7F9-C6206A97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4CE6D-18DC-4E52-981A-91CA7A89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执行反馈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6AA56-E588-4E64-A39E-F26A6B0B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624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完成、错误、取消、排队及反压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06B11-1366-40D8-BE4A-CF68A5A9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能否闭环调整路径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33C68-09BE-4495-8B6B-A2C72594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85875"/>
            <a:ext cx="7048500" cy="39528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58C75-537D-4220-9BCD-C760E406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04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联合需求表达式（模板）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A971F-2E16-4906-B3B6-D1749F76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E4992-4484-47BC-BC3E-B9606AA4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038350"/>
            <a:ext cx="624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在指定源/目标、分段、并发组、背景到达约束和设备可见性定义下，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B00AD-7075-4C1C-B562-8675BD9E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241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0845B4-C8C2-4B10-88CE-0846A17E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09850"/>
            <a:ext cx="624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任务获得不低于 R 的服务，最大启动延迟不高于 θ，突发不超过 σ，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4CD55-05CE-4D7F-80AE-D71A495F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7E7F00-A4FD-4BA2-936D-24BDDDB4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81350"/>
            <a:ext cx="624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并按任务时限报告完成或受控失败。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8C7063-DA84-4D44-9084-1033FE68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57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接口边界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761FD3-81AC-4243-83EA-57D9852B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71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 KPCL 只负责内存通信，存储读出和持久化由后端承担。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D6D9E0-772E-44C0-81D8-E51F28D1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33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远端 SSD 不能直接当作内存句柄，除非平台契约明确支持。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4CBEA8-2033-417A-9FFB-ACCEDB30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95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▸ 需求数值来自业务预算和验证，不冒充现成 API。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11BF48-56EB-4F06-9EC6-74AB5DA6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7D2F44-5CBA-413B-98BD-E35DDC88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AC4E2-55C5-43FF-991A-3C1C440D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C10F00-FFE3-42B7-996A-49C6FEB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接口结论：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27E911-D20A-4FA5-896E-5818B81F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把“性能目标”写成</a:t>
            </a: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可观测的服务、事件、截止和失败契约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，才能进入实现与验证。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857A2A-F34B-4B48-A5EB-24846238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13、14 节 · 数值未确认时记录为需求</a:t>
            </a:r>
          </a:p>
        </p:txBody>
      </p:sp>
    </p:spTree>
    <p:extLst>
      <p:ext uri="{BB962C8B-B14F-4D97-AF65-F5344CB8AC3E}">
        <p14:creationId xmlns:p14="http://schemas.microsoft.com/office/powerpoint/2010/main" val="19904276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048280-5A66-4800-9751-0591BD17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最少预验证：只补会改变结论的关键参数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E41B9-36D6-4AED-ABBC-CB5050A4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E0～E3 表示验证目标，不是已完成状态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5497A-04AE-44BF-8A11-C9FA23C7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32CEB-5442-4685-9148-BAF230CD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A2FFD-C828-453E-A6B3-140A7E40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21FB8-955F-435A-A23F-F09D94CE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E0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E0E3F-99FD-420E-BA1A-632842C6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业务收益前提确认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759D0-8F66-4EF1-923C-47BBC8A5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命中/复用条件下的收益是否显著；查询占比和协议上限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E8107-7F8D-4B0E-863B-3A65A06C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606BB-C554-4720-B5E2-FE7E8E6A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待校准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B92C8-8291-4535-9010-48AC652A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查询计时边界、绝对值、分位数、并发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EA026-1EFF-4DE9-8EFD-7411B324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1D66E-148C-4910-9B6F-8AD1E76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E1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8C3FB-4602-45A8-A3C5-DBBB91B2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核心数据路径与多卡同步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84DA2-2538-4A18-82C3-70F4459B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零数据拷贝传输、异步依赖、语义校验可闭环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98639-6B04-499A-921F-E3D7137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4F0D2-40C6-4969-8776-3ED225A1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待校准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5A02B-C92F-4D7F-9B7F-765199C8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逐层可见性、组起点、成员完成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7FD89-452A-4983-85FF-96E3D93B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CDD40-2CAF-4ADB-91DE-8BD5E707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E2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216AB-AECB-4931-B568-2FDD894F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动态决策与分层扩容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FEFAB-878E-4B85-A681-E8F5BD90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加载/重算边界、后台资源稳定、服务约束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51A09-3FE2-4B19-9778-C7F44BB1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676B5-B783-4197-8968-01689F2E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待校准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F5265-FA15-4EA9-888E-39907F4E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α、x/c、w/β、σ/R/θ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64BFE1-61A1-42EF-AB02-0257061A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D91608-A6E5-44CC-BD93-B53BDED9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E3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C90215-BFF0-4C07-90D6-276487DE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全链路前后台混压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628B65-C2BA-400D-B028-E201024B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TTFT、TPOT、P99 在真实混压下是否进入目标区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76B96F-9CC1-44CF-ACEA-3F619979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3BFFC-B569-4F9A-A0C8-18AFC25D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待校准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54825B-B029-48FB-96B5-00797A4F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真实到达、失败样本、共享接收瓶颈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38448-D225-4E0E-971B-8C2E911E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1104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EE7068-5385-4425-AB11-40425EEC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最少补证顺序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999B90-37C2-413A-9932-D8B9F559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FC02C4-07AE-44AE-962D-9A0AED2C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先测 α：基线暴露加载占比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F84E62-DA06-49DE-8536-B98EBD7F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E6FDB4-DEE4-4FC4-B3B5-44CA14A1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768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再测 x/c 与逐层依赖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E30C38-9DD6-4495-ACD5-C0FAB62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31A498-F139-4214-AEA5-FC0C2F59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补 w/β 与突发服务参数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1B5034-7ED4-4CE0-ACFD-7FD68AE6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61CE81-26C0-4F87-8A05-FAC4A540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76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最后做混压和证伪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8E5BCE-B18F-488B-BF64-FCA050F2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426C01-EF1C-4659-B5BA-2210868F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8444BD-B5A7-4F97-9CA0-DFC6C148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6654A6-3401-410E-A347-A2E63835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验证结论：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FB2F4F-7161-4CC3-BD2F-990A962C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34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优先补充能改变可行区域的参数</a:t>
            </a: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；若理想下界已超预算，就收缩场景或改变部署，不继续堆叠理论收益。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49A2F6-8A8D-4051-8F77-76381DA9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来源：源文档第 14、15、17 节 · E0～E3 为验证目标</a:t>
            </a:r>
          </a:p>
        </p:txBody>
      </p:sp>
    </p:spTree>
    <p:extLst>
      <p:ext uri="{BB962C8B-B14F-4D97-AF65-F5344CB8AC3E}">
        <p14:creationId xmlns:p14="http://schemas.microsoft.com/office/powerpoint/2010/main" val="1031582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D0C15B-B4DC-4102-B7DC-835FAA42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D5BC3-BB30-40E4-B213-D9C9364C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ABD56-4CBD-430F-B0CA-AEA5E93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评审讨论建议围绕四个问题展开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F1844-2C0F-4EBD-83DC-6D4D4FEB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15B97-C85B-4B34-AF2A-6E818B02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633E7-875B-4F97-A74B-6DCA8DDD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局部查询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FABE4-25CE-4DB0-BAFD-236F1E1A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单请求协议差异如何折算到真实 TTFT？查询占比是否足够？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4EDC1-0EA5-4099-858D-340115AA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A096D-141D-40C2-B375-63B688CA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12B5B-C2FC-48A0-A974-617211AD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86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关键路径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0C996-1967-4C7E-AE9F-C7CD989A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90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加载是否暴露在 TTFT？逐层依赖是否允许重叠？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0B660-7A4C-444D-835E-9BF0279A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1DE89-4995-4383-839C-B7E2E8FB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53C34-B4EB-4083-BD9B-287E595E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718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资源预算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F52AA-432D-4A39-9DD6-EB80D266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766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β、σ、R、θ 是否有可测参数和库侧反馈？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521F2-9FAC-456B-9F73-A4B9D9EC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F40C6-D150-4536-9ADE-611D6A08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718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AAFA1-0CBD-4CBE-AA02-FE0AA2A5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718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验证收敛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61629-0CE2-421A-AEF7-501942D0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766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最少预验证先补哪一个会改变结论的参数？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E105D-31FE-4E9F-A551-430DB6CD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477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6AF04-B4E8-425D-8860-FD4D2C14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F8D0D-23D0-4C8D-B1D9-1469BEC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1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立项表述：当前具备条件化可行性论证，下一步用最少实测收紧参数，再决定哪些机制进入端到端实现。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2CAA3-DA08-44F8-8005-3B3B573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统一异构 KVCache 存储池 · 推理性能理论建模与 KPCL 通信需求推导 · 2026-09-07</a:t>
            </a:r>
          </a:p>
        </p:txBody>
      </p:sp>
    </p:spTree>
    <p:extLst>
      <p:ext uri="{BB962C8B-B14F-4D97-AF65-F5344CB8AC3E}">
        <p14:creationId xmlns:p14="http://schemas.microsoft.com/office/powerpoint/2010/main" val="1378659652"/>
      </p:ext>
    </p:extLst>
  </p:cSld>
</p:sld>
</file>

<file path=ppt/theme/theme1.xml><?xml version="1.0" encoding="utf-8"?>
<a:theme xmlns:a="http://schemas.openxmlformats.org/drawingml/2006/main" name="ChatGPT">
  <a:themeElements>
    <a:clrScheme name="Luna Engineering">
      <a:dk1>
        <a:srgbClr val="0F172A"/>
      </a:dk1>
      <a:lt1>
        <a:srgbClr val="FFFFFF"/>
      </a:lt1>
      <a:dk2>
        <a:srgbClr val="1E3A8A"/>
      </a:dk2>
      <a:lt2>
        <a:srgbClr val="E2E8F0"/>
      </a:lt2>
      <a:accent1>
        <a:srgbClr val="1D4ED8"/>
      </a:accent1>
      <a:accent2>
        <a:srgbClr val="1E3A8A"/>
      </a:accent2>
      <a:accent3>
        <a:srgbClr val="047857"/>
      </a:accent3>
      <a:accent4>
        <a:srgbClr val="DC2626"/>
      </a:accent4>
      <a:accent5>
        <a:srgbClr val="B45309"/>
      </a:accent5>
      <a:accent6>
        <a:srgbClr val="BE123C"/>
      </a:accent6>
      <a:hlink>
        <a:srgbClr val="1D4ED8"/>
      </a:hlink>
      <a:folHlink>
        <a:srgbClr val="1D4E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na Engineer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2026-09-07T12:19:30.4930000Z</dcterms:created>
  <dcterms:modified xsi:type="dcterms:W3CDTF">2026-09-07T12:19:30.4930000Z</dcterms:modified>
</coreProperties>
</file>