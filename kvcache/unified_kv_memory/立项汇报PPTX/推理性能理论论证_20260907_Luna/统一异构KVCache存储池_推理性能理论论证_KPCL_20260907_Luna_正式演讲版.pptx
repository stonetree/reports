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642a6ae1044af0" /><Relationship Type="http://schemas.openxmlformats.org/officeDocument/2006/relationships/extended-properties" Target="/docProps/app.xml" Id="Rf1b35ec02e4048db" /><Relationship Type="http://schemas.openxmlformats.org/officeDocument/2006/relationships/officeDocument" Target="/ppt/presentation.xml" Id="R67433b906666425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0dd1cd1535e45e7"/>
  </p:sldMasterIdLst>
  <p:notesMasterIdLst>
    <p:notesMasterId xmlns:r="http://schemas.openxmlformats.org/officeDocument/2006/relationships" r:id="Rdd59f14c17814f4f"/>
  </p:notesMasterIdLst>
  <p:sldIdLst>
    <p:sldId xmlns:r="http://schemas.openxmlformats.org/officeDocument/2006/relationships" id="256" r:id="R1c525cee8e64442c"/>
    <p:sldId xmlns:r="http://schemas.openxmlformats.org/officeDocument/2006/relationships" id="257" r:id="R57300ca6708b47ce"/>
    <p:sldId xmlns:r="http://schemas.openxmlformats.org/officeDocument/2006/relationships" id="258" r:id="Rcfd6532b86154723"/>
    <p:sldId xmlns:r="http://schemas.openxmlformats.org/officeDocument/2006/relationships" id="259" r:id="R9aa19491c77e48d9"/>
    <p:sldId xmlns:r="http://schemas.openxmlformats.org/officeDocument/2006/relationships" id="260" r:id="R8a5fd54107d24ccf"/>
    <p:sldId xmlns:r="http://schemas.openxmlformats.org/officeDocument/2006/relationships" id="261" r:id="R73d470419aa0452c"/>
    <p:sldId xmlns:r="http://schemas.openxmlformats.org/officeDocument/2006/relationships" id="262" r:id="R0671adae59b943a4"/>
    <p:sldId xmlns:r="http://schemas.openxmlformats.org/officeDocument/2006/relationships" id="263" r:id="Reb63971ca3514150"/>
    <p:sldId xmlns:r="http://schemas.openxmlformats.org/officeDocument/2006/relationships" id="264" r:id="Rb5bbfe8c614646bc"/>
    <p:sldId xmlns:r="http://schemas.openxmlformats.org/officeDocument/2006/relationships" id="265" r:id="R95a1b38724be4000"/>
    <p:sldId xmlns:r="http://schemas.openxmlformats.org/officeDocument/2006/relationships" id="266" r:id="Ree21c94b95f24bd9"/>
    <p:sldId xmlns:r="http://schemas.openxmlformats.org/officeDocument/2006/relationships" id="267" r:id="R826eefb50791451f"/>
    <p:sldId xmlns:r="http://schemas.openxmlformats.org/officeDocument/2006/relationships" id="268" r:id="Rfe944af045fd48ad"/>
    <p:sldId xmlns:r="http://schemas.openxmlformats.org/officeDocument/2006/relationships" id="269" r:id="R4b352d2b67564856"/>
    <p:sldId xmlns:r="http://schemas.openxmlformats.org/officeDocument/2006/relationships" id="270" r:id="Rd0678f2a3d8d4c94"/>
    <p:sldId xmlns:r="http://schemas.openxmlformats.org/officeDocument/2006/relationships" id="271" r:id="R74b5306f622b4b8d"/>
    <p:sldId xmlns:r="http://schemas.openxmlformats.org/officeDocument/2006/relationships" id="272" r:id="R9c722e1863a64de1"/>
    <p:sldId xmlns:r="http://schemas.openxmlformats.org/officeDocument/2006/relationships" id="273" r:id="Rbf3e0c46ca75450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c3784e86afc4102" /><Relationship Type="http://schemas.openxmlformats.org/officeDocument/2006/relationships/slideMaster" Target="/ppt/slideMasters/slideMaster1.xml" Id="Ra0dd1cd1535e45e7" /><Relationship Type="http://schemas.openxmlformats.org/officeDocument/2006/relationships/notesMaster" Target="/ppt/notesMasters/notesMaster1.xml" Id="Rdd59f14c17814f4f" /><Relationship Type="http://schemas.openxmlformats.org/officeDocument/2006/relationships/presProps" Target="/ppt/presProps.xml" Id="R48372820b1824039" /><Relationship Type="http://schemas.openxmlformats.org/officeDocument/2006/relationships/tableStyles" Target="/ppt/tableStyles.xml" Id="Rd330ef500046416e" /><Relationship Type="http://schemas.openxmlformats.org/officeDocument/2006/relationships/slide" Target="/ppt/slides/slide1.xml" Id="R1c525cee8e64442c" /><Relationship Type="http://schemas.openxmlformats.org/officeDocument/2006/relationships/slide" Target="/ppt/slides/slide2.xml" Id="R57300ca6708b47ce" /><Relationship Type="http://schemas.openxmlformats.org/officeDocument/2006/relationships/slide" Target="/ppt/slides/slide3.xml" Id="Rcfd6532b86154723" /><Relationship Type="http://schemas.openxmlformats.org/officeDocument/2006/relationships/slide" Target="/ppt/slides/slide4.xml" Id="R9aa19491c77e48d9" /><Relationship Type="http://schemas.openxmlformats.org/officeDocument/2006/relationships/slide" Target="/ppt/slides/slide5.xml" Id="R8a5fd54107d24ccf" /><Relationship Type="http://schemas.openxmlformats.org/officeDocument/2006/relationships/slide" Target="/ppt/slides/slide6.xml" Id="R73d470419aa0452c" /><Relationship Type="http://schemas.openxmlformats.org/officeDocument/2006/relationships/slide" Target="/ppt/slides/slide7.xml" Id="R0671adae59b943a4" /><Relationship Type="http://schemas.openxmlformats.org/officeDocument/2006/relationships/slide" Target="/ppt/slides/slide8.xml" Id="Reb63971ca3514150" /><Relationship Type="http://schemas.openxmlformats.org/officeDocument/2006/relationships/slide" Target="/ppt/slides/slide9.xml" Id="Rb5bbfe8c614646bc" /><Relationship Type="http://schemas.openxmlformats.org/officeDocument/2006/relationships/slide" Target="/ppt/slides/slide10.xml" Id="R95a1b38724be4000" /><Relationship Type="http://schemas.openxmlformats.org/officeDocument/2006/relationships/slide" Target="/ppt/slides/slide11.xml" Id="Ree21c94b95f24bd9" /><Relationship Type="http://schemas.openxmlformats.org/officeDocument/2006/relationships/slide" Target="/ppt/slides/slide12.xml" Id="R826eefb50791451f" /><Relationship Type="http://schemas.openxmlformats.org/officeDocument/2006/relationships/slide" Target="/ppt/slides/slide13.xml" Id="Rfe944af045fd48ad" /><Relationship Type="http://schemas.openxmlformats.org/officeDocument/2006/relationships/slide" Target="/ppt/slides/slide14.xml" Id="R4b352d2b67564856" /><Relationship Type="http://schemas.openxmlformats.org/officeDocument/2006/relationships/slide" Target="/ppt/slides/slide15.xml" Id="Rd0678f2a3d8d4c94" /><Relationship Type="http://schemas.openxmlformats.org/officeDocument/2006/relationships/slide" Target="/ppt/slides/slide16.xml" Id="R74b5306f622b4b8d" /><Relationship Type="http://schemas.openxmlformats.org/officeDocument/2006/relationships/slide" Target="/ppt/slides/slide17.xml" Id="R9c722e1863a64de1" /><Relationship Type="http://schemas.openxmlformats.org/officeDocument/2006/relationships/slide" Target="/ppt/slides/slide18.xml" Id="Rbf3e0c46ca75450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9844af3843f43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Luna Engineering">
      <a:dk1>
        <a:srgbClr val="0F172A"/>
      </a:dk1>
      <a:lt1>
        <a:srgbClr val="FFFFFF"/>
      </a:lt1>
      <a:dk2>
        <a:srgbClr val="1E3A8A"/>
      </a:dk2>
      <a:lt2>
        <a:srgbClr val="E2E8F0"/>
      </a:lt2>
      <a:accent1>
        <a:srgbClr val="1D4ED8"/>
      </a:accent1>
      <a:accent2>
        <a:srgbClr val="1E3A8A"/>
      </a:accent2>
      <a:accent3>
        <a:srgbClr val="047857"/>
      </a:accent3>
      <a:accent4>
        <a:srgbClr val="DC2626"/>
      </a:accent4>
      <a:accent5>
        <a:srgbClr val="B45309"/>
      </a:accent5>
      <a:accent6>
        <a:srgbClr val="BE123C"/>
      </a:accent6>
      <a:hlink>
        <a:srgbClr val="1D4ED8"/>
      </a:hlink>
      <a:folHlink>
        <a:srgbClr val="1D4ED8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Luna Engineering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db5d44dc66442c" /><Relationship Type="http://schemas.openxmlformats.org/officeDocument/2006/relationships/notesMaster" Target="/ppt/notesMasters/notesMaster1.xml" Id="R0288168806dc44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52f56af336941a6" /><Relationship Type="http://schemas.openxmlformats.org/officeDocument/2006/relationships/notesMaster" Target="/ppt/notesMasters/notesMaster1.xml" Id="R584c39ec12974c4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1c81c4d88d74bee" /><Relationship Type="http://schemas.openxmlformats.org/officeDocument/2006/relationships/notesMaster" Target="/ppt/notesMasters/notesMaster1.xml" Id="R998bc746df504c2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19cff6740374667" /><Relationship Type="http://schemas.openxmlformats.org/officeDocument/2006/relationships/notesMaster" Target="/ppt/notesMasters/notesMaster1.xml" Id="R5395c624d24d402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ba462a89f954cb2" /><Relationship Type="http://schemas.openxmlformats.org/officeDocument/2006/relationships/notesMaster" Target="/ppt/notesMasters/notesMaster1.xml" Id="R5d4f12295774487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59922221050427e" /><Relationship Type="http://schemas.openxmlformats.org/officeDocument/2006/relationships/notesMaster" Target="/ppt/notesMasters/notesMaster1.xml" Id="R99ae9d8be04a41b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bd3de2793d34fa2" /><Relationship Type="http://schemas.openxmlformats.org/officeDocument/2006/relationships/notesMaster" Target="/ppt/notesMasters/notesMaster1.xml" Id="Rfb29d3f1ccb04a3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50373e5f51f44ec" /><Relationship Type="http://schemas.openxmlformats.org/officeDocument/2006/relationships/notesMaster" Target="/ppt/notesMasters/notesMaster1.xml" Id="Ra04ab8d1e1a94e1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20dfc62c2cd449e" /><Relationship Type="http://schemas.openxmlformats.org/officeDocument/2006/relationships/notesMaster" Target="/ppt/notesMasters/notesMaster1.xml" Id="R56371e5e718a4a4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4c0d37e920e48e3" /><Relationship Type="http://schemas.openxmlformats.org/officeDocument/2006/relationships/notesMaster" Target="/ppt/notesMasters/notesMaster1.xml" Id="Rbf7d88e7051249a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a40d5b2f24940f4" /><Relationship Type="http://schemas.openxmlformats.org/officeDocument/2006/relationships/notesMaster" Target="/ppt/notesMasters/notesMaster1.xml" Id="R575ab498621d4c4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bea36f8a96341dd" /><Relationship Type="http://schemas.openxmlformats.org/officeDocument/2006/relationships/notesMaster" Target="/ppt/notesMasters/notesMaster1.xml" Id="R35d0842ab9994d9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5811cc3ed894a7a" /><Relationship Type="http://schemas.openxmlformats.org/officeDocument/2006/relationships/notesMaster" Target="/ppt/notesMasters/notesMaster1.xml" Id="Rd2cc0f92a87c483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f9e27eb77dc4eb9" /><Relationship Type="http://schemas.openxmlformats.org/officeDocument/2006/relationships/notesMaster" Target="/ppt/notesMasters/notesMaster1.xml" Id="R4333f5cd84d04a7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965d6fe27af40c0" /><Relationship Type="http://schemas.openxmlformats.org/officeDocument/2006/relationships/notesMaster" Target="/ppt/notesMasters/notesMaster1.xml" Id="Rbb1e68704b0c409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f262bbac77d4b6e" /><Relationship Type="http://schemas.openxmlformats.org/officeDocument/2006/relationships/notesMaster" Target="/ppt/notesMasters/notesMaster1.xml" Id="R5cdd78e7fa39481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5e78106b66c4f5a" /><Relationship Type="http://schemas.openxmlformats.org/officeDocument/2006/relationships/notesMaster" Target="/ppt/notesMasters/notesMaster1.xml" Id="R1b45f9f65445441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ef535f985994796" /><Relationship Type="http://schemas.openxmlformats.org/officeDocument/2006/relationships/notesMaster" Target="/ppt/notesMasters/notesMaster1.xml" Id="Recf4ebc99c51404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本页先交代汇报边界。今天讨论的是一套条件化理论，而不是把单请求查询结果包装成端到端成绩。已有信息只有 16K Token 单请求查询：TCP 为几毫秒级，RDMA 为几百微秒级，URMA 比 RDMA 再低约 30%～40%，绝对值、分位数和计时边界都未知。后续页面会把这条观测放到它真正所在的局部路径，再用关键路径、共享资源和通信约束推导出可验证条件。评审需要判断的，是哪些参数最值得优先补齐，以及软件功能层和底层通信库需要提供哪些可观测、可控的机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这页是整个汇报的证据闸门。用户提供的观测只覆盖单个请求、不同输入长度下的前缀匹配查询，且没有原始计时日志。我们可以说 TCP、RDMA、URMA 之间存在协议层级的局部差异，却不能说并发查询已经具备某个吞吐，也不能把 URMA 的相对下降直接乘到端到端 TTFT 上。理论模型的作用是把未知量显式列出，找到会改变结论符号的参数。后面的命题都要回到这张表：哪些是观测，哪些是抽象算例，哪些必须通过提前验证收敛。来源：统一异构 KVCache 存储池_推理性能理论建模与 KPCL 通信需求推导_V1.0.md，第 1 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这一页把业务场景与指标边界对齐。长公共前缀主要看 TTFT，因为复用直接跳过部分 Prefill；持续生成已经进入 Decode，关注 TPOT 和 ITL，后台干扰是否降低前台有效显存服务速率是关键；多源、多卡加载要看组完成后的尾部，而不是单流平均；冷会话恢复还要看后台换出和恢复进度。时间戳定义同样重要：TTFT 从约定入口到首 Token 可见，TPOT 只对多 Token 输出定义，ITL 观察逐 Token 间隔。失败和超时请求必须保留在到达分母，成功样本的 P99 不能单独讲成服务质量。来源：源文档第 2、3 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TTFT 不能把查询、加载、计算、同步等模块时延简单相加。我们把入口排队、候选查询、资格校验、源与目标预留、批量提交、设备可消费、多卡范围就绪以及剩余输入计算画成依赖图。式中 f_v 表示任务 v 的完成时刻，d_v 是自身执行时间，前置任务中最晚完成者决定它何时能开始。加载分支和重算分支是候选路径，不要求同一请求同时执行。共享网卡、显存、CPU 或计算引擎的资源等待也必须进入图。这样才能回答：某个节点变快，是否真的落在首字关键路径上。来源：源文档第 4 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这里直接回应评审最容易产生的误解。把查询基线设为 q，把其余路径设为 U，查询占比 f=q/(U+q)，查询自身降幅记为 r_q。端到端直接降幅最多是 f 乘以 r_q。用户口述的 URMA 相对 RDMA 下降约 30%～40%，若要仅靠这一个环节解释 20% TTFT 目标，查询在原 TTFT 中要占约 50%～66.7%。这与“查询只是局部环节”的前提不一致。因此它的工程价值可能是降低短前缀的使用门槛，或在查询服务接近饱和时降低排队，但并发收益和端到端收益都要另外测。来源：源文档第 5 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这一页把“复用多少 Token”转换成实际资源量。常规全层注意力下，逻辑缓存字节量由层数、前缀长度、KV 头数、头维度和元素字节数决定，系数 2 来自 Key 与 Value。计算节省也不是简单按命中比例线性外推，因为后缀仍要对前缀做注意力。式中的 Roofline 下界只用于排除不可能情况，不能把峰值算力或峰值带宽写成保证耗时。进一步把重算时间、剩余计算、查询与决策开销、固定加载开销和有效传输速率放到同一公式中，可以反求加载时间预算。来源：源文档第 6 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评审中最容易被追问的就是自研增量。设已有缓存基线的暴露加载时间占 TTFT 比例为 α，增强后该部分缩为原来的 r，新增控制开销占比为 η，增量收益就是 α(1−r)−η。如果 α 小于目标降幅加控制开销，即使把这段瓶颈完全消除也无法达到目标。这个表达式要求先固定比较对象：如果基线已经跳过相同前缀计算，就不能把那部分节省再次计入。也要逐项核对基线是否已有逐层加载、原生设备传输和前后台限速。来源：源文档第 6.4 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逐层流水的论证不依赖口号，而是一个可递推的构造。第 l 层数据可用时刻 A_l 等于前一层可用时刻加传输时间 x_l，第 l 层计算完成时刻 F_l 等于前一层计算完成和本层数据可用的较晚者再加计算时间 c_l。当每层时间相同，串行耗时是 L(x+c)，流水耗时是 x+c 加上 L−1 个 max(x,c)。当 x=c、L=32 时，加载与计算子路径的理论降幅是 48.4375%，这只是抽象子路径算例，不能直接写成 TTFT 预测。端到端还包含排队、控制、输出，且并行后每层耗时可能变化。来源：源文档第 7 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上一页证明了理想流水的上限，这一页回答工程落地前提。框架必须允许按层或合法范围消费，计算任务需要有可重叠的时间窗口，设备可见性要与传输完成正确关联，预取不能把目标显存占满，且并行后传输或计算不能显著变慢。对通信库来说，单纯返回“整个请求完成”不够。KPCL 至少要能报告分段完成和目标可见事件，表达前置依赖，限制提交批次等待和预取深度，并在依赖改变时支持取消或受控失败。优先级应跟随当前最紧的计算依赖，而不是永久把首层大数据放在最高级。来源：源文档第 7 节和第 13 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这页按评审补充约束修正 TPOT 解释。β 表示后台干扰造成的前台有效显存服务速率损失，不是后台 NIC 带宽占比。固定模型、批量和上下文后，把每步生成中的显存服务时间记为 m，其余不可重叠时间为 t_f，纯前台显存服务占比为 w。干扰率 I 等于 wβ/(1−β)，因此给定 3% 干扰目标，可以反推出 β 的上限。理论算例显示，w 越大，允许的速率损失越小。真正需要的软件控制是识别并限制会拖慢 HBM 服务的后台操作，同时保留换出、恢复和重建的最低进度。只分配网卡优先级不能单独证明前台显存干扰已经受控。来源：源文档第 8 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尾延迟不只由峰值带宽决定。对任意长度为 u 的时间区间，输入流量可以用突发 σ 加长期速率 ρ 描述，系统则用速率 R 和启动延迟 θ 描述可提供服务。当 R 大于等于 ρ 时，按序无丢失服务的最大时延可由 θ 加 σ/R 约束。这个边界的价值是能把目标时限反推成接口条件：突发不能超过 R(D*−θ)，并且服务要有余量。KVC 如果为了限制突发而在库调用前排队，这段整形等待依然属于 TTFT。前后台混压时，后台平均速率和后台突发都会吃掉前台剩余服务，不能只看峰值链路带宽。来源：源文档第 9 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多卡场景不能把每条子流的平均表现简单合并。共同计算步骤需要一组关联子流，整步可消费的时间由所有必要成员中最晚到齐者决定。若各成员独立同分布，组完成分布是单流分布的 k 次方，k=8 时，组的 99% 分位大约对应单成员的 99.87445% 分位。若不具备独立性，只能用并集上界做风险预算，8 个必要成员平均分配 1% 尾概率时，每个成员都要控制到 0.125% 以内。共享接收端拥塞属于共同随机因素，必须单独建模。软件要记录共同组起点、必要成员、剩余字节、截止时间和共享接收瓶颈。来源：源文档第 10 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这页把单请求命中结果与业务 P99 之间的距离讲清楚。设命中路径比例为 h，命中与未命中条件分布分别为 F_h 和 F_m，全体分布是两者按比例混合。即使命中路径已经很快，只要 P99 阈值以上仍主要由未命中、重算排队或失败回退组成，继续优化命中路径也不会改变全体 P99。更不能把两个理论上界的差异直接写成实际 P99 百分比改善。要做严谨评估，至少要保留路径标识、到达分母、失败样本和同类业务分桶。来源：源文档第 10.1 节和第 9.5 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直接回答为什么不是一次性脚本或静态规则。命中状态、数据位置、并发程度、共享资源占用、租约和设备可见性都会随请求变化，所以加载、重算、回退、分段和并发组的选择不能只做一次。软件功能层持续读取完成、错误、队列、服务和反压反馈，执行准入、依赖、组完成和资源控制，再把结果交给推理执行。这个论证支撑“需要一个持续运行的功能层”，但不自动推出所有实现都必须由本项目重写。哪些能力已经存在，哪些接口需要补齐，哪些逻辑应放在库侧或框架侧，都要用基线对比和最少验证来定。来源：源文档第 1、13、14 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把理论公式转成通信库面对的八类工作负载。高频小控制消息需要低开销有限排队；分段前缀加载需要批量提交和真实完成量；层间流水需要分段完成与依赖事件；多卡协同需要逐成员状态和组完成；前后台混压需要限速、观测和反压；多源汇聚要控制接收端在途量；一对多分发要隔离慢目标；超时、撤销与恢复要定义部分完成、取消、排空和错误边界。统一任务记录 J_i 包含释放时刻、截止时刻、组、前置依赖、源、目标、字节量、共享资源、可见条件和失败动作。来源：源文档第 13 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这一页落到工程接口。理论模型给出的不是一个脱离上下文的带宽数字，而是一组约束：在指定源和目标、分段方式、并发组、背景到达约束和设备可见性定义下，任务获得不低于 R 的服务、最大启动延迟不高于 θ、允许突发不超过 σ，并按任务时限报告完成或受控失败。KVC 负责选择副本、范围、布局、路径、准入和降级，KPCL 或平台负责批量提交、实际完成、服务、信用、可见性和错误反馈。能力未确认时，应把它写成联合需求，而不能写成已发布 API 保证。源文档也明确区分内存通信与存储后端职责。来源：源文档第 13 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这页给出最少预验证，而不是日历排期。先补会改变结论符号或可行区域的参数：第一是 α，判断相对已有缓存基线是否有独立收益空间；第二是每层数据可用与计算依赖，决定流水是否真实可用及 x/c 比值；第三是前台显存服务占比 w、干扰损失 β、突发 σ、最低服务 R 和启动延迟 θ；最后才是全链路混压与多卡组完成。E0 到 E3 是验证目标，不能写成已经完成。若理想下界仍超过业务预算，应收缩场景或改变部署。条件证伪阶段还要验证硬件多播、原子重映射和 DPU 卸载是否真的必要，避免把外部依赖当作主路径前提。来源：源文档第 14、15、17 节及项目阶段定义。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最后把评审问题收束到四个可以落地的判断。第一，已有查询差异如何进入真实 TTFT，查询占比是否足够；第二，缓存加载是否真的落在关键路径上，逐层依赖能否与计算重叠；第三，前台有效显存服务损失、突发、最低服务和启动延迟是否存在可测参数及库侧反馈；第四，最少预验证先补哪个参数才能改变结论。当前材料支持的是条件化可行性，不是无条件的端到端承诺。建议按这四个问题决定 E0～E3 的验证顺序与实现范围。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917588bc16436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2c1e8901604673" /><Relationship Type="http://schemas.openxmlformats.org/officeDocument/2006/relationships/slideLayout" Target="/ppt/slideLayouts/slideLayout1.xml" Id="R37a79dcc8590490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a79dcc8590490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Luna Engineering">
      <a:dk1>
        <a:srgbClr val="0F172A"/>
      </a:dk1>
      <a:lt1>
        <a:srgbClr val="FFFFFF"/>
      </a:lt1>
      <a:dk2>
        <a:srgbClr val="1E3A8A"/>
      </a:dk2>
      <a:lt2>
        <a:srgbClr val="E2E8F0"/>
      </a:lt2>
      <a:accent1>
        <a:srgbClr val="1D4ED8"/>
      </a:accent1>
      <a:accent2>
        <a:srgbClr val="1E3A8A"/>
      </a:accent2>
      <a:accent3>
        <a:srgbClr val="047857"/>
      </a:accent3>
      <a:accent4>
        <a:srgbClr val="DC2626"/>
      </a:accent4>
      <a:accent5>
        <a:srgbClr val="B45309"/>
      </a:accent5>
      <a:accent6>
        <a:srgbClr val="BE123C"/>
      </a:accent6>
      <a:hlink>
        <a:srgbClr val="1D4ED8"/>
      </a:hlink>
      <a:folHlink>
        <a:srgbClr val="1D4ED8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Luna Engineering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d4939b80c14cdd" /><Relationship Type="http://schemas.openxmlformats.org/officeDocument/2006/relationships/notesSlide" Target="/ppt/notesSlides/notesSlide1.xml" Id="R73dba8e8ee31405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48565e776f4929" /><Relationship Type="http://schemas.openxmlformats.org/officeDocument/2006/relationships/notesSlide" Target="/ppt/notesSlides/notesSlide2.xml" Id="R566f038ff1fd41a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35b8fe8ac64d54" /><Relationship Type="http://schemas.openxmlformats.org/officeDocument/2006/relationships/notesSlide" Target="/ppt/notesSlides/notesSlide3.xml" Id="R692680335f9e450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45bccf64134fb1" /><Relationship Type="http://schemas.openxmlformats.org/officeDocument/2006/relationships/notesSlide" Target="/ppt/notesSlides/notesSlide4.xml" Id="Rb62127f1ee4044d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d6ee90b34e4971" /><Relationship Type="http://schemas.openxmlformats.org/officeDocument/2006/relationships/notesSlide" Target="/ppt/notesSlides/notesSlide5.xml" Id="Red715ed4e5f1448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6addd1187c4601" /><Relationship Type="http://schemas.openxmlformats.org/officeDocument/2006/relationships/notesSlide" Target="/ppt/notesSlides/notesSlide6.xml" Id="R432a19159a8143e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1a628f6b3543ab" /><Relationship Type="http://schemas.openxmlformats.org/officeDocument/2006/relationships/notesSlide" Target="/ppt/notesSlides/notesSlide7.xml" Id="Rb96249c61dcf43a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3634a2a9704b05" /><Relationship Type="http://schemas.openxmlformats.org/officeDocument/2006/relationships/notesSlide" Target="/ppt/notesSlides/notesSlide8.xml" Id="Rd3636ce5bb3c4b0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888de642414969" /><Relationship Type="http://schemas.openxmlformats.org/officeDocument/2006/relationships/notesSlide" Target="/ppt/notesSlides/notesSlide9.xml" Id="R696f83594ca24d1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ef1e82d4e54340" /><Relationship Type="http://schemas.openxmlformats.org/officeDocument/2006/relationships/notesSlide" Target="/ppt/notesSlides/notesSlide10.xml" Id="R11c8fb78fdc34c9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3688ecb0f5424a" /><Relationship Type="http://schemas.openxmlformats.org/officeDocument/2006/relationships/notesSlide" Target="/ppt/notesSlides/notesSlide11.xml" Id="Rb7f542698c21472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91faa47f9248ba" /><Relationship Type="http://schemas.openxmlformats.org/officeDocument/2006/relationships/notesSlide" Target="/ppt/notesSlides/notesSlide12.xml" Id="Rf51f15e32d174a1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5d6cf71627435b" /><Relationship Type="http://schemas.openxmlformats.org/officeDocument/2006/relationships/notesSlide" Target="/ppt/notesSlides/notesSlide13.xml" Id="R2fbd2c7b6e9748b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9f7d3f80d44a40" /><Relationship Type="http://schemas.openxmlformats.org/officeDocument/2006/relationships/notesSlide" Target="/ppt/notesSlides/notesSlide14.xml" Id="Re9265ba9cce44cd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fba066fa7840ec" /><Relationship Type="http://schemas.openxmlformats.org/officeDocument/2006/relationships/notesSlide" Target="/ppt/notesSlides/notesSlide15.xml" Id="R5df8d40738804a3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4a456e1b204fa2" /><Relationship Type="http://schemas.openxmlformats.org/officeDocument/2006/relationships/notesSlide" Target="/ppt/notesSlides/notesSlide16.xml" Id="Rc6ad7db6b0ff4b5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3db24ecdc84a28" /><Relationship Type="http://schemas.openxmlformats.org/officeDocument/2006/relationships/notesSlide" Target="/ppt/notesSlides/notesSlide17.xml" Id="R3762d928caa14e4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11279970b94494" /><Relationship Type="http://schemas.openxmlformats.org/officeDocument/2006/relationships/notesSlide" Target="/ppt/notesSlides/notesSlide18.xml" Id="Rfa5f3b836ca74b7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B17882-6B6C-4073-AD6A-E5006CB6C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892B7A-9E86-47C2-83C7-21B9D9010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26670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FF6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95A9B7-6B9A-4799-B815-A528C319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2476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大模型推理性能理论论证 · 评审汇报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8294E5-4455-4D62-8DC4-F0D0D121C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统一异构 KVCache 存储池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EAA9C6-877A-429D-B1B4-A19541650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推理性能理论建模与 KPCL 通信需求推导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26E1C8-8B65-4937-834F-2BC48310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条件可行性论证 · 以关键路径、资源约束和可验证接口为主线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9F9F1D-D37F-4CDD-8E56-8AEFEB43E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05125"/>
            <a:ext cx="3333750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22AF3B-9EC4-4BE4-B42C-E7C7AC520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861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TTFT 关键路径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D7810C-96BF-480B-BD8E-F726ED9EF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查询只是局部环节，收益取决于暴露加载占比与可重叠依赖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52360C-5A12-4829-BCAB-30176262D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05125"/>
            <a:ext cx="3333750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114222-819B-4DAB-AE19-C4A538402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861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TPOT 干扰预算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3BED3D-D8D6-4F7D-9BCF-507E3DB28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42900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β 表示前台有效显存服务速率损失，不等于后台 NIC 带宽占比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F1E693-C296-4BFB-9196-758A554CF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05125"/>
            <a:ext cx="3333750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A2BC2A-E949-48B9-8243-596814E8D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861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尾延迟与库能力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D3253D-D837-4985-8ACF-DAF07911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42900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把突发、组完成、服务下界转换为可执行通信契约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1BC8B2-86E7-404F-BE0A-8EA4DC998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评审目的：确认哪些机制值得进入最小验证闭环，哪些结论仍需参数校准。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E7AA2E-77B2-40B6-8B9A-D364FD645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2026-09-07  ·  Luna 构建版  ·  正式演讲版 / 预审提交版</a:t>
            </a:r>
          </a:p>
        </p:txBody>
      </p:sp>
    </p:spTree>
    <p:extLst>
      <p:ext uri="{BB962C8B-B14F-4D97-AF65-F5344CB8AC3E}">
        <p14:creationId xmlns:p14="http://schemas.microsoft.com/office/powerpoint/2010/main" val="18943522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F1BF182-1DB6-4CCD-A2C0-7F4D57FE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证据边界：已有查询结果证明了什么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AF3243-EAB0-4C3D-A36E-FEEB917E2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先把“已知观测、理论算例、待测参数”分开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61B586-7F07-4AEC-9DD6-86230EBFD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85750"/>
            <a:ext cx="9048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C9D78A-9D5A-4435-A742-78C82331D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371475"/>
            <a:ext cx="742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第 02 / 18 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E442CF-523F-48AB-AE27-2951BD93F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857250"/>
            <a:ext cx="2524125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CFDF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3DCA12-66D7-47A8-B2D2-DB198745B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914400"/>
            <a:ext cx="23336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用户口述观测 · 绝对值未知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CF046B-53F6-437B-BEAE-11AD1B7B7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23B057-E845-4B8E-89D0-4509BCA01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23975"/>
            <a:ext cx="1943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对象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AA4DF0-0258-428B-A048-9D3C9E2D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5730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64A6F2-9FAF-4FDF-9617-3985480B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323975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当前可采用表达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D31828-31F8-4041-B338-0B9C6210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25730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3FCF89-AB63-4783-AB8E-9FC38B5B1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323975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不能由此推出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38E07A-295A-4201-87BA-E59712C5B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257300"/>
            <a:ext cx="276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5A93A9-2805-4CA2-9BA6-D8E97C4EB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323975"/>
            <a:ext cx="2609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下一步校准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C00D3-9A1C-49B1-9F5F-169B651C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A44F16-9D90-4BE0-B0D4-56F57258C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943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16K 单请求查询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67402A-B216-4AB5-A816-BA42C2CEF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581150"/>
            <a:ext cx="2571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B04BD5-2420-449D-ADB8-F34CD30E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647825"/>
            <a:ext cx="2419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TCP 几毫秒级；RDMA 几百微秒级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AC35A3-7866-46FE-9311-C7F093F3E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581150"/>
            <a:ext cx="2571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01291D-CC0A-4A61-8350-6B4B0F7EB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647825"/>
            <a:ext cx="2419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rPr>
              <a:t>并发容量、生产分布、P50/P99、端到端 TTFT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405309-6DCD-4423-9F61-D32CCC2E5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81150"/>
            <a:ext cx="2762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028DBE-C7F6-49AD-AA31-BEE55FCA4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647825"/>
            <a:ext cx="2609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补齐计时起止、重复次数、并发与分位数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5EDEB0-2513-4BC5-B5C8-673B63DAB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BBECE6-A986-4662-9201-6E44171B3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43125"/>
            <a:ext cx="1943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URMA 相对 RDMA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E01309-0649-4FCF-8F1E-ACFF8E6E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076450"/>
            <a:ext cx="2571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847454-9FA6-49DF-AC82-CB1F304D7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143125"/>
            <a:ext cx="2419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查询时延进一步降低约 30%～40%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517081-B872-4093-B456-E197CB1D3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076450"/>
            <a:ext cx="2571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0D6CA7-D124-4046-B2A8-5155C6BA7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143125"/>
            <a:ext cx="2419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rPr>
              <a:t>TTFT 同比例下降；更不能推出 QPS 改善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6A56E9-778E-4C20-BC92-B70A3DC81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76450"/>
            <a:ext cx="2762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79BD89-6D5B-473F-99A5-F13B04A56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143125"/>
            <a:ext cx="2609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测量查询占比与排队影响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7A4A09-B992-4F46-8D82-692CE811C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175771D-9F49-4EE8-9516-B26D16AC5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38425"/>
            <a:ext cx="1943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理论模型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3D1ABB-1D61-4425-BEA0-38AF4B173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571750"/>
            <a:ext cx="2571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F6C4290-4A85-470D-A59D-DECE9A9B5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38425"/>
            <a:ext cx="2419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给出收益条件、失效区域、接口诉求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3E1D134-8A9B-4507-9559-F852754CB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71750"/>
            <a:ext cx="2571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AE56588-0C03-4FC3-85E5-0FC1373F6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638425"/>
            <a:ext cx="2419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rPr>
              <a:t>目标平台已落入可行区；E0～E3 已完成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1F69AAF-30E3-4250-9D1D-FB550C247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71750"/>
            <a:ext cx="2762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343F54D-E684-4697-BB7D-5D6023AB5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38425"/>
            <a:ext cx="2609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用最少预验证收紧关键变量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E6553B2-BA28-412B-B729-70CDAD81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670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64B43D8-6164-41D4-B597-1B844E4B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33725"/>
            <a:ext cx="1943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自研增量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3E16226-D1D2-4BCA-BE2A-8B1CC4200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67050"/>
            <a:ext cx="2571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2DBE4EE-747E-42F8-8759-5D0A76264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133725"/>
            <a:ext cx="2419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只与已有缓存系统的共同能力做比较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630DAD7-B385-4595-8482-60042640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67050"/>
            <a:ext cx="2571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E97FAC6-7F86-4C50-9B1D-2A30B4957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133725"/>
            <a:ext cx="2419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rPr>
              <a:t>把通用命中收益再次归给自研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B393D56-3924-4AC3-9176-8A13A1F35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67050"/>
            <a:ext cx="2762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EB461B8-484B-4EF3-B1F0-6FBBE0FB2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33725"/>
            <a:ext cx="2609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固定基线后测暴露加载占比与控制开销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962A8E7-F726-41A4-B817-506DAEC93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05250"/>
            <a:ext cx="5238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D3ABDFC-4C9E-4FEC-ACB0-4C63831B9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评审要先接受的三条边界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7EECC0C-304B-4E5E-A1B7-7ECF129DD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单请求查询数据只支持“查询局部收益”判断。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3DC9BC0-A843-4BF2-AAED-CFAB3F862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理论数字均标注条件边界，不代表实测或保证。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17F8CEB-9678-4536-9958-56759561E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E0～E3 是验证目标，不能写成完成状态。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53CD7AB-FE99-45E2-99F0-1A16BD56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05250"/>
            <a:ext cx="5524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BE123C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9F18410-E34B-4F85-9E72-865700F69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148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rPr>
              <a:t>本次主论证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C95D2E4-B1A3-4E3C-8CEC-BE7E22C4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577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把性能问题拆成三个可复算命题：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37A6326-82D0-481F-BCA5-07B8F3BDD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625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加载是否暴露在 TTFT 关键路径上。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55E8A2E-B7F1-4B27-A5A8-008C89AE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482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后台操作造成的前台有效显存服务损失。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4910E27-7203-4B90-BB3C-9E5E4251F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334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突发、组完成和服务下界如何进入尾时延。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B40E850-4533-42A5-BE01-2A95BE9C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11087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49A59C2-2524-480A-A314-9DD650C7C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C31F3BA-37D3-4FCD-A463-CABF9263D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【核心结论】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705F2C9-49F0-4321-8118-85ED7822D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3341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证据分级：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5DB925A-E5F4-4BFE-A450-D1E12B3EA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6334125"/>
            <a:ext cx="847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先证明“有条件可行”，再用最少验证收紧参数；不把局部查询加速当作整套系统成绩。</a:t>
            </a:r>
          </a:p>
        </p:txBody>
      </p:sp>
    </p:spTree>
    <p:extLst>
      <p:ext uri="{BB962C8B-B14F-4D97-AF65-F5344CB8AC3E}">
        <p14:creationId xmlns:p14="http://schemas.microsoft.com/office/powerpoint/2010/main" val="9156475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3CFD4C4-4981-4A3B-A1CD-D824F84B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四类业务场景：指标、依赖和边界必须对齐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929FC6-6D08-4B2E-889B-CBC780F72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复用、持续生成、并发加载、冷会话恢复分别建模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F3B9FA-B55C-45BF-A412-EBDC4A1A0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85750"/>
            <a:ext cx="9048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F33D61-BDA0-47E7-AD03-0AF6F216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371475"/>
            <a:ext cx="742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第 03 / 18 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341F1C-5E1A-4BEA-AA62-867C60F7F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5238750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67033E-424C-4088-96EA-448E3B4E0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长公共前缀 / 多轮会话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2986CC-F7C4-4E65-B0AE-BB42678CC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049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首要指标：TTFT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520506-F503-4EEB-91FC-CAC6AA22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621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查询、加载、设备接入、剩余输入计算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9830E8-AA63-4D0D-A9EA-FC880AC43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前缀复用减少 Prefill；收益要扣除加载与准入成本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9979F4-913F-4613-BEDB-53192656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238250"/>
            <a:ext cx="5238750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1CA37B-108F-4EFF-B2C2-D124B805C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3906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已接入本地缓存的持续生成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8B5CC2-7B7E-4742-A4B8-A4D1E714E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049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首要指标：TPOT、ITL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0757D7-78B1-40B4-907E-2D429304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621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每步模型计算、显存访问、多卡通信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FB5215-E1B0-4846-BEB6-9C3B2629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4790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后台操作影响前台有效显存服务速率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1D4C80-D759-4622-8426-FE12A1B83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0"/>
            <a:ext cx="5238750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D9D1AD-9656-46AD-A20B-B53F8C1C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多请求、多源、多卡并发加载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6BB87B-7AA8-4E08-8F12-C75E0F9E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194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首要指标：TTFT P99、ITL P99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B692EE-C894-4649-BB7C-57EFFC9F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汇聚队列、最后一个必要子流、共同接收资源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A7A292-4766-4E88-B9E6-D601978CC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6240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组完成由最慢必要成员决定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665A1B-ED04-44BC-B5D5-EC61DB51D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52750"/>
            <a:ext cx="5238750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BE123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4D0D6F-ABCB-4688-A7DF-A2441A2CA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05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rPr>
              <a:t>冷会话恢复 / 容量压力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4AB118-2A60-4FD5-BD0F-4CBFBB0B0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194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首要指标：TTFT P99、恢复期 ITL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178260-59B6-463A-B11D-AE675B1B2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766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存储读出、正文加载、换出进度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1E1BA0-09F1-413A-8B88-BAAF4CC9F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6240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平均容量可行不等于突发时限可行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884D10-7D0F-4B12-A375-497F06E0D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05375"/>
            <a:ext cx="514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5B3072-2C2E-4A1D-8581-BE1A909DE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4914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TTFT = t₁ − t₀（入口到首 Token 可见的时间）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13A547-13EE-4AEF-A68A-AFF1D2FBC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05375"/>
            <a:ext cx="5524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16A28E-A7D3-4F05-9A34-A5891DCAB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991100"/>
            <a:ext cx="529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TPOT = (tᴹ − t₁)/(M−1)（输出 Token 平均生成耗时）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7FA71C-C3DB-494D-85AF-B0722B15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97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ITLⱼ = tⱼ − tⱼ₋₁：局部停顿；客户端按块接收时不能把块间隔直接当成逐 Token 间隔。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3F55DD-4B47-4984-85C0-39E9C7CB2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11087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95158C-7D6F-453B-8537-806BBFCD0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F8C9C2-558A-4B6A-B102-AB41A718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【核心结论】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6897308-EE22-4C3A-9A86-A51512AB8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3341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指标口径：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3405A9E-6598-43A7-A82C-E469CB3FA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6334125"/>
            <a:ext cx="847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从同一组时间戳出发，失败与超时请求留在到达分母中，P99 不能靠删掉最慢样本得到。</a:t>
            </a:r>
          </a:p>
        </p:txBody>
      </p:sp>
    </p:spTree>
    <p:extLst>
      <p:ext uri="{BB962C8B-B14F-4D97-AF65-F5344CB8AC3E}">
        <p14:creationId xmlns:p14="http://schemas.microsoft.com/office/powerpoint/2010/main" val="8900461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73008DC-1FBA-4F9A-A479-82E838FCA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TTFT 的关键路径来自依赖图，而不是模块时延相加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02D6B7-795E-4B31-B63C-46DEE452A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DAG（有向无环依赖图）把可并行和必须等待的关系写清楚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BDDBCF-4AA4-4370-96AE-4C57E9324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85750"/>
            <a:ext cx="9048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DF1D73-CC12-45F7-B829-D177130BE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371475"/>
            <a:ext cx="742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第 04 / 18 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4C2194-8100-4D30-83ED-D843FA36A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57250"/>
            <a:ext cx="1809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EF3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D3A708-6F42-451F-BC0D-17EC75FAD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914400"/>
            <a:ext cx="1619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理论算例 · 不是硬件实测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6E4603-F7C6-44AE-9CDB-818E8E044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381125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E98E87-B96B-43F4-8D0B-E39973B8E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800225"/>
            <a:ext cx="12096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入口与排队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A7CA55-A126-4F79-B45E-C1995A62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619250"/>
            <a:ext cx="1381125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FF6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254B67-9DC3-49F5-82BB-392C7B10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800225"/>
            <a:ext cx="12096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身份及候选查询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C43762-116F-46CF-884D-ABB355605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19250"/>
            <a:ext cx="1381125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FF6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354227-3309-4E9C-8516-24C9D05D7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1800225"/>
            <a:ext cx="12096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资格校验与加载决策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22D66F-EC86-4F33-A333-EFE38AB51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619250"/>
            <a:ext cx="1381125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FF6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506039-10F5-411A-A3D6-AA74ADD0D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00225"/>
            <a:ext cx="12096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源持有 / 目标预留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CD8145-F3E7-46DD-BB4C-0D6CB972C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19250"/>
            <a:ext cx="1381125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FF6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86692D-7C0F-44FC-A6B8-2941D7556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800225"/>
            <a:ext cx="12096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批量提交 / 正文加载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A84861-A52E-40F9-8807-CEB86E674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619250"/>
            <a:ext cx="1381125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FF6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61A718-FD64-458A-AB52-3BED30E3E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800225"/>
            <a:ext cx="12096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目标设备可消费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57390B-F00A-40C8-9BFB-E5AEE02FE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48000"/>
            <a:ext cx="1381125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EF3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9C2E36-2852-4911-944C-0F116F9AB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228975"/>
            <a:ext cx="12096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必要多卡范围就绪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8507B8-7F45-44E2-8A0F-F501C4BA8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048000"/>
            <a:ext cx="1381125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CFDF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2B7EE5-1C58-4607-A055-F15082098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228975"/>
            <a:ext cx="12096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剩余输入计算 / 首字返回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4C16D0-BDE7-4BFF-9E4D-08CBC1095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895475"/>
            <a:ext cx="1143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D4E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ED9FB3-BF45-46F7-A23C-7ED82D09E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95475"/>
            <a:ext cx="304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D4E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1CF1CA-4D35-4084-B484-780D30C2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895475"/>
            <a:ext cx="590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D4E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9DDD96-9EED-44D6-BFDE-0F8EE055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95475"/>
            <a:ext cx="4953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D4ED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5373CD-59C4-4287-9411-5B32FC68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895475"/>
            <a:ext cx="1143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D4E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21ECE5-4FC8-4878-8805-7B450265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171700"/>
            <a:ext cx="953" cy="876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D4ED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E49668-5B7E-43F0-9236-58127DA6F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324225"/>
            <a:ext cx="476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D4E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220559-BDBA-46ED-A848-0D512140F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324225"/>
            <a:ext cx="1809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D4ED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990253-F3EB-4F49-84E7-A46801A0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48000"/>
            <a:ext cx="16192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BE123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EFFE29-1460-431E-8080-1DC22AACF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238500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rPr>
              <a:t>框架重算准入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A3CE1C-2754-4909-8E48-906025378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171700"/>
            <a:ext cx="953" cy="876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E123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A0D1FC0-FFC9-426C-A508-85A80D942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24225"/>
            <a:ext cx="3810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E123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34024AC-C6A4-4EC7-B4FE-45DAF242A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7239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CA83AA3-55B9-4731-BFFA-2B66DBF1A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701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fᵥ = dᵥ + max(fᵤ)（任务 v 完成时刻 = 自身耗时 + 前置任务最晚完成）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BDE3FC5-ABFE-4E54-8FC7-A177266F3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95750"/>
            <a:ext cx="3238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B3CFE05-47CC-4CA1-9278-93FFA2D51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672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三条记账规则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572C663-83E9-4C7A-90B5-2BFD0CF6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720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组完成已含数据到齐，后续只加额外协调。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A1912BC-62AE-4FB8-99B7-E4BE2E64B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196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可见性若含在传输完成定义中，不重复添加。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06D1A74-49A1-4C35-A31E-51B7422EB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76875"/>
            <a:ext cx="704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共享网卡、显存、CPU 或计算引擎的排队要作为资源约束加入图。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14196AE-3336-41ED-880A-D0C7F571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11087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E307D0A-9C35-484F-ABD2-61EC0808F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D4C4802-8923-4E9F-8E74-933205F38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【核心结论】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7AD48EC-8CD6-494E-B752-6347B2BB3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3341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关键路径：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ECD8032-0621-4F62-8DAF-440C2B38C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6334125"/>
            <a:ext cx="847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每个节点只能按真实依赖结算；缩短非关键节点可能不改变 TTFT，改变队列负载还需重算日程。</a:t>
            </a:r>
          </a:p>
        </p:txBody>
      </p:sp>
    </p:spTree>
    <p:extLst>
      <p:ext uri="{BB962C8B-B14F-4D97-AF65-F5344CB8AC3E}">
        <p14:creationId xmlns:p14="http://schemas.microsoft.com/office/powerpoint/2010/main" val="17454676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FB1AB38-487C-4A68-8E8F-1DE6C5D89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查询 Amdahl 上限：URMA 局部加速不能单独承担端到端目标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821E82-93BF-40DD-A48C-CDDF2C9E2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只有查询占比足够大，局部收益才会显著暴露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EE44C4-7CBD-4401-A10B-1CD2E88EE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85750"/>
            <a:ext cx="9048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293A10-C579-4C1E-AC14-FFDC19B02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371475"/>
            <a:ext cx="742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第 05 / 18 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58E9FD-1C70-4B2D-BFB0-327BC9CE7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857250"/>
            <a:ext cx="2524125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CFDF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CE06C5-778B-4734-B310-9637841E0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914400"/>
            <a:ext cx="23336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用户口述观测 · 绝对值未知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2BC869-0F02-441A-92FF-2EF221B73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6858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CBE18A-7337-4488-92CA-1EC113D5C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43025"/>
            <a:ext cx="662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TTFT 直接降幅 = r_q · f（r_q：查询自身降幅；f：查询占原 TTFT 比例）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F29C2F-57E6-4811-BED5-C0ED3B216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574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若 r_q = 30%～40%，目标 γ = 20%，则查询占比需满足：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C8D621-2464-421E-A15D-24CAFF20E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504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7BCB33-BFC2-40EF-AA02-B92F838EE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66975"/>
            <a:ext cx="4819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f ≥ γ / r_q  ⇒  f 约为 50%～66.7%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6E4F59-9D16-4FA2-956E-1047362D6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5524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BE123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797DFA-1398-4B36-AA5C-A08963040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098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rPr>
              <a:t>边界解释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00AD88-52C8-4789-B562-053E43A2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717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若查询只占 TTFT 的 10%，局部降幅只折算为约 3%～4%。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DC7854-2460-4BB2-B7CF-66F4EDC91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14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查询并行于其他工作时，直接收益可能更低。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EDC69B-9E73-4D78-BF9C-3AC5AC02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575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查询服务接近饱和时，额外排队收益需另建模型。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90435E-66A1-497D-BFC9-2D44E5CDD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7239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7ABB16-A283-4997-B516-8579A943D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86400"/>
            <a:ext cx="6610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4748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7D481E-B5EF-47A1-843F-8A1132CDD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71950"/>
            <a:ext cx="953" cy="1314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4748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5E1D72-CADC-43D7-9A5B-4C2A4CEE9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6260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10%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4ABFC2-A38C-43F1-AD57-FF9247555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7786" y="556260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20%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7F48D4-C7D1-425E-B3C9-C8B0B7B8C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2121" y="556260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30%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7909FF-60D5-423C-B7AD-E219E25A4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6457" y="556260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40%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BB4957-37AC-4AD3-924B-9439CF3CA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0793" y="556260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50%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EF1633-FC8E-4016-B8B9-CB96E132A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5129" y="556260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60%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339C27-3362-4B38-916C-D489CCBB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9464" y="556260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70%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6DEA1E-ACCC-4C3E-97E2-FB0EA0F9F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56260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80%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5CE244-A3F8-48BF-B2C5-39891416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33459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5ECDBD-F134-49DE-A979-D413A65F4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9711" y="5211366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666A37-A622-48FB-9147-35F6D4BC0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39941"/>
            <a:ext cx="944336" cy="1232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D4ED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7B11AF-D9E8-4F5C-B723-8EF8E2689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4046" y="5088136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E4B5C9-E9C2-40BA-8CB7-E65B6D26F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8286" y="5116711"/>
            <a:ext cx="944336" cy="1232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D4ED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91D78AB-B0AD-4B09-B3CC-D3F89CB6C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8382" y="4964906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0FD4E08-14BB-4390-B15E-3BCE6B876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2621" y="4993481"/>
            <a:ext cx="944336" cy="1232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D4ED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6550F8-904A-4817-867F-76783377B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2718" y="4841677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5FB9B7C-9D50-4438-8026-A7D95BEDA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957" y="4870252"/>
            <a:ext cx="944336" cy="1232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D4E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ECDB36B-70E8-4BD1-B78B-617438B78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7054" y="4718447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4AB0B67-732C-424C-8C6E-5FDAA000F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293" y="4747022"/>
            <a:ext cx="944336" cy="1232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D4E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4BEF26E-4BD7-46D6-A136-C2F969734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1389" y="4595217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28C7D44-5DE3-4D68-BB5D-3D919EB69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5629" y="4623792"/>
            <a:ext cx="944336" cy="1232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D4E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36920AC-6EE8-425A-B9B4-8ADFB9817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4471988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957EC13-B6CC-4E86-BB73-7AE57FFFC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9964" y="4500563"/>
            <a:ext cx="944336" cy="1232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D4E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59BCEDE-2AA2-4B52-B0A2-90CE556F5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293519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95CFA97-3379-42C8-9205-BE6BF2C86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9711" y="5129213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05EAD61-6FAB-4AAB-B19B-CFCC64D1C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57788"/>
            <a:ext cx="944336" cy="1643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4785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099CDA1-865B-4CBE-8D01-9BCACD2DC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4046" y="4964906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77D0BFC-95FF-4BA4-A77E-6299AB0F8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8286" y="4993481"/>
            <a:ext cx="944336" cy="1643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4785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B2BF432-BDA7-4D9D-8F41-06E745F5E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8382" y="48006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2A59678-4D7D-4891-8CD7-DEADF759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2621" y="4829175"/>
            <a:ext cx="944336" cy="1643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4785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96459C0-696F-4C7F-90BC-0FB835BD5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2718" y="4636294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E6D3E6E-80C1-4487-BF6D-F2B81B9D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957" y="4664869"/>
            <a:ext cx="944336" cy="1643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47857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E1D68FB-6EA1-44A6-B928-BFAF54B83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7054" y="4471988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5CEF7AB-1C6A-4BF7-AB6C-DFB5CA157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293" y="4500563"/>
            <a:ext cx="944336" cy="1643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4785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58BA9E8-8038-4FCC-AB60-3657C9C0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1389" y="4307681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3A226F4-C05B-4DEE-A9F1-80F60EB89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5629" y="4336256"/>
            <a:ext cx="944336" cy="1643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47857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6E35E3F-331F-4C6B-B3CD-282DB3B78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41433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5DC5D10-00D9-4065-81C4-D775386FA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9964" y="4171950"/>
            <a:ext cx="944336" cy="1643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47857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DC2BC2C-4E74-40C9-8D42-FA566122E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1714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D4E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7F90465-DA40-4322-AACF-3BDE3BE27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029075"/>
            <a:ext cx="1143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r_q=30%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C4B3FA4-592D-4456-9A9D-953276BA4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57675"/>
            <a:ext cx="1714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47857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DC3C89A-E68D-4EEA-83A4-0D9DC0C27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191000"/>
            <a:ext cx="1143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r_q=40%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7E985ED-B801-4B1F-93EC-EFB47EE40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95750"/>
            <a:ext cx="34290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02ABF40-7FE5-4F4B-B07F-81C1A22CA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2862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曲线读法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5A25F32-EDB4-43ED-8841-89628484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64820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横轴：查询占原 TTFT 比例 f。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018955B-8732-4A9D-A8DB-E38900FCB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91490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纵轴：理论直接降幅 f·r_q。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313A990-53E7-4241-85C5-24FD34E95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18160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不含并发排队和关键路径变化。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1ED142D-A9E7-4C39-88AF-A2485DC97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11087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DD8BE5C-05D4-4F44-8EEE-9E326592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96F0F6F-3F10-4E43-A5B4-8C68F6987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【核心结论】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860E2A9-1832-4EA4-B7CA-7537CFD5C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3341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查询结论：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8B1DDB5-63FB-4990-8130-A4F3B088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6334125"/>
            <a:ext cx="847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已有数据可作为查询环节的协议对照，却不足以证明端到端 TTFT、QPS 或 P99 改善。</a:t>
            </a:r>
          </a:p>
        </p:txBody>
      </p:sp>
    </p:spTree>
    <p:extLst>
      <p:ext uri="{BB962C8B-B14F-4D97-AF65-F5344CB8AC3E}">
        <p14:creationId xmlns:p14="http://schemas.microsoft.com/office/powerpoint/2010/main" val="18517161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9C5AD3-060C-4A96-BA81-D9BC48F3E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复用收益先从字节量和计算量算清，再反求加载预算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0D2EB0-F11E-44C3-BAFB-95813120D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KVCache（大模型历史 Key/Value 激活状态）复用的收益不是命中 Token 比例的线性函数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2BEDCB-8346-468F-BA11-030689142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85750"/>
            <a:ext cx="9048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2BC52B-29A7-4701-8E40-DFD8595F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371475"/>
            <a:ext cx="742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第 06 / 18 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E82E4E-55F2-4AD8-85D7-5E9F6ECAF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57250"/>
            <a:ext cx="1809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EF3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2ACF2C-E17D-4717-9472-B9448F835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914400"/>
            <a:ext cx="1619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理论算例 · 不是硬件实测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917A1D-5E43-4B30-913F-AD96F3E6A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495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1DF4A6-6803-4BEA-A6A7-B646FAF1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4724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V_logical = 2 · L · p · H_kv · d · 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B5B069-322A-46D4-B7FB-F4098F7A2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47850"/>
            <a:ext cx="561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L：层数；p：可复用前缀 Token 数；H_kv：KV 头数；d：每头维度；w：每元素字节数。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35748F-27DA-45AF-9435-FE2AA869B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495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BB09F3-9EBA-47C5-8B2F-E439689CE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66975"/>
            <a:ext cx="4724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ΔF = a·p + b·p(p+1)/2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DD44F4-AE87-47B4-A8E2-FE4F87CE7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90850"/>
            <a:ext cx="542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a：每 Token 投影/前馈计算系数；b：因果注意力位置对计算系数。后缀仍需对前缀做注意力。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FA36DF-9E8B-4868-8748-F44FB280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238250"/>
            <a:ext cx="53340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BADCBC-BBDF-4FD5-8797-4BBBD9D9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4382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物理限制只给下界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0345D5-4731-46FC-8520-43D53FDD6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85950"/>
            <a:ext cx="4762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C1649F-5371-4234-B914-4C325574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971675"/>
            <a:ext cx="453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T ≥ max(F / P_max, V_mem / B_max)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F1BE1A-A45A-4FE5-8228-7A1561C6D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71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P_max：计算能力上限；B_max：显存/总线带宽上限。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0990C7-3E72-42EB-8DB0-CA2273DA7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956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峰值带宽用于排除不可能情况，不能直接当作可交付上界。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5508E0-B5F8-44E9-87F1-30075EC67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19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实际字节量要覆盖布局、量化、对齐、重传与副本。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B06D8F-C63F-4479-AB2D-CA0D22A6E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11049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2452E4-BE90-4F3A-A67A-2E907EE30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从 TTFT 目标反求加载预算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FC65A0-8240-4348-A9F5-C13C4D40E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T_reuse = U₁ + H + A + V/B + P_s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4407A6-7D5B-4975-B1D6-D41BC73A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292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R_budget = (P₀−P_s)+(U₀−U₁)−H−A−γT_recompute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AC8D38-9B2C-4C47-936D-976FE484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14875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若 R_budget ≤ 0 且 V&gt;0，则该顺序加载路径无法达标。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8D7026-C4B4-4556-A8E1-5E9B1BAA6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11087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1C1DEA-15F3-4D0D-A9E3-416CAF7A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A45EF0-FF4E-4350-86B9-4DEF3A32C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【核心结论】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E06E01-3552-4F49-9D04-C6FC93FA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3341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计算基础：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73701D-F56E-4427-A5FC-E0957AA62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6334125"/>
            <a:ext cx="847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先按模型结构求真实字节量与可节省计算，再把目标降幅转成可检验的有效带宽预算。</a:t>
            </a:r>
          </a:p>
        </p:txBody>
      </p:sp>
    </p:spTree>
    <p:extLst>
      <p:ext uri="{BB962C8B-B14F-4D97-AF65-F5344CB8AC3E}">
        <p14:creationId xmlns:p14="http://schemas.microsoft.com/office/powerpoint/2010/main" val="15149646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BBCB036-C8C8-40B7-B811-77849C231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自研增量要和已有缓存基线比较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DA398A-A311-4F11-A919-4377F6C8B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只有减少基线仍暴露的瓶颈，才构成独立收益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F7F005-DBB5-45AA-A055-58A494A97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85750"/>
            <a:ext cx="9048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187BB5-0180-4008-A392-BFA90D77C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371475"/>
            <a:ext cx="742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第 07 / 18 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8CDCA3-6519-4183-B22A-C8880F98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57250"/>
            <a:ext cx="1809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EF3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E01746-B89D-4C93-86D6-842B629BE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914400"/>
            <a:ext cx="1619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理论算例 · 不是硬件实测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8AB057-D119-40C2-AF9D-845CCF15B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3619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142DC7-11CB-446B-9770-4A1B58E1F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3390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G = α(1−r) − 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5DACE6-93AF-4B69-8514-103B5373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478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α：基线 TTFT 中暴露的加载时间占比；r：增强后该时间相对基线的比例；η：新增控制开销占比。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3A7E5E-B050-433C-805C-2FCEA5D6A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495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CBF95C-B4E4-4DA2-A8DC-348A511E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66975"/>
            <a:ext cx="4724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G ≥ γ  ⇒  r ≤ 1 − (γ+η)/α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D8C0BC-F89E-433D-8B2A-4700124A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238250"/>
            <a:ext cx="5524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58AEE5-D55C-4C23-8C5B-FC7B06CD0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478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评审要问的基线问题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19F390-9EA3-442D-A039-56361C0F9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09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基线是否已经支持前缀复用？若支持，重算节省不重复计入。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8C5EF8-F59E-4433-AFE2-879A33D74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52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基线是否已有逐层加载、设备直传或前后台限速？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F082E4-92D0-4D3A-88BC-B04C0C3B7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955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新增控制开销是否仍小于暴露瓶颈空间？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8A149C-993B-42BD-A421-468AE1030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6858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424C2A-C72A-4C71-A8B2-49192D6BF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200650"/>
            <a:ext cx="6229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4748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131A6A-87B8-4329-B51D-EC159D705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95700"/>
            <a:ext cx="953" cy="1504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4748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590886-457F-4361-A3AE-BC6B9582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7685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20%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66D302-6DC6-4CB9-BA2D-B29727FF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7369" y="527685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30%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2B0E33-5711-43B6-A25E-8709F4475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6038" y="527685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40%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391775-2EA8-4D05-B9AC-6EB39FAA2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706" y="527685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50%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807A7D-3FD2-47D7-955E-AEC5F262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27685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60%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24B1FD-5DB1-44A5-A512-8C132B7E8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2044" y="527685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70%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1AF554-A05F-4E2F-82B6-C067C483D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0713" y="527685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80%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543D21-4390-4697-965C-31481B76A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381" y="527685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90%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587143-F12F-4AD7-819A-BE67D09C0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27685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DB67EB-A8C7-49FE-9A2A-ED1EF1329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7963" y="51720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E1E765-0B54-44B0-820A-3DAC6E62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6631" y="49212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23BF11-BE33-40D7-9E55-4EAB2FA2B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8" y="4949825"/>
            <a:ext cx="778669" cy="250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D4ED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17C01C-D681-44D0-984F-86FFD497E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704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407E465-FCC0-4BE6-8BC2-0EBD822B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5206" y="4699000"/>
            <a:ext cx="778669" cy="250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D4ED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1244524-3AFE-406B-926B-2C6285494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3969" y="44196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99F03C5-B17B-4FAB-A08D-FCC7D9CAA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448175"/>
            <a:ext cx="778669" cy="250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D4E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16C3759-9AB0-4D5C-AAEE-0872EA43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2638" y="41687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47A3801-F22B-4A78-B657-B4D6C2B4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2544" y="4197350"/>
            <a:ext cx="778669" cy="250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D4E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DBA6098-A1FB-4AA9-84DE-48FD472EB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1306" y="39179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800F3A5-8995-434B-A8F8-8FF10B900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1213" y="3946525"/>
            <a:ext cx="778669" cy="250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D4E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5FE0248-0A60-437B-ABF0-66C7A41F8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6671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9A0E0E-45CC-422A-988C-86A4F9D52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9881" y="3695700"/>
            <a:ext cx="778669" cy="250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D4E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B948435-5939-48E1-8C64-FBE688728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6631" y="4946333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184E387-B34A-40BF-BC76-0D2445C3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95508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74C1528-5436-451A-BAF3-75A562A3B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5206" y="4724083"/>
            <a:ext cx="778669" cy="250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4785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AE70A5F-65A8-47C8-8715-DF906E5A0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3969" y="4444683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AF97E4A-8FDF-430A-8EBC-6122423A2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473258"/>
            <a:ext cx="778669" cy="250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4785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FB8FB59-286E-4F43-9258-376614242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2638" y="4193858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194B97F-FE76-49AC-A1C3-2E2372A7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2544" y="4222433"/>
            <a:ext cx="778669" cy="250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47857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92D9028-8883-4645-B16B-729FA4F75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1306" y="3943033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57D8337-69C2-4AC8-8FB9-90E5ED362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1213" y="3971608"/>
            <a:ext cx="778669" cy="250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47857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3F69903-1559-4AA7-A87B-603BF1D5B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692208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6FB4F65-4FBE-4E38-A4BC-4C7D87AF2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9881" y="3720783"/>
            <a:ext cx="778669" cy="250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47857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F2E1B90-C301-4F26-ADA8-C0601582B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6631" y="4996498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E9B9E56-26DC-4196-AC79-49881FF52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745673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4C22627-078C-4238-980E-0D37E0750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5206" y="4774248"/>
            <a:ext cx="778669" cy="250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DC262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A1792CD-A831-42A3-BB06-577B8BC7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3969" y="4494848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51A347A-7AC3-4561-8BBB-3FE1DB93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523423"/>
            <a:ext cx="778669" cy="250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DC2626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6A02D96-3D16-474B-9386-C4D7AE747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2638" y="4244023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285650A-450F-4B2D-ADC4-48F3AFD4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2544" y="4272598"/>
            <a:ext cx="778669" cy="250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DC262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8E0072E-4966-4270-A473-425DD262F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1306" y="3993198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B50B796-7432-4414-9956-C41835060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1213" y="4021773"/>
            <a:ext cx="778669" cy="250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DC2626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A69124C-177E-443C-AAF4-CAEF5D6ED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742373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CDBEC74-6D04-4851-8425-57E31E9D8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9881" y="3770948"/>
            <a:ext cx="778669" cy="250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DC2626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053442F-2105-42D2-A609-0EB15499F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0"/>
            <a:ext cx="1714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D4ED8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D63E829-2A8B-48D5-B0A5-F424A1770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52825"/>
            <a:ext cx="1143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η=0%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484237C-5627-42E5-9F45-D6BC54C07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81425"/>
            <a:ext cx="1714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47857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5D5EE09-2AC4-452A-9518-CE9E61714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14750"/>
            <a:ext cx="1143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η=1%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25606B1-92AC-4B18-9DAF-FBE04A84A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43350"/>
            <a:ext cx="1714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DC2626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494BBD6-D22F-4536-9264-0E79D1F65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76675"/>
            <a:ext cx="1143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η=3%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7978EF4-8650-4AFC-89FE-17D2FE0E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197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示意：曲线仅表达公式形状；低于目标门槛的区域应视为不可行。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519177E-C2E5-4B67-B44D-D919934D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24250"/>
            <a:ext cx="3524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BE123C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EF8A408-76FA-4F1E-9734-8337C17C3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338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rPr>
              <a:t>不能做的归因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CD22313-328A-4167-B59D-B59CF647F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1148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不能把通用命中收益再次写成自研收益。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18FB5AD-DD15-4D40-86F7-B762435F4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5148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不能把查询、流水、容量提升的百分比直接相加。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7581003-3E4D-4AF3-970C-B102E2C10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029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基线已有能力必须逐项核对。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927C3D5-FF52-4008-8B1B-AE1291C4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11087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A57B74F-18C3-40FC-A091-3FE262200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413E09E-27F1-4EC3-B747-29C92AB00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【核心结论】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8CBFF18-A221-400F-8935-69C9EC696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3341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自研价值：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D28E768-AC46-4556-A215-40D2FF36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6334125"/>
            <a:ext cx="847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自研增量的证据是“相对同等缓存能力仍减少关键路径或资源冲突”，而不是重新计入通用缓存收益。</a:t>
            </a:r>
          </a:p>
        </p:txBody>
      </p:sp>
    </p:spTree>
    <p:extLst>
      <p:ext uri="{BB962C8B-B14F-4D97-AF65-F5344CB8AC3E}">
        <p14:creationId xmlns:p14="http://schemas.microsoft.com/office/powerpoint/2010/main" val="16222545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69D6F41-322C-4CD7-B70B-DD9B441D5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逐层流水的收益有构造性证明，也有明确边界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2B6587-CDA3-43F3-AB7E-269D7678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流水能减少暴露加载时间，但端到端收益取决于真实依赖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64FD7D-E7AC-449A-AB97-C276A0444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85750"/>
            <a:ext cx="9048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0F8B2D-28E1-4922-8A20-AD98CEDE2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371475"/>
            <a:ext cx="742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第 08 / 18 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027716-3DD3-4C63-B06C-E804F563A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57250"/>
            <a:ext cx="1809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EF3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8736BB-B5C2-4BFF-B574-FA9B30549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914400"/>
            <a:ext cx="1619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理论算例 · 不是硬件实测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A3C1D5-53E0-4412-8C91-B3E158582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6191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35CC70-9BCE-4957-982C-48988D398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43025"/>
            <a:ext cx="5962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A_l = A_{l−1}+x_l；F_l = max(F_{l−1},A_l)+c_l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E7B446-F065-4A6E-89D4-0E6199964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A_l：第 l 层数据可用时刻；F_l：第 l 层计算完成时刻；x_l：传输阶段时间；c_l：消费计算时间。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32F1BF-B947-478F-8A43-CDD59AC01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5334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FB9CCB-FD1F-4B21-B3FC-21BA97141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66975"/>
            <a:ext cx="510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T_pipe = x+c+(L−1)·max(x,c)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17B797-285E-41F9-86E9-3FD71D5F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5334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74A5E3-BC4A-4FC4-B394-E0C08F793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510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T_serial = L(x+c)；ΔT=(L−1)·min(x,c)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BB9D86-AC19-42A7-AEA7-82F2642B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257300"/>
            <a:ext cx="51435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9F3D81-1931-4528-87C6-B4A1C7D31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466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理论算例（条件明确）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6E4252-12B9-45AD-8A80-B8AF11E0E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8478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当每层 x_l=x、c_l=c，流水与计算可重叠。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0D576A-EF91-4901-9238-4AC8D3410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1907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当 x=c，子路径最大相对降幅为 (L−1)/(2L)。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36A343-9EB5-4AEC-B9D8-5BD00F564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5336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▸ L=32 时为 48.4375%，仅属于加载+计算子路径。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695FB5-16B3-45D7-89B7-530B97342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765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若并行后 x′、c′ 改变，必须重新计算。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1CEAC1-48AD-4275-AE08-BA5C9FB12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串行：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476330-4765-4FC2-A715-4F21427B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14800"/>
            <a:ext cx="7620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430143-593B-4EDF-89BA-5D4C53B7F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91000"/>
            <a:ext cx="609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加载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D9C6E4-84FD-42DD-A050-F1B01C22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114800"/>
            <a:ext cx="7620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08D398-F439-4ADD-9D95-559A79B5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191000"/>
            <a:ext cx="609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463ABE-BAC4-4865-868A-FFEBA863C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114800"/>
            <a:ext cx="7620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21E923-6811-42DE-B84B-F980D278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91000"/>
            <a:ext cx="609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加载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4EB86A-C79C-4743-BEB5-2B7A22645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114800"/>
            <a:ext cx="7620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7B37B5-1303-4E76-8ADB-4696B6EF2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4191000"/>
            <a:ext cx="609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A1B138-5B33-40B3-83EC-32E8D7E02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114800"/>
            <a:ext cx="7620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F1AA8F-BD00-467A-87B6-1F330849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191000"/>
            <a:ext cx="609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加载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E393EB-C950-4077-94CE-A73852C05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114800"/>
            <a:ext cx="7620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FDDD9D-D9BD-4CCC-AA36-3BAA216C1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4191000"/>
            <a:ext cx="609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E34B535-43D9-4BB7-81E5-1FEF4707A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14800"/>
            <a:ext cx="7620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1844040-0392-4473-B412-32BB9ABA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191000"/>
            <a:ext cx="609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加载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39AC9AE-0C65-4971-829C-C6B4C9ECF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114800"/>
            <a:ext cx="7620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A13E630-A43E-4F4D-808E-2E39DB894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191000"/>
            <a:ext cx="609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8EEA2B8-1259-4ED3-8625-259C75C3B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672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流水：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7249F11-72FF-4D64-86A5-3E203AE25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91050"/>
            <a:ext cx="4381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2CE0026-D09B-4151-B1CA-69F9384AE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6672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层1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E4F695D-95E7-4317-BB5C-D564078B2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591050"/>
            <a:ext cx="4381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39DE7A3-27C1-40F5-9458-8282D5DDC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46672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层2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AE43495-832C-44AB-8ABB-3B773080D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91050"/>
            <a:ext cx="4381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A74FF60-961F-4122-8927-43C065905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6672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层3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01BBA30-C30E-4713-95CC-5D64C45BD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591050"/>
            <a:ext cx="4381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7D0C318-6360-4FED-9D18-EABCC71C6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6672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层4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3782DC6-19E8-4174-AC5C-A99815AC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591050"/>
            <a:ext cx="4381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DC115CB-F751-4944-BC3B-BB19D65E4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6672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层5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E49E279-4DA0-444B-BE22-FCE641068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591050"/>
            <a:ext cx="4381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43B4F84-B0F4-4C1C-881D-52C9408A2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6672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层6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9FE7617-A6F4-4038-94F0-EBF7815F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91050"/>
            <a:ext cx="4381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EC84EB8-BFE7-426C-B0DD-508C2DA0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672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层7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459F84D-98B4-48D6-B282-0708FEE5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591050"/>
            <a:ext cx="4381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571E1DC-5858-40C6-AAAB-3CC9C12EA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46672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层8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2A2A058-3A0A-4C23-B7F1-89B2A3BBF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图示只说明构造关系，不代表目标设备时间比例。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37CE69E-25F5-488D-89F8-62720A04C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11087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FE08376-A06C-4522-8131-7A30F13DC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D7835AB-AD79-4EFC-8517-56ECFF45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【核心结论】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ADD6CD0-B0D7-4999-888E-392B4DAE6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3341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流水结论：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A650C26-246B-44F3-8F5A-18F9F4976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6334125"/>
            <a:ext cx="847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只有在框架允许逐层消费、计算可重叠、可见性正确关联且资源未被拖慢时，流水收益才成立。</a:t>
            </a:r>
          </a:p>
        </p:txBody>
      </p:sp>
    </p:spTree>
    <p:extLst>
      <p:ext uri="{BB962C8B-B14F-4D97-AF65-F5344CB8AC3E}">
        <p14:creationId xmlns:p14="http://schemas.microsoft.com/office/powerpoint/2010/main" val="18033427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FDB3FE0-694A-4BC9-9574-FF7E3B16B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流水能否落地，取决于框架与通信事件是否可表达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EDE831-38C8-4D6C-A1F9-ECDEC743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把“逐层可消费”拆成可验证的库能力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FADBF6-5EAA-4713-BEBD-362FB36F1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85750"/>
            <a:ext cx="9048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9CE851-4977-47C2-BD8B-FBF2D7100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371475"/>
            <a:ext cx="742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第 09 / 18 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053703-EABD-4945-994C-FC8B663C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3333750" cy="3048000"/>
          </a:xfrm>
          <a:prstGeom xmlns:a="http://schemas.openxmlformats.org/drawingml/2006/main" prst="roundRect">
            <a:avLst>
              <a:gd name="adj" fmla="val 437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6EF3F3-27AE-420A-91DA-E6195E5D0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前提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34A0B0-9C90-45E7-AA3C-97040EB0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4050"/>
            <a:ext cx="29908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7B1177-05AF-4117-A3E5-4BC885F76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28825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框架允许按层或合法范围消费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438291-87E8-4305-9D3A-BFCCB1D44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38400"/>
            <a:ext cx="29908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2E7CC8-A93F-4C44-8958-A7B40108B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43175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预取目标显存有足够空间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874250-6962-424A-AE91-6D73023FC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29908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40CAA1-2479-4CF0-BB91-12CAE02C2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57525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传输与计算可重叠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3A6E7C-7325-4FF0-8918-9989A24BD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67100"/>
            <a:ext cx="29908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C81E11-2842-4FA9-B880-9C7DB2B52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设备可见性与依赖一致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7D19BD-8D80-4FB0-AE5B-9D080A0BE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333500"/>
            <a:ext cx="3333750" cy="3048000"/>
          </a:xfrm>
          <a:prstGeom xmlns:a="http://schemas.openxmlformats.org/drawingml/2006/main" prst="roundRect">
            <a:avLst>
              <a:gd name="adj" fmla="val 437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DDB365-63DC-4006-9AA2-478D3B45B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5240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库事件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71D62A-6422-4A71-8C7A-BD4845375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924050"/>
            <a:ext cx="29908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7EB252-FCAE-4693-A4B0-0A0DABFDA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28825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分段完成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499550-8B5E-4DA4-AAE3-003773BD2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38400"/>
            <a:ext cx="29908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146B0E-D740-4A85-81E0-D30EC864C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43175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目标可见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F84FF4-43F4-46DB-A50A-994901138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52750"/>
            <a:ext cx="29908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0CFCB6-5F19-4666-A677-870D3E38D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57525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依赖满足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541808-7422-489B-A927-F18113BE5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467100"/>
            <a:ext cx="29908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DBB58A-A062-414F-9705-193005D3D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71875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取消 / 超时 / 受控失败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379F0D-3651-4673-89E6-F59965436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333500"/>
            <a:ext cx="3333750" cy="3048000"/>
          </a:xfrm>
          <a:prstGeom xmlns:a="http://schemas.openxmlformats.org/drawingml/2006/main" prst="roundRect">
            <a:avLst>
              <a:gd name="adj" fmla="val 4375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ED6C09-EB9F-41E0-B735-57D2409A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5240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调度约束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245294-0616-45BB-A6F2-77C70DBCA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24050"/>
            <a:ext cx="29908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36BF54-B286-4F68-8661-7D7921D91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28825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限制预取深度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1C2D4B-70B7-4D7C-88F7-60DAABF8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38400"/>
            <a:ext cx="29908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22EEBD-6494-4C0C-89A3-3865FE180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43175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按当前最紧依赖提优先级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4A64CB-9FDE-4536-BD7B-B39C8DA49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952750"/>
            <a:ext cx="29908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206A21-43E5-4AE9-83A3-727E3C426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57525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不永久抬高首层大数据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5CF0ED-C1DC-48A6-A7A5-3AD824589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67100"/>
            <a:ext cx="29908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7480C87-951E-4505-A784-482EA547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71875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资源忙时回退重算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E457D64-45B7-4E7E-84D4-9FD477A4A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67250"/>
            <a:ext cx="110490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A47CB4F-B4B7-4F79-891A-87F998309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768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rPr>
              <a:t>硬约束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F0F3533-33F4-4253-9533-8659AEFEF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768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若源侧逐层生成、并行网卡、布局变换或资源争用改变日程，必须回到完整依赖图重算；不能沿用串行时间。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C7941E2-33B2-49A9-9827-ED2471B0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KPCL：底层通信接口库，封装通信机制并报告完成与错误；需求应写成可观测事件和服务约束。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20CC85F-DB5E-4282-A7DD-7A6E25663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11087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1D1B18B-11BD-4A62-B163-9B376B32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8ADE026-6056-471C-BBC8-5EF51A603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【核心结论】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F3F76C0-A873-4F62-BD60-45C7E25E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3341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接口诉求：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96AB08F-72C1-4DE8-8740-6F54C8102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6334125"/>
            <a:ext cx="847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KPCL 需要表达分段完成、目标可见、依赖事件和撤销边界，才能让流水成为可调度对象。</a:t>
            </a:r>
          </a:p>
        </p:txBody>
      </p:sp>
    </p:spTree>
    <p:extLst>
      <p:ext uri="{BB962C8B-B14F-4D97-AF65-F5344CB8AC3E}">
        <p14:creationId xmlns:p14="http://schemas.microsoft.com/office/powerpoint/2010/main" val="13513740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1924580-DE76-4121-866E-B9529ED6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TPOT 干扰预算：β 是前台有效显存服务速率损失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299A7A-022A-4BA2-A9DA-2D4136843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TPOT（每个输出 Token 的平均生成耗时）要落到前台服务速率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C61235-642B-4D69-B6CD-B8707F8E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85750"/>
            <a:ext cx="9048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D59E2F-BB2C-497F-94D8-36DCC98B4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371475"/>
            <a:ext cx="742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第 10 / 18 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D5B963-93A4-4F94-8286-BD98DEB02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57250"/>
            <a:ext cx="1809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EF3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BBBE75-567C-4C4E-B64A-FDDBC1E28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914400"/>
            <a:ext cx="1619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理论算例 · 不是硬件实测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49F63F-BFDE-4A42-8F38-F5359128B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5334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34B89D-363A-49A6-8523-867179A06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43025"/>
            <a:ext cx="510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τ(β)=t_f + m/(1−β)；I = wβ/(1−β)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0DAFCB-8CCF-412C-89A5-60655754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β：后台干扰造成的前台有效显存服务速率损失；m：显存服务时间；w=m/(t_f+m)。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EAF9A6-0B3B-4D19-80B7-1E947B45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4762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89A4B3-256F-40A2-AA0E-17835A4A2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66975"/>
            <a:ext cx="4533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β ≤ ε/(w+ε)（当干扰目标 I≤ε）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270BA9-294C-42B2-BCF6-ACC4A85B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59055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DD3F5F-A458-49F5-B212-19A683C1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14900"/>
            <a:ext cx="52768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4748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2A9417-7E63-4C28-89A1-586A27ACC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05200"/>
            <a:ext cx="953" cy="1409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4748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C43FDE-8496-4839-BAD0-F1CEA35D6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9110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w=0.25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8FDCD1-6DE8-4358-B0D7-FF1F8578D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499110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w=0.5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E8FF69-02FE-4DCA-AE6D-1C41DA90C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350" y="499110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w=0.75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08C578-AE1B-4901-A254-D7F582D2B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99110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w=1.0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B3EB6A-0577-481D-99E5-A6B6007A1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753" y="3505200"/>
            <a:ext cx="659606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57E1E1-DBBC-48C7-A830-2D8FC8657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2966" y="4170183"/>
            <a:ext cx="659606" cy="7447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8A48C4-CF85-44E3-AE31-DDC37F76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2178" y="4402282"/>
            <a:ext cx="659606" cy="5126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630A86-AAC3-4BC5-B1A8-97EC9E7B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1391" y="4531621"/>
            <a:ext cx="659606" cy="3832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E376F8-59C9-49BD-879F-F593040D1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43250"/>
            <a:ext cx="45720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DE516E-77AE-4192-8905-3BA68DE64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528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理论算例：目标 ε=3%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6E097F-845F-4700-8257-5B0068C16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7338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w=1 时 β≤2.913%。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AC5FED-20DB-4BFC-9FE7-DD195DE05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095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w=0.5 时 β≤5.660%。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0B31C5-3153-45AE-B6C2-FECB69028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577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▸ β 不是后台 NIC 带宽占比。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8DD580-488E-48F4-924C-E0AE7582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8196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需要识别会降低前台有效显存服务速率的后台操作。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4A3CEC-BBB2-41D9-9F18-854FCD82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11087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7ED0CB-0DEA-4D4F-9B3D-270F7C527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D9FF98-4BEB-488C-A248-450969CD7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【核心结论】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961742-700E-475E-83B6-AEE0A5CEA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3341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TPOT 结论：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72391F-D30B-499B-8D9C-235B92CA7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6334125"/>
            <a:ext cx="847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仅给网卡分配逻辑队列不能证明 β 已受控；前台损失预算与后台最低进度必须同时满足。</a:t>
            </a:r>
          </a:p>
        </p:txBody>
      </p:sp>
    </p:spTree>
    <p:extLst>
      <p:ext uri="{BB962C8B-B14F-4D97-AF65-F5344CB8AC3E}">
        <p14:creationId xmlns:p14="http://schemas.microsoft.com/office/powerpoint/2010/main" val="20741418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5CDB4E-CAD6-451D-A8F4-4AB12FAA4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尾延迟突发：把“能提供的服务”写成资源约束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E2B0C3-0A4F-43A8-93F1-C7469A7A4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确定性边界约束突发、最低服务和启动延迟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85DDEA-141D-4FD3-98BC-2A2C9DC5D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85750"/>
            <a:ext cx="9048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451538-D265-41F7-A1A5-6E16B078C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371475"/>
            <a:ext cx="742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第 11 / 18 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C3948E-30D4-4889-A0E1-2A467D5EF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57250"/>
            <a:ext cx="1809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EF3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DD7A9C-5719-4CBE-8995-BA49A80D4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914400"/>
            <a:ext cx="1619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理论算例 · 不是硬件实测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C0956A-0DDC-4105-BD3A-C8CAC07F9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3810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6E478E-D3BE-43C5-925B-405382115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43025"/>
            <a:ext cx="3581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A(t+u)−A(t) ≤ σ + ρu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611922-314B-41AF-A599-5A65F6DE6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σ：允许突发字节量；ρ：长期到达速率。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F7FA63-56E6-4599-97D6-B6DFBE10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0"/>
            <a:ext cx="3810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EE2164-6264-471B-A9BA-952086959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71725"/>
            <a:ext cx="3581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B(u)=R[u−θ]₊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1BB06C-6B7A-4259-8FC0-39728E682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956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R：可保证最低服务速率；θ：服务启动延迟及阻塞预算。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12E62C-47CD-49F8-8920-E59400C14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52800"/>
            <a:ext cx="4286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DB8DE1-9300-4565-A86A-0F8F398A8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38525"/>
            <a:ext cx="405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D_max ≤ θ + σ/R（R≥ρ）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53FE5D-1335-4BFD-93AD-175051F55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257300"/>
            <a:ext cx="5715000" cy="2619375"/>
          </a:xfrm>
          <a:prstGeom xmlns:a="http://schemas.openxmlformats.org/drawingml/2006/main" prst="roundRect">
            <a:avLst>
              <a:gd name="adj" fmla="val 4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D7B4DE-0574-4E9D-B334-4624DC26E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466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从目标倒推接口参数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7F6813-6A25-4C69-800F-F929CE9BA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85950"/>
            <a:ext cx="504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若要 D_max≤D*，需要 σ≤R(D*−θ)，且 D*&gt;θ、ρ&lt;R。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57E415-D55B-41E5-93BE-68C4A2D2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050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降低突发：控制发起节奏、并发和准入。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39524A-4E40-448F-AA56-F91A967D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670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提高最低服务：底层需要真实的服务保证。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1A170F-CAB6-43E0-A142-22A3F011A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289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缩短阻塞：限制不可抢占操作粒度。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6A105F-099E-407F-85B8-10CCF5AE9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3909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rPr>
              <a:t>▸ 整形等待仍属于请求 TTFT，不能移出分母。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9EA6A6-7AE6-43E1-8ABB-32310C81F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0"/>
            <a:ext cx="110490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71E654-EB09-488C-A127-1C03F3489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前后台混压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67E36E-46B5-4FBD-80A6-FB53C731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958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后台平均速率 ρ_b 和后台突发 σ_b 会共同减少前台剩余服务。给前台平均分带宽，不能单独限定短时阻塞。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BE325A-107F-4250-8BD1-4377D9C96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前台优先级仅在真实瓶颈上生效，且不能靠后台永久饥饿兑现生产承诺。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00B07A-6DF7-4C54-90DF-6C6ED42A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11087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4233B4-ED53-4BD3-BBE9-3F4BAA4EC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CAB19E-8D2E-44D1-B013-8AF289334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【核心结论】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1DAEA9-9352-4567-A20B-2E4B3BD0F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3341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尾延迟结论：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B8B7D4-A79F-4A74-BEE6-CF346C9C1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6334125"/>
            <a:ext cx="847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P99 的可控方向是减少突发、提高最低服务、缩短不可抢占阻塞，并把整形等待计入 TTFT。</a:t>
            </a:r>
          </a:p>
        </p:txBody>
      </p:sp>
    </p:spTree>
    <p:extLst>
      <p:ext uri="{BB962C8B-B14F-4D97-AF65-F5344CB8AC3E}">
        <p14:creationId xmlns:p14="http://schemas.microsoft.com/office/powerpoint/2010/main" val="193933560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8BF9E07-E90E-442F-BE62-7C09AAD10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多卡协同要看组完成：最后一个必要成员决定整步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330995-2351-42D1-9A34-DDD974815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Coflow（同一计算步骤的一组关联子流）改变尾部预算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04EBF1-0E88-4CC3-8E6B-9C4071340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85750"/>
            <a:ext cx="9048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4B695E-91C7-4C05-BC85-6C20D7AF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371475"/>
            <a:ext cx="742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第 12 / 18 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E98A40-5DF3-486C-A47F-623E5B2A0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57250"/>
            <a:ext cx="1809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EF3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298C67-BEBF-49D3-B9F4-50C1D748A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914400"/>
            <a:ext cx="1619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理论算例 · 不是硬件实测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E67DDB-4C32-4755-B55D-6B87CED30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3429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7788B7-9C9C-49BA-961A-D4C7F78E5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43025"/>
            <a:ext cx="320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T_group = max(T₁,…,T_k)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F6838E-8A63-4B99-82A1-1F113E2CD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T_r：第 r 个必要成员从共同组起点到可消费的时间；组完成只统计必要成员。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867D58-19C4-44B9-985B-164AFC610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5048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220E42-CA80-4DE1-94F7-68583F4C8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908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独立同分布的理论算例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F9F3F3-F1FE-4FB7-AAD2-B1DEC9167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3429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CC3E59-E032-4BE3-887B-F0F0DDDEA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14675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F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FF6FF"/>
                </a:solidFill>
                <a:latin typeface="Microsoft YaHei"/>
                <a:ea typeface="Microsoft YaHei"/>
                <a:cs typeface="Microsoft YaHei"/>
              </a:rPr>
              <a:t>F_group(t)=F(t)^k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042368-DE68-4D9D-9995-C18B4030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k=8 时，组 99% 分位对应单成员约 99.87445% 分位。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3D9D3A-D24B-44A2-9BB0-B2DC21874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00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不能把各卡普通 P99 直接当作整组 P99。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E152BF-0D26-4C96-9E06-793E13A6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81250"/>
            <a:ext cx="55245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403134-7AFF-472C-95C0-308C70E2D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908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无独立性时的保守风险预算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F8F23C-3FD8-4283-9665-29F7770A3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48000"/>
            <a:ext cx="44767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BE931A-5B56-4B6E-A506-32366699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33725"/>
            <a:ext cx="424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P(T_group&gt;t) ≤ Σ P(T_r&gt;t)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23A6F5-2095-4A99-BE20-24FDFF3F7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8 个必要成员平均分配 1% 尾概率预算：每个成员≤0.125%，覆盖率约 99.875%。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27B2BA-34D7-45A8-B2C8-882E1C594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672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rPr>
              <a:t>共享拥塞需作为共同随机因素建模。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15D80E-AEB0-40C1-B2AB-34163201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7048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4C729C-A666-4728-AFD4-0AEC95884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52450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卡1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FA33D2-27B1-43A1-B40D-EECBD418E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095875"/>
            <a:ext cx="704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FEE14E-11AD-468F-B23E-67D5C1A49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52450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卡2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8D8123-3948-48C7-B3B2-2F0447D8E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91075"/>
            <a:ext cx="7048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AFCA26-F2CD-4436-82C9-AC273E37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52450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卡3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267B35-0AE8-4050-B2A9-939BE5F13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19675"/>
            <a:ext cx="704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97AA35-27FE-47CF-92E4-E5E727C52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52450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卡4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1A2E60-DEEB-4534-9B9B-208EBA717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905375"/>
            <a:ext cx="704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21EC19F-F231-476F-BE9D-FACA014D2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552450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卡5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277652-3377-4F9A-8C7D-EFDE06E74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619625"/>
            <a:ext cx="7048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71CDC2-B09C-4A09-A21E-D89E62BAF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52450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卡6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E4D3C7B-D48E-4FD8-A611-45DF578D7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00625"/>
            <a:ext cx="704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02C59A8-4294-45B9-B84E-12FFA4CB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52450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卡7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01C8DE-BD6C-4D3C-83FB-06AD3C0B1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476750"/>
            <a:ext cx="7048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157FD99-E4AD-4AEF-A613-D05D951E3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552450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卡8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961C72E-ED91-4B76-9CA4-EC7884EC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11087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CDD6BA1-A296-4231-876E-D99E69F9F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79CFB22-3323-4295-8B0D-522B20CB3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【核心结论】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E879954-6FE8-4BEE-93C7-D9AB98CD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3341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组完成结论：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B5D2640-E5E3-4DC6-A2B0-3F0B63516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6334125"/>
            <a:ext cx="847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优化对象是最后一个必要成员的到齐时间；多卡状态同步只统一动作，不自动增加慢卡带宽。</a:t>
            </a:r>
          </a:p>
        </p:txBody>
      </p:sp>
    </p:spTree>
    <p:extLst>
      <p:ext uri="{BB962C8B-B14F-4D97-AF65-F5344CB8AC3E}">
        <p14:creationId xmlns:p14="http://schemas.microsoft.com/office/powerpoint/2010/main" val="170784661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4BCA07-53D0-4C7D-9C81-168CC0E2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路径混合决定业务 P99：命中路径快，不等于全体请求快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87EAF0-EAD8-43E8-9915-1A0FA5DB7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命中比例、未命中重算和失败回退必须一起看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5CD69F-93B3-458C-90BF-64CE98E03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85750"/>
            <a:ext cx="9048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40FFE4-5835-4017-B785-B6FA0B1D3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371475"/>
            <a:ext cx="742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第 13 / 18 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69B9DE-F0FF-4743-B74D-47E0B7132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57250"/>
            <a:ext cx="1809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EF3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A675BB-3BAD-4F3B-9D6D-B03296D5C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914400"/>
            <a:ext cx="1619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理论算例 · 不是硬件实测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7AB98B-88C8-47B2-9C1A-FFBFF709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5334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BF9211-C51E-41B0-A33A-11596E16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43025"/>
            <a:ext cx="510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F_T(t)=hF_h(t)+(1−h)F_m(t)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6667B9-9ED2-4AE6-8AB7-50246534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h：命中路径请求比例；F_h、F_m：命中与未命中条件分布。命中与时延不要求独立。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F2B83B-22D5-43C3-89D6-56F868C9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0300"/>
            <a:ext cx="50482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05AE52-6CBE-4B6D-8709-B24E559E7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98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为什么单一命中场景不能代表业务 P99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9E2133-3297-4944-9F21-A9DC42E82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若 P99 阈值以上已经没有命中样本，继续缩短命中路径不会改变该尾分位。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C6D306-65A3-49EB-9D8D-A6D33DE9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未命中重算排队、失败回退和高压力路径可能主导尾部。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FCE76C-F404-4BE1-860D-63304E88E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命中与未命中比例随业务画像变化，必须分桶观察。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0F0E82-CD3D-4190-A7CA-42818C273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00300"/>
            <a:ext cx="5334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1D7562-FBA9-45BA-A899-ABD8766B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71950"/>
            <a:ext cx="4705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4748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3B8765-A7B6-4C97-A5F5-5070B007E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71750"/>
            <a:ext cx="953" cy="1600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4748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B65565-4949-44BC-80E0-6702C0957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4815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命中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B716D4-9F44-4266-9EE1-39D7A916C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24815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未命中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F65285-ED37-4DAC-B2E1-AB8EABA88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24815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回退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D3B983-5CCF-44D3-867A-F53CF94F0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5813" y="2571750"/>
            <a:ext cx="784225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32B042-FAD0-4750-BDBD-1E15769BA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4263" y="3371850"/>
            <a:ext cx="7842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1147A1-6EC2-4DDB-AF10-1D70C17EA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2713" y="3905250"/>
            <a:ext cx="7842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0BC070-DFA4-4789-9257-BF29C485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110490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8A9942-19A3-4B93-B3A2-78B2C5952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P99 口径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E42BBE-7CEE-4F29-B518-C57B11608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0101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P99 是 99% 样本不超过的时延分位值；不能只报告成功样本，也不能把“边界收紧”直接写成“实际 P99 降低了 X%”。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B12C72-5935-4154-98F2-4205AB227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11087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0CED68-F93C-4DD0-AEFD-918534D24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2BB80E-54AB-4715-8977-00DF2980E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【核心结论】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1035E5-42B0-4657-AF65-5A5D76478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3341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P99 结论：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32D555-2470-4095-B5AD-6870E722D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6334125"/>
            <a:ext cx="847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局部命中路径改善只影响它在业务混合分布中的那一部分样本，未命中和回退路径仍需单独压缩。</a:t>
            </a:r>
          </a:p>
        </p:txBody>
      </p:sp>
    </p:spTree>
    <p:extLst>
      <p:ext uri="{BB962C8B-B14F-4D97-AF65-F5344CB8AC3E}">
        <p14:creationId xmlns:p14="http://schemas.microsoft.com/office/powerpoint/2010/main" val="133250398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8ED7F0-B477-495B-B6EA-47AA3817F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为什么需要持续运行的软件功能层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15C3C3-491B-4ECB-B417-E47D350C1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命中、位置、并发和共享资源变化时，准入与依赖仍在变化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6E0E30-0AFB-4143-802C-628028848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85750"/>
            <a:ext cx="9048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73E2B8-C6DE-41B2-A236-420D121D3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371475"/>
            <a:ext cx="742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第 14 / 18 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76E371-A147-4DBA-AAF1-EFCCE7658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2428875" cy="2047875"/>
          </a:xfrm>
          <a:prstGeom xmlns:a="http://schemas.openxmlformats.org/drawingml/2006/main" prst="roundRect">
            <a:avLst>
              <a:gd name="adj" fmla="val 6512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1724E9-8595-4DBF-8900-D70566C64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335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状态变化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971F10-5602-47A1-83D9-E0D8E103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209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命中与未命中、对象位置、租约、设备可见性持续变化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E2B7B0-3587-4715-9375-61435F4F9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381250"/>
            <a:ext cx="333375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B8AC70-D3B3-48AB-998E-9D5C24451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524000"/>
            <a:ext cx="2428875" cy="2047875"/>
          </a:xfrm>
          <a:prstGeom xmlns:a="http://schemas.openxmlformats.org/drawingml/2006/main" prst="roundRect">
            <a:avLst>
              <a:gd name="adj" fmla="val 6512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5EA39E-FEC2-4736-A33F-0D218BF41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7335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持续决策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3C7A63-7CD9-4DBB-B552-0B081562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190750"/>
            <a:ext cx="209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判断加载、重算、回退、分段范围和并发组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EB3136-1578-49E8-A8B3-E6CC58D60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381250"/>
            <a:ext cx="333375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04380E-B8B2-4AA5-9588-3BC08D7DF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2428875" cy="2047875"/>
          </a:xfrm>
          <a:prstGeom xmlns:a="http://schemas.openxmlformats.org/drawingml/2006/main" prst="roundRect">
            <a:avLst>
              <a:gd name="adj" fmla="val 6512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55E578-C73E-463F-A7C1-0EB29E219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335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资源控制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2473D7-1D1B-4808-A671-33144401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90750"/>
            <a:ext cx="209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限制突发、预取深度、后台进度和共享资源占用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256704-9F77-4AFD-AE29-9803CEBD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81250"/>
            <a:ext cx="333375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23DD2A-4702-4E2B-AEF7-8884217CC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24000"/>
            <a:ext cx="2428875" cy="2047875"/>
          </a:xfrm>
          <a:prstGeom xmlns:a="http://schemas.openxmlformats.org/drawingml/2006/main" prst="roundRect">
            <a:avLst>
              <a:gd name="adj" fmla="val 6512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BE123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6660C5-7D6E-4925-8CA0-0FD597F0A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7335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rPr>
              <a:t>反馈闭环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F10F9C-30BB-41F2-B0D9-B71506E43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90750"/>
            <a:ext cx="209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读取真实完成、错误、队列、可见性与取消结果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D981FD-BE50-45BF-9FB9-296598F21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48125"/>
            <a:ext cx="110490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9A98BE-71F1-4D63-B0A0-C4354ADC6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功能层需要持续运行的原因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3BC4EA-954C-4F89-929A-86C3BE35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962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它随请求和资源状态变化执行准入、依赖、分组与资源控制。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7ED353-8524-4119-A3B0-F2636FFC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4347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它把 KPCL 的完成、错误、服务和反压反馈接回推理执行。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649BF4-4007-489B-9902-521AB81F6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61962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这说明需要该功能层，不自动证明所有代码都必须自研或重写。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44E410-23DB-41BB-8857-FAE6CF95E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94347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实现边界应通过基线能力、可观测接口与最少验证确定。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AAEE9E-6E8C-4C59-B45F-42F5132C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11087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C46637-E1C1-4327-A7FD-5E6FB779D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CFC147-8E27-4C20-816E-A20B0DA1F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【核心结论】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71962B-B468-4127-A65C-BB2330287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3341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功能层结论：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37B0A4-A238-41BF-91B1-D6AC43CFE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6334125"/>
            <a:ext cx="847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软件价值在于持续执行准入、依赖、分组和资源控制，并利用库反馈调整路径；自研范围仍需与基线和接口能力逐项核对。</a:t>
            </a:r>
          </a:p>
        </p:txBody>
      </p:sp>
    </p:spTree>
    <p:extLst>
      <p:ext uri="{BB962C8B-B14F-4D97-AF65-F5344CB8AC3E}">
        <p14:creationId xmlns:p14="http://schemas.microsoft.com/office/powerpoint/2010/main" val="137363147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7020D64-E38E-445A-9BD0-BCC511466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KPCL 典型业务通信模型：从业务依赖反推接口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877A64-5920-4AC2-81D1-5770AABDA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每种模式都要记录释放、截止、组、依赖、路径和失败动作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8FB1FE-C3DB-4E38-827B-E4F86F250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85750"/>
            <a:ext cx="9048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12ECA0-B77A-4C0B-A234-A408A2436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371475"/>
            <a:ext cx="742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第 15 / 18 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D64351-BC44-44F1-B8BC-E4ECBF00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90DEB7-A05D-4B9C-9500-C3EBF3355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04925"/>
            <a:ext cx="1943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9CD871-9CD9-4E33-A14F-401DF2551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38250"/>
            <a:ext cx="276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65E31D-03AA-4F3E-B772-34AA57593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304925"/>
            <a:ext cx="2609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模型约束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D54172-4EA4-46B0-8730-3074B80B3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238250"/>
            <a:ext cx="295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823DEA-6191-45D8-98D2-D95656520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304925"/>
            <a:ext cx="2800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KVC 持续运行职责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6856C3-621A-4DDA-B8B3-3D639E9AE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23825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D187A0-9091-43DA-B86C-AFFCEF290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304925"/>
            <a:ext cx="289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KPCL / 平台机制职责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EC19AF-9C18-4F85-8034-09079CD6C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2095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745A84-2918-4A23-91CE-3A7F652C5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28775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0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高频小控制消息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6E7DEA-73FC-468B-B0A1-30E376B96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562100"/>
            <a:ext cx="2762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EE8CCB-8B78-42E9-BED3-0148ED93B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628775"/>
            <a:ext cx="260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0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查询路径预算、消息率、突发、尾概率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DEFB82-5AF1-44A5-9803-0BB9532EE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562100"/>
            <a:ext cx="2952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74F957-6C70-4BA9-92B1-B712A4CB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628775"/>
            <a:ext cx="280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0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查询合并、摘要、快速失败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2D5832-C53C-492F-B0A7-D74051654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62100"/>
            <a:ext cx="3048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BDAE78-3F3F-4EC3-A70C-8A7A3620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28775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0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有限排队、服务预留、可靠完成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23584A-5C81-48A1-9684-5FBE756BA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38350"/>
            <a:ext cx="2095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AF7653-00DE-460D-8746-675749347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05025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0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分段前缀加载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29D333-EA0E-43E0-8460-626D90EBD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038350"/>
            <a:ext cx="2762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E17080-541E-4305-90A5-E2244DABF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105025"/>
            <a:ext cx="260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0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有效带宽与固定开销预算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8E2DB4-7DE6-44F1-98B9-10DD61157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38350"/>
            <a:ext cx="2952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729336-781B-4BE2-8FEC-0FA050FEA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105025"/>
            <a:ext cx="280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0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副本、范围、布局、路径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5AB473-84DF-4B13-83C6-F5AB7F601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38350"/>
            <a:ext cx="3048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29E316-D687-4F6B-8F59-59BD6B1A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05025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0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批量提交、真实完成量、可见性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34A200-DEA2-4BCD-91D8-FA49D0135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14600"/>
            <a:ext cx="2095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0894C7-E20E-45E6-9884-A2E5A1CAD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81275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0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层间加载流水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75AE0E-4836-416A-8B9A-CB67CAA33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514600"/>
            <a:ext cx="2762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5E2859-0D3D-45F0-B35B-DCF973A97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581275"/>
            <a:ext cx="260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0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层数据到齐与计算依赖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E1CA2AA-0BB3-4C9A-9358-C45307744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514600"/>
            <a:ext cx="2952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D11D7D0-6DC3-4039-B17C-D16BA06FA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581275"/>
            <a:ext cx="280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0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预取深度、就绪范围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3507097-BC69-4DF7-A448-358244381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14600"/>
            <a:ext cx="3048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AA509E0-E994-47CC-A3C3-37E3C8150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81275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0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依赖事件、分段完成、设备同步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0661986-A46B-4170-9497-AB2710A6A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90850"/>
            <a:ext cx="2095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F19A91E-90E1-4606-8381-7FB2B5C96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57525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0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多卡协同加载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ADF7401-BBF4-4AC5-A9C3-E37AA5056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990850"/>
            <a:ext cx="2762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2019330-3FAE-490D-A499-6DD3F759D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57525"/>
            <a:ext cx="260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0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组完成与风险预算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73BA008-69E3-48B7-A2E0-A3311FDF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90850"/>
            <a:ext cx="2952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D10C45D-7828-4BCC-B222-19430B26A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057525"/>
            <a:ext cx="280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0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必要成员、慢流策略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D53D3B4-2402-4CC7-A2B3-C83F580CA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90850"/>
            <a:ext cx="3048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0C7A327-D6B7-4C35-B550-6C711415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57525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0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逐成员状态、信用、实际路径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2174D74-D645-405B-BAED-C50CEA22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67100"/>
            <a:ext cx="2095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CED2DF3-1051-4C9E-ADC7-1C996456E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33775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0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前后台混压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E78062F-8093-46FE-97BE-03DEDF1FA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467100"/>
            <a:ext cx="2762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AF425C2-C856-4B52-9508-1A524CB5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33775"/>
            <a:ext cx="260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0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资源损失与后台稳定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1E2ADB5-54F5-4911-8D7A-E9DBDDF6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467100"/>
            <a:ext cx="2952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9D701AF-57E9-4892-B73C-45615A41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33775"/>
            <a:ext cx="280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0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发起、准入、后台节奏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7D80BFA-B736-44E4-9EBA-8906DD79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67100"/>
            <a:ext cx="3048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37D8119-5531-4F27-86C5-0F14B77A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533775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0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限速、观测、反压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12150E6-BCEF-4739-8128-096AC3490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2095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BDD3AF1-BC5B-4F50-9745-3F07125EF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10025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0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多源汇聚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E91F44C-D540-4C76-B7F2-1679C6BCC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943350"/>
            <a:ext cx="2762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E8AF897-0E0C-4767-BB41-8BD0E1E9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10025"/>
            <a:ext cx="260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0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突发上限、最低服务、启动延迟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AEDDB81-9423-4586-A37A-42FCA046E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2952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4EF407D-78CA-4AAE-93C8-E85BCDFA2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010025"/>
            <a:ext cx="280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0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来源选择、合并、并发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4689F59-1F2F-42F7-BB78-9C36EDEB3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43350"/>
            <a:ext cx="3048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9DF72CE-59E1-46E5-9991-6E740C828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10025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0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接收在途量、拥塞反馈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95CACAC-1306-423A-8898-DD3120497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19600"/>
            <a:ext cx="2095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9AE7DFD-DAF7-44F9-B453-09434B395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86275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0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一对多热点分发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9489807-0DA5-465F-A753-E335ACDD8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419600"/>
            <a:ext cx="2762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C7D464D-2880-4FA3-94FC-94B729AC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486275"/>
            <a:ext cx="260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0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源出口与逐目标完成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BAFCBCC-034C-4601-869B-9B63350A3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419600"/>
            <a:ext cx="2952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655E943-0D5B-43AF-B493-4EE8B82B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486275"/>
            <a:ext cx="280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0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副本、树状中继、目标选择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CA9895C-290B-4DAA-98D0-DD4565CD0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19600"/>
            <a:ext cx="3048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3BEDF19-5A8B-46D4-A65D-AC7D6154A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486275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0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逐目标完成、重传、慢目标隔离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053DDB4-0A86-4126-ADA2-609EC4B62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95850"/>
            <a:ext cx="2095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1527364-C003-4B3D-A452-F75C4ACEA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62525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0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超时、撤销与恢复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FFC4F38-26FF-45F7-8571-59B612F63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895850"/>
            <a:ext cx="2762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E7FB626-9AA1-4D53-B8B3-59092AEBF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62525"/>
            <a:ext cx="260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0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截止、终止访问、缓冲复用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4A64BEF-7BD4-4BEF-8349-AEE15FC7B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895850"/>
            <a:ext cx="2952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6E6B07A-4E1A-4BC4-A517-3EF7E136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962525"/>
            <a:ext cx="280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0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降级、代际、生命周期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21C7979-EC73-47E7-9706-07C59C17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95850"/>
            <a:ext cx="3048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1FDA457-3F93-4E63-831E-D6D2A3E76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962525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0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部分完成、取消、排空、错误边界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2C3AC90-DAD6-4D5D-A9CB-BD92A0086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11087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33AED25-7220-46C2-8EE0-B1F31A8FB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B91F6E2-3B01-4B45-850F-9C6A3142F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【核心结论】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494D2C9-A407-431F-AA85-4D39D3814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3341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通信模型：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82B0E27-98F0-42D6-A25C-96DF1C6DA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6334125"/>
            <a:ext cx="847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KPCL 需求来自依赖与资源模型，不来自“更快传输”四个字；库必须报告真实完成、可见性、反压和受控失败。</a:t>
            </a:r>
          </a:p>
        </p:txBody>
      </p:sp>
    </p:spTree>
    <p:extLst>
      <p:ext uri="{BB962C8B-B14F-4D97-AF65-F5344CB8AC3E}">
        <p14:creationId xmlns:p14="http://schemas.microsoft.com/office/powerpoint/2010/main" val="40816666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2012FF6-1F08-40B6-8274-9CAE8C74D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从目标到可执行库能力：需求必须带服务、事件和边界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71D18F-7BA6-447F-8091-A748F24B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数值未确认时写成需求，不写成已发布 API 保证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59570D-675D-4FE1-9005-C0902BF1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85750"/>
            <a:ext cx="9048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A6932D-1A34-4F4B-ABF4-E91D2D689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371475"/>
            <a:ext cx="742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第 16 / 18 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1FAF93-EA0A-42A8-BFD0-06068E828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85875"/>
            <a:ext cx="333375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8D0247-EE35-4415-A0D9-406E3365C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3827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业务目标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AF54C4-5BFA-4A1B-81D9-C2401C75F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4192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满足某个 TTFT / TPOT / ITL 时间预算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E1A0E0-4641-4595-AC89-143E06F01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02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先定义时间戳和统计分母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B6F104-82BD-4C6C-830C-9D7BADBB4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333375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C9A1BE-D42C-46ED-B1CE-E07A2F5A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8602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资源模型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54B8B4-D1E0-45E5-8AE4-E4CA9F552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4669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突发 σ、长期到达 ρ、最低服务 R、启动延迟 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D44CD9-E522-4217-8952-590586D02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4797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能否形成可用服务曲线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301938-7964-4378-A0B9-8334D71B5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81375"/>
            <a:ext cx="333375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242B11-8C31-4799-B3CD-8C413366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3377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通信任务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F2948F-6E8F-4125-BCE3-EAFA843E3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5147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源 / 目标、分段、组、依赖、可见性、失败动作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D583B1-0DAE-4753-B334-80E057335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957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支持回放和逐样本对账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F16929-FB82-4D45-9E04-EA99CA79F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29125"/>
            <a:ext cx="333375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2C0BFF-F9F0-45A2-9678-6B7573B18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8152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执行反馈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E84B5F-0608-485C-8FCF-6DBD1CE3F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5624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真实完成、错误、取消、排队、反压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123B86-160C-4255-B16A-961CB51E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4347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能否闭环调整路径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3F8A9F-5DAF-4E8B-ADA7-B6B150D05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285875"/>
            <a:ext cx="7048500" cy="3952875"/>
          </a:xfrm>
          <a:prstGeom xmlns:a="http://schemas.openxmlformats.org/drawingml/2006/main" prst="roundRect">
            <a:avLst>
              <a:gd name="adj" fmla="val 28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64034D-8A6D-4037-BE22-97FC62BB1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504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联合需求表达式（模板）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3B73A6-F83D-48C0-A8AE-96867BDC9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952625"/>
            <a:ext cx="647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7BCEEB-E439-4DE7-B48A-D05EC9B25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038350"/>
            <a:ext cx="624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在指定源/目标、分段、并发组、背景到达约束和设备可见性定义下，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3AA15E-9BEB-41AB-9E01-B0CBC6EE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524125"/>
            <a:ext cx="647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05C29E-6EF9-4ECB-BE96-7678C1B25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609850"/>
            <a:ext cx="624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任务获得不低于 R 的服务，最大启动延迟不高于 θ，突发不超过 σ，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B9A4B4-5544-451B-AB0E-53BF382B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095625"/>
            <a:ext cx="647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F16457-7371-4B81-A186-C7D60D75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3181350"/>
            <a:ext cx="624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并按任务时限报告完成或受控失败。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C37F88-3356-4209-982A-C23EA5D8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8576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rPr>
              <a:t>接口边界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273E16-1513-4F07-83B9-43B999ED2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1719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若 KPCL 只负责内存通信，存储读出和持久化由后端承担。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474987-D6D1-447F-8E6A-2D6E8EB3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5339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远端 SSD 不能直接当作内存句柄，除非平台契约明确支持。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9C7C8A-BC8C-4B08-A26E-1283B506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8958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rPr>
              <a:t>▸ 需求数值来自业务预算和验证，不冒充现成 API。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CFBD4A-791E-4CAD-A0B1-8831E6736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11087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EB3F7B9-DC2B-4021-ADE8-8A7F9318A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B4B6539-E273-4799-A677-548F3D77C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【核心结论】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4E2D91B-6EE5-4CCC-B13F-73FE65E59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3341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接口结论：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E6338A3-23F4-4310-B3C4-E00C65CD1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6334125"/>
            <a:ext cx="847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把“性能目标”写成可观测的服务、事件、截止和失败契约，才能进入实现与验证。</a:t>
            </a:r>
          </a:p>
        </p:txBody>
      </p:sp>
    </p:spTree>
    <p:extLst>
      <p:ext uri="{BB962C8B-B14F-4D97-AF65-F5344CB8AC3E}">
        <p14:creationId xmlns:p14="http://schemas.microsoft.com/office/powerpoint/2010/main" val="58067172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67258EC-E115-459C-A8A2-064256044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最少预验证：只补会改变结论的关键参数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DAAB4E-F11E-411D-A116-CB57C299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E0～E3 表示验证目标，不是已完成状态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719679-CA09-48C1-8C45-244EE5EA9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85750"/>
            <a:ext cx="9048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D8C982-A10B-4100-810A-376956F88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371475"/>
            <a:ext cx="742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第 17 / 18 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1FBD6B-0DF2-4792-B00E-5175E17E7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2428875" cy="2667000"/>
          </a:xfrm>
          <a:prstGeom xmlns:a="http://schemas.openxmlformats.org/drawingml/2006/main" prst="roundRect">
            <a:avLst>
              <a:gd name="adj" fmla="val 549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EFD224-EB12-43CE-8106-5AD3E4B25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E0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CCCFF3-F8C5-4F65-9A07-F2A19FA26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业务收益前提确认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7CD923-435D-4B48-ABF2-523B426B9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209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命中/复用条件下的收益是否显著；查询占比和协议上限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80A4EF-06F8-4A0B-988F-43F2FC7AE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714375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B527D5-F763-457A-BD47-06F0B9962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0400"/>
            <a:ext cx="5238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需校准：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3DCDFE-2B95-4490-B8C1-C2B1E667F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24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查询计时边界、绝对值、分位数、并发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42CB60-3F31-4BA2-B1E2-72EF9E420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238250"/>
            <a:ext cx="2428875" cy="2667000"/>
          </a:xfrm>
          <a:prstGeom xmlns:a="http://schemas.openxmlformats.org/drawingml/2006/main" prst="roundRect">
            <a:avLst>
              <a:gd name="adj" fmla="val 549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DD6A8F-EB27-4758-BACB-541FD3117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428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E1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A0D5BF-FE95-4C55-9320-14A8CD8C6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809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核心数据路径与多卡同步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64E37E-327A-4163-B93D-546A8C4C6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33625"/>
            <a:ext cx="209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零数据拷贝传输、异步依赖、语义校验可闭环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7C1E1F-EF55-4ECA-9EF0-5B7291B27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43250"/>
            <a:ext cx="714375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879708-8989-40CB-99F2-26DBB512D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200400"/>
            <a:ext cx="5238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需校准：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24D640-D2AB-4A8F-84DA-BB3017B3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524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逐层可见性、组起点、成员完成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FF2C45-76CF-4FC7-9ADA-041466E44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238250"/>
            <a:ext cx="2428875" cy="2667000"/>
          </a:xfrm>
          <a:prstGeom xmlns:a="http://schemas.openxmlformats.org/drawingml/2006/main" prst="roundRect">
            <a:avLst>
              <a:gd name="adj" fmla="val 549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DE307B-5FAB-4424-9575-31AFC7A86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428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E2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68DF11-8AE0-41FE-B240-236BD1407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09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动态决策与分层扩容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E3DFCB-2D37-49A5-81A6-96D6972FF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33625"/>
            <a:ext cx="209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加载/重算边界、后台资源稳定、服务约束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5F273C-5AEF-498F-BD79-AB2AF0860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43250"/>
            <a:ext cx="714375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A6FE67-AB6A-4E05-ABE1-19890811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00400"/>
            <a:ext cx="5238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需校准：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B7141E-09E9-4365-B6FB-57C7E794B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α、x/c、w/β、σ/R/θ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E31115-BD62-4DF6-8C87-58D824DE1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238250"/>
            <a:ext cx="2428875" cy="2667000"/>
          </a:xfrm>
          <a:prstGeom xmlns:a="http://schemas.openxmlformats.org/drawingml/2006/main" prst="roundRect">
            <a:avLst>
              <a:gd name="adj" fmla="val 5490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BE123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23C890-6246-45DF-B0CB-D331A263B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428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rPr>
              <a:t>E3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23D7B5-8539-4D04-94E1-D41665988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09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全链路前后台混压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C34707-7E4F-417A-BA60-F965C3E2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33625"/>
            <a:ext cx="209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TTFT、TPOT、P99 在真实混压下是否进入目标区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A13A28-8BE6-4AC6-BA8A-3EE4A4516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143250"/>
            <a:ext cx="714375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791D84-5A70-45A7-BA5E-FB0A0230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200400"/>
            <a:ext cx="5238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rPr>
              <a:t>需校准：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ECEB9AD-5CAB-4BDB-BCB4-A49343560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524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真实到达、失败样本、共享接收瓶颈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86F230-EE21-430F-9751-A7EA12060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38625"/>
            <a:ext cx="110490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A30CAE-FAEA-49EA-941A-B593F11EF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4817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最少补证顺序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FB0C85B-40D8-4A4D-B3B8-BC9964887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0CFB7A0-2AC7-48C2-9C51-EA2FF9EAB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768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先测 α：基线暴露加载占比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CC8E542-FBD0-4F04-BC76-B85D47412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8577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B0B4FCF-4396-4CC9-A238-0AE53F52F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8768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再测 x/c 与逐层依赖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6F4867-D4CF-49EB-B548-800385F3C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577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FAB2932-2EE9-4445-ADB5-AED6B72EE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768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补 w/β 与突发服务参数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4E6ABFE-98C5-4638-82F5-ADD63C877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577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9CF291F-38C5-409E-882F-3CAA1E03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8768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最后做混压和证伪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15BF3FB-E895-4E75-B703-4E9F415AC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11087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DAD5501-A51D-4FD1-B6F3-FAE27009A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77E7450-E09E-4307-9FDD-2E9FD957F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【核心结论】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8C1DFE0-EFE2-4202-A8E3-D7369A247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3341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验证结论：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7066540-371D-4758-AAD2-157A4186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6334125"/>
            <a:ext cx="847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优先补充能改变可行区域的参数；若理想下界已超预算，就收缩场景或改变部署，不继续堆叠理论收益。</a:t>
            </a:r>
          </a:p>
        </p:txBody>
      </p:sp>
    </p:spTree>
    <p:extLst>
      <p:ext uri="{BB962C8B-B14F-4D97-AF65-F5344CB8AC3E}">
        <p14:creationId xmlns:p14="http://schemas.microsoft.com/office/powerpoint/2010/main" val="195655353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AF8D93-5515-45D7-AB6F-25C3CE540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9ACAF6-32CF-4848-9CAD-913F961C7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谢谢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984436-B2F7-4379-A5A2-6ACCC0ADB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评审讨论建议围绕四个问题展开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81515D-CDBC-4C5A-A182-2D1B9ADE7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5048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EB1C0E-5978-4A3F-A486-1E24C741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57E108-092F-4139-9479-4BA47D527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2860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局部查询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D3AD4C-7C7B-416F-A7AA-382AF252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908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单请求协议差异如何折算到真实 TTFT？查询占比是否足够？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667184-3D6F-481A-82AC-6596E814F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5048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563307-69D2-4D3A-A649-CA920D87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8600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61B79E-EECA-43ED-80F0-6ED5A2E5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860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关键路径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81F52A-D648-4E65-96E3-9677EEB4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908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加载是否暴露在 TTFT？逐层依赖是否允许重叠？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4B795E-6DF8-459E-9CD8-E0AEEA3FE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81375"/>
            <a:ext cx="5048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B573F5-4A40-48B0-B944-02A32F07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718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36C65A-E049-4C27-9B55-02A8EBE39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7187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资源预算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B85F64-5548-4738-9363-9A77D6012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7667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β、σ、R、θ 是否有可测参数和库侧反馈？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2526A2-9B92-4993-9464-539C695A7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81375"/>
            <a:ext cx="5048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37E5A8-78E1-405D-8B6A-CBA662CC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718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37870C-5BDE-44ED-9CA8-7008AC71D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7187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验证收敛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64F3D2-3524-4910-AE91-27C5FC58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87667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最少预验证先补哪一个会改变结论的参数？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DE2013-ECDD-4C33-BB63-6E224F197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0"/>
            <a:ext cx="10477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1AAAAA-797B-4746-94A7-4B7A0A050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建议的立项表述：当前具备条件化可行性论证，下一步用最少实测收紧参数，再决定哪些机制进入端到端实现。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2672AA-AC50-4A01-A99A-E960C8557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统一异构 KVCache 存储池 · 推理性能理论建模与 KPCL 通信需求推导 · 2026-09-07</a:t>
            </a:r>
          </a:p>
        </p:txBody>
      </p:sp>
    </p:spTree>
    <p:extLst>
      <p:ext uri="{BB962C8B-B14F-4D97-AF65-F5344CB8AC3E}">
        <p14:creationId xmlns:p14="http://schemas.microsoft.com/office/powerpoint/2010/main" val="372392320"/>
      </p:ext>
    </p:extLst>
  </p:cSld>
</p:sld>
</file>

<file path=ppt/theme/theme1.xml><?xml version="1.0" encoding="utf-8"?>
<a:theme xmlns:a="http://schemas.openxmlformats.org/drawingml/2006/main" name="ChatGPT">
  <a:themeElements>
    <a:clrScheme name="Luna Engineering">
      <a:dk1>
        <a:srgbClr val="0F172A"/>
      </a:dk1>
      <a:lt1>
        <a:srgbClr val="FFFFFF"/>
      </a:lt1>
      <a:dk2>
        <a:srgbClr val="1E3A8A"/>
      </a:dk2>
      <a:lt2>
        <a:srgbClr val="E2E8F0"/>
      </a:lt2>
      <a:accent1>
        <a:srgbClr val="1D4ED8"/>
      </a:accent1>
      <a:accent2>
        <a:srgbClr val="1E3A8A"/>
      </a:accent2>
      <a:accent3>
        <a:srgbClr val="047857"/>
      </a:accent3>
      <a:accent4>
        <a:srgbClr val="DC2626"/>
      </a:accent4>
      <a:accent5>
        <a:srgbClr val="B45309"/>
      </a:accent5>
      <a:accent6>
        <a:srgbClr val="BE123C"/>
      </a:accent6>
      <a:hlink>
        <a:srgbClr val="1D4ED8"/>
      </a:hlink>
      <a:folHlink>
        <a:srgbClr val="1D4ED8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Luna Engineering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2026-09-07T12:06:41.2700000Z</dcterms:created>
  <dcterms:modified xsi:type="dcterms:W3CDTF">2026-09-07T12:06:41.2700000Z</dcterms:modified>
</coreProperties>
</file>