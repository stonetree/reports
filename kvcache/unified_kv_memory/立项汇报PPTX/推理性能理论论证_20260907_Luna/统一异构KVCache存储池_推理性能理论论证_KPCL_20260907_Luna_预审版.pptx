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66b4391a0b4cb6" /><Relationship Type="http://schemas.openxmlformats.org/officeDocument/2006/relationships/extended-properties" Target="/docProps/app.xml" Id="Rb93a668d70524ab5" /><Relationship Type="http://schemas.openxmlformats.org/officeDocument/2006/relationships/officeDocument" Target="/ppt/presentation.xml" Id="Rd115fbd4718949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2afabaa8c04c5d"/>
  </p:sldMasterIdLst>
  <p:sldIdLst>
    <p:sldId xmlns:r="http://schemas.openxmlformats.org/officeDocument/2006/relationships" id="256" r:id="R9a3c71f533de4a00"/>
    <p:sldId xmlns:r="http://schemas.openxmlformats.org/officeDocument/2006/relationships" id="257" r:id="R32940227471e4975"/>
    <p:sldId xmlns:r="http://schemas.openxmlformats.org/officeDocument/2006/relationships" id="258" r:id="Rf4f5a352ebaa4509"/>
    <p:sldId xmlns:r="http://schemas.openxmlformats.org/officeDocument/2006/relationships" id="259" r:id="R7e1ff5399965479f"/>
    <p:sldId xmlns:r="http://schemas.openxmlformats.org/officeDocument/2006/relationships" id="260" r:id="R3fe48be10fa64e07"/>
    <p:sldId xmlns:r="http://schemas.openxmlformats.org/officeDocument/2006/relationships" id="261" r:id="R753edc33644d49e1"/>
    <p:sldId xmlns:r="http://schemas.openxmlformats.org/officeDocument/2006/relationships" id="262" r:id="R957f4c56ae7642c5"/>
    <p:sldId xmlns:r="http://schemas.openxmlformats.org/officeDocument/2006/relationships" id="263" r:id="R6b1e961c7a164d81"/>
    <p:sldId xmlns:r="http://schemas.openxmlformats.org/officeDocument/2006/relationships" id="264" r:id="R68981f883743495a"/>
    <p:sldId xmlns:r="http://schemas.openxmlformats.org/officeDocument/2006/relationships" id="265" r:id="R5fd0f9393a674af1"/>
    <p:sldId xmlns:r="http://schemas.openxmlformats.org/officeDocument/2006/relationships" id="266" r:id="Rf9f5e9636a4f47d5"/>
    <p:sldId xmlns:r="http://schemas.openxmlformats.org/officeDocument/2006/relationships" id="267" r:id="R560bf98173ee4c42"/>
    <p:sldId xmlns:r="http://schemas.openxmlformats.org/officeDocument/2006/relationships" id="268" r:id="Re1e914db654644ee"/>
    <p:sldId xmlns:r="http://schemas.openxmlformats.org/officeDocument/2006/relationships" id="269" r:id="R5073b3f3641c489c"/>
    <p:sldId xmlns:r="http://schemas.openxmlformats.org/officeDocument/2006/relationships" id="270" r:id="Rc4278e9e467a468d"/>
    <p:sldId xmlns:r="http://schemas.openxmlformats.org/officeDocument/2006/relationships" id="271" r:id="R0b184f244f1540aa"/>
    <p:sldId xmlns:r="http://schemas.openxmlformats.org/officeDocument/2006/relationships" id="272" r:id="R4387232486544822"/>
    <p:sldId xmlns:r="http://schemas.openxmlformats.org/officeDocument/2006/relationships" id="273" r:id="R1298ff766f144f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14ed6a4a424793" /><Relationship Type="http://schemas.openxmlformats.org/officeDocument/2006/relationships/slideMaster" Target="/ppt/slideMasters/slideMaster1.xml" Id="R1a2afabaa8c04c5d" /><Relationship Type="http://schemas.openxmlformats.org/officeDocument/2006/relationships/presProps" Target="/ppt/presProps.xml" Id="R8e5d30ce37c54b59" /><Relationship Type="http://schemas.openxmlformats.org/officeDocument/2006/relationships/tableStyles" Target="/ppt/tableStyles.xml" Id="R88943c704c334b28" /><Relationship Type="http://schemas.openxmlformats.org/officeDocument/2006/relationships/slide" Target="/ppt/slides/slide1.xml" Id="R9a3c71f533de4a00" /><Relationship Type="http://schemas.openxmlformats.org/officeDocument/2006/relationships/slide" Target="/ppt/slides/slide2.xml" Id="R32940227471e4975" /><Relationship Type="http://schemas.openxmlformats.org/officeDocument/2006/relationships/slide" Target="/ppt/slides/slide3.xml" Id="Rf4f5a352ebaa4509" /><Relationship Type="http://schemas.openxmlformats.org/officeDocument/2006/relationships/slide" Target="/ppt/slides/slide4.xml" Id="R7e1ff5399965479f" /><Relationship Type="http://schemas.openxmlformats.org/officeDocument/2006/relationships/slide" Target="/ppt/slides/slide5.xml" Id="R3fe48be10fa64e07" /><Relationship Type="http://schemas.openxmlformats.org/officeDocument/2006/relationships/slide" Target="/ppt/slides/slide6.xml" Id="R753edc33644d49e1" /><Relationship Type="http://schemas.openxmlformats.org/officeDocument/2006/relationships/slide" Target="/ppt/slides/slide7.xml" Id="R957f4c56ae7642c5" /><Relationship Type="http://schemas.openxmlformats.org/officeDocument/2006/relationships/slide" Target="/ppt/slides/slide8.xml" Id="R6b1e961c7a164d81" /><Relationship Type="http://schemas.openxmlformats.org/officeDocument/2006/relationships/slide" Target="/ppt/slides/slide9.xml" Id="R68981f883743495a" /><Relationship Type="http://schemas.openxmlformats.org/officeDocument/2006/relationships/slide" Target="/ppt/slides/slide10.xml" Id="R5fd0f9393a674af1" /><Relationship Type="http://schemas.openxmlformats.org/officeDocument/2006/relationships/slide" Target="/ppt/slides/slide11.xml" Id="Rf9f5e9636a4f47d5" /><Relationship Type="http://schemas.openxmlformats.org/officeDocument/2006/relationships/slide" Target="/ppt/slides/slide12.xml" Id="R560bf98173ee4c42" /><Relationship Type="http://schemas.openxmlformats.org/officeDocument/2006/relationships/slide" Target="/ppt/slides/slide13.xml" Id="Re1e914db654644ee" /><Relationship Type="http://schemas.openxmlformats.org/officeDocument/2006/relationships/slide" Target="/ppt/slides/slide14.xml" Id="R5073b3f3641c489c" /><Relationship Type="http://schemas.openxmlformats.org/officeDocument/2006/relationships/slide" Target="/ppt/slides/slide15.xml" Id="Rc4278e9e467a468d" /><Relationship Type="http://schemas.openxmlformats.org/officeDocument/2006/relationships/slide" Target="/ppt/slides/slide16.xml" Id="R0b184f244f1540aa" /><Relationship Type="http://schemas.openxmlformats.org/officeDocument/2006/relationships/slide" Target="/ppt/slides/slide17.xml" Id="R4387232486544822" /><Relationship Type="http://schemas.openxmlformats.org/officeDocument/2006/relationships/slide" Target="/ppt/slides/slide18.xml" Id="R1298ff766f144f6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ccb23982c46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df974cf534f52" /><Relationship Type="http://schemas.openxmlformats.org/officeDocument/2006/relationships/slideLayout" Target="/ppt/slideLayouts/slideLayout1.xml" Id="R762d4b656fb246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2d4b656fb246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89e30544a4f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d7e3a6ed947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d3288465b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86ecfec9648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84e3de4ff4e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ab613f7d541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44e0da97449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5d79808214c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21b86a4bf42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853a4b1014c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55e2480594b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3ed6b04d247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2f14feb3545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3db1cf36141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b978f0a824d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fd2f45e744c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7e70130024a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32d543db94d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17882-6B6C-4073-AD6A-E5006CB6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92B7A-9E86-47C2-83C7-21B9D901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667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5A9B7-6B9A-4799-B815-A528C319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大模型推理性能理论论证 · 评审汇报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294E5-4455-4D62-8DC4-F0D0D121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AA9C6-877A-429D-B1B4-A1954165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推理性能理论建模与 KPCL 通信需求推导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6E1C8-8B65-4937-834F-2BC4831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条件可行性论证 · 以关键路径、资源约束和可验证接口为主线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F9F1D-D37F-4CDD-8E56-8AEFEB43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2AF3B-9EC4-4BE4-B42C-E7C7AC5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关键路径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7810C-96BF-480B-BD8E-F726ED9E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查询只是局部环节，收益取决于暴露加载占比与可重叠依赖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2360C-5A12-4829-BCAB-3017626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14222-819B-4DAB-AE19-C4A53840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干扰预算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BED3D-D8D6-4F7D-9BCF-507E3DB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β 表示前台有效显存服务速率损失，不等于后台 NIC 带宽占比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1E693-C296-4BFB-9196-758A554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3333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2BC2A-E949-48B9-8243-596814E8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尾延迟与库能力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3253D-D837-4985-8ACF-DAF07911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把突发、组完成、服务下界转换为可执行通信契约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BC8B2-86E7-404F-BE0A-8EA4DC99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评审目的：确认哪些机制值得进入最小验证闭环，哪些结论仍需参数校准。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7AA2E-77B2-40B6-8B9A-D364FD64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2026-09-07  ·  Luna 构建版  ·  正式演讲版 / 预审提交版</a:t>
            </a:r>
          </a:p>
        </p:txBody>
      </p:sp>
    </p:spTree>
    <p:extLst>
      <p:ext uri="{BB962C8B-B14F-4D97-AF65-F5344CB8AC3E}">
        <p14:creationId xmlns:p14="http://schemas.microsoft.com/office/powerpoint/2010/main" val="1894352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1BF182-1DB6-4CCD-A2C0-7F4D57F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证据边界：已有查询结果证明了什么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3243-EAB0-4C3D-A36E-FEEB917E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先把“已知观测、理论算例、待测参数”分开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1B586-7F07-4AEC-9DD6-86230EBF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9D78A-9D5A-4435-A742-78C82331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02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442CF-523F-48AB-AE27-2951BD9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DCA12-66D7-47A8-B2D2-DB198745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F046B-53F6-437B-BEAE-11AD1B7B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3B057-E845-4B8E-89D0-4509BCA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239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A4DF0-0258-428B-A048-9D3C9E2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57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4A6F2-9FAF-4FDF-9617-3985480B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23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当前可采用表达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31828-31F8-4041-B338-0B9C6210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57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FCF89-AB63-4783-AB8E-9FC38B5B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23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不能由此推出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8E07A-295A-4201-87BA-E59712C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A93A9-2805-4CA2-9BA6-D8E97C4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2397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下一步校准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C00D3-9A1C-49B1-9F5F-169B651C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44F16-9D90-4BE0-B0D4-56F57258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16K 单请求查询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402A-B216-4AB5-A816-BA42C2CE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811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04BD5-2420-449D-ADB8-F34CD30E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478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TCP 几毫秒级；RDMA 几百微秒级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C35A3-7866-46FE-9311-C7F093F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1291D-CC0A-4A61-8350-6B4B0F7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478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并发容量、生产分布、P50/P99、端到端 TTFT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05309-6DCD-4423-9F61-D32CCC2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28DBE-C7F6-49AD-AA31-BEE55FCA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478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补齐计时起止、重复次数、并发与分位数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EDEB0-2513-4BC5-B5C8-673B63D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BECE6-A986-4662-9201-6E44171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URMA 相对 RDMA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01309-0649-4FCF-8F1E-ACFF8E6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764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47454-9FA6-49DF-AC82-CB1F304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431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查询时延进一步降低约 30%～40%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517081-B872-4093-B456-E197CB1D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D6CA7-D124-4046-B2A8-5155C6BA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TTFT 同比例下降；更不能推出 QPS 改善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A56E9-778E-4C20-BC92-B70A3DC8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79BD89-6D5B-473F-99A5-F13B04A5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431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测量查询占比与排队影响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A4A09-B992-4F46-8D82-692CE811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75771D-9F49-4EE8-9516-B26D16A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理论模型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D1ABB-1D61-4425-BEA0-38AF4B17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6C4290-4A85-470D-A59D-DECE9A9B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384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给出收益条件、失效区域、接口诉求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1D134-8A9B-4507-9559-F852754C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E56588-0C03-4FC3-85E5-0FC1373F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384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目标平台已落入可行区；E0～E3 已完成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F69AAF-30E3-4250-9D1D-FB550C2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43F54D-E684-4697-BB7D-5D6023A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384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用最少预验证收紧关键变量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553B2-BA28-412B-B729-70CDAD81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B43D8-6164-41D4-B597-1B844E4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自研增量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E16226-D1D2-4BCA-BE2A-8B1CC42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DBE4EE-747E-42F8-8759-5D0A762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337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只与已有缓存系统的共同能力做比较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30DAD7-B385-4595-8482-6004264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97FAC6-7F86-4C50-9B1D-2A30B49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337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把通用命中收益再次归给自研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393D56-3924-4AC3-9176-8A13A1F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461B8-484B-4EF3-B1F0-6FBBE0FB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固定基线后测暴露加载占比与控制开销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62A8E7-F726-41A4-B817-506DAEC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5238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3ABDFC-4C9E-4FEC-ACB0-4C63831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评审要先接受的三条边界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EECC0C-304B-4E5E-A1B7-7ECF129D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单请求查询数据只支持“查询局部收益”判断。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DC9BC0-A843-4BF2-AAED-CFAB3F86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理论数字均标注条件边界，不代表实测或保证。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7F8CEB-9678-4536-9958-56759561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E0～E3 是验证目标，不能写成完成状态。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3CD7AB-FE99-45E2-99F0-1A16BD5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F18410-E34B-4F85-9E72-865700F6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本次主论证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95D2E4-B1A3-4E3C-8CEC-BE7E22C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把性能问题拆成三个可复算命题：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7A6326-82D0-481F-BCA5-07B8F3BD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加载是否暴露在 TTFT 关键路径上。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5E8A2E-B7F1-4B27-A5A8-008C89A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后台操作造成的前台有效显存服务损失。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910E27-7203-4B90-BB3C-9E5E425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突发、组完成和服务下界如何进入尾时延。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40E850-4533-42A5-BE01-2A95BE9C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9A59C2-2524-480A-A314-9DD650C7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31F3BA-37D3-4FCD-A463-CABF926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05F2C9-49F0-4321-8118-85ED7822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证据分级：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DB925A-E5F4-4BFE-A450-D1E12B3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先证明“有条件可行”，再用最少验证收紧参数；不把局部查询加速当作整套系统成绩。</a:t>
            </a:r>
          </a:p>
        </p:txBody>
      </p:sp>
    </p:spTree>
    <p:extLst>
      <p:ext uri="{BB962C8B-B14F-4D97-AF65-F5344CB8AC3E}">
        <p14:creationId xmlns:p14="http://schemas.microsoft.com/office/powerpoint/2010/main" val="915647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CFD4C4-4981-4A3B-A1CD-D824F84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四类业务场景：指标、依赖和边界必须对齐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29FC6-6D08-4B2E-889B-CBC780F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复用、持续生成、并发加载、冷会话恢复分别建模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3B9FA-B55C-45BF-A412-EBDC4A1A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33D61-BDA0-47E7-AD03-0AF6F21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03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41F1C-5E1A-4BEA-AA62-867C60F7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7033E-424C-4088-96EA-448E3B4E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长公共前缀 / 多轮会话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986CC-F7C4-4E65-B0AE-BB42678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20506-F503-4EEB-91FC-CAC6AA22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查询、加载、设备接入、剩余输入计算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30E8-AA63-4D0D-A9EA-FC880AC4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前缀复用减少 Prefill；收益要扣除加载与准入成本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979F4-913F-4613-BEDB-531926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CA37B-108F-4EFF-B2C2-D124B805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9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已接入本地缓存的持续生成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B5CC2-7B7E-4742-A4B8-A4D1E714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04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首要指标：TPOT、ITL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757D7-78B1-40B4-907E-2D429304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每步模型计算、显存访问、多卡通信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B5215-E1B0-4846-BEB6-9C3B262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后台操作影响前台有效显存服务速率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D4C80-D759-4622-8426-FE12A1B8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9D1AD-9656-46AD-A20B-B53F8C1C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多请求、多源、多卡并发加载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BB87B-7AA8-4E08-8F12-C75E0F9E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P99、ITL P99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692EE-C894-4649-BB7C-57EFFC9F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汇聚队列、最后一个必要子流、共同接收资源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7A292-4766-4E88-B9E6-D601978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组完成由最慢必要成员决定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65A1B-ED04-44BC-B5D5-EC61DB51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2387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D0D6F-ABCB-4688-A7DF-A2441A2C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冷会话恢复 / 容量压力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AB118-2A60-4FD5-BD0F-4CBFBB0B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19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首要指标：TTFT P99、恢复期 ITL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78260-59B6-463A-B11D-AE675B1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存储读出、正文加载、换出进度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E1BA0-09F1-413A-8B88-BAAF4CC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平均容量可行不等于突发时限可行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84D10-7D0F-4B12-A375-497F06E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514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5B3072-2C2E-4A1D-8581-BE1A909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= t₁ − t₀（入口到首 Token 可见的时间）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3A547-13EE-4AEF-A68A-AFF1D2FB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552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6A28E-A7D3-4F05-9A34-A5891DCA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TPOT = (tᴹ − t₁)/(M−1)（输出 Token 平均生成耗时）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FA71C-C3DB-494D-85AF-B0722B1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ITLⱼ = tⱼ − tⱼ₋₁：局部停顿；客户端按块接收时不能把块间隔直接当成逐 Token 间隔。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F55DD-4B47-4984-85C0-39E9C7CB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5158C-7D6F-453B-8537-806BBFCD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8C9C2-558A-4B6A-B102-AB41A71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97308-EE22-4C3A-9A86-A51512AB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指标口径：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405A9E-6598-43A7-A82C-E469CB3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从同一组时间戳出发，失败与超时请求留在到达分母中，P99 不能靠删掉最慢样本得到。</a:t>
            </a:r>
          </a:p>
        </p:txBody>
      </p:sp>
    </p:spTree>
    <p:extLst>
      <p:ext uri="{BB962C8B-B14F-4D97-AF65-F5344CB8AC3E}">
        <p14:creationId xmlns:p14="http://schemas.microsoft.com/office/powerpoint/2010/main" val="890046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3008DC-1FBA-4F9A-A479-82E838FC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TTFT 的关键路径来自依赖图，而不是模块时延相加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2D6B7-795E-4B31-B63C-46DEE452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DAG（有向无环依赖图）把可并行和必须等待的关系写清楚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DDBCF-4AA4-4370-96AE-4C57E932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F1D73-CC12-45F7-B829-D177130B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04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C2194-8100-4D30-83ED-D843FA3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A708-6F42-451F-BC0D-17EC75F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E4603-F7C6-44AE-9CDB-818E8E04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98E87-B96B-43F4-8D0B-E39973B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入口与排队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7CA55-A126-4F79-B45E-C1995A62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54B67-9DC3-49F5-82BB-392C7B10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身份及候选查询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43762-116F-46CF-884D-ABB35560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54227-3309-4E9C-8516-24C9D05D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资格校验与加载决策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2D66F-EC86-4F33-A333-EFE38AB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06039-10F5-411A-A3D6-AA74ADD0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源持有 / 目标预留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D8145-F3E7-46DD-BB4C-0D6CB972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6692D-7C0F-44FC-A6B8-2941D755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批量提交 / 正文加载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84861-A52E-40F9-8807-CEB86E6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1A718-FD64-458A-AB52-3BED30E3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0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目标设备可消费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7390B-F00A-40C8-9BFB-E5AEE02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C2E36-2852-4911-944C-0F116F9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必要多卡范围就绪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507B8-7F45-44E2-8A0F-F501C4B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48000"/>
            <a:ext cx="13811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B7EE5-1C58-4607-A055-F1508209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2897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剩余输入计算 / 首字返回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C16D0-BDE7-4BFF-9E4D-08CBC10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ED9FB3-BF45-46F7-A23C-7ED82D09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9547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CF1CA-4D35-4084-B484-780D30C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954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DDD96-9EED-44D6-BFDE-0F8EE05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95475"/>
            <a:ext cx="495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373CD-59C4-4287-9411-5B32FC68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954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1ECE5-4FC8-4878-8805-7B450265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71700"/>
            <a:ext cx="953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E49668-5B7E-43F0-9236-58127DA6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4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20559-BDBA-46ED-A848-0D512140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2422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90253-F3EB-4F49-84E7-A46801A0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1619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FFE29-1460-431E-8080-1DC22AAC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38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框架重算准入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3CE1C-2754-4909-8E48-90602537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953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0D1FC0-FFC9-426C-A508-85A80D9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24225"/>
            <a:ext cx="3810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4024AC-C6A4-4EC7-B4FE-45DAF242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723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83AA3-55B9-4731-BFFA-2B66DBF1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fᵥ = dᵥ + max(fᵤ)（任务 v 完成时刻 = 自身耗时 + 前置任务最晚完成）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DE3FC5-ABFE-4E54-8FC7-A177266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3CFE05-47CC-4CA1-9278-93FFA2D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三条记账规则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72C663-83E9-4C7A-90B5-2BFD0CF6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组完成已含数据到齐，后续只加额外协调。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1912BC-62AE-4FB8-99B7-E4BE2E64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可见性若含在传输完成定义中，不重复添加。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6D1A74-49A1-4C35-A31E-51B7422E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共享网卡、显存、CPU 或计算引擎的排队要作为资源约束加入图。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4196AE-3336-41ED-880A-D0C7F57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307D0A-9C35-484F-ABD2-61EC0808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4C4802-8923-4E9F-8E74-933205F3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AD48EC-8CD6-494E-B752-6347B2B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CD8032-0621-4F62-8DAF-440C2B38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每个节点只能按真实依赖结算；缩短非关键节点可能不改变 TTFT，改变队列负载还需重算日程。</a:t>
            </a:r>
          </a:p>
        </p:txBody>
      </p:sp>
    </p:spTree>
    <p:extLst>
      <p:ext uri="{BB962C8B-B14F-4D97-AF65-F5344CB8AC3E}">
        <p14:creationId xmlns:p14="http://schemas.microsoft.com/office/powerpoint/2010/main" val="1745467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B1AB38-487C-4A68-8E8F-1DE6C5D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 Amdahl 上限：URMA 局部加速不能单独承担端到端目标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21E82-93BF-40DD-A48C-CDDF2C9E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只有查询占比足够大，局部收益才会显著暴露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E44C4-7CBD-4401-A10B-1CD2E88E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93A10-C579-4C1E-AC14-FFDC19B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05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8E9FD-1C70-4B2D-BFB0-327BC9C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57250"/>
            <a:ext cx="2524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06C5-778B-4734-B310-9637841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14400"/>
            <a:ext cx="2333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用户口述观测 · 绝对值未知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BC869-0F02-441A-92FF-2EF221B7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BE18A-7337-4488-92CA-1EC113D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662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 直接降幅 = r_q · f（r_q：查询自身降幅；f：查询占原 TTFT 比例）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29C2F-57E6-4811-BED5-C0ED3B21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 r_q = 30%～40%，目标 γ = 20%，则查询占比需满足：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8D621-2464-421E-A15D-24CAFF2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BCB33-BFC2-40EF-AA02-B92F838E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81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 ≥ γ / r_q  ⇒  f 约为 50%～66.7%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E4F59-9D16-4FA2-956E-1047362D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97DFA-1398-4B36-AA5C-A0896304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边界解释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0AD88-52C8-4789-B562-053E43A2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若查询只占 TTFT 的 10%，局部降幅只折算为约 3%～4%。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C7854-2460-4BB2-B7CF-66F4EDC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查询并行于其他工作时，直接收益可能更低。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DC69B-9E73-4D78-BF9C-3AC5AC0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查询服务接近饱和时，额外排队收益需另建模型。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0435E-66A1-497D-BFC9-2D44E5C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ABB16-A283-4997-B516-8579A94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6610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D481E-B5EF-47A1-843F-8A1132C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953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E1D72-CADC-43D7-9A5B-4C2A4CEE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ABFC2-A38C-43F1-AD57-FF92475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786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F48D4-C7D1-425E-B3C9-C8B0B7B8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121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909FF-60D5-423C-B7AD-E219E25A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457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B4957-37AC-4AD3-924B-9439CF3C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793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F1633-FC8E-4016-B8B9-CB96E13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129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39C27-3362-4B38-916C-D489CCBB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464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DEA1E-ACCC-4C3E-97E2-FB0EA0F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62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CE244-A3F8-48BF-B2C5-39891416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5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ECDBD-F134-49DE-A979-D413A65F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52113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66A37-A622-48FB-9147-35F6D4B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9941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7B11AF-D9E8-4F5C-B723-8EF8E26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046" y="50881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4B5C9-E9C2-40BA-8CB7-E65B6D2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286" y="5116711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D78AB-B0AD-4B09-B3CC-D3F89CB6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382" y="49649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FD4E08-14BB-4390-B15E-3BCE6B87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4993481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6550F8-904A-4817-867F-76783377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718" y="484167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FB9B7C-9D50-4438-8026-A7D95BED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4870252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CDB36B-70E8-4BD1-B78B-617438B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054" y="471844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AB0B67-732C-424C-8C6E-5FDAA000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293" y="4747022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BEF26E-4BD7-46D6-A136-C2F96973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459521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C7D44-5DE3-4D68-BB5D-3D919EB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629" y="4623792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6920AC-6EE8-425A-B9B4-8ADFB981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4719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57EC13-B6CC-4E86-BB73-7AE57FF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64" y="4500563"/>
            <a:ext cx="944336" cy="12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9BCEDE-2AA2-4B52-B0A2-90CE556F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9351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5CFA97-3379-42C8-9205-BE6BF2C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711" y="512921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5EAD61-6FAB-4AAB-B19B-CFCC64D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7788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99CDA1-865B-4CBE-8D01-9BCACD2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046" y="49649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7D0BFC-95FF-4BA4-A77E-6299AB0F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286" y="4993481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2BF432-BDA7-4D9D-8F41-06E745F5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382" y="4800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A59678-4D7D-4891-8CD7-DEADF75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4829175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6459C0-696F-4C7F-90BC-0FB835BD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718" y="46362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6D3E6E-80C1-4487-BF6D-F2B81B9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957" y="4664869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1D68FB-6EA1-44A6-B928-BFAF54B8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054" y="44719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CEF7AB-1C6A-4BF7-AB6C-DFB5CA1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293" y="4500563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8BA9E8-8038-4FCC-AB60-3657C9C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89" y="43076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A226F4-C05B-4DEE-A9F1-80F60EB8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629" y="4336256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E35E3F-331F-4C6B-B3CD-282DB3B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143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DC5D10-00D9-4065-81C4-D775386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64" y="4171950"/>
            <a:ext cx="944336" cy="164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C2BC2C-4E74-40C9-8D42-FA566122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F90465-DA40-4322-AACF-3BDE3BE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290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r_q=30%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4B3FA4-592D-4456-9A9D-953276B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C3C89A-E68D-4EEA-83A4-0D9DC0C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r_q=40%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E985ED-B801-4B1F-93EC-EFB47EE4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429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2ABF40-7FE5-4F4B-B07F-81C1A22C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86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曲线读法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A25F32-EDB4-43ED-8841-89628484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横轴：查询占原 TTFT 比例 f。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18955B-8732-4A9D-A8DB-E38900F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纵轴：理论直接降幅 f·r_q。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13A990-53E7-4241-85C5-24FD34E9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不含并发排队和关键路径变化。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1ED142D-A9E7-4C39-88AF-A2485DC9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D8BE5C-05D4-4F44-8EEE-9E32659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6F0F6F-3F10-4E43-A5B4-8C68F698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60E2A9-1832-4EA4-B7CA-7537CFD5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查询结论：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B1DDB5-63FB-4990-8130-A4F3B08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已有数据可作为查询环节的协议对照，却不足以证明端到端 TTFT、QPS 或 P99 改善。</a:t>
            </a:r>
          </a:p>
        </p:txBody>
      </p:sp>
    </p:spTree>
    <p:extLst>
      <p:ext uri="{BB962C8B-B14F-4D97-AF65-F5344CB8AC3E}">
        <p14:creationId xmlns:p14="http://schemas.microsoft.com/office/powerpoint/2010/main" val="1851716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C5AD3-060C-4A96-BA81-D9BC48F3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复用收益先从字节量和计算量算清，再反求加载预算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D2EB0-F11E-44C3-BAFB-95813120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KVCache（大模型历史 Key/Value 激活状态）复用的收益不是命中 Token 比例的线性函数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BEDCB-8346-468F-BA11-0306891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BC52B-29A7-4701-8E40-DFD8595F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06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82E4E-55F2-4AD8-85D7-5E9F6EC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ACF2C-E17D-4717-9472-B9448F83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17A1D-5E43-4B30-913F-AD96F3E6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DF4A6-6803-4BEA-A6A7-B646FAF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V_logical = 2 · L · p · H_kv · d · 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5B069-322A-46D4-B7FB-F4098F7A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L：层数；p：可复用前缀 Token 数；H_kv：KV 头数；d：每头维度；w：每元素字节数。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748F-27DA-45AF-9435-FE2AA869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B09F3-9EBA-47C5-8B2F-E439689C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ΔF = a·p + b·p(p+1)/2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D44F4-AE87-47B4-A8E2-FE4F87CE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a：每 Token 投影/前馈计算系数；b：因果注意力位置对计算系数。后缀仍需对前缀做注意力。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A36DF-9E8B-4868-8748-F44FB280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5334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ADCBC-BBDF-4FD5-8797-4BBBD9D9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物理限制只给下界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345D5-4731-46FC-8520-43D53FD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1649F-5371-4234-B914-4C32557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 ≥ max(F / P_max, V_mem / B_max)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1BE1A-A45A-4FE5-8228-7A1561C6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P_max：计算能力上限；B_max：显存/总线带宽上限。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990C7-3E72-42EB-8DB0-CA2273DA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峰值带宽用于排除不可能情况，不能直接当作可交付上界。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508E0-B5F8-44E9-87F1-30075EC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实际字节量要覆盖布局、量化、对齐、重传与副本。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06D8F-C63F-4479-AB2D-CA0D22A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452E4-BE90-4F3A-A67A-2E907EE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 TTFT 目标反求加载预算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C65A0-8240-4348-A9F5-C13C4D4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T_reuse = U₁ + H + A + V/B + P_s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407A6-7D5B-4975-B1D6-D41BC73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R_budget = (P₀−P_s)+(U₀−U₁)−H−A−γT_recompute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C8D38-9B2C-4C47-936D-976FE484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若 R_budget ≤ 0 且 V&gt;0，则该顺序加载路径无法达标。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D7026-C4B4-4556-A8E1-5E9B1B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C1DEA-15F3-4D0D-A9E3-416CAF7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45EF0-FF4E-4350-86B9-4DEF3A3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06E01-3552-4F49-9D04-C6FC93F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计算基础：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3701D-F56E-4427-A5FC-E0957AA6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先按模型结构求真实字节量与可节省计算，再把目标降幅转成可检验的有效带宽预算。</a:t>
            </a:r>
          </a:p>
        </p:txBody>
      </p:sp>
    </p:spTree>
    <p:extLst>
      <p:ext uri="{BB962C8B-B14F-4D97-AF65-F5344CB8AC3E}">
        <p14:creationId xmlns:p14="http://schemas.microsoft.com/office/powerpoint/2010/main" val="1514964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BCB036-C8C8-40B7-B811-77849C2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自研增量要和已有缓存基线比较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398A-A311-4F11-A919-4377F6C8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只有减少基线仍暴露的瓶颈，才构成独立收益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7F005-DBB5-45AA-A055-58A494A9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87BB5-0180-4008-A392-BFA90D7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07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CDCA3-6519-4183-B22A-C8880F9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01746-B89D-4C93-86D6-842B629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AB057-D119-40C2-AF9D-845CCF1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61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42DC7-11CB-446B-9770-4A1B58E1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G = α(1−r) − 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DACE6-93AF-4B69-8514-103B537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α：基线 TTFT 中暴露的加载时间占比；r：增强后该时间相对基线的比例；η：新增控制开销占比。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A7E5E-B050-433C-805C-2FCEA5D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BF95C-B4E4-4DA2-A8DC-348A511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G ≥ γ  ⇒  r ≤ 1 − (γ+η)/α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8C0BC-F89E-433D-8B2A-4700124A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5524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8AEE5-D55C-4C23-8C5B-FC7B06CD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评审要问的基线问题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9F390-9EA3-442D-A039-56361C0F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基线是否已经支持前缀复用？若支持，重算节省不重复计入。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C5EF8-F59E-4433-AFE2-879A33D7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基线是否已有逐层加载、设备直传或前后台限速？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082E4-92D0-4D3A-88BC-B04C0C3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新增控制开销是否仍小于暴露瓶颈空间？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A149C-993B-42BD-A421-468AE103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685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24C2A-C72A-4C71-A8B2-49192D6B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6229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31A6A-87B8-4329-B51D-EC159D70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953" cy="150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90886-457F-4361-A3AE-BC6B958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6D302-6DC6-4CB9-BA2D-B29727F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369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B0E33-5711-43B6-A25E-8709F447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38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91775-2EA8-4D05-B9AC-6EB39FAA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706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07A7D-3FD2-47D7-955E-AEC5F262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4B1FD-5DB1-44A5-A512-8C132B7E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044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AF554-A05F-4E2F-82B6-C067C483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713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43D21-4390-4697-965C-31481B76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381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87143-F12F-4AD7-819A-BE67D09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768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B67EB-A8C7-49FE-9A2A-ED1EF132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963" y="5172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1E765-0B54-44B0-820A-3DAC6E6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31" y="492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23BF11-BE33-40D7-9E55-4EAB2FA2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4949825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7C01C-D681-44D0-984F-86FFD49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70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7E465-FCC0-4BE6-8BC2-0EBD822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4699000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44524-3AFE-406B-926B-2C628549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969" y="4419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F03C5-B17B-4FAB-A08D-FCC7D9C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48175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6C3759-9AB0-4D5C-AAEE-0872EA4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168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7A3801-F22B-4A78-B657-B4D6C2B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544" y="4197350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BA6098-A1FB-4AA9-84DE-48FD472E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306" y="3917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00F3A5-8995-434B-A8F8-8FF10B90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3946525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FE0248-0A60-437B-ABF0-66C7A41F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9A0E0E-45CC-422A-988C-86A4F9D5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3695700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948435-5939-48E1-8C64-FBE6887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31" y="494633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84E387-B34A-40BF-BC76-0D2445C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550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4C1528-5436-451A-BAF3-75A562A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472408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E70A5F-65A8-47C8-8715-DF906E5A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969" y="444468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F97E4A-8FDF-430A-8EBC-6122423A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7325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B8FB59-286E-4F43-9258-37661424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19385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94B97F-FE76-49AC-A1C3-2E2372A7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544" y="422243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2D9028-8883-4645-B16B-729FA4F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306" y="394303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7D8337-69C2-4AC8-8FB9-90E5ED36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397160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F69903-1559-4AA7-A87B-603BF1D5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9220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FB4F65-4FBE-4E38-A4BC-4C7D87A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372078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2E1B90-C301-4F26-ADA8-C0601582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631" y="49964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9B9E56-26DC-4196-AC79-49881FF5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45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C22627-078C-4238-980E-0D37E075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206" y="477424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1792CD-A831-42A3-BB06-577B8BC7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969" y="449484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1A347A-7AC3-4561-8BBB-3FE1DB93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342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A02D96-3D16-474B-9386-C4D7AE74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24402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85650A-450F-4B2D-ADC4-48F3AFD4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544" y="427259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E0072E-4966-4270-A473-425DD262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306" y="39931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50B796-7432-4414-9956-C418350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4021773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69124C-177E-443C-AAF4-CAEF5D6E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423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DBEC74-6D04-4851-8425-57E31E9D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3770948"/>
            <a:ext cx="778669" cy="25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53442F-2105-42D2-A609-0EB1549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D4E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63E829-2A8B-48D5-B0A5-F424A177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η=0%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84237C-5627-42E5-9F45-D6BC54C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4785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D5EE09-2AC4-452A-9518-CE9E6171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η=1%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5606B1-92AC-4B18-9DAF-FBE04A8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C262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94BBD6-D22F-4536-9264-0E79D1F6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η=3%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978EF4-8650-4AFC-89FE-17D2FE0E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示意：曲线仅表达公式形状；低于目标门槛的区域应视为不可行。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19177E-C2E5-4B67-B44D-D919934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F8A408-76FA-4F1E-9734-8337C17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不能做的归因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D22313-328A-4167-B59D-B59CF64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不能把通用命中收益再次写成自研收益。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8FB5AD-DD15-4D40-86F7-B762435F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不能把查询、流水、容量提升的百分比直接相加。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581003-3E4D-4AF3-970C-B102E2C1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基线已有能力必须逐项核对。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927C3D5-FF52-4008-8B1B-AE1291C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57B74F-18C3-40FC-A091-3FE2622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13E09E-27F1-4EC3-B747-29C92AB0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CBFF18-A221-400F-8935-69C9EC6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自研价值：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28E768-AC46-4556-A215-40D2FF36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自研增量的证据是“相对同等缓存能力仍减少关键路径或资源冲突”，而不是重新计入通用缓存收益。</a:t>
            </a:r>
          </a:p>
        </p:txBody>
      </p:sp>
    </p:spTree>
    <p:extLst>
      <p:ext uri="{BB962C8B-B14F-4D97-AF65-F5344CB8AC3E}">
        <p14:creationId xmlns:p14="http://schemas.microsoft.com/office/powerpoint/2010/main" val="1622254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9D6F41-322C-4CD7-B70B-DD9B441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逐层流水的收益有构造性证明，也有明确边界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B6587-CDA3-43F3-AB7E-269D767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流水能减少暴露加载时间，但端到端收益取决于真实依赖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4FD7D-E7AC-449A-AB97-C276A04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F8B2D-28E1-4922-8A20-AD98CED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08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7716-3DD3-4C63-B06C-E804F563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736BB-B5C2-4BFF-B574-FA9B3054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3C1D5-53E0-4412-8C91-B3E15858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5CC70-9BCE-4957-982C-48988D39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96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A_l = A_{l−1}+x_l；F_l = max(F_{l−1},A_l)+c_l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7B446-F065-4A6E-89D4-0E61999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A_l：第 l 层数据可用时刻；F_l：第 l 层计算完成时刻；x_l：传输阶段时间；c_l：消费计算时间。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2F1BF-B947-478F-8A43-CDD59AC0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B9CCB-FD1F-4B21-B3FC-21BA9714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T_pipe = x+c+(L−1)·max(x,c)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7B797-285E-41F9-86E9-3FD71D5F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4A5E3-BC4A-4FC4-B394-E0C08F7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T_serial = L(x+c)；ΔT=(L−1)·min(x,c)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B9D86-AC19-42A7-AEA7-82F2642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43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F3D81-1931-4528-87C6-B4A1C7D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66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理论算例（条件明确）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E4252-12B9-45AD-8A80-B8AF11E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47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当每层 x_l=x、c_l=c，流水与计算可重叠。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D576A-EF91-4901-9238-4AC8D341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当 x=c，子路径最大相对降幅为 (L−1)/(2L)。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6A343-9EB5-4AEC-B9D8-5BD00F56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L=32 时为 48.4375%，仅属于加载+计算子路径。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95FB5-16B3-45D7-89B7-530B9734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若并行后 x′、c′ 改变，必须重新计算。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CEAC1-48AD-4275-AE08-BA5C9FB1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串行：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76330-4765-4FC2-A715-4F21427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30143-593B-4EDF-89BA-5D4C53B7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9C6E4-84FD-42DD-A050-F1B01C22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8D398-F439-4ADD-9D95-559A79B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63ABE-BAC4-4865-868A-FFEBA863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1E923-6811-42DE-B84B-F980D27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EB86A-C79C-4743-BEB5-2B7A2264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B37B5-1303-4E76-8ADB-4696B6EF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A1B138-5B33-40B3-83EC-32E8D7E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1AA8F-BD00-467A-87B6-1F33084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E393EB-C950-4077-94CE-A73852C0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FDDD9D-D9BD-4CCC-AA36-3BAA216C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34B535-43D9-4BB7-81E5-1FEF470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44040-0392-4473-B412-32BB9AB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9AC9AE-0C65-4971-829C-C6B4C9EC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14800"/>
            <a:ext cx="762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3E630-A43E-4F4D-808E-2E39DB8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EEA2B8-1259-4ED3-8625-259C75C3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流水：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49F11-72FF-4D64-86A5-3E203AE2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CE0026-D09B-4151-B1CA-69F9384A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4F695D-95E7-4317-BB5C-D564078B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9DE7A3-27C1-40F5-9458-8282D5DD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E43495-832C-44AB-8ABB-3B773080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74FF60-961F-4122-8927-43C0659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1BBA30-C30E-4713-95CC-5D64C45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D0C318-6360-4FED-9D18-EABCC71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782DC6-19E8-4174-AC5C-A99815AC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C115CB-F751-4944-BC3B-BB19D65E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49E279-4DA0-444B-BE22-FCE6410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3B4F84-B0F4-4C1C-881D-52C9408A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FE7617-A6F4-4038-94F0-EBF7815F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C84EB8-BFE7-426C-B0DD-508C2DA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59F84D-98B4-48D6-B282-0708FEE5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91050"/>
            <a:ext cx="4381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71E1DC-5858-40C6-AAAB-3CC9C12E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67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A2A058-3A0A-4C23-B7F1-89B2A3BB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图示只说明构造关系，不代表目标设备时间比例。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7CE69E-25F5-488D-89F8-62720A04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E08376-A06C-4522-8131-7A30F13D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7835AB-AD79-4EFC-8517-56ECFF4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DD6CD0-B0D7-4999-888E-392B4DAE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流水结论：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650C26-246B-44F3-8F5A-18F9F497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只有在框架允许逐层消费、计算可重叠、可见性正确关联且资源未被拖慢时，流水收益才成立。</a:t>
            </a:r>
          </a:p>
        </p:txBody>
      </p:sp>
    </p:spTree>
    <p:extLst>
      <p:ext uri="{BB962C8B-B14F-4D97-AF65-F5344CB8AC3E}">
        <p14:creationId xmlns:p14="http://schemas.microsoft.com/office/powerpoint/2010/main" val="1803342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DB3FE0-694A-4BC9-9574-FF7E3B1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流水能否落地，取决于框架与通信事件是否可表达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DE831-38C8-4D6C-A1F9-ECDEC74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把“逐层可消费”拆成可验证的库能力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ADBF6-5EAA-4713-BEBD-362FB36F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CE851-4977-47C2-BD8B-FBF2D71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09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53703-EABD-4945-994C-FC8B663C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EF3F3-27AE-420A-91DA-E6195E5D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4A0B0-9C90-45E7-AA3C-97040EB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B1177-05AF-4117-A3E5-4BC885F7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框架允许按层或合法范围消费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38291-87E8-4305-9D3A-BFCCB1D4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E7CC8-A93F-4C44-8958-A7B40108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预取目标显存有足够空间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74250-6962-424A-AE91-6D73023F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0CAA1-2479-4CF0-BB91-12CAE02C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传输与计算可重叠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A6E7C-7325-4FF0-8918-9989A24B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81E11-2842-4FA9-B880-9C7DB2B5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设备可见性与依赖一致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D19BD-8D80-4FB0-AE5B-9D080A0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DB365-63DC-4006-9AA2-478D3B45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库事件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1D62A-6422-4A71-8C7A-BD48453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EB252-FCAE-4693-A4B0-0A0DABFD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分段完成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99550-8B5E-4DA4-AAE3-003773BD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46B0E-D740-4A85-81E0-D30EC86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目标可见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84FF4-43F4-46DB-A50A-99490113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CFCB6-5F19-4666-A677-870D3E38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依赖满足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41808-7422-489B-A927-F18113B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BB58A-A062-414F-9705-193005D3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取消 / 超时 / 受控失败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79F0D-3651-4673-89E6-F5996543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33375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D6C09-EB9F-41E0-B735-57D2409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调度约束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45294-0616-45BB-A6F2-77C70DBC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6BF54-B286-4F68-8661-7D7921D9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288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限制预取深度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C2D4B-70B7-4D7C-88F7-60DAABF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2EEBD-6494-4C0C-89A3-3865FE1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按当前最紧依赖提优先级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A64CB-9FDE-4536-BD7B-B39C8DA4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06A21-43E5-4AE9-83A3-727E3C4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不永久抬高首层大数据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5CF0ED-C1DC-48A6-A7A5-3AD8245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990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480C87-951E-4505-A784-482EA54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资源忙时回退重算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57D64-45B7-4E7E-84D4-9FD477A4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104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7CB4F-B4B7-4F79-891A-87F99830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硬约束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0F3533-33F4-4253-9533-8659AEFE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若源侧逐层生成、并行网卡、布局变换或资源争用改变日程，必须回到完整依赖图重算；不能沿用串行时间。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941E2-33B2-49A9-9827-ED2471B0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KPCL：底层通信接口库，封装通信机制并报告完成与错误；需求应写成可观测事件和服务约束。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0CC85F-DB5E-4282-A7DD-7A6E2566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D1B18B-11BD-4A62-B163-9B376B32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ADE026-6056-471C-BBC8-5EF51A60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3F76C0-A873-4F62-BD60-45C7E25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接口诉求：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6AB08F-72C1-4DE8-8740-6F54C810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需要表达分段完成、目标可见、依赖事件和撤销边界，才能让流水成为可调度对象。</a:t>
            </a:r>
          </a:p>
        </p:txBody>
      </p:sp>
    </p:spTree>
    <p:extLst>
      <p:ext uri="{BB962C8B-B14F-4D97-AF65-F5344CB8AC3E}">
        <p14:creationId xmlns:p14="http://schemas.microsoft.com/office/powerpoint/2010/main" val="1351374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924580-DE76-4121-866E-B9529ED6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干扰预算：β 是前台有效显存服务速率损失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99A7A-022A-4BA2-A9DA-2D41368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TPOT（每个输出 Token 的平均生成耗时）要落到前台服务速率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61235-642B-4D69-B6CD-B8707F8E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59E2F-BB2C-497F-94D8-36DCC98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10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5B963-93A4-4F94-8286-BD98DEB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BBE75-567C-4C4E-B64A-FDDBC1E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9F63F-BFDE-4A42-8F38-F535912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4B89D-363A-49A6-8523-867179A0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τ(β)=t_f + m/(1−β)；I = wβ/(1−β)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DAFCB-8CCF-412C-89A5-6065575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β：后台干扰造成的前台有效显存服务速率损失；m：显存服务时间；w=m/(t_f+m)。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AF9A6-0B3B-4D19-80B7-1E947B4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76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9A4B3-256F-40A2-AA0E-17835A4A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β ≤ ε/(w+ε)（当干扰目标 I≤ε）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70BA9-294C-42B2-BCF6-ACC4A85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905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D3F5F-A458-49F5-B212-19A683C1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5276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A9417-7E63-4C28-89A1-586A27AC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53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43FDE-8496-4839-BAD0-F1CEA35D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w=0.25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FDCD1-6DE8-4358-B0D7-FF1F857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8FF69-02FE-4DCA-AE6D-1C41DA90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w=0.75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8C578-AE1B-4901-A254-D7F582D2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w=1.0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3EB6A-0577-481D-99E5-A6B6007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753" y="3505200"/>
            <a:ext cx="659606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7E1E1-DBBC-48C7-A830-2D8FC86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966" y="4170183"/>
            <a:ext cx="659606" cy="7447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A48C4-CF85-44E3-AE31-DDC37F7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178" y="4402282"/>
            <a:ext cx="659606" cy="512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30A86-AAC3-4BC5-B1A8-97EC9E7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391" y="4531621"/>
            <a:ext cx="659606" cy="3832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376F8-59C9-49BD-879F-F593040D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4572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E516E-77AE-4192-8905-3BA68DE6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52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理论算例：目标 ε=3%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E097F-845F-4700-8257-5B0068C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w=1 时 β≤2.913%。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C5FED-20DB-4BFC-9FE7-DD195DE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w=0.5 时 β≤5.660%。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B31C5-3153-45AE-B6C2-FECB690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▸ β 不是后台 NIC 带宽占比。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DD580-488E-48F4-924C-E0AE758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需要识别会降低前台有效显存服务速率的后台操作。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A3CEC-BBB2-41D9-9F18-854FCD82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ED0CB-0DEA-4D4F-9B3D-270F7C52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9FF98-4BEB-488C-A248-450969C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961742-700E-475E-83B6-AEE0A5C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TPOT 结论：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72391F-D30B-499B-8D9C-235B92CA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仅给网卡分配逻辑队列不能证明 β 已受控；前台损失预算与后台最低进度必须同时满足。</a:t>
            </a:r>
          </a:p>
        </p:txBody>
      </p:sp>
    </p:spTree>
    <p:extLst>
      <p:ext uri="{BB962C8B-B14F-4D97-AF65-F5344CB8AC3E}">
        <p14:creationId xmlns:p14="http://schemas.microsoft.com/office/powerpoint/2010/main" val="2074141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CDB4E-CAD6-451D-A8F4-4AB12FAA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尾延迟突发：把“能提供的服务”写成资源约束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2B0C3-0A4F-43A8-93F1-C7469A7A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确定性边界约束突发、最低服务和启动延迟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5DDEA-141D-4FD3-98BC-2A2C9DC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51538-D265-41F7-A1A5-6E16B078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11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3948E-30D4-4889-A0E1-2A467D5E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D7A9C-5719-4CBE-8995-BA49A80D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0956A-0DDC-4105-BD3A-C8CAC07F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E478E-D3BE-43C5-925B-40538211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A(t+u)−A(t) ≤ σ + ρu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11922-314B-41AF-A599-5A65F6D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σ：允许突发字节量；ρ：长期到达速率。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7FA63-56E6-4599-97D6-B6DFBE1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E2164-6264-471B-A9BA-95208695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B(u)=R[u−θ]₊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BB06C-6B7A-4259-8FC0-39728E6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R：可保证最低服务速率；θ：服务启动延迟及阻塞预算。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2E62C-47CD-49F8-8920-E59400C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4286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B8DE1-9300-4565-A86A-0F8F398A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D_max ≤ θ + σ/R（R≥ρ）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3FE5D-1335-4BFD-93AD-175051F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7150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7B4DE-0574-4E9D-B334-4624DC26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从目标倒推接口参数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F6813-6A25-4C69-800F-F929CE9B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859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若要 D_max≤D*，需要 σ≤R(D*−θ)，且 D*&gt;θ、ρ&lt;R。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7E415-D55B-41E5-93BE-68C4A2D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降低突发：控制发起节奏、并发和准入。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9524A-4E40-448F-AA56-F91A967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提高最低服务：底层需要真实的服务保证。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A170F-CAB6-43E0-A142-22A3F01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缩短阻塞：限制不可抢占操作粒度。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A105F-099E-407F-85B8-10CCF5AE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整形等待仍属于请求 TTFT，不能移出分母。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EA6A6-7AE6-43E1-8ABB-32310C8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1E654-EB09-488C-A127-1C03F34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前后台混压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7E36E-46B5-4FBD-80A6-FB53C73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后台平均速率 ρ_b 和后台突发 σ_b 会共同减少前台剩余服务。给前台平均分带宽，不能单独限定短时阻塞。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E325A-107F-4250-8BD1-4377D9C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前台优先级仅在真实瓶颈上生效，且不能靠后台永久饥饿兑现生产承诺。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0B07A-6DF7-4C54-90DF-6C6ED42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233B4-ED53-4BD3-BBE9-3F4BAA4E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AB19E-8D2E-44D1-B013-8AF28933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DAEA9-9352-4567-A20B-2E4B3BD0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尾延迟结论：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8B7D4-A79F-4A74-BEE6-CF346C9C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的可控方向是减少突发、提高最低服务、缩短不可抢占阻塞，并把整形等待计入 TTFT。</a:t>
            </a:r>
          </a:p>
        </p:txBody>
      </p:sp>
    </p:spTree>
    <p:extLst>
      <p:ext uri="{BB962C8B-B14F-4D97-AF65-F5344CB8AC3E}">
        <p14:creationId xmlns:p14="http://schemas.microsoft.com/office/powerpoint/2010/main" val="19393356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BF9E07-E90E-442F-BE62-7C09AAD1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多卡协同要看组完成：最后一个必要成员决定整步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30995-2351-42D1-9A34-DDD97481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Coflow（同一计算步骤的一组关联子流）改变尾部预算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4EBF1-0E88-4CC3-8E6B-9C40713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B695E-91C7-4C05-BC85-6C20D7A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12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98A40-5DF3-486C-A47F-623E5B2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98C67-BEBF-49D3-B9F4-50C1D748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67DDB-4C32-4755-B55D-6B87CED3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788B7-9C9C-49BA-961A-D4C7F78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T_group = max(T₁,…,T_k)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6838E-8A63-4B99-82A1-1F113E2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T_r：第 r 个必要成员从共同组起点到可消费的时间；组完成只统计必要成员。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67D58-19C4-44B9-985B-164AFC6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48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20E42-CA80-4DE1-94F7-68583F4C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独立同分布的理论算例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9F3F3-F1FE-4FB7-AAD2-B1DEC91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C3E59-E032-4BE3-887B-F0F0DDD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F6FF"/>
                </a:solidFill>
                <a:latin typeface="Microsoft YaHei"/>
                <a:ea typeface="Microsoft YaHei"/>
                <a:cs typeface="Microsoft YaHei"/>
              </a:rPr>
              <a:t>F_group(t)=F(t)^k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42368-DE68-4D9D-9995-C18B4030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k=8 时，组 99% 分位对应单成员约 99.87445% 分位。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D9D3A-D24B-44A2-9BB0-B2DC218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不能把各卡普通 P99 直接当作整组 P99。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152BF-0D26-4C96-9E06-793E13A6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524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03134-7AFF-472C-95C0-308C70E2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无独立性时的保守风险预算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8F23C-3FD8-4283-9665-29F7770A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476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E931A-5B56-4B6E-A506-32366699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33725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P(T_group&gt;t) ≤ Σ P(T_r&gt;t)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3A6F5-2095-4A99-BE20-24FDFF3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 个必要成员平均分配 1% 尾概率预算：每个成员≤0.125%，覆盖率约 99.875%。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7B2BA-34D7-45A8-B2C8-882E1C5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共享拥塞需作为共同随机因素建模。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5D80E-AEB0-40C1-B2AB-3416320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04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C729C-A666-4728-AFD4-0AEC9588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A33D2-27B1-43A1-B40D-EECBD41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70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EE14E-11AD-468F-B23E-67D5C1A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D8123-3948-48C7-B3B2-2F0447D8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704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FCA26-F2CD-4436-82C9-AC273E37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67B35-0AE8-4050-B2A9-939BE5F1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9675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7AA35-27FE-47CF-92E4-E5E727C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A2E60-DEEB-4534-9B9B-208EBA71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704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EC19F-F231-476F-BE9D-FACA014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277652-3377-4F9A-8C7D-EFDE06E7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9625"/>
            <a:ext cx="704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71CDC2-B09C-4A09-A21E-D89E62B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4D3C7B-D48E-4FD8-A611-45DF578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70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2C59A8-4294-45B9-B84E-12FFA4C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01C8DE-BD6C-4D3C-83FB-06AD3C0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7048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7FD99-E4AD-4AEF-A613-D05D951E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245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卡8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61C72E-ED91-4B76-9CA4-EC7884E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DD6BA1-A296-4231-876E-D99E69F9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9CFB22-3323-4295-8B0D-522B20C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879954-6FE8-4BEE-93C7-D9AB98C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组完成结论：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5D2640-E5E3-4DC6-A2B0-3F0B6351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优化对象是最后一个必要成员的到齐时间；多卡状态同步只统一动作，不自动增加慢卡带宽。</a:t>
            </a:r>
          </a:p>
        </p:txBody>
      </p:sp>
    </p:spTree>
    <p:extLst>
      <p:ext uri="{BB962C8B-B14F-4D97-AF65-F5344CB8AC3E}">
        <p14:creationId xmlns:p14="http://schemas.microsoft.com/office/powerpoint/2010/main" val="1707846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BCA07-53D0-4C7D-9C81-168CC0E2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路径混合决定业务 P99：命中路径快，不等于全体请求快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7EAF0-EAD8-43E8-9915-1A0FA5D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命中比例、未命中重算和失败回退必须一起看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CD69F-93B3-458C-90BF-64CE98E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0FFE4-5835-4017-B785-B6FA0B1D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13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9B9DE-F0FF-4743-B74D-47E0B713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5725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675BB-3BAD-4F3B-9D6D-B03296D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44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理论算例 · 不是硬件实测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AB98B-88C8-47B2-9C1A-FFBFF709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33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F9211-C51E-41B0-A33A-11596E16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F_T(t)=hF_h(t)+(1−h)F_m(t)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667B9-9ED2-4AE6-8AB7-5024653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h：命中路径请求比例；F_h、F_m：命中与未命中条件分布。命中与时延不要求独立。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2B83B-22D5-43C3-89D6-56F868C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5AE52-6CBE-4B6D-8709-B24E559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为什么单一命中场景不能代表业务 P99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E2133-3297-4944-9F21-A9DC42E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P99 阈值以上已经没有命中样本，继续缩短命中路径不会改变该尾分位。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6D306-65A3-49EB-9D8D-A6D33DE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未命中重算排队、失败回退和高压力路径可能主导尾部。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CE76C-F404-4BE1-860D-63304E8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命中与未命中比例随业务画像变化，必须分桶观察。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F0E82-CD3D-4190-A7CA-42818C27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334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D7562-FBA9-45BA-A899-ABD8766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4705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B8765-A7B6-4C97-A5F5-5070B007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953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65565-4949-44BC-80E0-6702C09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716D4-9F44-4266-9EE1-39D7A916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48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未命中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5285-ED37-4DAC-B2E1-AB8EABA8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248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3B983-5CCF-44D3-867A-F53CF94F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813" y="2571750"/>
            <a:ext cx="7842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2B042-FAD0-4750-BDBD-1E15769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263" y="3371850"/>
            <a:ext cx="7842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147A1-6EC2-4DDB-AF10-1D70C17E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3905250"/>
            <a:ext cx="784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BC070-DFA4-4789-9257-BF29C48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8A9942-19A3-4B93-B3A2-78B2C595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口径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42BBE-7CEE-4F29-B518-C57B1160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P99 是 99% 样本不超过的时延分位值；不能只报告成功样本，也不能把“边界收紧”直接写成“实际 P99 降低了 X%”。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12C72-5935-4154-98F2-4205AB22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CED68-F93C-4DD0-AEFD-918534D2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2BB80E-54AB-4715-8977-00DF298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035E5-42B0-4657-AF65-5A5D7647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P99 结论：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2D555-2470-4095-B5AD-6870E72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局部命中路径改善只影响它在业务混合分布中的那一部分样本，未命中和回退路径仍需单独压缩。</a:t>
            </a:r>
          </a:p>
        </p:txBody>
      </p:sp>
    </p:spTree>
    <p:extLst>
      <p:ext uri="{BB962C8B-B14F-4D97-AF65-F5344CB8AC3E}">
        <p14:creationId xmlns:p14="http://schemas.microsoft.com/office/powerpoint/2010/main" val="13325039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ED7F0-B477-495B-B6EA-47AA3817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为什么需要持续运行的软件功能层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C3C3-491B-4ECB-B417-E47D350C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命中、位置、并发和共享资源变化时，准入与依赖仍在变化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0E30-0AFB-4143-802C-62802884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3E2B8-C6DE-41B2-A236-420D121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14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6E371-A147-4DBA-AAF1-EFCCE76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724E9-8595-4DBF-8900-D70566C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状态变化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71F10-5602-47A1-83D9-E0D8E103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命中与未命中、对象位置、租约、设备可见性持续变化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2B7B0-3587-4715-9375-61435F4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8AC70-D3B3-48AB-998E-9D5C244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EA39E-FEC2-4736-A33F-0D218BF4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持续决策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C7A63-7CD9-4DBB-B552-0B08156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判断加载、重算、回退、分段范围和并发组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B3136-1578-49E8-A8B3-E6CC58D6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4380E-B8B2-4AA5-9588-3BC08D7D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5E578-C73E-463F-A7C1-0EB29E2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资源控制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473D7-1D1B-4808-A671-33144401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限制突发、预取深度、后台进度和共享资源占用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56704-9F77-4AFD-AE29-9803CEB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33337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3DD2A-4702-4E2B-AEF7-8884217C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28875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660C5-7D6E-4925-8CA0-0FD597F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10F9C-30BB-41F2-B0D9-B71506E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读取真实完成、错误、队列、可见性与取消结果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981FD-BE50-45BF-9FB9-296598F2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1049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A98BE-71F1-4D63-B0A0-C4354ADC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功能层需要持续运行的原因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BC4EA-954C-4F89-929A-86C3BE35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它随请求和资源状态变化执行准入、依赖、分组与资源控制。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ED353-8524-4119-A3B0-F2636FFC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它把 KPCL 的完成、错误、服务和反压反馈接回推理执行。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49BF4-4007-489B-9902-521AB81F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这说明需要该功能层，不自动证明所有代码都必须自研或重写。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4E410-23DB-41BB-8857-FAE6CF9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43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实现边界应通过基线能力、可观测接口与最少验证确定。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AEE9E-6E8C-4C59-B45F-42F5132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46637-E1C1-4327-A7FD-5E6FB779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FC147-8E27-4C20-816E-A20B0DA1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1962B-B468-4127-A65C-BB23302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功能层结论：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37B0A4-A238-41BF-91B1-D6AC43CF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软件价值在于持续执行准入、依赖、分组和资源控制，并利用库反馈调整路径；自研范围仍需与基线和接口能力逐项核对。</a:t>
            </a:r>
          </a:p>
        </p:txBody>
      </p:sp>
    </p:spTree>
    <p:extLst>
      <p:ext uri="{BB962C8B-B14F-4D97-AF65-F5344CB8AC3E}">
        <p14:creationId xmlns:p14="http://schemas.microsoft.com/office/powerpoint/2010/main" val="13736314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020D64-E38E-445A-9BD0-BCC5114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KPCL 典型业务通信模型：从业务依赖反推接口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77A64-5920-4AC2-81D1-5770AABD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每种模式都要记录释放、截止、组、依赖、路径和失败动作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FB1FE-C3DB-4E38-827B-E4F86F2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2ECA0-B77A-4C0B-A234-A408A243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15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64351-BC44-44F1-B8BC-E4ECBF0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0DEB7-A05D-4B9C-9500-C3EBF335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CD871-9CD9-4E33-A14F-401DF255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382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5E31D-03AA-4F3E-B772-34AA5759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0492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54172-4EA4-46B0-8730-3074B80B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382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23DEA-6191-45D8-98D2-D956565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0492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持续运行职责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856C3-621A-4DDA-B8B3-3D639E9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38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187A0-9091-43DA-B86C-AFFCEF29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049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KPCL / 平台机制职责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C19AF-9C18-4F85-8034-09079CD6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45A84-2918-4A23-91CE-3A7F652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高频小控制消息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E7DEA-73FC-468B-B0A1-30E376B9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E8CCB-8B78-42E9-BED3-0148ED93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287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查询路径预算、消息率、突发、尾概率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EFB82-5AF1-44A5-9803-0BB9532E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621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4F957-6C70-4BA9-92B1-B712A4C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287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查询合并、摘要、快速失败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D5832-C53C-492F-B0A7-D7405165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DAE78-3F3F-4EC3-A70C-8A7A3620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287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有限排队、服务预留、可靠完成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3584A-5C81-48A1-9684-5FBE756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F7653-00DE-460D-8746-6757493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分段前缀加载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9D333-EA0E-43E0-8460-626D90EB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383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17080-541E-4305-90A5-E2244DA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050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有效带宽与固定开销预算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E2DB4-7DE6-44F1-98B9-10DD611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29336-781B-4BE2-8FEC-0FA050F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050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副本、范围、布局、路径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AB473-84DF-4B13-83C6-F5AB7F60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9E316-D687-4F6B-8F59-59BD6B1A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批量提交、真实完成量、可见性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4A200-DEA2-4BCD-91D8-FA49D01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0894C7-E20E-45E6-9884-A2E5A1CA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层间加载流水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75AE0E-4836-416A-8B9A-CB67CAA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146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E2859-0D3D-45F0-B35B-DCF973A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层数据到齐与计算依赖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1CA2AA-0BB3-4C9A-9358-C4530774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1D7D0-6DC3-4039-B17C-D16BA06F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812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预取深度、就绪范围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07097-BC69-4DF7-A448-35824438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A509E0-E994-47CC-A3C3-37E3C815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812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依赖事件、分段完成、设备同步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61986-A46B-4170-9497-AB2710A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19A91E-90E1-4606-8381-7FB2B5C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多卡协同加载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F7401-BBF4-4AC5-A9C3-E37AA505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019330-3FAE-490D-A499-6DD3F75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575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组完成与风险预算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3BA008-69E3-48B7-A2E0-A3311FD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10C45D-7828-4BCC-B222-19430B26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必要成员、慢流策略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53D3B4-2402-4CC7-A2B3-C83F580C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7A327-D6B7-4C35-B550-6C71141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575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逐成员状态、信用、实际路径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174D74-D645-405B-BAED-C50CEA2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ED2DF3-1051-4C9E-ADC7-1C99645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前后台混压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78062F-8093-46FE-97BE-03DEDF1F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671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F425C2-C856-4B52-9508-1A524CB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337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资源损失与后台稳定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E2ADB5-54F5-4911-8D7A-E9DBDDF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671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D701AF-57E9-4892-B73C-45615A4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337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发起、准入、后台节奏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D80BFA-B736-44E4-9EBA-8906DD79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7D8119-5531-4F27-86C5-0F14B77A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337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限速、观测、反压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2150E6-BCEF-4739-8128-096AC349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DD3AF1-BC5B-4F50-9745-3F07125E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多源汇聚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91F44C-D540-4C76-B7F2-1679C6B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8AF897-0E0C-4767-BB41-8BD0E1E9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100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突发上限、最低服务、启动延迟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EDDB81-9423-4586-A37A-42FCA046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EF407D-78CA-4AAE-93C8-E85BCDFA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100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来源选择、合并、并发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689F59-1F2F-42F7-BB78-9C36EDEB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DF72CE-59E1-46E5-9991-6E740C8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00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接收在途量、拥塞反馈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5CACAC-1306-423A-8898-DD31204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AE7DFD-DAF7-44F9-B453-09434B39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一对多热点分发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489807-0DA5-465F-A753-E335ACD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960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7D464D-2880-4FA3-94FC-94B729AC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862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源出口与逐目标完成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AFCBCC-034C-4601-869B-9B63350A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196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55E943-0D5B-43AF-B493-4EE8B82B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8627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副本、树状中继、目标选择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A9895C-290B-4DAA-98D0-DD4565CD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BEDF19-5A8B-46D4-A65D-AC7D615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862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逐目标完成、重传、慢目标隔离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053DDB4-0A86-4126-ADA2-609EC4B6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527364-C003-4B3D-A452-F75C4AC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6252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超时、撤销与恢复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FC4F38-26FF-45F7-8571-59B612F6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95850"/>
            <a:ext cx="276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7FB626-9AA1-4D53-B8B3-59092AE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625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截止、终止访问、缓冲复用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A64BEF-7BD4-4BEF-8349-AEE15FC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9585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E6B07A-4E1A-4BC4-A517-3EF7E13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62525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降级、代际、生命周期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1C7979-EC73-47E7-9706-07C59C1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FDA457-3F93-4E63-831E-D6D2A3E7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625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部分完成、取消、排空、错误边界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C3AC90-DAD6-4D5D-A9CB-BD92A008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3AED25-7220-46C2-8EE0-B1F31A8F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91F6E2-3B01-4B45-850F-9C6A3142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94D2C9-A407-431F-AA85-4D39D381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通信模型：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2B0E27-98F0-42D6-A25C-96DF1C6D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KPCL 需求来自依赖与资源模型，不来自“更快传输”四个字；库必须报告真实完成、可见性、反压和受控失败。</a:t>
            </a:r>
          </a:p>
        </p:txBody>
      </p:sp>
    </p:spTree>
    <p:extLst>
      <p:ext uri="{BB962C8B-B14F-4D97-AF65-F5344CB8AC3E}">
        <p14:creationId xmlns:p14="http://schemas.microsoft.com/office/powerpoint/2010/main" val="408166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012FF6-1F08-40B6-8274-9CAE8C74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从目标到可执行库能力：需求必须带服务、事件和边界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1D18F-7BA6-447F-8091-A748F24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数值未确认时写成需求，不写成已发布 API 保证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9570D-675D-4FE1-9005-C0902BF1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6932D-1A34-4F4B-ABF4-E91D2D6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16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FAF93-EA0A-42A8-BFD0-06068E8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0247-EE35-4415-A0D9-406E3365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F54C4-5BFA-4A1B-81D9-C2401C7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192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满足某个 TTFT / TPOT / ITL 时间预算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1A0E0-4641-4595-AC89-143E06F0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先定义时间戳和统计分母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6F104-82BD-4C6C-830C-9D7BADBB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9A1BE-D42C-46ED-B1CE-E07A2F5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4B8B4-D1E0-45E5-8AE4-E4CA9F5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66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突发 σ、长期到达 ρ、最低服务 R、启动延迟 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44CD9-E522-4217-8952-590586D0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能否形成可用服务曲线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01938-7964-4378-A0B9-8334D71B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42B11-8C31-4799-B3CD-8C41336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2948F-6E8F-4125-BCE3-EAFA843E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 / 目标、分段、组、依赖、可见性、失败动作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583B1-0DAE-4753-B334-80E05733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支持回放和逐样本对账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16929-FB82-4D45-9E04-EA99CA79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C0BFF-F9F0-45A2-9678-6B7573B1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84B5F-0608-485C-8FCF-6DBD1CE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62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真实完成、错误、取消、排队、反压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23B86-160C-4255-B16A-961CB51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能否闭环调整路径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F8A9F-5DAF-4E8B-ADA7-B6B150D0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85875"/>
            <a:ext cx="7048500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4034D-8A6D-4037-BE22-97FC62BB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联合需求表达式（模板）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B73A6-F83D-48C0-A8AE-96867BD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BCEEB-E439-4DE7-B48A-D05EC9B2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38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在指定源/目标、分段、并发组、背景到达约束和设备可见性定义下，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AA15E-9BEB-41AB-9E01-B0CBC6EE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5C29E-6EF9-4ECB-BE96-7678C1B2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098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任务获得不低于 R 的服务，最大启动延迟不高于 θ，突发不超过 σ，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9A4B4-5544-451B-AB0E-53BF382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647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16457-7371-4B81-A186-C7D60D7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81350"/>
            <a:ext cx="624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并按任务时限报告完成或受控失败。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37F88-3356-4209-982A-C23EA5D8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接口边界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73E16-1513-4F07-83B9-43B999ED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若 KPCL 只负责内存通信，存储读出和持久化由后端承担。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74987-D6D1-447F-8E6A-2D6E8EB3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33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▸ 远端 SSD 不能直接当作内存句柄，除非平台契约明确支持。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9C7C8A-BC8C-4B08-A26E-1283B50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95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▸ 需求数值来自业务预算和验证，不冒充现成 API。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CFBD4A-791E-4CAD-A0B1-8831E673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B3F7B9-DC2B-4021-ADE8-8A7F9318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4B6539-E273-4799-A677-548F3D77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E2D91B-6EE5-4CCC-B13F-73FE65E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接口结论：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338A3-23F4-4310-B3C4-E00C65C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把“性能目标”写成可观测的服务、事件、截止和失败契约，才能进入实现与验证。</a:t>
            </a:r>
          </a:p>
        </p:txBody>
      </p:sp>
    </p:spTree>
    <p:extLst>
      <p:ext uri="{BB962C8B-B14F-4D97-AF65-F5344CB8AC3E}">
        <p14:creationId xmlns:p14="http://schemas.microsoft.com/office/powerpoint/2010/main" val="5806717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7258EC-E115-459C-A8A2-06425604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最少预验证：只补会改变结论的关键参数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AAB4E-F11E-411D-A116-CB57C299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E0～E3 表示验证目标，不是已完成状态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19679-CA09-48C1-8C45-244EE5EA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"/>
            <a:ext cx="904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8C982-A10B-4100-810A-376956F8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714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17 / 18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FBD6B-0DF2-4792-B00E-5175E17E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FD224-EB12-43CE-8106-5AD3E4B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CCFF3-F8C5-4F65-9A07-F2A19FA2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业务收益前提确认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CD923-435D-4B48-ABF2-523B426B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命中/复用条件下的收益是否显著；查询占比和协议上限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0A4EF-06F8-4A0B-988F-43F2FC7A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527D5-F763-457A-BD47-06F0B99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DCDFE-2B95-4490-B8C1-C2B1E66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查询计时边界、绝对值、分位数、并发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2CB60-3F31-4BA2-B1E2-72EF9E42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D6A8F-EB27-4758-BACB-541FD311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0D5BF-FE95-4C55-9320-14A8CD8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核心数据路径与多卡同步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4E37E-327A-4163-B93D-546A8C4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零数据拷贝传输、异步依赖、语义校验可闭环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C1E1F-EF55-4ECA-9EF0-5B7291B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79708-8989-40CB-99F2-26DBB512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4D640-D2AB-4A8F-84DA-BB3017B3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逐层可见性、组起点、成员完成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F2C45-76CF-4FC7-9ADA-041466E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E307B-5FAB-4424-9575-31AFC7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8DF11-8AE0-41FE-B240-236BD14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动态决策与分层扩容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3DFCB-2D37-49A5-81A6-96D6972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加载/重算边界、后台资源稳定、服务约束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F273C-5AEF-498F-BD79-AB2AF086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6FE67-AB6A-4E05-ABE1-1989081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7141E-09E9-4365-B6FB-57C7E794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α、x/c、w/β、σ/R/θ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31115-BD62-4DF6-8C87-58D824D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428875" cy="266700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3C890-6246-45DF-B0CB-D331A263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28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3D7B5-8539-4D04-94E1-D4166598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全链路前后台混压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C34707-7E4F-417A-BA60-F965C3E2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TTFT、TPOT、P99 在真实混压下是否进入目标区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13A28-8BE6-4AC6-BA8A-3EE4A451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7143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791D84-5A70-45A7-BA5E-FB0A023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523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需校准：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CEB9AD-5CAB-4BDB-BCB4-A4934356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真实到达、失败样本、共享接收瓶颈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86F230-EE21-430F-9751-A7EA120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104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A30CAE-FAEA-49EA-941A-B593F11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最少补证顺序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B0C85B-40D8-4A4D-B3B8-BC99648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CFB7A0-2AC7-48C2-9C51-EA2FF9EA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先测 α：基线暴露加载占比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C8E542-FBD0-4F04-BC76-B85D474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0B4FCF-4396-4CC9-A238-0AE53F5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再测 x/c 与逐层依赖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F4867-D4CF-49EB-B548-800385F3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AB2932-2EE9-4445-ADB5-AED6B72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补 w/β 与突发服务参数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E6ABFE-98C5-4638-82F5-ADD63C87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E123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CF291F-38C5-409E-882F-3CAA1E03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最后做混压和证伪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5BF3FB-E895-4E75-B703-4E9F415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AD5501-A51D-4FD1-B6F3-FAE2700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7E7450-E09E-4307-9FDD-2E9FD957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【核心结论】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C1DFE0-EFE2-4202-A8E3-D7369A2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验证结论：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066540-371D-4758-AAD2-157A4186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341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优先补充能改变可行区域的参数；若理想下界已超预算，就收缩场景或改变部署，不继续堆叠理论收益。</a:t>
            </a:r>
          </a:p>
        </p:txBody>
      </p:sp>
    </p:spTree>
    <p:extLst>
      <p:ext uri="{BB962C8B-B14F-4D97-AF65-F5344CB8AC3E}">
        <p14:creationId xmlns:p14="http://schemas.microsoft.com/office/powerpoint/2010/main" val="1956553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F8D93-5515-45D7-AB6F-25C3CE5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ACAF6-32CF-4848-9CAD-913F961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84436-B2F7-4379-A5A2-6ACCC0A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评审讨论建议围绕四个问题展开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1515D-CDBC-4C5A-A182-2D1B9AD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B1C0E-5978-4A3F-A486-1E24C74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7E108-092F-4139-9479-4BA47D52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局部查询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3AD4C-7C7B-416F-A7AA-382AF252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单请求协议差异如何折算到真实 TTFT？查询占比是否足够？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7184-3D6F-481A-82AC-6596E814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63307-69D2-4D3A-A649-CA920D8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1B79E-EECA-43ED-80F0-6ED5A2E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86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关键路径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1F52A-D648-4E65-96E3-9677EEB4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加载是否暴露在 TTFT？逐层依赖是否允许重叠？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B795E-6DF8-459E-9CD8-E0AEEA3F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573F5-4A40-48B0-B944-02A32F0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6C65A-E049-4C27-9B55-02A8EBE3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资源预算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85F64-5548-4738-9363-9A77D60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β、σ、R、θ 是否有可测参数和库侧反馈？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526A2-9B92-4993-9464-539C695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5048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7E5A8-78E1-405D-8B6A-CBA662CC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7870C-5BDE-44ED-9CA8-7008AC71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验证收敛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4F3D2-3524-4910-AE91-27C5FC58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766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最少预验证先补哪一个会改变结论的参数？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E2013-ECDD-4C33-BB63-6E224F19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477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AAAAA-797B-4746-94A7-4B7A0A05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建议的立项表述：当前具备条件化可行性论证，下一步用最少实测收紧参数，再决定哪些机制进入端到端实现。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672AA-AC50-4A01-A99A-E960C85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统一异构 KVCache 存储池 · 推理性能理论建模与 KPCL 通信需求推导 · 2026-09-07</a:t>
            </a:r>
          </a:p>
        </p:txBody>
      </p:sp>
    </p:spTree>
    <p:extLst>
      <p:ext uri="{BB962C8B-B14F-4D97-AF65-F5344CB8AC3E}">
        <p14:creationId xmlns:p14="http://schemas.microsoft.com/office/powerpoint/2010/main" val="372392320"/>
      </p:ext>
    </p:extLst>
  </p:cSld>
</p:sld>
</file>

<file path=ppt/theme/theme1.xml><?xml version="1.0" encoding="utf-8"?>
<a:theme xmlns:a="http://schemas.openxmlformats.org/drawingml/2006/main" name="ChatGPT">
  <a:themeElements>
    <a:clrScheme name="Luna Engineering">
      <a:dk1>
        <a:srgbClr val="0F172A"/>
      </a:dk1>
      <a:lt1>
        <a:srgbClr val="FFFFFF"/>
      </a:lt1>
      <a:dk2>
        <a:srgbClr val="1E3A8A"/>
      </a:dk2>
      <a:lt2>
        <a:srgbClr val="E2E8F0"/>
      </a:lt2>
      <a:accent1>
        <a:srgbClr val="1D4ED8"/>
      </a:accent1>
      <a:accent2>
        <a:srgbClr val="1E3A8A"/>
      </a:accent2>
      <a:accent3>
        <a:srgbClr val="047857"/>
      </a:accent3>
      <a:accent4>
        <a:srgbClr val="DC2626"/>
      </a:accent4>
      <a:accent5>
        <a:srgbClr val="B45309"/>
      </a:accent5>
      <a:accent6>
        <a:srgbClr val="BE123C"/>
      </a:accent6>
      <a:hlink>
        <a:srgbClr val="1D4ED8"/>
      </a:hlink>
      <a:folHlink>
        <a:srgbClr val="1D4E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na Engineer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2026-09-07T12:06:42.7680000Z</dcterms:created>
  <dcterms:modified xsi:type="dcterms:W3CDTF">2026-09-07T12:06:42.7680000Z</dcterms:modified>
</coreProperties>
</file>