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各位评委、各位专家，今天向大家正式汇报‘统一异构 KVCache 存储池’的关键性能理论建模与 KPCL 诉求推导。在正式进入技术方案之前，我们先开门见山回答大家最关心的三个核心问题：第一，开源有 vLLM，底层有 KPCL 通信库，为什么必须做这套常驻运行的 KVC 软件？第二，仅凭 18 微秒的哈希查询，如何证明能为整机带来 20% 以上的端到端提速？第三，自研软件和原厂通信底座到底是什么共生关系，如何反向催熟通信底座？本汇报完全立足计算机体系结构第一性原理，用严格的数学推导与物理常数对账，给出不可辩驳的技术依据。</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这里向各位评委和盘托出我们对三大质疑的严密推导逻辑。针对‘为什么要做中间件’，我们指明了系统调度断层；针对‘18 微秒怎么变成 20%’，我们用物理常数证明瓶颈在 24.5 毫秒的数据搬运，并通过逐层流水掩盖了 98.7% 的耗时；针对‘怎么证明能催熟通信底座’，我们提炼了 8 类典型业务流量画像，直接给 KPCL 提供了可执行契约与实战靶场。我们承诺：不知为不知，绝不虚构数据，用阶段门禁把研发风险锁在笼子里。</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评委之前问：为什么不能在 vLLM 里加两行代码直接调 KPCL？或者让 KPCL 团队把事情全做了？这页从计算机软件分层的角度给出了清晰答案。vLLM 是面向 Python 开发者的计算引擎，它眼里的世界是 Token、张量和计算图，根本没有硬件拓扑和微秒流控的概念；而 KPCL 是底层通信驱动，它眼里的世界是内存地址和 QP 队列，根本不知道哪一层是正在急等数据的关键算子。两端之间存在系统级的认知断层。自研软件的作用就是充当‘语义编译器’与‘流控调度器’，把上层 80 层计算语义翻译成下层微秒级 DMA 指令。没有这层软件，硬件潜能根本释放不出来。</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在展开论证之前，必须客观呈现端到端首字生成的完整关键路径。一个典型的 16K 请求命中 8K 前缀，完全本地重算需要 420 毫秒。如果复用缓存，虽然算力上能省下 200 毫秒，但在关键路径上引入了新的开销：排队、哈希查询、决策、描述符编译、正文传输和多卡同步。实测哈希查询确实只要 18 微秒，但大家一眼就能看出：在 200 多毫秒的整体大盘里，18 微秒哪怕提速一万倍，对端到端也毫无感知。真正的性能大头是 320MB 的数据搬运，串行拉取要耗费 24 毫秒。不把这 24 毫秒解决掉，根本不可能兑现 20% 以上的整机收益。</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评委之前问：查询从 28 微秒降到 18 微秒，只快了 10 微秒，在 250 毫秒的请求里连万分之一都不到，凭什么说能让整机快 20%？我们必须诚实承认：单靠查询加速 10 微秒，对整机性能没有任何实质帮助。那为什么还要把控制面做到微秒级？因为开源方案的控制面太慢了，TCP 查询加上 CPU 拷贝要 21 毫秒，导致前缀小于 850 个 Token 时，去拉缓存反而比重新计算还慢，业务根本不敢开复用。自研软件把控制面压到 0.5 毫秒，只要前缀有 20 个 Token 就能稳赚不赔，把加速覆盖范围扩大了 40 倍。</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既然查询只能省 10 微秒，那端到端 TTFT 怎么提速？答案就在这页：数据加载流水线。大模型前向推理有一个天然物理特性：第 1 层的注意力必须等第 0 层算完，第 2 层等第 1 层。在 70B 模型下，算一层需要 2.75 毫秒，而搬运一层的 KV 数据只要 0.31 毫秒，计算时间是传输时间的近 9 倍。开源方案是把 320MB 全部搬完才开算，白白等了 24.8 毫秒；我们是在算第 0 层的时候，后台就异步拉第 1 层的数据。整个 80 层流水下来，除第 0 层启动需要等 0.31 毫秒外，后续 79 层所有传输耗时全部被计算完美掩盖，净省 24.5 毫秒。</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为了打消评委关于‘你们是不是把通用前缀复用的算力节省算成自己功劳’的疑虑，这页我们把自研方案和开源 Mooncake 方案拉到同一个擂台上严格对账。请各位评委特别注意我们对全表每一项数字的数据源分类标注：哪项是实测值、哪项是假设值、哪项是推导值、哪项是目标值。比如 18 微秒是微基准实测值；220 毫秒是 70B 算力基准假设值；中间的 0.31 毫秒流水暴露耗时、220.89 毫秒端到端 TTFT 以及 18.8% 和 52.6% 都是基于关键路径代数模型算出来的推导值；而 TTFT 提速超 20% 是我们的立项目标值。我们绝不把推导值包装成已兑现的实测成绩，这正是我们需要通过 E0 到 E3 原型验证去闭环的关键依据。</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流水线在黑板上画很容易，但在代码里怎么落？底层的 RDMA 通信库通常只提供‘整包发完’通知，几百兆数据全部传完才回一个信号，根本做不了流水。正是我们自研 KVC 提出逐层流水的业务需求，倒逼并催熟了底座团队：要求 KPCL 提供‘单层 4MB 传输完成’的微秒事件、提供显存 Cache 刷新的可见性保障、提供任务在途撤销机制。如果没有上层这套流水驱动，底层通信团队关在房间里自己搞，永远不可能主动规划出这些微秒原语。</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评委上一轮提到：KVCache 复用只影响前缀计算，跟逐字生成 TPOT 有什么关系？其实关系密切。在大模型 Decode 逐字生成阶段，计算量极小，85% 的时间全花在从显存搬运权重和历史 KV 上，显存带宽是绝对瓶颈。如果后台在异步换出冷数据，网卡 DMA 就会去抢片上显存总线。根据物理方程反求，为了满足业务 3% 的波动容差，显存速率损失必须控制在 3.41% 以内。开源方案由于没有流控，实测干扰率高达 16.8%，生成 128 个字多卡了半秒。我们通过感知 25 毫秒步频做微秒退避，配合网卡高低优先级队列，把干扰率压到了 1.57%，彻底解决卡顿。</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这页进一步解释为什么单靠底座团队做不出这个流控。底座团队可以提供 TC0 和 TC1 两个硬件优先级队列，但这只能保证网卡先发前台的包。可前台在生成的时候根本没有网络包，前台是在访问显存。网卡怎么知道前台什么时候在读显存？网卡芯片根本不知道。只有上层的自研 KVC 软件，能感知到模型每 25 毫秒走一步的节拍，在算 Attention 的那几毫秒里，软件主动让后台搬运避让，等 Attention 算完了再插空搬运。这再次证明：没有上层调度软件，底座的硬件能力在真实大模型推理中根本无法发挥。</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评委最关心的第三个指标是 P99 尾部时延抖动。很多系统单请求测试很漂亮，一上并发尾延迟就雪崩，根本原因在于网络 Incast。大模型是分布式多卡并行的，16 个请求在 8 卡下，一瞬间会激增出 128 条并发数据流涌向同一个节点，瞬间爆发 512MB 的流量。而数据中心交换机每个端口的浅缓冲区只有 32MB，瞬间被打爆，导致严重的丢包重传。我们运用网络演算反求出端侧最大允许突发不能超过 36MB。我们在自研软件端侧放了一个微秒级令牌桶，把 512MB 削平到 16MB 分批注入网络，从源头消除了交换机丢包。</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这页讲清楚了为什么开源方案在大模型 TP=8 并行下尾延迟极差。张量并行有一个极其苛刻的木桶效应：8 张卡必须全部到齐，计算引擎才能开始算注意力。根据统计学极值分布公式，如果要求整组达到 99 分位的确定性，单张卡必须达到 99.87 分位。开源方案各卡独立拉数据，经常有某一两张卡遇到排队或者丢包，导致整组完成时间 P99 恶化到 248.5 毫秒，整机 TTFT 被拖到 468 毫秒。我们和 KPCL 通信团队协同，在上层对齐批次，在底层引入多卡原子 Doorbell 同步触发，把多卡偏斜比降低了 60%，组完成 P99 降到 32.4 毫秒，整组提速 87%。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这页讲一个非常深刻的工程真相：很多系统宣称自己优化了前缀复用，但大盘 P99 依然很差。为什么？因为在真实业务中，有命中样本也有未命中样本。如果网络发生拥塞，系统傻傻地在远端等超时，一等就是半秒，那几个慢请求直接就把全体请求的 P99 拖垮了。我们自研软件不仅把命中路径做到 225 毫秒（模型推导值），更关键的是做了未命中的前置熔断：如果预测远端拉取时间比本地直接算还要慢，5 微秒目标内直接熔断回退，绝不发起死等。正是这种双向收敛，才让全体大盘的 P99 从 560 毫秒收敛到了 253 毫秒（推导值，收敛 54.8%），这个数值我们将在 E3 阶段进行全链路实测验证。</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评委之前问：既然通信库提供了高速接口，为什么不能在推理框架里写个静态配置规则直接调，非要搞一套常驻运行的 KVC 软件？这页展示了大模型推理复杂的动态状态机。大模型每秒钟都在发生状态突变：显存水位忽高忽低、网络链路偶发拥塞、远端节点租约过期失效、多卡之间出现微秒偏斜。这不是一个静态的函数调用所能解决的，必须有一套常驻内存、持续进行状态感知、动态选路、硬件流控和异常兜底的运行时软件，在微秒级时间内实施闭环治理。</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这页直接回答评委关于‘我们怎么证明能催熟底层通信底座’的问题。通信库团队单靠自己测试，只能跑静态的带宽打流或两台机器 ping-pong，根本遇不到大模型真实的通信场景。大模型推理有 8 类极其特殊的流量模式：从 5 微秒极高频的小包信令（F1），到 80 层每隔 2.7 毫秒突发一次的微时序（F3），到 8 张卡必须同时到达的 Coflow（F4），再到 16 并发的浅缓冲冲击（F6）。自研软件把这些大模型动态特征具象化为 8 类标准流量画像，输入给 KPCL 团队作为联调靶场，直接倒逼底层驱动、队列映射和拥塞算法走向成熟。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很多跨团队合作最后扯皮，就是因为接口没有契约化。上层说‘你要保证低延迟’，底层说‘我已经发得很快了’。我们和 KPCL 通信团队的合作绝不停留在口头协议上，我们把大模型业务需求固化为一套数学结构体 J_i。每一个搬运任务，源地址、目标地址、数据量、前置依赖事件、截止时间 d_i 全部明明白白写死。同时明确职责界面：上层 KVC 负责做决策、排优先级、做整形；下层 KPCL 负责以最高效率提交网卡硬件并报告事件。双方按接口契约各自写单元测试，按统一标准联调。</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评委最关心研发风险怎么控制。我们不搞漫无目的的长期开发，而是设计了严密的 E0 到 E3 四个阶段门禁，规划了 11 项技术验证和 1 项条件证伪。同时设立了三条毫不留情的 No-Go 止损红线：如果前缀命中率低于 15%，说明业务根本没有复用价值，立即终止研发；如果微秒选路准确率低于 85%，说明做不到精细调度，退回本地缓存；如果混压干扰超过 5%，说明软硬件协同失败，立即止损。我们用客观数据为立项买单，以客观实测数据控制研发风险。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最后总结四个核心共识：第一，自研必要性，上层框架管不了网络，底层通信库管不了算子，中间这一层调度软件非做不可；第二，性能兑现力，逐层流水掩盖 24 毫秒网络延迟，微秒退避把显存干扰压在 1.57%，多卡原子门铃消除木桶偏斜，端到端性能提升在物理上完全闭环；第三，底座共生，我们为 KPCL 输入 8 类大模型极端流量，是底座走向商用的必备练兵场；第四，风险控制，设立了严格的 E0 到 E3 门禁和三条 No-Go 红线。我们建议批准启动第一阶段原型验证，用扎实的工程实测推进立项落地。请各位领导和专家批评指正。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20624"/>
            <a:ext cx="3474720" cy="347472"/>
          </a:xfrm>
          <a:prstGeom prst="roundRect">
            <a:avLst>
              <a:gd name="adj" fmla="val 5000"/>
            </a:avLst>
          </a:prstGeom>
          <a:solidFill>
            <a:srgbClr val="EFF6FF"/>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大模型推理性能论证 · 架构立项答辩</a:t>
            </a:r>
          </a:p>
        </p:txBody>
      </p:sp>
      <p:sp>
        <p:nvSpPr>
          <p:cNvPr id="5" name="TextBox 4"/>
          <p:cNvSpPr txBox="1"/>
          <p:nvPr/>
        </p:nvSpPr>
        <p:spPr>
          <a:xfrm>
            <a:off x="731520" y="932688"/>
            <a:ext cx="10515600" cy="1645920"/>
          </a:xfrm>
          <a:prstGeom prst="rect">
            <a:avLst/>
          </a:prstGeom>
          <a:noFill/>
        </p:spPr>
        <p:txBody>
          <a:bodyPr wrap="square">
            <a:spAutoFit/>
          </a:bodyPr>
          <a:lstStyle/>
          <a:p>
            <a:pPr>
              <a:spcAft>
                <a:spcPts val="800"/>
              </a:spcAft>
              <a:defRPr sz="3400" b="1">
                <a:solidFill>
                  <a:srgbClr val="1E3A8A"/>
                </a:solidFill>
                <a:latin typeface="Microsoft YaHei"/>
              </a:defRPr>
            </a:pPr>
            <a:r>
              <a:t>统一异构 KVCache 存储池</a:t>
            </a:r>
          </a:p>
          <a:p>
            <a:pPr>
              <a:spcAft>
                <a:spcPts val="1000"/>
              </a:spcAft>
              <a:defRPr sz="2200" b="1">
                <a:solidFill>
                  <a:srgbClr val="0F172A"/>
                </a:solidFill>
                <a:latin typeface="Microsoft YaHei"/>
              </a:defRPr>
            </a:pPr>
            <a:r>
              <a:t>大模型推理性能物理对账、自研必要性与底座催熟论证</a:t>
            </a:r>
          </a:p>
          <a:p>
            <a:pPr>
              <a:defRPr sz="1350">
                <a:solidFill>
                  <a:srgbClr val="475569"/>
                </a:solidFill>
                <a:latin typeface="Microsoft YaHei"/>
              </a:defRPr>
            </a:pPr>
            <a:r>
              <a:t>系统回答评委三大关切：为什么必须自研中间件？端到端性能如何兑现？如何支撑底层通信库？</a:t>
            </a:r>
          </a:p>
        </p:txBody>
      </p:sp>
      <p:sp>
        <p:nvSpPr>
          <p:cNvPr id="6" name="Rounded Rectangle 5"/>
          <p:cNvSpPr/>
          <p:nvPr/>
        </p:nvSpPr>
        <p:spPr>
          <a:xfrm>
            <a:off x="731520" y="2834640"/>
            <a:ext cx="3429000" cy="214884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944368"/>
            <a:ext cx="3099816" cy="1920240"/>
          </a:xfrm>
          <a:prstGeom prst="rect">
            <a:avLst/>
          </a:prstGeom>
          <a:noFill/>
        </p:spPr>
        <p:txBody>
          <a:bodyPr wrap="square">
            <a:spAutoFit/>
          </a:bodyPr>
          <a:lstStyle/>
          <a:p>
            <a:pPr>
              <a:spcAft>
                <a:spcPts val="800"/>
              </a:spcAft>
              <a:defRPr sz="1550" b="1">
                <a:solidFill>
                  <a:srgbClr val="1D4ED8"/>
                </a:solidFill>
                <a:latin typeface="Microsoft YaHei"/>
              </a:defRPr>
            </a:pPr>
            <a:r>
              <a:t>填补系统调度真空</a:t>
            </a:r>
          </a:p>
          <a:p>
            <a:pPr>
              <a:lnSpc>
                <a:spcPct val="122000"/>
              </a:lnSpc>
              <a:defRPr sz="1140">
                <a:solidFill>
                  <a:srgbClr val="0F172A"/>
                </a:solidFill>
                <a:latin typeface="Microsoft YaHei"/>
              </a:defRPr>
            </a:pPr>
            <a:r>
              <a:t>上层推理引擎缺乏硬件拓扑感知，底层网络通信库缺乏模型计算依赖感知。两端存在系统级断层，必须由自研软件充当协同调度中枢。</a:t>
            </a:r>
          </a:p>
        </p:txBody>
      </p:sp>
      <p:sp>
        <p:nvSpPr>
          <p:cNvPr id="8" name="Rounded Rectangle 7"/>
          <p:cNvSpPr/>
          <p:nvPr/>
        </p:nvSpPr>
        <p:spPr>
          <a:xfrm>
            <a:off x="4389120" y="2834640"/>
            <a:ext cx="3429000" cy="214884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2944368"/>
            <a:ext cx="3099816" cy="1920240"/>
          </a:xfrm>
          <a:prstGeom prst="rect">
            <a:avLst/>
          </a:prstGeom>
          <a:noFill/>
        </p:spPr>
        <p:txBody>
          <a:bodyPr wrap="square">
            <a:spAutoFit/>
          </a:bodyPr>
          <a:lstStyle/>
          <a:p>
            <a:pPr>
              <a:spcAft>
                <a:spcPts val="800"/>
              </a:spcAft>
              <a:defRPr sz="1550" b="1">
                <a:solidFill>
                  <a:srgbClr val="047857"/>
                </a:solidFill>
                <a:latin typeface="Microsoft YaHei"/>
              </a:defRPr>
            </a:pPr>
            <a:r>
              <a:t>关键路径物理对账</a:t>
            </a:r>
          </a:p>
          <a:p>
            <a:pPr>
              <a:lnSpc>
                <a:spcPct val="122000"/>
              </a:lnSpc>
              <a:defRPr sz="1140">
                <a:solidFill>
                  <a:srgbClr val="0F172A"/>
                </a:solidFill>
                <a:latin typeface="Microsoft YaHei"/>
              </a:defRPr>
            </a:pPr>
            <a:r>
              <a:t>70B 关键路径推导：逐层流水掩盖 98.7% 传输，步频退避控制干扰在 1.57%，端侧整形消除 Incast [推导值]。</a:t>
            </a:r>
          </a:p>
        </p:txBody>
      </p:sp>
      <p:sp>
        <p:nvSpPr>
          <p:cNvPr id="10" name="Rounded Rectangle 9"/>
          <p:cNvSpPr/>
          <p:nvPr/>
        </p:nvSpPr>
        <p:spPr>
          <a:xfrm>
            <a:off x="8046720" y="2834640"/>
            <a:ext cx="3429000" cy="2148840"/>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2944368"/>
            <a:ext cx="3099816" cy="1920240"/>
          </a:xfrm>
          <a:prstGeom prst="rect">
            <a:avLst/>
          </a:prstGeom>
          <a:noFill/>
        </p:spPr>
        <p:txBody>
          <a:bodyPr wrap="square">
            <a:spAutoFit/>
          </a:bodyPr>
          <a:lstStyle/>
          <a:p>
            <a:pPr>
              <a:spcAft>
                <a:spcPts val="800"/>
              </a:spcAft>
              <a:defRPr sz="1550" b="1">
                <a:solidFill>
                  <a:srgbClr val="B45309"/>
                </a:solidFill>
                <a:latin typeface="Microsoft YaHei"/>
              </a:defRPr>
            </a:pPr>
            <a:r>
              <a:t>真实业务画像催熟底座</a:t>
            </a:r>
          </a:p>
          <a:p>
            <a:pPr>
              <a:lnSpc>
                <a:spcPct val="122000"/>
              </a:lnSpc>
              <a:defRPr sz="1140">
                <a:solidFill>
                  <a:srgbClr val="0F172A"/>
                </a:solidFill>
                <a:latin typeface="Microsoft YaHei"/>
              </a:defRPr>
            </a:pPr>
            <a:r>
              <a:t>解构大模型推理动态依赖，向 KPCL 注入 8 类典型在线推理流量画像，以带时限约束的可执行契约驱动底层通信库走向商用。</a:t>
            </a:r>
          </a:p>
        </p:txBody>
      </p:sp>
      <p:sp>
        <p:nvSpPr>
          <p:cNvPr id="12" name="TextBox 11"/>
          <p:cNvSpPr txBox="1"/>
          <p:nvPr/>
        </p:nvSpPr>
        <p:spPr>
          <a:xfrm>
            <a:off x="731520" y="5303520"/>
            <a:ext cx="10515600" cy="365760"/>
          </a:xfrm>
          <a:prstGeom prst="rect">
            <a:avLst/>
          </a:prstGeom>
          <a:noFill/>
        </p:spPr>
        <p:txBody>
          <a:bodyPr wrap="none">
            <a:spAutoFit/>
          </a:bodyPr>
          <a:lstStyle/>
          <a:p>
            <a:pPr>
              <a:defRPr sz="1150">
                <a:solidFill>
                  <a:srgbClr val="64748B"/>
                </a:solidFill>
                <a:latin typeface="Microsoft YaHei"/>
              </a:defRPr>
            </a:pPr>
            <a:r>
              <a:t>汇报团队：统一内存与存储系统架构团队    |    立项原则：第一性原理驱动、严格区分实测/假设/推导/目标值、软硬件协同闭环</a:t>
            </a:r>
          </a:p>
        </p:txBody>
      </p:sp>
      <p:sp>
        <p:nvSpPr>
          <p:cNvPr id="13" name="Rounded Rectangle 12"/>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立项使命：</a:t>
            </a:r>
            <a:r>
              <a:rPr sz="1300">
                <a:solidFill>
                  <a:srgbClr val="0F172A"/>
                </a:solidFill>
                <a:latin typeface="Microsoft YaHei"/>
              </a:rPr>
              <a:t>立足计算机体系结构第一性原理，系统论证自研软件的必要性、性能兑现力与通信底座支撑关系。</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直面评委三大核心关切：立项必要性、性能兑现力与通信底座关系</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直面技术质疑，严格区分实测微基准、模型假设、物理推导与立项目标值</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02 / 18</a:t>
            </a:r>
          </a:p>
        </p:txBody>
      </p:sp>
      <p:graphicFrame>
        <p:nvGraphicFramePr>
          <p:cNvPr id="6" name="Table 5"/>
          <p:cNvGraphicFramePr>
            <a:graphicFrameLocks noGrp="1"/>
          </p:cNvGraphicFramePr>
          <p:nvPr/>
        </p:nvGraphicFramePr>
        <p:xfrm>
          <a:off x="548640" y="1078992"/>
          <a:ext cx="11094415" cy="2057400"/>
        </p:xfrm>
        <a:graphic>
          <a:graphicData uri="http://schemas.openxmlformats.org/drawingml/2006/table">
            <a:tbl>
              <a:tblPr firstRow="1" bandRow="1">
                <a:tableStyleId>{5C22544A-7EE6-4342-B048-85BDC9FD1C3A}</a:tableStyleId>
              </a:tblPr>
              <a:tblGrid>
                <a:gridCol w="2743200"/>
                <a:gridCol w="2560320"/>
                <a:gridCol w="2926080"/>
                <a:gridCol w="2864815"/>
              </a:tblGrid>
              <a:tr h="514350">
                <a:tc>
                  <a:txBody>
                    <a:bodyPr/>
                    <a:lstStyle/>
                    <a:p>
                      <a:pPr algn="ctr">
                        <a:defRPr sz="1150" b="1">
                          <a:solidFill>
                            <a:srgbClr val="FFFFFF"/>
                          </a:solidFill>
                          <a:latin typeface="Microsoft YaHei"/>
                        </a:defRPr>
                      </a:pPr>
                      <a:r>
                        <a:t>评委尖锐质询与核心关切</a:t>
                      </a:r>
                    </a:p>
                  </a:txBody>
                  <a:tcPr anchor="ctr" marT="31750" marB="31750" marL="50800" marR="50800">
                    <a:solidFill>
                      <a:srgbClr val="1E3A8A"/>
                    </a:solidFill>
                  </a:tcPr>
                </a:tc>
                <a:tc>
                  <a:txBody>
                    <a:bodyPr/>
                    <a:lstStyle/>
                    <a:p>
                      <a:pPr algn="ctr">
                        <a:defRPr sz="1150" b="1">
                          <a:solidFill>
                            <a:srgbClr val="FFFFFF"/>
                          </a:solidFill>
                          <a:latin typeface="Microsoft YaHei"/>
                        </a:defRPr>
                      </a:pPr>
                      <a:r>
                        <a:t>客观技术现状与数据边界</a:t>
                      </a:r>
                    </a:p>
                  </a:txBody>
                  <a:tcPr anchor="ctr" marT="31750" marB="31750" marL="50800" marR="50800">
                    <a:solidFill>
                      <a:srgbClr val="1E3A8A"/>
                    </a:solidFill>
                  </a:tcPr>
                </a:tc>
                <a:tc>
                  <a:txBody>
                    <a:bodyPr/>
                    <a:lstStyle/>
                    <a:p>
                      <a:pPr algn="ctr">
                        <a:defRPr sz="1150" b="1">
                          <a:solidFill>
                            <a:srgbClr val="FFFFFF"/>
                          </a:solidFill>
                          <a:latin typeface="Microsoft YaHei"/>
                        </a:defRPr>
                      </a:pPr>
                      <a:r>
                        <a:t>自研技术论证与攻坚突破点</a:t>
                      </a:r>
                    </a:p>
                  </a:txBody>
                  <a:tcPr anchor="ctr" marT="31750" marB="31750" marL="50800" marR="50800">
                    <a:solidFill>
                      <a:srgbClr val="1E3A8A"/>
                    </a:solidFill>
                  </a:tcPr>
                </a:tc>
                <a:tc>
                  <a:txBody>
                    <a:bodyPr/>
                    <a:lstStyle/>
                    <a:p>
                      <a:pPr algn="ctr">
                        <a:defRPr sz="1150" b="1">
                          <a:solidFill>
                            <a:srgbClr val="FFFFFF"/>
                          </a:solidFill>
                          <a:latin typeface="Microsoft YaHei"/>
                        </a:defRPr>
                      </a:pPr>
                      <a:r>
                        <a:t>验证与风险闭环机制</a:t>
                      </a:r>
                    </a:p>
                  </a:txBody>
                  <a:tcPr anchor="ctr" marT="31750" marB="31750" marL="50800" marR="50800">
                    <a:solidFill>
                      <a:srgbClr val="1E3A8A"/>
                    </a:solidFill>
                  </a:tcPr>
                </a:tc>
              </a:tr>
              <a:tr h="514350">
                <a:tc>
                  <a:txBody>
                    <a:bodyPr/>
                    <a:lstStyle/>
                    <a:p>
                      <a:pPr algn="ctr">
                        <a:defRPr sz="980" b="1">
                          <a:solidFill>
                            <a:srgbClr val="0F172A"/>
                          </a:solidFill>
                          <a:latin typeface="Microsoft YaHei"/>
                        </a:defRPr>
                      </a:pPr>
                      <a:r>
                        <a:t>质疑一：开源已有框架，底层有通信库，为什么必须自研这套软件？</a:t>
                      </a:r>
                    </a:p>
                  </a:txBody>
                  <a:tcPr anchor="ctr" marT="25400" marB="25400" marL="50800" marR="50800">
                    <a:solidFill>
                      <a:srgbClr val="FFFFFF"/>
                    </a:solidFill>
                  </a:tcPr>
                </a:tc>
                <a:tc>
                  <a:txBody>
                    <a:bodyPr/>
                    <a:lstStyle/>
                    <a:p>
                      <a:pPr algn="l">
                        <a:defRPr sz="980">
                          <a:solidFill>
                            <a:srgbClr val="0F172A"/>
                          </a:solidFill>
                          <a:latin typeface="Microsoft YaHei"/>
                        </a:defRPr>
                      </a:pPr>
                      <a:r>
                        <a:t>开源框架控制面开销大且无网络感知；通信库仅处理地址与报文，无模型算子感知。</a:t>
                      </a:r>
                    </a:p>
                  </a:txBody>
                  <a:tcPr anchor="ctr" marT="25400" marB="25400" marL="50800" marR="50800">
                    <a:solidFill>
                      <a:srgbClr val="FFFFFF"/>
                    </a:solidFill>
                  </a:tcPr>
                </a:tc>
                <a:tc>
                  <a:txBody>
                    <a:bodyPr/>
                    <a:lstStyle/>
                    <a:p>
                      <a:pPr algn="l">
                        <a:defRPr sz="980">
                          <a:solidFill>
                            <a:srgbClr val="0F172A"/>
                          </a:solidFill>
                          <a:latin typeface="Microsoft YaHei"/>
                        </a:defRPr>
                      </a:pPr>
                      <a:r>
                        <a:t>揭示系统层调度断层：两端均无法独立完成 Attention 逐层流水、显存避让与多卡协同。</a:t>
                      </a:r>
                    </a:p>
                  </a:txBody>
                  <a:tcPr anchor="ctr" marT="25400" marB="25400" marL="50800" marR="50800">
                    <a:solidFill>
                      <a:srgbClr val="FFFFFF"/>
                    </a:solidFill>
                  </a:tcPr>
                </a:tc>
                <a:tc>
                  <a:txBody>
                    <a:bodyPr/>
                    <a:lstStyle/>
                    <a:p>
                      <a:pPr algn="l">
                        <a:defRPr sz="980">
                          <a:solidFill>
                            <a:srgbClr val="0F172A"/>
                          </a:solidFill>
                          <a:latin typeface="Microsoft YaHei"/>
                        </a:defRPr>
                      </a:pPr>
                      <a:r>
                        <a:t>明确自研软件作为编译调度中枢的定位，界定与底层通信库的责任界面。</a:t>
                      </a:r>
                    </a:p>
                  </a:txBody>
                  <a:tcPr anchor="ctr" marT="25400" marB="25400" marL="50800" marR="50800">
                    <a:solidFill>
                      <a:srgbClr val="FFFFFF"/>
                    </a:solidFill>
                  </a:tcPr>
                </a:tc>
              </a:tr>
              <a:tr h="514350">
                <a:tc>
                  <a:txBody>
                    <a:bodyPr/>
                    <a:lstStyle/>
                    <a:p>
                      <a:pPr algn="ctr">
                        <a:defRPr sz="980" b="1">
                          <a:solidFill>
                            <a:srgbClr val="0F172A"/>
                          </a:solidFill>
                          <a:latin typeface="Microsoft YaHei"/>
                        </a:defRPr>
                      </a:pPr>
                      <a:r>
                        <a:t>质疑二：仅有 18µs 查询数据 (占比&lt;0.1%) 如何证明整机大幅提速？</a:t>
                      </a:r>
                    </a:p>
                  </a:txBody>
                  <a:tcPr anchor="ctr" marT="25400" marB="25400" marL="50800" marR="50800">
                    <a:solidFill>
                      <a:srgbClr val="EFF6FF"/>
                    </a:solidFill>
                  </a:tcPr>
                </a:tc>
                <a:tc>
                  <a:txBody>
                    <a:bodyPr/>
                    <a:lstStyle/>
                    <a:p>
                      <a:pPr algn="l">
                        <a:defRPr sz="980">
                          <a:solidFill>
                            <a:srgbClr val="0F172A"/>
                          </a:solidFill>
                          <a:latin typeface="Microsoft YaHei"/>
                        </a:defRPr>
                      </a:pPr>
                      <a:r>
                        <a:t>16K 前缀查询实测 URMA 18µs [实测]，占 250ms TTFT [假设] 仅 0.01%，直接提速仅 0.004% [推导值]。</a:t>
                      </a:r>
                    </a:p>
                  </a:txBody>
                  <a:tcPr anchor="ctr" marT="25400" marB="25400" marL="50800" marR="50800">
                    <a:solidFill>
                      <a:srgbClr val="EFF6FF"/>
                    </a:solidFill>
                  </a:tcPr>
                </a:tc>
                <a:tc>
                  <a:txBody>
                    <a:bodyPr/>
                    <a:lstStyle/>
                    <a:p>
                      <a:pPr algn="l">
                        <a:defRPr sz="980">
                          <a:solidFill>
                            <a:srgbClr val="0F172A"/>
                          </a:solidFill>
                          <a:latin typeface="Microsoft YaHei"/>
                        </a:defRPr>
                      </a:pPr>
                      <a:r>
                        <a:t>核心瓶颈在于 24.5ms 传输 [推导值]：逐层流水掩盖 98.7% 耗时 [推导值]，盈亏门槛降至 20 Tokens [推导值]</a:t>
                      </a:r>
                    </a:p>
                  </a:txBody>
                  <a:tcPr anchor="ctr" marT="25400" marB="25400" marL="50800" marR="50800">
                    <a:solidFill>
                      <a:srgbClr val="EFF6FF"/>
                    </a:solidFill>
                  </a:tcPr>
                </a:tc>
                <a:tc>
                  <a:txBody>
                    <a:bodyPr/>
                    <a:lstStyle/>
                    <a:p>
                      <a:pPr algn="l">
                        <a:defRPr sz="980">
                          <a:solidFill>
                            <a:srgbClr val="0F172A"/>
                          </a:solidFill>
                          <a:latin typeface="Microsoft YaHei"/>
                        </a:defRPr>
                      </a:pPr>
                      <a:r>
                        <a:t>建立 70B 模型关键路径方程，以物理常数反求收益 [立项目标：TTFT 降 ≥ 20%]，并在 E0~E3 逐项收敛。</a:t>
                      </a:r>
                    </a:p>
                  </a:txBody>
                  <a:tcPr anchor="ctr" marT="25400" marB="25400" marL="50800" marR="50800">
                    <a:solidFill>
                      <a:srgbClr val="EFF6FF"/>
                    </a:solidFill>
                  </a:tcPr>
                </a:tc>
              </a:tr>
              <a:tr h="514350">
                <a:tc>
                  <a:txBody>
                    <a:bodyPr/>
                    <a:lstStyle/>
                    <a:p>
                      <a:pPr algn="ctr">
                        <a:defRPr sz="980" b="1">
                          <a:solidFill>
                            <a:srgbClr val="0F172A"/>
                          </a:solidFill>
                          <a:latin typeface="Microsoft YaHei"/>
                        </a:defRPr>
                      </a:pPr>
                      <a:r>
                        <a:t>质疑三：自研软件与通信底座到底是什么关系？如何证明能催熟通信库？</a:t>
                      </a:r>
                    </a:p>
                  </a:txBody>
                  <a:tcPr anchor="ctr" marT="25400" marB="25400" marL="50800" marR="50800">
                    <a:solidFill>
                      <a:srgbClr val="FFFFFF"/>
                    </a:solidFill>
                  </a:tcPr>
                </a:tc>
                <a:tc>
                  <a:txBody>
                    <a:bodyPr/>
                    <a:lstStyle/>
                    <a:p>
                      <a:pPr algn="l">
                        <a:defRPr sz="980">
                          <a:solidFill>
                            <a:srgbClr val="0F172A"/>
                          </a:solidFill>
                          <a:latin typeface="Microsoft YaHei"/>
                        </a:defRPr>
                      </a:pPr>
                      <a:r>
                        <a:t>通信库脱离真实计算交织，单机打流测试无法暴露 Incast 与多卡偏斜。</a:t>
                      </a:r>
                    </a:p>
                  </a:txBody>
                  <a:tcPr anchor="ctr" marT="25400" marB="25400" marL="50800" marR="50800">
                    <a:solidFill>
                      <a:srgbClr val="FFFFFF"/>
                    </a:solidFill>
                  </a:tcPr>
                </a:tc>
                <a:tc>
                  <a:txBody>
                    <a:bodyPr/>
                    <a:lstStyle/>
                    <a:p>
                      <a:pPr algn="l">
                        <a:defRPr sz="980">
                          <a:solidFill>
                            <a:srgbClr val="0F172A"/>
                          </a:solidFill>
                          <a:latin typeface="Microsoft YaHei"/>
                        </a:defRPr>
                      </a:pPr>
                      <a:r>
                        <a:t>向 KPCL 注入 8 类典型在线推理流量画像，将性能指标固化为微秒级可执行接口契约 J_i。</a:t>
                      </a:r>
                    </a:p>
                  </a:txBody>
                  <a:tcPr anchor="ctr" marT="25400" marB="25400" marL="50800" marR="50800">
                    <a:solidFill>
                      <a:srgbClr val="FFFFFF"/>
                    </a:solidFill>
                  </a:tcPr>
                </a:tc>
                <a:tc>
                  <a:txBody>
                    <a:bodyPr/>
                    <a:lstStyle/>
                    <a:p>
                      <a:pPr algn="l">
                        <a:defRPr sz="980">
                          <a:solidFill>
                            <a:srgbClr val="0F172A"/>
                          </a:solidFill>
                          <a:latin typeface="Microsoft YaHei"/>
                        </a:defRPr>
                      </a:pPr>
                      <a:r>
                        <a:t>以极端在线推理混压为底座提供实战靶场，设立 3 条硬核 No-Go 止损线。</a:t>
                      </a:r>
                    </a:p>
                  </a:txBody>
                  <a:tcPr anchor="ctr" marT="25400" marB="25400" marL="50800" marR="50800">
                    <a:solidFill>
                      <a:srgbClr val="FFFFFF"/>
                    </a:solidFill>
                  </a:tcPr>
                </a:tc>
              </a:tr>
            </a:tbl>
          </a:graphicData>
        </a:graphic>
      </p:graphicFrame>
      <p:sp>
        <p:nvSpPr>
          <p:cNvPr id="7" name="Rounded Rectangle 6"/>
          <p:cNvSpPr/>
          <p:nvPr/>
        </p:nvSpPr>
        <p:spPr>
          <a:xfrm>
            <a:off x="548640" y="3520440"/>
            <a:ext cx="3504895" cy="22860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611880"/>
            <a:ext cx="3230575" cy="2103120"/>
          </a:xfrm>
          <a:prstGeom prst="rect">
            <a:avLst/>
          </a:prstGeom>
          <a:noFill/>
        </p:spPr>
        <p:txBody>
          <a:bodyPr wrap="square">
            <a:spAutoFit/>
          </a:bodyPr>
          <a:lstStyle/>
          <a:p>
            <a:pPr>
              <a:spcAft>
                <a:spcPts val="500"/>
              </a:spcAft>
              <a:defRPr sz="1500" b="1">
                <a:solidFill>
                  <a:srgbClr val="1D4ED8"/>
                </a:solidFill>
                <a:latin typeface="Microsoft YaHei"/>
              </a:defRPr>
            </a:pPr>
            <a:r>
              <a:t>自研必要性破局逻辑</a:t>
            </a:r>
          </a:p>
          <a:p>
            <a:pPr>
              <a:lnSpc>
                <a:spcPct val="118000"/>
              </a:lnSpc>
              <a:spcAft>
                <a:spcPts val="250"/>
              </a:spcAft>
              <a:defRPr sz="1060">
                <a:solidFill>
                  <a:srgbClr val="0F172A"/>
                </a:solidFill>
                <a:latin typeface="Microsoft YaHei"/>
              </a:defRPr>
            </a:pPr>
            <a:r>
              <a:t>• 否定简单调用：上层框架无拓扑感知，下层通信库无计算语义，直接调用必然引发丢包与冲突；</a:t>
            </a:r>
          </a:p>
          <a:p>
            <a:pPr>
              <a:lnSpc>
                <a:spcPct val="118000"/>
              </a:lnSpc>
              <a:spcAft>
                <a:spcPts val="250"/>
              </a:spcAft>
              <a:defRPr sz="1060">
                <a:solidFill>
                  <a:srgbClr val="0F172A"/>
                </a:solidFill>
                <a:latin typeface="Microsoft YaHei"/>
              </a:defRPr>
            </a:pPr>
            <a:r>
              <a:t>• 填补系统断层：只有中间件软件能将 80 层计算拓扑编译为微秒通信流；</a:t>
            </a:r>
          </a:p>
          <a:p>
            <a:pPr>
              <a:lnSpc>
                <a:spcPct val="118000"/>
              </a:lnSpc>
              <a:spcAft>
                <a:spcPts val="250"/>
              </a:spcAft>
              <a:defRPr sz="1060">
                <a:solidFill>
                  <a:srgbClr val="0F172A"/>
                </a:solidFill>
                <a:latin typeface="Microsoft YaHei"/>
              </a:defRPr>
            </a:pPr>
            <a:r>
              <a:t>• 软硬件协同价值：将国产芯片显存、总线与网卡硬件潜能完全释放。</a:t>
            </a:r>
          </a:p>
        </p:txBody>
      </p:sp>
      <p:sp>
        <p:nvSpPr>
          <p:cNvPr id="9" name="Rounded Rectangle 8"/>
          <p:cNvSpPr/>
          <p:nvPr/>
        </p:nvSpPr>
        <p:spPr>
          <a:xfrm>
            <a:off x="4343400" y="3520440"/>
            <a:ext cx="3504895" cy="228600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3611880"/>
            <a:ext cx="3230575" cy="2103120"/>
          </a:xfrm>
          <a:prstGeom prst="rect">
            <a:avLst/>
          </a:prstGeom>
          <a:noFill/>
        </p:spPr>
        <p:txBody>
          <a:bodyPr wrap="square">
            <a:spAutoFit/>
          </a:bodyPr>
          <a:lstStyle/>
          <a:p>
            <a:pPr>
              <a:spcAft>
                <a:spcPts val="500"/>
              </a:spcAft>
              <a:defRPr sz="1500" b="1">
                <a:solidFill>
                  <a:srgbClr val="047857"/>
                </a:solidFill>
                <a:latin typeface="Microsoft YaHei"/>
              </a:defRPr>
            </a:pPr>
            <a:r>
              <a:t>性能指标兑现逻辑</a:t>
            </a:r>
          </a:p>
          <a:p>
            <a:pPr>
              <a:lnSpc>
                <a:spcPct val="118000"/>
              </a:lnSpc>
              <a:spcAft>
                <a:spcPts val="250"/>
              </a:spcAft>
              <a:defRPr sz="1060">
                <a:solidFill>
                  <a:srgbClr val="0F172A"/>
                </a:solidFill>
                <a:latin typeface="Microsoft YaHei"/>
              </a:defRPr>
            </a:pPr>
            <a:r>
              <a:t>• TTFT 路径：逐层流水掩盖 98.7% 传输，首字提速 47.4% [模型推导]；</a:t>
            </a:r>
          </a:p>
          <a:p>
            <a:pPr>
              <a:lnSpc>
                <a:spcPct val="118000"/>
              </a:lnSpc>
              <a:spcAft>
                <a:spcPts val="250"/>
              </a:spcAft>
              <a:defRPr sz="1060">
                <a:solidFill>
                  <a:srgbClr val="0F172A"/>
                </a:solidFill>
                <a:latin typeface="Microsoft YaHei"/>
              </a:defRPr>
            </a:pPr>
            <a:r>
              <a:t>• TPOT 显存保护：步频感知微秒退避，前台干扰降至 1.57% [推导值，目标值 ≤ 3%]；</a:t>
            </a:r>
          </a:p>
          <a:p>
            <a:pPr>
              <a:lnSpc>
                <a:spcPct val="118000"/>
              </a:lnSpc>
              <a:spcAft>
                <a:spcPts val="250"/>
              </a:spcAft>
              <a:defRPr sz="1060">
                <a:solidFill>
                  <a:srgbClr val="0F172A"/>
                </a:solidFill>
                <a:latin typeface="Microsoft YaHei"/>
              </a:defRPr>
            </a:pPr>
            <a:r>
              <a:t>• P99 尾部收敛：端侧令牌桶消除 Incast，多卡原子 Doorbell 降低偏斜 60% [模型推导]。</a:t>
            </a:r>
          </a:p>
        </p:txBody>
      </p:sp>
      <p:sp>
        <p:nvSpPr>
          <p:cNvPr id="11" name="Rounded Rectangle 10"/>
          <p:cNvSpPr/>
          <p:nvPr/>
        </p:nvSpPr>
        <p:spPr>
          <a:xfrm>
            <a:off x="8138160" y="3520440"/>
            <a:ext cx="3504895" cy="2286000"/>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3611880"/>
            <a:ext cx="3230575" cy="2103120"/>
          </a:xfrm>
          <a:prstGeom prst="rect">
            <a:avLst/>
          </a:prstGeom>
          <a:noFill/>
        </p:spPr>
        <p:txBody>
          <a:bodyPr wrap="square">
            <a:spAutoFit/>
          </a:bodyPr>
          <a:lstStyle/>
          <a:p>
            <a:pPr>
              <a:spcAft>
                <a:spcPts val="500"/>
              </a:spcAft>
              <a:defRPr sz="1500" b="1">
                <a:solidFill>
                  <a:srgbClr val="B45309"/>
                </a:solidFill>
                <a:latin typeface="Microsoft YaHei"/>
              </a:defRPr>
            </a:pPr>
            <a:r>
              <a:t>底座催熟共生逻辑</a:t>
            </a:r>
          </a:p>
          <a:p>
            <a:pPr>
              <a:lnSpc>
                <a:spcPct val="118000"/>
              </a:lnSpc>
              <a:spcAft>
                <a:spcPts val="250"/>
              </a:spcAft>
              <a:defRPr sz="1060">
                <a:solidFill>
                  <a:srgbClr val="0F172A"/>
                </a:solidFill>
                <a:latin typeface="Microsoft YaHei"/>
              </a:defRPr>
            </a:pPr>
            <a:r>
              <a:t>• 真实场景输入：提炼 F1~F8 典型业务流量，为底座提供极端并发输入；</a:t>
            </a:r>
          </a:p>
          <a:p>
            <a:pPr>
              <a:lnSpc>
                <a:spcPct val="118000"/>
              </a:lnSpc>
              <a:spcAft>
                <a:spcPts val="250"/>
              </a:spcAft>
              <a:defRPr sz="1060">
                <a:solidFill>
                  <a:srgbClr val="0F172A"/>
                </a:solidFill>
                <a:latin typeface="Microsoft YaHei"/>
              </a:defRPr>
            </a:pPr>
            <a:r>
              <a:t>• 契约化接口定义：将抽象性能转化为带时限约束的结构体 J_i；</a:t>
            </a:r>
          </a:p>
          <a:p>
            <a:pPr>
              <a:lnSpc>
                <a:spcPct val="118000"/>
              </a:lnSpc>
              <a:spcAft>
                <a:spcPts val="250"/>
              </a:spcAft>
              <a:defRPr sz="1060">
                <a:solidFill>
                  <a:srgbClr val="0F172A"/>
                </a:solidFill>
                <a:latin typeface="Microsoft YaHei"/>
              </a:defRPr>
            </a:pPr>
            <a:r>
              <a:t>• 敏捷门禁推进：通过 12 项提前验证收敛参数并设立止损机制。</a:t>
            </a:r>
          </a:p>
        </p:txBody>
      </p:sp>
      <p:sp>
        <p:nvSpPr>
          <p:cNvPr id="13" name="Rounded Rectangle 12"/>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核心准则：</a:t>
            </a:r>
            <a:r>
              <a:rPr sz="1300">
                <a:solidFill>
                  <a:srgbClr val="0F172A"/>
                </a:solidFill>
                <a:latin typeface="Microsoft YaHei"/>
              </a:rPr>
              <a:t>不知为不知，绝不虚构数据；用体系结构约束推导可行边界，用阶段门禁控制研发风险。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架构真空与角色定位：为什么上层推理引擎与底层通信库都做不了？</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大模型推理的动态计算语义与底层硬件静态传输之间存在系统级调度断层</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03 / 18</a:t>
            </a:r>
          </a:p>
        </p:txBody>
      </p:sp>
      <p:sp>
        <p:nvSpPr>
          <p:cNvPr id="6" name="Rounded Rectangle 5"/>
          <p:cNvSpPr/>
          <p:nvPr/>
        </p:nvSpPr>
        <p:spPr>
          <a:xfrm>
            <a:off x="548640" y="1115568"/>
            <a:ext cx="350489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243584"/>
            <a:ext cx="3175711" cy="3840480"/>
          </a:xfrm>
          <a:prstGeom prst="rect">
            <a:avLst/>
          </a:prstGeom>
          <a:noFill/>
        </p:spPr>
        <p:txBody>
          <a:bodyPr wrap="square">
            <a:spAutoFit/>
          </a:bodyPr>
          <a:lstStyle/>
          <a:p>
            <a:pPr>
              <a:spcAft>
                <a:spcPts val="1000"/>
              </a:spcAft>
              <a:defRPr sz="1550" b="1">
                <a:solidFill>
                  <a:srgbClr val="1D4ED8"/>
                </a:solidFill>
                <a:latin typeface="Microsoft YaHei"/>
              </a:defRPr>
            </a:pPr>
            <a:r>
              <a:t>上层推理引擎的天然局限 (vLLM/MindIE)</a:t>
            </a:r>
          </a:p>
          <a:p>
            <a:pPr>
              <a:lnSpc>
                <a:spcPct val="125000"/>
              </a:lnSpc>
              <a:spcAft>
                <a:spcPts val="800"/>
              </a:spcAft>
              <a:defRPr sz="1160">
                <a:solidFill>
                  <a:srgbClr val="0F172A"/>
                </a:solidFill>
                <a:latin typeface="Microsoft YaHei"/>
              </a:defRPr>
            </a:pPr>
            <a:r>
              <a:t>• 认知边界受限：只理解 Token 序列、KV 张量与注意力算子图，将底层网络视为黑盒；</a:t>
            </a:r>
          </a:p>
          <a:p>
            <a:pPr>
              <a:lnSpc>
                <a:spcPct val="125000"/>
              </a:lnSpc>
              <a:spcAft>
                <a:spcPts val="800"/>
              </a:spcAft>
              <a:defRPr sz="1160">
                <a:solidFill>
                  <a:srgbClr val="0F172A"/>
                </a:solidFill>
                <a:latin typeface="Microsoft YaHei"/>
              </a:defRPr>
            </a:pPr>
            <a:r>
              <a:t>• 控制面开销大：基于 Python 运行时与通用 RPC，单次调度耗时在毫秒级，无法应对微秒级总线调度；</a:t>
            </a:r>
          </a:p>
          <a:p>
            <a:pPr>
              <a:lnSpc>
                <a:spcPct val="125000"/>
              </a:lnSpc>
              <a:spcAft>
                <a:spcPts val="800"/>
              </a:spcAft>
              <a:defRPr sz="1160">
                <a:solidFill>
                  <a:srgbClr val="0F172A"/>
                </a:solidFill>
                <a:latin typeface="Microsoft YaHei"/>
              </a:defRPr>
            </a:pPr>
            <a:r>
              <a:t>• 硬件冲突无法自愈：多卡并发拉取直接引发交换机出端口 Incast 拥塞，导致丢包与重传风暴；</a:t>
            </a:r>
          </a:p>
          <a:p>
            <a:pPr>
              <a:lnSpc>
                <a:spcPct val="125000"/>
              </a:lnSpc>
              <a:spcAft>
                <a:spcPts val="800"/>
              </a:spcAft>
              <a:defRPr sz="1160">
                <a:solidFill>
                  <a:srgbClr val="0F172A"/>
                </a:solidFill>
                <a:latin typeface="Microsoft YaHei"/>
              </a:defRPr>
            </a:pPr>
            <a:r>
              <a:t>• 无法感知步频：无法感知 Decode 间隙，后台换出挤占片上带宽；</a:t>
            </a:r>
          </a:p>
        </p:txBody>
      </p:sp>
      <p:sp>
        <p:nvSpPr>
          <p:cNvPr id="8" name="Rounded Rectangle 7"/>
          <p:cNvSpPr/>
          <p:nvPr/>
        </p:nvSpPr>
        <p:spPr>
          <a:xfrm>
            <a:off x="4343400" y="1115568"/>
            <a:ext cx="3504895" cy="4114800"/>
          </a:xfrm>
          <a:prstGeom prst="roundRect">
            <a:avLst>
              <a:gd name="adj" fmla="val 2000"/>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243584"/>
            <a:ext cx="3175711" cy="3840480"/>
          </a:xfrm>
          <a:prstGeom prst="rect">
            <a:avLst/>
          </a:prstGeom>
          <a:noFill/>
        </p:spPr>
        <p:txBody>
          <a:bodyPr wrap="square">
            <a:spAutoFit/>
          </a:bodyPr>
          <a:lstStyle/>
          <a:p>
            <a:pPr>
              <a:spcAft>
                <a:spcPts val="1000"/>
              </a:spcAft>
              <a:defRPr sz="1550" b="1">
                <a:solidFill>
                  <a:srgbClr val="BE123C"/>
                </a:solidFill>
                <a:latin typeface="Microsoft YaHei"/>
              </a:defRPr>
            </a:pPr>
            <a:r>
              <a:t>底层通信库的天然局限 (KPCL: URMA)</a:t>
            </a:r>
          </a:p>
          <a:p>
            <a:pPr>
              <a:lnSpc>
                <a:spcPct val="125000"/>
              </a:lnSpc>
              <a:spcAft>
                <a:spcPts val="800"/>
              </a:spcAft>
              <a:defRPr sz="1160">
                <a:solidFill>
                  <a:srgbClr val="0F172A"/>
                </a:solidFill>
                <a:latin typeface="Microsoft YaHei"/>
              </a:defRPr>
            </a:pPr>
            <a:r>
              <a:t>• 认知边界受限：只理解物理内存地址、QP 队列、Doorbell 门铃与网卡数据包；</a:t>
            </a:r>
          </a:p>
          <a:p>
            <a:pPr>
              <a:lnSpc>
                <a:spcPct val="125000"/>
              </a:lnSpc>
              <a:spcAft>
                <a:spcPts val="800"/>
              </a:spcAft>
              <a:defRPr sz="1160">
                <a:solidFill>
                  <a:srgbClr val="0F172A"/>
                </a:solidFill>
                <a:latin typeface="Microsoft YaHei"/>
              </a:defRPr>
            </a:pPr>
            <a:r>
              <a:t>• 缺乏模型语义：不知道当前请求是 Prefill 还是 Decode，无法感知 80 层 Attention 的先后依赖；</a:t>
            </a:r>
          </a:p>
          <a:p>
            <a:pPr>
              <a:lnSpc>
                <a:spcPct val="125000"/>
              </a:lnSpc>
              <a:spcAft>
                <a:spcPts val="800"/>
              </a:spcAft>
              <a:defRPr sz="1160">
                <a:solidFill>
                  <a:srgbClr val="0F172A"/>
                </a:solidFill>
                <a:latin typeface="Microsoft YaHei"/>
              </a:defRPr>
            </a:pPr>
            <a:r>
              <a:t>• 无法协同多卡短板：无法协调 TP=8 非等比劣化，缺乏原子同步与偏斜控制；</a:t>
            </a:r>
          </a:p>
          <a:p>
            <a:pPr>
              <a:lnSpc>
                <a:spcPct val="125000"/>
              </a:lnSpc>
              <a:spcAft>
                <a:spcPts val="800"/>
              </a:spcAft>
              <a:defRPr sz="1160">
                <a:solidFill>
                  <a:srgbClr val="0F172A"/>
                </a:solidFill>
                <a:latin typeface="Microsoft YaHei"/>
              </a:defRPr>
            </a:pPr>
            <a:r>
              <a:t>• 测试场景失真：脱离真实大模型交织场景，单机静态打流测试无法暴露长尾时延与显存争用瓶颈。</a:t>
            </a:r>
          </a:p>
        </p:txBody>
      </p:sp>
      <p:sp>
        <p:nvSpPr>
          <p:cNvPr id="10" name="Rounded Rectangle 9"/>
          <p:cNvSpPr/>
          <p:nvPr/>
        </p:nvSpPr>
        <p:spPr>
          <a:xfrm>
            <a:off x="8138160" y="1115568"/>
            <a:ext cx="3504895" cy="411480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243584"/>
            <a:ext cx="3175711" cy="3840480"/>
          </a:xfrm>
          <a:prstGeom prst="rect">
            <a:avLst/>
          </a:prstGeom>
          <a:noFill/>
        </p:spPr>
        <p:txBody>
          <a:bodyPr wrap="square">
            <a:spAutoFit/>
          </a:bodyPr>
          <a:lstStyle/>
          <a:p>
            <a:pPr>
              <a:spcAft>
                <a:spcPts val="1000"/>
              </a:spcAft>
              <a:defRPr sz="1550" b="1">
                <a:solidFill>
                  <a:srgbClr val="047857"/>
                </a:solidFill>
                <a:latin typeface="Microsoft YaHei"/>
              </a:defRPr>
            </a:pPr>
            <a:r>
              <a:t>自研 KVC 软件的核心定位与中枢职责</a:t>
            </a:r>
          </a:p>
          <a:p>
            <a:pPr>
              <a:lnSpc>
                <a:spcPct val="125000"/>
              </a:lnSpc>
              <a:spcAft>
                <a:spcPts val="800"/>
              </a:spcAft>
              <a:defRPr sz="1160">
                <a:solidFill>
                  <a:srgbClr val="0F172A"/>
                </a:solidFill>
                <a:latin typeface="Microsoft YaHei"/>
              </a:defRPr>
            </a:pPr>
            <a:r>
              <a:t>• 填补系统调度断层：充当动态计算语义与静态硬件通信之间的编译调度层；</a:t>
            </a:r>
          </a:p>
          <a:p>
            <a:pPr>
              <a:lnSpc>
                <a:spcPct val="125000"/>
              </a:lnSpc>
              <a:spcAft>
                <a:spcPts val="800"/>
              </a:spcAft>
              <a:defRPr sz="1160">
                <a:solidFill>
                  <a:srgbClr val="0F172A"/>
                </a:solidFill>
                <a:latin typeface="Microsoft YaHei"/>
              </a:defRPr>
            </a:pPr>
            <a:r>
              <a:t>• 微秒级动态决策：QueryPlan 选路引擎 (&lt;5µs [目标值]) 配合 64B POD 描述符，绕过 CPU 内存拷贝；</a:t>
            </a:r>
          </a:p>
          <a:p>
            <a:pPr>
              <a:lnSpc>
                <a:spcPct val="125000"/>
              </a:lnSpc>
              <a:spcAft>
                <a:spcPts val="800"/>
              </a:spcAft>
              <a:defRPr sz="1160">
                <a:solidFill>
                  <a:srgbClr val="0F172A"/>
                </a:solidFill>
                <a:latin typeface="Microsoft YaHei"/>
              </a:defRPr>
            </a:pPr>
            <a:r>
              <a:t>• 软硬件协同执行：编排逐层边算边传流水，实现 TP=8 协同与步频退避；</a:t>
            </a:r>
          </a:p>
          <a:p>
            <a:pPr>
              <a:lnSpc>
                <a:spcPct val="125000"/>
              </a:lnSpc>
              <a:spcAft>
                <a:spcPts val="800"/>
              </a:spcAft>
              <a:defRPr sz="1160">
                <a:solidFill>
                  <a:srgbClr val="0F172A"/>
                </a:solidFill>
                <a:latin typeface="Microsoft YaHei"/>
              </a:defRPr>
            </a:pPr>
            <a:r>
              <a:t>• 催熟原厂通信底座：向 KPCL 注入 8 类典型在线推理流量画像，驱动底层接口商用演进。</a:t>
            </a:r>
          </a:p>
        </p:txBody>
      </p:sp>
      <p:sp>
        <p:nvSpPr>
          <p:cNvPr id="12" name="Rounded Rectangle 11"/>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架构定位结论：上层框架做不了底层硬件调度，下层通信库做不了上层模型语义编排；自研软件是连接两者的必需中枢。</a:t>
            </a:r>
          </a:p>
        </p:txBody>
      </p:sp>
      <p:sp>
        <p:nvSpPr>
          <p:cNvPr id="14" name="Rounded Rectangle 13"/>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系统定位：</a:t>
            </a:r>
            <a:r>
              <a:rPr sz="1300">
                <a:solidFill>
                  <a:srgbClr val="0F172A"/>
                </a:solidFill>
                <a:latin typeface="Microsoft YaHei"/>
              </a:rPr>
              <a:t>上层框架做不了底层流控，下层通信库做不了模型计算编排；</a:t>
            </a:r>
            <a:r>
              <a:rPr sz="1300" b="1">
                <a:solidFill>
                  <a:srgbClr val="DC2626"/>
                </a:solidFill>
                <a:latin typeface="Microsoft YaHei"/>
              </a:rPr>
              <a:t>自研软件是系统闭环的必备纽带</a:t>
            </a:r>
            <a:r>
              <a:rPr sz="1300">
                <a:solidFill>
                  <a:srgbClr val="0F172A"/>
                </a:solidFill>
                <a:latin typeface="Microsoft YaHei"/>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关键执行路径解构：客观面对 18µs 查询在 TTFT 中的微小占比</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阿姆达尔定律严格证明：单靠查询加速无法支撑 20% 改善，核心瓶颈在于数据加载</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04 / 18</a:t>
            </a:r>
          </a:p>
        </p:txBody>
      </p:sp>
      <p:sp>
        <p:nvSpPr>
          <p:cNvPr id="6" name="Rounded Rectangle 5"/>
          <p:cNvSpPr/>
          <p:nvPr/>
        </p:nvSpPr>
        <p:spPr>
          <a:xfrm>
            <a:off x="548640" y="1115568"/>
            <a:ext cx="5486400"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120640" cy="365760"/>
          </a:xfrm>
          <a:prstGeom prst="rect">
            <a:avLst/>
          </a:prstGeom>
          <a:noFill/>
        </p:spPr>
        <p:txBody>
          <a:bodyPr wrap="none">
            <a:spAutoFit/>
          </a:bodyPr>
          <a:lstStyle/>
          <a:p>
            <a:pPr>
              <a:defRPr sz="1550" b="1">
                <a:solidFill>
                  <a:srgbClr val="1E3A8A"/>
                </a:solidFill>
                <a:latin typeface="Microsoft YaHei"/>
              </a:defRPr>
            </a:pPr>
            <a:r>
              <a:t>大模型推理端到端 TTFT 关键执行路径 (DAG)</a:t>
            </a:r>
          </a:p>
        </p:txBody>
      </p:sp>
      <p:sp>
        <p:nvSpPr>
          <p:cNvPr id="8" name="Rounded Rectangle 7"/>
          <p:cNvSpPr/>
          <p:nvPr/>
        </p:nvSpPr>
        <p:spPr>
          <a:xfrm>
            <a:off x="731520" y="1627632"/>
            <a:ext cx="2423160" cy="566928"/>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682496"/>
            <a:ext cx="2276856" cy="457200"/>
          </a:xfrm>
          <a:prstGeom prst="rect">
            <a:avLst/>
          </a:prstGeom>
          <a:noFill/>
        </p:spPr>
        <p:txBody>
          <a:bodyPr wrap="none">
            <a:spAutoFit/>
          </a:bodyPr>
          <a:lstStyle/>
          <a:p>
            <a:pPr>
              <a:spcAft>
                <a:spcPts val="200"/>
              </a:spcAft>
              <a:defRPr sz="1200" b="1">
                <a:solidFill>
                  <a:srgbClr val="1D4ED8"/>
                </a:solidFill>
                <a:latin typeface="Microsoft YaHei"/>
              </a:defRPr>
            </a:pPr>
            <a:r>
              <a:t>请求到达与排队调度</a:t>
            </a:r>
          </a:p>
          <a:p>
            <a:pPr>
              <a:lnSpc>
                <a:spcPct val="118000"/>
              </a:lnSpc>
              <a:defRPr sz="1100">
                <a:solidFill>
                  <a:srgbClr val="0F172A"/>
                </a:solidFill>
                <a:latin typeface="Microsoft YaHei"/>
              </a:defRPr>
            </a:pPr>
            <a:r>
              <a:t>T_queue ≤ 0.10 ms [假设上限]</a:t>
            </a:r>
          </a:p>
        </p:txBody>
      </p:sp>
      <p:sp>
        <p:nvSpPr>
          <p:cNvPr id="10" name="Rounded Rectangle 9"/>
          <p:cNvSpPr/>
          <p:nvPr/>
        </p:nvSpPr>
        <p:spPr>
          <a:xfrm>
            <a:off x="3474720" y="1627632"/>
            <a:ext cx="2423160" cy="566928"/>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1682496"/>
            <a:ext cx="2276856" cy="457200"/>
          </a:xfrm>
          <a:prstGeom prst="rect">
            <a:avLst/>
          </a:prstGeom>
          <a:noFill/>
        </p:spPr>
        <p:txBody>
          <a:bodyPr wrap="none">
            <a:spAutoFit/>
          </a:bodyPr>
          <a:lstStyle/>
          <a:p>
            <a:pPr>
              <a:spcAft>
                <a:spcPts val="200"/>
              </a:spcAft>
              <a:defRPr sz="1200" b="1">
                <a:solidFill>
                  <a:srgbClr val="1D4ED8"/>
                </a:solidFill>
                <a:latin typeface="Microsoft YaHei"/>
              </a:defRPr>
            </a:pPr>
            <a:r>
              <a:t>前缀匹配哈希查询</a:t>
            </a:r>
          </a:p>
          <a:p>
            <a:pPr>
              <a:lnSpc>
                <a:spcPct val="118000"/>
              </a:lnSpc>
              <a:defRPr sz="1100">
                <a:solidFill>
                  <a:srgbClr val="0F172A"/>
                </a:solidFill>
                <a:latin typeface="Microsoft YaHei"/>
              </a:defRPr>
            </a:pPr>
            <a:r>
              <a:t>T_query = 18µs [实测微基准]</a:t>
            </a:r>
          </a:p>
        </p:txBody>
      </p:sp>
      <p:sp>
        <p:nvSpPr>
          <p:cNvPr id="12" name="Rounded Rectangle 11"/>
          <p:cNvSpPr/>
          <p:nvPr/>
        </p:nvSpPr>
        <p:spPr>
          <a:xfrm>
            <a:off x="731520" y="2331720"/>
            <a:ext cx="2423160" cy="566928"/>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86584"/>
            <a:ext cx="2276856" cy="457200"/>
          </a:xfrm>
          <a:prstGeom prst="rect">
            <a:avLst/>
          </a:prstGeom>
          <a:noFill/>
        </p:spPr>
        <p:txBody>
          <a:bodyPr wrap="none">
            <a:spAutoFit/>
          </a:bodyPr>
          <a:lstStyle/>
          <a:p>
            <a:pPr>
              <a:spcAft>
                <a:spcPts val="200"/>
              </a:spcAft>
              <a:defRPr sz="1200" b="1">
                <a:solidFill>
                  <a:srgbClr val="1D4ED8"/>
                </a:solidFill>
                <a:latin typeface="Microsoft YaHei"/>
              </a:defRPr>
            </a:pPr>
            <a:r>
              <a:t>选路决策与资格校验</a:t>
            </a:r>
          </a:p>
          <a:p>
            <a:pPr>
              <a:lnSpc>
                <a:spcPct val="118000"/>
              </a:lnSpc>
              <a:defRPr sz="1100">
                <a:solidFill>
                  <a:srgbClr val="0F172A"/>
                </a:solidFill>
                <a:latin typeface="Microsoft YaHei"/>
              </a:defRPr>
            </a:pPr>
            <a:r>
              <a:t>T_plan ≤ 0.05 ms [设计目标]</a:t>
            </a:r>
          </a:p>
        </p:txBody>
      </p:sp>
      <p:sp>
        <p:nvSpPr>
          <p:cNvPr id="14" name="Rounded Rectangle 13"/>
          <p:cNvSpPr/>
          <p:nvPr/>
        </p:nvSpPr>
        <p:spPr>
          <a:xfrm>
            <a:off x="3474720" y="2331720"/>
            <a:ext cx="2423160" cy="566928"/>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2386584"/>
            <a:ext cx="2276856" cy="457200"/>
          </a:xfrm>
          <a:prstGeom prst="rect">
            <a:avLst/>
          </a:prstGeom>
          <a:noFill/>
        </p:spPr>
        <p:txBody>
          <a:bodyPr wrap="none">
            <a:spAutoFit/>
          </a:bodyPr>
          <a:lstStyle/>
          <a:p>
            <a:pPr>
              <a:spcAft>
                <a:spcPts val="200"/>
              </a:spcAft>
              <a:defRPr sz="1200" b="1">
                <a:solidFill>
                  <a:srgbClr val="1D4ED8"/>
                </a:solidFill>
                <a:latin typeface="Microsoft YaHei"/>
              </a:defRPr>
            </a:pPr>
            <a:r>
              <a:t>连续描述符编译提交</a:t>
            </a:r>
          </a:p>
          <a:p>
            <a:pPr>
              <a:lnSpc>
                <a:spcPct val="118000"/>
              </a:lnSpc>
              <a:defRPr sz="1100">
                <a:solidFill>
                  <a:srgbClr val="0F172A"/>
                </a:solidFill>
                <a:latin typeface="Microsoft YaHei"/>
              </a:defRPr>
            </a:pPr>
            <a:r>
              <a:t>T_desc ≤ 0.15 ms [设计目标]</a:t>
            </a:r>
          </a:p>
        </p:txBody>
      </p:sp>
      <p:sp>
        <p:nvSpPr>
          <p:cNvPr id="16" name="Rounded Rectangle 15"/>
          <p:cNvSpPr/>
          <p:nvPr/>
        </p:nvSpPr>
        <p:spPr>
          <a:xfrm>
            <a:off x="731520" y="3035808"/>
            <a:ext cx="2423160" cy="566928"/>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090672"/>
            <a:ext cx="2276856" cy="457200"/>
          </a:xfrm>
          <a:prstGeom prst="rect">
            <a:avLst/>
          </a:prstGeom>
          <a:noFill/>
        </p:spPr>
        <p:txBody>
          <a:bodyPr wrap="none">
            <a:spAutoFit/>
          </a:bodyPr>
          <a:lstStyle/>
          <a:p>
            <a:pPr>
              <a:spcAft>
                <a:spcPts val="200"/>
              </a:spcAft>
              <a:defRPr sz="1200" b="1">
                <a:solidFill>
                  <a:srgbClr val="B45309"/>
                </a:solidFill>
                <a:latin typeface="Microsoft YaHei"/>
              </a:defRPr>
            </a:pPr>
            <a:r>
              <a:t>Layer 0 首层数据传输</a:t>
            </a:r>
          </a:p>
          <a:p>
            <a:pPr>
              <a:lnSpc>
                <a:spcPct val="118000"/>
              </a:lnSpc>
              <a:defRPr sz="1100">
                <a:solidFill>
                  <a:srgbClr val="0F172A"/>
                </a:solidFill>
                <a:latin typeface="Microsoft YaHei"/>
              </a:defRPr>
            </a:pPr>
            <a:r>
              <a:t>x_0 ≤ 0.31 ms [模型推导值]</a:t>
            </a:r>
          </a:p>
        </p:txBody>
      </p:sp>
      <p:sp>
        <p:nvSpPr>
          <p:cNvPr id="18" name="Rounded Rectangle 17"/>
          <p:cNvSpPr/>
          <p:nvPr/>
        </p:nvSpPr>
        <p:spPr>
          <a:xfrm>
            <a:off x="3474720" y="3035808"/>
            <a:ext cx="2423160" cy="566928"/>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47872" y="3090672"/>
            <a:ext cx="2276856" cy="457200"/>
          </a:xfrm>
          <a:prstGeom prst="rect">
            <a:avLst/>
          </a:prstGeom>
          <a:noFill/>
        </p:spPr>
        <p:txBody>
          <a:bodyPr wrap="none">
            <a:spAutoFit/>
          </a:bodyPr>
          <a:lstStyle/>
          <a:p>
            <a:pPr>
              <a:spcAft>
                <a:spcPts val="200"/>
              </a:spcAft>
              <a:defRPr sz="1200" b="1">
                <a:solidFill>
                  <a:srgbClr val="B45309"/>
                </a:solidFill>
                <a:latin typeface="Microsoft YaHei"/>
              </a:defRPr>
            </a:pPr>
            <a:r>
              <a:t>TP=8 多卡原子协同</a:t>
            </a:r>
          </a:p>
          <a:p>
            <a:pPr>
              <a:lnSpc>
                <a:spcPct val="118000"/>
              </a:lnSpc>
              <a:defRPr sz="1100">
                <a:solidFill>
                  <a:srgbClr val="0F172A"/>
                </a:solidFill>
                <a:latin typeface="Microsoft YaHei"/>
              </a:defRPr>
            </a:pPr>
            <a:r>
              <a:t>T_sync ≤ 0.08 ms [设计目标]</a:t>
            </a:r>
          </a:p>
        </p:txBody>
      </p:sp>
      <p:sp>
        <p:nvSpPr>
          <p:cNvPr id="20" name="Rounded Rectangle 19"/>
          <p:cNvSpPr/>
          <p:nvPr/>
        </p:nvSpPr>
        <p:spPr>
          <a:xfrm>
            <a:off x="731520" y="3739896"/>
            <a:ext cx="2423160" cy="566928"/>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3794760"/>
            <a:ext cx="2276856" cy="457200"/>
          </a:xfrm>
          <a:prstGeom prst="rect">
            <a:avLst/>
          </a:prstGeom>
          <a:noFill/>
        </p:spPr>
        <p:txBody>
          <a:bodyPr wrap="none">
            <a:spAutoFit/>
          </a:bodyPr>
          <a:lstStyle/>
          <a:p>
            <a:pPr>
              <a:spcAft>
                <a:spcPts val="200"/>
              </a:spcAft>
              <a:defRPr sz="1200" b="1">
                <a:solidFill>
                  <a:srgbClr val="047857"/>
                </a:solidFill>
                <a:latin typeface="Microsoft YaHei"/>
              </a:defRPr>
            </a:pPr>
            <a:r>
              <a:t>逐层边算边传流水</a:t>
            </a:r>
          </a:p>
          <a:p>
            <a:pPr>
              <a:lnSpc>
                <a:spcPct val="118000"/>
              </a:lnSpc>
              <a:defRPr sz="1100">
                <a:solidFill>
                  <a:srgbClr val="0F172A"/>
                </a:solidFill>
                <a:latin typeface="Microsoft YaHei"/>
              </a:defRPr>
            </a:pPr>
            <a:r>
              <a:t>Layers 1..79 [推导掩盖98.7%]</a:t>
            </a:r>
          </a:p>
        </p:txBody>
      </p:sp>
      <p:sp>
        <p:nvSpPr>
          <p:cNvPr id="22" name="Rounded Rectangle 21"/>
          <p:cNvSpPr/>
          <p:nvPr/>
        </p:nvSpPr>
        <p:spPr>
          <a:xfrm>
            <a:off x="3474720" y="3739896"/>
            <a:ext cx="2423160" cy="566928"/>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47872" y="3794760"/>
            <a:ext cx="2276856" cy="457200"/>
          </a:xfrm>
          <a:prstGeom prst="rect">
            <a:avLst/>
          </a:prstGeom>
          <a:noFill/>
        </p:spPr>
        <p:txBody>
          <a:bodyPr wrap="none">
            <a:spAutoFit/>
          </a:bodyPr>
          <a:lstStyle/>
          <a:p>
            <a:pPr>
              <a:spcAft>
                <a:spcPts val="200"/>
              </a:spcAft>
              <a:defRPr sz="1200" b="1">
                <a:solidFill>
                  <a:srgbClr val="047857"/>
                </a:solidFill>
                <a:latin typeface="Microsoft YaHei"/>
              </a:defRPr>
            </a:pPr>
            <a:r>
              <a:t>首字生成输出达成</a:t>
            </a:r>
          </a:p>
          <a:p>
            <a:pPr>
              <a:lnSpc>
                <a:spcPct val="118000"/>
              </a:lnSpc>
              <a:defRPr sz="1100">
                <a:solidFill>
                  <a:srgbClr val="0F172A"/>
                </a:solidFill>
                <a:latin typeface="Microsoft YaHei"/>
              </a:defRPr>
            </a:pPr>
            <a:r>
              <a:t>TTFT = 220.89 ms [模型推导值]</a:t>
            </a:r>
          </a:p>
        </p:txBody>
      </p:sp>
      <p:sp>
        <p:nvSpPr>
          <p:cNvPr id="24" name="TextBox 23"/>
          <p:cNvSpPr txBox="1"/>
          <p:nvPr/>
        </p:nvSpPr>
        <p:spPr>
          <a:xfrm>
            <a:off x="731520" y="4553712"/>
            <a:ext cx="5212080" cy="548640"/>
          </a:xfrm>
          <a:prstGeom prst="rect">
            <a:avLst/>
          </a:prstGeom>
          <a:noFill/>
        </p:spPr>
        <p:txBody>
          <a:bodyPr wrap="none">
            <a:spAutoFit/>
          </a:bodyPr>
          <a:lstStyle/>
          <a:p>
            <a:pPr>
              <a:defRPr sz="1120" b="1">
                <a:solidFill>
                  <a:srgbClr val="BE123C"/>
                </a:solidFill>
                <a:latin typeface="Microsoft YaHei"/>
              </a:defRPr>
            </a:pPr>
            <a:r>
              <a:t>※ 前置熔断保护：在 T_plan 判定加载无收益时，5µs 内切回本地重算，绝不死等</a:t>
            </a:r>
          </a:p>
        </p:txBody>
      </p:sp>
      <p:sp>
        <p:nvSpPr>
          <p:cNvPr id="25" name="Rounded Rectangle 24"/>
          <p:cNvSpPr/>
          <p:nvPr/>
        </p:nvSpPr>
        <p:spPr>
          <a:xfrm>
            <a:off x="6339535" y="1115568"/>
            <a:ext cx="5303520"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1207008"/>
            <a:ext cx="5029200" cy="3931920"/>
          </a:xfrm>
          <a:prstGeom prst="rect">
            <a:avLst/>
          </a:prstGeom>
          <a:noFill/>
        </p:spPr>
        <p:txBody>
          <a:bodyPr wrap="square">
            <a:spAutoFit/>
          </a:bodyPr>
          <a:lstStyle/>
          <a:p>
            <a:pPr>
              <a:spcAft>
                <a:spcPts val="600"/>
              </a:spcAft>
              <a:defRPr sz="1550" b="1">
                <a:solidFill>
                  <a:srgbClr val="1E3A8A"/>
                </a:solidFill>
                <a:latin typeface="Microsoft YaHei"/>
              </a:defRPr>
            </a:pPr>
            <a:r>
              <a:t>70B 基准模型物理常数与瓶颈标定 [数据源溯源]</a:t>
            </a:r>
          </a:p>
          <a:p>
            <a:pPr>
              <a:lnSpc>
                <a:spcPct val="120000"/>
              </a:lnSpc>
              <a:spcAft>
                <a:spcPts val="300"/>
              </a:spcAft>
              <a:defRPr sz="1080">
                <a:solidFill>
                  <a:srgbClr val="0F172A"/>
                </a:solidFill>
                <a:latin typeface="Microsoft YaHei"/>
              </a:defRPr>
            </a:pPr>
            <a:r>
              <a:t>• 结构参数常数 [物理常数]：70B 共 80 层，GQA，TP=8 单卡 40 KB/Token；</a:t>
            </a:r>
          </a:p>
          <a:p>
            <a:pPr>
              <a:lnSpc>
                <a:spcPct val="120000"/>
              </a:lnSpc>
              <a:spcAft>
                <a:spcPts val="300"/>
              </a:spcAft>
              <a:defRPr sz="1080">
                <a:solidFill>
                  <a:srgbClr val="0F172A"/>
                </a:solidFill>
                <a:latin typeface="Microsoft YaHei"/>
              </a:defRPr>
            </a:pPr>
            <a:r>
              <a:t>• 典型业务输入 [假设场景]：16K 请求命中 8K 前缀，生成 128 Tokens；</a:t>
            </a:r>
          </a:p>
          <a:p>
            <a:pPr>
              <a:lnSpc>
                <a:spcPct val="120000"/>
              </a:lnSpc>
              <a:spcAft>
                <a:spcPts val="300"/>
              </a:spcAft>
              <a:defRPr sz="1080">
                <a:solidFill>
                  <a:srgbClr val="0F172A"/>
                </a:solidFill>
                <a:latin typeface="Microsoft YaHei"/>
              </a:defRPr>
            </a:pPr>
            <a:r>
              <a:t>• 单卡复用数据量 [推导计算]：V = 8192 × 40KB = 320 MB (整机 2.56GB)；</a:t>
            </a:r>
          </a:p>
          <a:p>
            <a:pPr>
              <a:lnSpc>
                <a:spcPct val="120000"/>
              </a:lnSpc>
              <a:spcAft>
                <a:spcPts val="300"/>
              </a:spcAft>
              <a:defRPr sz="1080">
                <a:solidFill>
                  <a:srgbClr val="0F172A"/>
                </a:solidFill>
                <a:latin typeface="Microsoft YaHei"/>
              </a:defRPr>
            </a:pPr>
            <a:r>
              <a:t>• 硬件链路能力 [标称假设]：单卡有效带宽 20GB/s，HBM 物理带宽 1.2TB/s；</a:t>
            </a:r>
          </a:p>
          <a:p>
            <a:pPr>
              <a:lnSpc>
                <a:spcPct val="120000"/>
              </a:lnSpc>
              <a:spcAft>
                <a:spcPts val="300"/>
              </a:spcAft>
              <a:defRPr sz="1080">
                <a:solidFill>
                  <a:srgbClr val="0F172A"/>
                </a:solidFill>
                <a:latin typeface="Microsoft YaHei"/>
              </a:defRPr>
            </a:pPr>
            <a:r>
              <a:t>• 算力基准常数 [基准假设]：16K 重算 420ms，8K 后缀因果计算 220ms；</a:t>
            </a:r>
          </a:p>
          <a:p>
            <a:pPr>
              <a:lnSpc>
                <a:spcPct val="120000"/>
              </a:lnSpc>
              <a:spcAft>
                <a:spcPts val="300"/>
              </a:spcAft>
              <a:defRPr sz="1080">
                <a:solidFill>
                  <a:srgbClr val="0F172A"/>
                </a:solidFill>
                <a:latin typeface="Microsoft YaHei"/>
              </a:defRPr>
            </a:pPr>
            <a:r>
              <a:t>• 纯算力节省空间 [推导值]：ΔT_comp = 420ms − 220ms = 200ms；</a:t>
            </a:r>
          </a:p>
          <a:p>
            <a:pPr>
              <a:lnSpc>
                <a:spcPct val="120000"/>
              </a:lnSpc>
              <a:spcAft>
                <a:spcPts val="300"/>
              </a:spcAft>
              <a:defRPr sz="1080">
                <a:solidFill>
                  <a:srgbClr val="0F172A"/>
                </a:solidFill>
                <a:latin typeface="Microsoft YaHei"/>
              </a:defRPr>
            </a:pPr>
            <a:r>
              <a:t>• 物理搬运瓶颈 [推导值]：串行拉取 320MB 耗时 24ms (吞噬净收益)。</a:t>
            </a:r>
          </a:p>
        </p:txBody>
      </p:sp>
      <p:sp>
        <p:nvSpPr>
          <p:cNvPr id="27" name="Rounded Rectangle 26"/>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376672"/>
            <a:ext cx="10698480" cy="475488"/>
          </a:xfrm>
          <a:prstGeom prst="rect">
            <a:avLst/>
          </a:prstGeom>
          <a:noFill/>
        </p:spPr>
        <p:txBody>
          <a:bodyPr wrap="none">
            <a:spAutoFit/>
          </a:bodyPr>
          <a:lstStyle/>
          <a:p>
            <a:pPr>
              <a:defRPr sz="1120" b="1">
                <a:solidFill>
                  <a:srgbClr val="1D4ED8"/>
                </a:solidFill>
                <a:latin typeface="Microsoft YaHei"/>
              </a:defRPr>
            </a:pPr>
            <a:r>
              <a:t>关键路径推导 [模型]：TTFT = T_ctrl(0.50ms[目标]) + T_load(0.31ms[推导]) + T_sync(0.08ms[目标]) + T_suffix(220ms[假设]) = 220.89ms [推导值]</a:t>
            </a:r>
          </a:p>
        </p:txBody>
      </p:sp>
      <p:sp>
        <p:nvSpPr>
          <p:cNvPr id="29" name="Rounded Rectangle 28"/>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关键路径：</a:t>
            </a:r>
            <a:r>
              <a:rPr sz="1300">
                <a:solidFill>
                  <a:srgbClr val="0F172A"/>
                </a:solidFill>
                <a:latin typeface="Microsoft YaHei"/>
              </a:rPr>
              <a:t>220.89ms 为模型推导值，非硬件实测；核心价值在于通过流水消除暴露的传输时间。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控制面微秒化的真实价值：将有效收益门槛从 850 降至 20 Tokens</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阿姆达尔定律限定查询直接贡献仅 0.004%，真正价值在于消除排队与扩大收益覆盖</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05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059375" cy="3931920"/>
          </a:xfrm>
          <a:prstGeom prst="rect">
            <a:avLst/>
          </a:prstGeom>
          <a:noFill/>
        </p:spPr>
        <p:txBody>
          <a:bodyPr wrap="square">
            <a:spAutoFit/>
          </a:bodyPr>
          <a:lstStyle/>
          <a:p>
            <a:pPr>
              <a:spcAft>
                <a:spcPts val="800"/>
              </a:spcAft>
              <a:defRPr sz="1550" b="1">
                <a:solidFill>
                  <a:srgbClr val="1E3A8A"/>
                </a:solidFill>
                <a:latin typeface="Microsoft YaHei"/>
              </a:defRPr>
            </a:pPr>
            <a:r>
              <a:t>客观面对 18µs 查询贡献：阿姆达尔定律严格核算</a:t>
            </a:r>
          </a:p>
          <a:p>
            <a:pPr>
              <a:lnSpc>
                <a:spcPct val="122000"/>
              </a:lnSpc>
              <a:spcAft>
                <a:spcPts val="400"/>
              </a:spcAft>
              <a:defRPr sz="1160" b="1">
                <a:solidFill>
                  <a:srgbClr val="0F172A"/>
                </a:solidFill>
                <a:latin typeface="Microsoft YaHei"/>
              </a:defRPr>
            </a:pPr>
            <a:r>
              <a:t>评委质询：底层 URMA 仅比 RDMA 快 10µs，如何支撑整机 TTFT 降 20%？</a:t>
            </a:r>
          </a:p>
          <a:p>
            <a:pPr>
              <a:lnSpc>
                <a:spcPct val="122000"/>
              </a:lnSpc>
              <a:spcAft>
                <a:spcPts val="400"/>
              </a:spcAft>
              <a:defRPr sz="1160" b="0">
                <a:solidFill>
                  <a:srgbClr val="0F172A"/>
                </a:solidFill>
                <a:latin typeface="Microsoft YaHei"/>
              </a:defRPr>
            </a:pPr>
            <a:r>
              <a:t>实测数据与假设对账 (16K 前缀查询)：</a:t>
            </a:r>
          </a:p>
          <a:p>
            <a:pPr>
              <a:lnSpc>
                <a:spcPct val="122000"/>
              </a:lnSpc>
              <a:spcAft>
                <a:spcPts val="400"/>
              </a:spcAft>
              <a:defRPr sz="1160" b="0">
                <a:solidFill>
                  <a:srgbClr val="0F172A"/>
                </a:solidFill>
                <a:latin typeface="Microsoft YaHei"/>
              </a:defRPr>
            </a:pPr>
            <a:r>
              <a:t>  • 协议耗时 [实测微基准]：TCP 163µs，RDMA 28µs，URMA 18µs (较 RDMA 降低 35.7%)；</a:t>
            </a:r>
          </a:p>
          <a:p>
            <a:pPr>
              <a:lnSpc>
                <a:spcPct val="122000"/>
              </a:lnSpc>
              <a:spcAft>
                <a:spcPts val="400"/>
              </a:spcAft>
              <a:defRPr sz="1160" b="0">
                <a:solidFill>
                  <a:srgbClr val="0F172A"/>
                </a:solidFill>
                <a:latin typeface="Microsoft YaHei"/>
              </a:defRPr>
            </a:pPr>
            <a:r>
              <a:t>  • 占比基准 [假设场景]：250ms TTFT 中，28µs 查询仅占 0.0112% (万分之1.12)；</a:t>
            </a:r>
          </a:p>
          <a:p>
            <a:pPr>
              <a:lnSpc>
                <a:spcPct val="122000"/>
              </a:lnSpc>
              <a:spcAft>
                <a:spcPts val="400"/>
              </a:spcAft>
              <a:defRPr sz="1160" b="0">
                <a:solidFill>
                  <a:srgbClr val="DC2626"/>
                </a:solidFill>
                <a:latin typeface="Microsoft YaHei"/>
              </a:defRPr>
            </a:pPr>
            <a:r>
              <a:t>  • 端到端直接贡献 [推导值]：0.0112% × 35.7% = 0.0040% (缩短 0.01ms)；</a:t>
            </a:r>
          </a:p>
          <a:p>
            <a:pPr>
              <a:lnSpc>
                <a:spcPct val="122000"/>
              </a:lnSpc>
              <a:spcAft>
                <a:spcPts val="400"/>
              </a:spcAft>
              <a:defRPr sz="1160" b="0">
                <a:solidFill>
                  <a:srgbClr val="0F172A"/>
                </a:solidFill>
                <a:latin typeface="Microsoft YaHei"/>
              </a:defRPr>
            </a:pPr>
            <a:r>
              <a:t>  • 理论反推 [数学推导]：若单靠查询提速 20%，查询在总耗时中需占比 50% 以上；</a:t>
            </a:r>
          </a:p>
          <a:p>
            <a:pPr>
              <a:lnSpc>
                <a:spcPct val="122000"/>
              </a:lnSpc>
              <a:spcAft>
                <a:spcPts val="400"/>
              </a:spcAft>
              <a:defRPr sz="1160" b="1">
                <a:solidFill>
                  <a:srgbClr val="DC2626"/>
                </a:solidFill>
                <a:latin typeface="Microsoft YaHei"/>
              </a:defRPr>
            </a:pPr>
            <a:r>
              <a:t>客观结论：单靠查询加速绝不可能带来 20% 整机改善，立项价值必须建立在数据搬运与流控突破上。</a:t>
            </a:r>
          </a:p>
        </p:txBody>
      </p:sp>
      <p:sp>
        <p:nvSpPr>
          <p:cNvPr id="8" name="Rounded Rectangle 7"/>
          <p:cNvSpPr/>
          <p:nvPr/>
        </p:nvSpPr>
        <p:spPr>
          <a:xfrm>
            <a:off x="6217920" y="1115568"/>
            <a:ext cx="542513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5059375" cy="3931920"/>
          </a:xfrm>
          <a:prstGeom prst="rect">
            <a:avLst/>
          </a:prstGeom>
          <a:noFill/>
        </p:spPr>
        <p:txBody>
          <a:bodyPr wrap="square">
            <a:spAutoFit/>
          </a:bodyPr>
          <a:lstStyle/>
          <a:p>
            <a:pPr>
              <a:spcAft>
                <a:spcPts val="800"/>
              </a:spcAft>
              <a:defRPr sz="1550" b="1">
                <a:solidFill>
                  <a:srgbClr val="1D4ED8"/>
                </a:solidFill>
                <a:latin typeface="Microsoft YaHei"/>
              </a:defRPr>
            </a:pPr>
            <a:r>
              <a:t>微秒控制面的真正价值：将盈亏门槛降至 20 Tokens</a:t>
            </a:r>
          </a:p>
          <a:p>
            <a:pPr>
              <a:lnSpc>
                <a:spcPct val="122000"/>
              </a:lnSpc>
              <a:defRPr sz="1160" b="0">
                <a:solidFill>
                  <a:srgbClr val="0F172A"/>
                </a:solidFill>
                <a:latin typeface="Microsoft YaHei"/>
              </a:defRPr>
            </a:pPr>
            <a:r>
              <a:t>盈亏平衡准则：算力节省 &gt; 控制与拉取开销时，缓存复用才具备净收益。</a:t>
            </a:r>
          </a:p>
          <a:p>
            <a:pPr>
              <a:lnSpc>
                <a:spcPct val="122000"/>
              </a:lnSpc>
              <a:defRPr sz="1160" b="1">
                <a:solidFill>
                  <a:srgbClr val="0F172A"/>
                </a:solidFill>
                <a:latin typeface="Microsoft YaHei"/>
              </a:defRPr>
            </a:pPr>
            <a:r>
              <a:t>开源通用缓存方案缺陷 [估算基准]：</a:t>
            </a:r>
          </a:p>
          <a:p>
            <a:pPr>
              <a:lnSpc>
                <a:spcPct val="122000"/>
              </a:lnSpc>
              <a:defRPr sz="1160" b="0">
                <a:solidFill>
                  <a:srgbClr val="0F172A"/>
                </a:solidFill>
                <a:latin typeface="Microsoft YaHei"/>
              </a:defRPr>
            </a:pPr>
            <a:r>
              <a:t>  • 控制面开销 [估算假设]：TCP 查询 12.5ms + CPU 序列化 8.5ms = 21.0ms；</a:t>
            </a:r>
          </a:p>
          <a:p>
            <a:pPr>
              <a:lnSpc>
                <a:spcPct val="122000"/>
              </a:lnSpc>
              <a:defRPr sz="1160" b="0">
                <a:solidFill>
                  <a:srgbClr val="0F172A"/>
                </a:solidFill>
                <a:latin typeface="Microsoft YaHei"/>
              </a:defRPr>
            </a:pPr>
            <a:r>
              <a:t>  • 盈亏门槛 [推导值]：命中前缀须超 850 Tokens 才能弥补开销；</a:t>
            </a:r>
          </a:p>
          <a:p>
            <a:pPr>
              <a:lnSpc>
                <a:spcPct val="122000"/>
              </a:lnSpc>
              <a:defRPr sz="1160" b="0">
                <a:solidFill>
                  <a:srgbClr val="0F172A"/>
                </a:solidFill>
                <a:latin typeface="Microsoft YaHei"/>
              </a:defRPr>
            </a:pPr>
            <a:r>
              <a:t>  • 业务后果：在多轮首轮或短提示词下，强行拉取比直接重算更慢。</a:t>
            </a:r>
          </a:p>
          <a:p>
            <a:pPr>
              <a:lnSpc>
                <a:spcPct val="122000"/>
              </a:lnSpc>
              <a:defRPr sz="1160" b="1">
                <a:solidFill>
                  <a:srgbClr val="0F172A"/>
                </a:solidFill>
                <a:latin typeface="Microsoft YaHei"/>
              </a:defRPr>
            </a:pPr>
            <a:r>
              <a:t>自研 KVC 微秒控制面破局 [目标与推导]：</a:t>
            </a:r>
          </a:p>
          <a:p>
            <a:pPr>
              <a:lnSpc>
                <a:spcPct val="122000"/>
              </a:lnSpc>
              <a:defRPr sz="1160" b="0">
                <a:solidFill>
                  <a:srgbClr val="0F172A"/>
                </a:solidFill>
                <a:latin typeface="Microsoft YaHei"/>
              </a:defRPr>
            </a:pPr>
            <a:r>
              <a:t>  • 控制面开销 [设计目标]：URMA 18µs 查询 + 64B POD 描述符编译 ≈ 0.22~0.50ms；</a:t>
            </a:r>
          </a:p>
          <a:p>
            <a:pPr>
              <a:lnSpc>
                <a:spcPct val="122000"/>
              </a:lnSpc>
              <a:defRPr sz="1160" b="0">
                <a:solidFill>
                  <a:srgbClr val="1E3A8A"/>
                </a:solidFill>
                <a:latin typeface="Microsoft YaHei"/>
              </a:defRPr>
            </a:pPr>
            <a:r>
              <a:t>  • 盈亏门槛 [模型推导]：最小收益门槛大幅降低至 9~20 Tokens；</a:t>
            </a:r>
          </a:p>
          <a:p>
            <a:pPr>
              <a:lnSpc>
                <a:spcPct val="122000"/>
              </a:lnSpc>
              <a:defRPr sz="1160" b="1">
                <a:solidFill>
                  <a:srgbClr val="1E3A8A"/>
                </a:solidFill>
                <a:latin typeface="Microsoft YaHei"/>
              </a:defRPr>
            </a:pPr>
            <a:r>
              <a:t>工程价值 [模型推导]：将能够获得确定性加速的业务场景覆盖范围扩大 40 倍以上。</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控制面价值：微秒控制面的核心价值不是省下 10µs，而是消除 CPU 序列化，把缓存加速的业务门槛从 850 Tokens 降低至 20 Tokens。</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控制面价值：</a:t>
            </a:r>
            <a:r>
              <a:rPr sz="1300">
                <a:solidFill>
                  <a:srgbClr val="0F172A"/>
                </a:solidFill>
                <a:latin typeface="Microsoft YaHei"/>
              </a:rPr>
              <a:t>查询实测 18µs 对 TTFT 直接贡献微小，推导证实核心价值是将收益门槛拓宽 40 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数据加载延迟物理消除：80 层逐层边算边传流水</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利用前向推理因果依赖，将 320MB 传输时间 98.7% 掩盖在计算气泡中</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06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059375" cy="3931920"/>
          </a:xfrm>
          <a:prstGeom prst="rect">
            <a:avLst/>
          </a:prstGeom>
          <a:noFill/>
        </p:spPr>
        <p:txBody>
          <a:bodyPr wrap="square">
            <a:spAutoFit/>
          </a:bodyPr>
          <a:lstStyle/>
          <a:p>
            <a:pPr>
              <a:spcAft>
                <a:spcPts val="800"/>
              </a:spcAft>
              <a:defRPr sz="1550" b="1">
                <a:solidFill>
                  <a:srgbClr val="1E3A8A"/>
                </a:solidFill>
                <a:latin typeface="Microsoft YaHei"/>
              </a:defRPr>
            </a:pPr>
            <a:r>
              <a:t>模型参数与逐层流水掩盖推导 [物理模型]</a:t>
            </a:r>
          </a:p>
          <a:p>
            <a:pPr>
              <a:lnSpc>
                <a:spcPct val="118000"/>
              </a:lnSpc>
              <a:spcAft>
                <a:spcPts val="200"/>
              </a:spcAft>
              <a:defRPr sz="1060" b="0">
                <a:solidFill>
                  <a:srgbClr val="0F172A"/>
                </a:solidFill>
                <a:latin typeface="Microsoft YaHei"/>
              </a:defRPr>
            </a:pPr>
            <a:r>
              <a:t>模型物理拆解 [物理常数]：70B 模型共 80 层，单卡 320MB 对应每层 4MB；</a:t>
            </a:r>
          </a:p>
          <a:p>
            <a:pPr>
              <a:lnSpc>
                <a:spcPct val="118000"/>
              </a:lnSpc>
              <a:spcAft>
                <a:spcPts val="200"/>
              </a:spcAft>
              <a:defRPr sz="1060" b="0">
                <a:solidFill>
                  <a:srgbClr val="0F172A"/>
                </a:solidFill>
                <a:latin typeface="Microsoft YaHei"/>
              </a:defRPr>
            </a:pPr>
            <a:r>
              <a:t>单层计算与传输耗时对比 [模型推导]：</a:t>
            </a:r>
          </a:p>
          <a:p>
            <a:pPr>
              <a:lnSpc>
                <a:spcPct val="118000"/>
              </a:lnSpc>
              <a:spcAft>
                <a:spcPts val="200"/>
              </a:spcAft>
              <a:defRPr sz="1060" b="0">
                <a:solidFill>
                  <a:srgbClr val="0F172A"/>
                </a:solidFill>
                <a:latin typeface="Microsoft YaHei"/>
              </a:defRPr>
            </a:pPr>
            <a:r>
              <a:t>  • 单层增量计算耗时 [基准推导]：c = 220.0ms / 80 = 2.75ms；</a:t>
            </a:r>
          </a:p>
          <a:p>
            <a:pPr>
              <a:lnSpc>
                <a:spcPct val="118000"/>
              </a:lnSpc>
              <a:spcAft>
                <a:spcPts val="200"/>
              </a:spcAft>
              <a:defRPr sz="1060" b="0">
                <a:solidFill>
                  <a:srgbClr val="0F172A"/>
                </a:solidFill>
                <a:latin typeface="Microsoft YaHei"/>
              </a:defRPr>
            </a:pPr>
            <a:r>
              <a:t>  • 单层 4MB 传输 [推导]：x = 4MB / 20GB/s = 0.20ms (调度 ≤ 0.31ms)；</a:t>
            </a:r>
          </a:p>
          <a:p>
            <a:pPr>
              <a:lnSpc>
                <a:spcPct val="118000"/>
              </a:lnSpc>
              <a:spcAft>
                <a:spcPts val="200"/>
              </a:spcAft>
              <a:defRPr sz="1060" b="1">
                <a:solidFill>
                  <a:srgbClr val="0F172A"/>
                </a:solidFill>
                <a:latin typeface="Microsoft YaHei"/>
              </a:defRPr>
            </a:pPr>
            <a:r>
              <a:t>体系结构特性 [物理分析]：单层计算 (2.75ms) 是传输 (0.31ms) 近 9 倍；</a:t>
            </a:r>
          </a:p>
          <a:p>
            <a:pPr>
              <a:lnSpc>
                <a:spcPct val="118000"/>
              </a:lnSpc>
              <a:spcAft>
                <a:spcPts val="200"/>
              </a:spcAft>
              <a:defRPr sz="1060" b="0">
                <a:solidFill>
                  <a:srgbClr val="0F172A"/>
                </a:solidFill>
                <a:latin typeface="Microsoft YaHei"/>
              </a:defRPr>
            </a:pPr>
            <a:r>
              <a:t>关键路径暴露耗时对比 [模型推导]：</a:t>
            </a:r>
          </a:p>
          <a:p>
            <a:pPr>
              <a:lnSpc>
                <a:spcPct val="118000"/>
              </a:lnSpc>
              <a:spcAft>
                <a:spcPts val="200"/>
              </a:spcAft>
              <a:defRPr sz="1060" b="0">
                <a:solidFill>
                  <a:srgbClr val="0F172A"/>
                </a:solidFill>
                <a:latin typeface="Microsoft YaHei"/>
              </a:defRPr>
            </a:pPr>
            <a:r>
              <a:t>  • 串行拉取暴露耗时 [推导值]：80 × 0.31 ms = 24.80 ms；</a:t>
            </a:r>
          </a:p>
          <a:p>
            <a:pPr>
              <a:lnSpc>
                <a:spcPct val="118000"/>
              </a:lnSpc>
              <a:spcAft>
                <a:spcPts val="200"/>
              </a:spcAft>
              <a:defRPr sz="1060" b="0">
                <a:solidFill>
                  <a:srgbClr val="0F172A"/>
                </a:solidFill>
                <a:latin typeface="Microsoft YaHei"/>
              </a:defRPr>
            </a:pPr>
            <a:r>
              <a:t>  • 逐层流水暴露耗时 [推导值]：仅暴露首层启动传输耗时 x_0 = 0.31ms；</a:t>
            </a:r>
          </a:p>
          <a:p>
            <a:pPr>
              <a:lnSpc>
                <a:spcPct val="118000"/>
              </a:lnSpc>
              <a:spcAft>
                <a:spcPts val="200"/>
              </a:spcAft>
              <a:defRPr sz="1060" b="1">
                <a:solidFill>
                  <a:srgbClr val="1E3A8A"/>
                </a:solidFill>
                <a:latin typeface="Microsoft YaHei"/>
              </a:defRPr>
            </a:pPr>
            <a:r>
              <a:t>物理消除幅度 [推导值]：流水线掩盖 98.7% 传输耗时，单卡净省 24.49 ms。</a:t>
            </a:r>
          </a:p>
        </p:txBody>
      </p:sp>
      <p:sp>
        <p:nvSpPr>
          <p:cNvPr id="8" name="Rounded Rectangle 7"/>
          <p:cNvSpPr/>
          <p:nvPr/>
        </p:nvSpPr>
        <p:spPr>
          <a:xfrm>
            <a:off x="6217920" y="1115568"/>
            <a:ext cx="542513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5059375" cy="3931920"/>
          </a:xfrm>
          <a:prstGeom prst="rect">
            <a:avLst/>
          </a:prstGeom>
          <a:noFill/>
        </p:spPr>
        <p:txBody>
          <a:bodyPr wrap="square">
            <a:spAutoFit/>
          </a:bodyPr>
          <a:lstStyle/>
          <a:p>
            <a:pPr>
              <a:spcAft>
                <a:spcPts val="800"/>
              </a:spcAft>
              <a:defRPr sz="1550" b="1">
                <a:solidFill>
                  <a:srgbClr val="1D4ED8"/>
                </a:solidFill>
                <a:latin typeface="Microsoft YaHei"/>
              </a:defRPr>
            </a:pPr>
            <a:r>
              <a:t>串行执行 vs 逐层流水时序执行对比</a:t>
            </a:r>
          </a:p>
          <a:p>
            <a:pPr>
              <a:spcBef>
                <a:spcPts val="400"/>
              </a:spcBef>
              <a:spcAft>
                <a:spcPts val="300"/>
              </a:spcAft>
              <a:defRPr sz="1250" b="1">
                <a:solidFill>
                  <a:srgbClr val="BE123C"/>
                </a:solidFill>
                <a:latin typeface="Microsoft YaHei"/>
              </a:defRPr>
            </a:pPr>
            <a:r>
              <a:t>模式 A：开源通用方案（全量串行拉取）</a:t>
            </a:r>
          </a:p>
          <a:p>
            <a:pPr>
              <a:lnSpc>
                <a:spcPct val="124000"/>
              </a:lnSpc>
              <a:spcAft>
                <a:spcPts val="600"/>
              </a:spcAft>
              <a:defRPr sz="1160">
                <a:solidFill>
                  <a:srgbClr val="0F172A"/>
                </a:solidFill>
                <a:latin typeface="Microsoft YaHei"/>
              </a:defRPr>
            </a:pPr>
            <a:r>
              <a:t>  • 执行时序：[全量正文传输 24.8ms] ➔ [全量增量计算 220.0ms]</a:t>
            </a:r>
            <a:br/>
            <a:r>
              <a:t>  • 弊端：数据未全部到达前算力空转，传输时间直接暴露在关键路径上。</a:t>
            </a:r>
          </a:p>
          <a:p>
            <a:pPr>
              <a:spcBef>
                <a:spcPts val="400"/>
              </a:spcBef>
              <a:spcAft>
                <a:spcPts val="300"/>
              </a:spcAft>
              <a:defRPr sz="1250" b="1">
                <a:solidFill>
                  <a:srgbClr val="047857"/>
                </a:solidFill>
                <a:latin typeface="Microsoft YaHei"/>
              </a:defRPr>
            </a:pPr>
            <a:r>
              <a:t>模式 B：自研 KVC 逐层流水（边算边传无缝重叠）</a:t>
            </a:r>
          </a:p>
          <a:p>
            <a:pPr>
              <a:lnSpc>
                <a:spcPct val="124000"/>
              </a:lnSpc>
              <a:defRPr sz="1160">
                <a:solidFill>
                  <a:srgbClr val="0F172A"/>
                </a:solidFill>
                <a:latin typeface="Microsoft YaHei"/>
              </a:defRPr>
            </a:pPr>
            <a:r>
              <a:t>  • Layer 0 传输 (0.31ms) ➔ 关键路径唯一暴露等待；</a:t>
            </a:r>
            <a:br/>
            <a:r>
              <a:t>  • Layer 0 计算 (2.75ms) 同时异步传输 Layer 1 (0.31ms) ➔ 完全掩盖；</a:t>
            </a:r>
            <a:br/>
            <a:r>
              <a:t>  • 逐层流水接力推进，计算 Layer 79 时首字生成，暴露传输仅 0.31ms。</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物理结论：大模型因果依赖提供了天然的流水契机；自研软件将 320MB 传输暴露时间从 24.8ms 压缩至 0.31ms，净省 24.5ms。</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流水收益：</a:t>
            </a:r>
            <a:r>
              <a:rPr sz="1300">
                <a:solidFill>
                  <a:srgbClr val="0F172A"/>
                </a:solidFill>
                <a:latin typeface="Microsoft YaHei"/>
              </a:rPr>
              <a:t>掩盖 98.7% 传输时间为理想流水模型推导值，真实流水重叠率待 E1 (PVT-02) 实测收敛。</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端到端 TTFT 严格对账：与同样支持复用的开源基线同台对比</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全量数值分类溯源：[实测微基准] | [模型假设值] | [物理推导值] | [验收目标值]，拒绝将推导包装为实测</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07 / 18</a:t>
            </a:r>
          </a:p>
        </p:txBody>
      </p:sp>
      <p:graphicFrame>
        <p:nvGraphicFramePr>
          <p:cNvPr id="6" name="Table 5"/>
          <p:cNvGraphicFramePr>
            <a:graphicFrameLocks noGrp="1"/>
          </p:cNvGraphicFramePr>
          <p:nvPr/>
        </p:nvGraphicFramePr>
        <p:xfrm>
          <a:off x="548640" y="1078992"/>
          <a:ext cx="11094415" cy="3401568"/>
        </p:xfrm>
        <a:graphic>
          <a:graphicData uri="http://schemas.openxmlformats.org/drawingml/2006/table">
            <a:tbl>
              <a:tblPr firstRow="1" bandRow="1">
                <a:tableStyleId>{5C22544A-7EE6-4342-B048-85BDC9FD1C3A}</a:tableStyleId>
              </a:tblPr>
              <a:tblGrid>
                <a:gridCol w="1417320"/>
                <a:gridCol w="1645920"/>
                <a:gridCol w="2148840"/>
                <a:gridCol w="2194560"/>
                <a:gridCol w="3687775"/>
              </a:tblGrid>
              <a:tr h="377952">
                <a:tc>
                  <a:txBody>
                    <a:bodyPr/>
                    <a:lstStyle/>
                    <a:p>
                      <a:pPr algn="ctr">
                        <a:defRPr sz="1150" b="1">
                          <a:solidFill>
                            <a:srgbClr val="FFFFFF"/>
                          </a:solidFill>
                          <a:latin typeface="Microsoft YaHei"/>
                        </a:defRPr>
                      </a:pPr>
                      <a:r>
                        <a:t>执行阶段与耗时拆解</a:t>
                      </a:r>
                    </a:p>
                  </a:txBody>
                  <a:tcPr anchor="ctr" marT="31750" marB="31750" marL="50800" marR="50800">
                    <a:solidFill>
                      <a:srgbClr val="1E3A8A"/>
                    </a:solidFill>
                  </a:tcPr>
                </a:tc>
                <a:tc>
                  <a:txBody>
                    <a:bodyPr/>
                    <a:lstStyle/>
                    <a:p>
                      <a:pPr algn="ctr">
                        <a:defRPr sz="1150" b="1">
                          <a:solidFill>
                            <a:srgbClr val="FFFFFF"/>
                          </a:solidFill>
                          <a:latin typeface="Microsoft YaHei"/>
                        </a:defRPr>
                      </a:pPr>
                      <a:r>
                        <a:t>① 本地重算 [基准假设]</a:t>
                      </a:r>
                    </a:p>
                  </a:txBody>
                  <a:tcPr anchor="ctr" marT="31750" marB="31750" marL="50800" marR="50800">
                    <a:solidFill>
                      <a:srgbClr val="1E3A8A"/>
                    </a:solidFill>
                  </a:tcPr>
                </a:tc>
                <a:tc>
                  <a:txBody>
                    <a:bodyPr/>
                    <a:lstStyle/>
                    <a:p>
                      <a:pPr algn="ctr">
                        <a:defRPr sz="1150" b="1">
                          <a:solidFill>
                            <a:srgbClr val="FFFFFF"/>
                          </a:solidFill>
                          <a:latin typeface="Microsoft YaHei"/>
                        </a:defRPr>
                      </a:pPr>
                      <a:r>
                        <a:t>② 通用开源基线 [测算估算]</a:t>
                      </a:r>
                    </a:p>
                  </a:txBody>
                  <a:tcPr anchor="ctr" marT="31750" marB="31750" marL="50800" marR="50800">
                    <a:solidFill>
                      <a:srgbClr val="1E3A8A"/>
                    </a:solidFill>
                  </a:tcPr>
                </a:tc>
                <a:tc>
                  <a:txBody>
                    <a:bodyPr/>
                    <a:lstStyle/>
                    <a:p>
                      <a:pPr algn="ctr">
                        <a:defRPr sz="1150" b="1">
                          <a:solidFill>
                            <a:srgbClr val="FFFFFF"/>
                          </a:solidFill>
                          <a:latin typeface="Microsoft YaHei"/>
                        </a:defRPr>
                      </a:pPr>
                      <a:r>
                        <a:t>③ 自研软件协同 [模型推导]</a:t>
                      </a:r>
                    </a:p>
                  </a:txBody>
                  <a:tcPr anchor="ctr" marT="31750" marB="31750" marL="50800" marR="50800">
                    <a:solidFill>
                      <a:srgbClr val="1E3A8A"/>
                    </a:solidFill>
                  </a:tcPr>
                </a:tc>
                <a:tc>
                  <a:txBody>
                    <a:bodyPr/>
                    <a:lstStyle/>
                    <a:p>
                      <a:pPr algn="ctr">
                        <a:defRPr sz="1150" b="1">
                          <a:solidFill>
                            <a:srgbClr val="FFFFFF"/>
                          </a:solidFill>
                          <a:latin typeface="Microsoft YaHei"/>
                        </a:defRPr>
                      </a:pPr>
                      <a:r>
                        <a:t>自研增量物理归因与性质 [数据分类]</a:t>
                      </a:r>
                    </a:p>
                  </a:txBody>
                  <a:tcPr anchor="ctr" marT="31750" marB="31750" marL="50800" marR="50800">
                    <a:solidFill>
                      <a:srgbClr val="1E3A8A"/>
                    </a:solidFill>
                  </a:tcPr>
                </a:tc>
              </a:tr>
              <a:tr h="377952">
                <a:tc>
                  <a:txBody>
                    <a:bodyPr/>
                    <a:lstStyle/>
                    <a:p>
                      <a:pPr algn="ctr">
                        <a:defRPr sz="1000" b="1">
                          <a:solidFill>
                            <a:srgbClr val="0F172A"/>
                          </a:solidFill>
                          <a:latin typeface="Microsoft YaHei"/>
                        </a:defRPr>
                      </a:pPr>
                      <a:r>
                        <a:t>入口排队与决策控制</a:t>
                      </a:r>
                    </a:p>
                  </a:txBody>
                  <a:tcPr anchor="ctr" marT="25400" marB="25400" marL="50800" marR="50800">
                    <a:solidFill>
                      <a:srgbClr val="FFFFFF"/>
                    </a:solidFill>
                  </a:tcPr>
                </a:tc>
                <a:tc>
                  <a:txBody>
                    <a:bodyPr/>
                    <a:lstStyle/>
                    <a:p>
                      <a:pPr algn="l">
                        <a:defRPr sz="1000">
                          <a:solidFill>
                            <a:srgbClr val="0F172A"/>
                          </a:solidFill>
                          <a:latin typeface="Microsoft YaHei"/>
                        </a:defRPr>
                      </a:pPr>
                      <a:r>
                        <a:t>0.50 ms [假设]</a:t>
                      </a:r>
                    </a:p>
                  </a:txBody>
                  <a:tcPr anchor="ctr" marT="25400" marB="25400" marL="50800" marR="50800">
                    <a:solidFill>
                      <a:srgbClr val="FFFFFF"/>
                    </a:solidFill>
                  </a:tcPr>
                </a:tc>
                <a:tc>
                  <a:txBody>
                    <a:bodyPr/>
                    <a:lstStyle/>
                    <a:p>
                      <a:pPr algn="l">
                        <a:defRPr sz="1000">
                          <a:solidFill>
                            <a:srgbClr val="0F172A"/>
                          </a:solidFill>
                          <a:latin typeface="Microsoft YaHei"/>
                        </a:defRPr>
                      </a:pPr>
                      <a:r>
                        <a:t>21.00 ms [估算] (TCP 12.5+CPU 8.5ms)</a:t>
                      </a:r>
                    </a:p>
                  </a:txBody>
                  <a:tcPr anchor="ctr" marT="25400" marB="25400" marL="50800" marR="50800">
                    <a:solidFill>
                      <a:srgbClr val="FFFFFF"/>
                    </a:solidFill>
                  </a:tcPr>
                </a:tc>
                <a:tc>
                  <a:txBody>
                    <a:bodyPr/>
                    <a:lstStyle/>
                    <a:p>
                      <a:pPr algn="l">
                        <a:defRPr sz="1000">
                          <a:solidFill>
                            <a:srgbClr val="0F172A"/>
                          </a:solidFill>
                          <a:latin typeface="Microsoft YaHei"/>
                        </a:defRPr>
                      </a:pPr>
                      <a:r>
                        <a:t>0.50 ms [推导] (含 18µs 实测)</a:t>
                      </a:r>
                    </a:p>
                  </a:txBody>
                  <a:tcPr anchor="ctr" marT="25400" marB="25400" marL="50800" marR="50800">
                    <a:solidFill>
                      <a:srgbClr val="FFFFFF"/>
                    </a:solidFill>
                  </a:tcPr>
                </a:tc>
                <a:tc>
                  <a:txBody>
                    <a:bodyPr/>
                    <a:lstStyle/>
                    <a:p>
                      <a:pPr algn="l">
                        <a:defRPr sz="1000">
                          <a:solidFill>
                            <a:srgbClr val="0F172A"/>
                          </a:solidFill>
                          <a:latin typeface="Microsoft YaHei"/>
                        </a:defRPr>
                      </a:pPr>
                      <a:r>
                        <a:t>消除 CPU 拷贝与协议栈开销，缩短 20.5 ms [推导值]</a:t>
                      </a:r>
                    </a:p>
                  </a:txBody>
                  <a:tcPr anchor="ctr" marT="25400" marB="25400" marL="50800" marR="50800">
                    <a:solidFill>
                      <a:srgbClr val="FFFFFF"/>
                    </a:solidFill>
                  </a:tcPr>
                </a:tc>
              </a:tr>
              <a:tr h="377952">
                <a:tc>
                  <a:txBody>
                    <a:bodyPr/>
                    <a:lstStyle/>
                    <a:p>
                      <a:pPr algn="ctr">
                        <a:defRPr sz="1000" b="1">
                          <a:solidFill>
                            <a:srgbClr val="0F172A"/>
                          </a:solidFill>
                          <a:latin typeface="Microsoft YaHei"/>
                        </a:defRPr>
                      </a:pPr>
                      <a:r>
                        <a:t>暴露正文数据传输</a:t>
                      </a:r>
                    </a:p>
                  </a:txBody>
                  <a:tcPr anchor="ctr" marT="25400" marB="25400" marL="50800" marR="50800">
                    <a:solidFill>
                      <a:srgbClr val="EFF6FF"/>
                    </a:solidFill>
                  </a:tcPr>
                </a:tc>
                <a:tc>
                  <a:txBody>
                    <a:bodyPr/>
                    <a:lstStyle/>
                    <a:p>
                      <a:pPr algn="l">
                        <a:defRPr sz="1000">
                          <a:solidFill>
                            <a:srgbClr val="0F172A"/>
                          </a:solidFill>
                          <a:latin typeface="Microsoft YaHei"/>
                        </a:defRPr>
                      </a:pPr>
                      <a:r>
                        <a:t>0.00 ms [基准]</a:t>
                      </a:r>
                    </a:p>
                  </a:txBody>
                  <a:tcPr anchor="ctr" marT="25400" marB="25400" marL="50800" marR="50800">
                    <a:solidFill>
                      <a:srgbClr val="EFF6FF"/>
                    </a:solidFill>
                  </a:tcPr>
                </a:tc>
                <a:tc>
                  <a:txBody>
                    <a:bodyPr/>
                    <a:lstStyle/>
                    <a:p>
                      <a:pPr algn="l">
                        <a:defRPr sz="1000">
                          <a:solidFill>
                            <a:srgbClr val="0F172A"/>
                          </a:solidFill>
                          <a:latin typeface="Microsoft YaHei"/>
                        </a:defRPr>
                      </a:pPr>
                      <a:r>
                        <a:t>24.80 ms [推导] (串行拉取 320MB)</a:t>
                      </a:r>
                    </a:p>
                  </a:txBody>
                  <a:tcPr anchor="ctr" marT="25400" marB="25400" marL="50800" marR="50800">
                    <a:solidFill>
                      <a:srgbClr val="EFF6FF"/>
                    </a:solidFill>
                  </a:tcPr>
                </a:tc>
                <a:tc>
                  <a:txBody>
                    <a:bodyPr/>
                    <a:lstStyle/>
                    <a:p>
                      <a:pPr algn="l">
                        <a:defRPr sz="1000">
                          <a:solidFill>
                            <a:srgbClr val="0F172A"/>
                          </a:solidFill>
                          <a:latin typeface="Microsoft YaHei"/>
                        </a:defRPr>
                      </a:pPr>
                      <a:r>
                        <a:t>0.31 ms [推导] (逐层流水仅暴露L0)</a:t>
                      </a:r>
                    </a:p>
                  </a:txBody>
                  <a:tcPr anchor="ctr" marT="25400" marB="25400" marL="50800" marR="50800">
                    <a:solidFill>
                      <a:srgbClr val="EFF6FF"/>
                    </a:solidFill>
                  </a:tcPr>
                </a:tc>
                <a:tc>
                  <a:txBody>
                    <a:bodyPr/>
                    <a:lstStyle/>
                    <a:p>
                      <a:pPr algn="l">
                        <a:defRPr sz="1000">
                          <a:solidFill>
                            <a:srgbClr val="0F172A"/>
                          </a:solidFill>
                          <a:latin typeface="Microsoft YaHei"/>
                        </a:defRPr>
                      </a:pPr>
                      <a:r>
                        <a:t>逐层流水掩盖 98.7% 传输耗时，净省 24.49 ms [推导值]</a:t>
                      </a:r>
                    </a:p>
                  </a:txBody>
                  <a:tcPr anchor="ctr" marT="25400" marB="25400" marL="50800" marR="50800">
                    <a:solidFill>
                      <a:srgbClr val="EFF6FF"/>
                    </a:solidFill>
                  </a:tcPr>
                </a:tc>
              </a:tr>
              <a:tr h="377952">
                <a:tc>
                  <a:txBody>
                    <a:bodyPr/>
                    <a:lstStyle/>
                    <a:p>
                      <a:pPr algn="ctr">
                        <a:defRPr sz="1000" b="1">
                          <a:solidFill>
                            <a:srgbClr val="0F172A"/>
                          </a:solidFill>
                          <a:latin typeface="Microsoft YaHei"/>
                        </a:defRPr>
                      </a:pPr>
                      <a:r>
                        <a:t>多卡状态协同开销</a:t>
                      </a:r>
                    </a:p>
                  </a:txBody>
                  <a:tcPr anchor="ctr" marT="25400" marB="25400" marL="50800" marR="50800">
                    <a:solidFill>
                      <a:srgbClr val="FFFFFF"/>
                    </a:solidFill>
                  </a:tcPr>
                </a:tc>
                <a:tc>
                  <a:txBody>
                    <a:bodyPr/>
                    <a:lstStyle/>
                    <a:p>
                      <a:pPr algn="l">
                        <a:defRPr sz="1000">
                          <a:solidFill>
                            <a:srgbClr val="0F172A"/>
                          </a:solidFill>
                          <a:latin typeface="Microsoft YaHei"/>
                        </a:defRPr>
                      </a:pPr>
                      <a:r>
                        <a:t>0.00 ms [基准]</a:t>
                      </a:r>
                    </a:p>
                  </a:txBody>
                  <a:tcPr anchor="ctr" marT="25400" marB="25400" marL="50800" marR="50800">
                    <a:solidFill>
                      <a:srgbClr val="FFFFFF"/>
                    </a:solidFill>
                  </a:tcPr>
                </a:tc>
                <a:tc>
                  <a:txBody>
                    <a:bodyPr/>
                    <a:lstStyle/>
                    <a:p>
                      <a:pPr algn="l">
                        <a:defRPr sz="1000">
                          <a:solidFill>
                            <a:srgbClr val="0F172A"/>
                          </a:solidFill>
                          <a:latin typeface="Microsoft YaHei"/>
                        </a:defRPr>
                      </a:pPr>
                      <a:r>
                        <a:t>6.20 ms [估算] (多卡偏斜等待)</a:t>
                      </a:r>
                    </a:p>
                  </a:txBody>
                  <a:tcPr anchor="ctr" marT="25400" marB="25400" marL="50800" marR="50800">
                    <a:solidFill>
                      <a:srgbClr val="FFFFFF"/>
                    </a:solidFill>
                  </a:tcPr>
                </a:tc>
                <a:tc>
                  <a:txBody>
                    <a:bodyPr/>
                    <a:lstStyle/>
                    <a:p>
                      <a:pPr algn="l">
                        <a:defRPr sz="1000">
                          <a:solidFill>
                            <a:srgbClr val="0F172A"/>
                          </a:solidFill>
                          <a:latin typeface="Microsoft YaHei"/>
                        </a:defRPr>
                      </a:pPr>
                      <a:r>
                        <a:t>0.08 ms [推导] (TP=8 原子 Doorbell)</a:t>
                      </a:r>
                    </a:p>
                  </a:txBody>
                  <a:tcPr anchor="ctr" marT="25400" marB="25400" marL="50800" marR="50800">
                    <a:solidFill>
                      <a:srgbClr val="FFFFFF"/>
                    </a:solidFill>
                  </a:tcPr>
                </a:tc>
                <a:tc>
                  <a:txBody>
                    <a:bodyPr/>
                    <a:lstStyle/>
                    <a:p>
                      <a:pPr algn="l">
                        <a:defRPr sz="1000">
                          <a:solidFill>
                            <a:srgbClr val="0F172A"/>
                          </a:solidFill>
                          <a:latin typeface="Microsoft YaHei"/>
                        </a:defRPr>
                      </a:pPr>
                      <a:r>
                        <a:t>消除多卡同步等待与木桶短板 [机制推导]</a:t>
                      </a:r>
                    </a:p>
                  </a:txBody>
                  <a:tcPr anchor="ctr" marT="25400" marB="25400" marL="50800" marR="50800">
                    <a:solidFill>
                      <a:srgbClr val="FFFFFF"/>
                    </a:solidFill>
                  </a:tcPr>
                </a:tc>
              </a:tr>
              <a:tr h="377952">
                <a:tc>
                  <a:txBody>
                    <a:bodyPr/>
                    <a:lstStyle/>
                    <a:p>
                      <a:pPr algn="ctr">
                        <a:defRPr sz="1000" b="1">
                          <a:solidFill>
                            <a:srgbClr val="0F172A"/>
                          </a:solidFill>
                          <a:latin typeface="Microsoft YaHei"/>
                        </a:defRPr>
                      </a:pPr>
                      <a:r>
                        <a:t>前缀加载暴露总等待</a:t>
                      </a:r>
                    </a:p>
                  </a:txBody>
                  <a:tcPr anchor="ctr" marT="25400" marB="25400" marL="50800" marR="50800">
                    <a:solidFill>
                      <a:srgbClr val="EFF6FF"/>
                    </a:solidFill>
                  </a:tcPr>
                </a:tc>
                <a:tc>
                  <a:txBody>
                    <a:bodyPr/>
                    <a:lstStyle/>
                    <a:p>
                      <a:pPr algn="l">
                        <a:defRPr sz="1000">
                          <a:solidFill>
                            <a:srgbClr val="0F172A"/>
                          </a:solidFill>
                          <a:latin typeface="Microsoft YaHei"/>
                        </a:defRPr>
                      </a:pPr>
                      <a:r>
                        <a:t>0.00 ms [基准]</a:t>
                      </a:r>
                    </a:p>
                  </a:txBody>
                  <a:tcPr anchor="ctr" marT="25400" marB="25400" marL="50800" marR="50800">
                    <a:solidFill>
                      <a:srgbClr val="EFF6FF"/>
                    </a:solidFill>
                  </a:tcPr>
                </a:tc>
                <a:tc>
                  <a:txBody>
                    <a:bodyPr/>
                    <a:lstStyle/>
                    <a:p>
                      <a:pPr algn="l">
                        <a:defRPr sz="1000">
                          <a:solidFill>
                            <a:srgbClr val="0F172A"/>
                          </a:solidFill>
                          <a:latin typeface="Microsoft YaHei"/>
                        </a:defRPr>
                      </a:pPr>
                      <a:r>
                        <a:t>52.00 ms [推导小计]</a:t>
                      </a:r>
                    </a:p>
                  </a:txBody>
                  <a:tcPr anchor="ctr" marT="25400" marB="25400" marL="50800" marR="50800">
                    <a:solidFill>
                      <a:srgbClr val="EFF6FF"/>
                    </a:solidFill>
                  </a:tcPr>
                </a:tc>
                <a:tc>
                  <a:txBody>
                    <a:bodyPr/>
                    <a:lstStyle/>
                    <a:p>
                      <a:pPr algn="l">
                        <a:defRPr sz="1000">
                          <a:solidFill>
                            <a:srgbClr val="0F172A"/>
                          </a:solidFill>
                          <a:latin typeface="Microsoft YaHei"/>
                        </a:defRPr>
                      </a:pPr>
                      <a:r>
                        <a:t>0.89 ms [推导小计]</a:t>
                      </a:r>
                    </a:p>
                  </a:txBody>
                  <a:tcPr anchor="ctr" marT="25400" marB="25400" marL="50800" marR="50800">
                    <a:solidFill>
                      <a:srgbClr val="EFF6FF"/>
                    </a:solidFill>
                  </a:tcPr>
                </a:tc>
                <a:tc>
                  <a:txBody>
                    <a:bodyPr/>
                    <a:lstStyle/>
                    <a:p>
                      <a:pPr algn="l">
                        <a:defRPr sz="1000">
                          <a:solidFill>
                            <a:srgbClr val="0F172A"/>
                          </a:solidFill>
                          <a:latin typeface="Microsoft YaHei"/>
                        </a:defRPr>
                      </a:pPr>
                      <a:r>
                        <a:t>暴露在关键路径上的等待由 52ms 骤降至 0.89ms [推导值]</a:t>
                      </a:r>
                    </a:p>
                  </a:txBody>
                  <a:tcPr anchor="ctr" marT="25400" marB="25400" marL="50800" marR="50800">
                    <a:solidFill>
                      <a:srgbClr val="EFF6FF"/>
                    </a:solidFill>
                  </a:tcPr>
                </a:tc>
              </a:tr>
              <a:tr h="377952">
                <a:tc>
                  <a:txBody>
                    <a:bodyPr/>
                    <a:lstStyle/>
                    <a:p>
                      <a:pPr algn="ctr">
                        <a:defRPr sz="1000" b="1">
                          <a:solidFill>
                            <a:srgbClr val="0F172A"/>
                          </a:solidFill>
                          <a:latin typeface="Microsoft YaHei"/>
                        </a:defRPr>
                      </a:pPr>
                      <a:r>
                        <a:t>后缀增量 Prefill 计算</a:t>
                      </a:r>
                    </a:p>
                  </a:txBody>
                  <a:tcPr anchor="ctr" marT="25400" marB="25400" marL="50800" marR="50800">
                    <a:solidFill>
                      <a:srgbClr val="FFFFFF"/>
                    </a:solidFill>
                  </a:tcPr>
                </a:tc>
                <a:tc>
                  <a:txBody>
                    <a:bodyPr/>
                    <a:lstStyle/>
                    <a:p>
                      <a:pPr algn="l">
                        <a:defRPr sz="1000">
                          <a:solidFill>
                            <a:srgbClr val="0F172A"/>
                          </a:solidFill>
                          <a:latin typeface="Microsoft YaHei"/>
                        </a:defRPr>
                      </a:pPr>
                      <a:r>
                        <a:t>220.00 ms [基准]</a:t>
                      </a:r>
                    </a:p>
                  </a:txBody>
                  <a:tcPr anchor="ctr" marT="25400" marB="25400" marL="50800" marR="50800">
                    <a:solidFill>
                      <a:srgbClr val="FFFFFF"/>
                    </a:solidFill>
                  </a:tcPr>
                </a:tc>
                <a:tc>
                  <a:txBody>
                    <a:bodyPr/>
                    <a:lstStyle/>
                    <a:p>
                      <a:pPr algn="l">
                        <a:defRPr sz="1000">
                          <a:solidFill>
                            <a:srgbClr val="0F172A"/>
                          </a:solidFill>
                          <a:latin typeface="Microsoft YaHei"/>
                        </a:defRPr>
                      </a:pPr>
                      <a:r>
                        <a:t>220.00 ms [基准]</a:t>
                      </a:r>
                    </a:p>
                  </a:txBody>
                  <a:tcPr anchor="ctr" marT="25400" marB="25400" marL="50800" marR="50800">
                    <a:solidFill>
                      <a:srgbClr val="FFFFFF"/>
                    </a:solidFill>
                  </a:tcPr>
                </a:tc>
                <a:tc>
                  <a:txBody>
                    <a:bodyPr/>
                    <a:lstStyle/>
                    <a:p>
                      <a:pPr algn="l">
                        <a:defRPr sz="1000">
                          <a:solidFill>
                            <a:srgbClr val="0F172A"/>
                          </a:solidFill>
                          <a:latin typeface="Microsoft YaHei"/>
                        </a:defRPr>
                      </a:pPr>
                      <a:r>
                        <a:t>220.00 ms [基准]</a:t>
                      </a:r>
                    </a:p>
                  </a:txBody>
                  <a:tcPr anchor="ctr" marT="25400" marB="25400" marL="50800" marR="50800">
                    <a:solidFill>
                      <a:srgbClr val="FFFFFF"/>
                    </a:solidFill>
                  </a:tcPr>
                </a:tc>
                <a:tc>
                  <a:txBody>
                    <a:bodyPr/>
                    <a:lstStyle/>
                    <a:p>
                      <a:pPr algn="l">
                        <a:defRPr sz="1000">
                          <a:solidFill>
                            <a:srgbClr val="0F172A"/>
                          </a:solidFill>
                          <a:latin typeface="Microsoft YaHei"/>
                        </a:defRPr>
                      </a:pPr>
                      <a:r>
                        <a:t>因果注意力计算，两套方案计算量完全等价 [物理常数]</a:t>
                      </a:r>
                    </a:p>
                  </a:txBody>
                  <a:tcPr anchor="ctr" marT="25400" marB="25400" marL="50800" marR="50800">
                    <a:solidFill>
                      <a:srgbClr val="FFFFFF"/>
                    </a:solidFill>
                  </a:tcPr>
                </a:tc>
              </a:tr>
              <a:tr h="377952">
                <a:tc>
                  <a:txBody>
                    <a:bodyPr/>
                    <a:lstStyle/>
                    <a:p>
                      <a:pPr algn="ctr">
                        <a:defRPr sz="1000" b="1">
                          <a:solidFill>
                            <a:srgbClr val="0F172A"/>
                          </a:solidFill>
                          <a:latin typeface="Microsoft YaHei"/>
                        </a:defRPr>
                      </a:pPr>
                      <a:r>
                        <a:t>前缀重复 Prefill 计算</a:t>
                      </a:r>
                    </a:p>
                  </a:txBody>
                  <a:tcPr anchor="ctr" marT="25400" marB="25400" marL="50800" marR="50800">
                    <a:solidFill>
                      <a:srgbClr val="EFF6FF"/>
                    </a:solidFill>
                  </a:tcPr>
                </a:tc>
                <a:tc>
                  <a:txBody>
                    <a:bodyPr/>
                    <a:lstStyle/>
                    <a:p>
                      <a:pPr algn="l">
                        <a:defRPr sz="1000">
                          <a:solidFill>
                            <a:srgbClr val="0F172A"/>
                          </a:solidFill>
                          <a:latin typeface="Microsoft YaHei"/>
                        </a:defRPr>
                      </a:pPr>
                      <a:r>
                        <a:t>200.00 ms [基准]</a:t>
                      </a:r>
                    </a:p>
                  </a:txBody>
                  <a:tcPr anchor="ctr" marT="25400" marB="25400" marL="50800" marR="50800">
                    <a:solidFill>
                      <a:srgbClr val="EFF6FF"/>
                    </a:solidFill>
                  </a:tcPr>
                </a:tc>
                <a:tc>
                  <a:txBody>
                    <a:bodyPr/>
                    <a:lstStyle/>
                    <a:p>
                      <a:pPr algn="l">
                        <a:defRPr sz="1000">
                          <a:solidFill>
                            <a:srgbClr val="0F172A"/>
                          </a:solidFill>
                          <a:latin typeface="Microsoft YaHei"/>
                        </a:defRPr>
                      </a:pPr>
                      <a:r>
                        <a:t>0.00 ms [通用收益]</a:t>
                      </a:r>
                    </a:p>
                  </a:txBody>
                  <a:tcPr anchor="ctr" marT="25400" marB="25400" marL="50800" marR="50800">
                    <a:solidFill>
                      <a:srgbClr val="EFF6FF"/>
                    </a:solidFill>
                  </a:tcPr>
                </a:tc>
                <a:tc>
                  <a:txBody>
                    <a:bodyPr/>
                    <a:lstStyle/>
                    <a:p>
                      <a:pPr algn="l">
                        <a:defRPr sz="1000">
                          <a:solidFill>
                            <a:srgbClr val="0F172A"/>
                          </a:solidFill>
                          <a:latin typeface="Microsoft YaHei"/>
                        </a:defRPr>
                      </a:pPr>
                      <a:r>
                        <a:t>0.00 ms [通用收益]</a:t>
                      </a:r>
                    </a:p>
                  </a:txBody>
                  <a:tcPr anchor="ctr" marT="25400" marB="25400" marL="50800" marR="50800">
                    <a:solidFill>
                      <a:srgbClr val="EFF6FF"/>
                    </a:solidFill>
                  </a:tcPr>
                </a:tc>
                <a:tc>
                  <a:txBody>
                    <a:bodyPr/>
                    <a:lstStyle/>
                    <a:p>
                      <a:pPr algn="l">
                        <a:defRPr sz="1000">
                          <a:solidFill>
                            <a:srgbClr val="0F172A"/>
                          </a:solidFill>
                          <a:latin typeface="Microsoft YaHei"/>
                        </a:defRPr>
                      </a:pPr>
                      <a:r>
                        <a:t>缓存复用通用基础收益，不重复归因 [通用机制]</a:t>
                      </a:r>
                    </a:p>
                  </a:txBody>
                  <a:tcPr anchor="ctr" marT="25400" marB="25400" marL="50800" marR="50800">
                    <a:solidFill>
                      <a:srgbClr val="EFF6FF"/>
                    </a:solidFill>
                  </a:tcPr>
                </a:tc>
              </a:tr>
              <a:tr h="377952">
                <a:tc>
                  <a:txBody>
                    <a:bodyPr/>
                    <a:lstStyle/>
                    <a:p>
                      <a:pPr algn="ctr">
                        <a:defRPr sz="1000" b="1">
                          <a:solidFill>
                            <a:srgbClr val="0F172A"/>
                          </a:solidFill>
                          <a:latin typeface="Microsoft YaHei"/>
                        </a:defRPr>
                      </a:pPr>
                      <a:r>
                        <a:t>端到端 TTFT 达成值</a:t>
                      </a:r>
                    </a:p>
                  </a:txBody>
                  <a:tcPr anchor="ctr" marT="25400" marB="25400" marL="50800" marR="50800">
                    <a:solidFill>
                      <a:srgbClr val="FFFFFF"/>
                    </a:solidFill>
                  </a:tcPr>
                </a:tc>
                <a:tc>
                  <a:txBody>
                    <a:bodyPr/>
                    <a:lstStyle/>
                    <a:p>
                      <a:pPr algn="l">
                        <a:defRPr sz="1000">
                          <a:solidFill>
                            <a:srgbClr val="0F172A"/>
                          </a:solidFill>
                          <a:latin typeface="Microsoft YaHei"/>
                        </a:defRPr>
                      </a:pPr>
                      <a:r>
                        <a:t>420.00 ms [基准]</a:t>
                      </a:r>
                    </a:p>
                  </a:txBody>
                  <a:tcPr anchor="ctr" marT="25400" marB="25400" marL="50800" marR="50800">
                    <a:solidFill>
                      <a:srgbClr val="FFFFFF"/>
                    </a:solidFill>
                  </a:tcPr>
                </a:tc>
                <a:tc>
                  <a:txBody>
                    <a:bodyPr/>
                    <a:lstStyle/>
                    <a:p>
                      <a:pPr algn="l">
                        <a:defRPr sz="1000">
                          <a:solidFill>
                            <a:srgbClr val="0F172A"/>
                          </a:solidFill>
                          <a:latin typeface="Microsoft YaHei"/>
                        </a:defRPr>
                      </a:pPr>
                      <a:r>
                        <a:t>272.00 ms [模型推导]</a:t>
                      </a:r>
                    </a:p>
                  </a:txBody>
                  <a:tcPr anchor="ctr" marT="25400" marB="25400" marL="50800" marR="50800">
                    <a:solidFill>
                      <a:srgbClr val="FFFFFF"/>
                    </a:solidFill>
                  </a:tcPr>
                </a:tc>
                <a:tc>
                  <a:txBody>
                    <a:bodyPr/>
                    <a:lstStyle/>
                    <a:p>
                      <a:pPr algn="l">
                        <a:defRPr sz="1000">
                          <a:solidFill>
                            <a:srgbClr val="0F172A"/>
                          </a:solidFill>
                          <a:latin typeface="Microsoft YaHei"/>
                        </a:defRPr>
                      </a:pPr>
                      <a:r>
                        <a:t>220.89 ms [模型推导]</a:t>
                      </a:r>
                    </a:p>
                  </a:txBody>
                  <a:tcPr anchor="ctr" marT="25400" marB="25400" marL="50800" marR="50800">
                    <a:solidFill>
                      <a:srgbClr val="FFFFFF"/>
                    </a:solidFill>
                  </a:tcPr>
                </a:tc>
                <a:tc>
                  <a:txBody>
                    <a:bodyPr/>
                    <a:lstStyle/>
                    <a:p>
                      <a:pPr algn="l">
                        <a:defRPr sz="1000">
                          <a:solidFill>
                            <a:srgbClr val="0F172A"/>
                          </a:solidFill>
                          <a:latin typeface="Microsoft YaHei"/>
                        </a:defRPr>
                      </a:pPr>
                      <a:r>
                        <a:t>相对完全重算降低 47.4% (净省 199.11 ms) [模型推导值]</a:t>
                      </a:r>
                    </a:p>
                  </a:txBody>
                  <a:tcPr anchor="ctr" marT="25400" marB="25400" marL="50800" marR="50800">
                    <a:solidFill>
                      <a:srgbClr val="FFFFFF"/>
                    </a:solidFill>
                  </a:tcPr>
                </a:tc>
              </a:tr>
              <a:tr h="377952">
                <a:tc>
                  <a:txBody>
                    <a:bodyPr/>
                    <a:lstStyle/>
                    <a:p>
                      <a:pPr algn="ctr">
                        <a:defRPr sz="1000" b="1">
                          <a:solidFill>
                            <a:srgbClr val="0F172A"/>
                          </a:solidFill>
                          <a:latin typeface="Microsoft YaHei"/>
                        </a:defRPr>
                      </a:pPr>
                      <a:r>
                        <a:t>相对开源基线自研增量</a:t>
                      </a:r>
                    </a:p>
                  </a:txBody>
                  <a:tcPr anchor="ctr" marT="25400" marB="25400" marL="50800" marR="50800">
                    <a:solidFill>
                      <a:srgbClr val="EFF6FF"/>
                    </a:solidFill>
                  </a:tcPr>
                </a:tc>
                <a:tc>
                  <a:txBody>
                    <a:bodyPr/>
                    <a:lstStyle/>
                    <a:p>
                      <a:pPr algn="l">
                        <a:defRPr sz="1000">
                          <a:solidFill>
                            <a:srgbClr val="0F172A"/>
                          </a:solidFill>
                          <a:latin typeface="Microsoft YaHei"/>
                        </a:defRPr>
                      </a:pPr>
                      <a:r>
                        <a:t>—</a:t>
                      </a:r>
                    </a:p>
                  </a:txBody>
                  <a:tcPr anchor="ctr" marT="25400" marB="25400" marL="50800" marR="50800">
                    <a:solidFill>
                      <a:srgbClr val="EFF6FF"/>
                    </a:solidFill>
                  </a:tcPr>
                </a:tc>
                <a:tc>
                  <a:txBody>
                    <a:bodyPr/>
                    <a:lstStyle/>
                    <a:p>
                      <a:pPr algn="l">
                        <a:defRPr sz="1000">
                          <a:solidFill>
                            <a:srgbClr val="0F172A"/>
                          </a:solidFill>
                          <a:latin typeface="Microsoft YaHei"/>
                        </a:defRPr>
                      </a:pPr>
                      <a:r>
                        <a:t>基准线 (0%)</a:t>
                      </a:r>
                    </a:p>
                  </a:txBody>
                  <a:tcPr anchor="ctr" marT="25400" marB="25400" marL="50800" marR="50800">
                    <a:solidFill>
                      <a:srgbClr val="EFF6FF"/>
                    </a:solidFill>
                  </a:tcPr>
                </a:tc>
                <a:tc>
                  <a:txBody>
                    <a:bodyPr/>
                    <a:lstStyle/>
                    <a:p>
                      <a:pPr algn="l">
                        <a:defRPr sz="1000">
                          <a:solidFill>
                            <a:srgbClr val="0F172A"/>
                          </a:solidFill>
                          <a:latin typeface="Microsoft YaHei"/>
                        </a:defRPr>
                      </a:pPr>
                      <a:r>
                        <a:t>净提速 18.8% (净省 51.11 ms)</a:t>
                      </a:r>
                    </a:p>
                  </a:txBody>
                  <a:tcPr anchor="ctr" marT="25400" marB="25400" marL="50800" marR="50800">
                    <a:solidFill>
                      <a:srgbClr val="EFF6FF"/>
                    </a:solidFill>
                  </a:tcPr>
                </a:tc>
                <a:tc>
                  <a:txBody>
                    <a:bodyPr/>
                    <a:lstStyle/>
                    <a:p>
                      <a:pPr algn="l">
                        <a:defRPr sz="1000">
                          <a:solidFill>
                            <a:srgbClr val="0F172A"/>
                          </a:solidFill>
                          <a:latin typeface="Microsoft YaHei"/>
                        </a:defRPr>
                      </a:pPr>
                      <a:r>
                        <a:t>90% 超高复用场景下，自研净提速高达 52.6% [模型推导值]</a:t>
                      </a:r>
                    </a:p>
                  </a:txBody>
                  <a:tcPr anchor="ctr" marT="25400" marB="25400" marL="50800" marR="50800">
                    <a:solidFill>
                      <a:srgbClr val="EFF6FF"/>
                    </a:solidFill>
                  </a:tcPr>
                </a:tc>
              </a:tr>
            </a:tbl>
          </a:graphicData>
        </a:graphic>
      </p:graphicFrame>
      <p:sp>
        <p:nvSpPr>
          <p:cNvPr id="7" name="Rounded Rectangle 6"/>
          <p:cNvSpPr/>
          <p:nvPr/>
        </p:nvSpPr>
        <p:spPr>
          <a:xfrm>
            <a:off x="548640" y="4590288"/>
            <a:ext cx="11094415" cy="132588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663440"/>
            <a:ext cx="10698480" cy="1170432"/>
          </a:xfrm>
          <a:prstGeom prst="rect">
            <a:avLst/>
          </a:prstGeom>
          <a:noFill/>
        </p:spPr>
        <p:txBody>
          <a:bodyPr wrap="square">
            <a:spAutoFit/>
          </a:bodyPr>
          <a:lstStyle/>
          <a:p>
            <a:pPr>
              <a:spcAft>
                <a:spcPts val="300"/>
              </a:spcAft>
              <a:defRPr sz="1380" b="1">
                <a:solidFill>
                  <a:srgbClr val="1E3A8A"/>
                </a:solidFill>
                <a:latin typeface="Microsoft YaHei"/>
              </a:defRPr>
            </a:pPr>
            <a:r>
              <a:t>核心增量对账：超高复用场景下的显著净收益与数据源溯源</a:t>
            </a:r>
          </a:p>
          <a:p>
            <a:pPr>
              <a:lnSpc>
                <a:spcPct val="118000"/>
              </a:lnSpc>
              <a:spcAft>
                <a:spcPts val="200"/>
              </a:spcAft>
              <a:defRPr sz="1120">
                <a:solidFill>
                  <a:srgbClr val="0F172A"/>
                </a:solidFill>
                <a:latin typeface="Microsoft YaHei"/>
              </a:defRPr>
            </a:pPr>
            <a:r>
              <a:t>• 50% 复用基线场景 [假设输入]：开源 TTFT 272ms，自研降至 220.89ms [模型推导]，实现 18.8% 净提速 (净省 51.11ms)；</a:t>
            </a:r>
          </a:p>
          <a:p>
            <a:pPr>
              <a:lnSpc>
                <a:spcPct val="118000"/>
              </a:lnSpc>
              <a:spcAft>
                <a:spcPts val="200"/>
              </a:spcAft>
              <a:defRPr sz="1120">
                <a:solidFill>
                  <a:srgbClr val="0F172A"/>
                </a:solidFill>
                <a:latin typeface="Microsoft YaHei"/>
              </a:defRPr>
            </a:pPr>
            <a:r>
              <a:t>• 90% 极高复用场景 [假设输入]：开源方案耗时 94ms；自研软件降至 44.5ms [模型推导]，净提速高达 52.6% [模型推导]；</a:t>
            </a:r>
          </a:p>
          <a:p>
            <a:pPr>
              <a:lnSpc>
                <a:spcPct val="118000"/>
              </a:lnSpc>
              <a:defRPr sz="1120" b="1">
                <a:solidFill>
                  <a:srgbClr val="1D4ED8"/>
                </a:solidFill>
                <a:latin typeface="Microsoft YaHei"/>
              </a:defRPr>
            </a:pPr>
            <a:r>
              <a:t>• 数据性质声明：全表 220.89ms 与 18.8%~52.6% 均为条件化模型推导值，立项目标为 TTFT 降低 ≥ 20%，待 E0~E3 原型实测验证。</a:t>
            </a:r>
          </a:p>
        </p:txBody>
      </p:sp>
      <p:sp>
        <p:nvSpPr>
          <p:cNvPr id="9" name="Rounded Rectangle 8"/>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自研增量：</a:t>
            </a:r>
            <a:r>
              <a:rPr sz="1300">
                <a:solidFill>
                  <a:srgbClr val="0F172A"/>
                </a:solidFill>
                <a:latin typeface="Microsoft YaHei"/>
              </a:rPr>
              <a:t>表中 220.89ms 与 18.8%~52.6% 均为条件化模型推导值，待 E0~E3 硬件实测收敛验证。</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逐层流水的工程落地契约：如何反向定义并催熟底层 KPCL</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通用通信库仅支持整包完成，自研软件的流水需求倒逼 KPCL 演进出微秒级事件契约</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08 / 18</a:t>
            </a:r>
          </a:p>
        </p:txBody>
      </p:sp>
      <p:sp>
        <p:nvSpPr>
          <p:cNvPr id="6" name="Rounded Rectangle 5"/>
          <p:cNvSpPr/>
          <p:nvPr/>
        </p:nvSpPr>
        <p:spPr>
          <a:xfrm>
            <a:off x="548640" y="1115568"/>
            <a:ext cx="3547872"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43584"/>
            <a:ext cx="3364992" cy="3840480"/>
          </a:xfrm>
          <a:prstGeom prst="rect">
            <a:avLst/>
          </a:prstGeom>
          <a:noFill/>
        </p:spPr>
        <p:txBody>
          <a:bodyPr wrap="square">
            <a:spAutoFit/>
          </a:bodyPr>
          <a:lstStyle/>
          <a:p>
            <a:pPr>
              <a:spcAft>
                <a:spcPts val="1000"/>
              </a:spcAft>
              <a:defRPr sz="1550" b="1">
                <a:solidFill>
                  <a:srgbClr val="1D4ED8"/>
                </a:solidFill>
                <a:latin typeface="Microsoft YaHei"/>
              </a:defRPr>
            </a:pPr>
            <a:r>
              <a:t>上层推理框架改造要求</a:t>
            </a:r>
          </a:p>
          <a:p>
            <a:pPr>
              <a:lnSpc>
                <a:spcPct val="126000"/>
              </a:lnSpc>
              <a:spcAft>
                <a:spcPts val="800"/>
              </a:spcAft>
              <a:defRPr sz="1180">
                <a:solidFill>
                  <a:srgbClr val="0F172A"/>
                </a:solidFill>
                <a:latin typeface="Microsoft YaHei"/>
              </a:defRPr>
            </a:pPr>
            <a:r>
              <a:t>• 算子解构改造：Attention 算子支持按 Layer 或 Extent 描述符分段消费；</a:t>
            </a:r>
          </a:p>
          <a:p>
            <a:pPr>
              <a:lnSpc>
                <a:spcPct val="126000"/>
              </a:lnSpc>
              <a:spcAft>
                <a:spcPts val="800"/>
              </a:spcAft>
              <a:defRPr sz="1180">
                <a:solidFill>
                  <a:srgbClr val="0F172A"/>
                </a:solidFill>
                <a:latin typeface="Microsoft YaHei"/>
              </a:defRPr>
            </a:pPr>
            <a:r>
              <a:t>• 显存双缓冲机制：动态锁定 Layer N 与 N+1 的物理显存页，杜绝内存覆写；</a:t>
            </a:r>
          </a:p>
          <a:p>
            <a:pPr>
              <a:lnSpc>
                <a:spcPct val="126000"/>
              </a:lnSpc>
              <a:spcAft>
                <a:spcPts val="800"/>
              </a:spcAft>
              <a:defRPr sz="1180">
                <a:solidFill>
                  <a:srgbClr val="0F172A"/>
                </a:solidFill>
                <a:latin typeface="Microsoft YaHei"/>
              </a:defRPr>
            </a:pPr>
            <a:r>
              <a:t>• 计算流解耦：计算 Stream 与通信 Stream 异步并行，消除 Host 线程阻塞；</a:t>
            </a:r>
          </a:p>
          <a:p>
            <a:pPr>
              <a:lnSpc>
                <a:spcPct val="126000"/>
              </a:lnSpc>
              <a:spcAft>
                <a:spcPts val="800"/>
              </a:spcAft>
              <a:defRPr sz="1180">
                <a:solidFill>
                  <a:srgbClr val="0F172A"/>
                </a:solidFill>
                <a:latin typeface="Microsoft YaHei"/>
              </a:defRPr>
            </a:pPr>
            <a:r>
              <a:t>• 严格可见对齐：算子点火执行时，对应层 KV 数据在显存中完全可见。</a:t>
            </a:r>
          </a:p>
        </p:txBody>
      </p:sp>
      <p:sp>
        <p:nvSpPr>
          <p:cNvPr id="8" name="Rounded Rectangle 7"/>
          <p:cNvSpPr/>
          <p:nvPr/>
        </p:nvSpPr>
        <p:spPr>
          <a:xfrm>
            <a:off x="4315968" y="1115568"/>
            <a:ext cx="3547872" cy="411480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7408" y="1243584"/>
            <a:ext cx="3364992" cy="3840480"/>
          </a:xfrm>
          <a:prstGeom prst="rect">
            <a:avLst/>
          </a:prstGeom>
          <a:noFill/>
        </p:spPr>
        <p:txBody>
          <a:bodyPr wrap="square">
            <a:spAutoFit/>
          </a:bodyPr>
          <a:lstStyle/>
          <a:p>
            <a:pPr>
              <a:spcAft>
                <a:spcPts val="1000"/>
              </a:spcAft>
              <a:defRPr sz="1550" b="1">
                <a:solidFill>
                  <a:srgbClr val="047857"/>
                </a:solidFill>
                <a:latin typeface="Microsoft YaHei"/>
              </a:defRPr>
            </a:pPr>
            <a:r>
              <a:t>倒逼 KPCL 必须实现的能力契约</a:t>
            </a:r>
          </a:p>
          <a:p>
            <a:pPr>
              <a:lnSpc>
                <a:spcPct val="126000"/>
              </a:lnSpc>
              <a:spcAft>
                <a:spcPts val="800"/>
              </a:spcAft>
              <a:defRPr sz="1180">
                <a:solidFill>
                  <a:srgbClr val="0F172A"/>
                </a:solidFill>
                <a:latin typeface="Microsoft YaHei"/>
              </a:defRPr>
            </a:pPr>
            <a:r>
              <a:t>• 单层分段完成事件：网卡搬运完单层 4MB，微秒内向运行时上报就绪事件；</a:t>
            </a:r>
          </a:p>
          <a:p>
            <a:pPr>
              <a:lnSpc>
                <a:spcPct val="126000"/>
              </a:lnSpc>
              <a:spcAft>
                <a:spcPts val="800"/>
              </a:spcAft>
              <a:defRPr sz="1180">
                <a:solidFill>
                  <a:srgbClr val="0F172A"/>
                </a:solidFill>
                <a:latin typeface="Microsoft YaHei"/>
              </a:defRPr>
            </a:pPr>
            <a:r>
              <a:t>• 显存设备可见通知：DMA 写入完成后执行片上 Cache 刷新，保证 NPU 算子立即可读；</a:t>
            </a:r>
          </a:p>
          <a:p>
            <a:pPr>
              <a:lnSpc>
                <a:spcPct val="126000"/>
              </a:lnSpc>
              <a:spcAft>
                <a:spcPts val="800"/>
              </a:spcAft>
              <a:defRPr sz="1180">
                <a:solidFill>
                  <a:srgbClr val="0F172A"/>
                </a:solidFill>
                <a:latin typeface="Microsoft YaHei"/>
              </a:defRPr>
            </a:pPr>
            <a:r>
              <a:t>• 依赖事件触发：前置任务完成自动触发下一层传输，无需 CPU 介入；</a:t>
            </a:r>
          </a:p>
          <a:p>
            <a:pPr>
              <a:lnSpc>
                <a:spcPct val="126000"/>
              </a:lnSpc>
              <a:spcAft>
                <a:spcPts val="800"/>
              </a:spcAft>
              <a:defRPr sz="1180">
                <a:solidFill>
                  <a:srgbClr val="0F172A"/>
                </a:solidFill>
                <a:latin typeface="Microsoft YaHei"/>
              </a:defRPr>
            </a:pPr>
            <a:r>
              <a:t>• 异常安全截断：超时或取消时微秒内撤销在途任务并排空队列。</a:t>
            </a:r>
          </a:p>
        </p:txBody>
      </p:sp>
      <p:sp>
        <p:nvSpPr>
          <p:cNvPr id="10" name="Rounded Rectangle 9"/>
          <p:cNvSpPr/>
          <p:nvPr/>
        </p:nvSpPr>
        <p:spPr>
          <a:xfrm>
            <a:off x="8083296" y="1115568"/>
            <a:ext cx="3547872" cy="4114800"/>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4736" y="1243584"/>
            <a:ext cx="3364992" cy="3840480"/>
          </a:xfrm>
          <a:prstGeom prst="rect">
            <a:avLst/>
          </a:prstGeom>
          <a:noFill/>
        </p:spPr>
        <p:txBody>
          <a:bodyPr wrap="square">
            <a:spAutoFit/>
          </a:bodyPr>
          <a:lstStyle/>
          <a:p>
            <a:pPr>
              <a:spcAft>
                <a:spcPts val="1000"/>
              </a:spcAft>
              <a:defRPr sz="1550" b="1">
                <a:solidFill>
                  <a:srgbClr val="B45309"/>
                </a:solidFill>
                <a:latin typeface="Microsoft YaHei"/>
              </a:defRPr>
            </a:pPr>
            <a:r>
              <a:t>自研 KVC 运行时的动态调度治理</a:t>
            </a:r>
          </a:p>
          <a:p>
            <a:pPr>
              <a:lnSpc>
                <a:spcPct val="126000"/>
              </a:lnSpc>
              <a:spcAft>
                <a:spcPts val="800"/>
              </a:spcAft>
              <a:defRPr sz="1180">
                <a:solidFill>
                  <a:srgbClr val="0F172A"/>
                </a:solidFill>
                <a:latin typeface="Microsoft YaHei"/>
              </a:defRPr>
            </a:pPr>
            <a:r>
              <a:t>• 预取窗口约束：维护 1~2 层滑动窗口，防止预取过快导致显存溢出；</a:t>
            </a:r>
          </a:p>
          <a:p>
            <a:pPr>
              <a:lnSpc>
                <a:spcPct val="126000"/>
              </a:lnSpc>
              <a:spcAft>
                <a:spcPts val="800"/>
              </a:spcAft>
              <a:defRPr sz="1180">
                <a:solidFill>
                  <a:srgbClr val="0F172A"/>
                </a:solidFill>
                <a:latin typeface="Microsoft YaHei"/>
              </a:defRPr>
            </a:pPr>
            <a:r>
              <a:t>• 关键流提权：在队列中赋予 Layer 0 最高优先级，缩短启动点火等待；</a:t>
            </a:r>
          </a:p>
          <a:p>
            <a:pPr>
              <a:lnSpc>
                <a:spcPct val="126000"/>
              </a:lnSpc>
              <a:spcAft>
                <a:spcPts val="800"/>
              </a:spcAft>
              <a:defRPr sz="1180">
                <a:solidFill>
                  <a:srgbClr val="0F172A"/>
                </a:solidFill>
                <a:latin typeface="Microsoft YaHei"/>
              </a:defRPr>
            </a:pPr>
            <a:r>
              <a:t>• 负收益自适应熔断：当网络拥塞导致传输延迟逼近计算时间时，主动熔断回退；</a:t>
            </a:r>
          </a:p>
          <a:p>
            <a:pPr>
              <a:lnSpc>
                <a:spcPct val="126000"/>
              </a:lnSpc>
              <a:spcAft>
                <a:spcPts val="800"/>
              </a:spcAft>
              <a:defRPr sz="1180">
                <a:solidFill>
                  <a:srgbClr val="0F172A"/>
                </a:solidFill>
                <a:latin typeface="Microsoft YaHei"/>
              </a:defRPr>
            </a:pPr>
            <a:r>
              <a:t>• 反馈闭环调优：根据网卡完成微秒时序，动态调整预取发射节奏。</a:t>
            </a:r>
          </a:p>
        </p:txBody>
      </p:sp>
      <p:sp>
        <p:nvSpPr>
          <p:cNvPr id="12" name="Rounded Rectangle 11"/>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催熟底座结论：上层逐层流水的业务诉求，强力驱动 KPCL 抛弃传统的整包阻塞等待，演进出分段可见与微秒事件原语。</a:t>
            </a:r>
          </a:p>
        </p:txBody>
      </p:sp>
      <p:sp>
        <p:nvSpPr>
          <p:cNvPr id="14" name="Rounded Rectangle 13"/>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接口诉求：</a:t>
            </a:r>
            <a:r>
              <a:rPr sz="1300">
                <a:solidFill>
                  <a:srgbClr val="0F172A"/>
                </a:solidFill>
                <a:latin typeface="Microsoft YaHei"/>
              </a:rPr>
              <a:t>KPCL 需要表达</a:t>
            </a:r>
            <a:r>
              <a:rPr sz="1300" b="1">
                <a:solidFill>
                  <a:srgbClr val="DC2626"/>
                </a:solidFill>
                <a:latin typeface="Microsoft YaHei"/>
              </a:rPr>
              <a:t>分段完成、设备可见与撤销边界</a:t>
            </a:r>
            <a:r>
              <a:rPr sz="1300">
                <a:solidFill>
                  <a:srgbClr val="0F172A"/>
                </a:solidFill>
                <a:latin typeface="Microsoft YaHei"/>
              </a:rPr>
              <a:t>，才能让流水成为可调度的工程实体。</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TPOT 物理根因分析：为什么后台换出会导致逐字生成严重卡顿？</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Decode 阶段显存访问占比 85%，后台异步换出争用 HBM 总线导致 TPOT 恶化 16.8%</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09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059375" cy="3931920"/>
          </a:xfrm>
          <a:prstGeom prst="rect">
            <a:avLst/>
          </a:prstGeom>
          <a:noFill/>
        </p:spPr>
        <p:txBody>
          <a:bodyPr wrap="square">
            <a:spAutoFit/>
          </a:bodyPr>
          <a:lstStyle/>
          <a:p>
            <a:pPr>
              <a:spcAft>
                <a:spcPts val="500"/>
              </a:spcAft>
              <a:defRPr sz="1550" b="1">
                <a:solidFill>
                  <a:srgbClr val="1E3A8A"/>
                </a:solidFill>
                <a:latin typeface="Microsoft YaHei"/>
              </a:defRPr>
            </a:pPr>
            <a:r>
              <a:t>Decode 显存带宽受限与服务损失方程 [物理推导]</a:t>
            </a:r>
          </a:p>
          <a:p>
            <a:pPr>
              <a:lnSpc>
                <a:spcPct val="118000"/>
              </a:lnSpc>
              <a:spcAft>
                <a:spcPts val="250"/>
              </a:spcAft>
              <a:defRPr sz="1120" b="1">
                <a:solidFill>
                  <a:srgbClr val="0F172A"/>
                </a:solidFill>
                <a:latin typeface="Microsoft YaHei"/>
              </a:defRPr>
            </a:pPr>
            <a:r>
              <a:t>单步生成耗时模型 [基准参数]：Decode 每生成一个 Token 须遍历权重与 KV 历史：</a:t>
            </a:r>
          </a:p>
          <a:p>
            <a:pPr>
              <a:lnSpc>
                <a:spcPct val="118000"/>
              </a:lnSpc>
              <a:spcAft>
                <a:spcPts val="250"/>
              </a:spcAft>
              <a:defRPr sz="1120" b="0">
                <a:solidFill>
                  <a:srgbClr val="0F172A"/>
                </a:solidFill>
                <a:latin typeface="Microsoft YaHei"/>
              </a:defRPr>
            </a:pPr>
            <a:r>
              <a:t>  • 纯前台单步 [基准假设]：τ_0 = t_f + m (m 为访存耗时，w = m/τ_0 为访存比)；</a:t>
            </a:r>
          </a:p>
          <a:p>
            <a:pPr>
              <a:lnSpc>
                <a:spcPct val="118000"/>
              </a:lnSpc>
              <a:spcAft>
                <a:spcPts val="250"/>
              </a:spcAft>
              <a:defRPr sz="1120" b="0">
                <a:solidFill>
                  <a:srgbClr val="0F172A"/>
                </a:solidFill>
                <a:latin typeface="Microsoft YaHei"/>
              </a:defRPr>
            </a:pPr>
            <a:r>
              <a:t>  • 70B 常数 [物理常数/假设]：单卡权重 17.5GB；纯前台 τ_0 = 24.80ms，访存比 85.0%；</a:t>
            </a:r>
          </a:p>
          <a:p>
            <a:pPr>
              <a:lnSpc>
                <a:spcPct val="118000"/>
              </a:lnSpc>
              <a:spcAft>
                <a:spcPts val="250"/>
              </a:spcAft>
              <a:defRPr sz="1120" b="0">
                <a:solidFill>
                  <a:srgbClr val="0F172A"/>
                </a:solidFill>
                <a:latin typeface="Microsoft YaHei"/>
              </a:defRPr>
            </a:pPr>
            <a:r>
              <a:t>后台争用干扰方程 [数学推导]：</a:t>
            </a:r>
          </a:p>
          <a:p>
            <a:pPr>
              <a:lnSpc>
                <a:spcPct val="118000"/>
              </a:lnSpc>
              <a:spcAft>
                <a:spcPts val="250"/>
              </a:spcAft>
              <a:defRPr sz="1120" b="0">
                <a:solidFill>
                  <a:srgbClr val="0F172A"/>
                </a:solidFill>
                <a:latin typeface="Microsoft YaHei"/>
              </a:defRPr>
            </a:pPr>
            <a:r>
              <a:t>  • 设后台异步搬运对显存速率造成的损失为 β ∈ [0, 1)：</a:t>
            </a:r>
          </a:p>
          <a:p>
            <a:pPr>
              <a:lnSpc>
                <a:spcPct val="118000"/>
              </a:lnSpc>
              <a:spcAft>
                <a:spcPts val="250"/>
              </a:spcAft>
              <a:defRPr sz="1120" b="0">
                <a:solidFill>
                  <a:srgbClr val="0F172A"/>
                </a:solidFill>
                <a:latin typeface="Microsoft YaHei"/>
              </a:defRPr>
            </a:pPr>
            <a:r>
              <a:t>    τ(β) = t_f + m / (1 − β)；干扰率定义为 I = (τ(β) − τ_0) / τ_0；</a:t>
            </a:r>
          </a:p>
          <a:p>
            <a:pPr>
              <a:lnSpc>
                <a:spcPct val="118000"/>
              </a:lnSpc>
              <a:spcAft>
                <a:spcPts val="250"/>
              </a:spcAft>
              <a:defRPr sz="1120" b="0">
                <a:solidFill>
                  <a:srgbClr val="0F172A"/>
                </a:solidFill>
                <a:latin typeface="Microsoft YaHei"/>
              </a:defRPr>
            </a:pPr>
            <a:r>
              <a:t>  • 严格代数展开闭式解 [推导公式]：I = (w · β) / (1 − β)；</a:t>
            </a:r>
          </a:p>
          <a:p>
            <a:pPr>
              <a:lnSpc>
                <a:spcPct val="118000"/>
              </a:lnSpc>
              <a:spcAft>
                <a:spcPts val="250"/>
              </a:spcAft>
              <a:defRPr sz="1120" b="0">
                <a:solidFill>
                  <a:srgbClr val="0F172A"/>
                </a:solidFill>
                <a:latin typeface="Microsoft YaHei"/>
              </a:defRPr>
            </a:pPr>
            <a:r>
              <a:t>反求 3% 工业红线门限 [目标与推导]：</a:t>
            </a:r>
          </a:p>
          <a:p>
            <a:pPr>
              <a:lnSpc>
                <a:spcPct val="118000"/>
              </a:lnSpc>
              <a:spcAft>
                <a:spcPts val="250"/>
              </a:spcAft>
              <a:defRPr sz="1120" b="0">
                <a:solidFill>
                  <a:srgbClr val="0F172A"/>
                </a:solidFill>
                <a:latin typeface="Microsoft YaHei"/>
              </a:defRPr>
            </a:pPr>
            <a:r>
              <a:t>  • 业务 SLO 要求 [目标值]：前台性能抖动 I ≤ 3%；</a:t>
            </a:r>
          </a:p>
          <a:p>
            <a:pPr>
              <a:lnSpc>
                <a:spcPct val="118000"/>
              </a:lnSpc>
              <a:spcAft>
                <a:spcPts val="250"/>
              </a:spcAft>
              <a:defRPr sz="1120" b="1">
                <a:solidFill>
                  <a:srgbClr val="DC2626"/>
                </a:solidFill>
                <a:latin typeface="Microsoft YaHei"/>
              </a:defRPr>
            </a:pPr>
            <a:r>
              <a:t>  • 允许显存损失门限 [模型推导]：β ≤ ε / (w + ε) = 0.03 / (0.85 + 0.03) ≈ 3.41%；</a:t>
            </a:r>
          </a:p>
          <a:p>
            <a:pPr>
              <a:lnSpc>
                <a:spcPct val="118000"/>
              </a:lnSpc>
              <a:spcAft>
                <a:spcPts val="250"/>
              </a:spcAft>
              <a:defRPr sz="1120" b="1">
                <a:solidFill>
                  <a:srgbClr val="DC2626"/>
                </a:solidFill>
                <a:latin typeface="Microsoft YaHei"/>
              </a:defRPr>
            </a:pPr>
            <a:r>
              <a:t>约束边界 [物理推导]：允许显存服务损失上限仅 3.41%，粗放后台传输将导致超标。</a:t>
            </a:r>
          </a:p>
        </p:txBody>
      </p:sp>
      <p:sp>
        <p:nvSpPr>
          <p:cNvPr id="8" name="Rounded Rectangle 7"/>
          <p:cNvSpPr/>
          <p:nvPr/>
        </p:nvSpPr>
        <p:spPr>
          <a:xfrm>
            <a:off x="6217920" y="1115568"/>
            <a:ext cx="5425135" cy="411480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5059375" cy="3931920"/>
          </a:xfrm>
          <a:prstGeom prst="rect">
            <a:avLst/>
          </a:prstGeom>
          <a:noFill/>
        </p:spPr>
        <p:txBody>
          <a:bodyPr wrap="square">
            <a:spAutoFit/>
          </a:bodyPr>
          <a:lstStyle/>
          <a:p>
            <a:pPr>
              <a:spcAft>
                <a:spcPts val="500"/>
              </a:spcAft>
              <a:defRPr sz="1550" b="1">
                <a:solidFill>
                  <a:srgbClr val="047857"/>
                </a:solidFill>
                <a:latin typeface="Microsoft YaHei"/>
              </a:defRPr>
            </a:pPr>
            <a:r>
              <a:t>开源缺陷估算 vs 自研协同效果推导 [数据源溯源]</a:t>
            </a:r>
          </a:p>
          <a:p>
            <a:pPr>
              <a:lnSpc>
                <a:spcPct val="120000"/>
              </a:lnSpc>
              <a:spcAft>
                <a:spcPts val="300"/>
              </a:spcAft>
              <a:defRPr sz="1140" b="1">
                <a:solidFill>
                  <a:srgbClr val="0F172A"/>
                </a:solidFill>
                <a:latin typeface="Microsoft YaHei"/>
              </a:defRPr>
            </a:pPr>
            <a:r>
              <a:t>通用开源方案缺陷 [估算基准]：</a:t>
            </a:r>
          </a:p>
          <a:p>
            <a:pPr>
              <a:lnSpc>
                <a:spcPct val="120000"/>
              </a:lnSpc>
              <a:spcAft>
                <a:spcPts val="300"/>
              </a:spcAft>
              <a:defRPr sz="1140" b="0">
                <a:solidFill>
                  <a:srgbClr val="0F172A"/>
                </a:solidFill>
                <a:latin typeface="Microsoft YaHei"/>
              </a:defRPr>
            </a:pPr>
            <a:r>
              <a:t>  • 后台冷数据换出 DMA 任意打满总线，挤占前台 HBM 交叉总线；</a:t>
            </a:r>
          </a:p>
          <a:p>
            <a:pPr>
              <a:lnSpc>
                <a:spcPct val="120000"/>
              </a:lnSpc>
              <a:spcAft>
                <a:spcPts val="300"/>
              </a:spcAft>
              <a:defRPr sz="1140" b="0">
                <a:solidFill>
                  <a:srgbClr val="0F172A"/>
                </a:solidFill>
                <a:latin typeface="Microsoft YaHei"/>
              </a:defRPr>
            </a:pPr>
            <a:r>
              <a:t>  • 实测显存损失达 [估算假设] β = 16.5%，单步耗时 τ(β) = 28.97 ms/token [推导值]；</a:t>
            </a:r>
          </a:p>
          <a:p>
            <a:pPr>
              <a:lnSpc>
                <a:spcPct val="120000"/>
              </a:lnSpc>
              <a:spcAft>
                <a:spcPts val="300"/>
              </a:spcAft>
              <a:defRPr sz="1140" b="0">
                <a:solidFill>
                  <a:srgbClr val="0F172A"/>
                </a:solidFill>
                <a:latin typeface="Microsoft YaHei"/>
              </a:defRPr>
            </a:pPr>
            <a:r>
              <a:t>  • 性能干扰率达 [推导值] 16.8% (超标 5.6 倍，生成 128 字延误 534ms 引发卡顿)；</a:t>
            </a:r>
          </a:p>
          <a:p>
            <a:pPr>
              <a:lnSpc>
                <a:spcPct val="120000"/>
              </a:lnSpc>
              <a:spcAft>
                <a:spcPts val="300"/>
              </a:spcAft>
              <a:defRPr sz="1140" b="0">
                <a:solidFill>
                  <a:srgbClr val="0F172A"/>
                </a:solidFill>
                <a:latin typeface="Microsoft YaHei"/>
              </a:defRPr>
            </a:pPr>
            <a:r>
              <a:t>本项目自研 SemanticQoS 软硬件协同解法：</a:t>
            </a:r>
          </a:p>
          <a:p>
            <a:pPr>
              <a:lnSpc>
                <a:spcPct val="120000"/>
              </a:lnSpc>
              <a:spcAft>
                <a:spcPts val="300"/>
              </a:spcAft>
              <a:defRPr sz="1140" b="0">
                <a:solidFill>
                  <a:srgbClr val="0F172A"/>
                </a:solidFill>
                <a:latin typeface="Microsoft YaHei"/>
              </a:defRPr>
            </a:pPr>
            <a:r>
              <a:t>  • 硬件层：KPCL 将前台绑定 TC0 最高优先级队列，后台换出绑定 TC1；</a:t>
            </a:r>
          </a:p>
          <a:p>
            <a:pPr>
              <a:lnSpc>
                <a:spcPct val="120000"/>
              </a:lnSpc>
              <a:spcAft>
                <a:spcPts val="300"/>
              </a:spcAft>
              <a:defRPr sz="1140" b="0">
                <a:solidFill>
                  <a:srgbClr val="0F172A"/>
                </a:solidFill>
                <a:latin typeface="Microsoft YaHei"/>
              </a:defRPr>
            </a:pPr>
            <a:r>
              <a:t>  • 应用层：自研软件感知微秒步频，在 Attention 访存点火时微秒退避；</a:t>
            </a:r>
          </a:p>
          <a:p>
            <a:pPr>
              <a:lnSpc>
                <a:spcPct val="120000"/>
              </a:lnSpc>
              <a:spcAft>
                <a:spcPts val="300"/>
              </a:spcAft>
              <a:defRPr sz="1140" b="0">
                <a:solidFill>
                  <a:srgbClr val="0F172A"/>
                </a:solidFill>
                <a:latin typeface="Microsoft YaHei"/>
              </a:defRPr>
            </a:pPr>
            <a:r>
              <a:t>  • 物理约束目标 [控制目标值]：前台显存服务损失严格锁死在 β ≤ 1.8%；</a:t>
            </a:r>
          </a:p>
          <a:p>
            <a:pPr>
              <a:lnSpc>
                <a:spcPct val="120000"/>
              </a:lnSpc>
              <a:spcAft>
                <a:spcPts val="300"/>
              </a:spcAft>
              <a:defRPr sz="1140" b="1">
                <a:solidFill>
                  <a:srgbClr val="1E3A8A"/>
                </a:solidFill>
                <a:latin typeface="Microsoft YaHei"/>
              </a:defRPr>
            </a:pPr>
            <a:r>
              <a:t>  • 单步耗时达成 [模型推导值]：τ = 25.19ms，干扰率降至 1.57% (优于 3% 红线)；</a:t>
            </a:r>
          </a:p>
          <a:p>
            <a:pPr>
              <a:lnSpc>
                <a:spcPct val="120000"/>
              </a:lnSpc>
              <a:spcAft>
                <a:spcPts val="300"/>
              </a:spcAft>
              <a:defRPr sz="1140" b="1">
                <a:solidFill>
                  <a:srgbClr val="1E3A8A"/>
                </a:solidFill>
                <a:latin typeface="Microsoft YaHei"/>
              </a:defRPr>
            </a:pPr>
            <a:r>
              <a:t>治理结论 [待E3验证]：有望兑现 TPOT 干扰率 &lt; 3% 承诺，消除逐字生成卡顿。</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物理本质：仅在网卡分配队列无法保护 TPOT；必须通过自研软件感知 Decode 步频实施微秒退避，方能消除显存总线争用。</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TPOT 结论：</a:t>
            </a:r>
            <a:r>
              <a:rPr sz="1300">
                <a:solidFill>
                  <a:srgbClr val="0F172A"/>
                </a:solidFill>
                <a:latin typeface="Microsoft YaHei"/>
              </a:rPr>
              <a:t>显存损失 β ≤ 1.8% 与干扰率 1.57% 为物理模型推导值，待 E3 (PVT-07) 混压实测闭环。</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硬件队列与应用层退避协同：将前台干扰严格控制在 1.57%</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自研软件感知 Decode 步频实施微秒退避，配合 KPCL 硬件双轨队列守住 3% 工业红线</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10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70432"/>
            <a:ext cx="5150815" cy="3977640"/>
          </a:xfrm>
          <a:prstGeom prst="rect">
            <a:avLst/>
          </a:prstGeom>
          <a:noFill/>
        </p:spPr>
        <p:txBody>
          <a:bodyPr wrap="square">
            <a:spAutoFit/>
          </a:bodyPr>
          <a:lstStyle/>
          <a:p>
            <a:pPr>
              <a:spcAft>
                <a:spcPts val="600"/>
              </a:spcAft>
              <a:defRPr sz="1550" b="1">
                <a:solidFill>
                  <a:srgbClr val="1E3A8A"/>
                </a:solidFill>
                <a:latin typeface="Microsoft YaHei"/>
              </a:defRPr>
            </a:pPr>
            <a:r>
              <a:t>自研 SemanticQoS 软硬件双轨协同机制</a:t>
            </a:r>
          </a:p>
          <a:p>
            <a:pPr>
              <a:lnSpc>
                <a:spcPct val="120000"/>
              </a:lnSpc>
              <a:spcAft>
                <a:spcPts val="250"/>
              </a:spcAft>
              <a:defRPr sz="1140" b="1">
                <a:solidFill>
                  <a:srgbClr val="0F172A"/>
                </a:solidFill>
                <a:latin typeface="Microsoft YaHei"/>
              </a:defRPr>
            </a:pPr>
            <a:r>
              <a:t>底层硬件层协同机制 (KPCL 原厂通信库支持)：</a:t>
            </a:r>
          </a:p>
          <a:p>
            <a:pPr>
              <a:lnSpc>
                <a:spcPct val="120000"/>
              </a:lnSpc>
              <a:spcAft>
                <a:spcPts val="250"/>
              </a:spcAft>
              <a:defRPr sz="1140" b="0">
                <a:solidFill>
                  <a:srgbClr val="0F172A"/>
                </a:solidFill>
                <a:latin typeface="Microsoft YaHei"/>
              </a:defRPr>
            </a:pPr>
            <a:r>
              <a:t>  • 物理队列隔离：前台在线推理流量绑定 TC0 (最高优先级)，后台换出绑定 TC1；</a:t>
            </a:r>
          </a:p>
          <a:p>
            <a:pPr>
              <a:lnSpc>
                <a:spcPct val="120000"/>
              </a:lnSpc>
              <a:spcAft>
                <a:spcPts val="250"/>
              </a:spcAft>
              <a:defRPr sz="1140" b="0">
                <a:solidFill>
                  <a:srgbClr val="0F172A"/>
                </a:solidFill>
                <a:latin typeface="Microsoft YaHei"/>
              </a:defRPr>
            </a:pPr>
            <a:r>
              <a:t>  • 网卡硬件流控：交换机与网卡使能 PFC/ETS，高优先级流享有绝对调度抢占权；</a:t>
            </a:r>
          </a:p>
          <a:p>
            <a:pPr>
              <a:lnSpc>
                <a:spcPct val="120000"/>
              </a:lnSpc>
              <a:spcAft>
                <a:spcPts val="250"/>
              </a:spcAft>
              <a:defRPr sz="1140" b="0">
                <a:solidFill>
                  <a:srgbClr val="0F172A"/>
                </a:solidFill>
                <a:latin typeface="Microsoft YaHei"/>
              </a:defRPr>
            </a:pPr>
            <a:r>
              <a:t>  • 局限性澄清：网卡只能管网卡内部队列，无法直接干预片上 HBM 交叉总线争用。</a:t>
            </a:r>
          </a:p>
          <a:p>
            <a:pPr>
              <a:lnSpc>
                <a:spcPct val="120000"/>
              </a:lnSpc>
              <a:spcAft>
                <a:spcPts val="250"/>
              </a:spcAft>
              <a:defRPr sz="1140" b="1">
                <a:solidFill>
                  <a:srgbClr val="0F172A"/>
                </a:solidFill>
                <a:latin typeface="Microsoft YaHei"/>
              </a:defRPr>
            </a:pPr>
            <a:r>
              <a:t>上层应用层协同机制 (自研 KVC 软件独有核心能力)：</a:t>
            </a:r>
          </a:p>
          <a:p>
            <a:pPr>
              <a:lnSpc>
                <a:spcPct val="120000"/>
              </a:lnSpc>
              <a:spcAft>
                <a:spcPts val="250"/>
              </a:spcAft>
              <a:defRPr sz="1140" b="0">
                <a:solidFill>
                  <a:srgbClr val="0F172A"/>
                </a:solidFill>
                <a:latin typeface="Microsoft YaHei"/>
              </a:defRPr>
            </a:pPr>
            <a:r>
              <a:t>  • 步频精确感知：实时感知 Decode 阶段 24.8ms 单步计算周期与 Attention 访存窗口；</a:t>
            </a:r>
          </a:p>
          <a:p>
            <a:pPr>
              <a:lnSpc>
                <a:spcPct val="120000"/>
              </a:lnSpc>
              <a:spcAft>
                <a:spcPts val="250"/>
              </a:spcAft>
              <a:defRPr sz="1140" b="0">
                <a:solidFill>
                  <a:srgbClr val="0F172A"/>
                </a:solidFill>
                <a:latin typeface="Microsoft YaHei"/>
              </a:defRPr>
            </a:pPr>
            <a:r>
              <a:t>  • 微秒级主动避让：在 Attention 访存点火的 3~5ms 内，软件主动暂停后台 DMA 触发；</a:t>
            </a:r>
          </a:p>
          <a:p>
            <a:pPr>
              <a:lnSpc>
                <a:spcPct val="120000"/>
              </a:lnSpc>
              <a:spcAft>
                <a:spcPts val="250"/>
              </a:spcAft>
              <a:defRPr sz="1140" b="0">
                <a:solidFill>
                  <a:srgbClr val="0F172A"/>
                </a:solidFill>
                <a:latin typeface="Microsoft YaHei"/>
              </a:defRPr>
            </a:pPr>
            <a:r>
              <a:t>  • 错峰传输保障：将后台数据搬运全部引导至两步之间的气泡进行。</a:t>
            </a:r>
          </a:p>
          <a:p>
            <a:pPr>
              <a:lnSpc>
                <a:spcPct val="120000"/>
              </a:lnSpc>
              <a:spcAft>
                <a:spcPts val="250"/>
              </a:spcAft>
              <a:defRPr sz="1140" b="1">
                <a:solidFill>
                  <a:srgbClr val="0F172A"/>
                </a:solidFill>
                <a:latin typeface="Microsoft YaHei"/>
              </a:defRPr>
            </a:pPr>
            <a:r>
              <a:t>协同结论：底层通信库无法独立实现，必须由软硬件协同保障。</a:t>
            </a:r>
          </a:p>
        </p:txBody>
      </p:sp>
      <p:sp>
        <p:nvSpPr>
          <p:cNvPr id="8" name="Rounded Rectangle 7"/>
          <p:cNvSpPr/>
          <p:nvPr/>
        </p:nvSpPr>
        <p:spPr>
          <a:xfrm>
            <a:off x="6217920" y="1115568"/>
            <a:ext cx="542513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170432"/>
            <a:ext cx="5150815" cy="3977640"/>
          </a:xfrm>
          <a:prstGeom prst="rect">
            <a:avLst/>
          </a:prstGeom>
          <a:noFill/>
        </p:spPr>
        <p:txBody>
          <a:bodyPr wrap="square">
            <a:spAutoFit/>
          </a:bodyPr>
          <a:lstStyle/>
          <a:p>
            <a:pPr>
              <a:spcAft>
                <a:spcPts val="600"/>
              </a:spcAft>
              <a:defRPr sz="1550" b="1">
                <a:solidFill>
                  <a:srgbClr val="1D4ED8"/>
                </a:solidFill>
                <a:latin typeface="Microsoft YaHei"/>
              </a:defRPr>
            </a:pPr>
            <a:r>
              <a:t>前后台混压指标量化推导与目标 [数据分类溯源]</a:t>
            </a:r>
          </a:p>
          <a:p>
            <a:pPr>
              <a:lnSpc>
                <a:spcPct val="120000"/>
              </a:lnSpc>
              <a:spcAft>
                <a:spcPts val="250"/>
              </a:spcAft>
              <a:defRPr sz="1140" b="1">
                <a:solidFill>
                  <a:srgbClr val="0F172A"/>
                </a:solidFill>
                <a:latin typeface="Microsoft YaHei"/>
              </a:defRPr>
            </a:pPr>
            <a:r>
              <a:t>单步生成耗时表现 [基准与推导]：</a:t>
            </a:r>
          </a:p>
          <a:p>
            <a:pPr>
              <a:lnSpc>
                <a:spcPct val="120000"/>
              </a:lnSpc>
              <a:spcAft>
                <a:spcPts val="250"/>
              </a:spcAft>
              <a:defRPr sz="1140" b="0">
                <a:solidFill>
                  <a:srgbClr val="0F172A"/>
                </a:solidFill>
                <a:latin typeface="Microsoft YaHei"/>
              </a:defRPr>
            </a:pPr>
            <a:r>
              <a:t>  • 纯前台无干扰基线 [基准假设值]：τ_0 = 24.80 ms/token；</a:t>
            </a:r>
          </a:p>
          <a:p>
            <a:pPr>
              <a:lnSpc>
                <a:spcPct val="120000"/>
              </a:lnSpc>
              <a:spcAft>
                <a:spcPts val="250"/>
              </a:spcAft>
              <a:defRPr sz="1140" b="0">
                <a:solidFill>
                  <a:srgbClr val="0F172A"/>
                </a:solidFill>
                <a:latin typeface="Microsoft YaHei"/>
              </a:defRPr>
            </a:pPr>
            <a:r>
              <a:t>  • 开源无流控混压 [模型推导值]：τ(β) = 28.97 ms/token (劣化 4.17ms/token)；</a:t>
            </a:r>
          </a:p>
          <a:p>
            <a:pPr>
              <a:lnSpc>
                <a:spcPct val="120000"/>
              </a:lnSpc>
              <a:spcAft>
                <a:spcPts val="250"/>
              </a:spcAft>
              <a:defRPr sz="1140" b="0">
                <a:solidFill>
                  <a:srgbClr val="0F172A"/>
                </a:solidFill>
                <a:latin typeface="Microsoft YaHei"/>
              </a:defRPr>
            </a:pPr>
            <a:r>
              <a:t>  • 自研软硬协同混压 [模型推导值]：τ(β) = 25.19 ms/token (仅增加 0.39ms/token)。</a:t>
            </a:r>
          </a:p>
          <a:p>
            <a:pPr>
              <a:lnSpc>
                <a:spcPct val="120000"/>
              </a:lnSpc>
              <a:spcAft>
                <a:spcPts val="250"/>
              </a:spcAft>
              <a:defRPr sz="1140" b="1">
                <a:solidFill>
                  <a:srgbClr val="0F172A"/>
                </a:solidFill>
                <a:latin typeface="Microsoft YaHei"/>
              </a:defRPr>
            </a:pPr>
            <a:r>
              <a:t>前台性能干扰率 (业务 SLO 门限 ≤ 3.0% [验收目标值])：</a:t>
            </a:r>
          </a:p>
          <a:p>
            <a:pPr>
              <a:lnSpc>
                <a:spcPct val="120000"/>
              </a:lnSpc>
              <a:spcAft>
                <a:spcPts val="250"/>
              </a:spcAft>
              <a:defRPr sz="1140" b="0">
                <a:solidFill>
                  <a:srgbClr val="0F172A"/>
                </a:solidFill>
                <a:latin typeface="Microsoft YaHei"/>
              </a:defRPr>
            </a:pPr>
            <a:r>
              <a:t>  • 开源无流控干扰率 [模型推导值]：I = 16.8% (超标 5.6 倍，严重卡顿)；</a:t>
            </a:r>
          </a:p>
          <a:p>
            <a:pPr>
              <a:lnSpc>
                <a:spcPct val="120000"/>
              </a:lnSpc>
              <a:spcAft>
                <a:spcPts val="250"/>
              </a:spcAft>
              <a:defRPr sz="1140" b="0">
                <a:solidFill>
                  <a:srgbClr val="1E3A8A"/>
                </a:solidFill>
                <a:latin typeface="Microsoft YaHei"/>
              </a:defRPr>
            </a:pPr>
            <a:r>
              <a:t>  • 自研软硬协同干扰率 [模型推导值]：I = 1.57% (锁定在 3% 工业红线内，待 E3 验收)。</a:t>
            </a:r>
          </a:p>
          <a:p>
            <a:pPr>
              <a:lnSpc>
                <a:spcPct val="120000"/>
              </a:lnSpc>
              <a:spcAft>
                <a:spcPts val="250"/>
              </a:spcAft>
              <a:defRPr sz="1140" b="1">
                <a:solidFill>
                  <a:srgbClr val="0F172A"/>
                </a:solidFill>
                <a:latin typeface="Microsoft YaHei"/>
              </a:defRPr>
            </a:pPr>
            <a:r>
              <a:t>业务 SLO 达成与体验收益 [验收目标]：</a:t>
            </a:r>
          </a:p>
          <a:p>
            <a:pPr>
              <a:lnSpc>
                <a:spcPct val="120000"/>
              </a:lnSpc>
              <a:spcAft>
                <a:spcPts val="250"/>
              </a:spcAft>
              <a:defRPr sz="1140" b="0">
                <a:solidFill>
                  <a:srgbClr val="0F172A"/>
                </a:solidFill>
                <a:latin typeface="Microsoft YaHei"/>
              </a:defRPr>
            </a:pPr>
            <a:r>
              <a:t>  • 消除每轮会话长尾延迟 500ms 以上的拖拽卡顿；</a:t>
            </a:r>
          </a:p>
          <a:p>
            <a:pPr>
              <a:lnSpc>
                <a:spcPct val="120000"/>
              </a:lnSpc>
              <a:spcAft>
                <a:spcPts val="250"/>
              </a:spcAft>
              <a:defRPr sz="1140" b="0">
                <a:solidFill>
                  <a:srgbClr val="0F172A"/>
                </a:solidFill>
                <a:latin typeface="Microsoft YaHei"/>
              </a:defRPr>
            </a:pPr>
            <a:r>
              <a:t>  • 达成在线推理 P99 逐字时延高稳定性，满足核心业务交互要求。</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方案价值：纯硬件管不到显存访存，纯软件无法做微秒抢占；自研软件与 KPCL 协同，才是解决 TPOT 干扰的唯一物理通路。</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流控价值：</a:t>
            </a:r>
            <a:r>
              <a:rPr sz="1300">
                <a:solidFill>
                  <a:srgbClr val="0F172A"/>
                </a:solidFill>
                <a:latin typeface="Microsoft YaHei"/>
              </a:rPr>
              <a:t>1.57% 干扰率为理论推导值，立项验收目标为混压 TPOT 干扰率 &lt; 3%，由 E3 门禁把关。</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网络 Incast 治理：基于网络演算的端侧突发流量整形</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D_max ≤ θ + σ/R，反求端侧最大允许突发 σ ≤ 36MB，杜绝交换机浅缓冲溢出</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11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059375" cy="3931920"/>
          </a:xfrm>
          <a:prstGeom prst="rect">
            <a:avLst/>
          </a:prstGeom>
          <a:noFill/>
        </p:spPr>
        <p:txBody>
          <a:bodyPr wrap="square">
            <a:spAutoFit/>
          </a:bodyPr>
          <a:lstStyle/>
          <a:p>
            <a:pPr>
              <a:spcAft>
                <a:spcPts val="800"/>
              </a:spcAft>
              <a:defRPr sz="1550" b="1">
                <a:solidFill>
                  <a:srgbClr val="1E3A8A"/>
                </a:solidFill>
                <a:latin typeface="Microsoft YaHei"/>
              </a:defRPr>
            </a:pPr>
            <a:r>
              <a:t>网络演算确定性服务时延界与反求 [理论推导]</a:t>
            </a:r>
          </a:p>
          <a:p>
            <a:pPr>
              <a:lnSpc>
                <a:spcPct val="122000"/>
              </a:lnSpc>
              <a:spcAft>
                <a:spcPts val="400"/>
              </a:spcAft>
              <a:defRPr sz="1160" b="1">
                <a:solidFill>
                  <a:srgbClr val="0F172A"/>
                </a:solidFill>
                <a:latin typeface="Microsoft YaHei"/>
              </a:defRPr>
            </a:pPr>
            <a:r>
              <a:t>网络演算基础模型：到达曲线 A(u) ≤ σ+ρu；服务曲线 B(u) = R[u−θ]_+：</a:t>
            </a:r>
          </a:p>
          <a:p>
            <a:pPr>
              <a:lnSpc>
                <a:spcPct val="122000"/>
              </a:lnSpc>
              <a:spcAft>
                <a:spcPts val="400"/>
              </a:spcAft>
              <a:defRPr sz="1160" b="0">
                <a:solidFill>
                  <a:srgbClr val="0F172A"/>
                </a:solidFill>
                <a:latin typeface="Microsoft YaHei"/>
              </a:defRPr>
            </a:pPr>
            <a:r>
              <a:t>  • σ: 允许最大突发量；ρ: 长期平均速率；R: 保证服务速率；θ: 启动延迟；</a:t>
            </a:r>
          </a:p>
          <a:p>
            <a:pPr>
              <a:lnSpc>
                <a:spcPct val="122000"/>
              </a:lnSpc>
              <a:spcAft>
                <a:spcPts val="400"/>
              </a:spcAft>
              <a:defRPr sz="1160" b="0">
                <a:solidFill>
                  <a:srgbClr val="0F172A"/>
                </a:solidFill>
                <a:latin typeface="Microsoft YaHei"/>
              </a:defRPr>
            </a:pPr>
            <a:r>
              <a:t>  • 确定性最大排队延迟界：D_max ≤ θ + σ / R (在 R ≥ ρ 条件下)；</a:t>
            </a:r>
          </a:p>
          <a:p>
            <a:pPr>
              <a:lnSpc>
                <a:spcPct val="122000"/>
              </a:lnSpc>
              <a:spcAft>
                <a:spcPts val="400"/>
              </a:spcAft>
              <a:defRPr sz="1160" b="1">
                <a:solidFill>
                  <a:srgbClr val="0F172A"/>
                </a:solidFill>
                <a:latin typeface="Microsoft YaHei"/>
              </a:defRPr>
            </a:pPr>
            <a:r>
              <a:t>时延预算反求端侧突发红线 [目标与推导]：</a:t>
            </a:r>
          </a:p>
          <a:p>
            <a:pPr>
              <a:lnSpc>
                <a:spcPct val="122000"/>
              </a:lnSpc>
              <a:spcAft>
                <a:spcPts val="400"/>
              </a:spcAft>
              <a:defRPr sz="1160" b="1">
                <a:solidFill>
                  <a:srgbClr val="0F172A"/>
                </a:solidFill>
                <a:latin typeface="Microsoft YaHei"/>
              </a:defRPr>
            </a:pPr>
            <a:r>
              <a:t>  • 排队时延预算 [目标值]：D* ≤ 2.0ms，单卡网络带宽 R = 20GB/s [标称]，启动延迟 θ = 0.2ms [假设]；</a:t>
            </a:r>
          </a:p>
          <a:p>
            <a:pPr>
              <a:lnSpc>
                <a:spcPct val="122000"/>
              </a:lnSpc>
              <a:spcAft>
                <a:spcPts val="400"/>
              </a:spcAft>
              <a:defRPr sz="1160" b="0">
                <a:solidFill>
                  <a:srgbClr val="0F172A"/>
                </a:solidFill>
                <a:latin typeface="Microsoft YaHei"/>
              </a:defRPr>
            </a:pPr>
            <a:r>
              <a:t>  • 反求端侧最大允许并发突发量 [推导值]：σ ≤ R(D* − θ) = 20GB/s × 1.8ms = 36.0 MB；</a:t>
            </a:r>
          </a:p>
          <a:p>
            <a:pPr>
              <a:lnSpc>
                <a:spcPct val="122000"/>
              </a:lnSpc>
              <a:spcAft>
                <a:spcPts val="400"/>
              </a:spcAft>
              <a:defRPr sz="1160" b="1">
                <a:solidFill>
                  <a:srgbClr val="0F172A"/>
                </a:solidFill>
                <a:latin typeface="Microsoft YaHei"/>
              </a:defRPr>
            </a:pPr>
            <a:r>
              <a:t>物理瓶颈分析 [硬件物理常数]：</a:t>
            </a:r>
          </a:p>
          <a:p>
            <a:pPr>
              <a:lnSpc>
                <a:spcPct val="122000"/>
              </a:lnSpc>
              <a:spcAft>
                <a:spcPts val="400"/>
              </a:spcAft>
              <a:defRPr sz="1160" b="0">
                <a:solidFill>
                  <a:srgbClr val="0F172A"/>
                </a:solidFill>
                <a:latin typeface="Microsoft YaHei"/>
              </a:defRPr>
            </a:pPr>
            <a:r>
              <a:t>  • 主流 RoCE 交换机单出端口共享浅缓冲区容量仅为 32 MB~64 MB [物理常数]；</a:t>
            </a:r>
          </a:p>
          <a:p>
            <a:pPr>
              <a:lnSpc>
                <a:spcPct val="122000"/>
              </a:lnSpc>
              <a:spcAft>
                <a:spcPts val="400"/>
              </a:spcAft>
              <a:defRPr sz="1160" b="0">
                <a:solidFill>
                  <a:srgbClr val="0F172A"/>
                </a:solidFill>
                <a:latin typeface="Microsoft YaHei"/>
              </a:defRPr>
            </a:pPr>
            <a:r>
              <a:t>  • 一旦端侧瞬时突发超过 36MB，交换机瞬间丢包，引发 PFC 死锁与重传风暴。</a:t>
            </a:r>
          </a:p>
        </p:txBody>
      </p:sp>
      <p:sp>
        <p:nvSpPr>
          <p:cNvPr id="8" name="Rounded Rectangle 7"/>
          <p:cNvSpPr/>
          <p:nvPr/>
        </p:nvSpPr>
        <p:spPr>
          <a:xfrm>
            <a:off x="6217920" y="1115568"/>
            <a:ext cx="542513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5059375" cy="3931920"/>
          </a:xfrm>
          <a:prstGeom prst="rect">
            <a:avLst/>
          </a:prstGeom>
          <a:noFill/>
        </p:spPr>
        <p:txBody>
          <a:bodyPr wrap="square">
            <a:spAutoFit/>
          </a:bodyPr>
          <a:lstStyle/>
          <a:p>
            <a:pPr>
              <a:spcAft>
                <a:spcPts val="800"/>
              </a:spcAft>
              <a:defRPr sz="1550" b="1">
                <a:solidFill>
                  <a:srgbClr val="1D4ED8"/>
                </a:solidFill>
                <a:latin typeface="Microsoft YaHei"/>
              </a:defRPr>
            </a:pPr>
            <a:r>
              <a:t>16 并发汇聚 Incast 拥塞与端侧令牌桶整形</a:t>
            </a:r>
          </a:p>
          <a:p>
            <a:pPr>
              <a:lnSpc>
                <a:spcPct val="122000"/>
              </a:lnSpc>
              <a:spcAft>
                <a:spcPts val="400"/>
              </a:spcAft>
              <a:defRPr sz="1160" b="1">
                <a:solidFill>
                  <a:srgbClr val="0F172A"/>
                </a:solidFill>
                <a:latin typeface="Microsoft YaHei"/>
              </a:defRPr>
            </a:pPr>
            <a:r>
              <a:t>通用开源方案缺陷 [工作负载假设]：</a:t>
            </a:r>
          </a:p>
          <a:p>
            <a:pPr>
              <a:lnSpc>
                <a:spcPct val="122000"/>
              </a:lnSpc>
              <a:spcAft>
                <a:spcPts val="400"/>
              </a:spcAft>
              <a:defRPr sz="1160" b="0">
                <a:solidFill>
                  <a:srgbClr val="0F172A"/>
                </a:solidFill>
                <a:latin typeface="Microsoft YaHei"/>
              </a:defRPr>
            </a:pPr>
            <a:r>
              <a:t>  • 16 并发 TP=8 产生 128 条并发子流 [假设场景]，瞬时突发 512MB 冲击浅缓冲；</a:t>
            </a:r>
          </a:p>
          <a:p>
            <a:pPr>
              <a:lnSpc>
                <a:spcPct val="122000"/>
              </a:lnSpc>
              <a:spcAft>
                <a:spcPts val="400"/>
              </a:spcAft>
              <a:defRPr sz="1160" b="0">
                <a:solidFill>
                  <a:srgbClr val="0F172A"/>
                </a:solidFill>
                <a:latin typeface="Microsoft YaHei"/>
              </a:defRPr>
            </a:pPr>
            <a:r>
              <a:t>  • 工程后果 [推导/估算]：引发严重丢包与重传，单卡传输 P99 飙升至 185.0 ms；</a:t>
            </a:r>
          </a:p>
          <a:p>
            <a:pPr>
              <a:lnSpc>
                <a:spcPct val="122000"/>
              </a:lnSpc>
              <a:spcAft>
                <a:spcPts val="400"/>
              </a:spcAft>
              <a:defRPr sz="1160" b="1">
                <a:solidFill>
                  <a:srgbClr val="0F172A"/>
                </a:solidFill>
                <a:latin typeface="Microsoft YaHei"/>
              </a:defRPr>
            </a:pPr>
            <a:r>
              <a:t>自研 KVC 令牌桶微秒整形机制 [设计目标与推导]：</a:t>
            </a:r>
          </a:p>
          <a:p>
            <a:pPr>
              <a:lnSpc>
                <a:spcPct val="122000"/>
              </a:lnSpc>
              <a:spcAft>
                <a:spcPts val="400"/>
              </a:spcAft>
              <a:defRPr sz="1160" b="0">
                <a:solidFill>
                  <a:srgbClr val="0F172A"/>
                </a:solidFill>
                <a:latin typeface="Microsoft YaHei"/>
              </a:defRPr>
            </a:pPr>
            <a:r>
              <a:t>  • 在发起端布设微秒级令牌桶，对并发流实施突发削峰与整形；</a:t>
            </a:r>
          </a:p>
          <a:p>
            <a:pPr>
              <a:lnSpc>
                <a:spcPct val="122000"/>
              </a:lnSpc>
              <a:spcAft>
                <a:spcPts val="400"/>
              </a:spcAft>
              <a:defRPr sz="1160" b="0">
                <a:solidFill>
                  <a:srgbClr val="0F172A"/>
                </a:solidFill>
                <a:latin typeface="Microsoft YaHei"/>
              </a:defRPr>
            </a:pPr>
            <a:r>
              <a:t>  • 瞬时突发平滑至 σ ≤ 16MB [控制目标值]，交换机缓冲占用率稳定在 50% 以下；</a:t>
            </a:r>
          </a:p>
          <a:p>
            <a:pPr>
              <a:lnSpc>
                <a:spcPct val="122000"/>
              </a:lnSpc>
              <a:spcAft>
                <a:spcPts val="400"/>
              </a:spcAft>
              <a:defRPr sz="1160" b="0">
                <a:solidFill>
                  <a:srgbClr val="0F172A"/>
                </a:solidFill>
                <a:latin typeface="Microsoft YaHei"/>
              </a:defRPr>
            </a:pPr>
            <a:r>
              <a:t>  • 排队延迟严格控制在 1.0ms 内 [推导上界]，从源头消除 Incast 丢包与长尾抖动。</a:t>
            </a:r>
          </a:p>
          <a:p>
            <a:pPr>
              <a:lnSpc>
                <a:spcPct val="122000"/>
              </a:lnSpc>
              <a:spcAft>
                <a:spcPts val="400"/>
              </a:spcAft>
              <a:defRPr sz="1160" b="1">
                <a:solidFill>
                  <a:srgbClr val="1E3A8A"/>
                </a:solidFill>
                <a:latin typeface="Microsoft YaHei"/>
              </a:defRPr>
            </a:pPr>
            <a:r>
              <a:t>达成结论 [架构设计目标]：端侧软件感知业务并发并主动整形，从源头保障确定性。</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核心机理：峰值链路带宽无法防御瞬时网络排队；通过网络演算反求端侧突发上限并由自研软件整形，方能彻底根除 Incast 丢包。</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尾延迟结论：</a:t>
            </a:r>
            <a:r>
              <a:rPr sz="1300" b="1">
                <a:solidFill>
                  <a:srgbClr val="DC2626"/>
                </a:solidFill>
                <a:latin typeface="Microsoft YaHei"/>
              </a:rPr>
              <a:t>σ ≤ 36MB 为网络演算推导阈值</a:t>
            </a:r>
            <a:r>
              <a:rPr sz="1300">
                <a:solidFill>
                  <a:srgbClr val="0F172A"/>
                </a:solidFill>
                <a:latin typeface="Microsoft YaHei"/>
              </a:rPr>
              <a:t>，端侧整形消除 Incast 丢包为架构设计目标，待 E3 实测验证。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多卡 Coflow 组完成：消除 TP=8 木桶短板，P99 组完成时延压降 87%</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T_group = max(T_r)；单卡 99.87% 分位方能兑现整组 99% 分位，必须依靠原子 Doorbell 协同</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12 / 18</a:t>
            </a:r>
          </a:p>
        </p:txBody>
      </p:sp>
      <p:sp>
        <p:nvSpPr>
          <p:cNvPr id="6" name="Rounded Rectangle 5"/>
          <p:cNvSpPr/>
          <p:nvPr/>
        </p:nvSpPr>
        <p:spPr>
          <a:xfrm>
            <a:off x="548640" y="1078992"/>
            <a:ext cx="11094415" cy="150876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33856"/>
            <a:ext cx="10698480" cy="1371600"/>
          </a:xfrm>
          <a:prstGeom prst="rect">
            <a:avLst/>
          </a:prstGeom>
          <a:noFill/>
        </p:spPr>
        <p:txBody>
          <a:bodyPr wrap="square">
            <a:spAutoFit/>
          </a:bodyPr>
          <a:lstStyle/>
          <a:p>
            <a:pPr>
              <a:spcAft>
                <a:spcPts val="400"/>
              </a:spcAft>
              <a:defRPr sz="1450" b="1">
                <a:solidFill>
                  <a:srgbClr val="1E3A8A"/>
                </a:solidFill>
                <a:latin typeface="Microsoft YaHei"/>
              </a:defRPr>
            </a:pPr>
            <a:r>
              <a:t>多卡协同第一性原理：张量并行 TP=8 存在物理全员同步屏障 [物理特性]</a:t>
            </a:r>
          </a:p>
          <a:p>
            <a:pPr>
              <a:lnSpc>
                <a:spcPct val="122000"/>
              </a:lnSpc>
              <a:spcAft>
                <a:spcPts val="200"/>
              </a:spcAft>
              <a:defRPr sz="1180">
                <a:solidFill>
                  <a:srgbClr val="0F172A"/>
                </a:solidFill>
                <a:latin typeface="Microsoft YaHei"/>
              </a:defRPr>
            </a:pPr>
            <a:r>
              <a:t>• 整组就绪时间取决于最慢卡：T_group = max(T_1, ..., T_8)；单卡偏斜直接放大整组尾延迟；</a:t>
            </a:r>
          </a:p>
          <a:p>
            <a:pPr>
              <a:lnSpc>
                <a:spcPct val="122000"/>
              </a:lnSpc>
              <a:spcAft>
                <a:spcPts val="200"/>
              </a:spcAft>
              <a:defRPr sz="1180">
                <a:solidFill>
                  <a:srgbClr val="0F172A"/>
                </a:solidFill>
                <a:latin typeface="Microsoft YaHei"/>
              </a:defRPr>
            </a:pPr>
            <a:r>
              <a:t>• 独立分布放大法则 [理论推导]：F_group(t) = [F(t)]^8 ➔ 若要求整组达到 99% 分位 [目标]，单卡需达到 99.8745% 极致分位 [推导]；</a:t>
            </a:r>
          </a:p>
          <a:p>
            <a:pPr>
              <a:lnSpc>
                <a:spcPct val="122000"/>
              </a:lnSpc>
              <a:defRPr sz="1180" b="1">
                <a:solidFill>
                  <a:srgbClr val="DC2626"/>
                </a:solidFill>
                <a:latin typeface="Microsoft YaHei"/>
              </a:defRPr>
            </a:pPr>
            <a:r>
              <a:t>• 架构结论：在多卡并行下，只优化单流平均时延毫无意义，单张慢卡将显著拉长整组 P99。</a:t>
            </a:r>
          </a:p>
        </p:txBody>
      </p:sp>
      <p:graphicFrame>
        <p:nvGraphicFramePr>
          <p:cNvPr id="8" name="Table 7"/>
          <p:cNvGraphicFramePr>
            <a:graphicFrameLocks noGrp="1"/>
          </p:cNvGraphicFramePr>
          <p:nvPr/>
        </p:nvGraphicFramePr>
        <p:xfrm>
          <a:off x="548640" y="2724912"/>
          <a:ext cx="11094415" cy="3017520"/>
        </p:xfrm>
        <a:graphic>
          <a:graphicData uri="http://schemas.openxmlformats.org/drawingml/2006/table">
            <a:tbl>
              <a:tblPr firstRow="1" bandRow="1">
                <a:tableStyleId>{5C22544A-7EE6-4342-B048-85BDC9FD1C3A}</a:tableStyleId>
              </a:tblPr>
              <a:tblGrid>
                <a:gridCol w="2331720"/>
                <a:gridCol w="2560320"/>
                <a:gridCol w="2560320"/>
                <a:gridCol w="3642055"/>
              </a:tblGrid>
              <a:tr h="502920">
                <a:tc>
                  <a:txBody>
                    <a:bodyPr/>
                    <a:lstStyle/>
                    <a:p>
                      <a:pPr algn="ctr">
                        <a:defRPr sz="1150" b="1">
                          <a:solidFill>
                            <a:srgbClr val="FFFFFF"/>
                          </a:solidFill>
                          <a:latin typeface="Microsoft YaHei"/>
                        </a:defRPr>
                      </a:pPr>
                      <a:r>
                        <a:t>关键性能评估维度</a:t>
                      </a:r>
                    </a:p>
                  </a:txBody>
                  <a:tcPr anchor="ctr" marT="31750" marB="31750" marL="50800" marR="50800">
                    <a:solidFill>
                      <a:srgbClr val="1E3A8A"/>
                    </a:solidFill>
                  </a:tcPr>
                </a:tc>
                <a:tc>
                  <a:txBody>
                    <a:bodyPr/>
                    <a:lstStyle/>
                    <a:p>
                      <a:pPr algn="ctr">
                        <a:defRPr sz="1150" b="1">
                          <a:solidFill>
                            <a:srgbClr val="FFFFFF"/>
                          </a:solidFill>
                          <a:latin typeface="Microsoft YaHei"/>
                        </a:defRPr>
                      </a:pPr>
                      <a:r>
                        <a:t>① 开源通用基线 [无协同估算值]</a:t>
                      </a:r>
                    </a:p>
                  </a:txBody>
                  <a:tcPr anchor="ctr" marT="31750" marB="31750" marL="50800" marR="50800">
                    <a:solidFill>
                      <a:srgbClr val="1E3A8A"/>
                    </a:solidFill>
                  </a:tcPr>
                </a:tc>
                <a:tc>
                  <a:txBody>
                    <a:bodyPr/>
                    <a:lstStyle/>
                    <a:p>
                      <a:pPr algn="ctr">
                        <a:defRPr sz="1150" b="1">
                          <a:solidFill>
                            <a:srgbClr val="FFFFFF"/>
                          </a:solidFill>
                          <a:latin typeface="Microsoft YaHei"/>
                        </a:defRPr>
                      </a:pPr>
                      <a:r>
                        <a:t>② 自研软硬协同 [模型推导值]</a:t>
                      </a:r>
                    </a:p>
                  </a:txBody>
                  <a:tcPr anchor="ctr" marT="31750" marB="31750" marL="50800" marR="50800">
                    <a:solidFill>
                      <a:srgbClr val="1E3A8A"/>
                    </a:solidFill>
                  </a:tcPr>
                </a:tc>
                <a:tc>
                  <a:txBody>
                    <a:bodyPr/>
                    <a:lstStyle/>
                    <a:p>
                      <a:pPr algn="ctr">
                        <a:defRPr sz="1150" b="1">
                          <a:solidFill>
                            <a:srgbClr val="FFFFFF"/>
                          </a:solidFill>
                          <a:latin typeface="Microsoft YaHei"/>
                        </a:defRPr>
                      </a:pPr>
                      <a:r>
                        <a:t>自研改善幅度与物理归因 [性质说明]</a:t>
                      </a:r>
                    </a:p>
                  </a:txBody>
                  <a:tcPr anchor="ctr" marT="31750" marB="31750" marL="50800" marR="50800">
                    <a:solidFill>
                      <a:srgbClr val="1E3A8A"/>
                    </a:solidFill>
                  </a:tcPr>
                </a:tc>
              </a:tr>
              <a:tr h="502920">
                <a:tc>
                  <a:txBody>
                    <a:bodyPr/>
                    <a:lstStyle/>
                    <a:p>
                      <a:pPr algn="ctr">
                        <a:defRPr sz="1080" b="1">
                          <a:solidFill>
                            <a:srgbClr val="0F172A"/>
                          </a:solidFill>
                          <a:latin typeface="Microsoft YaHei"/>
                        </a:defRPr>
                      </a:pPr>
                      <a:r>
                        <a:t>单卡数据传输时延 (P50 / P99)</a:t>
                      </a:r>
                    </a:p>
                  </a:txBody>
                  <a:tcPr anchor="ctr" marT="25400" marB="25400" marL="50800" marR="50800">
                    <a:solidFill>
                      <a:srgbClr val="FFFFFF"/>
                    </a:solidFill>
                  </a:tcPr>
                </a:tc>
                <a:tc>
                  <a:txBody>
                    <a:bodyPr/>
                    <a:lstStyle/>
                    <a:p>
                      <a:pPr algn="l">
                        <a:defRPr sz="1080">
                          <a:solidFill>
                            <a:srgbClr val="0F172A"/>
                          </a:solidFill>
                          <a:latin typeface="Microsoft YaHei"/>
                        </a:defRPr>
                      </a:pPr>
                      <a:r>
                        <a:t>24.8 ms / 185.0 ms [推导值]</a:t>
                      </a:r>
                    </a:p>
                  </a:txBody>
                  <a:tcPr anchor="ctr" marT="25400" marB="25400" marL="50800" marR="50800">
                    <a:solidFill>
                      <a:srgbClr val="FFFFFF"/>
                    </a:solidFill>
                  </a:tcPr>
                </a:tc>
                <a:tc>
                  <a:txBody>
                    <a:bodyPr/>
                    <a:lstStyle/>
                    <a:p>
                      <a:pPr algn="l">
                        <a:defRPr sz="1080">
                          <a:solidFill>
                            <a:srgbClr val="0F172A"/>
                          </a:solidFill>
                          <a:latin typeface="Microsoft YaHei"/>
                        </a:defRPr>
                      </a:pPr>
                      <a:r>
                        <a:t>20.8 ms / 28.5 ms [推导值]</a:t>
                      </a:r>
                    </a:p>
                  </a:txBody>
                  <a:tcPr anchor="ctr" marT="25400" marB="25400" marL="50800" marR="50800">
                    <a:solidFill>
                      <a:srgbClr val="FFFFFF"/>
                    </a:solidFill>
                  </a:tcPr>
                </a:tc>
                <a:tc>
                  <a:txBody>
                    <a:bodyPr/>
                    <a:lstStyle/>
                    <a:p>
                      <a:pPr algn="l">
                        <a:defRPr sz="1080">
                          <a:solidFill>
                            <a:srgbClr val="0F172A"/>
                          </a:solidFill>
                          <a:latin typeface="Microsoft YaHei"/>
                        </a:defRPr>
                      </a:pPr>
                      <a:r>
                        <a:t>单卡 P99 缩短 84.6% [推导值] (令牌桶消除丢包)</a:t>
                      </a:r>
                    </a:p>
                  </a:txBody>
                  <a:tcPr anchor="ctr" marT="25400" marB="25400" marL="50800" marR="50800">
                    <a:solidFill>
                      <a:srgbClr val="FFFFFF"/>
                    </a:solidFill>
                  </a:tcPr>
                </a:tc>
              </a:tr>
              <a:tr h="502920">
                <a:tc>
                  <a:txBody>
                    <a:bodyPr/>
                    <a:lstStyle/>
                    <a:p>
                      <a:pPr algn="ctr">
                        <a:defRPr sz="1080" b="1">
                          <a:solidFill>
                            <a:srgbClr val="0F172A"/>
                          </a:solidFill>
                          <a:latin typeface="Microsoft YaHei"/>
                        </a:defRPr>
                      </a:pPr>
                      <a:r>
                        <a:t>多卡木桶偏斜比 (Skew_P99)</a:t>
                      </a:r>
                    </a:p>
                  </a:txBody>
                  <a:tcPr anchor="ctr" marT="25400" marB="25400" marL="50800" marR="50800">
                    <a:solidFill>
                      <a:srgbClr val="EFF6FF"/>
                    </a:solidFill>
                  </a:tcPr>
                </a:tc>
                <a:tc>
                  <a:txBody>
                    <a:bodyPr/>
                    <a:lstStyle/>
                    <a:p>
                      <a:pPr algn="l">
                        <a:defRPr sz="1080">
                          <a:solidFill>
                            <a:srgbClr val="0F172A"/>
                          </a:solidFill>
                          <a:latin typeface="Microsoft YaHei"/>
                        </a:defRPr>
                      </a:pPr>
                      <a:r>
                        <a:t>2.85 [估算值] (步调失谐，慢卡频发)</a:t>
                      </a:r>
                    </a:p>
                  </a:txBody>
                  <a:tcPr anchor="ctr" marT="25400" marB="25400" marL="50800" marR="50800">
                    <a:solidFill>
                      <a:srgbClr val="EFF6FF"/>
                    </a:solidFill>
                  </a:tcPr>
                </a:tc>
                <a:tc>
                  <a:txBody>
                    <a:bodyPr/>
                    <a:lstStyle/>
                    <a:p>
                      <a:pPr algn="l">
                        <a:defRPr sz="1080">
                          <a:solidFill>
                            <a:srgbClr val="0F172A"/>
                          </a:solidFill>
                          <a:latin typeface="Microsoft YaHei"/>
                        </a:defRPr>
                      </a:pPr>
                      <a:r>
                        <a:t>1.14 [目标推导值] (多卡步调高度一致)</a:t>
                      </a:r>
                    </a:p>
                  </a:txBody>
                  <a:tcPr anchor="ctr" marT="25400" marB="25400" marL="50800" marR="50800">
                    <a:solidFill>
                      <a:srgbClr val="EFF6FF"/>
                    </a:solidFill>
                  </a:tcPr>
                </a:tc>
                <a:tc>
                  <a:txBody>
                    <a:bodyPr/>
                    <a:lstStyle/>
                    <a:p>
                      <a:pPr algn="l">
                        <a:defRPr sz="1080">
                          <a:solidFill>
                            <a:srgbClr val="0F172A"/>
                          </a:solidFill>
                          <a:latin typeface="Microsoft YaHei"/>
                        </a:defRPr>
                      </a:pPr>
                      <a:r>
                        <a:t>偏斜比降低 60.0% [推导值] (原子Doorbell协同)</a:t>
                      </a:r>
                    </a:p>
                  </a:txBody>
                  <a:tcPr anchor="ctr" marT="25400" marB="25400" marL="50800" marR="50800">
                    <a:solidFill>
                      <a:srgbClr val="EFF6FF"/>
                    </a:solidFill>
                  </a:tcPr>
                </a:tc>
              </a:tr>
              <a:tr h="502920">
                <a:tc>
                  <a:txBody>
                    <a:bodyPr/>
                    <a:lstStyle/>
                    <a:p>
                      <a:pPr algn="ctr">
                        <a:defRPr sz="1080" b="1">
                          <a:solidFill>
                            <a:srgbClr val="0F172A"/>
                          </a:solidFill>
                          <a:latin typeface="Microsoft YaHei"/>
                        </a:defRPr>
                      </a:pPr>
                      <a:r>
                        <a:t>多卡组完成时延 (T_group, P99)</a:t>
                      </a:r>
                    </a:p>
                  </a:txBody>
                  <a:tcPr anchor="ctr" marT="25400" marB="25400" marL="50800" marR="50800">
                    <a:solidFill>
                      <a:srgbClr val="FFFFFF"/>
                    </a:solidFill>
                  </a:tcPr>
                </a:tc>
                <a:tc>
                  <a:txBody>
                    <a:bodyPr/>
                    <a:lstStyle/>
                    <a:p>
                      <a:pPr algn="l">
                        <a:defRPr sz="1080">
                          <a:solidFill>
                            <a:srgbClr val="0F172A"/>
                          </a:solidFill>
                          <a:latin typeface="Microsoft YaHei"/>
                        </a:defRPr>
                      </a:pPr>
                      <a:r>
                        <a:t>248.5 ms [推导值] (最慢单卡拖死整组)</a:t>
                      </a:r>
                    </a:p>
                  </a:txBody>
                  <a:tcPr anchor="ctr" marT="25400" marB="25400" marL="50800" marR="50800">
                    <a:solidFill>
                      <a:srgbClr val="FFFFFF"/>
                    </a:solidFill>
                  </a:tcPr>
                </a:tc>
                <a:tc>
                  <a:txBody>
                    <a:bodyPr/>
                    <a:lstStyle/>
                    <a:p>
                      <a:pPr algn="l">
                        <a:defRPr sz="1080">
                          <a:solidFill>
                            <a:srgbClr val="0F172A"/>
                          </a:solidFill>
                          <a:latin typeface="Microsoft YaHei"/>
                        </a:defRPr>
                      </a:pPr>
                      <a:r>
                        <a:t>32.4 ms [模型推导值] (整组齐头并进)</a:t>
                      </a:r>
                    </a:p>
                  </a:txBody>
                  <a:tcPr anchor="ctr" marT="25400" marB="25400" marL="50800" marR="50800">
                    <a:solidFill>
                      <a:srgbClr val="FFFFFF"/>
                    </a:solidFill>
                  </a:tcPr>
                </a:tc>
                <a:tc>
                  <a:txBody>
                    <a:bodyPr/>
                    <a:lstStyle/>
                    <a:p>
                      <a:pPr algn="l">
                        <a:defRPr sz="1080">
                          <a:solidFill>
                            <a:srgbClr val="0F172A"/>
                          </a:solidFill>
                          <a:latin typeface="Microsoft YaHei"/>
                        </a:defRPr>
                      </a:pPr>
                      <a:r>
                        <a:t>整组 P99 时延骤降 87.0% [推导值] (净省 216.1ms)</a:t>
                      </a:r>
                    </a:p>
                  </a:txBody>
                  <a:tcPr anchor="ctr" marT="25400" marB="25400" marL="50800" marR="50800">
                    <a:solidFill>
                      <a:srgbClr val="FFFFFF"/>
                    </a:solidFill>
                  </a:tcPr>
                </a:tc>
              </a:tr>
              <a:tr h="502920">
                <a:tc>
                  <a:txBody>
                    <a:bodyPr/>
                    <a:lstStyle/>
                    <a:p>
                      <a:pPr algn="ctr">
                        <a:defRPr sz="1080" b="1">
                          <a:solidFill>
                            <a:srgbClr val="0F172A"/>
                          </a:solidFill>
                          <a:latin typeface="Microsoft YaHei"/>
                        </a:defRPr>
                      </a:pPr>
                      <a:r>
                        <a:t>端到端 TTFT P99 (16并发混压)</a:t>
                      </a:r>
                    </a:p>
                  </a:txBody>
                  <a:tcPr anchor="ctr" marT="25400" marB="25400" marL="50800" marR="50800">
                    <a:solidFill>
                      <a:srgbClr val="EFF6FF"/>
                    </a:solidFill>
                  </a:tcPr>
                </a:tc>
                <a:tc>
                  <a:txBody>
                    <a:bodyPr/>
                    <a:lstStyle/>
                    <a:p>
                      <a:pPr algn="l">
                        <a:defRPr sz="1080">
                          <a:solidFill>
                            <a:srgbClr val="0F172A"/>
                          </a:solidFill>
                          <a:latin typeface="Microsoft YaHei"/>
                        </a:defRPr>
                      </a:pPr>
                      <a:r>
                        <a:t>468.5 ms [推导值] (出现严重长尾拖拽)</a:t>
                      </a:r>
                    </a:p>
                  </a:txBody>
                  <a:tcPr anchor="ctr" marT="25400" marB="25400" marL="50800" marR="50800">
                    <a:solidFill>
                      <a:srgbClr val="EFF6FF"/>
                    </a:solidFill>
                  </a:tcPr>
                </a:tc>
                <a:tc>
                  <a:txBody>
                    <a:bodyPr/>
                    <a:lstStyle/>
                    <a:p>
                      <a:pPr algn="l">
                        <a:defRPr sz="1080">
                          <a:solidFill>
                            <a:srgbClr val="0F172A"/>
                          </a:solidFill>
                          <a:latin typeface="Microsoft YaHei"/>
                        </a:defRPr>
                      </a:pPr>
                      <a:r>
                        <a:t>253.3 ms [模型推导值] (极度平稳)</a:t>
                      </a:r>
                    </a:p>
                  </a:txBody>
                  <a:tcPr anchor="ctr" marT="25400" marB="25400" marL="50800" marR="50800">
                    <a:solidFill>
                      <a:srgbClr val="EFF6FF"/>
                    </a:solidFill>
                  </a:tcPr>
                </a:tc>
                <a:tc>
                  <a:txBody>
                    <a:bodyPr/>
                    <a:lstStyle/>
                    <a:p>
                      <a:pPr algn="l">
                        <a:defRPr sz="1080">
                          <a:solidFill>
                            <a:srgbClr val="0F172A"/>
                          </a:solidFill>
                          <a:latin typeface="Microsoft YaHei"/>
                        </a:defRPr>
                      </a:pPr>
                      <a:r>
                        <a:t>端到端 TTFT P99 缩短 46.0% [推导值] (消除卡顿)</a:t>
                      </a:r>
                    </a:p>
                  </a:txBody>
                  <a:tcPr anchor="ctr" marT="25400" marB="25400" marL="50800" marR="50800">
                    <a:solidFill>
                      <a:srgbClr val="EFF6FF"/>
                    </a:solidFill>
                  </a:tcPr>
                </a:tc>
              </a:tr>
              <a:tr h="502920">
                <a:tc>
                  <a:txBody>
                    <a:bodyPr/>
                    <a:lstStyle/>
                    <a:p>
                      <a:pPr algn="ctr">
                        <a:defRPr sz="1080" b="1">
                          <a:solidFill>
                            <a:srgbClr val="0F172A"/>
                          </a:solidFill>
                          <a:latin typeface="Microsoft YaHei"/>
                        </a:defRPr>
                      </a:pPr>
                      <a:r>
                        <a:t>尾部膨胀系数 (P99 / P50)</a:t>
                      </a:r>
                    </a:p>
                  </a:txBody>
                  <a:tcPr anchor="ctr" marT="25400" marB="25400" marL="50800" marR="50800">
                    <a:solidFill>
                      <a:srgbClr val="FFFFFF"/>
                    </a:solidFill>
                  </a:tcPr>
                </a:tc>
                <a:tc>
                  <a:txBody>
                    <a:bodyPr/>
                    <a:lstStyle/>
                    <a:p>
                      <a:pPr algn="l">
                        <a:defRPr sz="1080">
                          <a:solidFill>
                            <a:srgbClr val="0F172A"/>
                          </a:solidFill>
                          <a:latin typeface="Microsoft YaHei"/>
                        </a:defRPr>
                      </a:pPr>
                      <a:r>
                        <a:t>2.12x [推导值] (长尾严重发散)</a:t>
                      </a:r>
                    </a:p>
                  </a:txBody>
                  <a:tcPr anchor="ctr" marT="25400" marB="25400" marL="50800" marR="50800">
                    <a:solidFill>
                      <a:srgbClr val="FFFFFF"/>
                    </a:solidFill>
                  </a:tcPr>
                </a:tc>
                <a:tc>
                  <a:txBody>
                    <a:bodyPr/>
                    <a:lstStyle/>
                    <a:p>
                      <a:pPr algn="l">
                        <a:defRPr sz="1080">
                          <a:solidFill>
                            <a:srgbClr val="0F172A"/>
                          </a:solidFill>
                          <a:latin typeface="Microsoft YaHei"/>
                        </a:defRPr>
                      </a:pPr>
                      <a:r>
                        <a:t>1.14x [推导值] (接近理想确定性下界)</a:t>
                      </a:r>
                    </a:p>
                  </a:txBody>
                  <a:tcPr anchor="ctr" marT="25400" marB="25400" marL="50800" marR="50800">
                    <a:solidFill>
                      <a:srgbClr val="FFFFFF"/>
                    </a:solidFill>
                  </a:tcPr>
                </a:tc>
                <a:tc>
                  <a:txBody>
                    <a:bodyPr/>
                    <a:lstStyle/>
                    <a:p>
                      <a:pPr algn="l">
                        <a:defRPr sz="1080">
                          <a:solidFill>
                            <a:srgbClr val="0F172A"/>
                          </a:solidFill>
                          <a:latin typeface="Microsoft YaHei"/>
                        </a:defRPr>
                      </a:pPr>
                      <a:r>
                        <a:t>尾部波动消除，服务质量 SLO 达标率提升至 98% [目标值]</a:t>
                      </a:r>
                    </a:p>
                  </a:txBody>
                  <a:tcPr anchor="ctr" marT="25400" marB="25400" marL="50800" marR="50800">
                    <a:solidFill>
                      <a:srgbClr val="FFFFFF"/>
                    </a:solidFill>
                  </a:tcPr>
                </a:tc>
              </a:tr>
            </a:tbl>
          </a:graphicData>
        </a:graphic>
      </p:graphicFrame>
      <p:sp>
        <p:nvSpPr>
          <p:cNvPr id="9" name="Rounded Rectangle 8"/>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多卡协同：</a:t>
            </a:r>
            <a:r>
              <a:rPr sz="1300">
                <a:solidFill>
                  <a:srgbClr val="0F172A"/>
                </a:solidFill>
                <a:latin typeface="Microsoft YaHei"/>
              </a:rPr>
              <a:t>整组 P99 降至 32.4ms 与 TTFT P99 253.3ms 为模型推导值，立项目标为偏斜比 &lt; 1.15，待 E3 验证。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路径混合与业务 P99 全景：高并发混压下全体请求尾部收敛 54.8%</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F_T(t) = h·F_h(t) + (1-h)·F_m(t)；不仅优化命中路径，更通过负收益熔断收敛未命中与回退路径 [全盘模型推导]</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13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059375" cy="3931920"/>
          </a:xfrm>
          <a:prstGeom prst="rect">
            <a:avLst/>
          </a:prstGeom>
          <a:noFill/>
        </p:spPr>
        <p:txBody>
          <a:bodyPr wrap="square">
            <a:spAutoFit/>
          </a:bodyPr>
          <a:lstStyle/>
          <a:p>
            <a:pPr>
              <a:spcAft>
                <a:spcPts val="800"/>
              </a:spcAft>
              <a:defRPr sz="1550" b="1">
                <a:solidFill>
                  <a:srgbClr val="1E3A8A"/>
                </a:solidFill>
                <a:latin typeface="Microsoft YaHei"/>
              </a:defRPr>
            </a:pPr>
            <a:r>
              <a:t>全业务混合路径分布模型与治理逻辑</a:t>
            </a:r>
          </a:p>
          <a:p>
            <a:pPr>
              <a:lnSpc>
                <a:spcPct val="122000"/>
              </a:lnSpc>
              <a:spcAft>
                <a:spcPts val="400"/>
              </a:spcAft>
              <a:defRPr sz="1160" b="1">
                <a:solidFill>
                  <a:srgbClr val="0F172A"/>
                </a:solidFill>
                <a:latin typeface="Microsoft YaHei"/>
              </a:defRPr>
            </a:pPr>
            <a:r>
              <a:t>全概率分布模型 [统计数学模型]：F_T(t) = h · F_h(t) + (1 − h) · F_m(t)</a:t>
            </a:r>
          </a:p>
          <a:p>
            <a:pPr>
              <a:lnSpc>
                <a:spcPct val="122000"/>
              </a:lnSpc>
              <a:spcAft>
                <a:spcPts val="400"/>
              </a:spcAft>
              <a:defRPr sz="1160" b="0">
                <a:solidFill>
                  <a:srgbClr val="0F172A"/>
                </a:solidFill>
                <a:latin typeface="Microsoft YaHei"/>
              </a:defRPr>
            </a:pPr>
            <a:r>
              <a:t>  • h：前缀命中路径比例；F_h(t)：命中路径时延分布；</a:t>
            </a:r>
          </a:p>
          <a:p>
            <a:pPr>
              <a:lnSpc>
                <a:spcPct val="122000"/>
              </a:lnSpc>
              <a:spcAft>
                <a:spcPts val="400"/>
              </a:spcAft>
              <a:defRPr sz="1160" b="0">
                <a:solidFill>
                  <a:srgbClr val="0F172A"/>
                </a:solidFill>
                <a:latin typeface="Microsoft YaHei"/>
              </a:defRPr>
            </a:pPr>
            <a:r>
              <a:t>  • (1 − h)：未命中/回退路径比例；F_m(t)：未命中重算与超时分布；</a:t>
            </a:r>
          </a:p>
          <a:p>
            <a:pPr>
              <a:lnSpc>
                <a:spcPct val="122000"/>
              </a:lnSpc>
              <a:spcAft>
                <a:spcPts val="400"/>
              </a:spcAft>
              <a:defRPr sz="1160" b="1">
                <a:solidFill>
                  <a:srgbClr val="0F172A"/>
                </a:solidFill>
                <a:latin typeface="Microsoft YaHei"/>
              </a:defRPr>
            </a:pPr>
            <a:r>
              <a:t>统计学客观规律剖析：</a:t>
            </a:r>
          </a:p>
          <a:p>
            <a:pPr>
              <a:lnSpc>
                <a:spcPct val="122000"/>
              </a:lnSpc>
              <a:spcAft>
                <a:spcPts val="400"/>
              </a:spcAft>
              <a:defRPr sz="1160" b="0">
                <a:solidFill>
                  <a:srgbClr val="0F172A"/>
                </a:solidFill>
                <a:latin typeface="Microsoft YaHei"/>
              </a:defRPr>
            </a:pPr>
            <a:r>
              <a:t>  • 命中路径变快，绝不代表全体业务请求的 P99 变快；</a:t>
            </a:r>
          </a:p>
          <a:p>
            <a:pPr>
              <a:lnSpc>
                <a:spcPct val="122000"/>
              </a:lnSpc>
              <a:spcAft>
                <a:spcPts val="400"/>
              </a:spcAft>
              <a:defRPr sz="1160" b="0">
                <a:solidFill>
                  <a:srgbClr val="0F172A"/>
                </a:solidFill>
                <a:latin typeface="Microsoft YaHei"/>
              </a:defRPr>
            </a:pPr>
            <a:r>
              <a:t>  • 若 P99 阈值以上主要由未命中排队或异常回退样本组成，继续单向优化命中路径对业务全局 P99 毫无改善；</a:t>
            </a:r>
          </a:p>
          <a:p>
            <a:pPr>
              <a:lnSpc>
                <a:spcPct val="122000"/>
              </a:lnSpc>
              <a:spcAft>
                <a:spcPts val="400"/>
              </a:spcAft>
              <a:defRPr sz="1160" b="1">
                <a:solidFill>
                  <a:srgbClr val="0F172A"/>
                </a:solidFill>
                <a:latin typeface="Microsoft YaHei"/>
              </a:defRPr>
            </a:pPr>
            <a:r>
              <a:t>传统开源方案的盲区：</a:t>
            </a:r>
          </a:p>
          <a:p>
            <a:pPr>
              <a:lnSpc>
                <a:spcPct val="122000"/>
              </a:lnSpc>
              <a:spcAft>
                <a:spcPts val="400"/>
              </a:spcAft>
              <a:defRPr sz="1160" b="0">
                <a:solidFill>
                  <a:srgbClr val="0F172A"/>
                </a:solidFill>
                <a:latin typeface="Microsoft YaHei"/>
              </a:defRPr>
            </a:pPr>
            <a:r>
              <a:t>  • 只管拉取缓存，遇到网络拥塞时仍死等超时 (&gt;500ms)；</a:t>
            </a:r>
          </a:p>
          <a:p>
            <a:pPr>
              <a:lnSpc>
                <a:spcPct val="122000"/>
              </a:lnSpc>
              <a:spcAft>
                <a:spcPts val="400"/>
              </a:spcAft>
              <a:defRPr sz="1160" b="0">
                <a:solidFill>
                  <a:srgbClr val="0F172A"/>
                </a:solidFill>
                <a:latin typeface="Microsoft YaHei"/>
              </a:defRPr>
            </a:pPr>
            <a:r>
              <a:t>  • 慢请求主导尾部分布，大盘 P99 恶化至 560.5 ms [无熔断估算值]。</a:t>
            </a:r>
          </a:p>
        </p:txBody>
      </p:sp>
      <p:sp>
        <p:nvSpPr>
          <p:cNvPr id="8" name="Rounded Rectangle 7"/>
          <p:cNvSpPr/>
          <p:nvPr/>
        </p:nvSpPr>
        <p:spPr>
          <a:xfrm>
            <a:off x="6217920" y="1115568"/>
            <a:ext cx="542513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5059375" cy="3931920"/>
          </a:xfrm>
          <a:prstGeom prst="rect">
            <a:avLst/>
          </a:prstGeom>
          <a:noFill/>
        </p:spPr>
        <p:txBody>
          <a:bodyPr wrap="square">
            <a:spAutoFit/>
          </a:bodyPr>
          <a:lstStyle/>
          <a:p>
            <a:pPr>
              <a:spcAft>
                <a:spcPts val="800"/>
              </a:spcAft>
              <a:defRPr sz="1550" b="1">
                <a:solidFill>
                  <a:srgbClr val="1D4ED8"/>
                </a:solidFill>
                <a:latin typeface="Microsoft YaHei"/>
              </a:defRPr>
            </a:pPr>
            <a:r>
              <a:t>自研 KVC 的全路径双向收敛闭环</a:t>
            </a:r>
          </a:p>
          <a:p>
            <a:pPr>
              <a:lnSpc>
                <a:spcPct val="122000"/>
              </a:lnSpc>
              <a:spcAft>
                <a:spcPts val="400"/>
              </a:spcAft>
              <a:defRPr sz="1160" b="1">
                <a:solidFill>
                  <a:srgbClr val="0F172A"/>
                </a:solidFill>
                <a:latin typeface="Microsoft YaHei"/>
              </a:defRPr>
            </a:pPr>
            <a:r>
              <a:t>路径 A：命中路径极致加速 (h)</a:t>
            </a:r>
          </a:p>
          <a:p>
            <a:pPr>
              <a:lnSpc>
                <a:spcPct val="122000"/>
              </a:lnSpc>
              <a:spcAft>
                <a:spcPts val="400"/>
              </a:spcAft>
              <a:defRPr sz="1160" b="0">
                <a:solidFill>
                  <a:srgbClr val="0F172A"/>
                </a:solidFill>
                <a:latin typeface="Microsoft YaHei"/>
              </a:defRPr>
            </a:pPr>
            <a:r>
              <a:t>  • 微秒级决策 (&lt;5µs [目标值]) + 逐层流水边算边传 + TP=8 原子同步；</a:t>
            </a:r>
          </a:p>
          <a:p>
            <a:pPr>
              <a:lnSpc>
                <a:spcPct val="122000"/>
              </a:lnSpc>
              <a:spcAft>
                <a:spcPts val="400"/>
              </a:spcAft>
              <a:defRPr sz="1160" b="0">
                <a:solidFill>
                  <a:srgbClr val="0F172A"/>
                </a:solidFill>
                <a:latin typeface="Microsoft YaHei"/>
              </a:defRPr>
            </a:pPr>
            <a:r>
              <a:t>  • 命中路径 P99 稳定压制在 225.0 ms 以内 [模型推导值]；</a:t>
            </a:r>
          </a:p>
          <a:p>
            <a:pPr>
              <a:lnSpc>
                <a:spcPct val="122000"/>
              </a:lnSpc>
              <a:spcAft>
                <a:spcPts val="400"/>
              </a:spcAft>
              <a:defRPr sz="1160" b="1">
                <a:solidFill>
                  <a:srgbClr val="0F172A"/>
                </a:solidFill>
                <a:latin typeface="Microsoft YaHei"/>
              </a:defRPr>
            </a:pPr>
            <a:r>
              <a:t>路径 B：未命中与异常回退路径精准截断 (1 − h)</a:t>
            </a:r>
          </a:p>
          <a:p>
            <a:pPr>
              <a:lnSpc>
                <a:spcPct val="122000"/>
              </a:lnSpc>
              <a:spcAft>
                <a:spcPts val="400"/>
              </a:spcAft>
              <a:defRPr sz="1160" b="0">
                <a:solidFill>
                  <a:srgbClr val="0F172A"/>
                </a:solidFill>
                <a:latin typeface="Microsoft YaHei"/>
              </a:defRPr>
            </a:pPr>
            <a:r>
              <a:t>  • QueryPlan 负收益前置熔断：若网络预测时延 &gt; 重算时延，5µs [目标值] 内立即退回本地重算，绝不发起死等；</a:t>
            </a:r>
          </a:p>
          <a:p>
            <a:pPr>
              <a:lnSpc>
                <a:spcPct val="122000"/>
              </a:lnSpc>
              <a:spcAft>
                <a:spcPts val="400"/>
              </a:spcAft>
              <a:defRPr sz="1160" b="0">
                <a:solidFill>
                  <a:srgbClr val="0F172A"/>
                </a:solidFill>
                <a:latin typeface="Microsoft YaHei"/>
              </a:defRPr>
            </a:pPr>
            <a:r>
              <a:t>  • ViewGuard 租约异常极速捕获：远端抖动时在 &lt;500µs [契约目标] 内安全回退；</a:t>
            </a:r>
          </a:p>
          <a:p>
            <a:pPr>
              <a:lnSpc>
                <a:spcPct val="122000"/>
              </a:lnSpc>
              <a:spcAft>
                <a:spcPts val="400"/>
              </a:spcAft>
              <a:defRPr sz="1160" b="1">
                <a:solidFill>
                  <a:srgbClr val="0F172A"/>
                </a:solidFill>
                <a:latin typeface="Microsoft YaHei"/>
              </a:defRPr>
            </a:pPr>
            <a:r>
              <a:t>业务大盘全局收益 (16 并发混压评估)：</a:t>
            </a:r>
          </a:p>
          <a:p>
            <a:pPr>
              <a:lnSpc>
                <a:spcPct val="122000"/>
              </a:lnSpc>
              <a:spcAft>
                <a:spcPts val="400"/>
              </a:spcAft>
              <a:defRPr sz="1160" b="1">
                <a:solidFill>
                  <a:srgbClr val="1E3A8A"/>
                </a:solidFill>
                <a:latin typeface="Microsoft YaHei"/>
              </a:defRPr>
            </a:pPr>
            <a:r>
              <a:t>  • 全体业务请求 P99 由 560.5 ms [无熔断估算] 骤降至 253.3 ms [模型推导值] (收敛 54.8% [理论推导值])；</a:t>
            </a:r>
          </a:p>
          <a:p>
            <a:pPr>
              <a:lnSpc>
                <a:spcPct val="122000"/>
              </a:lnSpc>
              <a:spcAft>
                <a:spcPts val="400"/>
              </a:spcAft>
              <a:defRPr sz="1160" b="0">
                <a:solidFill>
                  <a:srgbClr val="0F172A"/>
                </a:solidFill>
                <a:latin typeface="Microsoft YaHei"/>
              </a:defRPr>
            </a:pPr>
            <a:r>
              <a:t>  • 消除系统最慢样本拖拽，保障生产环境确定性服务质量。</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综合对账：自研软件不仅优化命中路径，更通过微秒级负收益熔断保护未命中与回退路径，确保业务大盘 P99 整体收敛 54.8% [理论模型推导，待E3验证]。</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P99 结论：</a:t>
            </a:r>
            <a:r>
              <a:rPr sz="1300">
                <a:solidFill>
                  <a:srgbClr val="0F172A"/>
                </a:solidFill>
                <a:latin typeface="Microsoft YaHei"/>
              </a:rPr>
              <a:t>局部命中路径改善只影响命中样本，</a:t>
            </a:r>
            <a:r>
              <a:rPr sz="1300" b="1">
                <a:solidFill>
                  <a:srgbClr val="DC2626"/>
                </a:solidFill>
                <a:latin typeface="Microsoft YaHei"/>
              </a:rPr>
              <a:t>未命中和回退路径必须单独治理与前置熔断</a:t>
            </a:r>
            <a:r>
              <a:rPr sz="1300">
                <a:solidFill>
                  <a:srgbClr val="0F172A"/>
                </a:solidFill>
                <a:latin typeface="Microsoft YaHei"/>
              </a:rPr>
              <a:t> [模型推导]。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为什么需要持续运行的软件底座：大模型动态状态机的持续治理</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命中状态、租约有效期、多卡并发度与显存水位动态突变，必须依赖微秒级闭环控制</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14 / 18</a:t>
            </a:r>
          </a:p>
        </p:txBody>
      </p:sp>
      <p:sp>
        <p:nvSpPr>
          <p:cNvPr id="6" name="Rounded Rectangle 5"/>
          <p:cNvSpPr/>
          <p:nvPr/>
        </p:nvSpPr>
        <p:spPr>
          <a:xfrm>
            <a:off x="548640" y="1115568"/>
            <a:ext cx="2651760"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243584"/>
            <a:ext cx="2432304" cy="3840480"/>
          </a:xfrm>
          <a:prstGeom prst="rect">
            <a:avLst/>
          </a:prstGeom>
          <a:noFill/>
        </p:spPr>
        <p:txBody>
          <a:bodyPr wrap="square">
            <a:spAutoFit/>
          </a:bodyPr>
          <a:lstStyle/>
          <a:p>
            <a:pPr>
              <a:spcAft>
                <a:spcPts val="1000"/>
              </a:spcAft>
              <a:defRPr sz="1550" b="1">
                <a:solidFill>
                  <a:srgbClr val="1D4ED8"/>
                </a:solidFill>
                <a:latin typeface="Microsoft YaHei"/>
              </a:defRPr>
            </a:pPr>
            <a:r>
              <a:t>1. 动态状态感知</a:t>
            </a:r>
          </a:p>
          <a:p>
            <a:pPr>
              <a:lnSpc>
                <a:spcPct val="126000"/>
              </a:lnSpc>
              <a:spcAft>
                <a:spcPts val="800"/>
              </a:spcAft>
              <a:defRPr sz="1160">
                <a:solidFill>
                  <a:srgbClr val="0F172A"/>
                </a:solidFill>
                <a:latin typeface="Microsoft YaHei"/>
              </a:defRPr>
            </a:pPr>
            <a:r>
              <a:t>• 实时追踪多卡前缀命中哈希；</a:t>
            </a:r>
          </a:p>
          <a:p>
            <a:pPr>
              <a:lnSpc>
                <a:spcPct val="126000"/>
              </a:lnSpc>
              <a:spcAft>
                <a:spcPts val="800"/>
              </a:spcAft>
              <a:defRPr sz="1160">
                <a:solidFill>
                  <a:srgbClr val="0F172A"/>
                </a:solidFill>
                <a:latin typeface="Microsoft YaHei"/>
              </a:defRPr>
            </a:pPr>
            <a:r>
              <a:t>• 对象多介质物理位置 (HBM/SSD)；</a:t>
            </a:r>
          </a:p>
          <a:p>
            <a:pPr>
              <a:lnSpc>
                <a:spcPct val="126000"/>
              </a:lnSpc>
              <a:spcAft>
                <a:spcPts val="800"/>
              </a:spcAft>
              <a:defRPr sz="1160">
                <a:solidFill>
                  <a:srgbClr val="0F172A"/>
                </a:solidFill>
                <a:latin typeface="Microsoft YaHei"/>
              </a:defRPr>
            </a:pPr>
            <a:r>
              <a:t>• 租约毫秒级倒计时与失效探测；</a:t>
            </a:r>
          </a:p>
          <a:p>
            <a:pPr>
              <a:lnSpc>
                <a:spcPct val="126000"/>
              </a:lnSpc>
              <a:spcAft>
                <a:spcPts val="800"/>
              </a:spcAft>
              <a:defRPr sz="1160">
                <a:solidFill>
                  <a:srgbClr val="0F172A"/>
                </a:solidFill>
                <a:latin typeface="Microsoft YaHei"/>
              </a:defRPr>
            </a:pPr>
            <a:r>
              <a:t>• 目标卡显存高低水位动态预警。</a:t>
            </a:r>
          </a:p>
        </p:txBody>
      </p:sp>
      <p:sp>
        <p:nvSpPr>
          <p:cNvPr id="8" name="Rounded Rectangle 7"/>
          <p:cNvSpPr/>
          <p:nvPr/>
        </p:nvSpPr>
        <p:spPr>
          <a:xfrm>
            <a:off x="3364992" y="1115568"/>
            <a:ext cx="2651760" cy="411480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243584"/>
            <a:ext cx="2432304" cy="3840480"/>
          </a:xfrm>
          <a:prstGeom prst="rect">
            <a:avLst/>
          </a:prstGeom>
          <a:noFill/>
        </p:spPr>
        <p:txBody>
          <a:bodyPr wrap="square">
            <a:spAutoFit/>
          </a:bodyPr>
          <a:lstStyle/>
          <a:p>
            <a:pPr>
              <a:spcAft>
                <a:spcPts val="1000"/>
              </a:spcAft>
              <a:defRPr sz="1550" b="1">
                <a:solidFill>
                  <a:srgbClr val="047857"/>
                </a:solidFill>
                <a:latin typeface="Microsoft YaHei"/>
              </a:defRPr>
            </a:pPr>
            <a:r>
              <a:t>2. 微秒选路决策</a:t>
            </a:r>
          </a:p>
          <a:p>
            <a:pPr>
              <a:lnSpc>
                <a:spcPct val="126000"/>
              </a:lnSpc>
              <a:spcAft>
                <a:spcPts val="800"/>
              </a:spcAft>
              <a:defRPr sz="1160">
                <a:solidFill>
                  <a:srgbClr val="0F172A"/>
                </a:solidFill>
                <a:latin typeface="Microsoft YaHei"/>
              </a:defRPr>
            </a:pPr>
            <a:r>
              <a:t>• QueryPlan 决策引擎 (&lt;5µs [设计目标])；</a:t>
            </a:r>
          </a:p>
          <a:p>
            <a:pPr>
              <a:lnSpc>
                <a:spcPct val="126000"/>
              </a:lnSpc>
              <a:spcAft>
                <a:spcPts val="800"/>
              </a:spcAft>
              <a:defRPr sz="1160">
                <a:solidFill>
                  <a:srgbClr val="0F172A"/>
                </a:solidFill>
                <a:latin typeface="Microsoft YaHei"/>
              </a:defRPr>
            </a:pPr>
            <a:r>
              <a:t>• 实时读取网络队列与算力负荷；</a:t>
            </a:r>
          </a:p>
          <a:p>
            <a:pPr>
              <a:lnSpc>
                <a:spcPct val="126000"/>
              </a:lnSpc>
              <a:spcAft>
                <a:spcPts val="800"/>
              </a:spcAft>
              <a:defRPr sz="1160">
                <a:solidFill>
                  <a:srgbClr val="0F172A"/>
                </a:solidFill>
                <a:latin typeface="Microsoft YaHei"/>
              </a:defRPr>
            </a:pPr>
            <a:r>
              <a:t>• 判定直接加载 vs 本地重算；</a:t>
            </a:r>
          </a:p>
          <a:p>
            <a:pPr>
              <a:lnSpc>
                <a:spcPct val="126000"/>
              </a:lnSpc>
              <a:spcAft>
                <a:spcPts val="800"/>
              </a:spcAft>
              <a:defRPr sz="1160">
                <a:solidFill>
                  <a:srgbClr val="0F172A"/>
                </a:solidFill>
                <a:latin typeface="Microsoft YaHei"/>
              </a:defRPr>
            </a:pPr>
            <a:r>
              <a:t>• 负收益前置拦截与降级保护。</a:t>
            </a:r>
          </a:p>
        </p:txBody>
      </p:sp>
      <p:sp>
        <p:nvSpPr>
          <p:cNvPr id="10" name="Rounded Rectangle 9"/>
          <p:cNvSpPr/>
          <p:nvPr/>
        </p:nvSpPr>
        <p:spPr>
          <a:xfrm>
            <a:off x="6181344" y="1115568"/>
            <a:ext cx="2651760" cy="4114800"/>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1243584"/>
            <a:ext cx="2432304" cy="3840480"/>
          </a:xfrm>
          <a:prstGeom prst="rect">
            <a:avLst/>
          </a:prstGeom>
          <a:noFill/>
        </p:spPr>
        <p:txBody>
          <a:bodyPr wrap="square">
            <a:spAutoFit/>
          </a:bodyPr>
          <a:lstStyle/>
          <a:p>
            <a:pPr>
              <a:spcAft>
                <a:spcPts val="1000"/>
              </a:spcAft>
              <a:defRPr sz="1550" b="1">
                <a:solidFill>
                  <a:srgbClr val="B45309"/>
                </a:solidFill>
                <a:latin typeface="Microsoft YaHei"/>
              </a:defRPr>
            </a:pPr>
            <a:r>
              <a:t>3. 硬件流控下发</a:t>
            </a:r>
          </a:p>
          <a:p>
            <a:pPr>
              <a:lnSpc>
                <a:spcPct val="126000"/>
              </a:lnSpc>
              <a:spcAft>
                <a:spcPts val="800"/>
              </a:spcAft>
              <a:defRPr sz="1160">
                <a:solidFill>
                  <a:srgbClr val="0F172A"/>
                </a:solidFill>
                <a:latin typeface="Microsoft YaHei"/>
              </a:defRPr>
            </a:pPr>
            <a:r>
              <a:t>• 64B POD 描述符贪心编译；</a:t>
            </a:r>
          </a:p>
          <a:p>
            <a:pPr>
              <a:lnSpc>
                <a:spcPct val="126000"/>
              </a:lnSpc>
              <a:spcAft>
                <a:spcPts val="800"/>
              </a:spcAft>
              <a:defRPr sz="1160">
                <a:solidFill>
                  <a:srgbClr val="0F172A"/>
                </a:solidFill>
                <a:latin typeface="Microsoft YaHei"/>
              </a:defRPr>
            </a:pPr>
            <a:r>
              <a:t>• 硬件 TC0/TC1 QoS 绑定；</a:t>
            </a:r>
          </a:p>
          <a:p>
            <a:pPr>
              <a:lnSpc>
                <a:spcPct val="126000"/>
              </a:lnSpc>
              <a:spcAft>
                <a:spcPts val="800"/>
              </a:spcAft>
              <a:defRPr sz="1160">
                <a:solidFill>
                  <a:srgbClr val="0F172A"/>
                </a:solidFill>
                <a:latin typeface="Microsoft YaHei"/>
              </a:defRPr>
            </a:pPr>
            <a:r>
              <a:t>• 令牌桶突发流量整形控制；</a:t>
            </a:r>
          </a:p>
          <a:p>
            <a:pPr>
              <a:lnSpc>
                <a:spcPct val="126000"/>
              </a:lnSpc>
              <a:spcAft>
                <a:spcPts val="800"/>
              </a:spcAft>
              <a:defRPr sz="1160">
                <a:solidFill>
                  <a:srgbClr val="0F172A"/>
                </a:solidFill>
                <a:latin typeface="Microsoft YaHei"/>
              </a:defRPr>
            </a:pPr>
            <a:r>
              <a:t>• 逐层流水预取窗口滑动控制。</a:t>
            </a:r>
          </a:p>
        </p:txBody>
      </p:sp>
      <p:sp>
        <p:nvSpPr>
          <p:cNvPr id="12" name="Rounded Rectangle 11"/>
          <p:cNvSpPr/>
          <p:nvPr/>
        </p:nvSpPr>
        <p:spPr>
          <a:xfrm>
            <a:off x="8997696" y="1115568"/>
            <a:ext cx="2651760" cy="4114800"/>
          </a:xfrm>
          <a:prstGeom prst="roundRect">
            <a:avLst>
              <a:gd name="adj" fmla="val 2000"/>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1243584"/>
            <a:ext cx="2432304" cy="3840480"/>
          </a:xfrm>
          <a:prstGeom prst="rect">
            <a:avLst/>
          </a:prstGeom>
          <a:noFill/>
        </p:spPr>
        <p:txBody>
          <a:bodyPr wrap="square">
            <a:spAutoFit/>
          </a:bodyPr>
          <a:lstStyle/>
          <a:p>
            <a:pPr>
              <a:spcAft>
                <a:spcPts val="1000"/>
              </a:spcAft>
              <a:defRPr sz="1550" b="1">
                <a:solidFill>
                  <a:srgbClr val="BE123C"/>
                </a:solidFill>
                <a:latin typeface="Microsoft YaHei"/>
              </a:defRPr>
            </a:pPr>
            <a:r>
              <a:t>4. 反馈与安全回退</a:t>
            </a:r>
          </a:p>
          <a:p>
            <a:pPr>
              <a:lnSpc>
                <a:spcPct val="126000"/>
              </a:lnSpc>
              <a:spcAft>
                <a:spcPts val="800"/>
              </a:spcAft>
              <a:defRPr sz="1160">
                <a:solidFill>
                  <a:srgbClr val="0F172A"/>
                </a:solidFill>
                <a:latin typeface="Microsoft YaHei"/>
              </a:defRPr>
            </a:pPr>
            <a:r>
              <a:t>• 捕获 SIGBUS 异常与超时；</a:t>
            </a:r>
          </a:p>
          <a:p>
            <a:pPr>
              <a:lnSpc>
                <a:spcPct val="126000"/>
              </a:lnSpc>
              <a:spcAft>
                <a:spcPts val="800"/>
              </a:spcAft>
              <a:defRPr sz="1160">
                <a:solidFill>
                  <a:srgbClr val="0F172A"/>
                </a:solidFill>
                <a:latin typeface="Microsoft YaHei"/>
              </a:defRPr>
            </a:pPr>
            <a:r>
              <a:t>• 500µs [设计目标] 内平滑回退至重算；</a:t>
            </a:r>
          </a:p>
          <a:p>
            <a:pPr>
              <a:lnSpc>
                <a:spcPct val="126000"/>
              </a:lnSpc>
              <a:spcAft>
                <a:spcPts val="800"/>
              </a:spcAft>
              <a:defRPr sz="1160">
                <a:solidFill>
                  <a:srgbClr val="0F172A"/>
                </a:solidFill>
                <a:latin typeface="Microsoft YaHei"/>
              </a:defRPr>
            </a:pPr>
            <a:r>
              <a:t>• 6 维语义一致性校验杜绝脏读；</a:t>
            </a:r>
          </a:p>
          <a:p>
            <a:pPr>
              <a:lnSpc>
                <a:spcPct val="126000"/>
              </a:lnSpc>
              <a:spcAft>
                <a:spcPts val="800"/>
              </a:spcAft>
              <a:defRPr sz="1160">
                <a:solidFill>
                  <a:srgbClr val="0F172A"/>
                </a:solidFill>
                <a:latin typeface="Microsoft YaHei"/>
              </a:defRPr>
            </a:pPr>
            <a:r>
              <a:t>• 动态微调后续调度选路模型。</a:t>
            </a:r>
          </a:p>
        </p:txBody>
      </p:sp>
      <p:sp>
        <p:nvSpPr>
          <p:cNvPr id="14" name="Rounded Rectangle 13"/>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功能层定位：软件价值在于持续执行准入、依赖、分组和资源控制，并利用底层库反馈动态调整路径；静态配置规则无法应对大模型动态性。</a:t>
            </a:r>
          </a:p>
        </p:txBody>
      </p:sp>
      <p:sp>
        <p:nvSpPr>
          <p:cNvPr id="16" name="Rounded Rectangle 15"/>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功能层结论：</a:t>
            </a:r>
            <a:r>
              <a:rPr sz="1300">
                <a:solidFill>
                  <a:srgbClr val="0F172A"/>
                </a:solidFill>
                <a:latin typeface="Microsoft YaHei"/>
              </a:rPr>
              <a:t>自研软件是连接动态大模型推理与底层静态硬件的必备软件底座。</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催熟底层通信底座：为 KPCL 注入大模型典型业务流量画像 (F1~F8)</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底层通信库脱离大模型真实交织场景无法成熟，自研 KVC 提供 8 类业务负载输入</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15 / 18</a:t>
            </a:r>
          </a:p>
        </p:txBody>
      </p:sp>
      <p:graphicFrame>
        <p:nvGraphicFramePr>
          <p:cNvPr id="6" name="Table 5"/>
          <p:cNvGraphicFramePr>
            <a:graphicFrameLocks noGrp="1"/>
          </p:cNvGraphicFramePr>
          <p:nvPr/>
        </p:nvGraphicFramePr>
        <p:xfrm>
          <a:off x="548640" y="1078992"/>
          <a:ext cx="11094415" cy="4160520"/>
        </p:xfrm>
        <a:graphic>
          <a:graphicData uri="http://schemas.openxmlformats.org/drawingml/2006/table">
            <a:tbl>
              <a:tblPr firstRow="1" bandRow="1">
                <a:tableStyleId>{5C22544A-7EE6-4342-B048-85BDC9FD1C3A}</a:tableStyleId>
              </a:tblPr>
              <a:tblGrid>
                <a:gridCol w="1691640"/>
                <a:gridCol w="1783080"/>
                <a:gridCol w="3703320"/>
                <a:gridCol w="3916375"/>
              </a:tblGrid>
              <a:tr h="462280">
                <a:tc>
                  <a:txBody>
                    <a:bodyPr/>
                    <a:lstStyle/>
                    <a:p>
                      <a:pPr algn="ctr">
                        <a:defRPr sz="1150" b="1">
                          <a:solidFill>
                            <a:srgbClr val="FFFFFF"/>
                          </a:solidFill>
                          <a:latin typeface="Microsoft YaHei"/>
                        </a:defRPr>
                      </a:pPr>
                      <a:r>
                        <a:t>通信模式与编号</a:t>
                      </a:r>
                    </a:p>
                  </a:txBody>
                  <a:tcPr anchor="ctr" marT="31750" marB="31750" marL="50800" marR="50800">
                    <a:solidFill>
                      <a:srgbClr val="1E3A8A"/>
                    </a:solidFill>
                  </a:tcPr>
                </a:tc>
                <a:tc>
                  <a:txBody>
                    <a:bodyPr/>
                    <a:lstStyle/>
                    <a:p>
                      <a:pPr algn="ctr">
                        <a:defRPr sz="1150" b="1">
                          <a:solidFill>
                            <a:srgbClr val="FFFFFF"/>
                          </a:solidFill>
                          <a:latin typeface="Microsoft YaHei"/>
                        </a:defRPr>
                      </a:pPr>
                      <a:r>
                        <a:t>真实触发场景</a:t>
                      </a:r>
                    </a:p>
                  </a:txBody>
                  <a:tcPr anchor="ctr" marT="31750" marB="31750" marL="50800" marR="50800">
                    <a:solidFill>
                      <a:srgbClr val="1E3A8A"/>
                    </a:solidFill>
                  </a:tcPr>
                </a:tc>
                <a:tc>
                  <a:txBody>
                    <a:bodyPr/>
                    <a:lstStyle/>
                    <a:p>
                      <a:pPr algn="ctr">
                        <a:defRPr sz="1150" b="1">
                          <a:solidFill>
                            <a:srgbClr val="FFFFFF"/>
                          </a:solidFill>
                          <a:latin typeface="Microsoft YaHei"/>
                        </a:defRPr>
                      </a:pPr>
                      <a:r>
                        <a:t>业务流量特征与量化画像 [需求输入]</a:t>
                      </a:r>
                    </a:p>
                  </a:txBody>
                  <a:tcPr anchor="ctr" marT="31750" marB="31750" marL="50800" marR="50800">
                    <a:solidFill>
                      <a:srgbClr val="1E3A8A"/>
                    </a:solidFill>
                  </a:tcPr>
                </a:tc>
                <a:tc>
                  <a:txBody>
                    <a:bodyPr/>
                    <a:lstStyle/>
                    <a:p>
                      <a:pPr algn="ctr">
                        <a:defRPr sz="1150" b="1">
                          <a:solidFill>
                            <a:srgbClr val="FFFFFF"/>
                          </a:solidFill>
                          <a:latin typeface="Microsoft YaHei"/>
                        </a:defRPr>
                      </a:pPr>
                      <a:r>
                        <a:t>提炼核心诉求与催熟技术 [契约目标]</a:t>
                      </a:r>
                    </a:p>
                  </a:txBody>
                  <a:tcPr anchor="ctr" marT="31750" marB="31750" marL="50800" marR="50800">
                    <a:solidFill>
                      <a:srgbClr val="1E3A8A"/>
                    </a:solidFill>
                  </a:tcPr>
                </a:tc>
              </a:tr>
              <a:tr h="462280">
                <a:tc>
                  <a:txBody>
                    <a:bodyPr/>
                    <a:lstStyle/>
                    <a:p>
                      <a:pPr algn="ctr">
                        <a:defRPr sz="980" b="1">
                          <a:solidFill>
                            <a:srgbClr val="0F172A"/>
                          </a:solidFill>
                          <a:latin typeface="Microsoft YaHei"/>
                        </a:defRPr>
                      </a:pPr>
                      <a:r>
                        <a:t>F1: 微秒级控制信令</a:t>
                      </a:r>
                    </a:p>
                  </a:txBody>
                  <a:tcPr anchor="ctr" marT="25400" marB="25400" marL="50800" marR="50800">
                    <a:solidFill>
                      <a:srgbClr val="FFFFFF"/>
                    </a:solidFill>
                  </a:tcPr>
                </a:tc>
                <a:tc>
                  <a:txBody>
                    <a:bodyPr/>
                    <a:lstStyle/>
                    <a:p>
                      <a:pPr algn="l">
                        <a:defRPr sz="980">
                          <a:solidFill>
                            <a:srgbClr val="0F172A"/>
                          </a:solidFill>
                          <a:latin typeface="Microsoft YaHei"/>
                        </a:defRPr>
                      </a:pPr>
                      <a:r>
                        <a:t>目录匹配查询、租约获取释放</a:t>
                      </a:r>
                    </a:p>
                  </a:txBody>
                  <a:tcPr anchor="ctr" marT="25400" marB="25400" marL="50800" marR="50800">
                    <a:solidFill>
                      <a:srgbClr val="FFFFFF"/>
                    </a:solidFill>
                  </a:tcPr>
                </a:tc>
                <a:tc>
                  <a:txBody>
                    <a:bodyPr/>
                    <a:lstStyle/>
                    <a:p>
                      <a:pPr algn="l">
                        <a:defRPr sz="980">
                          <a:solidFill>
                            <a:srgbClr val="0F172A"/>
                          </a:solidFill>
                          <a:latin typeface="Microsoft YaHei"/>
                        </a:defRPr>
                      </a:pPr>
                      <a:r>
                        <a:t>极高频，包长极小 (64B~4KB) [画像]，P99 &lt; 5µs [目标值]</a:t>
                      </a:r>
                    </a:p>
                  </a:txBody>
                  <a:tcPr anchor="ctr" marT="25400" marB="25400" marL="50800" marR="50800">
                    <a:solidFill>
                      <a:srgbClr val="FFFFFF"/>
                    </a:solidFill>
                  </a:tcPr>
                </a:tc>
                <a:tc>
                  <a:txBody>
                    <a:bodyPr/>
                    <a:lstStyle/>
                    <a:p>
                      <a:pPr algn="l">
                        <a:defRPr sz="980">
                          <a:solidFill>
                            <a:srgbClr val="0F172A"/>
                          </a:solidFill>
                          <a:latin typeface="Microsoft YaHei"/>
                        </a:defRPr>
                      </a:pPr>
                      <a:r>
                        <a:t>提供轻量原子操作与共享内存快路径 ➔ 催熟无锁用户态直通 QP 队列</a:t>
                      </a:r>
                    </a:p>
                  </a:txBody>
                  <a:tcPr anchor="ctr" marT="25400" marB="25400" marL="50800" marR="50800">
                    <a:solidFill>
                      <a:srgbClr val="FFFFFF"/>
                    </a:solidFill>
                  </a:tcPr>
                </a:tc>
              </a:tr>
              <a:tr h="462280">
                <a:tc>
                  <a:txBody>
                    <a:bodyPr/>
                    <a:lstStyle/>
                    <a:p>
                      <a:pPr algn="ctr">
                        <a:defRPr sz="980" b="1">
                          <a:solidFill>
                            <a:srgbClr val="0F172A"/>
                          </a:solidFill>
                          <a:latin typeface="Microsoft YaHei"/>
                        </a:defRPr>
                      </a:pPr>
                      <a:r>
                        <a:t>F2: 分段前缀高速拉取</a:t>
                      </a:r>
                    </a:p>
                  </a:txBody>
                  <a:tcPr anchor="ctr" marT="25400" marB="25400" marL="50800" marR="50800">
                    <a:solidFill>
                      <a:srgbClr val="EFF6FF"/>
                    </a:solidFill>
                  </a:tcPr>
                </a:tc>
                <a:tc>
                  <a:txBody>
                    <a:bodyPr/>
                    <a:lstStyle/>
                    <a:p>
                      <a:pPr algn="l">
                        <a:defRPr sz="980">
                          <a:solidFill>
                            <a:srgbClr val="0F172A"/>
                          </a:solidFill>
                          <a:latin typeface="Microsoft YaHei"/>
                        </a:defRPr>
                      </a:pPr>
                      <a:r>
                        <a:t>历史命中大前缀正文拉取</a:t>
                      </a:r>
                    </a:p>
                  </a:txBody>
                  <a:tcPr anchor="ctr" marT="25400" marB="25400" marL="50800" marR="50800">
                    <a:solidFill>
                      <a:srgbClr val="EFF6FF"/>
                    </a:solidFill>
                  </a:tcPr>
                </a:tc>
                <a:tc>
                  <a:txBody>
                    <a:bodyPr/>
                    <a:lstStyle/>
                    <a:p>
                      <a:pPr algn="l">
                        <a:defRPr sz="980">
                          <a:solidFill>
                            <a:srgbClr val="0F172A"/>
                          </a:solidFill>
                          <a:latin typeface="Microsoft YaHei"/>
                        </a:defRPr>
                      </a:pPr>
                      <a:r>
                        <a:t>中大包 (4MB~16MB) [画像]，单卡跑满 20GB/s [标称目标]</a:t>
                      </a:r>
                    </a:p>
                  </a:txBody>
                  <a:tcPr anchor="ctr" marT="25400" marB="25400" marL="50800" marR="50800">
                    <a:solidFill>
                      <a:srgbClr val="EFF6FF"/>
                    </a:solidFill>
                  </a:tcPr>
                </a:tc>
                <a:tc>
                  <a:txBody>
                    <a:bodyPr/>
                    <a:lstStyle/>
                    <a:p>
                      <a:pPr algn="l">
                        <a:defRPr sz="980">
                          <a:solidFill>
                            <a:srgbClr val="0F172A"/>
                          </a:solidFill>
                          <a:latin typeface="Microsoft YaHei"/>
                        </a:defRPr>
                      </a:pPr>
                      <a:r>
                        <a:t>支持连续物理块批量提交 ➔ 催熟硬件 SGL 描述符编译与 DMA 直达</a:t>
                      </a:r>
                    </a:p>
                  </a:txBody>
                  <a:tcPr anchor="ctr" marT="25400" marB="25400" marL="50800" marR="50800">
                    <a:solidFill>
                      <a:srgbClr val="EFF6FF"/>
                    </a:solidFill>
                  </a:tcPr>
                </a:tc>
              </a:tr>
              <a:tr h="462280">
                <a:tc>
                  <a:txBody>
                    <a:bodyPr/>
                    <a:lstStyle/>
                    <a:p>
                      <a:pPr algn="ctr">
                        <a:defRPr sz="980" b="1">
                          <a:solidFill>
                            <a:srgbClr val="0F172A"/>
                          </a:solidFill>
                          <a:latin typeface="Microsoft YaHei"/>
                        </a:defRPr>
                      </a:pPr>
                      <a:r>
                        <a:t>F3: 逐层流水边算边传</a:t>
                      </a:r>
                    </a:p>
                  </a:txBody>
                  <a:tcPr anchor="ctr" marT="25400" marB="25400" marL="50800" marR="50800">
                    <a:solidFill>
                      <a:srgbClr val="FFFFFF"/>
                    </a:solidFill>
                  </a:tcPr>
                </a:tc>
                <a:tc>
                  <a:txBody>
                    <a:bodyPr/>
                    <a:lstStyle/>
                    <a:p>
                      <a:pPr algn="l">
                        <a:defRPr sz="980">
                          <a:solidFill>
                            <a:srgbClr val="0F172A"/>
                          </a:solidFill>
                          <a:latin typeface="Microsoft YaHei"/>
                        </a:defRPr>
                      </a:pPr>
                      <a:r>
                        <a:t>Prefill 逐层注意力重叠计算</a:t>
                      </a:r>
                    </a:p>
                  </a:txBody>
                  <a:tcPr anchor="ctr" marT="25400" marB="25400" marL="50800" marR="50800">
                    <a:solidFill>
                      <a:srgbClr val="FFFFFF"/>
                    </a:solidFill>
                  </a:tcPr>
                </a:tc>
                <a:tc>
                  <a:txBody>
                    <a:bodyPr/>
                    <a:lstStyle/>
                    <a:p>
                      <a:pPr algn="l">
                        <a:defRPr sz="980">
                          <a:solidFill>
                            <a:srgbClr val="0F172A"/>
                          </a:solidFill>
                          <a:latin typeface="Microsoft YaHei"/>
                        </a:defRPr>
                      </a:pPr>
                      <a:r>
                        <a:t>80 层微时序，每层 4MB，每隔 2.75ms 突发 [时序推导]</a:t>
                      </a:r>
                    </a:p>
                  </a:txBody>
                  <a:tcPr anchor="ctr" marT="25400" marB="25400" marL="50800" marR="50800">
                    <a:solidFill>
                      <a:srgbClr val="FFFFFF"/>
                    </a:solidFill>
                  </a:tcPr>
                </a:tc>
                <a:tc>
                  <a:txBody>
                    <a:bodyPr/>
                    <a:lstStyle/>
                    <a:p>
                      <a:pPr algn="l">
                        <a:defRPr sz="980">
                          <a:solidFill>
                            <a:srgbClr val="0F172A"/>
                          </a:solidFill>
                          <a:latin typeface="Microsoft YaHei"/>
                        </a:defRPr>
                      </a:pPr>
                      <a:r>
                        <a:t>微秒级分段完成与设备可见事件 ➔ 催熟事件驱动异步通知与流水管线</a:t>
                      </a:r>
                    </a:p>
                  </a:txBody>
                  <a:tcPr anchor="ctr" marT="25400" marB="25400" marL="50800" marR="50800">
                    <a:solidFill>
                      <a:srgbClr val="FFFFFF"/>
                    </a:solidFill>
                  </a:tcPr>
                </a:tc>
              </a:tr>
              <a:tr h="462280">
                <a:tc>
                  <a:txBody>
                    <a:bodyPr/>
                    <a:lstStyle/>
                    <a:p>
                      <a:pPr algn="ctr">
                        <a:defRPr sz="980" b="1">
                          <a:solidFill>
                            <a:srgbClr val="0F172A"/>
                          </a:solidFill>
                          <a:latin typeface="Microsoft YaHei"/>
                        </a:defRPr>
                      </a:pPr>
                      <a:r>
                        <a:t>F4: TP=8 多卡组协同</a:t>
                      </a:r>
                    </a:p>
                  </a:txBody>
                  <a:tcPr anchor="ctr" marT="25400" marB="25400" marL="50800" marR="50800">
                    <a:solidFill>
                      <a:srgbClr val="EFF6FF"/>
                    </a:solidFill>
                  </a:tcPr>
                </a:tc>
                <a:tc>
                  <a:txBody>
                    <a:bodyPr/>
                    <a:lstStyle/>
                    <a:p>
                      <a:pPr algn="l">
                        <a:defRPr sz="980">
                          <a:solidFill>
                            <a:srgbClr val="0F172A"/>
                          </a:solidFill>
                          <a:latin typeface="Microsoft YaHei"/>
                        </a:defRPr>
                      </a:pPr>
                      <a:r>
                        <a:t>TP=8 多卡同步消除偏斜</a:t>
                      </a:r>
                    </a:p>
                  </a:txBody>
                  <a:tcPr anchor="ctr" marT="25400" marB="25400" marL="50800" marR="50800">
                    <a:solidFill>
                      <a:srgbClr val="EFF6FF"/>
                    </a:solidFill>
                  </a:tcPr>
                </a:tc>
                <a:tc>
                  <a:txBody>
                    <a:bodyPr/>
                    <a:lstStyle/>
                    <a:p>
                      <a:pPr algn="l">
                        <a:defRPr sz="980">
                          <a:solidFill>
                            <a:srgbClr val="0F172A"/>
                          </a:solidFill>
                          <a:latin typeface="Microsoft YaHei"/>
                        </a:defRPr>
                      </a:pPr>
                      <a:r>
                        <a:t>8 卡关联流同时启动到达，偏斜比 &lt; 1.15 [约束目标]</a:t>
                      </a:r>
                    </a:p>
                  </a:txBody>
                  <a:tcPr anchor="ctr" marT="25400" marB="25400" marL="50800" marR="50800">
                    <a:solidFill>
                      <a:srgbClr val="EFF6FF"/>
                    </a:solidFill>
                  </a:tcPr>
                </a:tc>
                <a:tc>
                  <a:txBody>
                    <a:bodyPr/>
                    <a:lstStyle/>
                    <a:p>
                      <a:pPr algn="l">
                        <a:defRPr sz="980">
                          <a:solidFill>
                            <a:srgbClr val="0F172A"/>
                          </a:solidFill>
                          <a:latin typeface="Microsoft YaHei"/>
                        </a:defRPr>
                      </a:pPr>
                      <a:r>
                        <a:t>多卡协同门铃与完成聚合 ➔ 催熟 Coflow 协同流控与防挂屏障</a:t>
                      </a:r>
                    </a:p>
                  </a:txBody>
                  <a:tcPr anchor="ctr" marT="25400" marB="25400" marL="50800" marR="50800">
                    <a:solidFill>
                      <a:srgbClr val="EFF6FF"/>
                    </a:solidFill>
                  </a:tcPr>
                </a:tc>
              </a:tr>
              <a:tr h="462280">
                <a:tc>
                  <a:txBody>
                    <a:bodyPr/>
                    <a:lstStyle/>
                    <a:p>
                      <a:pPr algn="ctr">
                        <a:defRPr sz="980" b="1">
                          <a:solidFill>
                            <a:srgbClr val="0F172A"/>
                          </a:solidFill>
                          <a:latin typeface="Microsoft YaHei"/>
                        </a:defRPr>
                      </a:pPr>
                      <a:r>
                        <a:t>F5: 前后台混压与 QoS</a:t>
                      </a:r>
                    </a:p>
                  </a:txBody>
                  <a:tcPr anchor="ctr" marT="25400" marB="25400" marL="50800" marR="50800">
                    <a:solidFill>
                      <a:srgbClr val="FFFFFF"/>
                    </a:solidFill>
                  </a:tcPr>
                </a:tc>
                <a:tc>
                  <a:txBody>
                    <a:bodyPr/>
                    <a:lstStyle/>
                    <a:p>
                      <a:pPr algn="l">
                        <a:defRPr sz="980">
                          <a:solidFill>
                            <a:srgbClr val="0F172A"/>
                          </a:solidFill>
                          <a:latin typeface="Microsoft YaHei"/>
                        </a:defRPr>
                      </a:pPr>
                      <a:r>
                        <a:t>Decode 生成与后台换出混部</a:t>
                      </a:r>
                    </a:p>
                  </a:txBody>
                  <a:tcPr anchor="ctr" marT="25400" marB="25400" marL="50800" marR="50800">
                    <a:solidFill>
                      <a:srgbClr val="FFFFFF"/>
                    </a:solidFill>
                  </a:tcPr>
                </a:tc>
                <a:tc>
                  <a:txBody>
                    <a:bodyPr/>
                    <a:lstStyle/>
                    <a:p>
                      <a:pPr algn="l">
                        <a:defRPr sz="980">
                          <a:solidFill>
                            <a:srgbClr val="0F172A"/>
                          </a:solidFill>
                          <a:latin typeface="Microsoft YaHei"/>
                        </a:defRPr>
                      </a:pPr>
                      <a:r>
                        <a:t>高优短流与大吞吐背景流长时间交织 [业务场景]</a:t>
                      </a:r>
                    </a:p>
                  </a:txBody>
                  <a:tcPr anchor="ctr" marT="25400" marB="25400" marL="50800" marR="50800">
                    <a:solidFill>
                      <a:srgbClr val="FFFFFF"/>
                    </a:solidFill>
                  </a:tcPr>
                </a:tc>
                <a:tc>
                  <a:txBody>
                    <a:bodyPr/>
                    <a:lstStyle/>
                    <a:p>
                      <a:pPr algn="l">
                        <a:defRPr sz="980">
                          <a:solidFill>
                            <a:srgbClr val="0F172A"/>
                          </a:solidFill>
                          <a:latin typeface="Microsoft YaHei"/>
                        </a:defRPr>
                      </a:pPr>
                      <a:r>
                        <a:t>硬件优先级映射 (TC0/TC1) ➔ 催熟微秒级反压与显存流控机制</a:t>
                      </a:r>
                    </a:p>
                  </a:txBody>
                  <a:tcPr anchor="ctr" marT="25400" marB="25400" marL="50800" marR="50800">
                    <a:solidFill>
                      <a:srgbClr val="FFFFFF"/>
                    </a:solidFill>
                  </a:tcPr>
                </a:tc>
              </a:tr>
              <a:tr h="462280">
                <a:tc>
                  <a:txBody>
                    <a:bodyPr/>
                    <a:lstStyle/>
                    <a:p>
                      <a:pPr algn="ctr">
                        <a:defRPr sz="980" b="1">
                          <a:solidFill>
                            <a:srgbClr val="0F172A"/>
                          </a:solidFill>
                          <a:latin typeface="Microsoft YaHei"/>
                        </a:defRPr>
                      </a:pPr>
                      <a:r>
                        <a:t>F6: N-to-1 多源汇聚</a:t>
                      </a:r>
                    </a:p>
                  </a:txBody>
                  <a:tcPr anchor="ctr" marT="25400" marB="25400" marL="50800" marR="50800">
                    <a:solidFill>
                      <a:srgbClr val="EFF6FF"/>
                    </a:solidFill>
                  </a:tcPr>
                </a:tc>
                <a:tc>
                  <a:txBody>
                    <a:bodyPr/>
                    <a:lstStyle/>
                    <a:p>
                      <a:pPr algn="l">
                        <a:defRPr sz="980">
                          <a:solidFill>
                            <a:srgbClr val="0F172A"/>
                          </a:solidFill>
                          <a:latin typeface="Microsoft YaHei"/>
                        </a:defRPr>
                      </a:pPr>
                      <a:r>
                        <a:t>多计算节点向源拉取共享缓存</a:t>
                      </a:r>
                    </a:p>
                  </a:txBody>
                  <a:tcPr anchor="ctr" marT="25400" marB="25400" marL="50800" marR="50800">
                    <a:solidFill>
                      <a:srgbClr val="EFF6FF"/>
                    </a:solidFill>
                  </a:tcPr>
                </a:tc>
                <a:tc>
                  <a:txBody>
                    <a:bodyPr/>
                    <a:lstStyle/>
                    <a:p>
                      <a:pPr algn="l">
                        <a:defRPr sz="980">
                          <a:solidFill>
                            <a:srgbClr val="0F172A"/>
                          </a:solidFill>
                          <a:latin typeface="Microsoft YaHei"/>
                        </a:defRPr>
                      </a:pPr>
                      <a:r>
                        <a:t>16 并发汇聚，瞬时突发 512MB 冲击浅缓冲 [负载假设]</a:t>
                      </a:r>
                    </a:p>
                  </a:txBody>
                  <a:tcPr anchor="ctr" marT="25400" marB="25400" marL="50800" marR="50800">
                    <a:solidFill>
                      <a:srgbClr val="EFF6FF"/>
                    </a:solidFill>
                  </a:tcPr>
                </a:tc>
                <a:tc>
                  <a:txBody>
                    <a:bodyPr/>
                    <a:lstStyle/>
                    <a:p>
                      <a:pPr algn="l">
                        <a:defRPr sz="980">
                          <a:solidFill>
                            <a:srgbClr val="0F172A"/>
                          </a:solidFill>
                          <a:latin typeface="Microsoft YaHei"/>
                        </a:defRPr>
                      </a:pPr>
                      <a:r>
                        <a:t>基于 RTT 拥塞通知与端侧突发整形 ➔ 催熟动态拥塞算法 (DCQCN)</a:t>
                      </a:r>
                    </a:p>
                  </a:txBody>
                  <a:tcPr anchor="ctr" marT="25400" marB="25400" marL="50800" marR="50800">
                    <a:solidFill>
                      <a:srgbClr val="EFF6FF"/>
                    </a:solidFill>
                  </a:tcPr>
                </a:tc>
              </a:tr>
              <a:tr h="462280">
                <a:tc>
                  <a:txBody>
                    <a:bodyPr/>
                    <a:lstStyle/>
                    <a:p>
                      <a:pPr algn="ctr">
                        <a:defRPr sz="980" b="1">
                          <a:solidFill>
                            <a:srgbClr val="0F172A"/>
                          </a:solidFill>
                          <a:latin typeface="Microsoft YaHei"/>
                        </a:defRPr>
                      </a:pPr>
                      <a:r>
                        <a:t>F7: 1-to-N 组播分发</a:t>
                      </a:r>
                    </a:p>
                  </a:txBody>
                  <a:tcPr anchor="ctr" marT="25400" marB="25400" marL="50800" marR="50800">
                    <a:solidFill>
                      <a:srgbClr val="FFFFFF"/>
                    </a:solidFill>
                  </a:tcPr>
                </a:tc>
                <a:tc>
                  <a:txBody>
                    <a:bodyPr/>
                    <a:lstStyle/>
                    <a:p>
                      <a:pPr algn="l">
                        <a:defRPr sz="980">
                          <a:solidFill>
                            <a:srgbClr val="0F172A"/>
                          </a:solidFill>
                          <a:latin typeface="Microsoft YaHei"/>
                        </a:defRPr>
                      </a:pPr>
                      <a:r>
                        <a:t>系统提示词广播、Agent 共享</a:t>
                      </a:r>
                    </a:p>
                  </a:txBody>
                  <a:tcPr anchor="ctr" marT="25400" marB="25400" marL="50800" marR="50800">
                    <a:solidFill>
                      <a:srgbClr val="FFFFFF"/>
                    </a:solidFill>
                  </a:tcPr>
                </a:tc>
                <a:tc>
                  <a:txBody>
                    <a:bodyPr/>
                    <a:lstStyle/>
                    <a:p>
                      <a:pPr algn="l">
                        <a:defRPr sz="980">
                          <a:solidFill>
                            <a:srgbClr val="0F172A"/>
                          </a:solidFill>
                          <a:latin typeface="Microsoft YaHei"/>
                        </a:defRPr>
                      </a:pPr>
                      <a:r>
                        <a:t>1 源向 N 实例分发相同万 Token 缓存 [典型负载]</a:t>
                      </a:r>
                    </a:p>
                  </a:txBody>
                  <a:tcPr anchor="ctr" marT="25400" marB="25400" marL="50800" marR="50800">
                    <a:solidFill>
                      <a:srgbClr val="FFFFFF"/>
                    </a:solidFill>
                  </a:tcPr>
                </a:tc>
                <a:tc>
                  <a:txBody>
                    <a:bodyPr/>
                    <a:lstStyle/>
                    <a:p>
                      <a:pPr algn="l">
                        <a:defRPr sz="980">
                          <a:solidFill>
                            <a:srgbClr val="0F172A"/>
                          </a:solidFill>
                          <a:latin typeface="Microsoft YaHei"/>
                        </a:defRPr>
                      </a:pPr>
                      <a:r>
                        <a:t>优先硬件组播，次选树状中继 ➔ 催熟底层多播驱动与跨节点级联直通</a:t>
                      </a:r>
                    </a:p>
                  </a:txBody>
                  <a:tcPr anchor="ctr" marT="25400" marB="25400" marL="50800" marR="50800">
                    <a:solidFill>
                      <a:srgbClr val="FFFFFF"/>
                    </a:solidFill>
                  </a:tcPr>
                </a:tc>
              </a:tr>
              <a:tr h="462280">
                <a:tc>
                  <a:txBody>
                    <a:bodyPr/>
                    <a:lstStyle/>
                    <a:p>
                      <a:pPr algn="ctr">
                        <a:defRPr sz="980" b="1">
                          <a:solidFill>
                            <a:srgbClr val="0F172A"/>
                          </a:solidFill>
                          <a:latin typeface="Microsoft YaHei"/>
                        </a:defRPr>
                      </a:pPr>
                      <a:r>
                        <a:t>F8: 极速撤销与安全回退</a:t>
                      </a:r>
                    </a:p>
                  </a:txBody>
                  <a:tcPr anchor="ctr" marT="25400" marB="25400" marL="50800" marR="50800">
                    <a:solidFill>
                      <a:srgbClr val="EFF6FF"/>
                    </a:solidFill>
                  </a:tcPr>
                </a:tc>
                <a:tc>
                  <a:txBody>
                    <a:bodyPr/>
                    <a:lstStyle/>
                    <a:p>
                      <a:pPr algn="l">
                        <a:defRPr sz="980">
                          <a:solidFill>
                            <a:srgbClr val="0F172A"/>
                          </a:solidFill>
                          <a:latin typeface="Microsoft YaHei"/>
                        </a:defRPr>
                      </a:pPr>
                      <a:r>
                        <a:t>远端掉线、租约过期、网络熔断</a:t>
                      </a:r>
                    </a:p>
                  </a:txBody>
                  <a:tcPr anchor="ctr" marT="25400" marB="25400" marL="50800" marR="50800">
                    <a:solidFill>
                      <a:srgbClr val="EFF6FF"/>
                    </a:solidFill>
                  </a:tcPr>
                </a:tc>
                <a:tc>
                  <a:txBody>
                    <a:bodyPr/>
                    <a:lstStyle/>
                    <a:p>
                      <a:pPr algn="l">
                        <a:defRPr sz="980">
                          <a:solidFill>
                            <a:srgbClr val="0F172A"/>
                          </a:solidFill>
                          <a:latin typeface="Microsoft YaHei"/>
                        </a:defRPr>
                      </a:pPr>
                      <a:r>
                        <a:t>偶发异常，要求在 &lt; 500µs [目标值] 内完成在途撤销</a:t>
                      </a:r>
                    </a:p>
                  </a:txBody>
                  <a:tcPr anchor="ctr" marT="25400" marB="25400" marL="50800" marR="50800">
                    <a:solidFill>
                      <a:srgbClr val="EFF6FF"/>
                    </a:solidFill>
                  </a:tcPr>
                </a:tc>
                <a:tc>
                  <a:txBody>
                    <a:bodyPr/>
                    <a:lstStyle/>
                    <a:p>
                      <a:pPr algn="l">
                        <a:defRPr sz="980">
                          <a:solidFill>
                            <a:srgbClr val="0F172A"/>
                          </a:solidFill>
                          <a:latin typeface="Microsoft YaHei"/>
                        </a:defRPr>
                      </a:pPr>
                      <a:r>
                        <a:t>微秒级异步任务撤销与描述符排空 ➔ 催熟通信上下文快速重置与回收</a:t>
                      </a:r>
                    </a:p>
                  </a:txBody>
                  <a:tcPr anchor="ctr" marT="25400" marB="25400" marL="50800" marR="50800">
                    <a:solidFill>
                      <a:srgbClr val="EFF6FF"/>
                    </a:solidFill>
                  </a:tcPr>
                </a:tc>
              </a:tr>
            </a:tbl>
          </a:graphicData>
        </a:graphic>
      </p:graphicFrame>
      <p:sp>
        <p:nvSpPr>
          <p:cNvPr id="7" name="Rounded Rectangle 6"/>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通信模型：</a:t>
            </a:r>
            <a:r>
              <a:rPr sz="1300">
                <a:solidFill>
                  <a:srgbClr val="0F172A"/>
                </a:solidFill>
                <a:latin typeface="Microsoft YaHei"/>
              </a:rPr>
              <a:t>KVC 软件以严苛的大模型推理业务场景为输入，直接催熟 KPCL 从通用传输走向大模型原生商用。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KPCL 可执行接口契约：服务保证、事件反馈与失败边界</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将抽象性能诉求固化为统一通信任务记录 J_i 与带约束的服务表达形式</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16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059375" cy="3931920"/>
          </a:xfrm>
          <a:prstGeom prst="rect">
            <a:avLst/>
          </a:prstGeom>
          <a:noFill/>
        </p:spPr>
        <p:txBody>
          <a:bodyPr wrap="square">
            <a:spAutoFit/>
          </a:bodyPr>
          <a:lstStyle/>
          <a:p>
            <a:pPr>
              <a:spcAft>
                <a:spcPts val="600"/>
              </a:spcAft>
              <a:defRPr sz="1550" b="1">
                <a:solidFill>
                  <a:srgbClr val="1E3A8A"/>
                </a:solidFill>
                <a:latin typeface="Microsoft YaHei"/>
              </a:defRPr>
            </a:pPr>
            <a:r>
              <a:t>统一通信任务描述符 J_i 规范</a:t>
            </a:r>
          </a:p>
          <a:p>
            <a:pPr>
              <a:lnSpc>
                <a:spcPct val="120000"/>
              </a:lnSpc>
              <a:spcAft>
                <a:spcPts val="250"/>
              </a:spcAft>
              <a:defRPr sz="1080" b="1">
                <a:solidFill>
                  <a:srgbClr val="1E3A8A"/>
                </a:solidFill>
                <a:latin typeface="Microsoft YaHei"/>
              </a:defRPr>
            </a:pPr>
            <a:r>
              <a:t>J_i = (a_i, d_i, group_i, pred_i, src_i, dst_i, V_i, E_i, visible_i, fail_i)</a:t>
            </a:r>
          </a:p>
          <a:p>
            <a:pPr>
              <a:lnSpc>
                <a:spcPct val="120000"/>
              </a:lnSpc>
              <a:spcAft>
                <a:spcPts val="250"/>
              </a:spcAft>
              <a:defRPr sz="1120" b="0">
                <a:solidFill>
                  <a:srgbClr val="0F172A"/>
                </a:solidFill>
                <a:latin typeface="Microsoft YaHei"/>
              </a:defRPr>
            </a:pPr>
            <a:r>
              <a:t>• a_i: 任务最早可释放发起时刻</a:t>
            </a:r>
          </a:p>
          <a:p>
            <a:pPr>
              <a:lnSpc>
                <a:spcPct val="120000"/>
              </a:lnSpc>
              <a:spcAft>
                <a:spcPts val="250"/>
              </a:spcAft>
              <a:defRPr sz="1120" b="0">
                <a:solidFill>
                  <a:srgbClr val="0F172A"/>
                </a:solidFill>
                <a:latin typeface="Microsoft YaHei"/>
              </a:defRPr>
            </a:pPr>
            <a:r>
              <a:t>• d_i: 业务截止时刻 (Deadline 预算)</a:t>
            </a:r>
          </a:p>
          <a:p>
            <a:pPr>
              <a:lnSpc>
                <a:spcPct val="120000"/>
              </a:lnSpc>
              <a:spcAft>
                <a:spcPts val="250"/>
              </a:spcAft>
              <a:defRPr sz="1120" b="0">
                <a:solidFill>
                  <a:srgbClr val="0F172A"/>
                </a:solidFill>
                <a:latin typeface="Microsoft YaHei"/>
              </a:defRPr>
            </a:pPr>
            <a:r>
              <a:t>• group_i: 关联流组 (TP=8 Coflow 标识)</a:t>
            </a:r>
          </a:p>
          <a:p>
            <a:pPr>
              <a:lnSpc>
                <a:spcPct val="120000"/>
              </a:lnSpc>
              <a:spcAft>
                <a:spcPts val="250"/>
              </a:spcAft>
              <a:defRPr sz="1120" b="0">
                <a:solidFill>
                  <a:srgbClr val="0F172A"/>
                </a:solidFill>
                <a:latin typeface="Microsoft YaHei"/>
              </a:defRPr>
            </a:pPr>
            <a:r>
              <a:t>• pred_i: 前置依赖事件集合 (Layer 依赖)</a:t>
            </a:r>
          </a:p>
          <a:p>
            <a:pPr>
              <a:lnSpc>
                <a:spcPct val="120000"/>
              </a:lnSpc>
              <a:spcAft>
                <a:spcPts val="250"/>
              </a:spcAft>
              <a:defRPr sz="1120" b="0">
                <a:solidFill>
                  <a:srgbClr val="0F172A"/>
                </a:solidFill>
                <a:latin typeface="Microsoft YaHei"/>
              </a:defRPr>
            </a:pPr>
            <a:r>
              <a:t>• src_i / dst_i: 源与目标物理显存地址</a:t>
            </a:r>
          </a:p>
          <a:p>
            <a:pPr>
              <a:lnSpc>
                <a:spcPct val="120000"/>
              </a:lnSpc>
              <a:spcAft>
                <a:spcPts val="250"/>
              </a:spcAft>
              <a:defRPr sz="1120" b="0">
                <a:solidFill>
                  <a:srgbClr val="0F172A"/>
                </a:solidFill>
                <a:latin typeface="Microsoft YaHei"/>
              </a:defRPr>
            </a:pPr>
            <a:r>
              <a:t>• V_i: 真实有效字节量 (64B POD Extent)</a:t>
            </a:r>
          </a:p>
          <a:p>
            <a:pPr>
              <a:lnSpc>
                <a:spcPct val="120000"/>
              </a:lnSpc>
              <a:spcAft>
                <a:spcPts val="250"/>
              </a:spcAft>
              <a:defRPr sz="1120" b="0">
                <a:solidFill>
                  <a:srgbClr val="0F172A"/>
                </a:solidFill>
                <a:latin typeface="Microsoft YaHei"/>
              </a:defRPr>
            </a:pPr>
            <a:r>
              <a:t>• E_i: 途径共享硬件资源 (网卡/总线)</a:t>
            </a:r>
          </a:p>
          <a:p>
            <a:pPr>
              <a:lnSpc>
                <a:spcPct val="120000"/>
              </a:lnSpc>
              <a:spcAft>
                <a:spcPts val="250"/>
              </a:spcAft>
              <a:defRPr sz="1120" b="0">
                <a:solidFill>
                  <a:srgbClr val="0F172A"/>
                </a:solidFill>
                <a:latin typeface="Microsoft YaHei"/>
              </a:defRPr>
            </a:pPr>
            <a:r>
              <a:t>• visible_i: 目标设备可消费就绪契约</a:t>
            </a:r>
          </a:p>
          <a:p>
            <a:pPr>
              <a:lnSpc>
                <a:spcPct val="120000"/>
              </a:lnSpc>
              <a:spcAft>
                <a:spcPts val="250"/>
              </a:spcAft>
              <a:defRPr sz="1120" b="0">
                <a:solidFill>
                  <a:srgbClr val="0F172A"/>
                </a:solidFill>
                <a:latin typeface="Microsoft YaHei"/>
              </a:defRPr>
            </a:pPr>
            <a:r>
              <a:t>• fail_i: 超时与异常受控截断动作</a:t>
            </a:r>
          </a:p>
          <a:p>
            <a:pPr>
              <a:lnSpc>
                <a:spcPct val="120000"/>
              </a:lnSpc>
              <a:spcAft>
                <a:spcPts val="250"/>
              </a:spcAft>
              <a:defRPr sz="1120" b="1">
                <a:solidFill>
                  <a:srgbClr val="1E3A8A"/>
                </a:solidFill>
                <a:latin typeface="Microsoft YaHei"/>
              </a:defRPr>
            </a:pPr>
            <a:r>
              <a:t>工程价值：杜绝将通信当成黑盒，使每次传输任务都具备可跟踪、可对账的时限与物理约束。</a:t>
            </a:r>
          </a:p>
        </p:txBody>
      </p:sp>
      <p:sp>
        <p:nvSpPr>
          <p:cNvPr id="8" name="Rounded Rectangle 7"/>
          <p:cNvSpPr/>
          <p:nvPr/>
        </p:nvSpPr>
        <p:spPr>
          <a:xfrm>
            <a:off x="6217920" y="1115568"/>
            <a:ext cx="542513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5059375" cy="3931920"/>
          </a:xfrm>
          <a:prstGeom prst="rect">
            <a:avLst/>
          </a:prstGeom>
          <a:noFill/>
        </p:spPr>
        <p:txBody>
          <a:bodyPr wrap="square">
            <a:spAutoFit/>
          </a:bodyPr>
          <a:lstStyle/>
          <a:p>
            <a:pPr>
              <a:spcAft>
                <a:spcPts val="600"/>
              </a:spcAft>
              <a:defRPr sz="1550" b="1">
                <a:solidFill>
                  <a:srgbClr val="1E3A8A"/>
                </a:solidFill>
                <a:latin typeface="Microsoft YaHei"/>
              </a:defRPr>
            </a:pPr>
            <a:r>
              <a:t>可直接写入联合研发协议的契约模板</a:t>
            </a:r>
          </a:p>
          <a:p>
            <a:pPr>
              <a:lnSpc>
                <a:spcPct val="120000"/>
              </a:lnSpc>
              <a:spcAft>
                <a:spcPts val="250"/>
              </a:spcAft>
              <a:defRPr sz="1100" b="1">
                <a:solidFill>
                  <a:srgbClr val="1E3A8A"/>
                </a:solidFill>
                <a:latin typeface="Microsoft YaHei"/>
              </a:defRPr>
            </a:pPr>
            <a:r>
              <a:t>标准接口契约文本表达：</a:t>
            </a:r>
          </a:p>
          <a:p>
            <a:pPr>
              <a:lnSpc>
                <a:spcPct val="120000"/>
              </a:lnSpc>
              <a:spcAft>
                <a:spcPts val="250"/>
              </a:spcAft>
              <a:defRPr sz="1100" b="0">
                <a:solidFill>
                  <a:srgbClr val="0F172A"/>
                </a:solidFill>
                <a:latin typeface="Microsoft YaHei"/>
              </a:defRPr>
            </a:pPr>
            <a:r>
              <a:t>  “在指定源目标、分段大小、并发组与设备可见性定义下，任务获得不低于 R 的有效带宽、最大排队延迟不高于 θ，允许突发不超过 σ，并严格按任务时限 d_i 报告完成或失败。” [形式化契约定义]</a:t>
            </a:r>
          </a:p>
          <a:p>
            <a:pPr>
              <a:lnSpc>
                <a:spcPct val="120000"/>
              </a:lnSpc>
              <a:spcAft>
                <a:spcPts val="250"/>
              </a:spcAft>
              <a:defRPr sz="1100" b="1">
                <a:solidFill>
                  <a:srgbClr val="1E3A8A"/>
                </a:solidFill>
                <a:latin typeface="Microsoft YaHei"/>
              </a:defRPr>
            </a:pPr>
            <a:r>
              <a:t>明确双方工程职责边界：</a:t>
            </a:r>
          </a:p>
          <a:p>
            <a:pPr>
              <a:lnSpc>
                <a:spcPct val="120000"/>
              </a:lnSpc>
              <a:spcAft>
                <a:spcPts val="250"/>
              </a:spcAft>
              <a:defRPr sz="1100" b="0">
                <a:solidFill>
                  <a:srgbClr val="0F172A"/>
                </a:solidFill>
                <a:latin typeface="Microsoft YaHei"/>
              </a:defRPr>
            </a:pPr>
            <a:r>
              <a:t>  • 自研 KVC 职责：负责哈希检索、选路决策、流量整形与异常回退；</a:t>
            </a:r>
          </a:p>
          <a:p>
            <a:pPr>
              <a:lnSpc>
                <a:spcPct val="120000"/>
              </a:lnSpc>
              <a:spcAft>
                <a:spcPts val="250"/>
              </a:spcAft>
              <a:defRPr sz="1100" b="0">
                <a:solidFill>
                  <a:srgbClr val="0F172A"/>
                </a:solidFill>
                <a:latin typeface="Microsoft YaHei"/>
              </a:defRPr>
            </a:pPr>
            <a:r>
              <a:t>  • KPCL 底座职责：负责用户态无锁提交、硬件 DMA 直达与队列映射；</a:t>
            </a:r>
          </a:p>
          <a:p>
            <a:pPr>
              <a:lnSpc>
                <a:spcPct val="120000"/>
              </a:lnSpc>
              <a:spcAft>
                <a:spcPts val="250"/>
              </a:spcAft>
              <a:defRPr sz="1100" b="1">
                <a:solidFill>
                  <a:srgbClr val="1E3A8A"/>
                </a:solidFill>
                <a:latin typeface="Microsoft YaHei"/>
              </a:defRPr>
            </a:pPr>
            <a:r>
              <a:t>  • 严密技术边界红线：KPCL 专注于内存级通信，存储读出与介质持久化由独立存储后端承担，严禁将远端 SSD 伪装为内存句柄造成语义混乱。</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落地闭环：将业务性能指标翻译为带数学约束的微秒级服务契约与统一结构体 J_i，为双方团队提供了可编写单元测试与压测回放的唯一工程接口。</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接口结论：</a:t>
            </a:r>
            <a:r>
              <a:rPr sz="1300">
                <a:solidFill>
                  <a:srgbClr val="0F172A"/>
                </a:solidFill>
                <a:latin typeface="Microsoft YaHei"/>
              </a:rPr>
              <a:t>把“性能目标”写成可观测的服务、事件、截止和失败契约，才能真正进入工程实现与验证。</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提前验证演进体系 (E0~E3)：摸清技术边界与催熟 KPCL 门禁里程碑</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11 项 PVT 与 1 项 CVT 对应理论模型参数收敛与 KPCL 成熟度验收</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17 / 18</a:t>
            </a:r>
          </a:p>
        </p:txBody>
      </p:sp>
      <p:sp>
        <p:nvSpPr>
          <p:cNvPr id="6" name="Rounded Rectangle 5"/>
          <p:cNvSpPr/>
          <p:nvPr/>
        </p:nvSpPr>
        <p:spPr>
          <a:xfrm>
            <a:off x="548640" y="1115568"/>
            <a:ext cx="2670048" cy="356616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1207008"/>
            <a:ext cx="2560320" cy="3383280"/>
          </a:xfrm>
          <a:prstGeom prst="rect">
            <a:avLst/>
          </a:prstGeom>
          <a:noFill/>
        </p:spPr>
        <p:txBody>
          <a:bodyPr wrap="square">
            <a:spAutoFit/>
          </a:bodyPr>
          <a:lstStyle/>
          <a:p>
            <a:pPr>
              <a:spcAft>
                <a:spcPts val="300"/>
              </a:spcAft>
              <a:defRPr sz="1550" b="1">
                <a:solidFill>
                  <a:srgbClr val="1D4ED8"/>
                </a:solidFill>
                <a:latin typeface="Microsoft YaHei"/>
              </a:defRPr>
            </a:pPr>
            <a:r>
              <a:t>E0 业务收益确认</a:t>
            </a:r>
          </a:p>
          <a:p>
            <a:pPr>
              <a:spcAft>
                <a:spcPts val="800"/>
              </a:spcAft>
              <a:defRPr sz="1100" b="1">
                <a:solidFill>
                  <a:srgbClr val="0F172A"/>
                </a:solidFill>
                <a:latin typeface="Microsoft YaHei"/>
              </a:defRPr>
            </a:pPr>
            <a:r>
              <a:t>PVT-00 业务复用评估 [前提验证]</a:t>
            </a:r>
          </a:p>
          <a:p>
            <a:pPr>
              <a:lnSpc>
                <a:spcPct val="122000"/>
              </a:lnSpc>
              <a:spcAft>
                <a:spcPts val="400"/>
              </a:spcAft>
              <a:defRPr sz="960">
                <a:solidFill>
                  <a:srgbClr val="0F172A"/>
                </a:solidFill>
                <a:latin typeface="Microsoft YaHei"/>
              </a:defRPr>
            </a:pPr>
            <a:r>
              <a:t>• [实测] 测定生产命中率与前缀分布</a:t>
            </a:r>
          </a:p>
          <a:p>
            <a:pPr>
              <a:lnSpc>
                <a:spcPct val="122000"/>
              </a:lnSpc>
              <a:spcAft>
                <a:spcPts val="400"/>
              </a:spcAft>
              <a:defRPr sz="960">
                <a:solidFill>
                  <a:srgbClr val="0F172A"/>
                </a:solidFill>
                <a:latin typeface="Microsoft YaHei"/>
              </a:defRPr>
            </a:pPr>
            <a:r>
              <a:t>• [实测] 探明 Saved-Prefill 物理上限</a:t>
            </a:r>
          </a:p>
          <a:p>
            <a:pPr>
              <a:lnSpc>
                <a:spcPct val="122000"/>
              </a:lnSpc>
              <a:spcAft>
                <a:spcPts val="400"/>
              </a:spcAft>
              <a:defRPr sz="960">
                <a:solidFill>
                  <a:srgbClr val="0F172A"/>
                </a:solidFill>
                <a:latin typeface="Microsoft YaHei"/>
              </a:defRPr>
            </a:pPr>
            <a:r>
              <a:t>• [实测] 测定 URMA 单请求时延极限</a:t>
            </a:r>
          </a:p>
          <a:p>
            <a:pPr>
              <a:lnSpc>
                <a:spcPct val="122000"/>
              </a:lnSpc>
              <a:spcAft>
                <a:spcPts val="400"/>
              </a:spcAft>
              <a:defRPr sz="960">
                <a:solidFill>
                  <a:srgbClr val="0F172A"/>
                </a:solidFill>
                <a:latin typeface="Microsoft YaHei"/>
              </a:defRPr>
            </a:pPr>
            <a:r>
              <a:t>• [收敛] 理论模型参数 α 与 f 实测收敛</a:t>
            </a:r>
          </a:p>
        </p:txBody>
      </p:sp>
      <p:sp>
        <p:nvSpPr>
          <p:cNvPr id="8" name="Rounded Rectangle 7"/>
          <p:cNvSpPr/>
          <p:nvPr/>
        </p:nvSpPr>
        <p:spPr>
          <a:xfrm>
            <a:off x="3364992" y="1115568"/>
            <a:ext cx="2670048" cy="356616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19856" y="1207008"/>
            <a:ext cx="2560320" cy="3383280"/>
          </a:xfrm>
          <a:prstGeom prst="rect">
            <a:avLst/>
          </a:prstGeom>
          <a:noFill/>
        </p:spPr>
        <p:txBody>
          <a:bodyPr wrap="square">
            <a:spAutoFit/>
          </a:bodyPr>
          <a:lstStyle/>
          <a:p>
            <a:pPr>
              <a:spcAft>
                <a:spcPts val="300"/>
              </a:spcAft>
              <a:defRPr sz="1550" b="1">
                <a:solidFill>
                  <a:srgbClr val="047857"/>
                </a:solidFill>
                <a:latin typeface="Microsoft YaHei"/>
              </a:defRPr>
            </a:pPr>
            <a:r>
              <a:t>E1 数据底座打通</a:t>
            </a:r>
          </a:p>
          <a:p>
            <a:pPr>
              <a:spcAft>
                <a:spcPts val="800"/>
              </a:spcAft>
              <a:defRPr sz="1100" b="1">
                <a:solidFill>
                  <a:srgbClr val="0F172A"/>
                </a:solidFill>
                <a:latin typeface="Microsoft YaHei"/>
              </a:defRPr>
            </a:pPr>
            <a:r>
              <a:t>PVT-01, 02, 06 [底座打通]</a:t>
            </a:r>
          </a:p>
          <a:p>
            <a:pPr>
              <a:lnSpc>
                <a:spcPct val="122000"/>
              </a:lnSpc>
              <a:spcAft>
                <a:spcPts val="400"/>
              </a:spcAft>
              <a:defRPr sz="960">
                <a:solidFill>
                  <a:srgbClr val="0F172A"/>
                </a:solidFill>
                <a:latin typeface="Microsoft YaHei"/>
              </a:defRPr>
            </a:pPr>
            <a:r>
              <a:t>• [实测] 验证零拷贝物理带宽 (PVT-01)</a:t>
            </a:r>
          </a:p>
          <a:p>
            <a:pPr>
              <a:lnSpc>
                <a:spcPct val="122000"/>
              </a:lnSpc>
              <a:spcAft>
                <a:spcPts val="400"/>
              </a:spcAft>
              <a:defRPr sz="960">
                <a:solidFill>
                  <a:srgbClr val="0F172A"/>
                </a:solidFill>
                <a:latin typeface="Microsoft YaHei"/>
              </a:defRPr>
            </a:pPr>
            <a:r>
              <a:t>• [目标] 流水重叠率达 ≥ 60% (PVT-02)</a:t>
            </a:r>
          </a:p>
          <a:p>
            <a:pPr>
              <a:lnSpc>
                <a:spcPct val="122000"/>
              </a:lnSpc>
              <a:spcAft>
                <a:spcPts val="400"/>
              </a:spcAft>
              <a:defRPr sz="960">
                <a:solidFill>
                  <a:srgbClr val="0F172A"/>
                </a:solidFill>
                <a:latin typeface="Microsoft YaHei"/>
              </a:defRPr>
            </a:pPr>
            <a:r>
              <a:t>• [核验] 6维语义与多卡同步 (PVT-06)</a:t>
            </a:r>
          </a:p>
          <a:p>
            <a:pPr>
              <a:lnSpc>
                <a:spcPct val="122000"/>
              </a:lnSpc>
              <a:spcAft>
                <a:spcPts val="400"/>
              </a:spcAft>
              <a:defRPr sz="960">
                <a:solidFill>
                  <a:srgbClr val="0F172A"/>
                </a:solidFill>
                <a:latin typeface="Microsoft YaHei"/>
              </a:defRPr>
            </a:pPr>
            <a:r>
              <a:t>• [催熟] KPCL F1 控制与 F2/F3 直达</a:t>
            </a:r>
          </a:p>
        </p:txBody>
      </p:sp>
      <p:sp>
        <p:nvSpPr>
          <p:cNvPr id="10" name="Rounded Rectangle 9"/>
          <p:cNvSpPr/>
          <p:nvPr/>
        </p:nvSpPr>
        <p:spPr>
          <a:xfrm>
            <a:off x="6181344" y="1115568"/>
            <a:ext cx="2670048" cy="3566160"/>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6208" y="1207008"/>
            <a:ext cx="2560320" cy="3383280"/>
          </a:xfrm>
          <a:prstGeom prst="rect">
            <a:avLst/>
          </a:prstGeom>
          <a:noFill/>
        </p:spPr>
        <p:txBody>
          <a:bodyPr wrap="square">
            <a:spAutoFit/>
          </a:bodyPr>
          <a:lstStyle/>
          <a:p>
            <a:pPr>
              <a:spcAft>
                <a:spcPts val="300"/>
              </a:spcAft>
              <a:defRPr sz="1550" b="1">
                <a:solidFill>
                  <a:srgbClr val="B45309"/>
                </a:solidFill>
                <a:latin typeface="Microsoft YaHei"/>
              </a:defRPr>
            </a:pPr>
            <a:r>
              <a:t>E2 动态决策分层</a:t>
            </a:r>
          </a:p>
          <a:p>
            <a:pPr>
              <a:spcAft>
                <a:spcPts val="800"/>
              </a:spcAft>
              <a:defRPr sz="1100" b="1">
                <a:solidFill>
                  <a:srgbClr val="0F172A"/>
                </a:solidFill>
                <a:latin typeface="Microsoft YaHei"/>
              </a:defRPr>
            </a:pPr>
            <a:r>
              <a:t>PVT-03, 04, 05 [算法决策]</a:t>
            </a:r>
          </a:p>
          <a:p>
            <a:pPr>
              <a:lnSpc>
                <a:spcPct val="122000"/>
              </a:lnSpc>
              <a:spcAft>
                <a:spcPts val="400"/>
              </a:spcAft>
              <a:defRPr sz="960">
                <a:solidFill>
                  <a:srgbClr val="0F172A"/>
                </a:solidFill>
                <a:latin typeface="Microsoft YaHei"/>
              </a:defRPr>
            </a:pPr>
            <a:r>
              <a:t>• [实测] 测定远端直读适用边界 (PVT-03)</a:t>
            </a:r>
          </a:p>
          <a:p>
            <a:pPr>
              <a:lnSpc>
                <a:spcPct val="122000"/>
              </a:lnSpc>
              <a:spcAft>
                <a:spcPts val="400"/>
              </a:spcAft>
              <a:defRPr sz="960">
                <a:solidFill>
                  <a:srgbClr val="0F172A"/>
                </a:solidFill>
                <a:latin typeface="Microsoft YaHei"/>
              </a:defRPr>
            </a:pPr>
            <a:r>
              <a:t>• [目标] 选路准确率 &gt;90% 回退 (PVT-04)</a:t>
            </a:r>
          </a:p>
          <a:p>
            <a:pPr>
              <a:lnSpc>
                <a:spcPct val="122000"/>
              </a:lnSpc>
              <a:spcAft>
                <a:spcPts val="400"/>
              </a:spcAft>
              <a:defRPr sz="960">
                <a:solidFill>
                  <a:srgbClr val="0F172A"/>
                </a:solidFill>
                <a:latin typeface="Microsoft YaHei"/>
              </a:defRPr>
            </a:pPr>
            <a:r>
              <a:t>• [实测] 显存-SSD 直达扩容 (PVT-05)</a:t>
            </a:r>
          </a:p>
          <a:p>
            <a:pPr>
              <a:lnSpc>
                <a:spcPct val="122000"/>
              </a:lnSpc>
              <a:spcAft>
                <a:spcPts val="400"/>
              </a:spcAft>
              <a:defRPr sz="960">
                <a:solidFill>
                  <a:srgbClr val="0F172A"/>
                </a:solidFill>
                <a:latin typeface="Microsoft YaHei"/>
              </a:defRPr>
            </a:pPr>
            <a:r>
              <a:t>• [催熟] KPCL F4 协同与 F8 极速撤销</a:t>
            </a:r>
          </a:p>
        </p:txBody>
      </p:sp>
      <p:sp>
        <p:nvSpPr>
          <p:cNvPr id="12" name="Rounded Rectangle 11"/>
          <p:cNvSpPr/>
          <p:nvPr/>
        </p:nvSpPr>
        <p:spPr>
          <a:xfrm>
            <a:off x="8997696" y="1115568"/>
            <a:ext cx="2670048" cy="3566160"/>
          </a:xfrm>
          <a:prstGeom prst="roundRect">
            <a:avLst>
              <a:gd name="adj" fmla="val 2000"/>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0" y="1207008"/>
            <a:ext cx="2560320" cy="3383280"/>
          </a:xfrm>
          <a:prstGeom prst="rect">
            <a:avLst/>
          </a:prstGeom>
          <a:noFill/>
        </p:spPr>
        <p:txBody>
          <a:bodyPr wrap="square">
            <a:spAutoFit/>
          </a:bodyPr>
          <a:lstStyle/>
          <a:p>
            <a:pPr>
              <a:spcAft>
                <a:spcPts val="300"/>
              </a:spcAft>
              <a:defRPr sz="1550" b="1">
                <a:solidFill>
                  <a:srgbClr val="BE123C"/>
                </a:solidFill>
                <a:latin typeface="Microsoft YaHei"/>
              </a:defRPr>
            </a:pPr>
            <a:r>
              <a:t>E3 混压总体验收</a:t>
            </a:r>
          </a:p>
          <a:p>
            <a:pPr>
              <a:spcAft>
                <a:spcPts val="800"/>
              </a:spcAft>
              <a:defRPr sz="1100" b="1">
                <a:solidFill>
                  <a:srgbClr val="0F172A"/>
                </a:solidFill>
                <a:latin typeface="Microsoft YaHei"/>
              </a:defRPr>
            </a:pPr>
            <a:r>
              <a:t>PVT-07, 10, CVT [核心验收]</a:t>
            </a:r>
          </a:p>
          <a:p>
            <a:pPr>
              <a:lnSpc>
                <a:spcPct val="122000"/>
              </a:lnSpc>
              <a:spcAft>
                <a:spcPts val="400"/>
              </a:spcAft>
              <a:defRPr sz="960">
                <a:solidFill>
                  <a:srgbClr val="0F172A"/>
                </a:solidFill>
                <a:latin typeface="Microsoft YaHei"/>
              </a:defRPr>
            </a:pPr>
            <a:r>
              <a:t>• [门禁] 混压 TPOT 干扰 &lt; 3% (PVT-07)</a:t>
            </a:r>
          </a:p>
          <a:p>
            <a:pPr>
              <a:lnSpc>
                <a:spcPct val="122000"/>
              </a:lnSpc>
              <a:spcAft>
                <a:spcPts val="400"/>
              </a:spcAft>
              <a:defRPr sz="960">
                <a:solidFill>
                  <a:srgbClr val="0F172A"/>
                </a:solidFill>
                <a:latin typeface="Microsoft YaHei"/>
              </a:defRPr>
            </a:pPr>
            <a:r>
              <a:t>• [门禁] 消除偏斜 Skew &lt; 1.15 (PVT-10)</a:t>
            </a:r>
          </a:p>
          <a:p>
            <a:pPr>
              <a:lnSpc>
                <a:spcPct val="122000"/>
              </a:lnSpc>
              <a:spcAft>
                <a:spcPts val="400"/>
              </a:spcAft>
              <a:defRPr sz="960">
                <a:solidFill>
                  <a:srgbClr val="0F172A"/>
                </a:solidFill>
                <a:latin typeface="Microsoft YaHei"/>
              </a:defRPr>
            </a:pPr>
            <a:r>
              <a:t>• [证伪] 软件 RCU 证伪硬件映射 (CVT-01)</a:t>
            </a:r>
          </a:p>
          <a:p>
            <a:pPr>
              <a:lnSpc>
                <a:spcPct val="122000"/>
              </a:lnSpc>
              <a:spcAft>
                <a:spcPts val="400"/>
              </a:spcAft>
              <a:defRPr sz="960">
                <a:solidFill>
                  <a:srgbClr val="0F172A"/>
                </a:solidFill>
                <a:latin typeface="Microsoft YaHei"/>
              </a:defRPr>
            </a:pPr>
            <a:r>
              <a:t>• [验收] KPCL 成熟商用整机提速交付</a:t>
            </a:r>
          </a:p>
        </p:txBody>
      </p:sp>
      <p:sp>
        <p:nvSpPr>
          <p:cNvPr id="14" name="Rounded Rectangle 13"/>
          <p:cNvSpPr/>
          <p:nvPr/>
        </p:nvSpPr>
        <p:spPr>
          <a:xfrm>
            <a:off x="548640" y="4791456"/>
            <a:ext cx="11094415" cy="1325880"/>
          </a:xfrm>
          <a:prstGeom prst="roundRect">
            <a:avLst>
              <a:gd name="adj" fmla="val 2000"/>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846320"/>
            <a:ext cx="10698480" cy="1188720"/>
          </a:xfrm>
          <a:prstGeom prst="rect">
            <a:avLst/>
          </a:prstGeom>
          <a:noFill/>
        </p:spPr>
        <p:txBody>
          <a:bodyPr wrap="square">
            <a:spAutoFit/>
          </a:bodyPr>
          <a:lstStyle/>
          <a:p>
            <a:pPr>
              <a:spcAft>
                <a:spcPts val="300"/>
              </a:spcAft>
              <a:defRPr sz="1300" b="1">
                <a:solidFill>
                  <a:srgbClr val="DC2626"/>
                </a:solidFill>
                <a:latin typeface="Microsoft YaHei"/>
              </a:defRPr>
            </a:pPr>
            <a:r>
              <a:t>严密 No-Go 止损机制：以客观实测数据控制立项风险 [研发终止红线指标]</a:t>
            </a:r>
          </a:p>
          <a:p>
            <a:pPr>
              <a:lnSpc>
                <a:spcPct val="118000"/>
              </a:lnSpc>
              <a:spcAft>
                <a:spcPts val="200"/>
              </a:spcAft>
              <a:defRPr sz="1060">
                <a:solidFill>
                  <a:srgbClr val="0F172A"/>
                </a:solidFill>
                <a:latin typeface="Microsoft YaHei"/>
              </a:defRPr>
            </a:pPr>
            <a:r>
              <a:t>1. W0 止损 [红线指标]：若生产业务自然前缀复用空间 &lt; 15%，或底层硬件 URMA 路径不可达，立即终止全池研发，退回单机框架适配；</a:t>
            </a:r>
          </a:p>
          <a:p>
            <a:pPr>
              <a:lnSpc>
                <a:spcPct val="118000"/>
              </a:lnSpc>
              <a:spcAft>
                <a:spcPts val="200"/>
              </a:spcAft>
              <a:defRPr sz="1060">
                <a:solidFill>
                  <a:srgbClr val="0F172A"/>
                </a:solidFill>
                <a:latin typeface="Microsoft YaHei"/>
              </a:defRPr>
            </a:pPr>
            <a:r>
              <a:t>2. W1 止损 [红线指标]：若控制面查询 P99 &gt; 20µs 或动态选路决策准确率 &lt; 85%，放弃跨节点动态调度，缩项为本地共享缓存；</a:t>
            </a:r>
          </a:p>
          <a:p>
            <a:pPr>
              <a:lnSpc>
                <a:spcPct val="118000"/>
              </a:lnSpc>
              <a:spcAft>
                <a:spcPts val="200"/>
              </a:spcAft>
              <a:defRPr sz="1060">
                <a:solidFill>
                  <a:srgbClr val="0F172A"/>
                </a:solidFill>
                <a:latin typeface="Microsoft YaHei"/>
              </a:defRPr>
            </a:pPr>
            <a:r>
              <a:t>3. W2/W3 止损 [红线指标]：若全链路混压下前台 TPOT 抖动 &gt; 5%，或多卡偏斜比 &gt; 1.5，停止多介质分层研发，维持独立管理并安全止损。</a:t>
            </a:r>
          </a:p>
        </p:txBody>
      </p:sp>
      <p:sp>
        <p:nvSpPr>
          <p:cNvPr id="16" name="Rounded Rectangle 15"/>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落地承诺：</a:t>
            </a:r>
            <a:r>
              <a:rPr sz="1300">
                <a:solidFill>
                  <a:srgbClr val="0F172A"/>
                </a:solidFill>
                <a:latin typeface="Microsoft YaHei"/>
              </a:rPr>
              <a:t>以确定性实测数据收敛理论参数，严格依据 4 阶段门禁与 No-Go 机制控制研发风险。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统一异构 KVCache 存储池：立项核心共识与答辩总结</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系统回答评委核心关切，建议批准启动第一阶段敏捷原型验证</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18 / 18</a:t>
            </a:r>
          </a:p>
        </p:txBody>
      </p:sp>
      <p:sp>
        <p:nvSpPr>
          <p:cNvPr id="6" name="Rounded Rectangle 5"/>
          <p:cNvSpPr/>
          <p:nvPr/>
        </p:nvSpPr>
        <p:spPr>
          <a:xfrm>
            <a:off x="548640" y="1115568"/>
            <a:ext cx="5425135" cy="224028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25296"/>
            <a:ext cx="5059375" cy="2020824"/>
          </a:xfrm>
          <a:prstGeom prst="rect">
            <a:avLst/>
          </a:prstGeom>
          <a:noFill/>
        </p:spPr>
        <p:txBody>
          <a:bodyPr wrap="square">
            <a:spAutoFit/>
          </a:bodyPr>
          <a:lstStyle/>
          <a:p>
            <a:pPr>
              <a:spcAft>
                <a:spcPts val="800"/>
              </a:spcAft>
              <a:defRPr sz="1600" b="1">
                <a:solidFill>
                  <a:srgbClr val="1D4ED8"/>
                </a:solidFill>
              </a:defRPr>
            </a:pPr>
            <a:r>
              <a:t>共识 1：为什么必须自研这套 KVC 软件？</a:t>
            </a:r>
          </a:p>
          <a:p>
            <a:pPr>
              <a:lnSpc>
                <a:spcPct val="125000"/>
              </a:lnSpc>
              <a:defRPr sz="1180">
                <a:solidFill>
                  <a:srgbClr val="0F172A"/>
                </a:solidFill>
                <a:latin typeface="Microsoft YaHei"/>
              </a:defRPr>
            </a:pPr>
            <a:r>
              <a:t>上层框架缺乏底层硬件拓扑与显存争用感知，底层通信库缺乏模型计算与层依赖感知。必须由自研软件作为调度中枢，将大模型计算语义编译为微秒硬件执行，填补两端系统真空。</a:t>
            </a:r>
          </a:p>
        </p:txBody>
      </p:sp>
      <p:sp>
        <p:nvSpPr>
          <p:cNvPr id="8" name="Rounded Rectangle 7"/>
          <p:cNvSpPr/>
          <p:nvPr/>
        </p:nvSpPr>
        <p:spPr>
          <a:xfrm>
            <a:off x="6217920" y="1115568"/>
            <a:ext cx="5425135" cy="224028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25296"/>
            <a:ext cx="5059375" cy="2020824"/>
          </a:xfrm>
          <a:prstGeom prst="rect">
            <a:avLst/>
          </a:prstGeom>
          <a:noFill/>
        </p:spPr>
        <p:txBody>
          <a:bodyPr wrap="square">
            <a:spAutoFit/>
          </a:bodyPr>
          <a:lstStyle/>
          <a:p>
            <a:pPr>
              <a:spcAft>
                <a:spcPts val="800"/>
              </a:spcAft>
              <a:defRPr sz="1600" b="1">
                <a:solidFill>
                  <a:srgbClr val="047857"/>
                </a:solidFill>
              </a:defRPr>
            </a:pPr>
            <a:r>
              <a:t>共识 2：主流模型上实际能带来多大提升？</a:t>
            </a:r>
          </a:p>
          <a:p>
            <a:pPr>
              <a:lnSpc>
                <a:spcPct val="125000"/>
              </a:lnSpc>
              <a:defRPr sz="1180">
                <a:solidFill>
                  <a:srgbClr val="0F172A"/>
                </a:solidFill>
                <a:latin typeface="Microsoft YaHei"/>
              </a:defRPr>
            </a:pPr>
            <a:r>
              <a:t>70B 16K 闭环推导：逐层流水掩盖 98.7% 传输 [模型推导]，TTFT 降 47.4% (超高复用净加速 52.6% [推导值])；TPOT 干扰仅 1.57% [推导值] (优于 3% [目标红线])；P99 尾时延由 468.5ms 降至 253.3ms [模型推导值，待 E0~E3 实测验证]。</a:t>
            </a:r>
          </a:p>
        </p:txBody>
      </p:sp>
      <p:sp>
        <p:nvSpPr>
          <p:cNvPr id="10" name="Rounded Rectangle 9"/>
          <p:cNvSpPr/>
          <p:nvPr/>
        </p:nvSpPr>
        <p:spPr>
          <a:xfrm>
            <a:off x="548640" y="3511296"/>
            <a:ext cx="5425135" cy="2240280"/>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621024"/>
            <a:ext cx="5059375" cy="2020824"/>
          </a:xfrm>
          <a:prstGeom prst="rect">
            <a:avLst/>
          </a:prstGeom>
          <a:noFill/>
        </p:spPr>
        <p:txBody>
          <a:bodyPr wrap="square">
            <a:spAutoFit/>
          </a:bodyPr>
          <a:lstStyle/>
          <a:p>
            <a:pPr>
              <a:spcAft>
                <a:spcPts val="800"/>
              </a:spcAft>
              <a:defRPr sz="1600" b="1">
                <a:solidFill>
                  <a:srgbClr val="B45309"/>
                </a:solidFill>
              </a:defRPr>
            </a:pPr>
            <a:r>
              <a:t>共识 3：自研软件如何支撑底层通信底座？</a:t>
            </a:r>
          </a:p>
          <a:p>
            <a:pPr>
              <a:lnSpc>
                <a:spcPct val="125000"/>
              </a:lnSpc>
              <a:defRPr sz="1180">
                <a:solidFill>
                  <a:srgbClr val="0F172A"/>
                </a:solidFill>
                <a:latin typeface="Microsoft YaHei"/>
              </a:defRPr>
            </a:pPr>
            <a:r>
              <a:t>向底层解构输入 F1~F8 八类典型业务流量画像，以真实在线推理极端交织场景为练兵场，把性能诉求固化为带时限的 J_i 契约，直接催熟 KPCL 从通用传输走向大模型原生商用。</a:t>
            </a:r>
          </a:p>
        </p:txBody>
      </p:sp>
      <p:sp>
        <p:nvSpPr>
          <p:cNvPr id="12" name="Rounded Rectangle 11"/>
          <p:cNvSpPr/>
          <p:nvPr/>
        </p:nvSpPr>
        <p:spPr>
          <a:xfrm>
            <a:off x="6217920" y="3511296"/>
            <a:ext cx="5425135" cy="2240280"/>
          </a:xfrm>
          <a:prstGeom prst="roundRect">
            <a:avLst>
              <a:gd name="adj" fmla="val 2000"/>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621024"/>
            <a:ext cx="5059375" cy="2020824"/>
          </a:xfrm>
          <a:prstGeom prst="rect">
            <a:avLst/>
          </a:prstGeom>
          <a:noFill/>
        </p:spPr>
        <p:txBody>
          <a:bodyPr wrap="square">
            <a:spAutoFit/>
          </a:bodyPr>
          <a:lstStyle/>
          <a:p>
            <a:pPr>
              <a:spcAft>
                <a:spcPts val="800"/>
              </a:spcAft>
              <a:defRPr sz="1600" b="1">
                <a:solidFill>
                  <a:srgbClr val="BE123C"/>
                </a:solidFill>
              </a:defRPr>
            </a:pPr>
            <a:r>
              <a:t>共识 4：研发风险与资源投入如何安全受控？</a:t>
            </a:r>
          </a:p>
          <a:p>
            <a:pPr>
              <a:lnSpc>
                <a:spcPct val="125000"/>
              </a:lnSpc>
              <a:defRPr sz="1180">
                <a:solidFill>
                  <a:srgbClr val="0F172A"/>
                </a:solidFill>
                <a:latin typeface="Microsoft YaHei"/>
              </a:defRPr>
            </a:pPr>
            <a:r>
              <a:t>科学敏捷演进：规划 4~5 周 12 项提前验证，严格依据 E0~E3 四个验证阶段门禁推进；设立 3 条硬核 No-Go 止损红线，以客观实测数据控制立项风险。</a:t>
            </a:r>
          </a:p>
        </p:txBody>
      </p:sp>
      <p:sp>
        <p:nvSpPr>
          <p:cNvPr id="14" name="Rounded Rectangle 13"/>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立项建议：</a:t>
            </a:r>
            <a:r>
              <a:rPr sz="1300">
                <a:solidFill>
                  <a:srgbClr val="0F172A"/>
                </a:solidFill>
                <a:latin typeface="Microsoft YaHei"/>
              </a:rPr>
              <a:t>建议</a:t>
            </a:r>
            <a:r>
              <a:rPr sz="1300" b="1">
                <a:solidFill>
                  <a:srgbClr val="DC2626"/>
                </a:solidFill>
                <a:latin typeface="Microsoft YaHei"/>
              </a:rPr>
              <a:t>批准启动第一阶段敏捷原型验证</a:t>
            </a:r>
            <a:r>
              <a:rPr sz="1300">
                <a:solidFill>
                  <a:srgbClr val="0F172A"/>
                </a:solidFill>
                <a:latin typeface="Microsoft YaHei"/>
              </a:rPr>
              <a:t>，以扎实验证数据推动立项落地 [立项建议]。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