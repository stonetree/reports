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30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统一异构 KVCache 存储池 ｜ 五层立体组件沙盘架构图</a:t>
            </a:r>
          </a:p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全链路功能模块、契约交互 (KVAccessIntent / QueryPlan / AttachHandle / ExtentManifest) 与底层硬件使能视图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778240" cy="1024128"/>
          </a:xfrm>
          <a:prstGeom prst="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95528"/>
            <a:ext cx="85953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0369A1"/>
                </a:solidFill>
                <a:latin typeface="Microsoft YaHei"/>
              </a:defRPr>
            </a:pPr>
            <a:r>
              <a:t>1. 业务场景与框架复用接入层 (Application &amp; Adapter Layer)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08026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0369A1"/>
                </a:solidFill>
                <a:latin typeface="Microsoft YaHei"/>
              </a:defRPr>
            </a:pPr>
            <a:r>
              <a:t>TM1 框架适配器 (vLLM / SGLang)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拦截框架 Alloc/Free/Lookup 请求</a:t>
            </a:r>
            <a:br/>
            <a:r>
              <a:t>• 生成规范化 KVAccessIntent 请求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2537460" y="1005840"/>
            <a:ext cx="208026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0369A1"/>
                </a:solidFill>
                <a:latin typeface="Microsoft YaHei"/>
              </a:defRPr>
            </a:pPr>
            <a:r>
              <a:t>长上下文 RAG 检索模式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前缀预计算热点高频复用</a:t>
            </a:r>
            <a:br/>
            <a:r>
              <a:t>• 稳定转化为 TTFT 时延收益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208026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0369A1"/>
                </a:solidFill>
                <a:latin typeface="Microsoft YaHei"/>
              </a:defRPr>
            </a:pPr>
            <a:r>
              <a:t>多轮 Agent 对话模式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增量 History KVCache 极速挂载</a:t>
            </a:r>
            <a:br/>
            <a:r>
              <a:t>• 跨 Turn 共享上下文 Key-Value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80860" y="1005840"/>
            <a:ext cx="208026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0369A1"/>
                </a:solidFill>
                <a:latin typeface="Microsoft YaHei"/>
              </a:defRPr>
            </a:pPr>
            <a:r>
              <a:t>Prefill-Decode 分离与广播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跨节点 Key-Value 异步广播/前递</a:t>
            </a:r>
            <a:br/>
            <a:r>
              <a:t>• 解耦计算密集与访存密集集群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47088"/>
            <a:ext cx="8778240" cy="1143000"/>
          </a:xfrm>
          <a:prstGeom prst="rect">
            <a:avLst/>
          </a:prstGeom>
          <a:solidFill>
            <a:srgbClr val="F0F4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92807"/>
            <a:ext cx="85953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Microsoft YaHei"/>
              </a:defRPr>
            </a:pPr>
            <a:r>
              <a:t>2. 统一控制与语义管理平面 (Control &amp; Management Plane)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20802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1E40AF"/>
                </a:solidFill>
                <a:latin typeface="Microsoft YaHei"/>
              </a:defRPr>
            </a:pPr>
            <a:r>
              <a:t>TM2 分布式前缀索引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Radix Tree 树形索引 (微秒级 Lookup)</a:t>
            </a:r>
            <a:br/>
            <a:r>
              <a:t>• KVSemanticIdentity 语义与版本校验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37460" y="2103120"/>
            <a:ext cx="2080260" cy="804672"/>
          </a:xfrm>
          <a:prstGeom prst="rect">
            <a:avLst/>
          </a:prstGeom>
          <a:solidFill>
            <a:srgbClr val="1E40A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FFFFFF"/>
                </a:solidFill>
                <a:latin typeface="Microsoft YaHei"/>
              </a:defRPr>
            </a:pPr>
            <a:r>
              <a:t>SLO 收益驱动 QueryPlan 优化器</a:t>
            </a:r>
          </a:p>
          <a:p>
            <a:pPr>
              <a:defRPr sz="680">
                <a:solidFill>
                  <a:srgbClr val="FFFFFF"/>
                </a:solidFill>
                <a:latin typeface="Microsoft YaHei"/>
              </a:defRPr>
            </a:pPr>
            <a:r>
              <a:t>【核心决策枢纽】</a:t>
            </a:r>
            <a:br/>
            <a:r>
              <a:t>• 实时比较 Load vs Recompute vs View 收益</a:t>
            </a:r>
            <a:br/>
            <a:r>
              <a:t>• 判定放弃命中与多副本选路决策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2103120"/>
            <a:ext cx="20802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1E40AF"/>
                </a:solidFill>
                <a:latin typeface="Microsoft YaHei"/>
              </a:defRPr>
            </a:pPr>
            <a:r>
              <a:t>TM5 共享协同与消费资格判定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ConsumeEligibility 消费资格验证</a:t>
            </a:r>
            <a:br/>
            <a:r>
              <a:t>• Ready 屏障 / Lease 租约 / 引用计数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80860" y="2103120"/>
            <a:ext cx="20802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1E40AF"/>
                </a:solidFill>
                <a:latin typeface="Microsoft YaHei"/>
              </a:defRPr>
            </a:pPr>
            <a:r>
              <a:t>AttachHandle 凭证管理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签发可消费引用凭证 AttachHandle</a:t>
            </a:r>
            <a:br/>
            <a:r>
              <a:t>• 约束访问有效期与并发安全释放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63240"/>
            <a:ext cx="8778240" cy="1051560"/>
          </a:xfrm>
          <a:prstGeom prst="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108960"/>
            <a:ext cx="85953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5B21B6"/>
                </a:solidFill>
                <a:latin typeface="Microsoft YaHei"/>
              </a:defRPr>
            </a:pPr>
            <a:r>
              <a:t>3. 异构分层存储池与对象空间 (Heterogeneous Tiered Pool &amp; Object Space)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19272"/>
            <a:ext cx="20802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5B21B6"/>
                </a:solidFill>
                <a:latin typeface="Microsoft YaHei"/>
              </a:defRPr>
            </a:pPr>
            <a:r>
              <a:t>TM3 统一 KVObject 对象管理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ExtentManifest 数据片段清单</a:t>
            </a:r>
            <a:br/>
            <a:r>
              <a:t>• 抽象统一逻辑 KV 属性与生命周期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37460" y="3319272"/>
            <a:ext cx="20802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5B21B6"/>
                </a:solidFill>
                <a:latin typeface="Microsoft YaHei"/>
              </a:defRPr>
            </a:pPr>
            <a:r>
              <a:t>容量主路径控制策略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强制 HBM↔SSD 直达/低主机参与路径</a:t>
            </a:r>
            <a:br/>
            <a:r>
              <a:t>• 拦截 CPU 无效中转与数据正文触碰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3319272"/>
            <a:ext cx="20802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5B21B6"/>
                </a:solidFill>
                <a:latin typeface="Microsoft YaHei"/>
              </a:defRPr>
            </a:pPr>
            <a:r>
              <a:t>DDR 按角色准入机制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仅在热点/预取/突发吸收有正收益时启用</a:t>
            </a:r>
            <a:br/>
            <a:r>
              <a:t>• 无持续收益自动退出正文主路径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80860" y="3319272"/>
            <a:ext cx="20802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5B21B6"/>
                </a:solidFill>
                <a:latin typeface="Microsoft YaHei"/>
              </a:defRPr>
            </a:pPr>
            <a:r>
              <a:t>多级容量水位与淘汰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基于 SLO 收益函数的冷热分层淘汰</a:t>
            </a:r>
            <a:br/>
            <a:r>
              <a:t>• 高密 DDR/SSD 扩展集群服务容量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187952"/>
            <a:ext cx="8778240" cy="114300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33672"/>
            <a:ext cx="85953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065F46"/>
                </a:solidFill>
                <a:latin typeface="Microsoft YaHei"/>
              </a:defRPr>
            </a:pPr>
            <a:r>
              <a:t>4. 硬件加速传输与数据流编排面 (Transport &amp; Data Fabric Layer)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43984"/>
            <a:ext cx="20802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065F46"/>
                </a:solidFill>
                <a:latin typeface="Microsoft YaHei"/>
              </a:defRPr>
            </a:pPr>
            <a:r>
              <a:t>TM4 传输数据流编排引擎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ExtentManifest 编译为 Descriptor DAG</a:t>
            </a:r>
            <a:br/>
            <a:r>
              <a:t>• 批量 SG 描述符链表 (开销 &lt; 20μs)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37460" y="4443984"/>
            <a:ext cx="2080260" cy="804672"/>
          </a:xfrm>
          <a:prstGeom prst="rect">
            <a:avLst/>
          </a:prstGeom>
          <a:solidFill>
            <a:srgbClr val="047857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FFFFFF"/>
                </a:solidFill>
                <a:latin typeface="Microsoft YaHei"/>
              </a:defRPr>
            </a:pPr>
            <a:r>
              <a:t>URMA 零拷贝传输引擎</a:t>
            </a:r>
          </a:p>
          <a:p>
            <a:pPr>
              <a:defRPr sz="680">
                <a:solidFill>
                  <a:srgbClr val="FFFFFF"/>
                </a:solidFill>
                <a:latin typeface="Microsoft YaHei"/>
              </a:defRPr>
            </a:pPr>
            <a:r>
              <a:t>【底层传输枢纽】</a:t>
            </a:r>
            <a:br/>
            <a:r>
              <a:t>• 承载大块 KVCache 正文异步传输</a:t>
            </a:r>
            <a:br/>
            <a:r>
              <a:t>• 数据搬运过程 Host CPU 正文 0 触碰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4443984"/>
            <a:ext cx="20802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065F46"/>
                </a:solidFill>
                <a:latin typeface="Microsoft YaHei"/>
              </a:defRPr>
            </a:pPr>
            <a:r>
              <a:t>UBMEM 统一内存语义引擎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承载前缀目录与就绪状态高频共享</a:t>
            </a:r>
            <a:br/>
            <a:r>
              <a:t>• UBMEM 元数据感知 ➔ 驱动 URMA 数据流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80860" y="4443984"/>
            <a:ext cx="208026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065F46"/>
                </a:solidFill>
                <a:latin typeface="Microsoft YaHei"/>
              </a:defRPr>
            </a:pPr>
            <a:r>
              <a:t>TM6 完整性与可见性屏障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硬件 CRC 端到端数据完整性校验</a:t>
            </a:r>
            <a:br/>
            <a:r>
              <a:t>• 硬件 Fence 屏障保障跨节点可见性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404104"/>
            <a:ext cx="8778240" cy="10515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449824"/>
            <a:ext cx="85953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2400E"/>
                </a:solidFill>
                <a:latin typeface="Microsoft YaHei"/>
              </a:defRPr>
            </a:pPr>
            <a:r>
              <a:t>5. 异构介质与国产硬件底座层 (Heterogeneous Hardware Fabric Layer)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60136"/>
            <a:ext cx="20802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92400E"/>
                </a:solidFill>
                <a:latin typeface="Microsoft YaHei"/>
              </a:defRPr>
            </a:pPr>
            <a:r>
              <a:t>芯片内 SRAM / L3 缓存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片内 Cache 拓扑感知与切片</a:t>
            </a:r>
            <a:br/>
            <a:r>
              <a:t>• 极速热点 Prefix 块驻留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37460" y="5660136"/>
            <a:ext cx="20802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92400E"/>
                </a:solidFill>
                <a:latin typeface="Microsoft YaHei"/>
              </a:defRPr>
            </a:pPr>
            <a:r>
              <a:t>HBM3 / HBM3e 高带宽显存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NPU 旁片上显存空间</a:t>
            </a:r>
            <a:br/>
            <a:r>
              <a:t>• 解码阶段极速读取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5660136"/>
            <a:ext cx="20802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92400E"/>
                </a:solidFill>
                <a:latin typeface="Microsoft YaHei"/>
              </a:defRPr>
            </a:pPr>
            <a:r>
              <a:t>Host DDR5 共享内存池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预注册 UBMEM 共享内存</a:t>
            </a:r>
            <a:br/>
            <a:r>
              <a:t>• 条件热点与缓存缓冲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80860" y="5660136"/>
            <a:ext cx="20802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92400E"/>
                </a:solidFill>
                <a:latin typeface="Microsoft YaHei"/>
              </a:defRPr>
            </a:pPr>
            <a:r>
              <a:t>PCIe 5.0 Direct NVMe SSD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大容量冷数据持久化池</a:t>
            </a:r>
            <a:br/>
            <a:r>
              <a:t>• Direct I/O HBM↔SSD 直达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749808"/>
            <a:ext cx="2724912" cy="5705856"/>
          </a:xfrm>
          <a:prstGeom prst="rect">
            <a:avLst/>
          </a:prstGeom>
          <a:solidFill>
            <a:srgbClr val="FAF5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795528"/>
            <a:ext cx="254203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6B21A8"/>
                </a:solidFill>
                <a:latin typeface="Microsoft YaHei"/>
              </a:defRPr>
            </a:pPr>
            <a:r>
              <a:t>全生命周期辅助组件 (Dev/Test/Obs)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81160" y="1024127"/>
            <a:ext cx="2542032" cy="1277874"/>
          </a:xfrm>
          <a:prstGeom prst="rect">
            <a:avLst/>
          </a:prstGeom>
          <a:solidFill>
            <a:srgbClr val="FFFFFF"/>
          </a:solidFill>
          <a:ln w="1016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6B21A8"/>
                </a:solidFill>
                <a:latin typeface="Microsoft YaHei"/>
              </a:defRPr>
            </a:pPr>
            <a:r>
              <a:t>TM6 全路径可观测性组件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串联 Request ➔ Plan ➔ Descriptor ➔ Trace</a:t>
            </a:r>
            <a:br/>
            <a:r>
              <a:t>• 决策失准度量与成本模型反向校准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2375154"/>
            <a:ext cx="2542032" cy="1277874"/>
          </a:xfrm>
          <a:prstGeom prst="rect">
            <a:avLst/>
          </a:prstGeom>
          <a:solidFill>
            <a:srgbClr val="FFFFFF"/>
          </a:solidFill>
          <a:ln w="1016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6B21A8"/>
                </a:solidFill>
                <a:latin typeface="Microsoft YaHei"/>
              </a:defRPr>
            </a:pPr>
            <a:r>
              <a:t>故障诊断与异常隔离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硬件 CRC 错误与 Rank 间状态不一致隔离</a:t>
            </a:r>
            <a:br/>
            <a:r>
              <a:t>• 500ms 内触发自动回退与备用副本切换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3726180"/>
            <a:ext cx="2542032" cy="1277874"/>
          </a:xfrm>
          <a:prstGeom prst="rect">
            <a:avLst/>
          </a:prstGeom>
          <a:solidFill>
            <a:srgbClr val="FFFFFF"/>
          </a:solidFill>
          <a:ln w="1016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6B21A8"/>
                </a:solidFill>
                <a:latin typeface="Microsoft YaHei"/>
              </a:defRPr>
            </a:pPr>
            <a:r>
              <a:t>立项前 PVT 验证测试集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PVT-00 ~ PVT-07 最小切片自动化测试</a:t>
            </a:r>
            <a:br/>
            <a:r>
              <a:t>• 真实生产 Trace 回放与 Benchmark 评估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60" y="5077206"/>
            <a:ext cx="2542032" cy="1277874"/>
          </a:xfrm>
          <a:prstGeom prst="rect">
            <a:avLst/>
          </a:prstGeom>
          <a:solidFill>
            <a:srgbClr val="FFFFFF"/>
          </a:solidFill>
          <a:ln w="1016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defRPr sz="760" b="1">
                <a:solidFill>
                  <a:srgbClr val="6B21A8"/>
                </a:solidFill>
                <a:latin typeface="Microsoft YaHei"/>
              </a:defRPr>
            </a:pPr>
            <a:r>
              <a:t>QoS 与多租户流量隔离</a:t>
            </a:r>
          </a:p>
          <a:p>
            <a:pPr>
              <a:defRPr sz="680">
                <a:solidFill>
                  <a:srgbClr val="475569"/>
                </a:solidFill>
                <a:latin typeface="Microsoft YaHei"/>
              </a:defRPr>
            </a:pPr>
            <a:r>
              <a:t>• 前后台混流抢占式 QoS 队列隔离</a:t>
            </a:r>
            <a:br/>
            <a:r>
              <a:t>• 控制解码 TPOT 尾部抖动控制在 &lt; 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