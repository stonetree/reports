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137160" cy="3291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554480"/>
            <a:ext cx="9875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统一异构 KVCache 存储池基础设施软件栈</a:t>
            </a:r>
          </a:p>
          <a:p>
            <a:pPr>
              <a:spcBef>
                <a:spcPts val="1400"/>
              </a:spcBef>
              <a:defRPr sz="1600">
                <a:solidFill>
                  <a:srgbClr val="94A3B8"/>
                </a:solidFill>
                <a:latin typeface="微软雅黑"/>
              </a:defRPr>
            </a:pPr>
            <a:r>
              <a:t>面向国产 AI 硬件生态的第一方推理状态系统工程立项申请</a:t>
            </a:r>
          </a:p>
          <a:p>
            <a:pPr>
              <a:spcBef>
                <a:spcPts val="2000"/>
              </a:spcBef>
              <a:defRPr sz="1200">
                <a:solidFill>
                  <a:srgbClr val="60A5FA"/>
                </a:solidFill>
                <a:latin typeface="微软雅黑"/>
              </a:defRPr>
            </a:pPr>
            <a:r>
              <a:t>── 深度整合 UBMEM/URMA 硬件特性，重构 AI Infra 执行状态价值底座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5303520"/>
            <a:ext cx="9601200" cy="82296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050">
                <a:solidFill>
                  <a:srgbClr val="E2E8F0"/>
                </a:solidFill>
                <a:latin typeface="微软雅黑"/>
              </a:defRPr>
            </a:pPr>
            <a:r>
              <a:t>汇报对象：技术 CTO / 部门主管 / 首席架构师 / 开发团队主管 | 汇报阶段：立项申请与前置验证决策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9728" cy="5943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11480"/>
            <a:ext cx="104241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微软雅黑"/>
              </a:defRPr>
            </a:pPr>
            <a:r>
              <a:t>立项背景与愿景</a:t>
            </a:r>
          </a:p>
          <a:p>
            <a:pPr>
              <a:defRPr sz="1800" b="1">
                <a:solidFill>
                  <a:srgbClr val="0F172A"/>
                </a:solidFill>
                <a:latin typeface="微软雅黑"/>
              </a:defRPr>
            </a:pPr>
            <a:r>
              <a:t>战略定位与核心痛点：从“传统被动缓存”到“全局状态资产”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777240"/>
          </a:xfrm>
          <a:prstGeom prst="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100" b="1">
                <a:solidFill>
                  <a:srgbClr val="1E3A8A"/>
                </a:solidFill>
                <a:latin typeface="微软雅黑"/>
              </a:defRPr>
            </a:pPr>
            <a:r>
              <a:t>执行摘要：有机融合 UBMEM/URMA 国产硬件原语与状态智能决策编译，协同控制面超低时延访问与数据面 CPU 零触碰搬运，构建面向国产 AI 硬件的第一方推理状态基础设施系统工程。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48840"/>
            <a:ext cx="5230368" cy="42976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defRPr sz="1300" b="1">
                <a:solidFill>
                  <a:srgbClr val="0F172A"/>
                </a:solidFill>
                <a:latin typeface="微软雅黑"/>
              </a:defRPr>
            </a:pPr>
            <a:r>
              <a:t>一、 AI 推理基础设施核心痛点 (Industry Challenges)</a:t>
            </a:r>
          </a:p>
          <a:p>
            <a:pPr>
              <a:spcBef>
                <a:spcPts val="1000"/>
              </a:spcBef>
              <a:defRPr sz="1050" b="1">
                <a:solidFill>
                  <a:srgbClr val="B91C1C"/>
                </a:solidFill>
                <a:latin typeface="微软雅黑"/>
              </a:defRPr>
            </a:pPr>
            <a:r>
              <a:t>1. 物理 Raw Hit 不等于逻辑可消费</a:t>
            </a:r>
          </a:p>
          <a:p>
            <a:pPr>
              <a:defRPr sz="950">
                <a:solidFill>
                  <a:srgbClr val="475569"/>
                </a:solidFill>
                <a:latin typeface="微软雅黑"/>
              </a:defRPr>
            </a:pPr>
            <a:r>
              <a:t>传统缓存方案缺少统一语义约束，频发版本错位或布局不匹配，导致推理错误或隐性系统 Stall。</a:t>
            </a:r>
          </a:p>
          <a:p>
            <a:pPr>
              <a:spcBef>
                <a:spcPts val="1000"/>
              </a:spcBef>
              <a:defRPr sz="1050" b="1">
                <a:solidFill>
                  <a:srgbClr val="B91C1C"/>
                </a:solidFill>
                <a:latin typeface="微软雅黑"/>
              </a:defRPr>
            </a:pPr>
            <a:r>
              <a:t>2. 盲目数据搬运耗时慢于 Prefill 重算</a:t>
            </a:r>
          </a:p>
          <a:p>
            <a:pPr>
              <a:defRPr sz="950">
                <a:solidFill>
                  <a:srgbClr val="475569"/>
                </a:solidFill>
                <a:latin typeface="微软雅黑"/>
              </a:defRPr>
            </a:pPr>
            <a:r>
              <a:t>无差别追求 Cache Hit Rate 导致跨节点搬运耗时超过 NPU 本地计算，拖累 TTFT 尾部延迟。</a:t>
            </a:r>
          </a:p>
          <a:p>
            <a:pPr>
              <a:spcBef>
                <a:spcPts val="1000"/>
              </a:spcBef>
              <a:defRPr sz="1050" b="1">
                <a:solidFill>
                  <a:srgbClr val="B91C1C"/>
                </a:solidFill>
                <a:latin typeface="微软雅黑"/>
              </a:defRPr>
            </a:pPr>
            <a:r>
              <a:t>3. 通用开源无法深度使能国产微架构</a:t>
            </a:r>
          </a:p>
          <a:p>
            <a:pPr>
              <a:defRPr sz="950">
                <a:solidFill>
                  <a:srgbClr val="475569"/>
                </a:solidFill>
                <a:latin typeface="微软雅黑"/>
              </a:defRPr>
            </a:pPr>
            <a:r>
              <a:t>Mooncake / LMCache 适配通用硬件，无法接入国产芯片非公开计数器与微架构控制权。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229807" y="2148840"/>
            <a:ext cx="5230368" cy="4297680"/>
          </a:xfrm>
          <a:prstGeom prst="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defRPr sz="1300" b="1">
                <a:solidFill>
                  <a:srgbClr val="1E3A8A"/>
                </a:solidFill>
                <a:latin typeface="微软雅黑"/>
              </a:defRPr>
            </a:pPr>
            <a:r>
              <a:t>二、 第一方系统工程破局路径 (First-Party Architecture Solution)</a:t>
            </a:r>
          </a:p>
          <a:p>
            <a:pPr>
              <a:spcBef>
                <a:spcPts val="1000"/>
              </a:spcBef>
              <a:defRPr sz="1050" b="1">
                <a:solidFill>
                  <a:srgbClr val="059669"/>
                </a:solidFill>
                <a:latin typeface="微软雅黑"/>
              </a:defRPr>
            </a:pPr>
            <a:r>
              <a:t>1. 状态语义身份与资格前置校验</a:t>
            </a:r>
          </a:p>
          <a:p>
            <a:pPr>
              <a:defRPr sz="950">
                <a:solidFill>
                  <a:srgbClr val="475569"/>
                </a:solidFill>
                <a:latin typeface="微软雅黑"/>
              </a:defRPr>
            </a:pPr>
            <a:r>
              <a:t>基于 KVSemanticIdentity 与 Ready 协议治理，确保错误或半写状态绝对隔离，实现消费零错误。</a:t>
            </a:r>
          </a:p>
          <a:p>
            <a:pPr>
              <a:spcBef>
                <a:spcPts val="1000"/>
              </a:spcBef>
              <a:defRPr sz="1050" b="1">
                <a:solidFill>
                  <a:srgbClr val="059669"/>
                </a:solidFill>
                <a:latin typeface="微软雅黑"/>
              </a:defRPr>
            </a:pPr>
            <a:r>
              <a:t>2. 基于 SLO 的 QueryPlan 全路径编译</a:t>
            </a:r>
          </a:p>
          <a:p>
            <a:pPr>
              <a:defRPr sz="950">
                <a:solidFill>
                  <a:srgbClr val="475569"/>
                </a:solidFill>
                <a:latin typeface="微软雅黑"/>
              </a:defRPr>
            </a:pPr>
            <a:r>
              <a:t>将 View、Load、Move 与 Recompute 统一编译择优，确保持续选择延迟最低与算力最优路径。</a:t>
            </a:r>
          </a:p>
          <a:p>
            <a:pPr>
              <a:spcBef>
                <a:spcPts val="1000"/>
              </a:spcBef>
              <a:defRPr sz="1050" b="1">
                <a:solidFill>
                  <a:srgbClr val="059669"/>
                </a:solidFill>
                <a:latin typeface="微软雅黑"/>
              </a:defRPr>
            </a:pPr>
            <a:r>
              <a:t>3. 第一方软硬协同与 Day-0 责任闭环</a:t>
            </a:r>
          </a:p>
          <a:p>
            <a:pPr>
              <a:defRPr sz="950">
                <a:solidFill>
                  <a:srgbClr val="475569"/>
                </a:solidFill>
                <a:latin typeface="微软雅黑"/>
              </a:defRPr>
            </a:pPr>
            <a:r>
              <a:t>深度融合 UBMEM/URMA 特性，建立“生产瓶颈 ➔ 软件优化 ➔ 驱动修改 ➔ 硬件反哺”演进飞轮。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9728" cy="5943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11480"/>
            <a:ext cx="104241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微软雅黑"/>
              </a:defRPr>
            </a:pPr>
            <a:r>
              <a:t>竞争力评估</a:t>
            </a:r>
          </a:p>
          <a:p>
            <a:pPr>
              <a:defRPr sz="1800" b="1">
                <a:solidFill>
                  <a:srgbClr val="0F172A"/>
                </a:solidFill>
                <a:latin typeface="微软雅黑"/>
              </a:defRPr>
            </a:pPr>
            <a:r>
              <a:t>核心竞争力与业界方案对比：双视角价值与胜出假设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5230368" cy="1645920"/>
          </a:xfrm>
          <a:prstGeom prst="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100" b="1">
                <a:solidFill>
                  <a:srgbClr val="1E3A8A"/>
                </a:solidFill>
                <a:latin typeface="微软雅黑"/>
              </a:defRPr>
            </a:pPr>
            <a:r>
              <a:t>外部客户业务价值视角 (Customer Value)</a:t>
            </a:r>
          </a:p>
          <a:p>
            <a:pPr>
              <a:defRPr sz="850">
                <a:solidFill>
                  <a:srgbClr val="0F172A"/>
                </a:solidFill>
                <a:latin typeface="微软雅黑"/>
              </a:defRPr>
            </a:pPr>
            <a:r>
              <a:t>• TTFT 交互体验：正价值复用与流式加载，实现 TTFT p99 时延降低 ≥20%</a:t>
            </a:r>
          </a:p>
          <a:p>
            <a:pPr>
              <a:defRPr sz="850">
                <a:solidFill>
                  <a:srgbClr val="0F172A"/>
                </a:solidFill>
                <a:latin typeface="微软雅黑"/>
              </a:defRPr>
            </a:pPr>
            <a:r>
              <a:t>• 并发服务能力：SSD 经济容量池分层预取，实现 HBM 有效并发容量提升 ≥30%</a:t>
            </a:r>
          </a:p>
          <a:p>
            <a:pPr>
              <a:defRPr sz="850">
                <a:solidFill>
                  <a:srgbClr val="0F172A"/>
                </a:solidFill>
                <a:latin typeface="微软雅黑"/>
              </a:defRPr>
            </a:pPr>
            <a:r>
              <a:t>• 服务质量保障：控制面超低时延与 QoS 隔离，平抑前后台混流抢占抖动控制在 5% 以内</a:t>
            </a:r>
          </a:p>
        </p:txBody>
      </p:sp>
      <p:sp>
        <p:nvSpPr>
          <p:cNvPr id="6" name="Rectangle 5"/>
          <p:cNvSpPr/>
          <p:nvPr/>
        </p:nvSpPr>
        <p:spPr>
          <a:xfrm>
            <a:off x="6229807" y="1234440"/>
            <a:ext cx="5230368" cy="1645920"/>
          </a:xfrm>
          <a:prstGeom prst="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100" b="1">
                <a:solidFill>
                  <a:srgbClr val="059669"/>
                </a:solidFill>
                <a:latin typeface="微软雅黑"/>
              </a:defRPr>
            </a:pPr>
            <a:r>
              <a:t>HOST 侧 / 集群侧 / 硬件价值视角 (Host &amp; Hardware Value)</a:t>
            </a:r>
          </a:p>
          <a:p>
            <a:pPr>
              <a:defRPr sz="850">
                <a:solidFill>
                  <a:srgbClr val="0F172A"/>
                </a:solidFill>
                <a:latin typeface="微软雅黑"/>
              </a:defRPr>
            </a:pPr>
            <a:r>
              <a:t>• CPU 正文解绑：URMA 零拷贝与 UBMEM 预注册结合，实现 CPU 正文触碰完全归零 (0-Touch)</a:t>
            </a:r>
          </a:p>
          <a:p>
            <a:pPr>
              <a:defRPr sz="850">
                <a:solidFill>
                  <a:srgbClr val="0F172A"/>
                </a:solidFill>
                <a:latin typeface="微软雅黑"/>
              </a:defRPr>
            </a:pPr>
            <a:r>
              <a:t>• 总线有效带宽：SG 批量描述符与 Fence 屏障优化，实现总线/网络有效带宽利用率 ≥80%</a:t>
            </a:r>
          </a:p>
          <a:p>
            <a:pPr>
              <a:defRPr sz="850">
                <a:solidFill>
                  <a:srgbClr val="0F172A"/>
                </a:solidFill>
                <a:latin typeface="微软雅黑"/>
              </a:defRPr>
            </a:pPr>
            <a:r>
              <a:t>• 异构介质池化：原生打通 HBM/DDR/SSD 及 L3 芯片内存储，摆脱 Host DDR 必经瓶颈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3017520"/>
          <a:ext cx="10728655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194560"/>
                <a:gridCol w="2194560"/>
                <a:gridCol w="2194560"/>
                <a:gridCol w="2499055"/>
              </a:tblGrid>
              <a:tr h="676656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对比维度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通用开源传输 (Mooncake)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框架侧复用 (LMCache)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NVIDIA 全栈 (Dynamo/NIXL)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本项目第一方系统工程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微软雅黑"/>
                        </a:defRPr>
                      </a:pPr>
                      <a:r>
                        <a:t>定位中心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微软雅黑"/>
                        </a:defRPr>
                      </a:pPr>
                      <a:r>
                        <a:t>高性能传输 Engine 与对象存储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微软雅黑"/>
                        </a:defRPr>
                      </a:pPr>
                      <a:r>
                        <a:t>推理框架侧 Connector 与 Chunk 缓存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微软雅黑"/>
                        </a:defRPr>
                      </a:pPr>
                      <a:r>
                        <a:t>NVIDIA 平台的完整推理系统工程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E3A8A"/>
                          </a:solidFill>
                          <a:latin typeface="微软雅黑"/>
                        </a:defRPr>
                      </a:pPr>
                      <a:r>
                        <a:t>国产目标硬件的第一方推理状态系统工程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微软雅黑"/>
                        </a:defRPr>
                      </a:pPr>
                      <a:r>
                        <a:t>介质形态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微软雅黑"/>
                        </a:defRPr>
                      </a:pPr>
                      <a:r>
                        <a:t>DRAM / NVMe 静态扩展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微软雅黑"/>
                        </a:defRPr>
                      </a:pPr>
                      <a:r>
                        <a:t>DRAM / Disk / Remote 通用层级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微软雅黑"/>
                        </a:defRPr>
                      </a:pPr>
                      <a:r>
                        <a:t>HBM / DRAM / NIXL 传输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E3A8A"/>
                          </a:solidFill>
                          <a:latin typeface="微软雅黑"/>
                        </a:defRPr>
                      </a:pPr>
                      <a:r>
                        <a:t>原生支持 HBM / DDR / SSD 及 L3 芯片内存储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微软雅黑"/>
                        </a:defRPr>
                      </a:pPr>
                      <a:r>
                        <a:t>决策要素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微软雅黑"/>
                        </a:defRPr>
                      </a:pPr>
                      <a:r>
                        <a:t>静态传输 Intent 与 QoS 选择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微软雅黑"/>
                        </a:defRPr>
                      </a:pPr>
                      <a:r>
                        <a:t>Prefix 匹配与生命周期策略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微软雅黑"/>
                        </a:defRPr>
                      </a:pPr>
                      <a:r>
                        <a:t>Event 驱动 Router 与计算重叠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E3A8A"/>
                          </a:solidFill>
                          <a:latin typeface="微软雅黑"/>
                        </a:defRPr>
                      </a:pPr>
                      <a:r>
                        <a:t>以 KVCache 价值/SLO/微架构代价为决策编译要素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微软雅黑"/>
                        </a:defRPr>
                      </a:pPr>
                      <a:r>
                        <a:t>硬件关系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微软雅黑"/>
                        </a:defRPr>
                      </a:pPr>
                      <a:r>
                        <a:t>广泛适配通用网卡与传输驱动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微软雅黑"/>
                        </a:defRPr>
                      </a:pPr>
                      <a:r>
                        <a:t>依赖标准 OS / PCIe 设备接口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微软雅黑"/>
                        </a:defRPr>
                      </a:pPr>
                      <a:r>
                        <a:t>与 NVIDIA 硬件及 CUDA 深度绑定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E3A8A"/>
                          </a:solidFill>
                          <a:latin typeface="微软雅黑"/>
                        </a:defRPr>
                      </a:pPr>
                      <a:r>
                        <a:t>深度使能 UBMEM/URMA，第一方联合修改与 Day-0 认证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9728" cy="5943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11480"/>
            <a:ext cx="104241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微软雅黑"/>
              </a:defRPr>
            </a:pPr>
            <a:r>
              <a:t>系统架构设计</a:t>
            </a:r>
          </a:p>
          <a:p>
            <a:pPr>
              <a:defRPr sz="1800" b="1">
                <a:solidFill>
                  <a:srgbClr val="0F172A"/>
                </a:solidFill>
                <a:latin typeface="微软雅黑"/>
              </a:defRPr>
            </a:pPr>
            <a:r>
              <a:t>全栈系统架构沙盘：五层结构与零触碰数据通路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7315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34440"/>
            <a:ext cx="10545775" cy="22860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900" b="1">
                <a:solidFill>
                  <a:srgbClr val="0F172A"/>
                </a:solidFill>
                <a:latin typeface="微软雅黑"/>
              </a:defRPr>
            </a:pPr>
            <a:r>
              <a:t>1. 业务场景层 (Business Application Layer)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463040"/>
            <a:ext cx="2554147" cy="438912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/>
          <a:lstStyle/>
          <a:p>
            <a:pPr algn="ctr">
              <a:defRPr sz="800">
                <a:solidFill>
                  <a:srgbClr val="0F172A"/>
                </a:solidFill>
                <a:latin typeface="微软雅黑"/>
              </a:defRPr>
            </a:pPr>
            <a:r>
              <a:t>长上下文 RAG 检索</a:t>
            </a:r>
          </a:p>
        </p:txBody>
      </p:sp>
      <p:sp>
        <p:nvSpPr>
          <p:cNvPr id="8" name="Rectangle 7"/>
          <p:cNvSpPr/>
          <p:nvPr/>
        </p:nvSpPr>
        <p:spPr>
          <a:xfrm>
            <a:off x="3486835" y="1463040"/>
            <a:ext cx="2554147" cy="438912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/>
          <a:lstStyle/>
          <a:p>
            <a:pPr algn="ctr">
              <a:defRPr sz="800">
                <a:solidFill>
                  <a:srgbClr val="0F172A"/>
                </a:solidFill>
                <a:latin typeface="微软雅黑"/>
              </a:defRPr>
            </a:pPr>
            <a:r>
              <a:t>多轮对话 Agent 交互</a:t>
            </a:r>
          </a:p>
        </p:txBody>
      </p:sp>
      <p:sp>
        <p:nvSpPr>
          <p:cNvPr id="9" name="Rectangle 8"/>
          <p:cNvSpPr/>
          <p:nvPr/>
        </p:nvSpPr>
        <p:spPr>
          <a:xfrm>
            <a:off x="6150710" y="1463040"/>
            <a:ext cx="2554147" cy="438912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/>
          <a:lstStyle/>
          <a:p>
            <a:pPr algn="ctr">
              <a:defRPr sz="800">
                <a:solidFill>
                  <a:srgbClr val="0F172A"/>
                </a:solidFill>
                <a:latin typeface="微软雅黑"/>
              </a:defRPr>
            </a:pPr>
            <a:r>
              <a:t>Prefill-Decode 独立集群分离</a:t>
            </a:r>
          </a:p>
        </p:txBody>
      </p:sp>
      <p:sp>
        <p:nvSpPr>
          <p:cNvPr id="10" name="Rectangle 9"/>
          <p:cNvSpPr/>
          <p:nvPr/>
        </p:nvSpPr>
        <p:spPr>
          <a:xfrm>
            <a:off x="8814585" y="1463040"/>
            <a:ext cx="2554147" cy="438912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/>
          <a:lstStyle/>
          <a:p>
            <a:pPr algn="ctr">
              <a:defRPr sz="800">
                <a:solidFill>
                  <a:srgbClr val="0F172A"/>
                </a:solidFill>
                <a:latin typeface="微软雅黑"/>
              </a:defRPr>
            </a:pPr>
            <a:r>
              <a:t>多租户共享上下文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103120"/>
            <a:ext cx="10728655" cy="7315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103120"/>
            <a:ext cx="10545775" cy="22860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900" b="1">
                <a:solidFill>
                  <a:srgbClr val="0F172A"/>
                </a:solidFill>
                <a:latin typeface="微软雅黑"/>
              </a:defRPr>
            </a:pPr>
            <a:r>
              <a:t>2. 推理框架与复用接入层 (Framework &amp; Reuse Layer)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2331720"/>
            <a:ext cx="3442106" cy="438912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/>
          <a:lstStyle/>
          <a:p>
            <a:pPr algn="ctr">
              <a:defRPr sz="800">
                <a:solidFill>
                  <a:srgbClr val="0F172A"/>
                </a:solidFill>
                <a:latin typeface="微软雅黑"/>
              </a:defRPr>
            </a:pPr>
            <a:r>
              <a:t>vLLM / SGLang 框架 Connector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74794" y="2331720"/>
            <a:ext cx="3442106" cy="438912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/>
          <a:lstStyle/>
          <a:p>
            <a:pPr algn="ctr">
              <a:defRPr sz="800">
                <a:solidFill>
                  <a:srgbClr val="0F172A"/>
                </a:solidFill>
                <a:latin typeface="微软雅黑"/>
              </a:defRPr>
            </a:pPr>
            <a:r>
              <a:t>统一契约: KVAccessIntent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26628" y="2331720"/>
            <a:ext cx="3442106" cy="438912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/>
          <a:lstStyle/>
          <a:p>
            <a:pPr algn="ctr">
              <a:defRPr sz="800">
                <a:solidFill>
                  <a:srgbClr val="0F172A"/>
                </a:solidFill>
                <a:latin typeface="微软雅黑"/>
              </a:defRPr>
            </a:pPr>
            <a:r>
              <a:t>句柄与生命周期: AttachHandle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971800"/>
            <a:ext cx="10728655" cy="1188720"/>
          </a:xfrm>
          <a:prstGeom prst="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971800"/>
            <a:ext cx="10545775" cy="22860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900" b="1">
                <a:solidFill>
                  <a:srgbClr val="1E3A8A"/>
                </a:solidFill>
                <a:latin typeface="微软雅黑"/>
              </a:defRPr>
            </a:pPr>
            <a:r>
              <a:t>3. 控制与语义管理平面 (Control &amp; Management Plane) ★ 核心攻关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3200400"/>
            <a:ext cx="1666189" cy="896112"/>
          </a:xfrm>
          <a:prstGeom prst="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/>
          <a:lstStyle/>
          <a:p>
            <a:pPr algn="ctr">
              <a:defRPr sz="800">
                <a:solidFill>
                  <a:srgbClr val="0F172A"/>
                </a:solidFill>
                <a:latin typeface="微软雅黑"/>
              </a:defRPr>
            </a:pPr>
            <a:r>
              <a:t>SemanticIdentity 语义校验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98877" y="3200400"/>
            <a:ext cx="1666189" cy="896112"/>
          </a:xfrm>
          <a:prstGeom prst="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/>
          <a:lstStyle/>
          <a:p>
            <a:pPr algn="ctr">
              <a:defRPr sz="800">
                <a:solidFill>
                  <a:srgbClr val="0F172A"/>
                </a:solidFill>
                <a:latin typeface="微软雅黑"/>
              </a:defRPr>
            </a:pPr>
            <a:r>
              <a:t>PrefixDirectory 前缀目录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74794" y="3200400"/>
            <a:ext cx="1666189" cy="896112"/>
          </a:xfrm>
          <a:prstGeom prst="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/>
          <a:lstStyle/>
          <a:p>
            <a:pPr algn="ctr">
              <a:defRPr sz="800">
                <a:solidFill>
                  <a:srgbClr val="0F172A"/>
                </a:solidFill>
                <a:latin typeface="微软雅黑"/>
              </a:defRPr>
            </a:pPr>
            <a:r>
              <a:t>ConsumeEligibility 资格治理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50711" y="3200400"/>
            <a:ext cx="1666189" cy="896112"/>
          </a:xfrm>
          <a:prstGeom prst="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/>
          <a:lstStyle/>
          <a:p>
            <a:pPr algn="ctr">
              <a:defRPr sz="800">
                <a:solidFill>
                  <a:srgbClr val="0F172A"/>
                </a:solidFill>
                <a:latin typeface="微软雅黑"/>
              </a:defRPr>
            </a:pPr>
            <a:r>
              <a:t>Placement 副本放置引擎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26628" y="3200400"/>
            <a:ext cx="1666189" cy="896112"/>
          </a:xfrm>
          <a:prstGeom prst="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/>
          <a:lstStyle/>
          <a:p>
            <a:pPr algn="ctr">
              <a:defRPr sz="800">
                <a:solidFill>
                  <a:srgbClr val="0F172A"/>
                </a:solidFill>
                <a:latin typeface="微软雅黑"/>
              </a:defRPr>
            </a:pPr>
            <a:r>
              <a:t>QueryPlan 物理代价编译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702545" y="3200400"/>
            <a:ext cx="1666189" cy="896112"/>
          </a:xfrm>
          <a:prstGeom prst="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/>
          <a:lstStyle/>
          <a:p>
            <a:pPr algn="ctr">
              <a:defRPr sz="800">
                <a:solidFill>
                  <a:srgbClr val="0F172A"/>
                </a:solidFill>
                <a:latin typeface="微软雅黑"/>
              </a:defRPr>
            </a:pPr>
            <a:r>
              <a:t>Rank Consensus 保持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297680"/>
            <a:ext cx="10728655" cy="1188720"/>
          </a:xfrm>
          <a:prstGeom prst="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297680"/>
            <a:ext cx="10545775" cy="22860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900" b="1">
                <a:solidFill>
                  <a:srgbClr val="1E3A8A"/>
                </a:solidFill>
                <a:latin typeface="微软雅黑"/>
              </a:defRPr>
            </a:pPr>
            <a:r>
              <a:t>4. 传输与数据面 (Transport &amp; Data Fabric Layer) ★ 核心攻关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4526280"/>
            <a:ext cx="1666189" cy="896112"/>
          </a:xfrm>
          <a:prstGeom prst="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/>
          <a:lstStyle/>
          <a:p>
            <a:pPr algn="ctr">
              <a:defRPr sz="800">
                <a:solidFill>
                  <a:srgbClr val="0F172A"/>
                </a:solidFill>
                <a:latin typeface="微软雅黑"/>
              </a:defRPr>
            </a:pPr>
            <a:r>
              <a:t>URMA 零拷贝传输 Engine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98877" y="4526280"/>
            <a:ext cx="1666189" cy="896112"/>
          </a:xfrm>
          <a:prstGeom prst="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/>
          <a:lstStyle/>
          <a:p>
            <a:pPr algn="ctr">
              <a:defRPr sz="800">
                <a:solidFill>
                  <a:srgbClr val="0F172A"/>
                </a:solidFill>
                <a:latin typeface="微软雅黑"/>
              </a:defRPr>
            </a:pPr>
            <a:r>
              <a:t>UBMEM 预注册内存池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74794" y="4526280"/>
            <a:ext cx="1666189" cy="896112"/>
          </a:xfrm>
          <a:prstGeom prst="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/>
          <a:lstStyle/>
          <a:p>
            <a:pPr algn="ctr">
              <a:defRPr sz="800">
                <a:solidFill>
                  <a:srgbClr val="0F172A"/>
                </a:solidFill>
                <a:latin typeface="微软雅黑"/>
              </a:defRPr>
            </a:pPr>
            <a:r>
              <a:t>SG 批量描述符编译器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50711" y="4526280"/>
            <a:ext cx="1666189" cy="896112"/>
          </a:xfrm>
          <a:prstGeom prst="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/>
          <a:lstStyle/>
          <a:p>
            <a:pPr algn="ctr">
              <a:defRPr sz="800">
                <a:solidFill>
                  <a:srgbClr val="0F172A"/>
                </a:solidFill>
                <a:latin typeface="微软雅黑"/>
              </a:defRPr>
            </a:pPr>
            <a:r>
              <a:t>Fence 可见性同步屏障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26628" y="4526280"/>
            <a:ext cx="1666189" cy="896112"/>
          </a:xfrm>
          <a:prstGeom prst="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/>
          <a:lstStyle/>
          <a:p>
            <a:pPr algn="ctr">
              <a:defRPr sz="800">
                <a:solidFill>
                  <a:srgbClr val="0F172A"/>
                </a:solidFill>
                <a:latin typeface="微软雅黑"/>
              </a:defRPr>
            </a:pPr>
            <a:r>
              <a:t>硬件 CRC 完整性校验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02545" y="4526280"/>
            <a:ext cx="1666189" cy="896112"/>
          </a:xfrm>
          <a:prstGeom prst="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/>
          <a:lstStyle/>
          <a:p>
            <a:pPr algn="ctr">
              <a:defRPr sz="800">
                <a:solidFill>
                  <a:srgbClr val="0F172A"/>
                </a:solidFill>
                <a:latin typeface="微软雅黑"/>
              </a:defRPr>
            </a:pPr>
            <a:r>
              <a:t>ActualPathReceipt 审计凭证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5623560"/>
            <a:ext cx="10728655" cy="82296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5623560"/>
            <a:ext cx="10545775" cy="22860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900" b="1">
                <a:solidFill>
                  <a:srgbClr val="0F172A"/>
                </a:solidFill>
                <a:latin typeface="微软雅黑"/>
              </a:defRPr>
            </a:pPr>
            <a:r>
              <a:t>5. 异构介质与硬件底座 (Heterogeneous Hardware Fabric Layer)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" y="5852160"/>
            <a:ext cx="2554147" cy="530352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/>
          <a:lstStyle/>
          <a:p>
            <a:pPr algn="ctr">
              <a:defRPr sz="800">
                <a:solidFill>
                  <a:srgbClr val="0F172A"/>
                </a:solidFill>
                <a:latin typeface="微软雅黑"/>
              </a:defRPr>
            </a:pPr>
            <a:r>
              <a:t>NPU HBM (片上/片外)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86835" y="5852160"/>
            <a:ext cx="2554147" cy="530352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/>
          <a:lstStyle/>
          <a:p>
            <a:pPr algn="ctr">
              <a:defRPr sz="800">
                <a:solidFill>
                  <a:srgbClr val="0F172A"/>
                </a:solidFill>
                <a:latin typeface="微软雅黑"/>
              </a:defRPr>
            </a:pPr>
            <a:r>
              <a:t>Host DDR (条件中转)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50710" y="5852160"/>
            <a:ext cx="2554147" cy="530352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/>
          <a:lstStyle/>
          <a:p>
            <a:pPr algn="ctr">
              <a:defRPr sz="800">
                <a:solidFill>
                  <a:srgbClr val="0F172A"/>
                </a:solidFill>
                <a:latin typeface="微软雅黑"/>
              </a:defRPr>
            </a:pPr>
            <a:r>
              <a:t>NVMe SSD (经济容量)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14585" y="5852160"/>
            <a:ext cx="2554147" cy="530352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/>
          <a:lstStyle/>
          <a:p>
            <a:pPr algn="ctr">
              <a:defRPr sz="800">
                <a:solidFill>
                  <a:srgbClr val="0F172A"/>
                </a:solidFill>
                <a:latin typeface="微软雅黑"/>
              </a:defRPr>
            </a:pPr>
            <a:r>
              <a:t>L3 / NoC 芯片内结构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9728" cy="5943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11480"/>
            <a:ext cx="104241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微软雅黑"/>
              </a:defRPr>
            </a:pPr>
            <a:r>
              <a:t>技术实施细节</a:t>
            </a:r>
          </a:p>
          <a:p>
            <a:pPr>
              <a:defRPr sz="1800" b="1">
                <a:solidFill>
                  <a:srgbClr val="0F172A"/>
                </a:solidFill>
                <a:latin typeface="微软雅黑"/>
              </a:defRPr>
            </a:pPr>
            <a:r>
              <a:t>四大硬核技术方向与关键机制拆解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5230368" cy="2606040"/>
          </a:xfrm>
          <a:prstGeom prst="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 rIns="137160"/>
          <a:lstStyle/>
          <a:p>
            <a:pPr algn="ctr">
              <a:defRPr sz="1050" b="1">
                <a:solidFill>
                  <a:srgbClr val="1E3A8A"/>
                </a:solidFill>
                <a:latin typeface="微软雅黑"/>
              </a:defRPr>
            </a:pPr>
            <a:r>
              <a:t>方向一：状态语义身份与可消费资格治理 (KVSemanticIdentity &amp; Eligibility)</a:t>
            </a:r>
          </a:p>
          <a:p>
            <a:pPr>
              <a:spcBef>
                <a:spcPts val="400"/>
              </a:spcBef>
              <a:defRPr sz="850" b="1">
                <a:solidFill>
                  <a:srgbClr val="0F172A"/>
                </a:solidFill>
                <a:latin typeface="微软雅黑"/>
              </a:defRPr>
            </a:pPr>
            <a:r>
              <a:t>大标题：有机融合 KVSemanticIdentity 编码与 Ready 协议校验，实现物理 Raw Hit 向正价值可消费命中的精准转换，构建零错误消费的状态安全防线。</a:t>
            </a:r>
          </a:p>
          <a:p>
            <a:pPr>
              <a:spcBef>
                <a:spcPts val="300"/>
              </a:spcBef>
              <a:defRPr sz="780">
                <a:solidFill>
                  <a:srgbClr val="475569"/>
                </a:solidFill>
                <a:latin typeface="微软雅黑"/>
              </a:defRPr>
            </a:pPr>
            <a:r>
              <a:t>• 1.1 KVSemanticIdentity 机制：深度整合 Token 序列、模型 Hash、Layout 布局与租户隔离标识，实现物理 Cache 命中与推理语义一致性的毫秒级精准校验。</a:t>
            </a:r>
          </a:p>
          <a:p>
            <a:pPr>
              <a:spcBef>
                <a:spcPts val="300"/>
              </a:spcBef>
              <a:defRPr sz="780">
                <a:solidFill>
                  <a:srgbClr val="475569"/>
                </a:solidFill>
                <a:latin typeface="微软雅黑"/>
              </a:defRPr>
            </a:pPr>
            <a:r>
              <a:t>• 1.2 Ready 协议与 Lease 租约：协同部署异步 Write Fence 与分布式租约，实现半写状态、跨 Rank 不一致状态的物理隔离与安全拒绝。</a:t>
            </a:r>
          </a:p>
          <a:p>
            <a:pPr>
              <a:spcBef>
                <a:spcPts val="300"/>
              </a:spcBef>
              <a:defRPr sz="780">
                <a:solidFill>
                  <a:srgbClr val="475569"/>
                </a:solidFill>
                <a:latin typeface="微软雅黑"/>
              </a:defRPr>
            </a:pPr>
            <a:r>
              <a:t>• 1.3 消费资格准入控制：严格执行价值评估与安全鉴权，实现负收益加载请求的实时拦截与正价值状态的精准准入。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229807" y="1234440"/>
            <a:ext cx="5230368" cy="2606040"/>
          </a:xfrm>
          <a:prstGeom prst="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 rIns="137160"/>
          <a:lstStyle/>
          <a:p>
            <a:pPr algn="ctr">
              <a:defRPr sz="1050" b="1">
                <a:solidFill>
                  <a:srgbClr val="1E3A8A"/>
                </a:solidFill>
                <a:latin typeface="微软雅黑"/>
              </a:defRPr>
            </a:pPr>
            <a:r>
              <a:t>方向二：基于 QueryPlan 的全路径代价决策编译 (SLO-driven QueryPlan)</a:t>
            </a:r>
          </a:p>
          <a:p>
            <a:pPr>
              <a:spcBef>
                <a:spcPts val="400"/>
              </a:spcBef>
              <a:defRPr sz="850" b="1">
                <a:solidFill>
                  <a:srgbClr val="0F172A"/>
                </a:solidFill>
                <a:latin typeface="微软雅黑"/>
              </a:defRPr>
            </a:pPr>
            <a:r>
              <a:t>大标题：有机整合 NPU 微架构计数与拓扑代价模型，实现 View、Load、Move 与 Recompute 的统一编译择优，构建面向 SLO 目标的高性能决策引擎。</a:t>
            </a:r>
          </a:p>
          <a:p>
            <a:pPr>
              <a:spcBef>
                <a:spcPts val="300"/>
              </a:spcBef>
              <a:defRPr sz="780">
                <a:solidFill>
                  <a:srgbClr val="475569"/>
                </a:solidFill>
                <a:latin typeface="微软雅黑"/>
              </a:defRPr>
            </a:pPr>
            <a:r>
              <a:t>• 2.1 多路径物理代价编译：基于目标硬件总线带宽、PCIe 饱和度及 NPU 负载，实现 Prefill 重算与远程 Fetch 耗时的实时量化对比。</a:t>
            </a:r>
          </a:p>
          <a:p>
            <a:pPr>
              <a:spcBef>
                <a:spcPts val="300"/>
              </a:spcBef>
              <a:defRPr sz="780">
                <a:solidFill>
                  <a:srgbClr val="475569"/>
                </a:solidFill>
                <a:latin typeface="微软雅黑"/>
              </a:defRPr>
            </a:pPr>
            <a:r>
              <a:t>• 2.2 Direct View / Load 切换：联合开发只读 Shared Memory 映射与 HBM Direct Copy 模式，实现元数据 View 与正文 Load 的最优路径选择。</a:t>
            </a:r>
          </a:p>
          <a:p>
            <a:pPr>
              <a:spcBef>
                <a:spcPts val="300"/>
              </a:spcBef>
              <a:defRPr sz="780">
                <a:solidFill>
                  <a:srgbClr val="475569"/>
                </a:solidFill>
                <a:latin typeface="微软雅黑"/>
              </a:defRPr>
            </a:pPr>
            <a:r>
              <a:t>• 2.3 前后台混流 QoS 平抑：协同部署 Prefetch 预取优先级队列与带宽限制器，实现背景数据搬运对在线 Decode 阶段 TPOT 干扰的有效平抑。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977639"/>
            <a:ext cx="5230368" cy="2606040"/>
          </a:xfrm>
          <a:prstGeom prst="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 rIns="137160"/>
          <a:lstStyle/>
          <a:p>
            <a:pPr algn="ctr">
              <a:defRPr sz="1050" b="1">
                <a:solidFill>
                  <a:srgbClr val="1E3A8A"/>
                </a:solidFill>
                <a:latin typeface="微软雅黑"/>
              </a:defRPr>
            </a:pPr>
            <a:r>
              <a:t>方向三：国产硬件 UBMEM/URMA 原生传输与异构池化 (Zero-Touch Transport)</a:t>
            </a:r>
          </a:p>
          <a:p>
            <a:pPr>
              <a:spcBef>
                <a:spcPts val="400"/>
              </a:spcBef>
              <a:defRPr sz="850" b="1">
                <a:solidFill>
                  <a:srgbClr val="0F172A"/>
                </a:solidFill>
                <a:latin typeface="微软雅黑"/>
              </a:defRPr>
            </a:pPr>
            <a:r>
              <a:t>大标题：有机链接 UBMEM 预注册内存池与 URMA 零拷贝总线，实现大块数据传输与高频元数据同步的无缝协同，构建 HBM↔SSD 高性能传输底座。</a:t>
            </a:r>
          </a:p>
          <a:p>
            <a:pPr>
              <a:spcBef>
                <a:spcPts val="300"/>
              </a:spcBef>
              <a:defRPr sz="780">
                <a:solidFill>
                  <a:srgbClr val="475569"/>
                </a:solidFill>
                <a:latin typeface="微软雅黑"/>
              </a:defRPr>
            </a:pPr>
            <a:r>
              <a:t>• 3.1 UBMEM 预注册池化管理：实时建立 HBM、Host DDR 与 SSD 统一地址空间映射，实现跨介质内存分配延迟小于 10 微秒。</a:t>
            </a:r>
          </a:p>
          <a:p>
            <a:pPr>
              <a:spcBef>
                <a:spcPts val="300"/>
              </a:spcBef>
              <a:defRPr sz="780">
                <a:solidFill>
                  <a:srgbClr val="475569"/>
                </a:solidFill>
                <a:latin typeface="微软雅黑"/>
              </a:defRPr>
            </a:pPr>
            <a:r>
              <a:t>• 3.2 SG 批量描述符编译搬运：开放 Scatter-Gather 描述符离线编译契约，实现物理不连续 Block 数据在 URMA 管道中的单次 I/O 零触碰传输。</a:t>
            </a:r>
          </a:p>
          <a:p>
            <a:pPr>
              <a:spcBef>
                <a:spcPts val="300"/>
              </a:spcBef>
              <a:defRPr sz="780">
                <a:solidFill>
                  <a:srgbClr val="475569"/>
                </a:solidFill>
                <a:latin typeface="微软雅黑"/>
              </a:defRPr>
            </a:pPr>
            <a:r>
              <a:t>• 3.3 硬件 CRC 与 Fence 屏障：协同实施传输端到端硬件校验与 Visibility Barrier，保障数据传输完整性与 DMA 可见性。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229807" y="3977639"/>
            <a:ext cx="5230368" cy="2606040"/>
          </a:xfrm>
          <a:prstGeom prst="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 rIns="137160"/>
          <a:lstStyle/>
          <a:p>
            <a:pPr algn="ctr">
              <a:defRPr sz="1050" b="1">
                <a:solidFill>
                  <a:srgbClr val="1E3A8A"/>
                </a:solidFill>
                <a:latin typeface="微软雅黑"/>
              </a:defRPr>
            </a:pPr>
            <a:r>
              <a:t>方向四：第一方硬件能力 Day-0 认证与闭环反哺 (Hardware Co-design)</a:t>
            </a:r>
          </a:p>
          <a:p>
            <a:pPr>
              <a:spcBef>
                <a:spcPts val="400"/>
              </a:spcBef>
              <a:defRPr sz="850" b="1">
                <a:solidFill>
                  <a:srgbClr val="0F172A"/>
                </a:solidFill>
                <a:latin typeface="微软雅黑"/>
              </a:defRPr>
            </a:pPr>
            <a:r>
              <a:t>大标题：有机统筹微架构遥测数据与第一方驱动修改通道，实现生产瓶颈向硬件演进的需求转化，构建软硬协同代际演进闭环。</a:t>
            </a:r>
          </a:p>
          <a:p>
            <a:pPr>
              <a:spcBef>
                <a:spcPts val="300"/>
              </a:spcBef>
              <a:defRPr sz="780">
                <a:solidFill>
                  <a:srgbClr val="475569"/>
                </a:solidFill>
                <a:latin typeface="微软雅黑"/>
              </a:defRPr>
            </a:pPr>
            <a:r>
              <a:t>• 4.1 微架构遥测与反例库建设：确立 NoC 争用、TLB Stall 及 PCIe 写放大遥测指标，实现决策后悔 (Decision Regret) 的自动归因与策略演进。</a:t>
            </a:r>
          </a:p>
          <a:p>
            <a:pPr>
              <a:spcBef>
                <a:spcPts val="300"/>
              </a:spcBef>
              <a:defRPr sz="780">
                <a:solidFill>
                  <a:srgbClr val="475569"/>
                </a:solidFill>
                <a:latin typeface="微软雅黑"/>
              </a:defRPr>
            </a:pPr>
            <a:r>
              <a:t>• 4.2 Day-0 驱动固件联合认证：联合开发硬件能力 Conformance 准入测试集，实现芯片新特性在推理系统中的 Day-0 快速使能。</a:t>
            </a:r>
          </a:p>
          <a:p>
            <a:pPr>
              <a:spcBef>
                <a:spcPts val="300"/>
              </a:spcBef>
              <a:defRPr sz="780">
                <a:solidFill>
                  <a:srgbClr val="475569"/>
                </a:solidFill>
                <a:latin typeface="微软雅黑"/>
              </a:defRPr>
            </a:pPr>
            <a:r>
              <a:t>• 4.3 生产瓶颈反哺硬件设计：构建基于真实场景的 KV 状态访问 Profile，实现对下一代国产芯片 Interconnect 与 Cache 架构的量化反向定义。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9728" cy="5943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11480"/>
            <a:ext cx="104241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微软雅黑"/>
              </a:defRPr>
            </a:pPr>
            <a:r>
              <a:t>交付节点与放行机制</a:t>
            </a:r>
          </a:p>
          <a:p>
            <a:pPr>
              <a:defRPr sz="1800" b="1">
                <a:solidFill>
                  <a:srgbClr val="0F172A"/>
                </a:solidFill>
                <a:latin typeface="微软雅黑"/>
              </a:defRPr>
            </a:pPr>
            <a:r>
              <a:t>分阶段实施路线图与 E0~E5 证据门里程碑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2029968" cy="1188720"/>
          </a:xfrm>
          <a:prstGeom prst="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950" b="1">
                <a:solidFill>
                  <a:srgbClr val="1E3A8A"/>
                </a:solidFill>
                <a:latin typeface="微软雅黑"/>
              </a:defRPr>
            </a:pPr>
            <a:r>
              <a:t>阶段 0: 立项预研 (4~5 周)</a:t>
            </a:r>
          </a:p>
          <a:p>
            <a:pPr>
              <a:spcBef>
                <a:spcPts val="400"/>
              </a:spcBef>
              <a:defRPr sz="800">
                <a:solidFill>
                  <a:srgbClr val="475569"/>
                </a:solidFill>
                <a:latin typeface="微软雅黑"/>
              </a:defRPr>
            </a:pPr>
            <a:r>
              <a:t>交付 PVT-00~07 原型验证包</a:t>
            </a:r>
          </a:p>
          <a:p>
            <a:pPr>
              <a:spcBef>
                <a:spcPts val="400"/>
              </a:spcBef>
              <a:defRPr sz="800" b="1">
                <a:solidFill>
                  <a:srgbClr val="059669"/>
                </a:solidFill>
                <a:latin typeface="微软雅黑"/>
              </a:defRPr>
            </a:pPr>
            <a:r>
              <a:t>Trigger: Go/No-Go</a:t>
            </a:r>
          </a:p>
        </p:txBody>
      </p:sp>
      <p:sp>
        <p:nvSpPr>
          <p:cNvPr id="6" name="Rectangle 5"/>
          <p:cNvSpPr/>
          <p:nvPr/>
        </p:nvSpPr>
        <p:spPr>
          <a:xfrm>
            <a:off x="2898648" y="1234440"/>
            <a:ext cx="2029968" cy="1188720"/>
          </a:xfrm>
          <a:prstGeom prst="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950" b="1">
                <a:solidFill>
                  <a:srgbClr val="1E3A8A"/>
                </a:solidFill>
                <a:latin typeface="微软雅黑"/>
              </a:defRPr>
            </a:pPr>
            <a:r>
              <a:t>阶段 1 (P0): 最小闭环 (3 个月)</a:t>
            </a:r>
          </a:p>
          <a:p>
            <a:pPr>
              <a:spcBef>
                <a:spcPts val="400"/>
              </a:spcBef>
              <a:defRPr sz="800">
                <a:solidFill>
                  <a:srgbClr val="475569"/>
                </a:solidFill>
                <a:latin typeface="微软雅黑"/>
              </a:defRPr>
            </a:pPr>
            <a:r>
              <a:t>实现 SemanticIdentity 与 URMA 底座</a:t>
            </a:r>
          </a:p>
          <a:p>
            <a:pPr>
              <a:spcBef>
                <a:spcPts val="400"/>
              </a:spcBef>
              <a:defRPr sz="800" b="1">
                <a:solidFill>
                  <a:srgbClr val="059669"/>
                </a:solidFill>
                <a:latin typeface="微软雅黑"/>
              </a:defRPr>
            </a:pPr>
            <a:r>
              <a:t>达成 E1 证据门</a:t>
            </a:r>
          </a:p>
        </p:txBody>
      </p:sp>
      <p:sp>
        <p:nvSpPr>
          <p:cNvPr id="7" name="Rectangle 6"/>
          <p:cNvSpPr/>
          <p:nvPr/>
        </p:nvSpPr>
        <p:spPr>
          <a:xfrm>
            <a:off x="5065776" y="1234440"/>
            <a:ext cx="2029968" cy="1188720"/>
          </a:xfrm>
          <a:prstGeom prst="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950" b="1">
                <a:solidFill>
                  <a:srgbClr val="1E3A8A"/>
                </a:solidFill>
                <a:latin typeface="微软雅黑"/>
              </a:defRPr>
            </a:pPr>
            <a:r>
              <a:t>阶段 2 (P1): 框架集成 (4 个月)</a:t>
            </a:r>
          </a:p>
          <a:p>
            <a:pPr>
              <a:spcBef>
                <a:spcPts val="400"/>
              </a:spcBef>
              <a:defRPr sz="800">
                <a:solidFill>
                  <a:srgbClr val="475569"/>
                </a:solidFill>
                <a:latin typeface="微软雅黑"/>
              </a:defRPr>
            </a:pPr>
            <a:r>
              <a:t>对接 vLLM/SGLang 与 QueryPlan</a:t>
            </a:r>
          </a:p>
          <a:p>
            <a:pPr>
              <a:spcBef>
                <a:spcPts val="400"/>
              </a:spcBef>
              <a:defRPr sz="800" b="1">
                <a:solidFill>
                  <a:srgbClr val="059669"/>
                </a:solidFill>
                <a:latin typeface="微软雅黑"/>
              </a:defRPr>
            </a:pPr>
            <a:r>
              <a:t>达成 E2 证据门</a:t>
            </a:r>
          </a:p>
        </p:txBody>
      </p:sp>
      <p:sp>
        <p:nvSpPr>
          <p:cNvPr id="8" name="Rectangle 7"/>
          <p:cNvSpPr/>
          <p:nvPr/>
        </p:nvSpPr>
        <p:spPr>
          <a:xfrm>
            <a:off x="7232904" y="1234440"/>
            <a:ext cx="2029968" cy="1188720"/>
          </a:xfrm>
          <a:prstGeom prst="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950" b="1">
                <a:solidFill>
                  <a:srgbClr val="1E3A8A"/>
                </a:solidFill>
                <a:latin typeface="微软雅黑"/>
              </a:defRPr>
            </a:pPr>
            <a:r>
              <a:t>阶段 3 (P2): 生产调优 (4 个月)</a:t>
            </a:r>
          </a:p>
          <a:p>
            <a:pPr>
              <a:spcBef>
                <a:spcPts val="400"/>
              </a:spcBef>
              <a:defRPr sz="800">
                <a:solidFill>
                  <a:srgbClr val="475569"/>
                </a:solidFill>
                <a:latin typeface="微软雅黑"/>
              </a:defRPr>
            </a:pPr>
            <a:r>
              <a:t>长上下文 QoS 与多介质池化</a:t>
            </a:r>
          </a:p>
          <a:p>
            <a:pPr>
              <a:spcBef>
                <a:spcPts val="400"/>
              </a:spcBef>
              <a:defRPr sz="800" b="1">
                <a:solidFill>
                  <a:srgbClr val="059669"/>
                </a:solidFill>
                <a:latin typeface="微软雅黑"/>
              </a:defRPr>
            </a:pPr>
            <a:r>
              <a:t>达成 E3/E4 证据门</a:t>
            </a:r>
          </a:p>
        </p:txBody>
      </p:sp>
      <p:sp>
        <p:nvSpPr>
          <p:cNvPr id="9" name="Rectangle 8"/>
          <p:cNvSpPr/>
          <p:nvPr/>
        </p:nvSpPr>
        <p:spPr>
          <a:xfrm>
            <a:off x="9400032" y="1234440"/>
            <a:ext cx="2029968" cy="1188720"/>
          </a:xfrm>
          <a:prstGeom prst="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950" b="1">
                <a:solidFill>
                  <a:srgbClr val="1E3A8A"/>
                </a:solidFill>
                <a:latin typeface="微软雅黑"/>
              </a:defRPr>
            </a:pPr>
            <a:r>
              <a:t>阶段 4 (P3): 商业交付 (3 个月)</a:t>
            </a:r>
          </a:p>
          <a:p>
            <a:pPr>
              <a:spcBef>
                <a:spcPts val="400"/>
              </a:spcBef>
              <a:defRPr sz="800">
                <a:solidFill>
                  <a:srgbClr val="475569"/>
                </a:solidFill>
                <a:latin typeface="微软雅黑"/>
              </a:defRPr>
            </a:pPr>
            <a:r>
              <a:t>第一方认证体系与开放规范</a:t>
            </a:r>
          </a:p>
          <a:p>
            <a:pPr>
              <a:spcBef>
                <a:spcPts val="400"/>
              </a:spcBef>
              <a:defRPr sz="800" b="1">
                <a:solidFill>
                  <a:srgbClr val="059669"/>
                </a:solidFill>
                <a:latin typeface="微软雅黑"/>
              </a:defRPr>
            </a:pPr>
            <a:r>
              <a:t>达成 E5 证据门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2606040"/>
          <a:ext cx="10728655" cy="3794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4693615"/>
                <a:gridCol w="2743200"/>
              </a:tblGrid>
              <a:tr h="542108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证据门等级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对应项目阶段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解锁条件与硬核验证标准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不通过 / 失败处置动作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42108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E3A8A"/>
                          </a:solidFill>
                          <a:latin typeface="微软雅黑"/>
                        </a:defRPr>
                      </a:pPr>
                      <a:r>
                        <a:t>E0 (立项充分性)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微软雅黑"/>
                        </a:defRPr>
                      </a:pPr>
                      <a:r>
                        <a:t>立项评审阶段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微软雅黑"/>
                        </a:defRPr>
                      </a:pPr>
                      <a:r>
                        <a:t>SRS 需求闭包完成，PVT-00~07 原型验证设计冻结，硬件合作 RACI 明确。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微软雅黑"/>
                        </a:defRPr>
                      </a:pPr>
                      <a:r>
                        <a:t>补充验证材料或取消平台立项。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2108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E3A8A"/>
                          </a:solidFill>
                          <a:latin typeface="微软雅黑"/>
                        </a:defRPr>
                      </a:pPr>
                      <a:r>
                        <a:t>E1 (能力成立)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微软雅黑"/>
                        </a:defRPr>
                      </a:pPr>
                      <a:r>
                        <a:t>P0 阶段结束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微软雅黑"/>
                        </a:defRPr>
                      </a:pPr>
                      <a:r>
                        <a:t>URMA/UBMEM 主路径 Host Touch 为 0，wrong/stale 错误状态消费率严格为 0。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微软雅黑"/>
                        </a:defRPr>
                      </a:pPr>
                      <a:r>
                        <a:t>禁用受影响硬件路径，退化为通用 Provider。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42108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E3A8A"/>
                          </a:solidFill>
                          <a:latin typeface="微软雅黑"/>
                        </a:defRPr>
                      </a:pPr>
                      <a:r>
                        <a:t>E2 (决策更优)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微软雅黑"/>
                        </a:defRPr>
                      </a:pPr>
                      <a:r>
                        <a:t>P1 阶段结束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微软雅黑"/>
                        </a:defRPr>
                      </a:pPr>
                      <a:r>
                        <a:t>Oracle Replay 显示 QueryPlan 决策后悔率 &lt;5%，显著优于静态规则。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微软雅黑"/>
                        </a:defRPr>
                      </a:pPr>
                      <a:r>
                        <a:t>限定白名单场景，退化为静态分层策略。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2108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E3A8A"/>
                          </a:solidFill>
                          <a:latin typeface="微软雅黑"/>
                        </a:defRPr>
                      </a:pPr>
                      <a:r>
                        <a:t>E3 (系统增益)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微软雅黑"/>
                        </a:defRPr>
                      </a:pPr>
                      <a:r>
                        <a:t>P2 阶段中期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微软雅黑"/>
                        </a:defRPr>
                      </a:pPr>
                      <a:r>
                        <a:t>相比最佳开源同等调优基线，TTFT p99 降低 ≥20%，HBM 容量提升 ≥30%。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微软雅黑"/>
                        </a:defRPr>
                      </a:pPr>
                      <a:r>
                        <a:t>缩小适用场景范围，停止完整平台扩张。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42108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E3A8A"/>
                          </a:solidFill>
                          <a:latin typeface="微软雅黑"/>
                        </a:defRPr>
                      </a:pPr>
                      <a:r>
                        <a:t>E4 (客户价值)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微软雅黑"/>
                        </a:defRPr>
                      </a:pPr>
                      <a:r>
                        <a:t>P2 阶段结束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微软雅黑"/>
                        </a:defRPr>
                      </a:pPr>
                      <a:r>
                        <a:t>客户联创环境中单位 Token 综合 TCO 降低，SLA 违约率大幅下降。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微软雅黑"/>
                        </a:defRPr>
                      </a:pPr>
                      <a:r>
                        <a:t>转为专项硬件加速工具箱交付。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2112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E3A8A"/>
                          </a:solidFill>
                          <a:latin typeface="微软雅黑"/>
                        </a:defRPr>
                      </a:pPr>
                      <a:r>
                        <a:t>E5 (壁垒持续)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微软雅黑"/>
                        </a:defRPr>
                      </a:pPr>
                      <a:r>
                        <a:t>P3 阶段交付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微软雅黑"/>
                        </a:defRPr>
                      </a:pPr>
                      <a:r>
                        <a:t>新芯片代际 Day-0 适配周期缩短 50%，形成开放规范与生产反例库。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微软雅黑"/>
                        </a:defRPr>
                      </a:pPr>
                      <a:r>
                        <a:t>定位为一次性集成项目，不宣称持久壁垒。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9728" cy="5943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11480"/>
            <a:ext cx="104241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微软雅黑"/>
              </a:defRPr>
            </a:pPr>
            <a:r>
              <a:t>决策与风险控制</a:t>
            </a:r>
          </a:p>
          <a:p>
            <a:pPr>
              <a:defRPr sz="1800" b="1">
                <a:solidFill>
                  <a:srgbClr val="0F172A"/>
                </a:solidFill>
                <a:latin typeface="微软雅黑"/>
              </a:defRPr>
            </a:pPr>
            <a:r>
              <a:t>投资决策逻辑、一级 KPI 树与资产兜底机制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5230368" cy="5120640"/>
          </a:xfrm>
          <a:prstGeom prst="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200" b="1">
                <a:solidFill>
                  <a:srgbClr val="1E3A8A"/>
                </a:solidFill>
                <a:latin typeface="微软雅黑"/>
              </a:defRPr>
            </a:pPr>
            <a:r>
              <a:t>一、 “分阶段授权”投资决策逻辑</a:t>
            </a:r>
          </a:p>
          <a:p>
            <a:pPr>
              <a:spcBef>
                <a:spcPts val="1000"/>
              </a:spcBef>
              <a:defRPr sz="1000" b="1">
                <a:solidFill>
                  <a:srgbClr val="0F172A"/>
                </a:solidFill>
                <a:latin typeface="微软雅黑"/>
              </a:defRPr>
            </a:pPr>
            <a:r>
              <a:t>• 批准“验证权”，非无条件买单</a:t>
            </a:r>
          </a:p>
          <a:p>
            <a:pPr>
              <a:defRPr sz="900">
                <a:solidFill>
                  <a:srgbClr val="475569"/>
                </a:solidFill>
                <a:latin typeface="微软雅黑"/>
              </a:defRPr>
            </a:pPr>
            <a:r>
              <a:t>立项评审回答的是“投资期望值是否为正”，而非“终局产品是否已验收”。</a:t>
            </a:r>
          </a:p>
          <a:p>
            <a:pPr>
              <a:spcBef>
                <a:spcPts val="1000"/>
              </a:spcBef>
              <a:defRPr sz="1000" b="1">
                <a:solidFill>
                  <a:srgbClr val="0F172A"/>
                </a:solidFill>
                <a:latin typeface="微软雅黑"/>
              </a:defRPr>
            </a:pPr>
            <a:r>
              <a:t>• 4~5 周有限投入购买关键事实</a:t>
            </a:r>
          </a:p>
          <a:p>
            <a:pPr>
              <a:defRPr sz="900">
                <a:solidFill>
                  <a:srgbClr val="475569"/>
                </a:solidFill>
                <a:latin typeface="微软雅黑"/>
              </a:defRPr>
            </a:pPr>
            <a:r>
              <a:t>先投入 4~5 周资源完成 PVT-00~07 原型验证，验证 Saved-Prefill 收益与 URMA 零触碰可行性。</a:t>
            </a:r>
          </a:p>
          <a:p>
            <a:pPr>
              <a:spcBef>
                <a:spcPts val="1000"/>
              </a:spcBef>
              <a:defRPr sz="1000" b="1">
                <a:solidFill>
                  <a:srgbClr val="0F172A"/>
                </a:solidFill>
                <a:latin typeface="微软雅黑"/>
              </a:defRPr>
            </a:pPr>
            <a:r>
              <a:t>• 根据证据逐级释放资源</a:t>
            </a:r>
          </a:p>
          <a:p>
            <a:pPr>
              <a:defRPr sz="900">
                <a:solidFill>
                  <a:srgbClr val="475569"/>
                </a:solidFill>
                <a:latin typeface="微软雅黑"/>
              </a:defRPr>
            </a:pPr>
            <a:r>
              <a:t>若 PVT 达标则进入 P0 建设；若部分达标则限定白名单；若不达标则启动 No-Go 止损。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229807" y="1234440"/>
            <a:ext cx="5230368" cy="2468880"/>
          </a:xfrm>
          <a:prstGeom prst="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200" b="1">
                <a:solidFill>
                  <a:srgbClr val="1E3A8A"/>
                </a:solidFill>
                <a:latin typeface="微软雅黑"/>
              </a:defRPr>
            </a:pPr>
            <a:r>
              <a:t>二、 项目一级 KPI 树与防误导护栏</a:t>
            </a:r>
          </a:p>
          <a:p>
            <a:pPr>
              <a:spcBef>
                <a:spcPts val="600"/>
              </a:spcBef>
              <a:defRPr sz="900">
                <a:solidFill>
                  <a:srgbClr val="0F172A"/>
                </a:solidFill>
                <a:latin typeface="微软雅黑"/>
              </a:defRPr>
            </a:pPr>
            <a:r>
              <a:t>★ 一级核心指标：SLO 合格业务事务产出 (单位：合格请求/机架/天)</a:t>
            </a:r>
          </a:p>
          <a:p>
            <a:pPr>
              <a:spcBef>
                <a:spcPts val="600"/>
              </a:spcBef>
              <a:defRPr sz="900">
                <a:solidFill>
                  <a:srgbClr val="0F172A"/>
                </a:solidFill>
                <a:latin typeface="微软雅黑"/>
              </a:defRPr>
            </a:pPr>
            <a:r>
              <a:t>效率与成本指标：单位 Token 综合 TCO 成本 (元/百万 Token) | TTFT p99 降低 ≥20%</a:t>
            </a:r>
          </a:p>
          <a:p>
            <a:pPr>
              <a:spcBef>
                <a:spcPts val="600"/>
              </a:spcBef>
              <a:defRPr sz="900">
                <a:solidFill>
                  <a:srgbClr val="0F172A"/>
                </a:solidFill>
                <a:latin typeface="微软雅黑"/>
              </a:defRPr>
            </a:pPr>
            <a:r>
              <a:t>质量与防误导护栏：错误状态消费率严格为 0 | 严禁空泛 Hit Rate，必须按正价值 Usable Hit 对账</a:t>
            </a:r>
          </a:p>
        </p:txBody>
      </p:sp>
      <p:sp>
        <p:nvSpPr>
          <p:cNvPr id="7" name="Rectangle 6"/>
          <p:cNvSpPr/>
          <p:nvPr/>
        </p:nvSpPr>
        <p:spPr>
          <a:xfrm>
            <a:off x="6229807" y="3886200"/>
            <a:ext cx="5230368" cy="24688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200" b="1">
                <a:solidFill>
                  <a:srgbClr val="0F172A"/>
                </a:solidFill>
                <a:latin typeface="微软雅黑"/>
              </a:defRPr>
            </a:pPr>
            <a:r>
              <a:t>三、 No-Go 止损与沉淀资产路径 (Asset Recovery)</a:t>
            </a:r>
          </a:p>
          <a:p>
            <a:pPr>
              <a:spcBef>
                <a:spcPts val="800"/>
              </a:spcBef>
              <a:defRPr sz="900">
                <a:solidFill>
                  <a:srgbClr val="475569"/>
                </a:solidFill>
                <a:latin typeface="微软雅黑"/>
              </a:defRPr>
            </a:pPr>
            <a:r>
              <a:t>• UBMEM/URMA Provider：作为独立高性能传输插件沉淀，贡献至通用开源社区</a:t>
            </a:r>
          </a:p>
          <a:p>
            <a:pPr>
              <a:spcBef>
                <a:spcPts val="800"/>
              </a:spcBef>
              <a:defRPr sz="900">
                <a:solidFill>
                  <a:srgbClr val="475569"/>
                </a:solidFill>
                <a:latin typeface="微软雅黑"/>
              </a:defRPr>
            </a:pPr>
            <a:r>
              <a:t>• Descriptor Compiler：作为物理不连续 I/O 描述符离线编译工具箱复用</a:t>
            </a:r>
          </a:p>
          <a:p>
            <a:pPr>
              <a:spcBef>
                <a:spcPts val="800"/>
              </a:spcBef>
              <a:defRPr sz="900">
                <a:solidFill>
                  <a:srgbClr val="475569"/>
                </a:solidFill>
                <a:latin typeface="微软雅黑"/>
              </a:defRPr>
            </a:pPr>
            <a:r>
              <a:t>• Conformance Suite：转为国产硬件 AI 状态传输的标准测试与性能认证工具包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