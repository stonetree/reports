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11460175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74320"/>
            <a:ext cx="109728" cy="7498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10896"/>
            <a:ext cx="11155680" cy="292608"/>
          </a:xfrm>
          <a:prstGeom prst="rect">
            <a:avLst/>
          </a:prstGeom>
          <a:noFill/>
        </p:spPr>
        <p:txBody>
          <a:bodyPr wrap="none" anchor="t" lIns="36576" rIns="36576" tIns="36576" bIns="36576">
            <a:spAutoFit/>
          </a:bodyPr>
          <a:lstStyle/>
          <a:p>
            <a:pPr algn="l"/>
            <a:r>
              <a:rPr b="1" sz="1550">
                <a:solidFill>
                  <a:srgbClr val="0F172A"/>
                </a:solidFill>
                <a:latin typeface="Microsoft YaHei"/>
              </a:rPr>
              <a:t>统一异构 KVCache 存储池 — 项目竞争力与业界方案深度对比沙盘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5216"/>
            <a:ext cx="11155680" cy="384048"/>
          </a:xfrm>
          <a:prstGeom prst="rect">
            <a:avLst/>
          </a:prstGeom>
          <a:noFill/>
        </p:spPr>
        <p:txBody>
          <a:bodyPr wrap="none" anchor="t" lIns="36576" rIns="36576" tIns="36576" bIns="36576">
            <a:spAutoFit/>
          </a:bodyPr>
          <a:lstStyle/>
          <a:p>
            <a:pPr algn="l"/>
            <a:r>
              <a:rPr b="0" sz="900">
                <a:solidFill>
                  <a:srgbClr val="475569"/>
                </a:solidFill>
                <a:latin typeface="Microsoft YaHei"/>
              </a:rPr>
              <a:t>愿景：原生拥抱国产 UBMEM/URMA 硬件特性，围绕 AI Infra 高价值 KVCache 状态，建立全栈自主、意图驱动、软硬协同的存储池基础设施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15568"/>
            <a:ext cx="5440680" cy="4114800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15568"/>
            <a:ext cx="544068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52144"/>
            <a:ext cx="5257800" cy="228600"/>
          </a:xfrm>
          <a:prstGeom prst="rect">
            <a:avLst/>
          </a:prstGeom>
          <a:noFill/>
        </p:spPr>
        <p:txBody>
          <a:bodyPr wrap="none" anchor="t" lIns="36576" rIns="36576" tIns="36576" bIns="36576">
            <a:spAutoFit/>
          </a:bodyPr>
          <a:lstStyle/>
          <a:p>
            <a:pPr algn="l"/>
            <a:r>
              <a:rPr b="1" sz="1000">
                <a:solidFill>
                  <a:srgbClr val="1E3A8A"/>
                </a:solidFill>
                <a:latin typeface="Microsoft YaHei"/>
              </a:rPr>
              <a:t>【核心交付件】统一异构 KVCache 存储池分层沙盘架构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5257800" cy="1115568"/>
          </a:xfrm>
          <a:prstGeom prst="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499616"/>
            <a:ext cx="5166360" cy="182880"/>
          </a:xfrm>
          <a:prstGeom prst="rect">
            <a:avLst/>
          </a:prstGeom>
          <a:noFill/>
        </p:spPr>
        <p:txBody>
          <a:bodyPr wrap="none" anchor="t" lIns="36576" rIns="36576" tIns="36576" bIns="36576">
            <a:spAutoFit/>
          </a:bodyPr>
          <a:lstStyle/>
          <a:p>
            <a:pPr algn="l"/>
            <a:r>
              <a:rPr b="1" sz="850">
                <a:solidFill>
                  <a:srgbClr val="0369A1"/>
                </a:solidFill>
                <a:latin typeface="Microsoft YaHei"/>
              </a:rPr>
              <a:t>最上层：框架适配与意图准入层 (Adapter &amp; Intent Admission)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719072"/>
            <a:ext cx="124587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" y="1755648"/>
            <a:ext cx="1209294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b="1" sz="720">
                <a:solidFill>
                  <a:srgbClr val="0369A1"/>
                </a:solidFill>
                <a:latin typeface="Microsoft YaHei"/>
              </a:rPr>
              <a:t>SR-01 框架前缀对接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" y="1956816"/>
            <a:ext cx="1209294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b="0" sz="660">
                <a:solidFill>
                  <a:srgbClr val="334155"/>
                </a:solidFill>
                <a:latin typeface="Microsoft YaHei"/>
              </a:rPr>
              <a:t>vLLM/SGLang 块哈希与前缀树统一接入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3654" y="1719072"/>
            <a:ext cx="124587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1942" y="1755648"/>
            <a:ext cx="1209294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b="1" sz="720">
                <a:solidFill>
                  <a:srgbClr val="0369A1"/>
                </a:solidFill>
                <a:latin typeface="Microsoft YaHei"/>
              </a:rPr>
              <a:t>SR-02 AccessIntent 准入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1942" y="1956816"/>
            <a:ext cx="1209294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b="0" sz="660">
                <a:solidFill>
                  <a:srgbClr val="334155"/>
                </a:solidFill>
                <a:latin typeface="Microsoft YaHei"/>
              </a:rPr>
              <a:t>携带 Prompt Intent / Deadline / Rank 约束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04388" y="1719072"/>
            <a:ext cx="124587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22676" y="1755648"/>
            <a:ext cx="1209294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b="1" sz="720">
                <a:solidFill>
                  <a:srgbClr val="0369A1"/>
                </a:solidFill>
                <a:latin typeface="Microsoft YaHei"/>
              </a:rPr>
              <a:t>SR-03 消费资格判定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22676" y="1956816"/>
            <a:ext cx="1209294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b="0" sz="660">
                <a:solidFill>
                  <a:srgbClr val="334155"/>
                </a:solidFill>
                <a:latin typeface="Microsoft YaHei"/>
              </a:rPr>
              <a:t>校验 Ready / Lease / Version 语义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05122" y="1719072"/>
            <a:ext cx="124587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23409" y="1755648"/>
            <a:ext cx="1209294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b="1" sz="720">
                <a:solidFill>
                  <a:srgbClr val="0369A1"/>
                </a:solidFill>
                <a:latin typeface="Microsoft YaHei"/>
              </a:rPr>
              <a:t>SR-04 全局前缀目录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23409" y="1956816"/>
            <a:ext cx="1209294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b="0" sz="660">
                <a:solidFill>
                  <a:srgbClr val="334155"/>
                </a:solidFill>
                <a:latin typeface="Microsoft YaHei"/>
              </a:rPr>
              <a:t>基于 UBMEM 共享地址空间的高速目录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651760"/>
            <a:ext cx="5257800" cy="1325880"/>
          </a:xfrm>
          <a:prstGeom prst="rect">
            <a:avLst/>
          </a:prstGeom>
          <a:solidFill>
            <a:srgbClr val="F0F4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2688336"/>
            <a:ext cx="5166360" cy="182880"/>
          </a:xfrm>
          <a:prstGeom prst="rect">
            <a:avLst/>
          </a:prstGeom>
          <a:noFill/>
        </p:spPr>
        <p:txBody>
          <a:bodyPr wrap="none" anchor="t" lIns="36576" rIns="36576" tIns="36576" bIns="36576">
            <a:spAutoFit/>
          </a:bodyPr>
          <a:lstStyle/>
          <a:p>
            <a:pPr algn="l"/>
            <a:r>
              <a:rPr b="1" sz="850">
                <a:solidFill>
                  <a:srgbClr val="1E40AF"/>
                </a:solidFill>
                <a:latin typeface="Microsoft YaHei"/>
              </a:rPr>
              <a:t>中间层：核心状态决策与异构调度池 (Core State Decision &amp; Tiering)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2907792"/>
            <a:ext cx="124587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1208" y="2944368"/>
            <a:ext cx="1209294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b="1" sz="720">
                <a:solidFill>
                  <a:srgbClr val="1E40AF"/>
                </a:solidFill>
                <a:latin typeface="Microsoft YaHei"/>
              </a:rPr>
              <a:t>SR-05 CapabilityGraph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" y="3127248"/>
            <a:ext cx="1209294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b="1" sz="660">
                <a:solidFill>
                  <a:srgbClr val="0284C7"/>
                </a:solidFill>
                <a:latin typeface="Microsoft YaHei"/>
              </a:rPr>
              <a:t>选路拓扑与 Cost 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" y="3310128"/>
            <a:ext cx="1209294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b="0" sz="640">
                <a:solidFill>
                  <a:srgbClr val="334155"/>
                </a:solidFill>
                <a:latin typeface="Microsoft YaHei"/>
              </a:rPr>
              <a:t>整合带宽/延迟/拓扑/拥塞成本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03654" y="2907792"/>
            <a:ext cx="124587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21942" y="2944368"/>
            <a:ext cx="1209294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b="1" sz="720">
                <a:solidFill>
                  <a:srgbClr val="1E40AF"/>
                </a:solidFill>
                <a:latin typeface="Microsoft YaHei"/>
              </a:rPr>
              <a:t>SR-06 QueryPlan 决策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1942" y="3127248"/>
            <a:ext cx="1209294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b="1" sz="660">
                <a:solidFill>
                  <a:srgbClr val="0284C7"/>
                </a:solidFill>
                <a:latin typeface="Microsoft YaHei"/>
              </a:rPr>
              <a:t>Load vs Recompute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1942" y="3310128"/>
            <a:ext cx="1209294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b="0" sz="640">
                <a:solidFill>
                  <a:srgbClr val="334155"/>
                </a:solidFill>
                <a:latin typeface="Microsoft YaHei"/>
              </a:rPr>
              <a:t>意图驱动/冷热预取/主动前递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04388" y="2907792"/>
            <a:ext cx="124587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22676" y="2944368"/>
            <a:ext cx="1209294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b="1" sz="720">
                <a:solidFill>
                  <a:srgbClr val="1E40AF"/>
                </a:solidFill>
                <a:latin typeface="Microsoft YaHei"/>
              </a:rPr>
              <a:t>SR-07 异构介质分层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22676" y="3127248"/>
            <a:ext cx="1209294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b="1" sz="660">
                <a:solidFill>
                  <a:srgbClr val="0284C7"/>
                </a:solidFill>
                <a:latin typeface="Microsoft YaHei"/>
              </a:rPr>
              <a:t>HBM/L3/DDR/SSD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22676" y="3310128"/>
            <a:ext cx="1209294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b="0" sz="640">
                <a:solidFill>
                  <a:srgbClr val="334155"/>
                </a:solidFill>
                <a:latin typeface="Microsoft YaHei"/>
              </a:rPr>
              <a:t>统一 KVObject 映射与 Extent 管理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05122" y="2907792"/>
            <a:ext cx="124587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23409" y="2944368"/>
            <a:ext cx="1209294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b="1" sz="720">
                <a:solidFill>
                  <a:srgbClr val="1E40AF"/>
                </a:solidFill>
                <a:latin typeface="Microsoft YaHei"/>
              </a:rPr>
              <a:t>SR-08 前后台 QoS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23409" y="3127248"/>
            <a:ext cx="1209294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b="1" sz="660">
                <a:solidFill>
                  <a:srgbClr val="0284C7"/>
                </a:solidFill>
                <a:latin typeface="Microsoft YaHei"/>
              </a:rPr>
              <a:t>流量互锁与防抖动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23409" y="3310128"/>
            <a:ext cx="1209294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b="0" sz="640">
                <a:solidFill>
                  <a:srgbClr val="334155"/>
                </a:solidFill>
                <a:latin typeface="Microsoft YaHei"/>
              </a:rPr>
              <a:t>保护 Decode TPOT 抖动 &lt;3%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050792"/>
            <a:ext cx="5257800" cy="1143000"/>
          </a:xfrm>
          <a:prstGeom prst="rect">
            <a:avLst/>
          </a:prstGeom>
          <a:solidFill>
            <a:srgbClr val="ECFDF5"/>
          </a:solidFill>
          <a:ln w="1270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4087368"/>
            <a:ext cx="5166360" cy="182880"/>
          </a:xfrm>
          <a:prstGeom prst="rect">
            <a:avLst/>
          </a:prstGeom>
          <a:noFill/>
        </p:spPr>
        <p:txBody>
          <a:bodyPr wrap="none" anchor="t" lIns="36576" rIns="36576" tIns="36576" bIns="36576">
            <a:spAutoFit/>
          </a:bodyPr>
          <a:lstStyle/>
          <a:p>
            <a:pPr algn="l"/>
            <a:r>
              <a:rPr b="1" sz="850">
                <a:solidFill>
                  <a:srgbClr val="047857"/>
                </a:solidFill>
                <a:latin typeface="Microsoft YaHei"/>
              </a:rPr>
              <a:t>最底层：国产硬件 Native 传输底座 (Transport Base - URMA/UBMEM)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4306824"/>
            <a:ext cx="167944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1208" y="4343400"/>
            <a:ext cx="1642872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b="1" sz="720">
                <a:solidFill>
                  <a:srgbClr val="047857"/>
                </a:solidFill>
                <a:latin typeface="Microsoft YaHei"/>
              </a:rPr>
              <a:t>URMA 批量数据传输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8" y="4544568"/>
            <a:ext cx="1642872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b="0" sz="660">
                <a:solidFill>
                  <a:srgbClr val="334155"/>
                </a:solidFill>
                <a:latin typeface="Microsoft YaHei"/>
              </a:rPr>
              <a:t>正文批量异步 RDMA 式搬运
释放跨节点带宽，线速 80%+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46376" y="4306824"/>
            <a:ext cx="167944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264664" y="4343400"/>
            <a:ext cx="1642872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b="1" sz="720">
                <a:solidFill>
                  <a:srgbClr val="047857"/>
                </a:solidFill>
                <a:latin typeface="Microsoft YaHei"/>
              </a:rPr>
              <a:t>UBMEM 共享内存快路径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264664" y="4544568"/>
            <a:ext cx="1642872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b="0" sz="660">
                <a:solidFill>
                  <a:srgbClr val="334155"/>
                </a:solidFill>
                <a:latin typeface="Microsoft YaHei"/>
              </a:rPr>
              <a:t>前缀目录 / block_table / 就绪状态
微秒级共享内存访问与同步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89832" y="4306824"/>
            <a:ext cx="167944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08119" y="4343400"/>
            <a:ext cx="1642872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b="1" sz="720">
                <a:solidFill>
                  <a:srgbClr val="047857"/>
                </a:solidFill>
                <a:latin typeface="Microsoft YaHei"/>
              </a:rPr>
              <a:t>芯片微架构协同原语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08119" y="4544568"/>
            <a:ext cx="1642872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b="0" sz="660">
                <a:solidFill>
                  <a:srgbClr val="334155"/>
                </a:solidFill>
                <a:latin typeface="Microsoft YaHei"/>
              </a:rPr>
              <a:t>深入使能 L3/On-chip、DDRC、IODie
跨层硬件特性与 Atomic/Fence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925312" y="1115568"/>
            <a:ext cx="5897880" cy="4114800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925312" y="1115568"/>
            <a:ext cx="589788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016752" y="1152144"/>
            <a:ext cx="5715000" cy="228600"/>
          </a:xfrm>
          <a:prstGeom prst="rect">
            <a:avLst/>
          </a:prstGeom>
          <a:noFill/>
        </p:spPr>
        <p:txBody>
          <a:bodyPr wrap="none" anchor="t" lIns="36576" rIns="36576" tIns="36576" bIns="36576">
            <a:spAutoFit/>
          </a:bodyPr>
          <a:lstStyle/>
          <a:p>
            <a:pPr algn="l"/>
            <a:r>
              <a:rPr b="1" sz="1000">
                <a:solidFill>
                  <a:srgbClr val="0F172A"/>
                </a:solidFill>
                <a:latin typeface="Microsoft YaHei"/>
              </a:rPr>
              <a:t>【项目竞争力分析】与业界开源及 NVIDIA 方案深度对比矩阵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16752" y="1463040"/>
            <a:ext cx="571500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62472" y="1481328"/>
            <a:ext cx="5623560" cy="164592"/>
          </a:xfrm>
          <a:prstGeom prst="rect">
            <a:avLst/>
          </a:prstGeom>
          <a:noFill/>
        </p:spPr>
        <p:txBody>
          <a:bodyPr wrap="none" anchor="t" lIns="36576" rIns="36576" tIns="36576" bIns="36576">
            <a:spAutoFit/>
          </a:bodyPr>
          <a:lstStyle/>
          <a:p>
            <a:pPr algn="l"/>
            <a:r>
              <a:rPr b="1" sz="750">
                <a:solidFill>
                  <a:srgbClr val="0F172A"/>
                </a:solidFill>
                <a:latin typeface="Microsoft YaHei"/>
              </a:rPr>
              <a:t>① 存储介质支持维度 (Media Tiers)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016752" y="1682496"/>
            <a:ext cx="1856231" cy="67665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053328" y="1719072"/>
            <a:ext cx="1783079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b="0" sz="640">
                <a:solidFill>
                  <a:srgbClr val="475569"/>
                </a:solidFill>
                <a:latin typeface="Microsoft YaHei"/>
              </a:rPr>
              <a:t>Mooncake / LMCache:
• 偏向 HBM-DDR-SSD 传统三层
• 缺少芯片内 L3 / On-chip 存储与 UBMEM 共享语义支持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946136" y="1682496"/>
            <a:ext cx="1856231" cy="67665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982711" y="1719072"/>
            <a:ext cx="1783079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b="0" sz="640">
                <a:solidFill>
                  <a:srgbClr val="475569"/>
                </a:solidFill>
                <a:latin typeface="Microsoft YaHei"/>
              </a:rPr>
              <a:t>NVIDIA Dynamo/NIXL:
• NVLink/C2C/GPU HBM + Host RAM
• 封闭专有生态，针对 NV 架构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875519" y="1682496"/>
            <a:ext cx="1856231" cy="676656"/>
          </a:xfrm>
          <a:prstGeom prst="rect">
            <a:avLst/>
          </a:prstGeom>
          <a:solidFill>
            <a:srgbClr val="F0FDF4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912095" y="1719072"/>
            <a:ext cx="1783079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b="0" sz="650">
                <a:solidFill>
                  <a:srgbClr val="047857"/>
                </a:solidFill>
                <a:latin typeface="Microsoft YaHei"/>
              </a:rPr>
              <a:t>本项目 (统一异构存储池):
• </a:t>
            </a:r>
            <a:r>
              <a:rPr b="1" sz="650">
                <a:solidFill>
                  <a:srgbClr val="047857"/>
                </a:solidFill>
                <a:latin typeface="Microsoft YaHei"/>
              </a:rPr>
              <a:t>原生覆盖 HBM、L3/On-chip、UBMEM、DDR、SSD 全介质</a:t>
            </a:r>
            <a:r>
              <a:rPr b="0" sz="650">
                <a:solidFill>
                  <a:srgbClr val="047857"/>
                </a:solidFill>
                <a:latin typeface="Microsoft YaHei"/>
              </a:rPr>
              <a:t>
• 统一 KVObject 映射与 Extent 容量治理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16752" y="2404872"/>
            <a:ext cx="571500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062472" y="2423160"/>
            <a:ext cx="5623560" cy="164592"/>
          </a:xfrm>
          <a:prstGeom prst="rect">
            <a:avLst/>
          </a:prstGeom>
          <a:noFill/>
        </p:spPr>
        <p:txBody>
          <a:bodyPr wrap="none" anchor="t" lIns="36576" rIns="36576" tIns="36576" bIns="36576">
            <a:spAutoFit/>
          </a:bodyPr>
          <a:lstStyle/>
          <a:p>
            <a:pPr algn="l"/>
            <a:r>
              <a:rPr b="1" sz="750">
                <a:solidFill>
                  <a:srgbClr val="0F172A"/>
                </a:solidFill>
                <a:latin typeface="Microsoft YaHei"/>
              </a:rPr>
              <a:t>② 决策机制与路径优化 (Decision Mechanism)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16752" y="2624328"/>
            <a:ext cx="1856231" cy="67665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053328" y="2660904"/>
            <a:ext cx="1783079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b="0" sz="640">
                <a:solidFill>
                  <a:srgbClr val="475569"/>
                </a:solidFill>
                <a:latin typeface="Microsoft YaHei"/>
              </a:rPr>
              <a:t>Mooncake / LMCache:
• 被动容量/Hit Rate 驱动，Fetch/Evict
• 缺乏 Load-vs-Recompute 实时权衡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946136" y="2624328"/>
            <a:ext cx="1856231" cy="67665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982711" y="2660904"/>
            <a:ext cx="1783079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b="0" sz="640">
                <a:solidFill>
                  <a:srgbClr val="475569"/>
                </a:solidFill>
                <a:latin typeface="Microsoft YaHei"/>
              </a:rPr>
              <a:t>NVIDIA Dynamo/NIXL:
• KV overlap 与计算成本路由
• 依赖 NV 独占 Router 与 Event Plane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875519" y="2624328"/>
            <a:ext cx="1856231" cy="676656"/>
          </a:xfrm>
          <a:prstGeom prst="rect">
            <a:avLst/>
          </a:prstGeom>
          <a:solidFill>
            <a:srgbClr val="F0FDF4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912095" y="2660904"/>
            <a:ext cx="1783079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b="0" sz="650">
                <a:solidFill>
                  <a:srgbClr val="047857"/>
                </a:solidFill>
                <a:latin typeface="Microsoft YaHei"/>
              </a:rPr>
              <a:t>本项目 (统一异构存储池):
• </a:t>
            </a:r>
            <a:r>
              <a:rPr b="1" sz="650">
                <a:solidFill>
                  <a:srgbClr val="047857"/>
                </a:solidFill>
                <a:latin typeface="Microsoft YaHei"/>
              </a:rPr>
              <a:t>意图驱动 (AccessIntent) + 状态价值</a:t>
            </a:r>
            <a:r>
              <a:rPr b="0" sz="650">
                <a:solidFill>
                  <a:srgbClr val="047857"/>
                </a:solidFill>
                <a:latin typeface="Microsoft YaHei"/>
              </a:rPr>
              <a:t>
• </a:t>
            </a:r>
            <a:r>
              <a:rPr b="1" sz="650">
                <a:solidFill>
                  <a:srgbClr val="047857"/>
                </a:solidFill>
                <a:latin typeface="Microsoft YaHei"/>
              </a:rPr>
              <a:t>动态 QueryPlan</a:t>
            </a:r>
            <a:r>
              <a:rPr b="0" sz="650">
                <a:solidFill>
                  <a:srgbClr val="047857"/>
                </a:solidFill>
                <a:latin typeface="Microsoft YaHei"/>
              </a:rPr>
              <a:t> 权衡冷热预取、主动前递与重算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016752" y="3346704"/>
            <a:ext cx="571500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062472" y="3364992"/>
            <a:ext cx="5623560" cy="164592"/>
          </a:xfrm>
          <a:prstGeom prst="rect">
            <a:avLst/>
          </a:prstGeom>
          <a:noFill/>
        </p:spPr>
        <p:txBody>
          <a:bodyPr wrap="none" anchor="t" lIns="36576" rIns="36576" tIns="36576" bIns="36576">
            <a:spAutoFit/>
          </a:bodyPr>
          <a:lstStyle/>
          <a:p>
            <a:pPr algn="l"/>
            <a:r>
              <a:rPr b="1" sz="750">
                <a:solidFill>
                  <a:srgbClr val="0F172A"/>
                </a:solidFill>
                <a:latin typeface="Microsoft YaHei"/>
              </a:rPr>
              <a:t>③ 硬件协同与生态能力 (Hardware Co-design &amp; Eco)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016752" y="3566160"/>
            <a:ext cx="1856231" cy="67665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053328" y="3602736"/>
            <a:ext cx="1783079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b="0" sz="640">
                <a:solidFill>
                  <a:srgbClr val="475569"/>
                </a:solidFill>
                <a:latin typeface="Microsoft YaHei"/>
              </a:rPr>
              <a:t>Mooncake / LMCache:
• 通用社区软适配
• 底层硬件退化为“最小公分母”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946136" y="3566160"/>
            <a:ext cx="1856231" cy="67665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982711" y="3602736"/>
            <a:ext cx="1783079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b="0" sz="640">
                <a:solidFill>
                  <a:srgbClr val="475569"/>
                </a:solidFill>
                <a:latin typeface="Microsoft YaHei"/>
              </a:rPr>
              <a:t>NVIDIA Dynamo/NIXL:
• 绑定 NV 独占生态 (NIXL/KVBM)
• 全栈闭环但不兼容国产体系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875519" y="3566160"/>
            <a:ext cx="1856231" cy="676656"/>
          </a:xfrm>
          <a:prstGeom prst="rect">
            <a:avLst/>
          </a:prstGeom>
          <a:solidFill>
            <a:srgbClr val="F0FDF4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912095" y="3602736"/>
            <a:ext cx="1783079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b="0" sz="650">
                <a:solidFill>
                  <a:srgbClr val="047857"/>
                </a:solidFill>
                <a:latin typeface="Microsoft YaHei"/>
              </a:rPr>
              <a:t>本项目 (统一异构存储池):
• </a:t>
            </a:r>
            <a:r>
              <a:rPr b="1" sz="650">
                <a:solidFill>
                  <a:srgbClr val="047857"/>
                </a:solidFill>
                <a:latin typeface="Microsoft YaHei"/>
              </a:rPr>
              <a:t>深度使能国产 UBMEM/URMA 特性</a:t>
            </a:r>
            <a:r>
              <a:rPr b="0" sz="650">
                <a:solidFill>
                  <a:srgbClr val="047857"/>
                </a:solidFill>
                <a:latin typeface="Microsoft YaHei"/>
              </a:rPr>
              <a:t>
• </a:t>
            </a:r>
            <a:r>
              <a:rPr b="1" sz="650">
                <a:solidFill>
                  <a:srgbClr val="047857"/>
                </a:solidFill>
                <a:latin typeface="Microsoft YaHei"/>
              </a:rPr>
              <a:t>Day-0 第一方责任闭环</a:t>
            </a:r>
            <a:r>
              <a:rPr b="0" sz="650">
                <a:solidFill>
                  <a:srgbClr val="047857"/>
                </a:solidFill>
                <a:latin typeface="Microsoft YaHei"/>
              </a:rPr>
              <a:t>，牵引国产硬件反向迭代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016752" y="4288536"/>
            <a:ext cx="571500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062472" y="4306823"/>
            <a:ext cx="5623560" cy="164592"/>
          </a:xfrm>
          <a:prstGeom prst="rect">
            <a:avLst/>
          </a:prstGeom>
          <a:noFill/>
        </p:spPr>
        <p:txBody>
          <a:bodyPr wrap="none" anchor="t" lIns="36576" rIns="36576" tIns="36576" bIns="36576">
            <a:spAutoFit/>
          </a:bodyPr>
          <a:lstStyle/>
          <a:p>
            <a:pPr algn="l"/>
            <a:r>
              <a:rPr b="1" sz="750">
                <a:solidFill>
                  <a:srgbClr val="0F172A"/>
                </a:solidFill>
                <a:latin typeface="Microsoft YaHei"/>
              </a:rPr>
              <a:t>④ 北极星指标与最终交付价值 (North Star Metrics)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016752" y="4507992"/>
            <a:ext cx="1856231" cy="67665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053328" y="4544568"/>
            <a:ext cx="1783079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b="0" sz="640">
                <a:solidFill>
                  <a:srgbClr val="475569"/>
                </a:solidFill>
                <a:latin typeface="Microsoft YaHei"/>
              </a:rPr>
              <a:t>Mooncake / LMCache:
• 局限于单点 Bandwidth / Raw Hit Rate
• 容易出现“命中但更慢”负收益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946136" y="4507992"/>
            <a:ext cx="1856231" cy="67665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982711" y="4544568"/>
            <a:ext cx="1783079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b="0" sz="640">
                <a:solidFill>
                  <a:srgbClr val="475569"/>
                </a:solidFill>
                <a:latin typeface="Microsoft YaHei"/>
              </a:rPr>
              <a:t>NVIDIA Dynamo/NIXL:
• NVIDIA 平台整机吞吐与扩展性
• 软硬捆绑导致极高 TCO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875519" y="4507992"/>
            <a:ext cx="1856231" cy="676656"/>
          </a:xfrm>
          <a:prstGeom prst="rect">
            <a:avLst/>
          </a:prstGeom>
          <a:solidFill>
            <a:srgbClr val="ECFDF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912095" y="4544568"/>
            <a:ext cx="1783079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b="0" sz="650">
                <a:solidFill>
                  <a:srgbClr val="047857"/>
                </a:solidFill>
                <a:latin typeface="Microsoft YaHei"/>
              </a:rPr>
              <a:t>本项目 (统一异构存储池):
• </a:t>
            </a:r>
            <a:r>
              <a:rPr b="1" sz="650">
                <a:solidFill>
                  <a:srgbClr val="047857"/>
                </a:solidFill>
                <a:latin typeface="Microsoft YaHei"/>
              </a:rPr>
              <a:t>复用型 P99 TTFT 降低 ≥20%</a:t>
            </a:r>
            <a:r>
              <a:rPr b="0" sz="650">
                <a:solidFill>
                  <a:srgbClr val="047857"/>
                </a:solidFill>
                <a:latin typeface="Microsoft YaHei"/>
              </a:rPr>
              <a:t>
• </a:t>
            </a:r>
            <a:r>
              <a:rPr b="1" sz="650">
                <a:solidFill>
                  <a:srgbClr val="047857"/>
                </a:solidFill>
                <a:latin typeface="Microsoft YaHei"/>
              </a:rPr>
              <a:t>HBM 有效容量 +30%</a:t>
            </a:r>
            <a:r>
              <a:rPr b="0" sz="650">
                <a:solidFill>
                  <a:srgbClr val="047857"/>
                </a:solidFill>
                <a:latin typeface="Microsoft YaHei"/>
              </a:rPr>
              <a:t>，TPOT 抖动 &lt;3%，极致 TCO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65760" y="5321808"/>
            <a:ext cx="11460175" cy="1261872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365760" y="5321808"/>
            <a:ext cx="11460175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57200" y="5340096"/>
            <a:ext cx="11277295" cy="201168"/>
          </a:xfrm>
          <a:prstGeom prst="rect">
            <a:avLst/>
          </a:prstGeom>
          <a:noFill/>
        </p:spPr>
        <p:txBody>
          <a:bodyPr wrap="none" anchor="t" lIns="36576" rIns="36576" tIns="36576" bIns="36576">
            <a:spAutoFit/>
          </a:bodyPr>
          <a:lstStyle/>
          <a:p>
            <a:pPr algn="l"/>
            <a:r>
              <a:rPr b="1" sz="900">
                <a:solidFill>
                  <a:srgbClr val="1E3A8A"/>
                </a:solidFill>
                <a:latin typeface="Microsoft YaHei"/>
              </a:rPr>
              <a:t>【立项必要性与预期收益】打造国产软硬件生态标杆与极致性能交付闭环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57200" y="5614416"/>
            <a:ext cx="3698138" cy="914399"/>
          </a:xfrm>
          <a:prstGeom prst="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12064" y="5650992"/>
            <a:ext cx="3588410" cy="182880"/>
          </a:xfrm>
          <a:prstGeom prst="rect">
            <a:avLst/>
          </a:prstGeom>
          <a:noFill/>
        </p:spPr>
        <p:txBody>
          <a:bodyPr wrap="none" anchor="t" lIns="36576" rIns="36576" tIns="36576" bIns="36576">
            <a:spAutoFit/>
          </a:bodyPr>
          <a:lstStyle/>
          <a:p>
            <a:pPr algn="l"/>
            <a:r>
              <a:rPr b="1" sz="750">
                <a:solidFill>
                  <a:srgbClr val="0369A1"/>
                </a:solidFill>
                <a:latin typeface="Microsoft YaHei"/>
              </a:rPr>
              <a:t>一、打造国产软硬件生态标杆 &amp; 深挖掘微架构潜力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12064" y="5833872"/>
            <a:ext cx="3588410" cy="658367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b="0" sz="640">
                <a:solidFill>
                  <a:srgbClr val="334155"/>
                </a:solidFill>
                <a:latin typeface="Microsoft YaHei"/>
              </a:rPr>
              <a:t>• </a:t>
            </a:r>
            <a:r>
              <a:rPr b="1" sz="640">
                <a:solidFill>
                  <a:srgbClr val="334155"/>
                </a:solidFill>
                <a:latin typeface="Microsoft YaHei"/>
              </a:rPr>
              <a:t>微架构潜力</a:t>
            </a:r>
            <a:r>
              <a:rPr b="0" sz="640">
                <a:solidFill>
                  <a:srgbClr val="334155"/>
                </a:solidFill>
                <a:latin typeface="Microsoft YaHei"/>
              </a:rPr>
              <a:t>：打破软硬件壁垒，从微架构层面挖掘 UBMEM/URMA 等硬件潜力。</a:t>
            </a:r>
          </a:p>
          <a:p>
            <a:pPr algn="l">
              <a:spcAft>
                <a:spcPts val="200"/>
              </a:spcAft>
            </a:pPr>
            <a:r>
              <a:rPr b="0" sz="640">
                <a:solidFill>
                  <a:srgbClr val="334155"/>
                </a:solidFill>
                <a:latin typeface="Microsoft YaHei"/>
              </a:rPr>
              <a:t>• </a:t>
            </a:r>
            <a:r>
              <a:rPr b="1" sz="640">
                <a:solidFill>
                  <a:srgbClr val="334155"/>
                </a:solidFill>
                <a:latin typeface="Microsoft YaHei"/>
              </a:rPr>
              <a:t>需求协同适配</a:t>
            </a:r>
            <a:r>
              <a:rPr b="0" sz="640">
                <a:solidFill>
                  <a:srgbClr val="334155"/>
                </a:solidFill>
                <a:latin typeface="Microsoft YaHei"/>
              </a:rPr>
              <a:t>：深度参与 AI Infra 场景，牵引国产硬件持续针对真实推理需求适配迭代。</a:t>
            </a:r>
          </a:p>
          <a:p>
            <a:pPr algn="l">
              <a:spcAft>
                <a:spcPts val="200"/>
              </a:spcAft>
            </a:pPr>
            <a:r>
              <a:rPr b="0" sz="640">
                <a:solidFill>
                  <a:srgbClr val="334155"/>
                </a:solidFill>
                <a:latin typeface="Microsoft YaHei"/>
              </a:rPr>
              <a:t>• </a:t>
            </a:r>
            <a:r>
              <a:rPr b="1" sz="640">
                <a:solidFill>
                  <a:srgbClr val="334155"/>
                </a:solidFill>
                <a:latin typeface="Microsoft YaHei"/>
              </a:rPr>
              <a:t>技术自主可控</a:t>
            </a:r>
            <a:r>
              <a:rPr b="0" sz="640">
                <a:solidFill>
                  <a:srgbClr val="334155"/>
                </a:solidFill>
                <a:latin typeface="Microsoft YaHei"/>
              </a:rPr>
              <a:t>：建立国产硬件体系之上可独立演进的第一方 KVCache 状态系统工程。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246778" y="5614416"/>
            <a:ext cx="3698138" cy="914399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301642" y="5650992"/>
            <a:ext cx="3588410" cy="182880"/>
          </a:xfrm>
          <a:prstGeom prst="rect">
            <a:avLst/>
          </a:prstGeom>
          <a:noFill/>
        </p:spPr>
        <p:txBody>
          <a:bodyPr wrap="none" anchor="t" lIns="36576" rIns="36576" tIns="36576" bIns="36576">
            <a:spAutoFit/>
          </a:bodyPr>
          <a:lstStyle/>
          <a:p>
            <a:pPr algn="l"/>
            <a:r>
              <a:rPr b="1" sz="750">
                <a:solidFill>
                  <a:srgbClr val="6D28D9"/>
                </a:solidFill>
                <a:latin typeface="Microsoft YaHei"/>
              </a:rPr>
              <a:t>二、全场景对标 NVIDIA 补齐 AI Infra 软件栈空白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301642" y="5833872"/>
            <a:ext cx="3588410" cy="658367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b="0" sz="640">
                <a:solidFill>
                  <a:srgbClr val="334155"/>
                </a:solidFill>
                <a:latin typeface="Microsoft YaHei"/>
              </a:rPr>
              <a:t>• </a:t>
            </a:r>
            <a:r>
              <a:rPr b="1" sz="640">
                <a:solidFill>
                  <a:srgbClr val="334155"/>
                </a:solidFill>
                <a:latin typeface="Microsoft YaHei"/>
              </a:rPr>
              <a:t>全场景覆盖</a:t>
            </a:r>
            <a:r>
              <a:rPr b="0" sz="640">
                <a:solidFill>
                  <a:srgbClr val="334155"/>
                </a:solidFill>
                <a:latin typeface="Microsoft YaHei"/>
              </a:rPr>
              <a:t>：对标 NVIDIA AI Infra (Dynamo/KVBM)，填补国产全场景 KVCache 软件栈空白。</a:t>
            </a:r>
          </a:p>
          <a:p>
            <a:pPr algn="l">
              <a:spcAft>
                <a:spcPts val="200"/>
              </a:spcAft>
            </a:pPr>
            <a:r>
              <a:rPr b="0" sz="640">
                <a:solidFill>
                  <a:srgbClr val="334155"/>
                </a:solidFill>
                <a:latin typeface="Microsoft YaHei"/>
              </a:rPr>
              <a:t>• </a:t>
            </a:r>
            <a:r>
              <a:rPr b="1" sz="640">
                <a:solidFill>
                  <a:srgbClr val="334155"/>
                </a:solidFill>
                <a:latin typeface="Microsoft YaHei"/>
              </a:rPr>
              <a:t>第一方责任闭环</a:t>
            </a:r>
            <a:r>
              <a:rPr b="0" sz="640">
                <a:solidFill>
                  <a:srgbClr val="334155"/>
                </a:solidFill>
                <a:latin typeface="Microsoft YaHei"/>
              </a:rPr>
              <a:t>：承担 Day-0 适配承诺与硬件问题归因闭环，避免开源社区软件退化。</a:t>
            </a:r>
          </a:p>
          <a:p>
            <a:pPr algn="l">
              <a:spcAft>
                <a:spcPts val="200"/>
              </a:spcAft>
            </a:pPr>
            <a:r>
              <a:rPr b="0" sz="640">
                <a:solidFill>
                  <a:srgbClr val="334155"/>
                </a:solidFill>
                <a:latin typeface="Microsoft YaHei"/>
              </a:rPr>
              <a:t>• </a:t>
            </a:r>
            <a:r>
              <a:rPr b="1" sz="640">
                <a:solidFill>
                  <a:srgbClr val="334155"/>
                </a:solidFill>
                <a:latin typeface="Microsoft YaHei"/>
              </a:rPr>
              <a:t>生态标准孵化</a:t>
            </a:r>
            <a:r>
              <a:rPr b="0" sz="640">
                <a:solidFill>
                  <a:srgbClr val="334155"/>
                </a:solidFill>
                <a:latin typeface="Microsoft YaHei"/>
              </a:rPr>
              <a:t>：沉淀统一 KVObject Semantic ABI 与 Conformance 测试集，繁荣国产生态。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036356" y="5614416"/>
            <a:ext cx="3698138" cy="914399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091220" y="5650992"/>
            <a:ext cx="3588410" cy="182880"/>
          </a:xfrm>
          <a:prstGeom prst="rect">
            <a:avLst/>
          </a:prstGeom>
          <a:noFill/>
        </p:spPr>
        <p:txBody>
          <a:bodyPr wrap="none" anchor="t" lIns="36576" rIns="36576" tIns="36576" bIns="36576">
            <a:spAutoFit/>
          </a:bodyPr>
          <a:lstStyle/>
          <a:p>
            <a:pPr algn="l"/>
            <a:r>
              <a:rPr b="1" sz="750">
                <a:solidFill>
                  <a:srgbClr val="047857"/>
                </a:solidFill>
                <a:latin typeface="Microsoft YaHei"/>
              </a:rPr>
              <a:t>三、商业价值、客户体验与软硬结合四大确定性收益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091220" y="5833872"/>
            <a:ext cx="3588410" cy="658367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b="0" sz="640">
                <a:solidFill>
                  <a:srgbClr val="334155"/>
                </a:solidFill>
                <a:latin typeface="Microsoft YaHei"/>
              </a:rPr>
              <a:t>• </a:t>
            </a:r>
            <a:r>
              <a:rPr b="1" sz="640">
                <a:solidFill>
                  <a:srgbClr val="334155"/>
                </a:solidFill>
                <a:latin typeface="Microsoft YaHei"/>
              </a:rPr>
              <a:t>客户界面收益</a:t>
            </a:r>
            <a:r>
              <a:rPr b="0" sz="640">
                <a:solidFill>
                  <a:srgbClr val="334155"/>
                </a:solidFill>
                <a:latin typeface="Microsoft YaHei"/>
              </a:rPr>
              <a:t>：复用型业务 P99 TTFT 降低 ≥20%，Decode 阶段 P99 TPOT 抖动控制在 3% 以内。</a:t>
            </a:r>
          </a:p>
          <a:p>
            <a:pPr algn="l">
              <a:spcAft>
                <a:spcPts val="200"/>
              </a:spcAft>
            </a:pPr>
            <a:r>
              <a:rPr b="0" sz="640">
                <a:solidFill>
                  <a:srgbClr val="334155"/>
                </a:solidFill>
                <a:latin typeface="Microsoft YaHei"/>
              </a:rPr>
              <a:t>• </a:t>
            </a:r>
            <a:r>
              <a:rPr b="1" sz="640">
                <a:solidFill>
                  <a:srgbClr val="334155"/>
                </a:solidFill>
                <a:latin typeface="Microsoft YaHei"/>
              </a:rPr>
              <a:t>软硬结合优势</a:t>
            </a:r>
            <a:r>
              <a:rPr b="0" sz="640">
                <a:solidFill>
                  <a:srgbClr val="334155"/>
                </a:solidFill>
                <a:latin typeface="Microsoft YaHei"/>
              </a:rPr>
              <a:t>：URMA 正文搬运达到线速/设备峰值 80%+，HBM 有效容量提升 ≥30%。</a:t>
            </a:r>
          </a:p>
          <a:p>
            <a:pPr algn="l">
              <a:spcAft>
                <a:spcPts val="200"/>
              </a:spcAft>
            </a:pPr>
            <a:r>
              <a:rPr b="0" sz="640">
                <a:solidFill>
                  <a:srgbClr val="334155"/>
                </a:solidFill>
                <a:latin typeface="Microsoft YaHei"/>
              </a:rPr>
              <a:t>• </a:t>
            </a:r>
            <a:r>
              <a:rPr b="1" sz="640">
                <a:solidFill>
                  <a:srgbClr val="334155"/>
                </a:solidFill>
                <a:latin typeface="Microsoft YaHei"/>
              </a:rPr>
              <a:t>分阶段立项验证</a:t>
            </a:r>
            <a:r>
              <a:rPr b="0" sz="640">
                <a:solidFill>
                  <a:srgbClr val="334155"/>
                </a:solidFill>
                <a:latin typeface="Microsoft YaHei"/>
              </a:rPr>
              <a:t>：通过 PVT00-07 验证设计与 Go/No-Go 门禁，实现风险极可控的战略投入。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