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[01/10] 项目愿景与核心定位 —— 面向国产 AI 硬件的第一方推理状态系统工程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有机融合 UBMEM 预注册内存池与 URMA 零拷贝传输，协同意图感知决策与全局语义管理，实现异构存储池化与 CPU 正文触碰归零，构建基于国产硬件的高性能 AI 推理状态基础设施。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53949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一、 项目愿景与三大核心定位</a:t>
            </a:r>
          </a:p>
          <a:p>
            <a:pPr>
              <a:spcBef>
                <a:spcPts val="800"/>
              </a:spcBef>
              <a:defRPr sz="1019" b="1">
                <a:solidFill>
                  <a:srgbClr val="1E3A8A"/>
                </a:solidFill>
              </a:defRPr>
            </a:pPr>
            <a:r>
              <a:t>■ 全面构建于国产硬件之上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深度融合 UBMEM/URMA 等国产硬件特性，原生覆盖 HBM、DDR、NVMe SSD 及芯片内部 L3/On-chip Cache；打通从推理框架到硬件底座的全场景适配 AI Infra 软件栈，打破 NVIDIA 生态垄断。</a:t>
            </a:r>
          </a:p>
          <a:p>
            <a:pPr>
              <a:spcBef>
                <a:spcPts val="800"/>
              </a:spcBef>
              <a:defRPr sz="1019" b="1">
                <a:solidFill>
                  <a:srgbClr val="1E3A8A"/>
                </a:solidFill>
              </a:defRPr>
            </a:pPr>
            <a:r>
              <a:t>■ 升维为“有身份的执行状态”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将 KVCache 从盲目扩容的底层字节升级为具备 SemanticIdentity（模型/权重/Tokenizer/Prompt/Tenant）、Version、Lease、ConsumeEligibility 的有价执行状态；通过精准匹配与预取前递，最大化提升真实可消费复用率。</a:t>
            </a:r>
          </a:p>
          <a:p>
            <a:pPr>
              <a:spcBef>
                <a:spcPts val="800"/>
              </a:spcBef>
              <a:defRPr sz="1019" b="1">
                <a:solidFill>
                  <a:srgbClr val="1E3A8A"/>
                </a:solidFill>
              </a:defRPr>
            </a:pPr>
            <a:r>
              <a:t>■ 极致性能与全生命周期 TCO 驱动</a:t>
            </a:r>
          </a:p>
          <a:p>
            <a:pPr>
              <a:spcBef>
                <a:spcPts val="200"/>
              </a:spcBef>
              <a:defRPr sz="919">
                <a:solidFill>
                  <a:srgbClr val="0F172A"/>
                </a:solidFill>
              </a:defRPr>
            </a:pPr>
            <a:r>
              <a:t>以极致性能为交付目标，有效提升 TTFT（首 Token 时延降低 ≥20%）、TPOT（Token 间时延抖动控制在 &lt;5%），降低节点 OOM/抢占率 ≥50%，集群全生命周期 TCO 降低 ≥25%，NPU 有效利用率提升 ≥10%。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897880" y="1490472"/>
            <a:ext cx="592805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二、 业务双视角价值矩阵 (Dual-Perspective Value Matrix)</a:t>
            </a:r>
          </a:p>
          <a:p>
            <a:pPr>
              <a:spcBef>
                <a:spcPts val="800"/>
              </a:spcBef>
              <a:defRPr sz="1019" b="1">
                <a:solidFill>
                  <a:srgbClr val="1E3A8A"/>
                </a:solidFill>
              </a:defRPr>
            </a:pPr>
            <a:r>
              <a:t>■ 外部客户业务价值视角 (SLO &amp; 产能产出对账)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  • 交互体验与尾时延：联动请求意图感知（KVAccessIntent）与冷热预取，实现长上下文 RAG 场景下首 Token 时延 TTFT P99 降低 ≥20%。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  • 服务容量与并发数：协同 SSD 经济容量池与多层分级驻留，实现 HBM 有效容量提升 30%+，节点 OOM 与请求抢占率显著降低 50% 以上。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  • 生成质量与稳定性：融合载入与重算动态决策（load-vs-recompute Arbitration），实现逐 Token 生成阶段 TPOT 尾部抖动控制在 5% 以内。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  • 集群 TCO 经济性：统筹端到端状态全局复用与智能调度，实现单位合格业务事务 TCO 降低 ≥25%。</a:t>
            </a:r>
          </a:p>
          <a:p>
            <a:pPr>
              <a:spcBef>
                <a:spcPts val="800"/>
              </a:spcBef>
              <a:defRPr sz="1019" b="1">
                <a:solidFill>
                  <a:srgbClr val="1E3A8A"/>
                </a:solidFill>
              </a:defRPr>
            </a:pPr>
            <a:r>
              <a:t>■ HOST 侧 / 集群 / 硬件视角 (微架构与资源效率对账)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  • CPU 零正文触碰：有机结合 URMA 零拷贝与 UBMEM 预注册内存池，实现 CPU 正文触碰归零 (Zero Host Payload Touch)，CPU 提交开销降低 ≥40%。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  • 总线与网络带宽：深入优化芯片内部 L3 Cache / DDR / HBM 搬运，实现总线与网络有效带宽利用率达到 85%+。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  • 第一方责任与 Day-0：贯彻第一方硬件能力认证与发布窗口 Day-0 适配，实现国产硬件微架构潜力快速兑现为生产业务价值。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[02/10] 业界方案对比与独特定位 —— 突破通用开源边界，对标 NVIDIA AI Infra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原生支持多形态异构介质与意图驱动预取前递，补齐通用开源项目在国产硬件上的第一方责任缺口，在国产硬件体系之上建立与 NVIDIA Dynamo/KVBM 对标的系统工程。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90472"/>
          <a:ext cx="1146017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516575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通用开源方案 (Mooncake / LMCache)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本项目 (统一异构 KVCache 存储池) 优势与手段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介质覆盖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</a:defRPr>
                      </a:pPr>
                      <a:r>
                        <a:t>集中于 HBM+DDR+NVMe SSD 传统三级结构，未纳管芯片内部 L3/On-chip Cache 等芯片级微架构存储。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原生全介质覆盖：原生纳管 HBM、DDR、NVMe SSD 及芯片内部 L3/On-chip Cache，打破板卡内外界限，构建直达与分级多路径图。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决策依据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</a:defRPr>
                      </a:pPr>
                      <a:r>
                        <a:t>基于静态 Cache Hit / Prefix 匹配，缺乏针对加载与重算代价（load-vs-recompute）的动态仲裁。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意图驱动与前递预取：以 KVAccessIntent 为决策要素，综合带宽、队列与 FLOPs 动态权衡加载、远程 View、前递与重算代价，主动拒绝负收益加载，P99 尾时延降低 ≥20%。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硬件深度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334155"/>
                          </a:solidFill>
                        </a:defRPr>
                      </a:pPr>
                      <a:r>
                        <a:t>通用软件适配逻辑，硬件能力易退化为“最小公分母”，缺失对国产 UBMEM/URMA 等硬件原语的第一方深耕。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微架构协同与硬件榨干：深度使能 UBMEM 预注册池与 URMA 零拷贝原语，降低描述符开销 ≥50%，CPU Payload Touch 归零，释放国产芯片极致性能。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4690872"/>
            <a:ext cx="11460175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150" b="1">
                <a:solidFill>
                  <a:srgbClr val="1E3A8A"/>
                </a:solidFill>
              </a:defRPr>
            </a:pPr>
            <a:r>
              <a:t>二、 与 NVIDIA 整套方案 (Dynamo / KVBM / NIXL) 的战略对标与第一方责任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■ 战略目标全方位对齐：在国产硬件体系之上，建立一整套与 NVIDIA Dynamo/KVBM/NIXL 媲美的高性能 AI Infra 软件栈，打通全场景适配与硬件联动。</a:t>
            </a:r>
          </a:p>
          <a:p>
            <a:pPr>
              <a:spcBef>
                <a:spcPts val="400"/>
              </a:spcBef>
              <a:defRPr sz="919">
                <a:solidFill>
                  <a:srgbClr val="0F172A"/>
                </a:solidFill>
              </a:defRPr>
            </a:pPr>
            <a:r>
              <a:t>■ 补齐第一方责任缺口：开源社区与通用软件不会为具体国产芯片承担发布窗口内的 Day-0 商业交付责任；本项目作为第一方系统工程，承载从微架构采样、驱动/固件联合修改到跨代闭环的完整责任链，确保硬件能力第一时间兑现为商业价值。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[03/10] 项目必要性与五维预期收益 —— 构建国产软硬件标杆，兑现商业与生态价值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以极致性能为交付目标构建国产软硬生态标杆，通过微架构深度挖掘与第一方责任闭环，兑现客户产能、软硬协同及生态主导权的高价值收益。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50292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t>一、 项目立项的四大核心必要性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[04/10] 系统架构分层与核心攻关范围 —— 端到端覆盖与主路径规划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构建包含业务场景、框架接入、语义控制、传输数据面及异构硬件底座的五层立体架构，重点攻关 URMA/UBMEM 直达与 CPU 零触碰主路径。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11460175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019" b="1">
                <a:solidFill>
                  <a:srgbClr val="0F172A"/>
                </a:solidFill>
              </a:defRPr>
            </a:pPr>
            <a:r>
              <a:t>1. 业务场景层 (Business Application Layer)</a:t>
            </a:r>
          </a:p>
          <a:p>
            <a:pPr>
              <a:spcBef>
                <a:spcPts val="200"/>
              </a:spcBef>
              <a:defRPr sz="880" b="0">
                <a:solidFill>
                  <a:srgbClr val="0F172A"/>
                </a:solidFill>
              </a:defRPr>
            </a:pPr>
            <a:r>
              <a:t>覆盖场景：长上下文 RAG 检索增强  |  多轮 Agent 会话链  |  Prefill-Decode 阶段分离部署  |  多租户前后台混流调度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432304"/>
            <a:ext cx="1146017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2. 推理框架与复用接入层 (Framework &amp; Connector Layer)</a:t>
            </a:r>
          </a:p>
          <a:p>
            <a:pPr>
              <a:spcBef>
                <a:spcPts val="200"/>
              </a:spcBef>
              <a:defRPr sz="880" b="0">
                <a:solidFill>
                  <a:srgbClr val="0F172A"/>
                </a:solidFill>
              </a:defRPr>
            </a:pPr>
            <a:r>
              <a:t>框架插件：vLLM Connector  |  SGLang Connector  |  统一契约接口 (KVAccessIntent / QueryPlan / AttachHandle / 错误码)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374136"/>
            <a:ext cx="11460175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3. 控制与语义管理平面 (Control &amp; Management Plane) 【核心攻关模块】</a:t>
            </a:r>
          </a:p>
          <a:p>
            <a:pPr>
              <a:spcBef>
                <a:spcPts val="200"/>
              </a:spcBef>
              <a:defRPr sz="880" b="0">
                <a:solidFill>
                  <a:srgbClr val="0F172A"/>
                </a:solidFill>
              </a:defRPr>
            </a:pPr>
            <a:r>
              <a:t>核心控制引擎：SemanticIdentity 身份绑定引擎 | PrefixDirectory 目录 | ConsumeEligibility 资格校验</a:t>
            </a:r>
            <a:br/>
            <a:r>
              <a:t>CapabilityGraph 能力图谱 | QueryPlan 代价编译器 | State Intelligence 智能决策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681728"/>
            <a:ext cx="11460175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4. 传输与数据面 (Transport &amp; Data Fabric Layer) 【核心攻关模块】</a:t>
            </a:r>
          </a:p>
          <a:p>
            <a:pPr>
              <a:spcBef>
                <a:spcPts val="200"/>
              </a:spcBef>
              <a:defRPr sz="880" b="0">
                <a:solidFill>
                  <a:srgbClr val="0F172A"/>
                </a:solidFill>
              </a:defRPr>
            </a:pPr>
            <a:r>
              <a:t>数据搬运原语：URMA 零拷贝传输引擎 | UBMEM 预注册内存池 | SG 离散描述符编译器 | Fence 可见性屏障 / 硬件 CRC 校验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650992"/>
            <a:ext cx="11460175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019" b="1">
                <a:solidFill>
                  <a:srgbClr val="0F172A"/>
                </a:solidFill>
              </a:defRPr>
            </a:pPr>
            <a:r>
              <a:t>5. 异构介质与硬件底座 (Heterogeneous Hardware Fabric Layer)</a:t>
            </a:r>
          </a:p>
          <a:p>
            <a:pPr>
              <a:spcBef>
                <a:spcPts val="200"/>
              </a:spcBef>
              <a:defRPr sz="880" b="1">
                <a:solidFill>
                  <a:srgbClr val="0F172A"/>
                </a:solidFill>
              </a:defRPr>
            </a:pPr>
            <a:r>
              <a:t>容量主路径：[NPU HBM 高带宽存储] &lt;====( URMA / UBMEM 直达通道 / CPU 正文零触碰 )====&gt; [NVMe SSD 大容量池]</a:t>
            </a:r>
            <a:br/>
            <a:r>
              <a:t>辅助介质与总线：芯片内部 L3 Cache | 本地/远端 DDR 节点内存 | Ascend/Kunpeng NPU 互联与 PCIe/NoC 总线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[05/10] 四大关键技术突破与机制实现 —— 从底层机制到量化效果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围绕语义身份、代价编译、零触碰传输与异构池化四大技术方向，以严谨架构陈述句落实技术手段与量化收益对齐。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55778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关键技术方向一：状态语义与消费资格管理</a:t>
            </a:r>
          </a:p>
          <a:p>
            <a:pPr>
              <a:spcBef>
                <a:spcPts val="100"/>
              </a:spcBef>
              <a:defRPr sz="850" b="1">
                <a:solidFill>
                  <a:srgbClr val="0F172A"/>
                </a:solidFill>
              </a:defRPr>
            </a:pPr>
            <a:r>
              <a:t>架构陈述：融合逻辑 Prefix 匹配与语义身份校验，实现物理命中向可消费命中的精准转换，构建无死锁状态防线。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SemanticIdentity 绑定：深度整合模型版本、权重 Hash、Tokenizer、Prompt 模板与 Tenant 租约，错投率归 0。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ConsumeEligibility 校验：协同部署异步 Completion 证据与 Fence 屏障，实现半写/未完成隔离，Ready 开销 &lt;10μs。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Rank 视角一致性共识：严格执行分布式 Rank 间状态 Lease 锁机制，跨节点状态感知一致性达到 99.999%。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90472"/>
            <a:ext cx="5608015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关键技术方向二：基于 QueryPlan 的智能路径编译与降级</a:t>
            </a:r>
          </a:p>
          <a:p>
            <a:pPr>
              <a:spcBef>
                <a:spcPts val="100"/>
              </a:spcBef>
              <a:defRPr sz="850" b="1">
                <a:solidFill>
                  <a:srgbClr val="0F172A"/>
                </a:solidFill>
              </a:defRPr>
            </a:pPr>
            <a:r>
              <a:t>架构陈述：链接加载、远程 View、前递与重算代价模型，实现面向客户 SLO 的最佳路径选择，平抑 P99 尾时延抖动。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QueryPlan 代价编译器：实时对比带宽、队列拥塞与重算 FLOPs 开销，路径决策耗时 &lt;50μs，成本估算误差 &lt;20%。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负收益加载主动拒绝：联合开发影子决策与 Oracle 比较机制，当 Load 慢于重算时 100% 自动降级为 NPU 本地重算。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前递与冷热预取调度：协同部署 Intent 意图感知调度器，长上下文 RAG 场景下预取准确率 ≥85%，命中等待降低 ≥60%。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069080"/>
            <a:ext cx="557784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关键技术方向三：硬件级零触碰传输底座 (URMA/UBMEM)</a:t>
            </a:r>
          </a:p>
          <a:p>
            <a:pPr>
              <a:spcBef>
                <a:spcPts val="100"/>
              </a:spcBef>
              <a:defRPr sz="850" b="1">
                <a:solidFill>
                  <a:srgbClr val="0F172A"/>
                </a:solidFill>
              </a:defRPr>
            </a:pPr>
            <a:r>
              <a:t>架构陈述：整合 URMA 零拷贝与 UBMEM 预注册池，实现数据与元数据解耦，构建 CPU 零触碰数据底座。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SG 批量描述符聚合：深度整合 Scatter-Gather 描述符编译技术，描述符提交开销降低 50%+，有效带宽利用率 ≥80%。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Direct View / Copy 隔离：开放内存直享契约，元数据 Direct View 读写与正文 URMA 直达，CPU Payload Touch 归零。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硬件级 CRC 与错误恢复：协同实施网卡/总线硬件校验与无缝 Fallback 机制，保障线速无静默损坏，故障切换 &lt;200ms。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069080"/>
            <a:ext cx="5608015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关键技术方向四：多层异构介质池化与容量经济性</a:t>
            </a:r>
          </a:p>
          <a:p>
            <a:pPr>
              <a:spcBef>
                <a:spcPts val="100"/>
              </a:spcBef>
              <a:defRPr sz="850" b="1">
                <a:solidFill>
                  <a:srgbClr val="0F172A"/>
                </a:solidFill>
              </a:defRPr>
            </a:pPr>
            <a:r>
              <a:t>架构陈述：统筹 HBM、L3、DDR 与 NVMe SSD 异构介质，实现热点状态高效换入与冷数据经济换出，构建高并发容量平衡机制。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SSD 动态容量准入与 LRU-K：确立价值感知准入门槛，无效/低复用 KV 数据零入盘，SSD 写放大降低 ≥30%。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L3 / DDR 辅助级缓存：联合开发芯片级内部 Cache 借用机制，微秒级热点 KV 快抢，HBM 有效扩展 30% 以上。</a:t>
            </a:r>
          </a:p>
          <a:p>
            <a:pPr>
              <a:spcBef>
                <a:spcPts val="200"/>
              </a:spcBef>
              <a:defRPr sz="819">
                <a:solidFill>
                  <a:srgbClr val="334155"/>
                </a:solidFill>
              </a:defRPr>
            </a:pPr>
            <a:r>
              <a:t>• 容量-性能经济性模型：构建基于 TCO 的容量分配算法，相同硬件预算下集群并发吞吐提升 ≥25%，OOM 降低 ≥50%。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[06/10] 分阶段立项逻辑与 PVT 验证体系 —— 风险买断与可证伪退场机制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申请 4~5 周有限预研验证权，通过 8 大 PVT 原型门禁按 Go/Conditional/No-Go 逐级释放 P0~P3 研发资源，实现风险可知可控。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11460175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1E3A8A"/>
                </a:solidFill>
              </a:defRPr>
            </a:pPr>
            <a:r>
              <a:t>立项决策机制：用有限投入购买关键事实</a:t>
            </a:r>
          </a:p>
          <a:p>
            <a:pPr>
              <a:defRPr sz="919">
                <a:solidFill>
                  <a:srgbClr val="0F172A"/>
                </a:solidFill>
              </a:defRPr>
            </a:pPr>
            <a:r>
              <a:t>打破“未立项 ➔ 无代码设备 ➔ 无法证明优势 ➔ 拒绝立项”的传统死循环。破解方案：批准有限验证权 (4~5周) ➔ 跑通 PVT-00~07 切片 ➔ 获取客观门禁凭证 ➔ 逐级释放资源。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221992"/>
          <a:ext cx="11460175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1828800"/>
                <a:gridCol w="3962095"/>
                <a:gridCol w="2560320"/>
              </a:tblGrid>
              <a:tr h="479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PVT 编号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核心验证假设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对应技术机制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必须回答的关键问题与门禁标准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No-Go 退场/收缩动作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业务负载存在 saved-prefill 价值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意图与负载画像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Saved-prefill 节省时间 &gt; 控制+传输+Attach 开销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若无复用价值，收缩为白名单场景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UBMEM/URMA 能形成真实通路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URMA / UBMEM 驱动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热路径与 SSD 路径完成闭环，CPU Payload Touch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禁用硬件直达，退回通用 RDMA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逻辑布局可编译为硬件执行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SG 描述符编译器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批量描述符生成开销 &lt; 50μs，链表无中转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简化布局编译，退回单块传输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Direct View 存在安全收益区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内存直享契约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元数据 View 延迟 &lt; 10μs，无跨节点写冲突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禁用 View，强制 Copy-to-HBM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状态理解能够显著优化决策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QueryPlan 代价模型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路径决策准确率 ≥90%，自动拒绝负收益 Load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降级为静态 LRU 规则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SSD 容量能转化为服务并发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异构介质分级池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在 SSD 扩展下，集群并发提升 ≥25% 且无 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取消 SSD 池化，仅保留内存级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物理命中转化为可消费命中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SemanticIdentity/Ready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错误/陈旧状态消费数 = 0，Rank 共识闭环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增加防爆锁，暂停异步消费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79552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1E3A8A"/>
                          </a:solidFill>
                        </a:defRPr>
                      </a:pPr>
                      <a:r>
                        <a:t>PVT-07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局部收益转化为在线净收益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前后台混流总门禁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0F172A"/>
                          </a:solidFill>
                        </a:defRPr>
                      </a:pPr>
                      <a:r>
                        <a:t>混流下 TTFT P99 降低 ≥20%，TPOT 无恶化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F172A"/>
                          </a:solidFill>
                        </a:defRPr>
                      </a:pPr>
                      <a:r>
                        <a:t>触发项目级 No-Go 或缩项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[07/10] 强因果逻辑链与可审计对账机制 —— 从底层动作到客户业务价值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贯穿状态语义到客户 TCO 的 8 级因果跳转漏斗，通过 ActualPathReceipt 审计凭证杜绝虚假宣传，确保系统净收益可被严格对账。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54864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一、 8 级因果跳转漏斗 (Causal Value Funnel)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1. 状态语义理解 ──► 精准识别 Tenant / Version / Layout / Safety Domain 属性，排除非法候选。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2. 消费资格确认 ──► Ready/Fence 校验通过，半写/未完成状态自动隔离，错误消费归零。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3. QueryPlan 决策 ──► 动态估算带宽、队列与 FLOPs，对比 Load/View/Recompute 成本选最优解。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4. 实际硬件路径 ──► 生成 ActualPathReceipt 随路回执，CPU 零 Touch 确认，排查隐藏中转。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5. 物理资源优化 ──► NPU Stall 减少，总线与网络有效带宽利用率 &gt; 85%，描述符开销 -50%。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6. 服务 SLO 改善 ──► TTFT P99 降低 ≥20%，TPOT 尾部抖动 &lt; 5%，QPS 提升 ≥10%。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7. 客户业务产出 ──► 相同硬件预算下合格业务事务数提升 25%，单位推理 TCO 降低 ≥25%。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► 8. 复合竞争壁垒 ──► 启动数据/认证/硬件联合设计飞轮，优势跨客户与芯片代际延续。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90472"/>
            <a:ext cx="579089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50" b="1">
                <a:solidFill>
                  <a:srgbClr val="1E3A8A"/>
                </a:solidFill>
              </a:defRPr>
            </a:pPr>
            <a:r>
              <a:t>二、 ActualPathReceipt (实际路径回执) 对账机制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■ 解决行业虚标痛点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规避传统方案中“宣传走 RDMA 直达，实际在 Host DDR 发生隐藏二次拷贝”的虚标现象。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■ 随路带回审计凭证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每一笔 KV 传输必须带回 ActualPathReceipt 随路凭证，包含：Planned Path vs Actual Path、CPU 触碰字节数（Host Touch Bytes，硬性要求为 0）、是否发生 Fallback 及其归因代码。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■ 公平基线 A/B 承诺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所有对比必须在相同模型质量、相同 Tokenizer、相同并发及相同硬件配置下，与最佳开源组合（Mooncake/LMCache+目标硬件 Provider）进行公平 A/B 测试。</a:t>
            </a:r>
          </a:p>
          <a:p>
            <a:pPr>
              <a:spcBef>
                <a:spcPts val="800"/>
              </a:spcBef>
              <a:defRPr sz="1000" b="1">
                <a:solidFill>
                  <a:srgbClr val="0F172A"/>
                </a:solidFill>
              </a:defRPr>
            </a:pPr>
            <a:r>
              <a:t>■ 因果证明分离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t>回执证明实际执行动作；因果证明通过 Shadow Plan、Oracle Replay 及物理消融实验共同核验。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[08/10] 潜在竞争壁垒形成路径与飞轮效应 —— 复合资产与优势半衰期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单项功能易被复制，通过“信息-行动-学习”闭环构建复合资产飞轮，将领先时间差转化为跨客户与芯片代际的持久壁垒。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50292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50" b="1">
                <a:solidFill>
                  <a:srgbClr val="1E3A8A"/>
                </a:solidFill>
              </a:defRPr>
            </a:pPr>
            <a:r>
              <a:t>一、 “信息 - 行动 - 学习” 竞争飞轮</a:t>
            </a:r>
          </a:p>
          <a:p>
            <a:pPr>
              <a:spcBef>
                <a:spcPts val="800"/>
              </a:spcBef>
              <a:defRPr sz="919" b="1">
                <a:solidFill>
                  <a:srgbClr val="0F172A"/>
                </a:solidFill>
              </a:defRPr>
            </a:pPr>
            <a:r>
              <a:t>Step 1: 更早获得国产芯片微架构与客户生产 Trace 信息，透传 Core/NoC/IODie 底层约束。</a:t>
            </a:r>
          </a:p>
          <a:p>
            <a:pPr>
              <a:spcBef>
                <a:spcPts val="800"/>
              </a:spcBef>
              <a:defRPr sz="919" b="0">
                <a:solidFill>
                  <a:srgbClr val="0F172A"/>
                </a:solidFill>
              </a:defRPr>
            </a:pPr>
            <a:r>
              <a:t>Step 2: 做出开源方案无法实现的精细 QueryPlan 与零触碰决策，精准选择最优数据路径。</a:t>
            </a:r>
          </a:p>
          <a:p>
            <a:pPr>
              <a:spcBef>
                <a:spcPts val="800"/>
              </a:spcBef>
              <a:defRPr sz="919" b="1">
                <a:solidFill>
                  <a:srgbClr val="0F172A"/>
                </a:solidFill>
              </a:defRPr>
            </a:pPr>
            <a:r>
              <a:t>Step 3: 在客户现场形成可验证的 TTFT / TCO 系统净收益，建立首发交付优势。</a:t>
            </a:r>
          </a:p>
          <a:p>
            <a:pPr>
              <a:spcBef>
                <a:spcPts val="800"/>
              </a:spcBef>
              <a:defRPr sz="919" b="0">
                <a:solidFill>
                  <a:srgbClr val="0F172A"/>
                </a:solidFill>
              </a:defRPr>
            </a:pPr>
            <a:r>
              <a:t>Step 4: 获取更多真实生产数据，沉淀决策反例库、影子后悔率模型与硬件 Profile。</a:t>
            </a:r>
          </a:p>
          <a:p>
            <a:pPr>
              <a:spcBef>
                <a:spcPts val="800"/>
              </a:spcBef>
              <a:defRPr sz="919" b="1">
                <a:solidFill>
                  <a:srgbClr val="0F172A"/>
                </a:solidFill>
              </a:defRPr>
            </a:pPr>
            <a:r>
              <a:t>Step 5: 反向定义下一代国产芯片微架构与 UBMEM/URMA 演进，推动底层硬件迭代。</a:t>
            </a:r>
          </a:p>
          <a:p>
            <a:pPr>
              <a:spcBef>
                <a:spcPts val="800"/>
              </a:spcBef>
              <a:defRPr sz="919" b="0">
                <a:solidFill>
                  <a:srgbClr val="0F172A"/>
                </a:solidFill>
              </a:defRPr>
            </a:pPr>
            <a:r>
              <a:t>Step 6: (循环迭代：下一代 Day-0 交付能力进一步拉开差距)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490472"/>
            <a:ext cx="615665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50" b="1">
                <a:solidFill>
                  <a:srgbClr val="0F172A"/>
                </a:solidFill>
              </a:defRPr>
            </a:pPr>
            <a:r>
              <a:t>二、 七大不可替代的复合壁垒资产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■ 1. 目标硬件性能包络库 —— 积累跨微架构、NoC 争用及功耗约束下的真实性能边界与包络。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■ 2. 状态语义与认证体系 —— 沉淀统一 KV ABI，覆盖 100+ 场景的 Golden &amp; Fault Case 认证套件。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■ 3. 生产决策知识资产 —— 基于真实 Trace 沉淀影子决策与 Decision Regret 校准模型。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■ 4. 软硬件联合设计闭环 —— 具备“生产瓶颈 ➔ 驱动/芯片需求 ➔ 联合修改 ➔ 现网验证”通道。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■ 5. Day-0 产品化交付流程 —— 芯片发布窗口内默认集成第一方 Provider 的快速交付机制。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■ 6. 跨层故障定位团队 —— 兼具推理框架、存储底座、驱动及芯片微架构协同定位与调优经验。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■ 7. 共同责任与信任模型 —— 建立明确的版本兼容矩阵、故障归因与 SLO 兜底责任机制。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[09/10] 实施节奏、里程碑与按权释放计划 —— 5 阶段可控迭代路径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制定 5 阶段演进路线，严格绑定 PVT/BVT 门禁，按 Go / Conditional / No-Go 审核逐级释放研发资源。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90472"/>
            <a:ext cx="11460175" cy="6583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19" b="1">
                <a:solidFill>
                  <a:srgbClr val="1E3A8A"/>
                </a:solidFill>
              </a:defRPr>
            </a:pPr>
            <a:r>
              <a:t>【Phase 0: 立项预研】 ──► 【Phase 1: 最小闭环】 ──► 【Phase 2: 真实主流程】 ──► 【Phase 3: 生产化调优】 ──► 【Phase 4: 交付与生态】</a:t>
            </a:r>
          </a:p>
          <a:p>
            <a:pPr algn="ctr">
              <a:defRPr sz="880">
                <a:solidFill>
                  <a:srgbClr val="334155"/>
                </a:solidFill>
              </a:defRPr>
            </a:pPr>
            <a:r>
              <a:t>(4~5周 PVT 验证)             (旁路/Shadow 验证)           (vLLM/SGLang 卸载)            (长上下文/多租户)            (标准/Provider 赋能)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221992"/>
          <a:ext cx="11460175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4389120"/>
                <a:gridCol w="3687775"/>
              </a:tblGrid>
              <a:tr h="719328"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</a:defRPr>
                      </a:pPr>
                      <a:r>
                        <a:t>演进阶段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</a:defRPr>
                      </a:pPr>
                      <a:r>
                        <a:t>时间周期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</a:defRPr>
                      </a:pPr>
                      <a:r>
                        <a:t>核心交付目标与里程碑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</a:defRPr>
                      </a:pPr>
                      <a:r>
                        <a:t>资源释放门禁 (Go Criteria)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E3A8A"/>
                          </a:solidFill>
                        </a:defRPr>
                      </a:pPr>
                      <a:r>
                        <a:t>Phase 0: 立项预研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第 1 ~ 5 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完成 8 大 PVT 原型测试，输出原始证据包与性能包络基线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PVT-00~07 全数通过，评委签署 Go 结论，释放 P0 资源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E3A8A"/>
                          </a:solidFill>
                        </a:defRPr>
                      </a:pPr>
                      <a:r>
                        <a:t>Phase 1: 最小闭环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第 6 ~ 12 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完成 Intent、SemanticIdentity、QueryPlan 骨架及 Shadow 旁路验证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旁路决策准确率 ≥90%，释放 P1 真实流量测试资源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E3A8A"/>
                          </a:solidFill>
                        </a:defRPr>
                      </a:pPr>
                      <a:r>
                        <a:t>Phase 2: 真实主流程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第 13 ~ 24 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完成 vLLM/SGLang 插件集成，URMA/UBMEM 热路径与 SSD 路径闭环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真实流量下 TTFT P99 降低 15%+，释放 P2 生产化资源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E3A8A"/>
                          </a:solidFill>
                        </a:defRPr>
                      </a:pPr>
                      <a:r>
                        <a:t>Phase 3: 生产化调优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第 25 ~ 36 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完成长上下文 RAG、多租户 QoS 调优，建设崩溃 Fallback 与故障注入包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客户联创 BVT 通过，单位 TCO 降低 ≥25%，释放 P3 商业化资源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1E3A8A"/>
                          </a:solidFill>
                        </a:defRPr>
                      </a:pPr>
                      <a:r>
                        <a:t>Phase 4: 交付与生态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第 37 ~ 48 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>
                          <a:solidFill>
                            <a:srgbClr val="0F172A"/>
                          </a:solidFill>
                        </a:defRPr>
                      </a:pPr>
                      <a:r>
                        <a:t>输出定版产品，发布统一 KV 状态 ABI 标准与开源 Connector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19" b="1">
                          <a:solidFill>
                            <a:srgbClr val="0F172A"/>
                          </a:solidFill>
                        </a:defRPr>
                      </a:pPr>
                      <a:r>
                        <a:t>形成 2+ 标杆客户上线，发布第一方认证兼容矩阵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28600"/>
            <a:ext cx="11460175" cy="73152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91440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[10/10] 风险评估与 No-Go 退场预案 —— 风险可知可控与资产保留</a:t>
            </a:r>
          </a:p>
          <a:p>
            <a:pPr>
              <a:defRPr sz="950">
                <a:solidFill>
                  <a:srgbClr val="CBD5E1"/>
                </a:solidFill>
                <a:latin typeface="Microsoft YaHei"/>
              </a:defRPr>
            </a:pPr>
            <a:r>
              <a:t>正式立项申请与投资论证汇报 | 统一异构 KVCache 存储池 V3.2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60175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defRPr sz="980" b="1">
                <a:solidFill>
                  <a:srgbClr val="1E3A8A"/>
                </a:solidFill>
                <a:latin typeface="Microsoft YaHei"/>
              </a:defRPr>
            </a:pPr>
            <a:r>
              <a:t>立项论证要点： 全面识别 10 大潜在研发与业务风险，确立硬性 No-Go 止损触发条件，确保失败时可安全收缩并沉淀高质量资产。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90472"/>
          <a:ext cx="62179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</a:tblGrid>
              <a:tr h="46135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风险类别与描述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控制与缓解措施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开源快速追平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聚焦第一方 Day-0 交付、微架构协同与硬件联合设计闭环。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真实复用不足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PVT-00 先测上限，若 Saved-prefill &lt; 10% 自动收缩为特定白名单场景。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数据获取困难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采用“公开数据集+脱敏 Trace+合成轨迹”起步，仅采集元数据与统计指标。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硬件合作滞后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立项时冻结跨团队 RACI，设立专用接口人与周度问题升级通道。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决策开销抵消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采用 Lightweight C++ 引擎，控制路径决策耗时 &lt; 50μs。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TPOT 尾部抖动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贯彻 Ready 屏障与并发抢占隔离，限制单次 IO 粒度。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内存静默损坏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强制开启网卡与总线硬件 CRC 校验，随路带回 Checksum 校验和。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生态标准孤立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提供面向 vLLM / SGLang / Mooncake 的开源适配 Connector。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团队经验瓶颈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建设工具化 Trace Harness 与自动化 Fault-Injection 故障注入回归套件。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范围蔓延风险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严格限定范围：只处理与 KVCache 推理状态相关的关键数据。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766560" y="1490472"/>
            <a:ext cx="505937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二、 No-Go 止损触发与 5 大安全收缩资产保留方案</a:t>
            </a:r>
          </a:p>
          <a:p>
            <a:pPr>
              <a:spcBef>
                <a:spcPts val="600"/>
              </a:spcBef>
              <a:defRPr sz="980" b="1">
                <a:solidFill>
                  <a:srgbClr val="0F172A"/>
                </a:solidFill>
              </a:defRPr>
            </a:pPr>
            <a:r>
              <a:t>■ 止损触发机制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</a:defRPr>
            </a:pPr>
            <a:r>
              <a:t>若 PVT-07 混流测试未能降低 TTFT P99，或无法获得硬件联合修改权，触发 No-Go 止损。</a:t>
            </a:r>
          </a:p>
          <a:p>
            <a:pPr>
              <a:spcBef>
                <a:spcPts val="600"/>
              </a:spcBef>
              <a:defRPr sz="980" b="1">
                <a:solidFill>
                  <a:srgbClr val="0F172A"/>
                </a:solidFill>
              </a:defRPr>
            </a:pPr>
            <a:r>
              <a:t>■ 资产保留 1：UBMEM/URMA 驱动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</a:defRPr>
            </a:pPr>
            <a:r>
              <a:t>转为开源 Mooncake 的高性能 Provider 插件。</a:t>
            </a:r>
          </a:p>
          <a:p>
            <a:pPr>
              <a:spcBef>
                <a:spcPts val="600"/>
              </a:spcBef>
              <a:defRPr sz="980" b="1">
                <a:solidFill>
                  <a:srgbClr val="0F172A"/>
                </a:solidFill>
              </a:defRPr>
            </a:pPr>
            <a:r>
              <a:t>■ 资产保留 2：描述符编译器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</a:defRPr>
            </a:pPr>
            <a:r>
              <a:t>转为底层硬件通用 Scatter-Gather 描述符编译库。</a:t>
            </a:r>
          </a:p>
          <a:p>
            <a:pPr>
              <a:spcBef>
                <a:spcPts val="600"/>
              </a:spcBef>
              <a:defRPr sz="980" b="1">
                <a:solidFill>
                  <a:srgbClr val="0F172A"/>
                </a:solidFill>
              </a:defRPr>
            </a:pPr>
            <a:r>
              <a:t>■ 资产保留 3：测试套件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</a:defRPr>
            </a:pPr>
            <a:r>
              <a:t>转为国产芯片 KVCache 标准化 Conformance 测试包。</a:t>
            </a:r>
          </a:p>
          <a:p>
            <a:pPr>
              <a:spcBef>
                <a:spcPts val="600"/>
              </a:spcBef>
              <a:defRPr sz="980" b="1">
                <a:solidFill>
                  <a:srgbClr val="0F172A"/>
                </a:solidFill>
              </a:defRPr>
            </a:pPr>
            <a:r>
              <a:t>■ 资产保留 4：决策日志与轨迹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</a:defRPr>
            </a:pPr>
            <a:r>
              <a:t>转为推理工作负载性能分析与画像工具。</a:t>
            </a:r>
          </a:p>
          <a:p>
            <a:pPr>
              <a:spcBef>
                <a:spcPts val="600"/>
              </a:spcBef>
              <a:defRPr sz="980" b="1">
                <a:solidFill>
                  <a:srgbClr val="0F172A"/>
                </a:solidFill>
              </a:defRPr>
            </a:pPr>
            <a:r>
              <a:t>■ 资产保留 5：硬件需求分析</a:t>
            </a:r>
          </a:p>
          <a:p>
            <a:pPr>
              <a:spcBef>
                <a:spcPts val="200"/>
              </a:spcBef>
              <a:defRPr sz="880">
                <a:solidFill>
                  <a:srgbClr val="0F172A"/>
                </a:solidFill>
              </a:defRPr>
            </a:pPr>
            <a:r>
              <a:t>输出为下一代国产芯片微架构修改建议书。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