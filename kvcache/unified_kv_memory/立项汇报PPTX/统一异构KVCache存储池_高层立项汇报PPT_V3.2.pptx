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6a957667c34e31" /><Relationship Type="http://schemas.openxmlformats.org/officeDocument/2006/relationships/extended-properties" Target="/docProps/app.xml" Id="Rb120b9cbc8ef4bdb" /><Relationship Type="http://schemas.openxmlformats.org/officeDocument/2006/relationships/officeDocument" Target="/ppt/presentation.xml" Id="Rd9f07207969c4f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bc991b5af4853"/>
  </p:sldMasterIdLst>
  <p:notesMasterIdLst>
    <p:notesMasterId xmlns:r="http://schemas.openxmlformats.org/officeDocument/2006/relationships" r:id="R7b1e22b543034347"/>
  </p:notesMasterIdLst>
  <p:sldIdLst>
    <p:sldId xmlns:r="http://schemas.openxmlformats.org/officeDocument/2006/relationships" id="256" r:id="Rb7459816c743442a"/>
    <p:sldId xmlns:r="http://schemas.openxmlformats.org/officeDocument/2006/relationships" id="257" r:id="R2efa37a86744405e"/>
    <p:sldId xmlns:r="http://schemas.openxmlformats.org/officeDocument/2006/relationships" id="258" r:id="Rbf57209542d543b8"/>
    <p:sldId xmlns:r="http://schemas.openxmlformats.org/officeDocument/2006/relationships" id="259" r:id="R43b578a4b1d14571"/>
    <p:sldId xmlns:r="http://schemas.openxmlformats.org/officeDocument/2006/relationships" id="260" r:id="R771b577d6a644c6e"/>
    <p:sldId xmlns:r="http://schemas.openxmlformats.org/officeDocument/2006/relationships" id="261" r:id="R1e6ea2ef03094039"/>
    <p:sldId xmlns:r="http://schemas.openxmlformats.org/officeDocument/2006/relationships" id="262" r:id="R73c0800b8fd8459a"/>
    <p:sldId xmlns:r="http://schemas.openxmlformats.org/officeDocument/2006/relationships" id="263" r:id="R553c386401ff4622"/>
    <p:sldId xmlns:r="http://schemas.openxmlformats.org/officeDocument/2006/relationships" id="264" r:id="R39e34d95fccf4f6e"/>
    <p:sldId xmlns:r="http://schemas.openxmlformats.org/officeDocument/2006/relationships" id="265" r:id="R49d40434f01842f4"/>
    <p:sldId xmlns:r="http://schemas.openxmlformats.org/officeDocument/2006/relationships" id="266" r:id="R353065166c7d48de"/>
    <p:sldId xmlns:r="http://schemas.openxmlformats.org/officeDocument/2006/relationships" id="267" r:id="R391fc232601b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9ba62eddf44a63" /><Relationship Type="http://schemas.openxmlformats.org/officeDocument/2006/relationships/slideMaster" Target="/ppt/slideMasters/slideMaster1.xml" Id="Rd7abc991b5af4853" /><Relationship Type="http://schemas.openxmlformats.org/officeDocument/2006/relationships/notesMaster" Target="/ppt/notesMasters/notesMaster1.xml" Id="R7b1e22b543034347" /><Relationship Type="http://schemas.openxmlformats.org/officeDocument/2006/relationships/presProps" Target="/ppt/presProps.xml" Id="R64a4447e43b24baa" /><Relationship Type="http://schemas.openxmlformats.org/officeDocument/2006/relationships/tableStyles" Target="/ppt/tableStyles.xml" Id="Red00e30da8754188" /><Relationship Type="http://schemas.openxmlformats.org/officeDocument/2006/relationships/slide" Target="/ppt/slides/slide1.xml" Id="Rb7459816c743442a" /><Relationship Type="http://schemas.openxmlformats.org/officeDocument/2006/relationships/slide" Target="/ppt/slides/slide2.xml" Id="R2efa37a86744405e" /><Relationship Type="http://schemas.openxmlformats.org/officeDocument/2006/relationships/slide" Target="/ppt/slides/slide3.xml" Id="Rbf57209542d543b8" /><Relationship Type="http://schemas.openxmlformats.org/officeDocument/2006/relationships/slide" Target="/ppt/slides/slide4.xml" Id="R43b578a4b1d14571" /><Relationship Type="http://schemas.openxmlformats.org/officeDocument/2006/relationships/slide" Target="/ppt/slides/slide5.xml" Id="R771b577d6a644c6e" /><Relationship Type="http://schemas.openxmlformats.org/officeDocument/2006/relationships/slide" Target="/ppt/slides/slide6.xml" Id="R1e6ea2ef03094039" /><Relationship Type="http://schemas.openxmlformats.org/officeDocument/2006/relationships/slide" Target="/ppt/slides/slide7.xml" Id="R73c0800b8fd8459a" /><Relationship Type="http://schemas.openxmlformats.org/officeDocument/2006/relationships/slide" Target="/ppt/slides/slide8.xml" Id="R553c386401ff4622" /><Relationship Type="http://schemas.openxmlformats.org/officeDocument/2006/relationships/slide" Target="/ppt/slides/slide9.xml" Id="R39e34d95fccf4f6e" /><Relationship Type="http://schemas.openxmlformats.org/officeDocument/2006/relationships/slide" Target="/ppt/slides/slide10.xml" Id="R49d40434f01842f4" /><Relationship Type="http://schemas.openxmlformats.org/officeDocument/2006/relationships/slide" Target="/ppt/slides/slide11.xml" Id="R353065166c7d48de" /><Relationship Type="http://schemas.openxmlformats.org/officeDocument/2006/relationships/slide" Target="/ppt/slides/slide12.xml" Id="R391fc232601b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0ff4766316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8530606007490b" /><Relationship Type="http://schemas.openxmlformats.org/officeDocument/2006/relationships/notesMaster" Target="/ppt/notesMasters/notesMaster1.xml" Id="R383f55ba84ab4d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fdf582d0894c18" /><Relationship Type="http://schemas.openxmlformats.org/officeDocument/2006/relationships/notesMaster" Target="/ppt/notesMasters/notesMaster1.xml" Id="Rebd56ff7514d4d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9564fbcb5b4500" /><Relationship Type="http://schemas.openxmlformats.org/officeDocument/2006/relationships/notesMaster" Target="/ppt/notesMasters/notesMaster1.xml" Id="Rdda99bab180f4f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d6cb071ca645d7" /><Relationship Type="http://schemas.openxmlformats.org/officeDocument/2006/relationships/notesMaster" Target="/ppt/notesMasters/notesMaster1.xml" Id="Rbef23a7083ad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c30e12662d4384" /><Relationship Type="http://schemas.openxmlformats.org/officeDocument/2006/relationships/notesMaster" Target="/ppt/notesMasters/notesMaster1.xml" Id="R2828d8575c164e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39e8a4cb5d4f87" /><Relationship Type="http://schemas.openxmlformats.org/officeDocument/2006/relationships/notesMaster" Target="/ppt/notesMasters/notesMaster1.xml" Id="Rab21a93b749440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0bcd6fc3a64dd1" /><Relationship Type="http://schemas.openxmlformats.org/officeDocument/2006/relationships/notesMaster" Target="/ppt/notesMasters/notesMaster1.xml" Id="R421fb56a9bb548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bafcd942e48b4" /><Relationship Type="http://schemas.openxmlformats.org/officeDocument/2006/relationships/notesMaster" Target="/ppt/notesMasters/notesMaster1.xml" Id="Rb79f4b5ef7974a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6ad95676574852" /><Relationship Type="http://schemas.openxmlformats.org/officeDocument/2006/relationships/notesMaster" Target="/ppt/notesMasters/notesMaster1.xml" Id="R939d3a5d08dd42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901fa8707f46c8" /><Relationship Type="http://schemas.openxmlformats.org/officeDocument/2006/relationships/notesMaster" Target="/ppt/notesMasters/notesMaster1.xml" Id="R99cc4daa395941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16a3463d6845be" /><Relationship Type="http://schemas.openxmlformats.org/officeDocument/2006/relationships/notesMaster" Target="/ppt/notesMasters/notesMaster1.xml" Id="R01060cd6560c48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164305eea04adb" /><Relationship Type="http://schemas.openxmlformats.org/officeDocument/2006/relationships/notesMaster" Target="/ppt/notesMasters/notesMaster1.xml" Id="Rfa8a6d6e1ee34f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开场先锁定决策问题：当前不是产品验收，而是批准有限验证、逐级放行资源的投资判断。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竞争力总结/统一异构KVCache存储池_在线推理软件栈框架图与关键竞争力_核心技术重构版_四项竞争力版.pptx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强调“立项充分性 E0”与“未来证据门 E1–E5”的区别。立项可以批准有限投入，不需要假装已有客户生产结果。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tmp/competition_v3_2_initiation_case_notes.md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本页要主动承认 Mooncake、LMCache、Dynamo 的能力，避免把竞品描述成稻草人。差异化口径是职责中心与第一方闭环，而不是“功能数量更多”。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tmp/competition_v3_source_notes.md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本页是全 deck 的价值主线。强调 StateValueEstimate 等内部变量不是客户价值，客户真正购买的是 SLO 合格业务产出与单位成本。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tmp/competition_v3_customer_value_notes.md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说明项目的工程边界与硬件协同重点。可直接使用参考 PPT 的分层语言，但需要强调“路径是图，不是固定三级层级”，以及 CPU/DDR 的条件边界。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竞争力总结/统一异构KVCache存储池_在线推理软件栈框架图与关键竞争力_核心技术重构版_四项竞争力版.pptx</a:t>
            </a:r>
          </a:p>
          <a:p xmlns:a="http://schemas.openxmlformats.org/drawingml/2006/main">
            <a:r>
              <a:t>- 项目SR需求关系关联架构图.pptx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本页将“竞争力”翻译成四组工程机制和交付对象。注意 T1–T4 的数字不是现有成果，而是技术方向与证据包的结构。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用数字证明项目的工程底座已经被结构化，但必须明确这些是基线数量，不是交付完成度。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统一异构KVCache存储池_全量需求树_V2.3.1_专属术语中文释义修订版_Excel兼容性修复版.xlsx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这一页是“验证权”最重要的证据。强调 PVT 不是并行开工的 8 个独立项目，而是共享 harness、workload、trace 与退场规则的验证包。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说明阶段交付与资源门禁。P0–P3 使用导读中的 30%/50%/80%/100% 口径，但明确这不是机械需求完成比例。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把“收益证明”拆成两件事：ActualPathReceipt 记录实际发生的路径，A/B 和消融实验才构成因果证明。特别强调开源基线必须包含目标硬件 Provider 与同等调优。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说明预期壁垒的形成与失效条件，避免把“拥有信息”直接包装成壁垒。真正的壁垒来自信息、控制、责任和迭代权共同形成的闭环。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tmp/competition_v3_2_initiation_case_notes.md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收束回决策：批准 Phase 0，而不是无条件批准完整产品。将 Go、Conditional、No-Go 写成资源与资产的不同去向。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eb7ebf980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8808149184263" /><Relationship Type="http://schemas.openxmlformats.org/officeDocument/2006/relationships/slideLayout" Target="/ppt/slideLayouts/slideLayout1.xml" Id="R7d1d3cf24f8c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d3cf24f8c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9361b1d774e5e" /><Relationship Type="http://schemas.openxmlformats.org/officeDocument/2006/relationships/notesSlide" Target="/ppt/notesSlides/notesSlide1.xml" Id="R17cb0e052b41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c936f53f646c4" /><Relationship Type="http://schemas.openxmlformats.org/officeDocument/2006/relationships/notesSlide" Target="/ppt/notesSlides/notesSlide2.xml" Id="Rc51c8fee98d042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a601e6f4b4328" /><Relationship Type="http://schemas.openxmlformats.org/officeDocument/2006/relationships/notesSlide" Target="/ppt/notesSlides/notesSlide3.xml" Id="Rba0a5f9ef5514b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e8aebd82b4207" /><Relationship Type="http://schemas.openxmlformats.org/officeDocument/2006/relationships/notesSlide" Target="/ppt/notesSlides/notesSlide4.xml" Id="Rcc932ad851d5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f131c548f4a8f" /><Relationship Type="http://schemas.openxmlformats.org/officeDocument/2006/relationships/notesSlide" Target="/ppt/notesSlides/notesSlide5.xml" Id="R7ab126996c3a49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225e98dc54707" /><Relationship Type="http://schemas.openxmlformats.org/officeDocument/2006/relationships/notesSlide" Target="/ppt/notesSlides/notesSlide6.xml" Id="Rf1f092ce603a4b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2a63d49a847d1" /><Relationship Type="http://schemas.openxmlformats.org/officeDocument/2006/relationships/notesSlide" Target="/ppt/notesSlides/notesSlide7.xml" Id="Rc0ac5c0947be4e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b0f9b8cec44a8" /><Relationship Type="http://schemas.openxmlformats.org/officeDocument/2006/relationships/notesSlide" Target="/ppt/notesSlides/notesSlide8.xml" Id="R30c6de45cb204e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289a170fc4a70" /><Relationship Type="http://schemas.openxmlformats.org/officeDocument/2006/relationships/notesSlide" Target="/ppt/notesSlides/notesSlide9.xml" Id="R8a1eaa811dfb44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3eedff8cd4a5c" /><Relationship Type="http://schemas.openxmlformats.org/officeDocument/2006/relationships/notesSlide" Target="/ppt/notesSlides/notesSlide10.xml" Id="R07c57633ccbc4c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95dcb36334f49" /><Relationship Type="http://schemas.openxmlformats.org/officeDocument/2006/relationships/notesSlide" Target="/ppt/notesSlides/notesSlide11.xml" Id="R2fcadd54f4c84a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d0294a1f84894" /><Relationship Type="http://schemas.openxmlformats.org/officeDocument/2006/relationships/notesSlide" Target="/ppt/notesSlides/notesSlide12.xml" Id="R8f223c8a7e9e40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06638-07AD-42EE-81D1-EA33B4A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125D92FC-E1F0-4C5B-8F66-7DAA9E27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2D9699B-40C4-45A5-8624-61BF0D60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国产 AI Infra 推理状态基础设施｜立项论证与交付路径</a:t>
            </a:r>
          </a:p>
        </p:txBody>
      </p:sp>
      <p:sp>
        <p:nvSpPr>
          <p:cNvPr id="4" name="deck-rule">
            <a:extLst xmlns:a="http://schemas.openxmlformats.org/drawingml/2006/main">
              <a:ext uri="{FF2B5EF4-FFF2-40B4-BE49-F238E27FC236}">
                <a16:creationId xmlns:a16="http://schemas.microsoft.com/office/drawing/2014/main" id="{35006825-6FCA-4657-BC03-FB5FBD1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819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5" name="decision-ask">
            <a:extLst xmlns:a="http://schemas.openxmlformats.org/drawingml/2006/main">
              <a:ext uri="{FF2B5EF4-FFF2-40B4-BE49-F238E27FC236}">
                <a16:creationId xmlns:a16="http://schemas.microsoft.com/office/drawing/2014/main" id="{4ABD8299-7F86-4EAD-A670-2A796481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建议：有条件、分阶段立项</a:t>
            </a:r>
          </a:p>
        </p:txBody>
      </p:sp>
      <p:sp>
        <p:nvSpPr>
          <p:cNvPr id="6" name="thesis">
            <a:extLst xmlns:a="http://schemas.openxmlformats.org/drawingml/2006/main">
              <a:ext uri="{FF2B5EF4-FFF2-40B4-BE49-F238E27FC236}">
                <a16:creationId xmlns:a16="http://schemas.microsoft.com/office/drawing/2014/main" id="{BA8E090E-1052-4DA1-975D-7B55BA2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用 4–5 周验证，判断一套“语义—决策—传输—硬件”闭环是否值得进入 P0–P3 建设。</a:t>
            </a:r>
          </a:p>
        </p:txBody>
      </p:sp>
      <p:sp>
        <p:nvSpPr>
          <p:cNvPr id="7" name="decision-rail">
            <a:extLst xmlns:a="http://schemas.openxmlformats.org/drawingml/2006/main">
              <a:ext uri="{FF2B5EF4-FFF2-40B4-BE49-F238E27FC236}">
                <a16:creationId xmlns:a16="http://schemas.microsoft.com/office/drawing/2014/main" id="{42A8E823-E234-477B-B68A-B10B823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47750"/>
            <a:ext cx="2381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F9CD6-3CF1-4E7A-AF29-1D4476B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47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9" name="rail-title">
            <a:extLst xmlns:a="http://schemas.openxmlformats.org/drawingml/2006/main">
              <a:ext uri="{FF2B5EF4-FFF2-40B4-BE49-F238E27FC236}">
                <a16:creationId xmlns:a16="http://schemas.microsoft.com/office/drawing/2014/main" id="{691B2612-42EF-431C-8882-93463FAE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525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本次评审要决定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D4173-BD3D-4D8C-8F25-12F2365B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98370-56C2-4629-AB00-A46723E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58F19-B60A-4B67-AA0C-70FCBB3A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383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是否批准 Phase 0 验证资源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7839F-0532-4F3B-BA75-05E7135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88496-93D4-4BAB-8825-DFCF5FE0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是否按证据逐级释放 P0–P3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A9694-BF0A-4DE8-9593-2968819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62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A7083-204E-41F6-83BD-28215916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623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失败时是否保留可复用资产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54BEA-1A9D-49B1-8583-A527EE4E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1D5E3-21DD-4CCB-A5AD-D81E3A81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24400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汇报对象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技术 CTO｜首席架构师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研发主管｜市场主管</a:t>
            </a:r>
          </a:p>
        </p:txBody>
      </p:sp>
      <p:sp>
        <p:nvSpPr>
          <p:cNvPr id="19" name="version">
            <a:extLst xmlns:a="http://schemas.openxmlformats.org/drawingml/2006/main">
              <a:ext uri="{FF2B5EF4-FFF2-40B4-BE49-F238E27FC236}">
                <a16:creationId xmlns:a16="http://schemas.microsoft.com/office/drawing/2014/main" id="{DF70F0EB-B6CB-4642-ACD1-1EC8A7E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V3.2｜立项论证稿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0D6F3-EAA7-4847-98F0-855CC42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72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36FDA76-434A-4A9B-AFEB-C4C569E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0EF9E-7C73-46C9-A525-CDE4A30F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立项先回答：为什么值得验证与建设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BCB573-C9ED-4F2C-85D5-D206A92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立项评审看的是概率加权上行、验证成本与退出纪律，不是提前验收完整产品。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4457998A-77D6-46D2-AA52-6892D761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02  /  决策依据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E5F79C4-E332-4645-A35F-32392E7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92331-CA91-4004-926D-A728E1B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当前能证明什么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0523A-7884-4B2A-96CD-EA44549F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7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问题真实且重要；技术假设有辨识度；团队与硬件合作资源匹配；关键事实可在有限成本内得到。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43F84-58E1-4D00-948F-ABDFE43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834F5-7E4B-4891-AC08-B74487AE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投资逻辑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E13EA-4DDC-43D2-A657-DE920AE4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成功概率 × 成功上行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− 分阶段研发投入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− 失败不可回收成本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9A98B-1F9E-4311-8B8F-2D85E52E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57300"/>
            <a:ext cx="5791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60548-20AB-4F8F-8BFC-76C99F1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573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3" name="01  问题足够重要-title">
            <a:extLst xmlns:a="http://schemas.openxmlformats.org/drawingml/2006/main">
              <a:ext uri="{FF2B5EF4-FFF2-40B4-BE49-F238E27FC236}">
                <a16:creationId xmlns:a16="http://schemas.microsoft.com/office/drawing/2014/main" id="{B348DA20-4144-4E4C-8EA4-701550C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71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01  问题足够重要</a:t>
            </a:r>
          </a:p>
        </p:txBody>
      </p:sp>
      <p:sp>
        <p:nvSpPr>
          <p:cNvPr id="14" name="01  问题足够重要-body">
            <a:extLst xmlns:a="http://schemas.openxmlformats.org/drawingml/2006/main">
              <a:ext uri="{FF2B5EF4-FFF2-40B4-BE49-F238E27FC236}">
                <a16:creationId xmlns:a16="http://schemas.microsoft.com/office/drawing/2014/main" id="{A0E481B5-0952-41D7-AA93-191FD74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85925"/>
            <a:ext cx="539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KVCache 影响 TTFT、TPOT、吞吐、容量与 TCO；国产硬件需要一个能对结果负责的第一方状态基础设施。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7DB4E-CB35-425A-B83C-B3CDBDAF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5791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218EE-19B0-4CC9-946F-9B24973C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7" name="02  假设有辨识度-title">
            <a:extLst xmlns:a="http://schemas.openxmlformats.org/drawingml/2006/main">
              <a:ext uri="{FF2B5EF4-FFF2-40B4-BE49-F238E27FC236}">
                <a16:creationId xmlns:a16="http://schemas.microsoft.com/office/drawing/2014/main" id="{D15266C1-3515-475E-A7EF-09B0DF36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02  假设有辨识度</a:t>
            </a:r>
          </a:p>
        </p:txBody>
      </p:sp>
      <p:sp>
        <p:nvSpPr>
          <p:cNvPr id="18" name="02  假设有辨识度-body">
            <a:extLst xmlns:a="http://schemas.openxmlformats.org/drawingml/2006/main">
              <a:ext uri="{FF2B5EF4-FFF2-40B4-BE49-F238E27FC236}">
                <a16:creationId xmlns:a16="http://schemas.microsoft.com/office/drawing/2014/main" id="{01CCD073-8E33-40AD-A061-53F791C8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8475"/>
            <a:ext cx="539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把语义身份、消费资格、Load/View/Recompute 决策、实际路径与 UBMEM/URMA 硬件能力放进同一闭环。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DBA2B-5298-4FDD-BC92-8309C52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62400"/>
            <a:ext cx="5791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47779-C661-4618-8503-E087EF78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624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1" name="03  失败可退出-title">
            <a:extLst xmlns:a="http://schemas.openxmlformats.org/drawingml/2006/main">
              <a:ext uri="{FF2B5EF4-FFF2-40B4-BE49-F238E27FC236}">
                <a16:creationId xmlns:a16="http://schemas.microsoft.com/office/drawing/2014/main" id="{FE27443F-5C12-453F-AF06-43FD09C3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76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03  失败可退出</a:t>
            </a:r>
          </a:p>
        </p:txBody>
      </p:sp>
      <p:sp>
        <p:nvSpPr>
          <p:cNvPr id="22" name="03  失败可退出-body">
            <a:extLst xmlns:a="http://schemas.openxmlformats.org/drawingml/2006/main">
              <a:ext uri="{FF2B5EF4-FFF2-40B4-BE49-F238E27FC236}">
                <a16:creationId xmlns:a16="http://schemas.microsoft.com/office/drawing/2014/main" id="{E902794B-F3CA-4DC1-98C7-8C2431AA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91025"/>
            <a:ext cx="539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8 个必做 PVT、4–5 周波次、Go / Conditional / No-Go 门禁；No-Go 后保留 Provider、测试、观测与硬件建议资产。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818FC-8473-4CEE-A891-3AAE681D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rPr>
              <a:t>评审结论应是：批准“验证权”，而不是提前宣判“最终胜利”。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40DB7EC-3847-4A33-8F64-B8E2648D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F8E76F7-3460-4403-8052-996B5655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25ECC60-CA94-4259-A2D8-C854CD49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6A09D8-1BC5-4207-9B97-DB9698FF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竞争位势不靠单项功能，而靠国产目标硬件的第一方闭环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1D135E-CC2C-420E-B7DF-69BAE68A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公平比较对象是“最佳开源组合”，而不是未经适配和调优的默认配置。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43F81ECF-C926-4207-A29F-63C17C5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03  /  决策依据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6BE33EC-A07A-4E43-99A0-C743749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323B-1199-48CE-B814-06D08417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B3562-E81F-4F3F-BBF2-A78CAE49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DB40-9DB1-4B22-A563-89F4D95D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5C857-C622-46C1-A1FC-9FAF67E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28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最佳开源组合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ECAF8-4ED0-49EE-B285-EDD8D556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52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C3697-DDED-4A54-B426-1BB228A0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NVIDIA 整套方案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BF1AA-34C3-42F1-86E4-B1D5849D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5255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BA7FF-2EB7-4BDF-AD50-39A545B5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287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EFE7F-E1AB-49F8-857E-35405928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D2EC7-876D-4253-BFCA-B09C33CA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设计中心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8E978-B6B3-4E48-AE04-55BB2E9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49447-B8D5-452F-A9F1-1BBBA00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288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传输、对象、多级缓存、框架插件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C06F6-5E8F-422D-A981-97816ED5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526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B5B29-19E3-4A96-9D17-7CDB172F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平台内生的推理系统工程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F9526-6F68-4163-98E8-83DB2D95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52600"/>
            <a:ext cx="299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4D6E1-E036-4B31-9D9A-C874635D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国产硬件上的推理状态系统工程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A0248-C704-47C0-9D32-BD4DFA3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26C51-7E54-4A24-B2BC-717C4BBB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4CFDB-4016-4860-9FF3-691E870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0B09A-3FA6-430C-8CD6-AF0C3B63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Mooncake / LMCache / NIXL 等可组合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606EF-CB2C-4B06-A003-73A1AFE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1B0FC-444B-46E7-99C9-326AF1E6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NIXL / KVBM / Router 内生协同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EA8CE4-4C78-4B8B-84DE-B41336A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299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F8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B108F-7C66-4FDF-9E34-30E9C78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开放复用数据面；自主语义与计划控制面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AC9FA-1E32-496C-855C-AAD3BF2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1CB1E-441F-4AD7-B2AF-D04E0E04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硬件关系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798F5A-80EB-415D-A7C7-695DCED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6A3B9-9437-4B0D-A84C-794B769B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147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公开 Provider 与社区适配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EBA022-8D64-4C6A-AF00-E12A0BAA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2761AD-69B1-438A-9AD0-C5FB5FA8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NVIDIA 硬件与软件栈共同演进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1DD494-0905-435F-AEAF-BAE5263E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99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328269-39C9-4E45-B7AF-AEF404FE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UBMEM/URMA + 驱动/固件/芯片联合闭环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1A8F8-0762-4514-A4C5-459F7F66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8B9C6F-D7E6-4EAD-AB29-03397DE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价值证据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9D806C-BC9F-4D38-8C41-A96703F7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814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D7C7FF-73A5-4CF8-9BBB-C34F1D47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57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局部命中、传输和存储指标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186DE6-A46D-4AE5-BC97-44BDD7F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814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C1F259-D34A-48AA-A81B-943F79EB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576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平台吞吐、时延与扩缩容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56B992-11E9-4680-AF90-2D6D156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299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F8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A02BFF-E740-4235-BB14-7F92FDE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576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计划→实际路径→资源→SLO→业务价值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D4F80D-7D0A-4DEC-96B8-6384C4A0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81FB88-0757-4672-B56C-A8C20A7E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交付责任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3516CF-1E46-4D5F-9025-41A19A4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244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E3507B-FF2E-4587-8C16-A28198D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00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组件集成与开源演进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723CD0-7242-4337-A0E2-102A9DDE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244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A4301D-CCAF-40FC-8112-C2ADF735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00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平台级产品责任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7C8117-8585-4BF9-AAF1-EFD9630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99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45DC51-7718-4CB5-BD23-344D351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目标芯片 Day-0、认证、回退与跨层归因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310B49-C336-43E4-A2FA-590BD70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57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0">
            <a:solidFill>
              <a:srgbClr val="FFF4D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12AD22-6BFF-4E26-B457-3B43EA49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主张边界：未达到 E3，不宣称优于开源；优势假设来自第一方硬件责任、可审计决策和更快的代际闭环。</a:t>
            </a:r>
          </a:p>
        </p:txBody>
      </p:sp>
      <p:sp>
        <p:nvSpPr>
          <p:cNvPr id="5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48A05D-A0D1-4D6E-B985-D9F79CA6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5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FDDF264-A295-4DFA-89B4-068CF1A3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7EF22AA-FFE8-4903-A33E-2E026D33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2C9DDD-589B-444C-9051-7C71E91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价值闭环的北极星不是 raw hit，而是可消费、正收益的业务状态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6FDA0D-97DD-47E8-84B5-3B8274F4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每一跳都要有对象、决策、路径和结果证据；命中不等于产生价值。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3C7852AE-BC42-4221-9FE3-858B2D1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04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D4350C9-CBF6-4E22-9192-89D9C32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7B2F9-54A5-454E-906D-36FE6BFD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3B05B-B22F-4E73-8D21-FAF8212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3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在相同模型质量、客户 SLO 和硬件预算下，完成更多合格业务事务。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545C9-AEF3-4B1F-9161-C8485FB5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1C5CC-FCD9-4F00-888C-67CC355C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0" name="KVAccessIntent-title">
            <a:extLst xmlns:a="http://schemas.openxmlformats.org/drawingml/2006/main">
              <a:ext uri="{FF2B5EF4-FFF2-40B4-BE49-F238E27FC236}">
                <a16:creationId xmlns:a16="http://schemas.microsoft.com/office/drawing/2014/main" id="{9191EDA2-A37A-4E87-9F4F-CDE7DBD4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KVAccessIntent</a:t>
            </a:r>
          </a:p>
        </p:txBody>
      </p:sp>
      <p:sp>
        <p:nvSpPr>
          <p:cNvPr id="11" name="KVAccessIntent-body">
            <a:extLst xmlns:a="http://schemas.openxmlformats.org/drawingml/2006/main">
              <a:ext uri="{FF2B5EF4-FFF2-40B4-BE49-F238E27FC236}">
                <a16:creationId xmlns:a16="http://schemas.microsoft.com/office/drawing/2014/main" id="{1CAC3772-9199-4625-8CC8-4507646C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意图 / deadline / 预算</a:t>
            </a:r>
          </a:p>
        </p:txBody>
      </p:sp>
      <p:sp>
        <p:nvSpPr>
          <p:cNvPr id="12" name="flow-0">
            <a:extLst xmlns:a="http://schemas.openxmlformats.org/drawingml/2006/main">
              <a:ext uri="{FF2B5EF4-FFF2-40B4-BE49-F238E27FC236}">
                <a16:creationId xmlns:a16="http://schemas.microsoft.com/office/drawing/2014/main" id="{E6A193FE-8B11-476D-B237-A8E54BA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95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1F158-8C6C-4D8E-8AE6-F6C51FCF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0D9A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30CE1-01E4-438F-90FE-E1CF633C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5" name="SemanticIdentity-title">
            <a:extLst xmlns:a="http://schemas.openxmlformats.org/drawingml/2006/main">
              <a:ext uri="{FF2B5EF4-FFF2-40B4-BE49-F238E27FC236}">
                <a16:creationId xmlns:a16="http://schemas.microsoft.com/office/drawing/2014/main" id="{01E833C9-E56E-481B-8BF6-71F632F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SemanticIdentity</a:t>
            </a:r>
          </a:p>
        </p:txBody>
      </p:sp>
      <p:sp>
        <p:nvSpPr>
          <p:cNvPr id="16" name="SemanticIdentity-body">
            <a:extLst xmlns:a="http://schemas.openxmlformats.org/drawingml/2006/main">
              <a:ext uri="{FF2B5EF4-FFF2-40B4-BE49-F238E27FC236}">
                <a16:creationId xmlns:a16="http://schemas.microsoft.com/office/drawing/2014/main" id="{AD662FBF-91F7-4F69-8FC7-1D5B05B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版本 / layout / tenant</a:t>
            </a:r>
          </a:p>
        </p:txBody>
      </p:sp>
      <p:sp>
        <p:nvSpPr>
          <p:cNvPr id="17" name="flow-1">
            <a:extLst xmlns:a="http://schemas.openxmlformats.org/drawingml/2006/main">
              <a:ext uri="{FF2B5EF4-FFF2-40B4-BE49-F238E27FC236}">
                <a16:creationId xmlns:a16="http://schemas.microsoft.com/office/drawing/2014/main" id="{880B30D3-B1BE-4104-8C23-D7E62088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19B2A-5B97-4143-8408-E80FB0D1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766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2B337-6383-4F97-95B7-352BBA9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0" name="ConsumeEligibility-title">
            <a:extLst xmlns:a="http://schemas.openxmlformats.org/drawingml/2006/main">
              <a:ext uri="{FF2B5EF4-FFF2-40B4-BE49-F238E27FC236}">
                <a16:creationId xmlns:a16="http://schemas.microsoft.com/office/drawing/2014/main" id="{18346D5F-E5BD-4ECE-8A23-53E3C68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ConsumeEligibility</a:t>
            </a:r>
          </a:p>
        </p:txBody>
      </p:sp>
      <p:sp>
        <p:nvSpPr>
          <p:cNvPr id="21" name="ConsumeEligibility-body">
            <a:extLst xmlns:a="http://schemas.openxmlformats.org/drawingml/2006/main">
              <a:ext uri="{FF2B5EF4-FFF2-40B4-BE49-F238E27FC236}">
                <a16:creationId xmlns:a16="http://schemas.microsoft.com/office/drawing/2014/main" id="{46906DCC-9572-4921-A71F-C4F8A10F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ready / lease / rank</a:t>
            </a:r>
          </a:p>
        </p:txBody>
      </p:sp>
      <p:sp>
        <p:nvSpPr>
          <p:cNvPr id="22" name="flow-2">
            <a:extLst xmlns:a="http://schemas.openxmlformats.org/drawingml/2006/main">
              <a:ext uri="{FF2B5EF4-FFF2-40B4-BE49-F238E27FC236}">
                <a16:creationId xmlns:a16="http://schemas.microsoft.com/office/drawing/2014/main" id="{7169F7D0-8F34-4A03-83C0-21D11E3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7F5F5-424D-470C-A78D-C3DC46BF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C68A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ECDE5-D68C-45C6-A0E4-EFE869F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5" name="QueryPlan-title">
            <a:extLst xmlns:a="http://schemas.openxmlformats.org/drawingml/2006/main">
              <a:ext uri="{FF2B5EF4-FFF2-40B4-BE49-F238E27FC236}">
                <a16:creationId xmlns:a16="http://schemas.microsoft.com/office/drawing/2014/main" id="{049FD9D7-9572-4CBF-9848-F1461A7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QueryPlan</a:t>
            </a:r>
          </a:p>
        </p:txBody>
      </p:sp>
      <p:sp>
        <p:nvSpPr>
          <p:cNvPr id="26" name="QueryPlan-body">
            <a:extLst xmlns:a="http://schemas.openxmlformats.org/drawingml/2006/main">
              <a:ext uri="{FF2B5EF4-FFF2-40B4-BE49-F238E27FC236}">
                <a16:creationId xmlns:a16="http://schemas.microsoft.com/office/drawing/2014/main" id="{1008DF9E-B383-404A-9FC6-3D062E3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Load / View / Move / Recompute</a:t>
            </a:r>
          </a:p>
        </p:txBody>
      </p:sp>
      <p:sp>
        <p:nvSpPr>
          <p:cNvPr id="27" name="flow-3">
            <a:extLst xmlns:a="http://schemas.openxmlformats.org/drawingml/2006/main">
              <a:ext uri="{FF2B5EF4-FFF2-40B4-BE49-F238E27FC236}">
                <a16:creationId xmlns:a16="http://schemas.microsoft.com/office/drawing/2014/main" id="{702922EC-1268-493D-9045-5A3E4DCE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922A3-1687-431F-B33F-701337D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C426D-363F-49E9-870E-9E2CC3F0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30" name="Actual Path-title">
            <a:extLst xmlns:a="http://schemas.openxmlformats.org/drawingml/2006/main">
              <a:ext uri="{FF2B5EF4-FFF2-40B4-BE49-F238E27FC236}">
                <a16:creationId xmlns:a16="http://schemas.microsoft.com/office/drawing/2014/main" id="{5F49E76D-4B16-49FA-9BA1-6C9693E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Actual Path</a:t>
            </a:r>
          </a:p>
        </p:txBody>
      </p:sp>
      <p:sp>
        <p:nvSpPr>
          <p:cNvPr id="31" name="Actual Path-body">
            <a:extLst xmlns:a="http://schemas.openxmlformats.org/drawingml/2006/main">
              <a:ext uri="{FF2B5EF4-FFF2-40B4-BE49-F238E27FC236}">
                <a16:creationId xmlns:a16="http://schemas.microsoft.com/office/drawing/2014/main" id="{2D431A82-68CF-4275-9C54-2255FB32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Descriptor / Fence / Fallback</a:t>
            </a:r>
          </a:p>
        </p:txBody>
      </p:sp>
      <p:sp>
        <p:nvSpPr>
          <p:cNvPr id="32" name="flow-4">
            <a:extLst xmlns:a="http://schemas.openxmlformats.org/drawingml/2006/main">
              <a:ext uri="{FF2B5EF4-FFF2-40B4-BE49-F238E27FC236}">
                <a16:creationId xmlns:a16="http://schemas.microsoft.com/office/drawing/2014/main" id="{33553736-F2B4-44E0-B314-A51FBCA5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14CA1-BC05-4F23-B931-EE85E86C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01CA97-2786-45BD-9262-FD8A566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5" name="TTFT / TPOT-title">
            <a:extLst xmlns:a="http://schemas.openxmlformats.org/drawingml/2006/main">
              <a:ext uri="{FF2B5EF4-FFF2-40B4-BE49-F238E27FC236}">
                <a16:creationId xmlns:a16="http://schemas.microsoft.com/office/drawing/2014/main" id="{C9B330D7-94A3-4C11-954C-268F52B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TTFT / TPOT</a:t>
            </a:r>
          </a:p>
        </p:txBody>
      </p:sp>
      <p:sp>
        <p:nvSpPr>
          <p:cNvPr id="36" name="TTFT / TPOT-body">
            <a:extLst xmlns:a="http://schemas.openxmlformats.org/drawingml/2006/main">
              <a:ext uri="{FF2B5EF4-FFF2-40B4-BE49-F238E27FC236}">
                <a16:creationId xmlns:a16="http://schemas.microsoft.com/office/drawing/2014/main" id="{5B9797A9-5377-4953-95E7-FDD2544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服务 SLO 与资源结果</a:t>
            </a:r>
          </a:p>
        </p:txBody>
      </p:sp>
      <p:sp>
        <p:nvSpPr>
          <p:cNvPr id="37" name="flow-5">
            <a:extLst xmlns:a="http://schemas.openxmlformats.org/drawingml/2006/main">
              <a:ext uri="{FF2B5EF4-FFF2-40B4-BE49-F238E27FC236}">
                <a16:creationId xmlns:a16="http://schemas.microsoft.com/office/drawing/2014/main" id="{34CA0CCE-2DA9-4294-A56B-6E05E26E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95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8C20E2-492C-4CCC-868A-3474A0FA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2D8A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A1339E-7A4F-4DB0-8BC4-38E08EF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B"/>
          </a:solidFill>
          <a:ln xmlns:a="http://schemas.openxmlformats.org/drawingml/2006/main" w="0">
            <a:solidFill>
              <a:srgbClr val="2D8A5B"/>
            </a:solidFill>
            <a:prstDash val="solid"/>
          </a:ln>
        </p:spPr>
      </p:sp>
      <p:sp>
        <p:nvSpPr>
          <p:cNvPr id="40" name="业务价值-title">
            <a:extLst xmlns:a="http://schemas.openxmlformats.org/drawingml/2006/main">
              <a:ext uri="{FF2B5EF4-FFF2-40B4-BE49-F238E27FC236}">
                <a16:creationId xmlns:a16="http://schemas.microsoft.com/office/drawing/2014/main" id="{63C49B1B-EC06-4E10-94BF-C847A31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41" name="业务价值-body">
            <a:extLst xmlns:a="http://schemas.openxmlformats.org/drawingml/2006/main">
              <a:ext uri="{FF2B5EF4-FFF2-40B4-BE49-F238E27FC236}">
                <a16:creationId xmlns:a16="http://schemas.microsoft.com/office/drawing/2014/main" id="{686E5289-E19F-4C51-BB72-EA5C743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4175"/>
            <a:ext cx="1123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合格事务 / TCO / 风险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44DE48-4939-4731-A1E9-8F4DD758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rPr>
              <a:t>负收益命中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ABFEA-544D-4F81-88E8-6DD0237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应被拒绝、降级或重算，并记录 abandoned-hit reason；这是正确决策，不是策略失败。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AED17A-72E4-46AE-9ADF-D71F76C0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5B5970-FD06-49F2-A97C-0B904FA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EBD5CC-63FA-42E2-9280-BC06EA8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47" name="对客户-title">
            <a:extLst xmlns:a="http://schemas.openxmlformats.org/drawingml/2006/main">
              <a:ext uri="{FF2B5EF4-FFF2-40B4-BE49-F238E27FC236}">
                <a16:creationId xmlns:a16="http://schemas.microsoft.com/office/drawing/2014/main" id="{468ADE2A-F968-462C-A057-58AEF6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对客户</a:t>
            </a:r>
          </a:p>
        </p:txBody>
      </p:sp>
      <p:sp>
        <p:nvSpPr>
          <p:cNvPr id="48" name="对客户-body">
            <a:extLst xmlns:a="http://schemas.openxmlformats.org/drawingml/2006/main">
              <a:ext uri="{FF2B5EF4-FFF2-40B4-BE49-F238E27FC236}">
                <a16:creationId xmlns:a16="http://schemas.microsoft.com/office/drawing/2014/main" id="{CB0F309D-1382-47DE-8FDA-217B5B0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更快交互、更高吞吐、更少扩容、更稳服务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573C78-D1D2-4B2D-A258-A9BB47B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4E4F4F-919F-42E1-989A-EFD33EE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51" name="对硬件-title">
            <a:extLst xmlns:a="http://schemas.openxmlformats.org/drawingml/2006/main">
              <a:ext uri="{FF2B5EF4-FFF2-40B4-BE49-F238E27FC236}">
                <a16:creationId xmlns:a16="http://schemas.microsoft.com/office/drawing/2014/main" id="{62BFE0E9-9835-4A01-BFA3-B243A9C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863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对硬件</a:t>
            </a:r>
          </a:p>
        </p:txBody>
      </p:sp>
      <p:sp>
        <p:nvSpPr>
          <p:cNvPr id="52" name="对硬件-body">
            <a:extLst xmlns:a="http://schemas.openxmlformats.org/drawingml/2006/main">
              <a:ext uri="{FF2B5EF4-FFF2-40B4-BE49-F238E27FC236}">
                <a16:creationId xmlns:a16="http://schemas.microsoft.com/office/drawing/2014/main" id="{5B60E8E6-067A-40F0-BBFA-5045E57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把性能瓶颈变成驱动、固件、芯片改进输入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E1AB5E-C686-4922-9F2A-6F5578D5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2346F0-04B9-48FA-8FDE-2CF7DB0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55" name="对生态-title">
            <a:extLst xmlns:a="http://schemas.openxmlformats.org/drawingml/2006/main">
              <a:ext uri="{FF2B5EF4-FFF2-40B4-BE49-F238E27FC236}">
                <a16:creationId xmlns:a16="http://schemas.microsoft.com/office/drawing/2014/main" id="{556D8959-A8F1-42AE-ACAC-5086CACD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863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对生态</a:t>
            </a:r>
          </a:p>
        </p:txBody>
      </p:sp>
      <p:sp>
        <p:nvSpPr>
          <p:cNvPr id="56" name="对生态-body">
            <a:extLst xmlns:a="http://schemas.openxmlformats.org/drawingml/2006/main">
              <a:ext uri="{FF2B5EF4-FFF2-40B4-BE49-F238E27FC236}">
                <a16:creationId xmlns:a16="http://schemas.microsoft.com/office/drawing/2014/main" id="{466F29EB-EA3A-449A-A6F6-16EA0F8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911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统一语义 ABI、Provider、认证与可复现测试</a:t>
            </a:r>
          </a:p>
        </p:txBody>
      </p:sp>
      <p:sp>
        <p:nvSpPr>
          <p:cNvPr id="5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226A246-9522-491F-B672-1192230A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5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A4F25B-F68B-4ED2-A55A-4DC75948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19BE353-D94E-4DFB-9961-C40860EE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3F6032-8395-49D7-9B8F-020C17A5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交付边界覆盖五层：上接推理框架，下探国产硬件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77C50D-66A4-4DB0-ADB9-E3BC30C5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项目不是单一外部 KV Store，而是统一对象、路径、状态、成本与观测体系。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92263D1E-F8D8-4A2D-B2C4-B80C9323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05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880B9DB-5293-4F56-A1C6-DDD1CE47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2C01-12DA-4D3D-A26C-ACEBD9FB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325A6-CFDC-4D77-A2CA-F573D7C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8" name="业务 / 框架-label">
            <a:extLst xmlns:a="http://schemas.openxmlformats.org/drawingml/2006/main">
              <a:ext uri="{FF2B5EF4-FFF2-40B4-BE49-F238E27FC236}">
                <a16:creationId xmlns:a16="http://schemas.microsoft.com/office/drawing/2014/main" id="{1F69A018-DA69-4DCE-9C64-CAB35B8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 / 框架</a:t>
            </a:r>
          </a:p>
        </p:txBody>
      </p:sp>
      <p:sp>
        <p:nvSpPr>
          <p:cNvPr id="9" name="业务 / 框架-body">
            <a:extLst xmlns:a="http://schemas.openxmlformats.org/drawingml/2006/main">
              <a:ext uri="{FF2B5EF4-FFF2-40B4-BE49-F238E27FC236}">
                <a16:creationId xmlns:a16="http://schemas.microsoft.com/office/drawing/2014/main" id="{2A480F34-A87C-4A2D-B046-0E0CD36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RAG 公共前缀｜多轮 Agent｜Prefill/Decode 分离｜长上下文｜vLLM / SGLang Connector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4F960-930B-4B72-A834-C3D9E8F2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92BCA-8B31-4B5D-8AC9-168DB30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2" name="语义 / 策略-label">
            <a:extLst xmlns:a="http://schemas.openxmlformats.org/drawingml/2006/main">
              <a:ext uri="{FF2B5EF4-FFF2-40B4-BE49-F238E27FC236}">
                <a16:creationId xmlns:a16="http://schemas.microsoft.com/office/drawing/2014/main" id="{1EF22969-FBE5-484E-9953-9E0ACAD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 / 策略</a:t>
            </a:r>
          </a:p>
        </p:txBody>
      </p:sp>
      <p:sp>
        <p:nvSpPr>
          <p:cNvPr id="13" name="语义 / 策略-body">
            <a:extLst xmlns:a="http://schemas.openxmlformats.org/drawingml/2006/main">
              <a:ext uri="{FF2B5EF4-FFF2-40B4-BE49-F238E27FC236}">
                <a16:creationId xmlns:a16="http://schemas.microsoft.com/office/drawing/2014/main" id="{44E3D0F5-B3A1-43A1-A400-D50187B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508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PrefixDirectory｜KVSemanticIdentity｜ConsumeEligibility｜QueryPlan｜正收益准入｜fallback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47DDE-80BA-4486-B1EB-0F2975C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B0ECB-CEE0-4839-9554-02A7C12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6" name="统一池 / 生命周期-label">
            <a:extLst xmlns:a="http://schemas.openxmlformats.org/drawingml/2006/main">
              <a:ext uri="{FF2B5EF4-FFF2-40B4-BE49-F238E27FC236}">
                <a16:creationId xmlns:a16="http://schemas.microsoft.com/office/drawing/2014/main" id="{5AA429EA-D8A1-4797-8098-A16F25DA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统一池 / 生命周期</a:t>
            </a:r>
          </a:p>
        </p:txBody>
      </p:sp>
      <p:sp>
        <p:nvSpPr>
          <p:cNvPr id="17" name="统一池 / 生命周期-body">
            <a:extLst xmlns:a="http://schemas.openxmlformats.org/drawingml/2006/main">
              <a:ext uri="{FF2B5EF4-FFF2-40B4-BE49-F238E27FC236}">
                <a16:creationId xmlns:a16="http://schemas.microsoft.com/office/drawing/2014/main" id="{46363DA0-3128-4296-BCD5-3CA21DF5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508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HBM｜DDR（角色化）｜SSD（容量主体候选）｜ExtentManifest｜Placement｜水位 / 淘汰 / 迁移互锁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02D7F-89A2-4ADE-B391-56083410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0699A-A874-470B-9DD2-9D7FF974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0" name="传输 / 可见性-label">
            <a:extLst xmlns:a="http://schemas.openxmlformats.org/drawingml/2006/main">
              <a:ext uri="{FF2B5EF4-FFF2-40B4-BE49-F238E27FC236}">
                <a16:creationId xmlns:a16="http://schemas.microsoft.com/office/drawing/2014/main" id="{48475BA6-1D70-44A7-B82B-FC5B220F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 / 可见性</a:t>
            </a:r>
          </a:p>
        </p:txBody>
      </p:sp>
      <p:sp>
        <p:nvSpPr>
          <p:cNvPr id="21" name="传输 / 可见性-body">
            <a:extLst xmlns:a="http://schemas.openxmlformats.org/drawingml/2006/main">
              <a:ext uri="{FF2B5EF4-FFF2-40B4-BE49-F238E27FC236}">
                <a16:creationId xmlns:a16="http://schemas.microsoft.com/office/drawing/2014/main" id="{7DFA595D-79FE-4E7F-9A33-3BA2E66E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508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Descriptor｜异步 DAG｜URMA / RDMA / NIXL / NVMe｜Completion｜Fence｜Ready｜路径 Telemetry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17DD4-780F-4405-8756-37BE7E2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7BEE6-E365-4E0F-A042-AE0BCB7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4" name="国产硬件底座-label">
            <a:extLst xmlns:a="http://schemas.openxmlformats.org/drawingml/2006/main">
              <a:ext uri="{FF2B5EF4-FFF2-40B4-BE49-F238E27FC236}">
                <a16:creationId xmlns:a16="http://schemas.microsoft.com/office/drawing/2014/main" id="{FC92DBEC-1E5D-4AF3-9AA3-B7D3B29A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国产硬件底座</a:t>
            </a:r>
          </a:p>
        </p:txBody>
      </p:sp>
      <p:sp>
        <p:nvSpPr>
          <p:cNvPr id="25" name="国产硬件底座-body">
            <a:extLst xmlns:a="http://schemas.openxmlformats.org/drawingml/2006/main">
              <a:ext uri="{FF2B5EF4-FFF2-40B4-BE49-F238E27FC236}">
                <a16:creationId xmlns:a16="http://schemas.microsoft.com/office/drawing/2014/main" id="{A5914236-F368-4297-BF03-896A2B2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508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UBMEM / URMA｜C2C / NoC｜NPU / DPU / NIC｜内存注册｜SSD 队列｜RAS / 功耗 / 计数器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7BDF1-A749-4D18-9920-5F82EF3E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8003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4578D-8F30-4A00-BAB9-4CCA43A2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E23DE-3F76-4B57-9EDD-101DB8D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668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三条硬边界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26BBF6-A40A-43AC-A273-3D0DACB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669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C5B02-9FBC-43AB-A09C-51A31D05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A8A3D-47B9-4688-A4F6-CFBC93B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240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CPU 默认不触碰 KV 正文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1C0408-C195-4389-9103-F56CE114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43175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仅控制提交、元数据、策略和诊断；中转路径必须可测、可限流、可禁用。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B11A18-DE2B-407D-8E95-DD14EBA1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35C36-7D16-44F5-A11F-F29F738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19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SSD 主体，DDR 角色化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51E4D-D8EE-4CBE-AAA9-761FF129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DDR 只有在实测持续改善 TTFT、TPOT、容量或尾延迟时进入正文路径。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182A3-D9E7-4ECC-AD66-D6C1BF8A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8D6341-039B-4A86-B0E8-E379324D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62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每条路径必须可回退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28F968-08AF-44FE-8E9C-44B24153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815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完成、可见性、完整性、故障原因与恢复动作必须进入统一链路记录。</a:t>
            </a:r>
          </a:p>
        </p:txBody>
      </p:sp>
      <p:sp>
        <p:nvSpPr>
          <p:cNvPr id="3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01CB56-6266-472D-AF4A-75157E2C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AA3FC5-68E3-4B20-B5AE-9A3606B9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E4F1AB2-3140-4C0D-9684-C768152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62B32-BBEE-4B2D-AC5D-CAC1F47F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四项技术机制把潜在优势变成可验证的工程动作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14349D-B631-4CA1-BCB1-135121BB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每项都要进入 PVT → 正式模块 → 回归证据，避免一次性 Demo 和概念包装。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A6BE6D2D-7B35-4A54-9259-BD78ED53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06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3E2B3A7-AC7F-45D6-9075-B488628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19961-8FD3-499F-B825-2D578B8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92B5-88F8-4E8A-9E78-F9E14BBC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T1  状态语义与资格-title">
            <a:extLst xmlns:a="http://schemas.openxmlformats.org/drawingml/2006/main">
              <a:ext uri="{FF2B5EF4-FFF2-40B4-BE49-F238E27FC236}">
                <a16:creationId xmlns:a16="http://schemas.microsoft.com/office/drawing/2014/main" id="{94F41668-9DFF-4D33-83CC-281B028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T1  状态语义与资格</a:t>
            </a:r>
          </a:p>
        </p:txBody>
      </p:sp>
      <p:sp>
        <p:nvSpPr>
          <p:cNvPr id="9" name="T1  状态语义与资格-body">
            <a:extLst xmlns:a="http://schemas.openxmlformats.org/drawingml/2006/main">
              <a:ext uri="{FF2B5EF4-FFF2-40B4-BE49-F238E27FC236}">
                <a16:creationId xmlns:a16="http://schemas.microsoft.com/office/drawing/2014/main" id="{61036A70-8BDB-4E4E-9409-603D304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把版本、layout、tenant、ready、lease、rank 绑定到同一消费判定；阻断过期、半写、越权和错误副本。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输出：ConsumeEligibility / AttachHandle / reason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365E2-28CF-4F37-8763-B0C8F413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4FE34-5DA6-4663-AF0A-619411A5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2" name="T2  QueryPlan-title">
            <a:extLst xmlns:a="http://schemas.openxmlformats.org/drawingml/2006/main">
              <a:ext uri="{FF2B5EF4-FFF2-40B4-BE49-F238E27FC236}">
                <a16:creationId xmlns:a16="http://schemas.microsoft.com/office/drawing/2014/main" id="{1AF069A2-2F59-4958-8032-BDC4FA2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T2  QueryPlan</a:t>
            </a:r>
          </a:p>
        </p:txBody>
      </p:sp>
      <p:sp>
        <p:nvSpPr>
          <p:cNvPr id="13" name="T2  QueryPlan-body">
            <a:extLst xmlns:a="http://schemas.openxmlformats.org/drawingml/2006/main">
              <a:ext uri="{FF2B5EF4-FFF2-40B4-BE49-F238E27FC236}">
                <a16:creationId xmlns:a16="http://schemas.microsoft.com/office/drawing/2014/main" id="{AFD4C7F6-EDE8-48E8-AE52-F9BE92D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在 Load、View、Move、Prefetch 与 Recompute 间比较真实代价；发现负收益命中时主动放弃。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输出：Plan + 选择原因 + fallback + Decision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7D761-AD7B-4842-83A7-6C904C3C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5C4BF-3FC4-40FE-8FF4-A8F084A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6" name="T3  URMA/UBMEM-title">
            <a:extLst xmlns:a="http://schemas.openxmlformats.org/drawingml/2006/main">
              <a:ext uri="{FF2B5EF4-FFF2-40B4-BE49-F238E27FC236}">
                <a16:creationId xmlns:a16="http://schemas.microsoft.com/office/drawing/2014/main" id="{ABF2CD76-319A-4CE3-A4D3-ED90474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T3  URMA/UBMEM</a:t>
            </a:r>
          </a:p>
        </p:txBody>
      </p:sp>
      <p:sp>
        <p:nvSpPr>
          <p:cNvPr id="17" name="T3  URMA/UBMEM-body">
            <a:extLst xmlns:a="http://schemas.openxmlformats.org/drawingml/2006/main">
              <a:ext uri="{FF2B5EF4-FFF2-40B4-BE49-F238E27FC236}">
                <a16:creationId xmlns:a16="http://schemas.microsoft.com/office/drawing/2014/main" id="{8854562B-6BBE-4BD0-B630-41AB1C29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把逻辑 block/page/radix span 编译成 Descriptor 与异步 DAG，闭合 completion、fence、ready 和 Host Touch 计量。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输出：CapabilityMatrix / ActualPathReceipt / 传输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B00C5-D757-4740-80F9-2339C1DB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5619C-297C-45C5-ADAC-555FB68E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0" name="T4  异构池化-title">
            <a:extLst xmlns:a="http://schemas.openxmlformats.org/drawingml/2006/main">
              <a:ext uri="{FF2B5EF4-FFF2-40B4-BE49-F238E27FC236}">
                <a16:creationId xmlns:a16="http://schemas.microsoft.com/office/drawing/2014/main" id="{BF24EDDE-8407-4CAC-8453-1A05C3A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T4  异构池化</a:t>
            </a:r>
          </a:p>
        </p:txBody>
      </p:sp>
      <p:sp>
        <p:nvSpPr>
          <p:cNvPr id="21" name="T4  异构池化-body">
            <a:extLst xmlns:a="http://schemas.openxmlformats.org/drawingml/2006/main">
              <a:ext uri="{FF2B5EF4-FFF2-40B4-BE49-F238E27FC236}">
                <a16:creationId xmlns:a16="http://schemas.microsoft.com/office/drawing/2014/main" id="{B255FE64-6525-4DBB-8DF8-D0ACD258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统一 HBM、DDR、SSD 与远端资源；按价值、QoS、成本和水位决定驻留、旁路、迁移与重算。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输出：Tier Manager / ExtentManifest / 容量—服务能力曲线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104E7-827D-44AD-9886-1C16466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57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8F260-6136-42A6-BC1B-541D5E1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17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共同交付规则：能改变架构 / 采购 / 里程碑 / 人力的假设才进 PVT；其余进入后置 Backlog。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DD56DC-DBEF-413F-AFB0-FB28A80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2D6D774-AFCC-49E6-A4A2-B372CB90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6AB64F2-4A2B-4114-8ADF-A97393A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3AD9D-4FC3-4D7A-B6F1-99A45DF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项目不是从“概念”开始：需求、追溯和原型门禁已经形成基线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92DBF1-F63C-414D-9D9E-B571B2A1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这些数字说明可执行性与评审覆盖，不代表功能或性能已经达标。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CB1FC08-8282-4A21-9160-FE5A2C7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07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587E0C6-FD0D-4107-8B54-3EF2AD7F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7E6D6-E53C-4B0D-BE2A-37E538A1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01827-6112-416D-BEB9-F45ADF6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正式四层 SRS 条目-value">
            <a:extLst xmlns:a="http://schemas.openxmlformats.org/drawingml/2006/main">
              <a:ext uri="{FF2B5EF4-FFF2-40B4-BE49-F238E27FC236}">
                <a16:creationId xmlns:a16="http://schemas.microsoft.com/office/drawing/2014/main" id="{4A5AC5CA-3D2D-4E4E-A510-C10E815F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</p:txBody>
      </p:sp>
      <p:sp>
        <p:nvSpPr>
          <p:cNvPr id="9" name="正式四层 SRS 条目-label">
            <a:extLst xmlns:a="http://schemas.openxmlformats.org/drawingml/2006/main">
              <a:ext uri="{FF2B5EF4-FFF2-40B4-BE49-F238E27FC236}">
                <a16:creationId xmlns:a16="http://schemas.microsoft.com/office/drawing/2014/main" id="{78CEB36F-683F-437C-9DA0-C8A93630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正式四层 SRS 条目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43160-575C-48A3-B522-4BFE963B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763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12233-20A6-499F-9188-50D29A0C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76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2" name="需求树 SR（导读口径）-value">
            <a:extLst xmlns:a="http://schemas.openxmlformats.org/drawingml/2006/main">
              <a:ext uri="{FF2B5EF4-FFF2-40B4-BE49-F238E27FC236}">
                <a16:creationId xmlns:a16="http://schemas.microsoft.com/office/drawing/2014/main" id="{D452F54D-C36A-4957-934B-4B35E43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097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149</a:t>
            </a:r>
          </a:p>
        </p:txBody>
      </p:sp>
      <p:sp>
        <p:nvSpPr>
          <p:cNvPr id="13" name="需求树 SR（导读口径）-label">
            <a:extLst xmlns:a="http://schemas.openxmlformats.org/drawingml/2006/main">
              <a:ext uri="{FF2B5EF4-FFF2-40B4-BE49-F238E27FC236}">
                <a16:creationId xmlns:a16="http://schemas.microsoft.com/office/drawing/2014/main" id="{F21ABA15-41E6-4580-871D-42FD7841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669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需求树 SR（导读口径）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B4373-9289-4A2F-B14D-74D9352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763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502B8-03FE-4E9C-89B8-D3CB342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76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6" name="必做 PVT + 条件 CVT-value">
            <a:extLst xmlns:a="http://schemas.openxmlformats.org/drawingml/2006/main">
              <a:ext uri="{FF2B5EF4-FFF2-40B4-BE49-F238E27FC236}">
                <a16:creationId xmlns:a16="http://schemas.microsoft.com/office/drawing/2014/main" id="{C307D030-FFEC-41CF-BA1B-4713A0D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97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8 + 3</a:t>
            </a:r>
          </a:p>
        </p:txBody>
      </p:sp>
      <p:sp>
        <p:nvSpPr>
          <p:cNvPr id="17" name="必做 PVT + 条件 CVT-label">
            <a:extLst xmlns:a="http://schemas.openxmlformats.org/drawingml/2006/main">
              <a:ext uri="{FF2B5EF4-FFF2-40B4-BE49-F238E27FC236}">
                <a16:creationId xmlns:a16="http://schemas.microsoft.com/office/drawing/2014/main" id="{63FBF327-F5EA-4A4E-899F-A659772A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669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必做 PVT + 条件 CVT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DE068-0DD0-4C19-A0AD-8FE95C8E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763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7314C-DB3F-4629-99E3-11D3F8C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76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0" name="立项前验证窗口-value">
            <a:extLst xmlns:a="http://schemas.openxmlformats.org/drawingml/2006/main">
              <a:ext uri="{FF2B5EF4-FFF2-40B4-BE49-F238E27FC236}">
                <a16:creationId xmlns:a16="http://schemas.microsoft.com/office/drawing/2014/main" id="{A8C13466-F754-46FA-BE14-7FADA516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097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4–5 周</a:t>
            </a:r>
          </a:p>
        </p:txBody>
      </p:sp>
      <p:sp>
        <p:nvSpPr>
          <p:cNvPr id="21" name="立项前验证窗口-label">
            <a:extLst xmlns:a="http://schemas.openxmlformats.org/drawingml/2006/main">
              <a:ext uri="{FF2B5EF4-FFF2-40B4-BE49-F238E27FC236}">
                <a16:creationId xmlns:a16="http://schemas.microsoft.com/office/drawing/2014/main" id="{9F265A03-EFFA-4C84-A64C-E5655C1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立项前验证窗口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9393A-A123-4140-8CB3-D1109411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追溯链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E37A1-3FA6-4032-BBEE-638C51A6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771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54847-735E-4331-A1DA-61F8504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5" name="SF-title">
            <a:extLst xmlns:a="http://schemas.openxmlformats.org/drawingml/2006/main">
              <a:ext uri="{FF2B5EF4-FFF2-40B4-BE49-F238E27FC236}">
                <a16:creationId xmlns:a16="http://schemas.microsoft.com/office/drawing/2014/main" id="{9680336F-9B7A-42C7-AB7C-95F23FEC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SF</a:t>
            </a:r>
          </a:p>
        </p:txBody>
      </p:sp>
      <p:sp>
        <p:nvSpPr>
          <p:cNvPr id="26" name="SF-body">
            <a:extLst xmlns:a="http://schemas.openxmlformats.org/drawingml/2006/main">
              <a:ext uri="{FF2B5EF4-FFF2-40B4-BE49-F238E27FC236}">
                <a16:creationId xmlns:a16="http://schemas.microsoft.com/office/drawing/2014/main" id="{1AA8939F-7B7D-430A-AF9C-6272D763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2 条全局系统特性</a:t>
            </a:r>
          </a:p>
        </p:txBody>
      </p:sp>
      <p:sp>
        <p:nvSpPr>
          <p:cNvPr id="27" name="trace-0">
            <a:extLst xmlns:a="http://schemas.openxmlformats.org/drawingml/2006/main">
              <a:ext uri="{FF2B5EF4-FFF2-40B4-BE49-F238E27FC236}">
                <a16:creationId xmlns:a16="http://schemas.microsoft.com/office/drawing/2014/main" id="{F153CC77-3BEF-4AD9-8B85-96F4FC6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4A072-2A47-4585-A7E3-B29933D3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1771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787232-E4C5-44CB-B07D-933AFFEE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0" name="IR-title">
            <a:extLst xmlns:a="http://schemas.openxmlformats.org/drawingml/2006/main">
              <a:ext uri="{FF2B5EF4-FFF2-40B4-BE49-F238E27FC236}">
                <a16:creationId xmlns:a16="http://schemas.microsoft.com/office/drawing/2014/main" id="{DEB0C10D-88E7-4AA7-89F0-A99C47CF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09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IR</a:t>
            </a:r>
          </a:p>
        </p:txBody>
      </p:sp>
      <p:sp>
        <p:nvSpPr>
          <p:cNvPr id="31" name="IR-body">
            <a:extLst xmlns:a="http://schemas.openxmlformats.org/drawingml/2006/main">
              <a:ext uri="{FF2B5EF4-FFF2-40B4-BE49-F238E27FC236}">
                <a16:creationId xmlns:a16="http://schemas.microsoft.com/office/drawing/2014/main" id="{2417C9EA-068A-49F1-8E9D-166839D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052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24 条技术锚点</a:t>
            </a:r>
          </a:p>
        </p:txBody>
      </p:sp>
      <p:sp>
        <p:nvSpPr>
          <p:cNvPr id="32" name="trace-1">
            <a:extLst xmlns:a="http://schemas.openxmlformats.org/drawingml/2006/main">
              <a:ext uri="{FF2B5EF4-FFF2-40B4-BE49-F238E27FC236}">
                <a16:creationId xmlns:a16="http://schemas.microsoft.com/office/drawing/2014/main" id="{F9ABECF9-79D7-41F5-B0BE-97E538D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FF2F0-3B57-4CB4-B189-896B9E6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771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0D9A9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1AB27-5333-47CB-8C9C-9B5AAB3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35" name="SR-title">
            <a:extLst xmlns:a="http://schemas.openxmlformats.org/drawingml/2006/main">
              <a:ext uri="{FF2B5EF4-FFF2-40B4-BE49-F238E27FC236}">
                <a16:creationId xmlns:a16="http://schemas.microsoft.com/office/drawing/2014/main" id="{25CF90CA-09B1-4109-87F7-09695859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9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SR</a:t>
            </a:r>
          </a:p>
        </p:txBody>
      </p:sp>
      <p:sp>
        <p:nvSpPr>
          <p:cNvPr id="36" name="SR-body">
            <a:extLst xmlns:a="http://schemas.openxmlformats.org/drawingml/2006/main">
              <a:ext uri="{FF2B5EF4-FFF2-40B4-BE49-F238E27FC236}">
                <a16:creationId xmlns:a16="http://schemas.microsoft.com/office/drawing/2014/main" id="{B020E85C-5C51-4EE1-86FC-5DB4AD4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052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需求树分解</a:t>
            </a:r>
          </a:p>
        </p:txBody>
      </p:sp>
      <p:sp>
        <p:nvSpPr>
          <p:cNvPr id="37" name="trace-2">
            <a:extLst xmlns:a="http://schemas.openxmlformats.org/drawingml/2006/main">
              <a:ext uri="{FF2B5EF4-FFF2-40B4-BE49-F238E27FC236}">
                <a16:creationId xmlns:a16="http://schemas.microsoft.com/office/drawing/2014/main" id="{754E3DE3-BB12-4306-969E-462A26F4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B1D0D9-E594-4C6D-9DF6-EDAE45D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1771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7667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73506-AE2D-46B7-83F4-3A6157D6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40" name="PVT-title">
            <a:extLst xmlns:a="http://schemas.openxmlformats.org/drawingml/2006/main">
              <a:ext uri="{FF2B5EF4-FFF2-40B4-BE49-F238E27FC236}">
                <a16:creationId xmlns:a16="http://schemas.microsoft.com/office/drawing/2014/main" id="{3D92A84C-30D6-4E0B-858C-06C973D3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PVT</a:t>
            </a:r>
          </a:p>
        </p:txBody>
      </p:sp>
      <p:sp>
        <p:nvSpPr>
          <p:cNvPr id="41" name="PVT-body">
            <a:extLst xmlns:a="http://schemas.openxmlformats.org/drawingml/2006/main">
              <a:ext uri="{FF2B5EF4-FFF2-40B4-BE49-F238E27FC236}">
                <a16:creationId xmlns:a16="http://schemas.microsoft.com/office/drawing/2014/main" id="{5EF099E1-8868-4ED8-8453-330504D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52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8 个可证伪原型包</a:t>
            </a:r>
          </a:p>
        </p:txBody>
      </p:sp>
      <p:sp>
        <p:nvSpPr>
          <p:cNvPr id="42" name="trace-3">
            <a:extLst xmlns:a="http://schemas.openxmlformats.org/drawingml/2006/main">
              <a:ext uri="{FF2B5EF4-FFF2-40B4-BE49-F238E27FC236}">
                <a16:creationId xmlns:a16="http://schemas.microsoft.com/office/drawing/2014/main" id="{007C5559-EBA2-43FF-874A-C9DC278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C1F3F0-B203-4140-BF19-347EB5F7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771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2D8A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B19389-FE63-4576-8FBB-77B3B2B1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B"/>
          </a:solidFill>
          <a:ln xmlns:a="http://schemas.openxmlformats.org/drawingml/2006/main" w="0">
            <a:solidFill>
              <a:srgbClr val="2D8A5B"/>
            </a:solidFill>
            <a:prstDash val="solid"/>
          </a:ln>
        </p:spPr>
      </p:sp>
      <p:sp>
        <p:nvSpPr>
          <p:cNvPr id="45" name="交付-title">
            <a:extLst xmlns:a="http://schemas.openxmlformats.org/drawingml/2006/main">
              <a:ext uri="{FF2B5EF4-FFF2-40B4-BE49-F238E27FC236}">
                <a16:creationId xmlns:a16="http://schemas.microsoft.com/office/drawing/2014/main" id="{ABA771B5-3C5E-4008-8BCE-82CD5207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9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6" name="交付-body">
            <a:extLst xmlns:a="http://schemas.openxmlformats.org/drawingml/2006/main">
              <a:ext uri="{FF2B5EF4-FFF2-40B4-BE49-F238E27FC236}">
                <a16:creationId xmlns:a16="http://schemas.microsoft.com/office/drawing/2014/main" id="{79BB62BC-B817-4BC5-8E04-8056668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052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正式模块 / 测试 / 资产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6084BB-F6A1-475A-AAB1-B91C7EFD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094DD9-491B-4F0E-A70C-0E799CDF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当前口径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D32784-A62B-453C-A2A4-7FB1260C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815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V1.5 清单中的 PVT 状态仍为“待启动 / 待判定”。立项要承诺的是：统一 workload、trace、时钟、原始证据、Go/Conditional/No-Go 和可迁移资产。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E7AF9C-8C76-432C-A734-147DEB2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需求基线 → 原型证据 → 详细设计 → 正式实现 → 客户 BVT</a:t>
            </a:r>
          </a:p>
        </p:txBody>
      </p:sp>
      <p:sp>
        <p:nvSpPr>
          <p:cNvPr id="5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CCE2BBC-96BB-478D-92C9-A172313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4F768D-1117-43AE-93B0-C7C05FFF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9EEBA4-CB67-4248-8DEE-116DBBC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9F2C46-024F-4C26-B2A1-3FF578F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4–5 周把投资问题变成 Go / Conditional / No-Go 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046DAF-78F1-483E-8EB7-CB60F9C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共享一套 workload、trace、harness 与两节点代表环境；条件项不预占默认人力。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77ABB5F-58F3-4EF5-A7B9-949FF36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08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73470D2-E4F9-4671-9086-9B6B137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48182-E68A-40E8-A1C7-CB43042C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362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5973C-7FA0-4052-B568-0965E53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W0｜事实与基线-title">
            <a:extLst xmlns:a="http://schemas.openxmlformats.org/drawingml/2006/main">
              <a:ext uri="{FF2B5EF4-FFF2-40B4-BE49-F238E27FC236}">
                <a16:creationId xmlns:a16="http://schemas.microsoft.com/office/drawing/2014/main" id="{17F4564B-7AA8-43BE-AF88-45931F72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W0｜事实与基线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4F70F-C092-4B0D-96A9-B761C47B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rPr>
              <a:t>PVT-00 /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77D93-CC9F-4D68-8B5F-58798F24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93168-7539-4965-AC83-D80D7634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复用上限、路径能力、Host 参与、错误消费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A5B36-B353-44F2-8C60-BF25FA43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退出门：收益上限与路径矩阵可复现</a:t>
            </a:r>
          </a:p>
        </p:txBody>
      </p:sp>
      <p:sp>
        <p:nvSpPr>
          <p:cNvPr id="13" name="wave-0">
            <a:extLst xmlns:a="http://schemas.openxmlformats.org/drawingml/2006/main">
              <a:ext uri="{FF2B5EF4-FFF2-40B4-BE49-F238E27FC236}">
                <a16:creationId xmlns:a16="http://schemas.microsoft.com/office/drawing/2014/main" id="{15D328F7-90DE-4C7B-BEBE-948145C7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05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BF1B8-F763-4CC7-913F-1BB6496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2362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CDBA0-1C1F-4E9E-A81A-A83B0B3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6" name="W1｜语义与执行链-title">
            <a:extLst xmlns:a="http://schemas.openxmlformats.org/drawingml/2006/main">
              <a:ext uri="{FF2B5EF4-FFF2-40B4-BE49-F238E27FC236}">
                <a16:creationId xmlns:a16="http://schemas.microsoft.com/office/drawing/2014/main" id="{B640A956-808B-4C07-8D1F-310194F0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W1｜语义与执行链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B5581-7133-4BDE-807F-DF9F1037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PVT-02 / 03 /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C03EA-544F-4422-802D-421A732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955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DBA03-6268-40F5-BE9B-B2622FA8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051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Descriptor、View/Copy 边界、QueryPlan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D6268-58CC-4E70-8852-85364EDE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67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退出门：形成通过/条件/不通过</a:t>
            </a:r>
          </a:p>
        </p:txBody>
      </p:sp>
      <p:sp>
        <p:nvSpPr>
          <p:cNvPr id="21" name="wave-1">
            <a:extLst xmlns:a="http://schemas.openxmlformats.org/drawingml/2006/main">
              <a:ext uri="{FF2B5EF4-FFF2-40B4-BE49-F238E27FC236}">
                <a16:creationId xmlns:a16="http://schemas.microsoft.com/office/drawing/2014/main" id="{2EFC1163-2642-42E9-98AA-9F283B73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05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B8794-FCB9-4681-9C13-F4971443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2362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D6FBA-1922-4797-B68B-66A0A85B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4" name="W2｜容量与消费-title">
            <a:extLst xmlns:a="http://schemas.openxmlformats.org/drawingml/2006/main">
              <a:ext uri="{FF2B5EF4-FFF2-40B4-BE49-F238E27FC236}">
                <a16:creationId xmlns:a16="http://schemas.microsoft.com/office/drawing/2014/main" id="{20B18AB4-54ED-4108-A02D-E568B0F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W2｜容量与消费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A5E27-3FDA-4E94-A7AF-F63E5E0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PVT-05 / 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6E72F-4449-443B-A306-ED5CEC5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955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B499F-9EB8-4B8F-A4CC-B6CFCF23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HBM↔SSD、DDR 角色、可消费资格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2476C-3686-4CFF-A3B4-5664605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退出门：容量转服务；错误消费=0</a:t>
            </a:r>
          </a:p>
        </p:txBody>
      </p:sp>
      <p:sp>
        <p:nvSpPr>
          <p:cNvPr id="29" name="wave-2">
            <a:extLst xmlns:a="http://schemas.openxmlformats.org/drawingml/2006/main">
              <a:ext uri="{FF2B5EF4-FFF2-40B4-BE49-F238E27FC236}">
                <a16:creationId xmlns:a16="http://schemas.microsoft.com/office/drawing/2014/main" id="{A3E6549F-9C65-46A0-B9C2-6D972B3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05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97CBA-A7DC-494E-A299-521FBE1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9700"/>
            <a:ext cx="2362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A74722-1D9E-4F07-8972-2904CA44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970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32" name="W3｜薄闭环总门禁-title">
            <a:extLst xmlns:a="http://schemas.openxmlformats.org/drawingml/2006/main">
              <a:ext uri="{FF2B5EF4-FFF2-40B4-BE49-F238E27FC236}">
                <a16:creationId xmlns:a16="http://schemas.microsoft.com/office/drawing/2014/main" id="{F85787AD-1060-4A9D-B9BD-35036D68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95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W3｜薄闭环总门禁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6827C3-3628-4E94-9506-F135407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rPr>
              <a:t>PVT-07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BCCCE1-F07B-4A3C-AD75-5F32E1CD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8A084-9AC7-41CE-BD76-6C8285D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前后台混流下 TTFT / TPOT / QPS / NPU / 容量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316D8A-F3B4-4776-B65C-720A5B25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67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退出门：形成项目级结论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9957B9-43D9-43D1-8AC6-8D7FCCE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57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10AEAC-D835-4208-905D-D34CB606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 PVT 必须同时提交：适用 workload / 模型 / 拓扑｜原始数据与分位数｜异常注入｜默认路径与回退｜影响范围与人力｜Commit / 证据位置｜评审签字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ED6313-9A99-4AD5-8A7F-EB93FF09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rPr>
              <a:t>CVT-01~03：仅在触发条件满足、且结论会改变设计/采购时启动；未达门槛即旁路或关闭。</a:t>
            </a:r>
          </a:p>
        </p:txBody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EFCE72-90D0-4DB5-B678-08ADBE8E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DE070C-04D8-4C76-97D0-6F37353C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D4D8481-EDC0-4812-A813-A980362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ED0D14-7609-45EB-A356-ECCB1422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P0–P3 按证据放行：原型输出直接演进为正式交付资产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A602D6B-EFDC-44BB-8309-36788E9D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资源释放绑定可复现证据，不绑定机械的“代码完成百分比”。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0CD51BE1-7EF7-4C60-8B34-37B6EDE3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09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5D2801B-B47C-4F8A-AA65-D54BD9CC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451CA-2DCD-4EBB-847B-438679EA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362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1616D-8D46-454B-9F03-40EA72E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P0-label">
            <a:extLst xmlns:a="http://schemas.openxmlformats.org/drawingml/2006/main">
              <a:ext uri="{FF2B5EF4-FFF2-40B4-BE49-F238E27FC236}">
                <a16:creationId xmlns:a16="http://schemas.microsoft.com/office/drawing/2014/main" id="{5344A92B-B803-4317-9CB1-10DD49DC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24713-8649-4675-8606-57C7F799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71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30% 地基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CA1A2-2902-49E0-AD95-6EB5C35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Intent / Eligibility / Plan 骨架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一条真实路径 +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1F48B-CF39-44C9-89CD-A95964B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FC501-BB4D-46E3-8885-206DD3E7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放行条件：旁路 / Shadow 可复现</a:t>
            </a:r>
          </a:p>
        </p:txBody>
      </p:sp>
      <p:sp>
        <p:nvSpPr>
          <p:cNvPr id="13" name="phase-0">
            <a:extLst xmlns:a="http://schemas.openxmlformats.org/drawingml/2006/main">
              <a:ext uri="{FF2B5EF4-FFF2-40B4-BE49-F238E27FC236}">
                <a16:creationId xmlns:a16="http://schemas.microsoft.com/office/drawing/2014/main" id="{1FAF7304-782A-47D2-84B1-357ACC67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3411F-5C2F-4E56-B1C7-7A50C534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2362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8E572-DB94-4950-8E02-6ECCBFA9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6" name="P1-label">
            <a:extLst xmlns:a="http://schemas.openxmlformats.org/drawingml/2006/main">
              <a:ext uri="{FF2B5EF4-FFF2-40B4-BE49-F238E27FC236}">
                <a16:creationId xmlns:a16="http://schemas.microsoft.com/office/drawing/2014/main" id="{A91DAE23-527D-43EB-8A2B-66EADAA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24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F9E31-5FC4-408B-8196-D07C063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50% 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18AC6-68AE-4724-9F7E-8A7D35C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vLLM / SGLang Connector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查询 / 载入 / Attach / 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E1F62-CF0E-4C2C-ABF7-2D69AF1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04C15-AC18-428A-932C-B039FB7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290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放行条件：受控小流量可降级</a:t>
            </a:r>
          </a:p>
        </p:txBody>
      </p:sp>
      <p:sp>
        <p:nvSpPr>
          <p:cNvPr id="21" name="phase-1">
            <a:extLst xmlns:a="http://schemas.openxmlformats.org/drawingml/2006/main">
              <a:ext uri="{FF2B5EF4-FFF2-40B4-BE49-F238E27FC236}">
                <a16:creationId xmlns:a16="http://schemas.microsoft.com/office/drawing/2014/main" id="{AA8DEECD-E11B-4657-A132-67652A0D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F2C22-3131-42CE-9AEE-EEA53790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2362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D1ADF-3E39-48A7-BCDF-C938CFE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097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4" name="P2-label">
            <a:extLst xmlns:a="http://schemas.openxmlformats.org/drawingml/2006/main">
              <a:ext uri="{FF2B5EF4-FFF2-40B4-BE49-F238E27FC236}">
                <a16:creationId xmlns:a16="http://schemas.microsoft.com/office/drawing/2014/main" id="{3BAFEF8B-0CB9-40E0-894F-E1C3994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7271D-6F06-42EC-8A21-377D2DAA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71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80% 生产化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2CEA5-BD86-4DAD-9B01-27B364CE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7170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长上下文 / 多租户 / QoS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故障注入 + 容量闭环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8BD8A-C5A4-4C9A-86F5-2FAF5F7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6B238-BA05-4488-B360-48996C0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放行条件：客户联创 BVT</a:t>
            </a:r>
          </a:p>
        </p:txBody>
      </p:sp>
      <p:sp>
        <p:nvSpPr>
          <p:cNvPr id="29" name="phase-2">
            <a:extLst xmlns:a="http://schemas.openxmlformats.org/drawingml/2006/main">
              <a:ext uri="{FF2B5EF4-FFF2-40B4-BE49-F238E27FC236}">
                <a16:creationId xmlns:a16="http://schemas.microsoft.com/office/drawing/2014/main" id="{1069E3E2-7AB9-4C6F-B173-E719E26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00855-1D31-42BD-95B4-4FD91E4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9700"/>
            <a:ext cx="2362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2DBF0-0759-4029-93F7-0E0FF1A4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970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32" name="P3-label">
            <a:extLst xmlns:a="http://schemas.openxmlformats.org/drawingml/2006/main">
              <a:ext uri="{FF2B5EF4-FFF2-40B4-BE49-F238E27FC236}">
                <a16:creationId xmlns:a16="http://schemas.microsoft.com/office/drawing/2014/main" id="{696E9E83-A5DE-4B40-81C0-30B3EEF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24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AF6298-B441-4F42-9E68-061CFC3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716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 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E16387-9A1C-4ECD-B2BF-4E7768A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跨版本认证 / 灰度回滚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Provider / 标准 / 客户验收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5E5D8-32DB-45D2-A626-1E81ED34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A0BD0-2FF9-4A54-B8BB-6227917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放行条件：Day-0 / 生态交付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AC1007-947D-4F68-9CD0-D0D6E9F0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57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EC002-B804-4F09-B5EE-0BC7180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资源按权释放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FDC7C8-E97A-4439-984A-4E508CA7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每一阶段都必须回答：是否形成真实路径？是否可解释与可回退？是否改善端到端结果？是否值得进入下一阶段？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BE5E0-921E-41FD-A6A7-2C98DAF2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rPr>
              <a:t>未达 E3 不宣称优于开源；未达 E4 不承诺客户 ROI；未达 E5 不宣称持久壁垒。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C6AF5E-9357-4895-AAEA-88F19E5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CF88485-BA4E-4C69-A3D7-57168E6D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369B929-EF6D-4091-AC60-5A0F6C8F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402171-E26E-4CF2-A68E-D7AB683F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让收益可审计：计划—实际路径—资源—SLO—业务价值逐级对账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5E0F18-B4BC-4570-B1D4-530EA8B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ActualPathReceipt 证明“发生了什么”；同条件 A/B 与消融实验才证明“为什么更好”。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AC404121-203E-489D-AF52-F89834B1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10  /  交付证据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2C6B746-9052-4F36-BD0D-EC401265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6C566-4641-4461-B802-02D530BE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EA0F3-78B0-4347-BA55-F30FB412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ActualPathReceipt｜每次传输都要留下证据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ACF0A-A4D1-463A-97EF-CDB8711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797"/>
          </a:solidFill>
          <a:ln xmlns:a="http://schemas.openxmlformats.org/drawingml/2006/main" w="0">
            <a:solidFill>
              <a:srgbClr val="4E77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0DFDC-4D3E-4118-90CD-4D6211F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Planned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D5A4C-A1C7-43B3-B983-CCBD7CD6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907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计划选择的副本与路径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05083-22C7-4E85-83DE-293C3FB9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Actual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AF21B-E48B-4110-9BAE-7FE8F95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真实执行：Direct / Staged /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E975C-B508-450A-A902-93A28E4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Host Touch Bytes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F9F46-FA5B-485A-A667-6CD0644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813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CPU 触碰 KV 正文的字节数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F5706-155D-4149-8531-B94B3DD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Completion / Fence / 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CB8FB-B817-4819-B969-2FDEDC4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完成、可见、完整与可消费资格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EA457-6E28-4FE1-A6AA-D12A1846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Fallback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5CF47-981D-48EB-8C7A-0DDF8B1B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超时、拥塞、版本、错误与回退动作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A3DCC-74B8-4A9E-8777-23E6BA3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FF4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4DD"/>
                </a:solidFill>
                <a:latin typeface="Microsoft YaHei"/>
                <a:ea typeface="Microsoft YaHei"/>
                <a:cs typeface="Microsoft YaHei"/>
              </a:rPr>
              <a:t>没有路径凭证，就没有“零拷贝”或“直达”的可审计主张。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D5AC0-6CB6-4164-B93F-CF6D5922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57300"/>
            <a:ext cx="52197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A984D-AC58-4460-8F3E-184454B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公平基线｜必须比较最佳可行组合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BF5D2-9353-4FEE-AC06-3C8D86F7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F937C-AFAA-4C4C-997B-089DBCB6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66B3F-9975-41D2-9B6B-F6285B88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02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7FC8B-A16A-4FFC-ADDC-1EA2353D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62175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开源默认配置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601E-A051-4071-857A-D0C2026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90775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比较开箱交付与首发速度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C56F0-1D0E-4CB1-8A02-93094BCF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369AD-BB97-4210-8945-5B41765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9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DAAF1-159E-4561-85D8-B48B27D5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52725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开源 + 目标硬件 Provider + 同等调优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82CA9-471E-45FB-B990-C6F72A98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81325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比较系统架构增量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19770-B116-4D91-82F2-4189BA1E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F9513-3C64-48A5-B1BE-48DA2DD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81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AB148A-F776-49EE-B3A8-7B0BFA8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本项目关闭 State Intelligence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07BF47-1F5E-4F9F-84BC-AE78B2F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验证状态价值决策贡献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67DDEE-948E-4D3D-8B15-ABC002C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1CCD0-FEC6-4BD7-9D6D-6DDE9BA8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A543A8-0943-482C-A773-FC908B1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33825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本项目关闭微架构信息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F594C3-7734-488A-A357-3706EBA1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62425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验证硬件协同贡献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77C62-A5F1-43EA-A4EA-AEE3DB4A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0">
            <a:solidFill>
              <a:srgbClr val="E7F5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6184E9-E683-484B-A47D-2A68686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统一结论链：状态资格 → 路径执行 → 资源计数 → TTFT / TPOT / 容量 → SLO 合格事务 → 单位 TCO。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7C71CA2-F675-4F37-832D-7AAA81C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E91F253-09DF-4DE1-AB5E-6B6FA738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9BF9565-317D-4832-99A7-B838D650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25F714-F086-413D-8B10-68592D8B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真正的壁垒是“信息—行动—学习”闭环，而不是一个难以持久的功能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FC8287-732E-4E11-B5D3-2974CA6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单项能力会收敛；复合资产、交付速度和硬件反馈能把领先窗口转成代际资产。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4A83A421-2037-456B-86BC-E2386E60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11  /  长期价值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C6AF49F-9A9D-4E02-B4E0-BB396DD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2A21A-D255-4530-B686-C7334154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EF376-5302-419D-9095-C7276DC0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信息-title">
            <a:extLst xmlns:a="http://schemas.openxmlformats.org/drawingml/2006/main">
              <a:ext uri="{FF2B5EF4-FFF2-40B4-BE49-F238E27FC236}">
                <a16:creationId xmlns:a16="http://schemas.microsoft.com/office/drawing/2014/main" id="{B5A58E73-2D0C-46F2-AC8D-1CC8ABB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信息</a:t>
            </a:r>
          </a:p>
        </p:txBody>
      </p:sp>
      <p:sp>
        <p:nvSpPr>
          <p:cNvPr id="9" name="信息-body">
            <a:extLst xmlns:a="http://schemas.openxmlformats.org/drawingml/2006/main">
              <a:ext uri="{FF2B5EF4-FFF2-40B4-BE49-F238E27FC236}">
                <a16:creationId xmlns:a16="http://schemas.microsoft.com/office/drawing/2014/main" id="{5EADC949-0CAD-48E5-B712-8D6AE2E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1924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更早获得国产芯片能力边界与客户 Trace</a:t>
            </a:r>
          </a:p>
        </p:txBody>
      </p:sp>
      <p:sp>
        <p:nvSpPr>
          <p:cNvPr id="10" name="loop-0">
            <a:extLst xmlns:a="http://schemas.openxmlformats.org/drawingml/2006/main">
              <a:ext uri="{FF2B5EF4-FFF2-40B4-BE49-F238E27FC236}">
                <a16:creationId xmlns:a16="http://schemas.microsoft.com/office/drawing/2014/main" id="{B64864F9-3162-4A61-B5C3-6C17135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BC11F-F524-4531-A557-DE24C7B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049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0D9A9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1B86C-E91D-425E-A52C-658A49F7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04950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3" name="行动-title">
            <a:extLst xmlns:a="http://schemas.openxmlformats.org/drawingml/2006/main">
              <a:ext uri="{FF2B5EF4-FFF2-40B4-BE49-F238E27FC236}">
                <a16:creationId xmlns:a16="http://schemas.microsoft.com/office/drawing/2014/main" id="{4F197D37-3A6B-41EA-BBE2-9B958DB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383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行动-body">
            <a:extLst xmlns:a="http://schemas.openxmlformats.org/drawingml/2006/main">
              <a:ext uri="{FF2B5EF4-FFF2-40B4-BE49-F238E27FC236}">
                <a16:creationId xmlns:a16="http://schemas.microsoft.com/office/drawing/2014/main" id="{41FA3FB1-2B4E-40AA-8651-9B93E70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1924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做出更精细的 QueryPlan、路径白名单与硬件 Profile</a:t>
            </a:r>
          </a:p>
        </p:txBody>
      </p:sp>
      <p:sp>
        <p:nvSpPr>
          <p:cNvPr id="15" name="loop-1">
            <a:extLst xmlns:a="http://schemas.openxmlformats.org/drawingml/2006/main">
              <a:ext uri="{FF2B5EF4-FFF2-40B4-BE49-F238E27FC236}">
                <a16:creationId xmlns:a16="http://schemas.microsoft.com/office/drawing/2014/main" id="{B2700938-30B9-493A-A841-00EF1B2A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4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8D3B4-E7CB-4701-8034-37B13C3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766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91EBD-F99B-4BD0-A234-975499A7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8" name="收益-title">
            <a:extLst xmlns:a="http://schemas.openxmlformats.org/drawingml/2006/main">
              <a:ext uri="{FF2B5EF4-FFF2-40B4-BE49-F238E27FC236}">
                <a16:creationId xmlns:a16="http://schemas.microsoft.com/office/drawing/2014/main" id="{2057A3D9-3962-4C29-9F38-8E68E050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19" name="收益-body">
            <a:extLst xmlns:a="http://schemas.openxmlformats.org/drawingml/2006/main">
              <a:ext uri="{FF2B5EF4-FFF2-40B4-BE49-F238E27FC236}">
                <a16:creationId xmlns:a16="http://schemas.microsoft.com/office/drawing/2014/main" id="{CF68C462-66E3-498B-BE6F-5F17A9A0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33575"/>
            <a:ext cx="1924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在同条件下获得可验证的 SLO / TCO 净收益</a:t>
            </a:r>
          </a:p>
        </p:txBody>
      </p:sp>
      <p:sp>
        <p:nvSpPr>
          <p:cNvPr id="20" name="loop-2">
            <a:extLst xmlns:a="http://schemas.openxmlformats.org/drawingml/2006/main">
              <a:ext uri="{FF2B5EF4-FFF2-40B4-BE49-F238E27FC236}">
                <a16:creationId xmlns:a16="http://schemas.microsoft.com/office/drawing/2014/main" id="{9F129C7D-E61B-4E53-95C0-42D37284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13F3B-8748-49AE-8DBA-F65B7D9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C68A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3D964-131F-4FEE-9E28-81D21EEF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2152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3" name="学习-title">
            <a:extLst xmlns:a="http://schemas.openxmlformats.org/drawingml/2006/main">
              <a:ext uri="{FF2B5EF4-FFF2-40B4-BE49-F238E27FC236}">
                <a16:creationId xmlns:a16="http://schemas.microsoft.com/office/drawing/2014/main" id="{FBB7852D-B760-40FC-A4D8-4E0AE79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383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24" name="学习-body">
            <a:extLst xmlns:a="http://schemas.openxmlformats.org/drawingml/2006/main">
              <a:ext uri="{FF2B5EF4-FFF2-40B4-BE49-F238E27FC236}">
                <a16:creationId xmlns:a16="http://schemas.microsoft.com/office/drawing/2014/main" id="{0D52C440-9FCC-4B75-8492-C260811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33575"/>
            <a:ext cx="1924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沉淀决策反例库、认证矩阵与下一代硬件需求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E9486-AB03-4F48-B522-3E79460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8AB60-3DFF-403B-A677-7DB62C2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DE146-3752-4E73-8907-F4C22C62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可沉淀的复合资产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217CF-E165-4CFA-B783-7432B319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21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41014-E7D1-4CE9-8A00-85451EF6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0" name="性能包络 + 认证-title">
            <a:extLst xmlns:a="http://schemas.openxmlformats.org/drawingml/2006/main">
              <a:ext uri="{FF2B5EF4-FFF2-40B4-BE49-F238E27FC236}">
                <a16:creationId xmlns:a16="http://schemas.microsoft.com/office/drawing/2014/main" id="{500C7A0C-AA2A-4043-8686-8395375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性能包络 + 认证</a:t>
            </a:r>
          </a:p>
        </p:txBody>
      </p:sp>
      <p:sp>
        <p:nvSpPr>
          <p:cNvPr id="31" name="性能包络 + 认证-body">
            <a:extLst xmlns:a="http://schemas.openxmlformats.org/drawingml/2006/main">
              <a:ext uri="{FF2B5EF4-FFF2-40B4-BE49-F238E27FC236}">
                <a16:creationId xmlns:a16="http://schemas.microsoft.com/office/drawing/2014/main" id="{6AD074BB-74D4-4A83-ACD2-91591B26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跨微架构、拓扑、负载、故障和功耗的真实性能边界；Golden / Fault Case 与兼容矩阵。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C1090-51D4-4714-9C76-2C41CD18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3219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D8C551-587E-4EE2-841E-2F0F818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34" name="联合设计 + Day-0-title">
            <a:extLst xmlns:a="http://schemas.openxmlformats.org/drawingml/2006/main">
              <a:ext uri="{FF2B5EF4-FFF2-40B4-BE49-F238E27FC236}">
                <a16:creationId xmlns:a16="http://schemas.microsoft.com/office/drawing/2014/main" id="{64D8AF99-A6D0-477D-A31A-47313BB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联合设计 + Day-0</a:t>
            </a:r>
          </a:p>
        </p:txBody>
      </p:sp>
      <p:sp>
        <p:nvSpPr>
          <p:cNvPr id="35" name="联合设计 + Day-0-body">
            <a:extLst xmlns:a="http://schemas.openxmlformats.org/drawingml/2006/main">
              <a:ext uri="{FF2B5EF4-FFF2-40B4-BE49-F238E27FC236}">
                <a16:creationId xmlns:a16="http://schemas.microsoft.com/office/drawing/2014/main" id="{5FDA406B-038E-4A35-91B3-319C604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生产瓶颈 → 驱动 / 固件 / 芯片需求 → 联合修改 → 回归 → 客户结果。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095420-463A-4A8E-9439-D86B78AD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3486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168B5-14AC-46FA-A901-AAA349C3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38" name="数据 + 团队 + 责任-title">
            <a:extLst xmlns:a="http://schemas.openxmlformats.org/drawingml/2006/main">
              <a:ext uri="{FF2B5EF4-FFF2-40B4-BE49-F238E27FC236}">
                <a16:creationId xmlns:a16="http://schemas.microsoft.com/office/drawing/2014/main" id="{1248EDC7-1AEF-423C-8CF2-B40B175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数据 + 团队 + 责任</a:t>
            </a:r>
          </a:p>
        </p:txBody>
      </p:sp>
      <p:sp>
        <p:nvSpPr>
          <p:cNvPr id="39" name="数据 + 团队 + 责任-body">
            <a:extLst xmlns:a="http://schemas.openxmlformats.org/drawingml/2006/main">
              <a:ext uri="{FF2B5EF4-FFF2-40B4-BE49-F238E27FC236}">
                <a16:creationId xmlns:a16="http://schemas.microsoft.com/office/drawing/2014/main" id="{B7A15BA7-342E-4922-A68C-0C94567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43425"/>
            <a:ext cx="308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Decision Regret、跨层定位经验、版本责任与客户信任；让“能交付”本身成为资产。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281715-8DF3-47B4-84AD-252D90F2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57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F"/>
          </a:solidFill>
          <a:ln xmlns:a="http://schemas.openxmlformats.org/drawingml/2006/main" w="0">
            <a:solidFill>
              <a:srgbClr val="FCED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336597-5BA7-401E-AFE2-24BC8DAD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17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84B51"/>
                </a:solidFill>
                <a:latin typeface="Microsoft YaHei"/>
                <a:ea typeface="Microsoft YaHei"/>
                <a:cs typeface="Microsoft YaHei"/>
              </a:rPr>
              <a:t>失效条件：只有一次 microbench、没有客户闭环、没有跨组织修改与回归，壁垒不成立。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C893073-2A30-43F4-8FB9-1EF2633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9D90AC1-12AC-471A-A8E5-90F2C7C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6554D3D-2780-438F-A6BE-7B72603C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5EB5D7-E54E-4EBB-9117-4BACEE7A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建议立项结论：批准 Phase 0，设定证据门，保留安全收缩路径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01F9CF-A537-4B3E-A1E5-6E8C716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项目的投资对象不是一个“缓存产品”，而是一套可验证、可复用、可持续演进的国产推理状态基础设施能力。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45C8D54B-66DE-47F2-8562-FDF83094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12  /  决策请求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8594A4B-08D5-4DA2-97EE-962B394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22553-D17A-4CF5-9383-639CBDDF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337D1-CB49-4BD3-B185-6330D5F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011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批准：4–5 周 Phase 0 验证资源 + 代表硬件 + 跨团队 RACI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1965-0172-4D50-9031-6397308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011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并约定：证据可复现、资源按门放行、No-Go 可收缩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2D1A5-05BB-49AA-847A-A1D0CD37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276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A5F7D-10BC-42E6-B497-6F8E63EE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85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B"/>
          </a:solidFill>
          <a:ln xmlns:a="http://schemas.openxmlformats.org/drawingml/2006/main" w="0">
            <a:solidFill>
              <a:srgbClr val="2D8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5BEC0-F185-480F-A3AB-7AF83C5E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0C405-C7AA-4AA3-9203-B863166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86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P0–P3 分阶段建设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C82A2-B9A3-439D-B7B5-5EE18348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PVT 结果形成可执行路径与正收益闭环，进入正式模块和受控流量。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B24BE-3DC1-4115-9E99-F35B466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76500"/>
            <a:ext cx="3276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EE7D4-5FA2-4692-9B72-A295E922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76500"/>
            <a:ext cx="685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F5F00-F38D-4652-9970-25625744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24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C9006-8974-4005-848C-4AA4638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86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限定白名单 / 静态回退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02D37-02FB-41BD-87AE-13E1C612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只在可证明 workload、路径或硬件能力范围内推进，保留 Provider 方案。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88426-9EBB-4FE5-BD0B-3C08550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3276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0E518-DE9A-4E60-ACC6-3C54AFE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685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51"/>
          </a:solidFill>
          <a:ln xmlns:a="http://schemas.openxmlformats.org/drawingml/2006/main" w="0">
            <a:solidFill>
              <a:srgbClr val="B84B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DDA50-CD61-471B-B13B-1B49BD9C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24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521ED-DAFF-49AB-B17C-DC8945E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安全收缩并保留资产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CCAAF-ED41-4312-883F-4794E7E3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转为传输 Provider、Descriptor 编译、测试套件、观测工具或硬件需求输入。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4BA89-09E9-4350-9F5E-8339E87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评审需要冻结的三件事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73D5F-79BA-4BD6-A94B-7FB100D3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65388-11A2-437F-A370-DC7A3484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7" name="01  首发场景-title">
            <a:extLst xmlns:a="http://schemas.openxmlformats.org/drawingml/2006/main">
              <a:ext uri="{FF2B5EF4-FFF2-40B4-BE49-F238E27FC236}">
                <a16:creationId xmlns:a16="http://schemas.microsoft.com/office/drawing/2014/main" id="{8C370454-36A9-46FB-BD71-87487D55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01  首发场景</a:t>
            </a:r>
          </a:p>
        </p:txBody>
      </p:sp>
      <p:sp>
        <p:nvSpPr>
          <p:cNvPr id="28" name="01  首发场景-body">
            <a:extLst xmlns:a="http://schemas.openxmlformats.org/drawingml/2006/main">
              <a:ext uri="{FF2B5EF4-FFF2-40B4-BE49-F238E27FC236}">
                <a16:creationId xmlns:a16="http://schemas.microsoft.com/office/drawing/2014/main" id="{637E0DBE-666C-48BF-952B-68CF482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代表 workload / Trace / 模型 / 框架 / 拓扑与基线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1AD371-FB04-4F5B-A9CA-4A689ACC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651399-52D5-4EF8-8E5C-B12D5B6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31" name="02  协同责任-title">
            <a:extLst xmlns:a="http://schemas.openxmlformats.org/drawingml/2006/main">
              <a:ext uri="{FF2B5EF4-FFF2-40B4-BE49-F238E27FC236}">
                <a16:creationId xmlns:a16="http://schemas.microsoft.com/office/drawing/2014/main" id="{42D7930C-364A-4E79-BDEB-8C68A216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958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02  协同责任</a:t>
            </a:r>
          </a:p>
        </p:txBody>
      </p:sp>
      <p:sp>
        <p:nvSpPr>
          <p:cNvPr id="32" name="02  协同责任-body">
            <a:extLst xmlns:a="http://schemas.openxmlformats.org/drawingml/2006/main">
              <a:ext uri="{FF2B5EF4-FFF2-40B4-BE49-F238E27FC236}">
                <a16:creationId xmlns:a16="http://schemas.microsoft.com/office/drawing/2014/main" id="{C62F0B2D-90C0-49BA-946C-4E267426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006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硬件、驱动、固件、框架接口人及问题升级 SLA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B6437-FC60-4458-BF40-41E43335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176CF5-5B5F-4070-BAF3-3771828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35" name="03  退出门-title">
            <a:extLst xmlns:a="http://schemas.openxmlformats.org/drawingml/2006/main">
              <a:ext uri="{FF2B5EF4-FFF2-40B4-BE49-F238E27FC236}">
                <a16:creationId xmlns:a16="http://schemas.microsoft.com/office/drawing/2014/main" id="{02589FE1-5E4F-4AEC-891E-06E1F438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03  退出门</a:t>
            </a:r>
          </a:p>
        </p:txBody>
      </p:sp>
      <p:sp>
        <p:nvSpPr>
          <p:cNvPr id="36" name="03  退出门-body">
            <a:extLst xmlns:a="http://schemas.openxmlformats.org/drawingml/2006/main">
              <a:ext uri="{FF2B5EF4-FFF2-40B4-BE49-F238E27FC236}">
                <a16:creationId xmlns:a16="http://schemas.microsoft.com/office/drawing/2014/main" id="{561E8B7E-80CB-4F3F-B8C2-BCF3069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E0 当前充分性 → E1–E5 未来证据与资源释放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BAC595-FC3F-4A9E-9439-73F24548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请批准“用事实购买信息”，让项目用有限投入证明是否值得成为国产 AI Infra 的状态基础设施标杆。</a:t>
            </a:r>
          </a:p>
        </p:txBody>
      </p:sp>
      <p:sp>
        <p:nvSpPr>
          <p:cNvPr id="3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47FA400-3D16-4F69-89DF-AFA367FD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存储池｜立项论证与交付路径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2721CD-957A-4C0C-9D62-73C4AFF8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2026-08-07T06:38:51.0390000Z</dcterms:created>
  <dcterms:modified xsi:type="dcterms:W3CDTF">2026-08-07T06:38:51.0390000Z</dcterms:modified>
</coreProperties>
</file>