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89f5e5e2514766" /><Relationship Type="http://schemas.openxmlformats.org/officeDocument/2006/relationships/extended-properties" Target="/docProps/app.xml" Id="Rb1b0ab0cb014463c" /><Relationship Type="http://schemas.openxmlformats.org/officeDocument/2006/relationships/officeDocument" Target="/ppt/presentation.xml" Id="Rcf025c29403b47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0ca5672e344c07"/>
  </p:sldMasterIdLst>
  <p:notesMasterIdLst>
    <p:notesMasterId xmlns:r="http://schemas.openxmlformats.org/officeDocument/2006/relationships" r:id="Rd943942a06aa4011"/>
  </p:notesMasterIdLst>
  <p:sldIdLst>
    <p:sldId xmlns:r="http://schemas.openxmlformats.org/officeDocument/2006/relationships" id="256" r:id="R55e93084c2be4331"/>
    <p:sldId xmlns:r="http://schemas.openxmlformats.org/officeDocument/2006/relationships" id="257" r:id="Re131bca6c5024fc0"/>
    <p:sldId xmlns:r="http://schemas.openxmlformats.org/officeDocument/2006/relationships" id="258" r:id="Rbdc658a7076e44a9"/>
    <p:sldId xmlns:r="http://schemas.openxmlformats.org/officeDocument/2006/relationships" id="259" r:id="Rdef1d97d60824226"/>
    <p:sldId xmlns:r="http://schemas.openxmlformats.org/officeDocument/2006/relationships" id="260" r:id="R4f66703ee50f40c2"/>
    <p:sldId xmlns:r="http://schemas.openxmlformats.org/officeDocument/2006/relationships" id="261" r:id="Rb2b003bc9fbe4915"/>
    <p:sldId xmlns:r="http://schemas.openxmlformats.org/officeDocument/2006/relationships" id="262" r:id="Rdeff006caaf44ebb"/>
    <p:sldId xmlns:r="http://schemas.openxmlformats.org/officeDocument/2006/relationships" id="263" r:id="R4f91ec8e23be4aaf"/>
    <p:sldId xmlns:r="http://schemas.openxmlformats.org/officeDocument/2006/relationships" id="264" r:id="Rf699b75b2f224333"/>
    <p:sldId xmlns:r="http://schemas.openxmlformats.org/officeDocument/2006/relationships" id="265" r:id="R0f6f2f9c5620405f"/>
    <p:sldId xmlns:r="http://schemas.openxmlformats.org/officeDocument/2006/relationships" id="266" r:id="R6d83dbcb8fda4776"/>
    <p:sldId xmlns:r="http://schemas.openxmlformats.org/officeDocument/2006/relationships" id="267" r:id="Ra4e9e42a500346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8f938a6cc44fcc" /><Relationship Type="http://schemas.openxmlformats.org/officeDocument/2006/relationships/slideMaster" Target="/ppt/slideMasters/slideMaster1.xml" Id="Rb20ca5672e344c07" /><Relationship Type="http://schemas.openxmlformats.org/officeDocument/2006/relationships/notesMaster" Target="/ppt/notesMasters/notesMaster1.xml" Id="Rd943942a06aa4011" /><Relationship Type="http://schemas.openxmlformats.org/officeDocument/2006/relationships/presProps" Target="/ppt/presProps.xml" Id="R2c9d706539384d5f" /><Relationship Type="http://schemas.openxmlformats.org/officeDocument/2006/relationships/tableStyles" Target="/ppt/tableStyles.xml" Id="Ra31f108103b74b29" /><Relationship Type="http://schemas.openxmlformats.org/officeDocument/2006/relationships/slide" Target="/ppt/slides/slide1.xml" Id="R55e93084c2be4331" /><Relationship Type="http://schemas.openxmlformats.org/officeDocument/2006/relationships/slide" Target="/ppt/slides/slide2.xml" Id="Re131bca6c5024fc0" /><Relationship Type="http://schemas.openxmlformats.org/officeDocument/2006/relationships/slide" Target="/ppt/slides/slide3.xml" Id="Rbdc658a7076e44a9" /><Relationship Type="http://schemas.openxmlformats.org/officeDocument/2006/relationships/slide" Target="/ppt/slides/slide4.xml" Id="Rdef1d97d60824226" /><Relationship Type="http://schemas.openxmlformats.org/officeDocument/2006/relationships/slide" Target="/ppt/slides/slide5.xml" Id="R4f66703ee50f40c2" /><Relationship Type="http://schemas.openxmlformats.org/officeDocument/2006/relationships/slide" Target="/ppt/slides/slide6.xml" Id="Rb2b003bc9fbe4915" /><Relationship Type="http://schemas.openxmlformats.org/officeDocument/2006/relationships/slide" Target="/ppt/slides/slide7.xml" Id="Rdeff006caaf44ebb" /><Relationship Type="http://schemas.openxmlformats.org/officeDocument/2006/relationships/slide" Target="/ppt/slides/slide8.xml" Id="R4f91ec8e23be4aaf" /><Relationship Type="http://schemas.openxmlformats.org/officeDocument/2006/relationships/slide" Target="/ppt/slides/slide9.xml" Id="Rf699b75b2f224333" /><Relationship Type="http://schemas.openxmlformats.org/officeDocument/2006/relationships/slide" Target="/ppt/slides/slide10.xml" Id="R0f6f2f9c5620405f" /><Relationship Type="http://schemas.openxmlformats.org/officeDocument/2006/relationships/slide" Target="/ppt/slides/slide11.xml" Id="R6d83dbcb8fda4776" /><Relationship Type="http://schemas.openxmlformats.org/officeDocument/2006/relationships/slide" Target="/ppt/slides/slide12.xml" Id="Ra4e9e42a500346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43f89938404d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281375fe9944c8" /><Relationship Type="http://schemas.openxmlformats.org/officeDocument/2006/relationships/notesMaster" Target="/ppt/notesMasters/notesMaster1.xml" Id="R255062adb4dc44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4eccb236ef4c8e" /><Relationship Type="http://schemas.openxmlformats.org/officeDocument/2006/relationships/notesMaster" Target="/ppt/notesMasters/notesMaster1.xml" Id="Rc54b4d99f9e04d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17d085b26446dd" /><Relationship Type="http://schemas.openxmlformats.org/officeDocument/2006/relationships/notesMaster" Target="/ppt/notesMasters/notesMaster1.xml" Id="Ree4eb8a6ca214a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ce1be2e2f04209" /><Relationship Type="http://schemas.openxmlformats.org/officeDocument/2006/relationships/notesMaster" Target="/ppt/notesMasters/notesMaster1.xml" Id="R3ef3ef07953d43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96523b82d24651" /><Relationship Type="http://schemas.openxmlformats.org/officeDocument/2006/relationships/notesMaster" Target="/ppt/notesMasters/notesMaster1.xml" Id="R4d722b8a3e7b4b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d4cb6ea18748c4" /><Relationship Type="http://schemas.openxmlformats.org/officeDocument/2006/relationships/notesMaster" Target="/ppt/notesMasters/notesMaster1.xml" Id="R2e3c6ff772a640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4ca40b0e994d61" /><Relationship Type="http://schemas.openxmlformats.org/officeDocument/2006/relationships/notesMaster" Target="/ppt/notesMasters/notesMaster1.xml" Id="R5326575d38a348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3e0b6e4ec8465e" /><Relationship Type="http://schemas.openxmlformats.org/officeDocument/2006/relationships/notesMaster" Target="/ppt/notesMasters/notesMaster1.xml" Id="R4f7a532af99f4d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ff2f18671649ff" /><Relationship Type="http://schemas.openxmlformats.org/officeDocument/2006/relationships/notesMaster" Target="/ppt/notesMasters/notesMaster1.xml" Id="R932f023cdd4a47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d6bc6d26e249cd" /><Relationship Type="http://schemas.openxmlformats.org/officeDocument/2006/relationships/notesMaster" Target="/ppt/notesMasters/notesMaster1.xml" Id="Rb03d46f807614c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91b367c76054d95" /><Relationship Type="http://schemas.openxmlformats.org/officeDocument/2006/relationships/notesMaster" Target="/ppt/notesMasters/notesMaster1.xml" Id="R0e2fb44a068548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0dfab6577604edc" /><Relationship Type="http://schemas.openxmlformats.org/officeDocument/2006/relationships/notesMaster" Target="/ppt/notesMasters/notesMaster1.xml" Id="R6f7768b56f9c4b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开场只提出一个清晰请求：批准项目立项，建设面向国产硬件的推理状态基础设施。后续页面依次回答为什么现在必须做、要建成什么、为什么我们有竞争力、如何交付、需要哪些支持以及建成后的收益。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统一异构KVCache存储池_项目竞争力与业界方案深度对比分析报告_V3.2_立项论证与潜在壁垒版.md</a:t>
            </a:r>
          </a:p>
          <a:p xmlns:a="http://schemas.openxmlformats.org/drawingml/2006/main">
            <a:r>
              <a:t>- 统一异构KVCache存储池总体架构与SRS评审导读_V2.2评审稿.md</a:t>
            </a:r>
          </a:p>
          <a:p xmlns:a="http://schemas.openxmlformats.org/drawingml/2006/main">
            <a:r>
              <a:t>- 竞争力总结/统一异构KVCache存储池_在线推理软件栈框架图与关键竞争力_核心技术重构版_四项竞争力版.pptx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本页是立项的必要性，不是验收结论。核心论点是：KVCache 已经承载已支付的 Prefill 计算，随着长上下文、RAG、Agent 和 P/D 分离，它会直接影响服务结果；国产硬件则需要一层能够把 UBMEM / URMA 等能力转化为系统行为的第一方软件。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统一异构KVCache存储池_项目竞争力与业界方案深度对比分析报告_V3.2_立项论证与潜在壁垒版.md</a:t>
            </a:r>
          </a:p>
          <a:p xmlns:a="http://schemas.openxmlformats.org/drawingml/2006/main">
            <a:r>
              <a:t>- 统一异构KVCache存储池总体架构与SRS评审导读_V2.2评审稿.md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本页用四项能力说明项目为什么值得投入。不要把优势说成“功能更多”；关键差异在于决策中心、硬件责任和端到端交付闭环。Mooncake、LMCache 等可以作为 Provider 或数据面复用对象，项目仍然需要拥有目标国产硬件上的第一方控制面与认证责任。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统一异构KVCache存储池_项目竞争力与业界方案深度对比分析报告_V3.2_立项论证与潜在壁垒版.md</a:t>
            </a:r>
          </a:p>
          <a:p xmlns:a="http://schemas.openxmlformats.org/drawingml/2006/main">
            <a:r>
              <a:t>- 竞争力总结/统一异构KVCache存储池_在线推理软件栈框架图与关键竞争力_核心技术重构版_四项竞争力版.pptx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本页把立项对象定义清楚：不是再做一个缓存组件，而是做一层围绕推理状态的基础设施软件栈。五层结构来自总体架构和 SRS 讨论；控制面负责语义、意图和决策，数据面负责描述符、可见性和传输，硬件 Provider 负责把目标平台能力接进真实路径。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统一异构KVCache存储池总体架构与SRS评审导读_V2.2评审稿.md</a:t>
            </a:r>
          </a:p>
          <a:p xmlns:a="http://schemas.openxmlformats.org/drawingml/2006/main">
            <a:r>
              <a:t>- KVCache SRS需求列表 V2.2_传输底座视角_建议修订版.xlsx</a:t>
            </a:r>
          </a:p>
          <a:p xmlns:a="http://schemas.openxmlformats.org/drawingml/2006/main">
            <a:r>
              <a:t>- 项目SR需求关系关联架构图.pptx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这里明确项目如何把技术动作连接到客户价值。KVCache 的价值链不是“命中率越高越好”，而是从意图、语义身份、消费资格、计划、真实路径到 TTFT / TPOT / QPS / 容量，最终落到合格事务和单位 TCO。负收益命中应该被拒绝或重算，这也是系统智能的一部分。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统一异构KVCache存储池_项目竞争力与业界方案深度对比分析报告_V3.2_立项论证与潜在壁垒版.md</a:t>
            </a:r>
          </a:p>
          <a:p xmlns:a="http://schemas.openxmlformats.org/drawingml/2006/main">
            <a:r>
              <a:t>- 统一异构KVCache存储池总体架构与SRS评审导读_V2.2评审稿.md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四项技术路线分别覆盖正确性、决策智能、传输效率和异构扩展。每项都要形成可迁入正式模块的对象、接口、Provider、观测和测试资产。这里的目标不是单独证明某个 API 很快，而是证明各层能够在真实 workload 中组成可交付闭环。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统一异构KVCache存储池总体架构与SRS评审导读_V2.2评审稿.md</a:t>
            </a:r>
          </a:p>
          <a:p xmlns:a="http://schemas.openxmlformats.org/drawingml/2006/main">
            <a:r>
              <a:t>- 统一异构KVCache存储池_关键技术原型验证清单_V1.5_SRS-V2.2对齐修订版.xlsx</a:t>
            </a:r>
          </a:p>
          <a:p xmlns:a="http://schemas.openxmlformats.org/drawingml/2006/main">
            <a:r>
              <a:t>- KVCache SRS需求列表 V2.2_传输底座视角_建议修订版.xlsx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本页把项目放回真实业务场景。首期优先覆盖 RAG / 共享前缀、多轮 Agent、P/D 分离、长上下文与多租户，分别牵引复用、生命周期、传输、容量和 QoS。所有指标应在统一 workload / trace / SLO 基线下测量，后续形成客户 BVT 与交付包。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统一异构KVCache存储池_项目竞争力与业界方案深度对比分析报告_V3.2_立项论证与潜在壁垒版.md</a:t>
            </a:r>
          </a:p>
          <a:p xmlns:a="http://schemas.openxmlformats.org/drawingml/2006/main">
            <a:r>
              <a:t>- 统一异构KVCache存储池总体架构与SRS评审导读_V2.2评审稿.md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数字是启动基线，不是已达成的客户结果。需求树、SRS、PVT / CVT 清单和架构导读已经把项目拆成可执行对象；立项后需要做的是建立统一基线、把原型迁入正式模块，并让每一条实际数据路径都有可复现的证据。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统一异构KVCache存储池_关键技术原型验证清单_V1.5_SRS-V2.2对齐修订版.xlsx</a:t>
            </a:r>
          </a:p>
          <a:p xmlns:a="http://schemas.openxmlformats.org/drawingml/2006/main">
            <a:r>
              <a:t>- 统一异构KVCache存储池_全量需求树_V2.3.1_专属术语中文释义修订版_Excel兼容性修复版.xlsx</a:t>
            </a:r>
          </a:p>
          <a:p xmlns:a="http://schemas.openxmlformats.org/drawingml/2006/main">
            <a:r>
              <a:t>- KVCache SRS需求列表 V2.2_传输底座视角_建议修订版.xlsx</a:t>
            </a:r>
          </a:p>
          <a:p xmlns:a="http://schemas.openxmlformats.org/drawingml/2006/main">
            <a:r>
              <a:t>- 统一异构KVCache存储池总体架构与SRS评审导读_V2.2评审稿.md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这里呈现的是建设路线，而不是评审门禁。P0 先构建最小闭环，P1 接入框架和核心流程，P2 进入生产能力，P3 做跨硬件、跨版本和生态交付。每阶段都必须带走模块、测试、观测和硬件反馈，保证投入持续复利。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统一异构KVCache存储池总体架构与SRS评审导读_V2.2评审稿.md</a:t>
            </a:r>
          </a:p>
          <a:p xmlns:a="http://schemas.openxmlformats.org/drawingml/2006/main">
            <a:r>
              <a:t>- 统一异构KVCache存储池_关键技术原型验证清单_V1.5_SRS-V2.2对齐修订版.xlsx</a:t>
            </a:r>
          </a:p>
          <a:p xmlns:a="http://schemas.openxmlformats.org/drawingml/2006/main">
            <a:r>
              <a:t>- 统一异构KVCache存储池_项目竞争力与业界方案深度对比分析报告_V3.2_立项论证与潜在壁垒版.md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首期执行按 W0–W3 组织。W0 统一场景与硬件基线，W1 打通描述符和可见性路径，W2 落地语义、容量和回退，W3 形成前台 / 后台最小闭环与迁入清单。执行过程中保持统一时钟、路径级 telemetry、故障注入、feature flag 和 fallback，确保首期资产可以直接进入正式建设。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统一异构KVCache存储池_关键技术原型验证清单_V1.5_SRS-V2.2对齐修订版.xlsx</a:t>
            </a:r>
          </a:p>
          <a:p xmlns:a="http://schemas.openxmlformats.org/drawingml/2006/main">
            <a:r>
              <a:t>- 统一异构KVCache存储池总体架构与SRS评审导读_V2.2评审稿.md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收益分为五类：客户界面、生态建设、软硬结合、软件栈孵化和生态主导权。这里使用“预期收益”口径，不把目标数字包装成已实现结果。项目长期价值在于把客户 Trace、决策数据、认证矩阵和硬件联合设计能力沉淀为可复用资产。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统一异构KVCache存储池_项目竞争力与业界方案深度对比分析报告_V3.2_立项论证与潜在壁垒版.md</a:t>
            </a:r>
          </a:p>
          <a:p xmlns:a="http://schemas.openxmlformats.org/drawingml/2006/main">
            <a:r>
              <a:t>- 统一异构KVCache存储池_在线推理软件栈框架图与关键竞争力_核心技术重构版_四项竞争力版.pptx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收束回立项申请。需要领导支持的不是泛泛的研发预算，而是项目 Owner、跨层研发资源、代表硬件与协同窗口、真实场景与客户联创出口。首期工作完成后，用模块、路径、证据和问题清单承接 P0–P3 建设。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统一异构KVCache存储池_项目竞争力与业界方案深度对比分析报告_V3.2_立项论证与潜在壁垒版.md</a:t>
            </a:r>
          </a:p>
          <a:p xmlns:a="http://schemas.openxmlformats.org/drawingml/2006/main">
            <a:r>
              <a:t>- 统一异构KVCache存储池总体架构与SRS评审导读_V2.2评审稿.md</a:t>
            </a:r>
          </a:p>
          <a:p xmlns:a="http://schemas.openxmlformats.org/drawingml/2006/main">
            <a:r>
              <a:t>- 统一异构KVCache存储池_关键技术原型验证清单_V1.5_SRS-V2.2对齐修订版.xlsx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1659ddad7142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b0e47b1b524f34" /><Relationship Type="http://schemas.openxmlformats.org/officeDocument/2006/relationships/slideLayout" Target="/ppt/slideLayouts/slideLayout1.xml" Id="Rbcfad1a5314c43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fad1a5314c43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03717718b4e99" /><Relationship Type="http://schemas.openxmlformats.org/officeDocument/2006/relationships/notesSlide" Target="/ppt/notesSlides/notesSlide1.xml" Id="R842c3f63c0794b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aec82ce024393" /><Relationship Type="http://schemas.openxmlformats.org/officeDocument/2006/relationships/notesSlide" Target="/ppt/notesSlides/notesSlide2.xml" Id="R5194db7d24a345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a5016cb8f477b" /><Relationship Type="http://schemas.openxmlformats.org/officeDocument/2006/relationships/notesSlide" Target="/ppt/notesSlides/notesSlide3.xml" Id="Rd75d18ec93d942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32f6ea0ed4e81" /><Relationship Type="http://schemas.openxmlformats.org/officeDocument/2006/relationships/notesSlide" Target="/ppt/notesSlides/notesSlide4.xml" Id="R3e5a942537a446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e6db6e4491430d" /><Relationship Type="http://schemas.openxmlformats.org/officeDocument/2006/relationships/notesSlide" Target="/ppt/notesSlides/notesSlide5.xml" Id="Rc94456b1b6c04b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d82ed1db247fe" /><Relationship Type="http://schemas.openxmlformats.org/officeDocument/2006/relationships/notesSlide" Target="/ppt/notesSlides/notesSlide6.xml" Id="Radcea9e3747f48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29b84ff7a4f9d" /><Relationship Type="http://schemas.openxmlformats.org/officeDocument/2006/relationships/notesSlide" Target="/ppt/notesSlides/notesSlide7.xml" Id="R05f6213a17f44d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52d6524f24d85" /><Relationship Type="http://schemas.openxmlformats.org/officeDocument/2006/relationships/notesSlide" Target="/ppt/notesSlides/notesSlide8.xml" Id="Rdef20479d2544a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e69fc7db64452" /><Relationship Type="http://schemas.openxmlformats.org/officeDocument/2006/relationships/notesSlide" Target="/ppt/notesSlides/notesSlide9.xml" Id="R51a43aec663b41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486afcb2e4b24" /><Relationship Type="http://schemas.openxmlformats.org/officeDocument/2006/relationships/notesSlide" Target="/ppt/notesSlides/notesSlide10.xml" Id="R9f60495d9f0947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97a88762d48d9" /><Relationship Type="http://schemas.openxmlformats.org/officeDocument/2006/relationships/notesSlide" Target="/ppt/notesSlides/notesSlide11.xml" Id="Ra76b790f1e6c445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84d2dace64d9b" /><Relationship Type="http://schemas.openxmlformats.org/officeDocument/2006/relationships/notesSlide" Target="/ppt/notesSlides/notesSlide12.xml" Id="R69c84618c23244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5B4A7C-1040-4135-BAD3-3CF19F6D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167"/>
          </a:solidFill>
          <a:ln xmlns:a="http://schemas.openxmlformats.org/drawingml/2006/main" w="0">
            <a:solidFill>
              <a:srgbClr val="0F4167"/>
            </a:solidFill>
            <a:prstDash val="solid"/>
          </a:ln>
        </p:spPr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BFB01E05-3459-472B-BD98-ACA78887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62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1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统一异构 KVCache 存储池</a:t>
            </a:r>
          </a:p>
        </p:txBody>
      </p:sp>
      <p:sp>
        <p:nvSpPr>
          <p:cNvPr id="3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8774114E-F539-48F4-969C-D5D2021C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国产 AI Infra 推理状态基础设施｜项目立项申请</a:t>
            </a:r>
          </a:p>
        </p:txBody>
      </p:sp>
      <p:sp>
        <p:nvSpPr>
          <p:cNvPr id="4" name="deck-rule">
            <a:extLst xmlns:a="http://schemas.openxmlformats.org/drawingml/2006/main">
              <a:ext uri="{FF2B5EF4-FFF2-40B4-BE49-F238E27FC236}">
                <a16:creationId xmlns:a16="http://schemas.microsoft.com/office/drawing/2014/main" id="{E75AD384-B3A6-4E59-9B80-37E295BD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5" name="decision-ask">
            <a:extLst xmlns:a="http://schemas.openxmlformats.org/drawingml/2006/main">
              <a:ext uri="{FF2B5EF4-FFF2-40B4-BE49-F238E27FC236}">
                <a16:creationId xmlns:a16="http://schemas.microsoft.com/office/drawing/2014/main" id="{3A2EBE10-6802-445F-8390-03E8E7CA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rPr>
              <a:t>申请立项</a:t>
            </a:r>
          </a:p>
        </p:txBody>
      </p:sp>
      <p:sp>
        <p:nvSpPr>
          <p:cNvPr id="6" name="thesis">
            <a:extLst xmlns:a="http://schemas.openxmlformats.org/drawingml/2006/main">
              <a:ext uri="{FF2B5EF4-FFF2-40B4-BE49-F238E27FC236}">
                <a16:creationId xmlns:a16="http://schemas.microsoft.com/office/drawing/2014/main" id="{8DDB2FAB-4463-4281-BD8C-78101DF1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面向国产硬件，打通推理框架、状态管理、异构存储与高速传输，形成一套可交付的 KVCache 基础设施软件栈。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BE5646-8337-46E9-BA9E-C6915BC0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1657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solidFill>
              <a:srgbClr val="EAF3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C10FC-2CC6-407A-B6A2-80C537AC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rPr>
              <a:t>4–5 周首期切片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029384-0902-4893-BD27-4944A1D6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591050"/>
            <a:ext cx="1485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F3"/>
          </a:solidFill>
          <a:ln xmlns:a="http://schemas.openxmlformats.org/drawingml/2006/main" w="0">
            <a:solidFill>
              <a:srgbClr val="E7F5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7656AA-3AF4-4183-8A77-8A60FD37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291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0D9A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D9A93"/>
                </a:solidFill>
                <a:latin typeface="Microsoft YaHei"/>
                <a:ea typeface="Microsoft YaHei"/>
                <a:cs typeface="Microsoft YaHei"/>
              </a:rPr>
              <a:t>P0–P3 分阶段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9F6C31-5604-4EE0-977C-5EE7FC3A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5910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EFC"/>
          </a:solidFill>
          <a:ln xmlns:a="http://schemas.openxmlformats.org/drawingml/2006/main" w="0">
            <a:solidFill>
              <a:srgbClr val="F0EEF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FD6C3F-5527-4829-93EB-95CEF6C8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2915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766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7667D9"/>
                </a:solidFill>
                <a:latin typeface="Microsoft YaHei"/>
                <a:ea typeface="Microsoft YaHei"/>
                <a:cs typeface="Microsoft YaHei"/>
              </a:rPr>
              <a:t>跨层协同交付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8C5972-D3C9-4CF6-8BE6-6D7F4CB9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立项后的首批工作：统一基线、最小纵向闭环、国产硬件 Provider、可审计性能证据。</a:t>
            </a:r>
          </a:p>
        </p:txBody>
      </p:sp>
      <p:sp>
        <p:nvSpPr>
          <p:cNvPr id="14" name="value-rail">
            <a:extLst xmlns:a="http://schemas.openxmlformats.org/drawingml/2006/main">
              <a:ext uri="{FF2B5EF4-FFF2-40B4-BE49-F238E27FC236}">
                <a16:creationId xmlns:a16="http://schemas.microsoft.com/office/drawing/2014/main" id="{7F081FB5-DD61-472A-A558-49AF2E76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895350"/>
            <a:ext cx="26289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A567D8-179C-4B3A-A331-2CF1DBD1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895350"/>
            <a:ext cx="2628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20213E-B01F-4431-8F90-25C35AC5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2192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立项价值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DFE0D9-91E2-466E-8E87-9A781355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28775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E36F78-39A8-48DA-838C-5602EAE8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43100"/>
            <a:ext cx="9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0BB93E-8E35-4451-B1DF-33FA63C6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2405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更快推理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9AB57A-14C1-40BB-8134-141B5FC1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8122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降低 TTFT / TPOT 波动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321C2D-9C5B-4D1A-BB61-86D59794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86050"/>
            <a:ext cx="9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A93"/>
          </a:solidFill>
          <a:ln xmlns:a="http://schemas.openxmlformats.org/drawingml/2006/main" w="0">
            <a:solidFill>
              <a:srgbClr val="0D9A9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A237EE-D1E0-4EE9-9BBE-FF533390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670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更高利用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DF1098-0EF4-425C-9CA8-7F4EF782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2417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提升状态复用与有效容量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A41D1D-1B44-4C38-BE24-3D2F5F7B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29000"/>
            <a:ext cx="9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D9"/>
          </a:solidFill>
          <a:ln xmlns:a="http://schemas.openxmlformats.org/drawingml/2006/main" w="0">
            <a:solidFill>
              <a:srgbClr val="7667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35F115-295E-4848-AD4D-46C4D580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0995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更低成本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C53C5F-7C2B-43D1-B5A1-B11AD15C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6712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减少重复计算与盲目扩容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7073CB-2B41-407A-A2CE-6C0AA006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71950"/>
            <a:ext cx="9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A18"/>
          </a:solidFill>
          <a:ln xmlns:a="http://schemas.openxmlformats.org/drawingml/2006/main" w="0">
            <a:solidFill>
              <a:srgbClr val="C68A1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3F5873-1ED0-4BA7-A3AB-829537A2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1529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更强生态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A01E8D-8F88-4686-B399-C8BFACD1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41007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把国产硬件能力变成可交付产品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2F84EC-0C7F-4172-9E0C-7EA9B8AC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1015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31" name="version">
            <a:extLst xmlns:a="http://schemas.openxmlformats.org/drawingml/2006/main">
              <a:ext uri="{FF2B5EF4-FFF2-40B4-BE49-F238E27FC236}">
                <a16:creationId xmlns:a16="http://schemas.microsoft.com/office/drawing/2014/main" id="{C3F80653-2DB0-4270-83EB-8192FB4B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V3.3｜立项申请视角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B6DE24-84EE-48DF-A552-4246A187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1722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统一异构 KVCache 存储池</a:t>
            </a:r>
          </a:p>
        </p:txBody>
      </p:sp>
    </p:spTree>
    <p:extLst>
      <p:ext uri="{BB962C8B-B14F-4D97-AF65-F5344CB8AC3E}">
        <p14:creationId xmlns:p14="http://schemas.microsoft.com/office/powerpoint/2010/main" val="11437842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69BC7E1B-DA70-479F-B203-1418860D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4AB428-FEFE-4301-BA7F-E73003E8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KVCache 已从“缓存组件”升级为 AI Infra 的价值状态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77303E3-AB5F-4B9A-8795-A02EABEE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它承载已支付的 Prefill 计算，并直接决定后续请求的时延、容量、吞吐与成本。</a:t>
            </a:r>
          </a:p>
        </p:txBody>
      </p:sp>
      <p:sp>
        <p:nvSpPr>
          <p:cNvPr id="4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76F57A33-3C38-4BA5-9FAE-28F53316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3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02  /  为什么现在立项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13D67F5-6CDB-4FB0-B63B-8EC77E4B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88636-0EF7-4992-9590-BD3A023C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572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167"/>
          </a:solidFill>
          <a:ln xmlns:a="http://schemas.openxmlformats.org/drawingml/2006/main" w="0">
            <a:solidFill>
              <a:srgbClr val="0F416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09717-8A16-4E07-AB0F-380F03E3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长上下文、RAG、Agent、Prefill–Decode 分离，让 KVCache 从局部优化点变成推理系统的状态底座。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E0A783-3EB9-46DB-9977-EF4F716D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2385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19C376-25FF-4B38-BF6D-BD0EF04A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71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10" name="推理侧-title">
            <a:extLst xmlns:a="http://schemas.openxmlformats.org/drawingml/2006/main">
              <a:ext uri="{FF2B5EF4-FFF2-40B4-BE49-F238E27FC236}">
                <a16:creationId xmlns:a16="http://schemas.microsoft.com/office/drawing/2014/main" id="{FB044398-DCAD-4077-B54C-0EAA59EE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推理侧</a:t>
            </a:r>
          </a:p>
        </p:txBody>
      </p:sp>
      <p:sp>
        <p:nvSpPr>
          <p:cNvPr id="11" name="推理侧-body">
            <a:extLst xmlns:a="http://schemas.openxmlformats.org/drawingml/2006/main">
              <a:ext uri="{FF2B5EF4-FFF2-40B4-BE49-F238E27FC236}">
                <a16:creationId xmlns:a16="http://schemas.microsoft.com/office/drawing/2014/main" id="{7744864D-5140-4D03-83D0-2C3ACE87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28384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上下文更长、请求更复杂、共享前缀更多。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命中、传输、预取、生命周期和重算策略共同决定真实的 TTFT、TPOT 与吞吐。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78E000-10C1-407A-8682-4B7A41C2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00300"/>
            <a:ext cx="32385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3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A88C3B-A73E-4064-91A2-0587AE3D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00300"/>
            <a:ext cx="571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A93"/>
          </a:solidFill>
          <a:ln xmlns:a="http://schemas.openxmlformats.org/drawingml/2006/main" w="0">
            <a:solidFill>
              <a:srgbClr val="0D9A93"/>
            </a:solidFill>
            <a:prstDash val="solid"/>
          </a:ln>
        </p:spPr>
      </p:sp>
      <p:sp>
        <p:nvSpPr>
          <p:cNvPr id="14" name="硬件侧-title">
            <a:extLst xmlns:a="http://schemas.openxmlformats.org/drawingml/2006/main">
              <a:ext uri="{FF2B5EF4-FFF2-40B4-BE49-F238E27FC236}">
                <a16:creationId xmlns:a16="http://schemas.microsoft.com/office/drawing/2014/main" id="{019B6A1E-07BD-460D-A997-82F2556D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146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硬件侧</a:t>
            </a:r>
          </a:p>
        </p:txBody>
      </p:sp>
      <p:sp>
        <p:nvSpPr>
          <p:cNvPr id="15" name="硬件侧-body">
            <a:extLst xmlns:a="http://schemas.openxmlformats.org/drawingml/2006/main">
              <a:ext uri="{FF2B5EF4-FFF2-40B4-BE49-F238E27FC236}">
                <a16:creationId xmlns:a16="http://schemas.microsoft.com/office/drawing/2014/main" id="{AB796FD4-B723-40AD-A142-DBCABAAC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38450"/>
            <a:ext cx="28384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HBM、DDR、SSD，甚至芯片内部 L3 / NoC 等资源各有能力边界。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UBMEM / URMA 需要由上层意图和计划真正驱动。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9B8771-1F85-4487-A99C-78F15B27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00300"/>
            <a:ext cx="35623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C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08C354-4F44-405C-9D00-3735B955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00300"/>
            <a:ext cx="571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D9"/>
          </a:solidFill>
          <a:ln xmlns:a="http://schemas.openxmlformats.org/drawingml/2006/main" w="0">
            <a:solidFill>
              <a:srgbClr val="7667D9"/>
            </a:solidFill>
            <a:prstDash val="solid"/>
          </a:ln>
        </p:spPr>
      </p:sp>
      <p:sp>
        <p:nvSpPr>
          <p:cNvPr id="18" name="产业侧-title">
            <a:extLst xmlns:a="http://schemas.openxmlformats.org/drawingml/2006/main">
              <a:ext uri="{FF2B5EF4-FFF2-40B4-BE49-F238E27FC236}">
                <a16:creationId xmlns:a16="http://schemas.microsoft.com/office/drawing/2014/main" id="{983B63A2-9D22-4BE8-890A-3BEB2654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146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产业侧</a:t>
            </a:r>
          </a:p>
        </p:txBody>
      </p:sp>
      <p:sp>
        <p:nvSpPr>
          <p:cNvPr id="19" name="产业侧-body">
            <a:extLst xmlns:a="http://schemas.openxmlformats.org/drawingml/2006/main">
              <a:ext uri="{FF2B5EF4-FFF2-40B4-BE49-F238E27FC236}">
                <a16:creationId xmlns:a16="http://schemas.microsoft.com/office/drawing/2014/main" id="{A4AF20C9-D82E-4D15-BB3E-95F12C6C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38450"/>
            <a:ext cx="31623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国产硬件不能只依赖通用最小公分母。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需要一个对目标芯片 Day-0、生产问题和跨层性能结果负责的第一方软件栈。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5F49A6-D02D-4DC3-979E-93527381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rPr>
              <a:t>立项价值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589AA5-F62C-45B6-AB1F-360AA678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14900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把“状态数据管理”提升为国产 AI Infra 的基础能力：让硬件能力真正转化为客户可感知的推理能力。</a:t>
            </a:r>
          </a:p>
        </p:txBody>
      </p:sp>
      <p:sp>
        <p:nvSpPr>
          <p:cNvPr id="2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87258CC-CE9D-49C9-A972-6C0E5A47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统一异构 KVCache 存储池｜立项申请与建设路径</a:t>
            </a:r>
          </a:p>
        </p:txBody>
      </p:sp>
      <p:sp>
        <p:nvSpPr>
          <p:cNvPr id="2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47214F2-74E7-46FB-B81E-C7EF83D2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437842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7D3B26D-F549-4F8D-9B7B-659593D1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6784BD-A27B-4096-88B0-7FD0AD28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我们要建立的是国产硬件上的第一方推理状态基础设施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7231C39-C51A-44A7-8E27-C37A736C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对标 NVIDIA 的系统角色，面向国产硬件重建一套与 KVCache 相关的 AI Infra 软件栈。</a:t>
            </a:r>
          </a:p>
        </p:txBody>
      </p:sp>
      <p:sp>
        <p:nvSpPr>
          <p:cNvPr id="4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CBA96C5F-78E4-4712-95E4-6671356A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3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03  /  为什么是我们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E367B9AF-36BB-436B-B898-C2EAB005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A9610-CC73-466A-B50A-17B1081C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rPr>
              <a:t>开源方案可以复用为数据面 Provider；本项目承担目标国产平台的语义、决策、认证与交付责任。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E340BB-6F7F-4070-ABAD-273B9074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953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D1862-8E1C-4B1F-AAB8-D90A1AD4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9" name="状态价值驱动-title">
            <a:extLst xmlns:a="http://schemas.openxmlformats.org/drawingml/2006/main">
              <a:ext uri="{FF2B5EF4-FFF2-40B4-BE49-F238E27FC236}">
                <a16:creationId xmlns:a16="http://schemas.microsoft.com/office/drawing/2014/main" id="{5BFB752F-ADB5-48E5-B789-7764B312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状态价值驱动</a:t>
            </a:r>
          </a:p>
        </p:txBody>
      </p:sp>
      <p:sp>
        <p:nvSpPr>
          <p:cNvPr id="10" name="状态价值驱动-body">
            <a:extLst xmlns:a="http://schemas.openxmlformats.org/drawingml/2006/main">
              <a:ext uri="{FF2B5EF4-FFF2-40B4-BE49-F238E27FC236}">
                <a16:creationId xmlns:a16="http://schemas.microsoft.com/office/drawing/2014/main" id="{29CEFE72-3E42-4CB3-8273-F99392CB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4552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以意图、语义身份、消费资格和收益为决策要素；支持正收益的 View / Load / Move / Recompute，而不是把 raw hit 当成目标。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F3F17-0BE9-4C72-9950-32972821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85950"/>
            <a:ext cx="4953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3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1A7D1E-8B75-416E-8212-D005969F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859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A93"/>
          </a:solidFill>
          <a:ln xmlns:a="http://schemas.openxmlformats.org/drawingml/2006/main" w="0">
            <a:solidFill>
              <a:srgbClr val="0D9A93"/>
            </a:solidFill>
            <a:prstDash val="solid"/>
          </a:ln>
        </p:spPr>
      </p:sp>
      <p:sp>
        <p:nvSpPr>
          <p:cNvPr id="13" name="异构介质原生-title">
            <a:extLst xmlns:a="http://schemas.openxmlformats.org/drawingml/2006/main">
              <a:ext uri="{FF2B5EF4-FFF2-40B4-BE49-F238E27FC236}">
                <a16:creationId xmlns:a16="http://schemas.microsoft.com/office/drawing/2014/main" id="{00114088-2546-4F1E-8F68-4D8AD38E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异构介质原生</a:t>
            </a:r>
          </a:p>
        </p:txBody>
      </p:sp>
      <p:sp>
        <p:nvSpPr>
          <p:cNvPr id="14" name="异构介质原生-body">
            <a:extLst xmlns:a="http://schemas.openxmlformats.org/drawingml/2006/main">
              <a:ext uri="{FF2B5EF4-FFF2-40B4-BE49-F238E27FC236}">
                <a16:creationId xmlns:a16="http://schemas.microsoft.com/office/drawing/2014/main" id="{31584BF0-5B66-4EBC-B2F7-2E25A0A4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24100"/>
            <a:ext cx="4552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从 HBM、DDR、SSD 延展到芯片内部 L3 等存储结构，围绕带宽、容量、时延、能耗与可靠性做统一池化。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D20F1D-1771-4042-A98B-956E3A9C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4953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C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F45090-6672-4FB2-965B-83C7ED86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D9"/>
          </a:solidFill>
          <a:ln xmlns:a="http://schemas.openxmlformats.org/drawingml/2006/main" w="0">
            <a:solidFill>
              <a:srgbClr val="7667D9"/>
            </a:solidFill>
            <a:prstDash val="solid"/>
          </a:ln>
        </p:spPr>
      </p:sp>
      <p:sp>
        <p:nvSpPr>
          <p:cNvPr id="17" name="软硬深度协同-title">
            <a:extLst xmlns:a="http://schemas.openxmlformats.org/drawingml/2006/main">
              <a:ext uri="{FF2B5EF4-FFF2-40B4-BE49-F238E27FC236}">
                <a16:creationId xmlns:a16="http://schemas.microsoft.com/office/drawing/2014/main" id="{44D380C6-7263-4CD8-84CD-D1CCD6F2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软硬深度协同</a:t>
            </a:r>
          </a:p>
        </p:txBody>
      </p:sp>
      <p:sp>
        <p:nvSpPr>
          <p:cNvPr id="18" name="软硬深度协同-body">
            <a:extLst xmlns:a="http://schemas.openxmlformats.org/drawingml/2006/main">
              <a:ext uri="{FF2B5EF4-FFF2-40B4-BE49-F238E27FC236}">
                <a16:creationId xmlns:a16="http://schemas.microsoft.com/office/drawing/2014/main" id="{6D1F55A9-6D00-4003-9A3C-EE874570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4552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把 UBMEM / URMA、驱动、固件、芯片微架构计数器和拓扑能力编译成可执行路径，形成 Day-0 联合设计闭环。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00D119-4A05-4FD8-811D-BF559B7F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67100"/>
            <a:ext cx="4953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77845A-4D72-4C2E-A985-D06F8381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671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A18"/>
          </a:solidFill>
          <a:ln xmlns:a="http://schemas.openxmlformats.org/drawingml/2006/main" w="0">
            <a:solidFill>
              <a:srgbClr val="C68A18"/>
            </a:solidFill>
            <a:prstDash val="solid"/>
          </a:ln>
        </p:spPr>
      </p:sp>
      <p:sp>
        <p:nvSpPr>
          <p:cNvPr id="21" name="端到端可交付-title">
            <a:extLst xmlns:a="http://schemas.openxmlformats.org/drawingml/2006/main">
              <a:ext uri="{FF2B5EF4-FFF2-40B4-BE49-F238E27FC236}">
                <a16:creationId xmlns:a16="http://schemas.microsoft.com/office/drawing/2014/main" id="{08B12474-0EBC-417D-8E6D-78FCE6C1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8140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端到端可交付</a:t>
            </a:r>
          </a:p>
        </p:txBody>
      </p:sp>
      <p:sp>
        <p:nvSpPr>
          <p:cNvPr id="22" name="端到端可交付-body">
            <a:extLst xmlns:a="http://schemas.openxmlformats.org/drawingml/2006/main">
              <a:ext uri="{FF2B5EF4-FFF2-40B4-BE49-F238E27FC236}">
                <a16:creationId xmlns:a16="http://schemas.microsoft.com/office/drawing/2014/main" id="{4C2E1ECE-8174-4FD9-8287-64001BAE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05250"/>
            <a:ext cx="4552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从 Planned Path 到 Actual Path、资源计数、SLO 与 TCO 结果全部可追踪；开放数据面、自主控制面与 Provider 生态可组合。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D9DDA5-B6E6-4466-A3F3-E699348E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57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167"/>
          </a:solidFill>
          <a:ln xmlns:a="http://schemas.openxmlformats.org/drawingml/2006/main" w="0">
            <a:solidFill>
              <a:srgbClr val="0F416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10AEC6-744F-4B5C-A529-F7EE9ACD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9725"/>
            <a:ext cx="1011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竞争力来源：更贴近目标硬件、更快进入生产、更能解释结果、更能把客户反馈带回下一代硬件。</a:t>
            </a:r>
          </a:p>
        </p:txBody>
      </p:sp>
      <p:sp>
        <p:nvSpPr>
          <p:cNvPr id="2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627C1F1-06B6-4A56-95A2-609987BB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统一异构 KVCache 存储池｜立项申请与建设路径</a:t>
            </a:r>
          </a:p>
        </p:txBody>
      </p:sp>
      <p:sp>
        <p:nvSpPr>
          <p:cNvPr id="2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452E962-A293-48A3-95F4-B71B6505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437842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C16FBD66-E226-4DFD-9001-326E0B38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901A26-3720-4604-941B-25B1BB08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项目要交付的不是单一 KV Store，而是一套推理状态软件栈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36439BA-49BB-4AC7-9B00-BA7E92AE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统一对象、状态、策略、路径、观测与硬件能力，支撑从框架接入到生产交付。</a:t>
            </a:r>
          </a:p>
        </p:txBody>
      </p:sp>
      <p:sp>
        <p:nvSpPr>
          <p:cNvPr id="4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7A11C427-236C-4969-9083-14580AF1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3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04  /  建设目标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70074440-DC6C-43E5-95CF-5DF6F365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65437-AB26-4244-B339-D5F3D85F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14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9BC266-754A-4712-B10D-A42FF1CF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FD132F-8F73-4936-8599-8FBDE182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017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 / 框架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43207-E147-4550-A865-5BBDAB1B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390650"/>
            <a:ext cx="499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vLLM、SGLang、P/D、RAG、Agent 与多租户接入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B3E3CC-6E5D-45C2-A312-0E9F0C2F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714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3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244921-FF12-47F9-A90F-6856BD2B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A93"/>
          </a:solidFill>
          <a:ln xmlns:a="http://schemas.openxmlformats.org/drawingml/2006/main" w="0">
            <a:solidFill>
              <a:srgbClr val="0D9A9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A80CDC-DBD5-4968-9BCD-F3FD8882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语义 / 策略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F4A89D-58AC-4781-8B8A-BC5B89A4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76450"/>
            <a:ext cx="499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KVAccessIntent、SemanticIdentity、Eligibility、Admission 与 QoS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837446-924C-4285-83F9-230B0DEE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14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C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4142EE-E044-4F8C-8EC0-13DF34DF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D9"/>
          </a:solidFill>
          <a:ln xmlns:a="http://schemas.openxmlformats.org/drawingml/2006/main" w="0">
            <a:solidFill>
              <a:srgbClr val="7667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FC2B97-1B16-4FF2-B7FC-7A677696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7177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统一池 / 生命周期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CBF4B0-9429-443A-8499-5AA1BBED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62250"/>
            <a:ext cx="499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PrefixDirectory、Publish、Lease、Evict、Tiering 与容量管理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1B1E26-1213-471C-B8C4-D624C9B9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714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EC0054-A8E8-454E-A013-EED95EAC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A18"/>
          </a:solidFill>
          <a:ln xmlns:a="http://schemas.openxmlformats.org/drawingml/2006/main" w="0">
            <a:solidFill>
              <a:srgbClr val="C68A1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0D38B7-E6F6-41FF-8FAA-8D3E119A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5757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传输 / 可见性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8D1E70-00D1-4D39-B2C6-444E3391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448050"/>
            <a:ext cx="499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QueryPlan、Descriptor、Fence / Ready、Attach、Actual Path 与回退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D162B7-2DE0-4640-94A6-F7C4459F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714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3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B8AF3F-C7C9-41EA-B162-72B09618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167"/>
          </a:solidFill>
          <a:ln xmlns:a="http://schemas.openxmlformats.org/drawingml/2006/main" w="0">
            <a:solidFill>
              <a:srgbClr val="0F416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93C3A4-011B-4F11-9F51-53D71CEF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国产硬件底座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4C7C19-68A1-426F-8FAB-0DCDB9DE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33850"/>
            <a:ext cx="499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HBM / DDR / SSD / L3、UBMEM / URMA、NPU、网络、驱动与固件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CFA77E-23D7-4360-8518-5B3AABDF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257300"/>
            <a:ext cx="30480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9B581F-7F00-4F66-8BC5-7635A413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四个统一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BDF234-CC7A-4BBB-B144-4C8FC518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240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678BC7-89CC-46E5-893C-147CF002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907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11667F-1D6C-41AD-8FA2-E9A78D20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71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对象与状态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38EF70-DD76-4239-A231-1DCD43FF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28875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每份 KV 的身份、版本、布局、租约、可消费资格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C7281F-F1AB-4B41-8926-3309A5CF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146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A93"/>
          </a:solidFill>
          <a:ln xmlns:a="http://schemas.openxmlformats.org/drawingml/2006/main" w="0">
            <a:solidFill>
              <a:srgbClr val="0D9A9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30817A-1D3D-43B4-8138-39BE45AA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95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控制平面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BEF73E-FBFB-4E66-9B4D-6293F90E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52775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以意图和收益做 View / Load / Move / Recompute 决策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847FE9-72BA-4F02-B283-C8DDC6B1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85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D9"/>
          </a:solidFill>
          <a:ln xmlns:a="http://schemas.openxmlformats.org/drawingml/2006/main" w="0">
            <a:solidFill>
              <a:srgbClr val="7667D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209951-728E-412F-B76E-08B53518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19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数据平面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8D53BD-DCF3-413C-B92E-B5A4F39B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76675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以 Descriptor / Fence / Ready 驱动高效传输与可见性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3915BD-0986-412F-8D19-B3F93612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6245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A18"/>
          </a:solidFill>
          <a:ln xmlns:a="http://schemas.openxmlformats.org/drawingml/2006/main" w="0">
            <a:solidFill>
              <a:srgbClr val="C68A1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102938-D32D-4425-80AA-BF52569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43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Provider 与认证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755DB1-8347-4009-95FD-7E427092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00575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把国产硬件能力编译进路径、测试、回退与交付矩阵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2D0D71-C8FF-4952-A979-C69B56DA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57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167"/>
          </a:solidFill>
          <a:ln xmlns:a="http://schemas.openxmlformats.org/drawingml/2006/main" w="0">
            <a:solidFill>
              <a:srgbClr val="0F416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5940FA-9575-4A9F-BDBF-881B2E70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目标形态：框架可接入、硬件可适配、路径可执行、结果可审计、问题可归因、能力可复制。</a:t>
            </a:r>
          </a:p>
        </p:txBody>
      </p:sp>
      <p:sp>
        <p:nvSpPr>
          <p:cNvPr id="4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2872F19-9473-4C69-87F2-07162A23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统一异构 KVCache 存储池｜立项申请与建设路径</a:t>
            </a:r>
          </a:p>
        </p:txBody>
      </p:sp>
      <p:sp>
        <p:nvSpPr>
          <p:cNvPr id="4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5A58A1E-C8A3-481C-AE9D-56F2DC96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437842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495CDE6-7188-4A8B-AA99-FDA1A289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1538A6-EC29-4979-8BE9-8478373B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从请求意图到业务产出：让 KVCache 可用、可复用、可审计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0D36E61-1E1E-41FF-8EE1-C8C84604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每一跳都对应一个系统对象和一份路径证据；raw hit 只有转化为正收益状态才有价值。</a:t>
            </a:r>
          </a:p>
        </p:txBody>
      </p:sp>
      <p:sp>
        <p:nvSpPr>
          <p:cNvPr id="4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E7F75FAD-A397-41BA-9E64-17496280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3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05  /  价值闭环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02F41EC7-3760-4B4E-958F-C54D705C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18690-DB32-406C-AC9F-23B85163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167"/>
          </a:solidFill>
          <a:ln xmlns:a="http://schemas.openxmlformats.org/drawingml/2006/main" w="0">
            <a:solidFill>
              <a:srgbClr val="0F416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39448-7B36-4227-BCF9-516FA679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1011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北极星：在相同模型质量、客户 SLO 和硬件预算下，完成更多合格业务事务。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EDF195-260A-4D8F-90C8-D6C76283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352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2C6F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FB381-8737-470E-BBCB-2C0AEC86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352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10" name="KVAccessIntent-title">
            <a:extLst xmlns:a="http://schemas.openxmlformats.org/drawingml/2006/main">
              <a:ext uri="{FF2B5EF4-FFF2-40B4-BE49-F238E27FC236}">
                <a16:creationId xmlns:a16="http://schemas.microsoft.com/office/drawing/2014/main" id="{E110C7A8-82DA-4478-A37B-2D4B73AB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9077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KVAccessIntent</a:t>
            </a:r>
          </a:p>
        </p:txBody>
      </p:sp>
      <p:sp>
        <p:nvSpPr>
          <p:cNvPr id="11" name="KVAccessIntent-body">
            <a:extLst xmlns:a="http://schemas.openxmlformats.org/drawingml/2006/main">
              <a:ext uri="{FF2B5EF4-FFF2-40B4-BE49-F238E27FC236}">
                <a16:creationId xmlns:a16="http://schemas.microsoft.com/office/drawing/2014/main" id="{55921B0A-8B5C-4B4F-9848-31C9F67C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95575"/>
            <a:ext cx="1162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意图 / deadline / 预算</a:t>
            </a:r>
          </a:p>
        </p:txBody>
      </p:sp>
      <p:sp>
        <p:nvSpPr>
          <p:cNvPr id="12" name="flow-0">
            <a:extLst xmlns:a="http://schemas.openxmlformats.org/drawingml/2006/main">
              <a:ext uri="{FF2B5EF4-FFF2-40B4-BE49-F238E27FC236}">
                <a16:creationId xmlns:a16="http://schemas.microsoft.com/office/drawing/2014/main" id="{C8975B22-2951-4BBD-AF45-C3868375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6670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1ABC94-A11B-423B-9763-097918E5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66950"/>
            <a:ext cx="1352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3"/>
          </a:solidFill>
          <a:ln xmlns:a="http://schemas.openxmlformats.org/drawingml/2006/main" w="9525">
            <a:solidFill>
              <a:srgbClr val="0D9A9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6A18BC-603B-412C-9025-975969E3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66950"/>
            <a:ext cx="1352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A93"/>
          </a:solidFill>
          <a:ln xmlns:a="http://schemas.openxmlformats.org/drawingml/2006/main" w="0">
            <a:solidFill>
              <a:srgbClr val="0D9A93"/>
            </a:solidFill>
            <a:prstDash val="solid"/>
          </a:ln>
        </p:spPr>
      </p:sp>
      <p:sp>
        <p:nvSpPr>
          <p:cNvPr id="15" name="SemanticIdentity-title">
            <a:extLst xmlns:a="http://schemas.openxmlformats.org/drawingml/2006/main">
              <a:ext uri="{FF2B5EF4-FFF2-40B4-BE49-F238E27FC236}">
                <a16:creationId xmlns:a16="http://schemas.microsoft.com/office/drawing/2014/main" id="{9CBB31A2-D1DC-4018-8B68-E7E262F5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9077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SemanticIdentity</a:t>
            </a:r>
          </a:p>
        </p:txBody>
      </p:sp>
      <p:sp>
        <p:nvSpPr>
          <p:cNvPr id="16" name="SemanticIdentity-body">
            <a:extLst xmlns:a="http://schemas.openxmlformats.org/drawingml/2006/main">
              <a:ext uri="{FF2B5EF4-FFF2-40B4-BE49-F238E27FC236}">
                <a16:creationId xmlns:a16="http://schemas.microsoft.com/office/drawing/2014/main" id="{945E991B-2B19-41B3-AD3D-C1F0C88C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95575"/>
            <a:ext cx="1162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版本 / layout / tenant</a:t>
            </a:r>
          </a:p>
        </p:txBody>
      </p:sp>
      <p:sp>
        <p:nvSpPr>
          <p:cNvPr id="17" name="flow-1">
            <a:extLst xmlns:a="http://schemas.openxmlformats.org/drawingml/2006/main">
              <a:ext uri="{FF2B5EF4-FFF2-40B4-BE49-F238E27FC236}">
                <a16:creationId xmlns:a16="http://schemas.microsoft.com/office/drawing/2014/main" id="{E601CCAD-C1EB-44AB-AD65-67D3F172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670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0B5B1F-425D-4D9B-907D-D03E2EEF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66950"/>
            <a:ext cx="1352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C"/>
          </a:solidFill>
          <a:ln xmlns:a="http://schemas.openxmlformats.org/drawingml/2006/main" w="9525">
            <a:solidFill>
              <a:srgbClr val="7667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997850-33D1-4915-B52A-50352169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66950"/>
            <a:ext cx="1352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D9"/>
          </a:solidFill>
          <a:ln xmlns:a="http://schemas.openxmlformats.org/drawingml/2006/main" w="0">
            <a:solidFill>
              <a:srgbClr val="7667D9"/>
            </a:solidFill>
            <a:prstDash val="solid"/>
          </a:ln>
        </p:spPr>
      </p:sp>
      <p:sp>
        <p:nvSpPr>
          <p:cNvPr id="20" name="ConsumeEligibility-title">
            <a:extLst xmlns:a="http://schemas.openxmlformats.org/drawingml/2006/main">
              <a:ext uri="{FF2B5EF4-FFF2-40B4-BE49-F238E27FC236}">
                <a16:creationId xmlns:a16="http://schemas.microsoft.com/office/drawing/2014/main" id="{8A25A03C-F5B0-4E50-BEA2-E6E706CE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9077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ConsumeEligibility</a:t>
            </a:r>
          </a:p>
        </p:txBody>
      </p:sp>
      <p:sp>
        <p:nvSpPr>
          <p:cNvPr id="21" name="ConsumeEligibility-body">
            <a:extLst xmlns:a="http://schemas.openxmlformats.org/drawingml/2006/main">
              <a:ext uri="{FF2B5EF4-FFF2-40B4-BE49-F238E27FC236}">
                <a16:creationId xmlns:a16="http://schemas.microsoft.com/office/drawing/2014/main" id="{06079598-54D2-4FF5-B253-D1B0CCEA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95575"/>
            <a:ext cx="1162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ready / lease / rank</a:t>
            </a:r>
          </a:p>
        </p:txBody>
      </p:sp>
      <p:sp>
        <p:nvSpPr>
          <p:cNvPr id="22" name="flow-2">
            <a:extLst xmlns:a="http://schemas.openxmlformats.org/drawingml/2006/main">
              <a:ext uri="{FF2B5EF4-FFF2-40B4-BE49-F238E27FC236}">
                <a16:creationId xmlns:a16="http://schemas.microsoft.com/office/drawing/2014/main" id="{9A9CED86-2A1E-46A9-ABCE-F636054A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670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0034D8-6A2A-44C1-9184-516237DF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66950"/>
            <a:ext cx="1352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C68A1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E6EAC2-48D3-4C55-A464-9E076B9C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66950"/>
            <a:ext cx="1352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A18"/>
          </a:solidFill>
          <a:ln xmlns:a="http://schemas.openxmlformats.org/drawingml/2006/main" w="0">
            <a:solidFill>
              <a:srgbClr val="C68A18"/>
            </a:solidFill>
            <a:prstDash val="solid"/>
          </a:ln>
        </p:spPr>
      </p:sp>
      <p:sp>
        <p:nvSpPr>
          <p:cNvPr id="25" name="QueryPlan-title">
            <a:extLst xmlns:a="http://schemas.openxmlformats.org/drawingml/2006/main">
              <a:ext uri="{FF2B5EF4-FFF2-40B4-BE49-F238E27FC236}">
                <a16:creationId xmlns:a16="http://schemas.microsoft.com/office/drawing/2014/main" id="{13243763-2DFC-442D-AEF5-B4F75352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9077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QueryPlan</a:t>
            </a:r>
          </a:p>
        </p:txBody>
      </p:sp>
      <p:sp>
        <p:nvSpPr>
          <p:cNvPr id="26" name="QueryPlan-body">
            <a:extLst xmlns:a="http://schemas.openxmlformats.org/drawingml/2006/main">
              <a:ext uri="{FF2B5EF4-FFF2-40B4-BE49-F238E27FC236}">
                <a16:creationId xmlns:a16="http://schemas.microsoft.com/office/drawing/2014/main" id="{5C983820-6CFC-484A-A676-AE28001C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95575"/>
            <a:ext cx="1162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Load / View / Move / Recompute</a:t>
            </a:r>
          </a:p>
        </p:txBody>
      </p:sp>
      <p:sp>
        <p:nvSpPr>
          <p:cNvPr id="27" name="flow-3">
            <a:extLst xmlns:a="http://schemas.openxmlformats.org/drawingml/2006/main">
              <a:ext uri="{FF2B5EF4-FFF2-40B4-BE49-F238E27FC236}">
                <a16:creationId xmlns:a16="http://schemas.microsoft.com/office/drawing/2014/main" id="{FCF8344E-B76B-4637-B152-11FB1D25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0565D8-B2F1-4300-A5B0-26B37238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66950"/>
            <a:ext cx="1352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3"/>
          </a:solidFill>
          <a:ln xmlns:a="http://schemas.openxmlformats.org/drawingml/2006/main" w="9525">
            <a:solidFill>
              <a:srgbClr val="0F416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14F9D7-7D9C-4FEA-9410-7D553815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66950"/>
            <a:ext cx="1352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167"/>
          </a:solidFill>
          <a:ln xmlns:a="http://schemas.openxmlformats.org/drawingml/2006/main" w="0">
            <a:solidFill>
              <a:srgbClr val="0F4167"/>
            </a:solidFill>
            <a:prstDash val="solid"/>
          </a:ln>
        </p:spPr>
      </p:sp>
      <p:sp>
        <p:nvSpPr>
          <p:cNvPr id="30" name="Actual Path-title">
            <a:extLst xmlns:a="http://schemas.openxmlformats.org/drawingml/2006/main">
              <a:ext uri="{FF2B5EF4-FFF2-40B4-BE49-F238E27FC236}">
                <a16:creationId xmlns:a16="http://schemas.microsoft.com/office/drawing/2014/main" id="{61660E29-E960-488B-9678-138F91F5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9077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Actual Path</a:t>
            </a:r>
          </a:p>
        </p:txBody>
      </p:sp>
      <p:sp>
        <p:nvSpPr>
          <p:cNvPr id="31" name="Actual Path-body">
            <a:extLst xmlns:a="http://schemas.openxmlformats.org/drawingml/2006/main">
              <a:ext uri="{FF2B5EF4-FFF2-40B4-BE49-F238E27FC236}">
                <a16:creationId xmlns:a16="http://schemas.microsoft.com/office/drawing/2014/main" id="{A84EA98C-21DE-4D9F-879D-B0BED843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95575"/>
            <a:ext cx="1162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Descriptor / Fence / Fallback</a:t>
            </a:r>
          </a:p>
        </p:txBody>
      </p:sp>
      <p:sp>
        <p:nvSpPr>
          <p:cNvPr id="32" name="flow-4">
            <a:extLst xmlns:a="http://schemas.openxmlformats.org/drawingml/2006/main">
              <a:ext uri="{FF2B5EF4-FFF2-40B4-BE49-F238E27FC236}">
                <a16:creationId xmlns:a16="http://schemas.microsoft.com/office/drawing/2014/main" id="{375137EE-EB83-422C-B92E-D0DDA65C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670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68CE2E-2AA8-4F70-884F-9C9A4903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66950"/>
            <a:ext cx="1352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2C6F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7D0042-A389-4A15-9266-6D0D42DE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66950"/>
            <a:ext cx="1352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35" name="SLO 结果-title">
            <a:extLst xmlns:a="http://schemas.openxmlformats.org/drawingml/2006/main">
              <a:ext uri="{FF2B5EF4-FFF2-40B4-BE49-F238E27FC236}">
                <a16:creationId xmlns:a16="http://schemas.microsoft.com/office/drawing/2014/main" id="{576D0087-2756-48F9-B6F1-6878640D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9077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SLO 结果</a:t>
            </a:r>
          </a:p>
        </p:txBody>
      </p:sp>
      <p:sp>
        <p:nvSpPr>
          <p:cNvPr id="36" name="SLO 结果-body">
            <a:extLst xmlns:a="http://schemas.openxmlformats.org/drawingml/2006/main">
              <a:ext uri="{FF2B5EF4-FFF2-40B4-BE49-F238E27FC236}">
                <a16:creationId xmlns:a16="http://schemas.microsoft.com/office/drawing/2014/main" id="{F4D95D69-F943-4273-BF64-E611D417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95575"/>
            <a:ext cx="1162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TTFT / TPOT / QPS / 容量</a:t>
            </a:r>
          </a:p>
        </p:txBody>
      </p:sp>
      <p:sp>
        <p:nvSpPr>
          <p:cNvPr id="37" name="flow-5">
            <a:extLst xmlns:a="http://schemas.openxmlformats.org/drawingml/2006/main">
              <a:ext uri="{FF2B5EF4-FFF2-40B4-BE49-F238E27FC236}">
                <a16:creationId xmlns:a16="http://schemas.microsoft.com/office/drawing/2014/main" id="{9EC7B7F1-80B8-4E99-B057-30634AF9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670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DF9ECC-3AE5-4873-9245-0C37B9CC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66950"/>
            <a:ext cx="1352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2D8A5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040CFB-711D-4289-BE5E-80633F58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66950"/>
            <a:ext cx="1352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B"/>
          </a:solidFill>
          <a:ln xmlns:a="http://schemas.openxmlformats.org/drawingml/2006/main" w="0">
            <a:solidFill>
              <a:srgbClr val="2D8A5B"/>
            </a:solidFill>
            <a:prstDash val="solid"/>
          </a:ln>
        </p:spPr>
      </p:sp>
      <p:sp>
        <p:nvSpPr>
          <p:cNvPr id="40" name="客户价值-title">
            <a:extLst xmlns:a="http://schemas.openxmlformats.org/drawingml/2006/main">
              <a:ext uri="{FF2B5EF4-FFF2-40B4-BE49-F238E27FC236}">
                <a16:creationId xmlns:a16="http://schemas.microsoft.com/office/drawing/2014/main" id="{6A8F5C72-E925-41C6-BDEF-B4F1E33C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39077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客户价值</a:t>
            </a:r>
          </a:p>
        </p:txBody>
      </p:sp>
      <p:sp>
        <p:nvSpPr>
          <p:cNvPr id="41" name="客户价值-body">
            <a:extLst xmlns:a="http://schemas.openxmlformats.org/drawingml/2006/main">
              <a:ext uri="{FF2B5EF4-FFF2-40B4-BE49-F238E27FC236}">
                <a16:creationId xmlns:a16="http://schemas.microsoft.com/office/drawing/2014/main" id="{D3A5F44A-FD79-4DD4-8EAD-E1667C48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695575"/>
            <a:ext cx="1162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合格事务 / TCO / 风险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410FAF-6A7E-4200-BA8F-DF9E5A66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rPr>
              <a:t>收益判断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CB8237-97DA-45F7-AE50-F6717F2A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90950"/>
            <a:ext cx="908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命中但过期、未 Ready、租约不成立、路径成本高或 QoS 不合格 → 拒绝、降级或重算，并记录原因。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954B5A-0EB3-42C8-A63C-14AF72A2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9CED06-29CF-47DB-8E90-CA4516ED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40D587-B2BE-468B-9627-3EAE1BB1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47" name="对客户-title">
            <a:extLst xmlns:a="http://schemas.openxmlformats.org/drawingml/2006/main">
              <a:ext uri="{FF2B5EF4-FFF2-40B4-BE49-F238E27FC236}">
                <a16:creationId xmlns:a16="http://schemas.microsoft.com/office/drawing/2014/main" id="{3A06472B-B8EB-4A1B-B62F-09A7CF74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283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对客户</a:t>
            </a:r>
          </a:p>
        </p:txBody>
      </p:sp>
      <p:sp>
        <p:nvSpPr>
          <p:cNvPr id="48" name="对客户-body">
            <a:extLst xmlns:a="http://schemas.openxmlformats.org/drawingml/2006/main">
              <a:ext uri="{FF2B5EF4-FFF2-40B4-BE49-F238E27FC236}">
                <a16:creationId xmlns:a16="http://schemas.microsoft.com/office/drawing/2014/main" id="{6853D93B-467A-42A8-8674-A5F81ECE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2838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更快交互、更高吞吐、更少扩容、更稳服务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B75D7C-E453-4BB5-873D-97FC206F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1010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4B8B75F-7774-4B8A-894A-8FF6F07F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101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A93"/>
          </a:solidFill>
          <a:ln xmlns:a="http://schemas.openxmlformats.org/drawingml/2006/main" w="0">
            <a:solidFill>
              <a:srgbClr val="0D9A93"/>
            </a:solidFill>
            <a:prstDash val="solid"/>
          </a:ln>
        </p:spPr>
      </p:sp>
      <p:sp>
        <p:nvSpPr>
          <p:cNvPr id="51" name="对硬件-title">
            <a:extLst xmlns:a="http://schemas.openxmlformats.org/drawingml/2006/main">
              <a:ext uri="{FF2B5EF4-FFF2-40B4-BE49-F238E27FC236}">
                <a16:creationId xmlns:a16="http://schemas.microsoft.com/office/drawing/2014/main" id="{99E567BA-79F6-479C-9ADE-6ACA6AD0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24400"/>
            <a:ext cx="283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对硬件</a:t>
            </a:r>
          </a:p>
        </p:txBody>
      </p:sp>
      <p:sp>
        <p:nvSpPr>
          <p:cNvPr id="52" name="对硬件-body">
            <a:extLst xmlns:a="http://schemas.openxmlformats.org/drawingml/2006/main">
              <a:ext uri="{FF2B5EF4-FFF2-40B4-BE49-F238E27FC236}">
                <a16:creationId xmlns:a16="http://schemas.microsoft.com/office/drawing/2014/main" id="{00BAADB8-71AB-4DAF-B981-72AE7788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029200"/>
            <a:ext cx="2838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把性能瓶颈转化为驱动、固件、芯片改进输入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0A9E2B8-BBC2-4E1A-BF17-D3DD21ED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1010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4B325B4-9C21-411C-8DF1-2AD3E494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101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D9"/>
          </a:solidFill>
          <a:ln xmlns:a="http://schemas.openxmlformats.org/drawingml/2006/main" w="0">
            <a:solidFill>
              <a:srgbClr val="7667D9"/>
            </a:solidFill>
            <a:prstDash val="solid"/>
          </a:ln>
        </p:spPr>
      </p:sp>
      <p:sp>
        <p:nvSpPr>
          <p:cNvPr id="55" name="对生态-title">
            <a:extLst xmlns:a="http://schemas.openxmlformats.org/drawingml/2006/main">
              <a:ext uri="{FF2B5EF4-FFF2-40B4-BE49-F238E27FC236}">
                <a16:creationId xmlns:a16="http://schemas.microsoft.com/office/drawing/2014/main" id="{83F0EEBF-F3FB-4CB0-96A1-35993C54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24400"/>
            <a:ext cx="283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对生态</a:t>
            </a:r>
          </a:p>
        </p:txBody>
      </p:sp>
      <p:sp>
        <p:nvSpPr>
          <p:cNvPr id="56" name="对生态-body">
            <a:extLst xmlns:a="http://schemas.openxmlformats.org/drawingml/2006/main">
              <a:ext uri="{FF2B5EF4-FFF2-40B4-BE49-F238E27FC236}">
                <a16:creationId xmlns:a16="http://schemas.microsoft.com/office/drawing/2014/main" id="{513AF6D3-B326-42DE-99F5-98175E34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29200"/>
            <a:ext cx="2838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统一语义 ABI、Provider、认证与可复现测试</a:t>
            </a:r>
          </a:p>
        </p:txBody>
      </p:sp>
      <p:sp>
        <p:nvSpPr>
          <p:cNvPr id="5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28DA5B5-7E95-42D1-838C-E9DF2E43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统一异构 KVCache 存储池｜立项申请与建设路径</a:t>
            </a:r>
          </a:p>
        </p:txBody>
      </p:sp>
      <p:sp>
        <p:nvSpPr>
          <p:cNvPr id="5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998C19D-DCE1-4C06-8DBF-421EC1F9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437842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C2FC247A-C879-4943-AF7F-38269D94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8F337F-B260-47F8-87FF-C68D50DB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四项关键技术路线，分别解决“正确、聪明、快、能扩”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A5B919B-6295-487F-904C-E543755C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立项后的研发工作围绕可复用的对象、接口、路径与硬件能力编排，不停留在单点 microbench。</a:t>
            </a:r>
          </a:p>
        </p:txBody>
      </p:sp>
      <p:sp>
        <p:nvSpPr>
          <p:cNvPr id="4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61BDD234-6248-48FC-A33A-27F63826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3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06  /  技术路线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2E8185A-9EC7-4B69-88E5-23B95052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55CDFC-AFFB-4A23-B30C-D4E07D45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953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03391-DE62-4B50-A524-CAFF43FA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8" name="01  正确｜状态与资格-title">
            <a:extLst xmlns:a="http://schemas.openxmlformats.org/drawingml/2006/main">
              <a:ext uri="{FF2B5EF4-FFF2-40B4-BE49-F238E27FC236}">
                <a16:creationId xmlns:a16="http://schemas.microsoft.com/office/drawing/2014/main" id="{78B3F39C-B000-44D8-9DD1-C24F9497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7160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01  正确｜状态与资格</a:t>
            </a:r>
          </a:p>
        </p:txBody>
      </p:sp>
      <p:sp>
        <p:nvSpPr>
          <p:cNvPr id="9" name="01  正确｜状态与资格-body">
            <a:extLst xmlns:a="http://schemas.openxmlformats.org/drawingml/2006/main">
              <a:ext uri="{FF2B5EF4-FFF2-40B4-BE49-F238E27FC236}">
                <a16:creationId xmlns:a16="http://schemas.microsoft.com/office/drawing/2014/main" id="{E870A260-1D91-4D5B-BEC8-D74AB8D1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45529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建立 KVSemanticIdentity、版本 / layout / tenant / 权限 / lease / ready 等统一语义。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让“能不能消费、值不值得消费”成为显式决策。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DC5DDA-A756-472D-8B11-4FCF6632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257300"/>
            <a:ext cx="4953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3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1E633B-D0B1-4CB3-A6C5-8D37E076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25730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A93"/>
          </a:solidFill>
          <a:ln xmlns:a="http://schemas.openxmlformats.org/drawingml/2006/main" w="0">
            <a:solidFill>
              <a:srgbClr val="0D9A93"/>
            </a:solidFill>
            <a:prstDash val="solid"/>
          </a:ln>
        </p:spPr>
      </p:sp>
      <p:sp>
        <p:nvSpPr>
          <p:cNvPr id="12" name="02  聪明｜意图与计划-title">
            <a:extLst xmlns:a="http://schemas.openxmlformats.org/drawingml/2006/main">
              <a:ext uri="{FF2B5EF4-FFF2-40B4-BE49-F238E27FC236}">
                <a16:creationId xmlns:a16="http://schemas.microsoft.com/office/drawing/2014/main" id="{A852C762-C007-41D9-827D-B4DA172D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37160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02  聪明｜意图与计划</a:t>
            </a:r>
          </a:p>
        </p:txBody>
      </p:sp>
      <p:sp>
        <p:nvSpPr>
          <p:cNvPr id="13" name="02  聪明｜意图与计划-body">
            <a:extLst xmlns:a="http://schemas.openxmlformats.org/drawingml/2006/main">
              <a:ext uri="{FF2B5EF4-FFF2-40B4-BE49-F238E27FC236}">
                <a16:creationId xmlns:a16="http://schemas.microsoft.com/office/drawing/2014/main" id="{1E523441-E886-493C-A019-75D790DE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95450"/>
            <a:ext cx="45529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以 KVAccessIntent、deadline、预算和收益为输入，生成 View / Load / Move / Recompute QueryPlan。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让重算成为可选路径，而不是失败兜底。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766B4B-CC59-4B38-A36E-FAB5482A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4953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C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725C34-995C-4135-9C3E-E1ED7FAE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D9"/>
          </a:solidFill>
          <a:ln xmlns:a="http://schemas.openxmlformats.org/drawingml/2006/main" w="0">
            <a:solidFill>
              <a:srgbClr val="7667D9"/>
            </a:solidFill>
            <a:prstDash val="solid"/>
          </a:ln>
        </p:spPr>
      </p:sp>
      <p:sp>
        <p:nvSpPr>
          <p:cNvPr id="16" name="03  快｜描述符与可见性-title">
            <a:extLst xmlns:a="http://schemas.openxmlformats.org/drawingml/2006/main">
              <a:ext uri="{FF2B5EF4-FFF2-40B4-BE49-F238E27FC236}">
                <a16:creationId xmlns:a16="http://schemas.microsoft.com/office/drawing/2014/main" id="{7BB1B0FC-3F53-4512-B935-6F8A47F6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03  快｜描述符与可见性</a:t>
            </a:r>
          </a:p>
        </p:txBody>
      </p:sp>
      <p:sp>
        <p:nvSpPr>
          <p:cNvPr id="17" name="03  快｜描述符与可见性-body">
            <a:extLst xmlns:a="http://schemas.openxmlformats.org/drawingml/2006/main">
              <a:ext uri="{FF2B5EF4-FFF2-40B4-BE49-F238E27FC236}">
                <a16:creationId xmlns:a16="http://schemas.microsoft.com/office/drawing/2014/main" id="{72433C4A-F79F-4279-A6BF-C1691F6E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45529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围绕 UBMEM / URMA、Descriptor、Fence / Ready、Attach 和 Host Touch 设计真实数据路径。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计划路径与实际路径都可观测。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35DE9B-5E1F-4577-AF07-EBB79A0E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05150"/>
            <a:ext cx="4953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A548EA-6317-4443-BEE3-AA9BD7BD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0515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A18"/>
          </a:solidFill>
          <a:ln xmlns:a="http://schemas.openxmlformats.org/drawingml/2006/main" w="0">
            <a:solidFill>
              <a:srgbClr val="C68A18"/>
            </a:solidFill>
            <a:prstDash val="solid"/>
          </a:ln>
        </p:spPr>
      </p:sp>
      <p:sp>
        <p:nvSpPr>
          <p:cNvPr id="20" name="04  能扩｜异构池与 QoS-title">
            <a:extLst xmlns:a="http://schemas.openxmlformats.org/drawingml/2006/main">
              <a:ext uri="{FF2B5EF4-FFF2-40B4-BE49-F238E27FC236}">
                <a16:creationId xmlns:a16="http://schemas.microsoft.com/office/drawing/2014/main" id="{869CC2C1-924B-48F0-8F46-09319923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19450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04  能扩｜异构池与 QoS</a:t>
            </a:r>
          </a:p>
        </p:txBody>
      </p:sp>
      <p:sp>
        <p:nvSpPr>
          <p:cNvPr id="21" name="04  能扩｜异构池与 QoS-body">
            <a:extLst xmlns:a="http://schemas.openxmlformats.org/drawingml/2006/main">
              <a:ext uri="{FF2B5EF4-FFF2-40B4-BE49-F238E27FC236}">
                <a16:creationId xmlns:a16="http://schemas.microsoft.com/office/drawing/2014/main" id="{5C27EEB9-3C17-4D63-B768-39F1B979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43300"/>
            <a:ext cx="45529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统一编排 HBM / DDR / SSD / L3，按带宽、容量、时延、能耗、可靠性做分层和 Admission。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支撑多租户、长上下文与故障回退。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837B1A-31EF-4AD4-A93D-E5D88CC8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57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167"/>
          </a:solidFill>
          <a:ln xmlns:a="http://schemas.openxmlformats.org/drawingml/2006/main" w="0">
            <a:solidFill>
              <a:srgbClr val="0F416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08C824-3D8C-44BE-9355-F47D771C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05425"/>
            <a:ext cx="1011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四条路线合在一起，才构成“状态价值 → 路径执行 → 资源可见 → 客户结果”的完整产品能力。</a:t>
            </a:r>
          </a:p>
        </p:txBody>
      </p:sp>
      <p:sp>
        <p:nvSpPr>
          <p:cNvPr id="2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DF7037F-6199-44E2-8374-7F6B379E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统一异构 KVCache 存储池｜立项申请与建设路径</a:t>
            </a:r>
          </a:p>
        </p:txBody>
      </p:sp>
      <p:sp>
        <p:nvSpPr>
          <p:cNvPr id="2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4A15314-321F-4E6A-BAD8-E7B3A733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437842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CFCF6CB8-F373-444E-957A-9B231C69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07ECF0-94FB-4980-A273-E654B014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先从高价值推理场景落地，直接牵引客户指标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FE28BEC-B6E7-4619-A6A9-42B96BFB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场景选择同时覆盖复用、传输、容量和多租户，避免项目只在局部缓存指标上自我证明。</a:t>
            </a:r>
          </a:p>
        </p:txBody>
      </p:sp>
      <p:sp>
        <p:nvSpPr>
          <p:cNvPr id="4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A820D37F-11B5-459E-9D3B-F201CF67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3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07  /  落地场景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CBA13091-168A-40BD-93C3-5A0B8A8C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04355-5402-4243-B4C4-9A254A9C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2438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167"/>
          </a:solidFill>
          <a:ln xmlns:a="http://schemas.openxmlformats.org/drawingml/2006/main" w="9525">
            <a:solidFill>
              <a:srgbClr val="0F416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F1D9FE-849B-4A34-8A0F-709560A5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1445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代表场景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5884A-53D0-4217-99B7-14046B15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57300"/>
            <a:ext cx="4171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167"/>
          </a:solidFill>
          <a:ln xmlns:a="http://schemas.openxmlformats.org/drawingml/2006/main" w="9525">
            <a:solidFill>
              <a:srgbClr val="0F416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868133-A573-453A-A8CE-4F14D34B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314450"/>
            <a:ext cx="398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系统动作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B46F6B-E464-453F-B048-A8B89341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257300"/>
            <a:ext cx="3962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9525">
            <a:solidFill>
              <a:srgbClr val="2C6F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920B7B-979E-4026-BD39-EA443042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314450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4B88EB-FB7F-4B4B-8906-D791C311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2438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AB75B-9809-4F37-BB6D-367609B5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2247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RAG / 共享前缀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198F5D-A78D-4C72-BBD5-1AE05BDE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676400"/>
            <a:ext cx="4171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D8E291-E3E5-4F6D-B488-33F93CD9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33550"/>
            <a:ext cx="3981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语义匹配、正收益 Eligibility、跨请求复用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756556-CDD6-4BB4-86BF-13A3ED36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676400"/>
            <a:ext cx="3962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786A0E-9B3A-4D19-AEA9-EEF04E8A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33550"/>
            <a:ext cx="377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降低 TTFT，提升共享前缀的真实复用率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FBD5BB-CD8E-4DE1-9A86-B8703F49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2438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BF9071-8B2A-4D33-8EC0-CA27981D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2247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多轮 Agent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8E732A-1FB9-4911-8FEB-1EF82382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57450"/>
            <a:ext cx="4171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1B3F21-8F90-4AD2-9478-83E092B8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14600"/>
            <a:ext cx="3981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生命周期、分层存储、冷热预取与前递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8D5499-1579-4639-8319-CDDEDF35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57450"/>
            <a:ext cx="3962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F8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18E257-199A-40D1-B8BE-0C8E5412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14600"/>
            <a:ext cx="377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上下文更稳定，减少 HBM 压力与重复 Prefill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179B26-6B12-43D9-B4A2-008417CE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438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9E038C-323C-4097-877C-51DA5232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2247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Prefill–Decode 分离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CD7552-126C-4D2E-9DF6-F335F02B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38500"/>
            <a:ext cx="4171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2F2FDA-8D7C-40C7-9DF8-1463B0E8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95650"/>
            <a:ext cx="3981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跨节点 Query / Attach / 传输，路径与可见性管理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6613FE-82CC-483D-86DD-7FC5425C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38500"/>
            <a:ext cx="3962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935D90-8FA9-4B06-A3CB-1E73B1AB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95650"/>
            <a:ext cx="377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提高 NPU 利用，减少跨阶段重复计算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FD96B2-8090-4BC5-8FBA-50B58154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2438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C4D39B-54FF-43F5-8A9C-0EED899F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76700"/>
            <a:ext cx="2247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长上下文 / 多租户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2A45B5-BD59-4CDF-B574-92F8F909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4171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3B25E1-5868-42C7-9561-6A0CBCAD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76700"/>
            <a:ext cx="3981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容量、QoS、Admission、隔离与故障回退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B58243-8D1B-486E-B435-506E5AFA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19550"/>
            <a:ext cx="3962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FF8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0E2FF0-BA4A-4A85-A15A-7C8CDE22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76700"/>
            <a:ext cx="377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减少 OOM / 抢占，稳定 TPOT 和服务 SLO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4DDA4E-C495-4CC3-AC4A-54DBEEC7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rPr>
              <a:t>客户指标牵引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8A6E85-9139-4D45-86FC-DD1034C5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67300"/>
            <a:ext cx="1200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solidFill>
              <a:srgbClr val="EAF3F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246FE4-2133-4629-BB63-0923BA51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1054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rPr>
              <a:t>TTFT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365B19-910A-4FE0-943E-8E3D9C28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67300"/>
            <a:ext cx="1200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F3"/>
          </a:solidFill>
          <a:ln xmlns:a="http://schemas.openxmlformats.org/drawingml/2006/main" w="0">
            <a:solidFill>
              <a:srgbClr val="E7F5F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C83754-EDA2-400F-9733-1172D39C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1054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0D9A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D9A93"/>
                </a:solidFill>
                <a:latin typeface="Microsoft YaHei"/>
                <a:ea typeface="Microsoft YaHei"/>
                <a:cs typeface="Microsoft YaHei"/>
              </a:rPr>
              <a:t>TPOT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55A6E8-F9F3-4C7B-9099-BA0B30AF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067300"/>
            <a:ext cx="1200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EEFC"/>
          </a:solidFill>
          <a:ln xmlns:a="http://schemas.openxmlformats.org/drawingml/2006/main" w="0">
            <a:solidFill>
              <a:srgbClr val="F0EEF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A5D91C-0CA1-479A-BD62-15F48646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1054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766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7667D9"/>
                </a:solidFill>
                <a:latin typeface="Microsoft YaHei"/>
                <a:ea typeface="Microsoft YaHei"/>
                <a:cs typeface="Microsoft YaHei"/>
              </a:rPr>
              <a:t>QPS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1B9035-E8BA-4C35-ADDD-73E3DCBC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67300"/>
            <a:ext cx="1714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0">
            <a:solidFill>
              <a:srgbClr val="FFF4D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5AD160-9084-49D3-A213-A9C4F1F9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05400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C68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C68A18"/>
                </a:solidFill>
                <a:latin typeface="Microsoft YaHei"/>
                <a:ea typeface="Microsoft YaHei"/>
                <a:cs typeface="Microsoft YaHei"/>
              </a:rPr>
              <a:t>HBM 有效容量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1285C0-4C79-43E6-8B48-9D45B787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67300"/>
            <a:ext cx="1676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0">
            <a:solidFill>
              <a:srgbClr val="EAF6E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24FA5F-AE29-4C33-BB42-20A6D7D3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054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2D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D8A5B"/>
                </a:solidFill>
                <a:latin typeface="Microsoft YaHei"/>
                <a:ea typeface="Microsoft YaHei"/>
                <a:cs typeface="Microsoft YaHei"/>
              </a:rPr>
              <a:t>单位 TCO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AA89BA-ED3F-4A21-A70D-7AF1F79A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从客户 workload、trace 和 SLO 出发反向定义系统能力与硬件适配优先级。</a:t>
            </a:r>
          </a:p>
        </p:txBody>
      </p:sp>
      <p:sp>
        <p:nvSpPr>
          <p:cNvPr id="4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1E6C845-4B43-447A-A0E5-B3F0B801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统一异构 KVCache 存储池｜立项申请与建设路径</a:t>
            </a:r>
          </a:p>
        </p:txBody>
      </p:sp>
      <p:sp>
        <p:nvSpPr>
          <p:cNvPr id="4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8655503-42E3-4AB3-AE50-F321E056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437842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F536224A-BDC3-4F5D-8DF1-0DF9FAB5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DC33F5-344D-4715-9A3A-1CFDF4A3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需求与原型基础已经具备，项目可以从统一基线快速启动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248F104-DE6A-4A3B-974C-72653E8A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立项不是从空白开始：范围、对象、接口、路径、验证和迁入资产已经被结构化。</a:t>
            </a:r>
          </a:p>
        </p:txBody>
      </p:sp>
      <p:sp>
        <p:nvSpPr>
          <p:cNvPr id="4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1643C45B-E174-4775-BFA5-77A0E271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3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08  /  启动基础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164CD333-79DC-4CBC-997D-396396ED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A8B714-0FDB-49D5-9211-BFA04E5A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DDB534-AF2D-4F91-BC7B-F51E2FC7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8" name="正式四层 SRS 需求-value">
            <a:extLst xmlns:a="http://schemas.openxmlformats.org/drawingml/2006/main">
              <a:ext uri="{FF2B5EF4-FFF2-40B4-BE49-F238E27FC236}">
                <a16:creationId xmlns:a16="http://schemas.microsoft.com/office/drawing/2014/main" id="{7C9925B5-161C-48E4-8F28-CFC6771A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716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144</a:t>
            </a:r>
          </a:p>
        </p:txBody>
      </p:sp>
      <p:sp>
        <p:nvSpPr>
          <p:cNvPr id="9" name="正式四层 SRS 需求-label">
            <a:extLst xmlns:a="http://schemas.openxmlformats.org/drawingml/2006/main">
              <a:ext uri="{FF2B5EF4-FFF2-40B4-BE49-F238E27FC236}">
                <a16:creationId xmlns:a16="http://schemas.microsoft.com/office/drawing/2014/main" id="{D78DA717-DD37-4196-B53B-B3268E75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811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正式四层 SRS 需求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814824-DC72-454C-A250-F61AABCA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2573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22D8C-B431-4901-8D0A-8DA77058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2573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A93"/>
          </a:solidFill>
          <a:ln xmlns:a="http://schemas.openxmlformats.org/drawingml/2006/main" w="0">
            <a:solidFill>
              <a:srgbClr val="0D9A93"/>
            </a:solidFill>
            <a:prstDash val="solid"/>
          </a:ln>
        </p:spPr>
      </p:sp>
      <p:sp>
        <p:nvSpPr>
          <p:cNvPr id="12" name="全量 SR 需求树口径-value">
            <a:extLst xmlns:a="http://schemas.openxmlformats.org/drawingml/2006/main">
              <a:ext uri="{FF2B5EF4-FFF2-40B4-BE49-F238E27FC236}">
                <a16:creationId xmlns:a16="http://schemas.microsoft.com/office/drawing/2014/main" id="{BE41F8AA-66C5-4742-ACA3-8D502C28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3716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149</a:t>
            </a:r>
          </a:p>
        </p:txBody>
      </p:sp>
      <p:sp>
        <p:nvSpPr>
          <p:cNvPr id="13" name="全量 SR 需求树口径-label">
            <a:extLst xmlns:a="http://schemas.openxmlformats.org/drawingml/2006/main">
              <a:ext uri="{FF2B5EF4-FFF2-40B4-BE49-F238E27FC236}">
                <a16:creationId xmlns:a16="http://schemas.microsoft.com/office/drawing/2014/main" id="{C27404A3-EB7E-45DD-81EB-298E812F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811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全量 SR 需求树口径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DE2595-DDC9-46D7-A494-918B2EB3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2573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35ADC8-68AE-4048-9713-C5955563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2573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D9"/>
          </a:solidFill>
          <a:ln xmlns:a="http://schemas.openxmlformats.org/drawingml/2006/main" w="0">
            <a:solidFill>
              <a:srgbClr val="7667D9"/>
            </a:solidFill>
            <a:prstDash val="solid"/>
          </a:ln>
        </p:spPr>
      </p:sp>
      <p:sp>
        <p:nvSpPr>
          <p:cNvPr id="16" name="PVT + 条件验证包-value">
            <a:extLst xmlns:a="http://schemas.openxmlformats.org/drawingml/2006/main">
              <a:ext uri="{FF2B5EF4-FFF2-40B4-BE49-F238E27FC236}">
                <a16:creationId xmlns:a16="http://schemas.microsoft.com/office/drawing/2014/main" id="{E5A8CF5E-1017-4BA3-900A-BF6ED8FC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716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8 + 3</a:t>
            </a:r>
          </a:p>
        </p:txBody>
      </p:sp>
      <p:sp>
        <p:nvSpPr>
          <p:cNvPr id="17" name="PVT + 条件验证包-label">
            <a:extLst xmlns:a="http://schemas.openxmlformats.org/drawingml/2006/main">
              <a:ext uri="{FF2B5EF4-FFF2-40B4-BE49-F238E27FC236}">
                <a16:creationId xmlns:a16="http://schemas.microsoft.com/office/drawing/2014/main" id="{6D7D24B8-7490-46EC-A487-9FAF6D35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811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PVT + 条件验证包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E18B21-86CF-4016-9CB8-52520F67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25730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C3C7CF-FE21-4CF5-865F-1566F23A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2573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A18"/>
          </a:solidFill>
          <a:ln xmlns:a="http://schemas.openxmlformats.org/drawingml/2006/main" w="0">
            <a:solidFill>
              <a:srgbClr val="C68A18"/>
            </a:solidFill>
            <a:prstDash val="solid"/>
          </a:ln>
        </p:spPr>
      </p:sp>
      <p:sp>
        <p:nvSpPr>
          <p:cNvPr id="20" name="首期工作窗口-value">
            <a:extLst xmlns:a="http://schemas.openxmlformats.org/drawingml/2006/main">
              <a:ext uri="{FF2B5EF4-FFF2-40B4-BE49-F238E27FC236}">
                <a16:creationId xmlns:a16="http://schemas.microsoft.com/office/drawing/2014/main" id="{57BC37D4-1673-4003-B93E-218D5A87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3716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4–5 周</a:t>
            </a:r>
          </a:p>
        </p:txBody>
      </p:sp>
      <p:sp>
        <p:nvSpPr>
          <p:cNvPr id="21" name="首期工作窗口-label">
            <a:extLst xmlns:a="http://schemas.openxmlformats.org/drawingml/2006/main">
              <a:ext uri="{FF2B5EF4-FFF2-40B4-BE49-F238E27FC236}">
                <a16:creationId xmlns:a16="http://schemas.microsoft.com/office/drawing/2014/main" id="{04084749-995D-4DAB-AC88-528CB99C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811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首期工作窗口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07252A-42E4-4536-98A6-DC46EA0C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rPr>
              <a:t>需求到工程的迁入链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4EE1CA-92B0-4F71-9327-D31F499E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695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416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78AAF1-0EBA-4F1F-8580-5BCB648D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167"/>
          </a:solidFill>
          <a:ln xmlns:a="http://schemas.openxmlformats.org/drawingml/2006/main" w="0">
            <a:solidFill>
              <a:srgbClr val="0F4167"/>
            </a:solidFill>
            <a:prstDash val="solid"/>
          </a:ln>
        </p:spPr>
      </p:sp>
      <p:sp>
        <p:nvSpPr>
          <p:cNvPr id="25" name="SF-title">
            <a:extLst xmlns:a="http://schemas.openxmlformats.org/drawingml/2006/main">
              <a:ext uri="{FF2B5EF4-FFF2-40B4-BE49-F238E27FC236}">
                <a16:creationId xmlns:a16="http://schemas.microsoft.com/office/drawing/2014/main" id="{A38EEBEC-1422-48CF-AD98-25D45386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SF</a:t>
            </a:r>
          </a:p>
        </p:txBody>
      </p:sp>
      <p:sp>
        <p:nvSpPr>
          <p:cNvPr id="26" name="SF-body">
            <a:extLst xmlns:a="http://schemas.openxmlformats.org/drawingml/2006/main">
              <a:ext uri="{FF2B5EF4-FFF2-40B4-BE49-F238E27FC236}">
                <a16:creationId xmlns:a16="http://schemas.microsoft.com/office/drawing/2014/main" id="{B412B87B-5BB3-4200-9B8E-7640ACB5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3852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战略目标</a:t>
            </a:r>
          </a:p>
        </p:txBody>
      </p:sp>
      <p:sp>
        <p:nvSpPr>
          <p:cNvPr id="27" name="chain-0">
            <a:extLst xmlns:a="http://schemas.openxmlformats.org/drawingml/2006/main">
              <a:ext uri="{FF2B5EF4-FFF2-40B4-BE49-F238E27FC236}">
                <a16:creationId xmlns:a16="http://schemas.microsoft.com/office/drawing/2014/main" id="{996C6A52-360A-4049-A887-85E1829F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337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0AE868-FF35-4289-9256-9022035A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09900"/>
            <a:ext cx="1695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C6F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CE671C-3EC0-400B-8375-39C2CB67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0990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30" name="IR-title">
            <a:extLst xmlns:a="http://schemas.openxmlformats.org/drawingml/2006/main">
              <a:ext uri="{FF2B5EF4-FFF2-40B4-BE49-F238E27FC236}">
                <a16:creationId xmlns:a16="http://schemas.microsoft.com/office/drawing/2014/main" id="{79C75050-3053-4293-840A-B264BE4E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33725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IR</a:t>
            </a:r>
          </a:p>
        </p:txBody>
      </p:sp>
      <p:sp>
        <p:nvSpPr>
          <p:cNvPr id="31" name="IR-body">
            <a:extLst xmlns:a="http://schemas.openxmlformats.org/drawingml/2006/main">
              <a:ext uri="{FF2B5EF4-FFF2-40B4-BE49-F238E27FC236}">
                <a16:creationId xmlns:a16="http://schemas.microsoft.com/office/drawing/2014/main" id="{24D5B0D0-8936-43E3-BDAB-F98C8D55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3852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投资主张</a:t>
            </a:r>
          </a:p>
        </p:txBody>
      </p:sp>
      <p:sp>
        <p:nvSpPr>
          <p:cNvPr id="32" name="chain-1">
            <a:extLst xmlns:a="http://schemas.openxmlformats.org/drawingml/2006/main">
              <a:ext uri="{FF2B5EF4-FFF2-40B4-BE49-F238E27FC236}">
                <a16:creationId xmlns:a16="http://schemas.microsoft.com/office/drawing/2014/main" id="{66358757-68E9-4699-9608-726341A0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337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CD9953-97C4-4AB4-8BC4-8DC15271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09900"/>
            <a:ext cx="1695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D9A9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0034B4-BE0F-4140-8A7B-5283D31E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0990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A93"/>
          </a:solidFill>
          <a:ln xmlns:a="http://schemas.openxmlformats.org/drawingml/2006/main" w="0">
            <a:solidFill>
              <a:srgbClr val="0D9A93"/>
            </a:solidFill>
            <a:prstDash val="solid"/>
          </a:ln>
        </p:spPr>
      </p:sp>
      <p:sp>
        <p:nvSpPr>
          <p:cNvPr id="35" name="SR-title">
            <a:extLst xmlns:a="http://schemas.openxmlformats.org/drawingml/2006/main">
              <a:ext uri="{FF2B5EF4-FFF2-40B4-BE49-F238E27FC236}">
                <a16:creationId xmlns:a16="http://schemas.microsoft.com/office/drawing/2014/main" id="{78F7D80E-DAEF-4F8B-8D72-77B38E83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33725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SR</a:t>
            </a:r>
          </a:p>
        </p:txBody>
      </p:sp>
      <p:sp>
        <p:nvSpPr>
          <p:cNvPr id="36" name="SR-body">
            <a:extLst xmlns:a="http://schemas.openxmlformats.org/drawingml/2006/main">
              <a:ext uri="{FF2B5EF4-FFF2-40B4-BE49-F238E27FC236}">
                <a16:creationId xmlns:a16="http://schemas.microsoft.com/office/drawing/2014/main" id="{502A65C2-182B-4CBC-9329-0440C7C0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3852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系统需求</a:t>
            </a:r>
          </a:p>
        </p:txBody>
      </p:sp>
      <p:sp>
        <p:nvSpPr>
          <p:cNvPr id="37" name="chain-2">
            <a:extLst xmlns:a="http://schemas.openxmlformats.org/drawingml/2006/main">
              <a:ext uri="{FF2B5EF4-FFF2-40B4-BE49-F238E27FC236}">
                <a16:creationId xmlns:a16="http://schemas.microsoft.com/office/drawing/2014/main" id="{DAAF7287-D7E8-4076-8F55-236DF84C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337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7C4FE5-EDD6-4E33-A397-7ABE74B2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09900"/>
            <a:ext cx="1695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67D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5F20E5-906B-419E-B1F9-B88CD965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0990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D9"/>
          </a:solidFill>
          <a:ln xmlns:a="http://schemas.openxmlformats.org/drawingml/2006/main" w="0">
            <a:solidFill>
              <a:srgbClr val="7667D9"/>
            </a:solidFill>
            <a:prstDash val="solid"/>
          </a:ln>
        </p:spPr>
      </p:sp>
      <p:sp>
        <p:nvSpPr>
          <p:cNvPr id="40" name="PVT-title">
            <a:extLst xmlns:a="http://schemas.openxmlformats.org/drawingml/2006/main">
              <a:ext uri="{FF2B5EF4-FFF2-40B4-BE49-F238E27FC236}">
                <a16:creationId xmlns:a16="http://schemas.microsoft.com/office/drawing/2014/main" id="{EDAF50F8-C2E6-4D54-84F7-C60D1951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33725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PVT</a:t>
            </a:r>
          </a:p>
        </p:txBody>
      </p:sp>
      <p:sp>
        <p:nvSpPr>
          <p:cNvPr id="41" name="PVT-body">
            <a:extLst xmlns:a="http://schemas.openxmlformats.org/drawingml/2006/main">
              <a:ext uri="{FF2B5EF4-FFF2-40B4-BE49-F238E27FC236}">
                <a16:creationId xmlns:a16="http://schemas.microsoft.com/office/drawing/2014/main" id="{DD7370D4-40F6-4580-8DA3-D5F1D8FB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3852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原型包</a:t>
            </a:r>
          </a:p>
        </p:txBody>
      </p:sp>
      <p:sp>
        <p:nvSpPr>
          <p:cNvPr id="42" name="chain-3">
            <a:extLst xmlns:a="http://schemas.openxmlformats.org/drawingml/2006/main">
              <a:ext uri="{FF2B5EF4-FFF2-40B4-BE49-F238E27FC236}">
                <a16:creationId xmlns:a16="http://schemas.microsoft.com/office/drawing/2014/main" id="{CAA04A2A-CD6B-476C-B0C3-9E16E5E9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337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F52DA4-C5B0-4C52-AD10-D8987AED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09900"/>
            <a:ext cx="1695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8A1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782CD0-AEAD-4E42-8457-32373BF2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0990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A18"/>
          </a:solidFill>
          <a:ln xmlns:a="http://schemas.openxmlformats.org/drawingml/2006/main" w="0">
            <a:solidFill>
              <a:srgbClr val="C68A18"/>
            </a:solidFill>
            <a:prstDash val="solid"/>
          </a:ln>
        </p:spPr>
      </p:sp>
      <p:sp>
        <p:nvSpPr>
          <p:cNvPr id="45" name="正式模块-title">
            <a:extLst xmlns:a="http://schemas.openxmlformats.org/drawingml/2006/main">
              <a:ext uri="{FF2B5EF4-FFF2-40B4-BE49-F238E27FC236}">
                <a16:creationId xmlns:a16="http://schemas.microsoft.com/office/drawing/2014/main" id="{B4008829-383C-4615-918A-76F86511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33725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正式模块</a:t>
            </a:r>
          </a:p>
        </p:txBody>
      </p:sp>
      <p:sp>
        <p:nvSpPr>
          <p:cNvPr id="46" name="正式模块-body">
            <a:extLst xmlns:a="http://schemas.openxmlformats.org/drawingml/2006/main">
              <a:ext uri="{FF2B5EF4-FFF2-40B4-BE49-F238E27FC236}">
                <a16:creationId xmlns:a16="http://schemas.microsoft.com/office/drawing/2014/main" id="{99EED72D-12B4-41A0-9B94-3EC7CCDF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3852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测试 / Provider / 交付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E82B06E-C23D-439F-AE0D-561F40C1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57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429373E-0B70-4A55-B791-1DE0BA42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624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rPr>
              <a:t>立项后的工程原则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8282B5-8F05-4B4B-8563-E33356D2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14850"/>
            <a:ext cx="771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原型不另起炉灶：统一 workload / trace / 时钟与基线；每条真实路径都有 telemetry；功能通过 feature flag 与 fallback 进入受控流量；结果、源代码、提交和硬件配置可复现。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A4A75BB-CB80-4DEB-9BA2-7782A538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这些准备工作把项目启动成本压缩到“统一基线 + 最小纵向切片 + 代表硬件协同”。</a:t>
            </a:r>
          </a:p>
        </p:txBody>
      </p:sp>
      <p:sp>
        <p:nvSpPr>
          <p:cNvPr id="5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9067E86-0D11-4B2C-BF41-71A63FF5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统一异构 KVCache 存储池｜立项申请与建设路径</a:t>
            </a:r>
          </a:p>
        </p:txBody>
      </p:sp>
      <p:sp>
        <p:nvSpPr>
          <p:cNvPr id="5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A6CA299-7CB4-4A8F-AAC1-244D74EB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437842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5A31C17-749C-4C91-BBB7-F822AE20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1F12AC-6F21-48C7-B654-2C104D1F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实施节奏：从最小闭环到国产 AI Infra 生态交付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272DD74-1BCB-4FD0-AB16-12E8AF3D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按里程碑释放资源，确保每一阶段都沉淀可复用模块、接口、测试和硬件反馈。</a:t>
            </a:r>
          </a:p>
        </p:txBody>
      </p:sp>
      <p:sp>
        <p:nvSpPr>
          <p:cNvPr id="4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FD4E542E-AAD2-409D-AEF8-BEB4555D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3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09  /  建设节奏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7F887C0D-9ED0-4262-9764-A8989161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3D196-076E-46ED-96B4-5763EA1E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23812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B5024-238B-4850-A843-BFC14721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619B54-08AE-4F06-B618-E5FC1441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27CD12-6DC7-4C26-9314-55D7867D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2400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基础闭环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8D2D2A-7DFA-40F9-8FC3-E30B6F0D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2000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Intent / Eligibility / QueryPlan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一条真实数据路径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统一 telemetry 与基线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D81979-1A1B-4A11-BCC3-218C35AB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2C6F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C6FE8"/>
                </a:solidFill>
                <a:latin typeface="Microsoft YaHei"/>
                <a:ea typeface="Microsoft YaHei"/>
                <a:cs typeface="Microsoft YaHei"/>
              </a:rPr>
              <a:t>先证明闭环</a:t>
            </a:r>
          </a:p>
        </p:txBody>
      </p:sp>
      <p:sp>
        <p:nvSpPr>
          <p:cNvPr id="12" name="phase-arrow-0">
            <a:extLst xmlns:a="http://schemas.openxmlformats.org/drawingml/2006/main">
              <a:ext uri="{FF2B5EF4-FFF2-40B4-BE49-F238E27FC236}">
                <a16:creationId xmlns:a16="http://schemas.microsoft.com/office/drawing/2014/main" id="{25D8953F-E8BE-4ABA-9B0F-77413A2F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193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FB3753-E9D5-4F29-BE49-F3952BC2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390650"/>
            <a:ext cx="23812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3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19132A-1FA5-489E-AA52-074A18E7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3906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A93"/>
          </a:solidFill>
          <a:ln xmlns:a="http://schemas.openxmlformats.org/drawingml/2006/main" w="0">
            <a:solidFill>
              <a:srgbClr val="0D9A9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8293A3-7B00-4F40-8435-D60A48AC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240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04ED34-AB9D-491B-90E7-653F31A4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52400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核心流程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A16F93-22AE-4C35-9A0F-CFDAFDF7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52650"/>
            <a:ext cx="2000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vLLM / SGLang Connector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Query / Load / Attach / Publish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受控流量与跨节点路径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71761A-B519-4607-96F2-8609217C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242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0D9A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D9A93"/>
                </a:solidFill>
                <a:latin typeface="Microsoft YaHei"/>
                <a:ea typeface="Microsoft YaHei"/>
                <a:cs typeface="Microsoft YaHei"/>
              </a:rPr>
              <a:t>再接入流量</a:t>
            </a:r>
          </a:p>
        </p:txBody>
      </p:sp>
      <p:sp>
        <p:nvSpPr>
          <p:cNvPr id="19" name="phase-arrow-1">
            <a:extLst xmlns:a="http://schemas.openxmlformats.org/drawingml/2006/main">
              <a:ext uri="{FF2B5EF4-FFF2-40B4-BE49-F238E27FC236}">
                <a16:creationId xmlns:a16="http://schemas.microsoft.com/office/drawing/2014/main" id="{3E8F7BEE-254F-44CB-8D82-60EBC14F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4193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FD7A97-1AB7-4024-A41D-F18E387E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90650"/>
            <a:ext cx="23812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C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B60933-8179-4F5E-948A-C712C2AB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906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D9"/>
          </a:solidFill>
          <a:ln xmlns:a="http://schemas.openxmlformats.org/drawingml/2006/main" w="0">
            <a:solidFill>
              <a:srgbClr val="7667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073AA6-605F-4B36-9F0F-C30FFAFC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240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54D2BA-BD5C-42E6-AFCA-B86818B8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2400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生产能力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6834E4-8DB0-4B34-8F8F-2B17BD75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52650"/>
            <a:ext cx="2000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长上下文、多租户、QoS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容量 / 成本 / 故障回退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客户 BVT 与版本矩阵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49DE42-BD16-474A-8961-84AF93A5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766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7667D9"/>
                </a:solidFill>
                <a:latin typeface="Microsoft YaHei"/>
                <a:ea typeface="Microsoft YaHei"/>
                <a:cs typeface="Microsoft YaHei"/>
              </a:rPr>
              <a:t>再做生产化</a:t>
            </a:r>
          </a:p>
        </p:txBody>
      </p:sp>
      <p:sp>
        <p:nvSpPr>
          <p:cNvPr id="26" name="phase-arrow-2">
            <a:extLst xmlns:a="http://schemas.openxmlformats.org/drawingml/2006/main">
              <a:ext uri="{FF2B5EF4-FFF2-40B4-BE49-F238E27FC236}">
                <a16:creationId xmlns:a16="http://schemas.microsoft.com/office/drawing/2014/main" id="{45C62ABD-F49B-41E9-A4CB-76625BBE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193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2285CF-78D0-4004-8334-76B59174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390650"/>
            <a:ext cx="23812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C655CC-4ADA-4018-96CB-53A40F99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3906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A18"/>
          </a:solidFill>
          <a:ln xmlns:a="http://schemas.openxmlformats.org/drawingml/2006/main" w="0">
            <a:solidFill>
              <a:srgbClr val="C68A1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701229-B4CF-4C4F-B475-3ED18819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5240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761197-02C5-471C-99CD-9DB2BF60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2400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生态交付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2D3F10-25ED-45DE-AD36-94FAFF4E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52650"/>
            <a:ext cx="2000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Provider 生态与认证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跨版本 / 跨硬件兼容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Day-0 联合设计与规模交付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FE803C-C3E5-40CD-8E9A-7C17E4F8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242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C68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C68A18"/>
                </a:solidFill>
                <a:latin typeface="Microsoft YaHei"/>
                <a:ea typeface="Microsoft YaHei"/>
                <a:cs typeface="Microsoft YaHei"/>
              </a:rPr>
              <a:t>最后规模交付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0CF525-C390-4C24-AC51-3A042BFB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rPr>
              <a:t>资源释放原则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A56F6A-50E4-45EF-8FF0-2596E743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10572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167"/>
          </a:solidFill>
          <a:ln xmlns:a="http://schemas.openxmlformats.org/drawingml/2006/main" w="0">
            <a:solidFill>
              <a:srgbClr val="0F416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67BC87-2713-4849-9D11-1E9BC961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720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每个里程碑同时交付：可运行模块 + 代表场景 + 真实路径证据 + 问题归因 + 下一阶段的硬件 / 资源需求。</a:t>
            </a:r>
          </a:p>
        </p:txBody>
      </p:sp>
      <p:sp>
        <p:nvSpPr>
          <p:cNvPr id="3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A21CD61-2E20-497F-A75D-969A2F33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统一异构 KVCache 存储池｜立项申请与建设路径</a:t>
            </a:r>
          </a:p>
        </p:txBody>
      </p:sp>
      <p:sp>
        <p:nvSpPr>
          <p:cNvPr id="3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9003E7C-ECA0-4019-97AF-CA1B70E4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437842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272E038-F0FC-44EA-9A13-2F434A1F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956455-B5AD-47E0-80CD-F59BA8BB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首期工作方法：统一基线，原型直接迁入正式模块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958EBC8-BF28-4497-8135-74026C12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4–5 周形成最小纵向切片，并同步产出后续 P0–P3 建设所需的工程资产。</a:t>
            </a:r>
          </a:p>
        </p:txBody>
      </p:sp>
      <p:sp>
        <p:nvSpPr>
          <p:cNvPr id="4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5F6B498D-BFE4-4A58-8E6A-9F28FA0E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3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10  /  首期执行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01DC887D-67B9-44C8-83CB-A3DEE45D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85FFD-4D42-406B-9397-A25825D7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2381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9B8AF6-38CD-4F15-B4DE-EAA68419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91AFD-FCC1-486B-B314-95684281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986FB-248A-49C9-A5B5-55358CA4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46685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统一基线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28E232-39D7-4EE8-B50E-3B6C3928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2000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workload / trace / 模型 / 框架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硬件 profile、拓扑、时钟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PVT-00 / PVT-01</a:t>
            </a:r>
          </a:p>
        </p:txBody>
      </p:sp>
      <p:sp>
        <p:nvSpPr>
          <p:cNvPr id="11" name="week-arrow-0">
            <a:extLst xmlns:a="http://schemas.openxmlformats.org/drawingml/2006/main">
              <a:ext uri="{FF2B5EF4-FFF2-40B4-BE49-F238E27FC236}">
                <a16:creationId xmlns:a16="http://schemas.microsoft.com/office/drawing/2014/main" id="{8FAEDD25-B8AC-48D1-A122-0AAAFA02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050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175A4B-B6A8-47F1-AB5F-0E1A8D7B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352550"/>
            <a:ext cx="2381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3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7B2C36-21EE-4572-825D-62F08DAB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3525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A93"/>
          </a:solidFill>
          <a:ln xmlns:a="http://schemas.openxmlformats.org/drawingml/2006/main" w="0">
            <a:solidFill>
              <a:srgbClr val="0D9A9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F4EA3A-4458-4925-B63D-11630C49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66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27BDEB-2882-43D8-AC30-4528A053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46685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路径打通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3BACE0-9FE6-49FB-9729-E352698C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38350"/>
            <a:ext cx="2000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Descriptor / View / Copy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QueryPlan / Attach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Fence / Ready / telemetry</a:t>
            </a:r>
          </a:p>
        </p:txBody>
      </p:sp>
      <p:sp>
        <p:nvSpPr>
          <p:cNvPr id="17" name="week-arrow-1">
            <a:extLst xmlns:a="http://schemas.openxmlformats.org/drawingml/2006/main">
              <a:ext uri="{FF2B5EF4-FFF2-40B4-BE49-F238E27FC236}">
                <a16:creationId xmlns:a16="http://schemas.microsoft.com/office/drawing/2014/main" id="{B34C06CA-902D-499E-A6F1-C48F4F37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050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0A2F51-31A8-415D-8CAB-565BAF34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52550"/>
            <a:ext cx="2381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C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706C84-FAB5-4A67-9A8A-D4544CFE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525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D9"/>
          </a:solidFill>
          <a:ln xmlns:a="http://schemas.openxmlformats.org/drawingml/2006/main" w="0">
            <a:solidFill>
              <a:srgbClr val="7667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6531C3-A389-4F38-BCE5-FD8D69BA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66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967277-5143-496E-8A0D-E3FBC60B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6685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状态与容量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1E618F-35D9-4534-AFE8-D03C5495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2000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Eligibility / lease / version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HBM / DDR / SSD 角色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Admission / fallback</a:t>
            </a:r>
          </a:p>
        </p:txBody>
      </p:sp>
      <p:sp>
        <p:nvSpPr>
          <p:cNvPr id="23" name="week-arrow-2">
            <a:extLst xmlns:a="http://schemas.openxmlformats.org/drawingml/2006/main">
              <a:ext uri="{FF2B5EF4-FFF2-40B4-BE49-F238E27FC236}">
                <a16:creationId xmlns:a16="http://schemas.microsoft.com/office/drawing/2014/main" id="{DD869774-60F1-4E84-B194-51A4E282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050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C03D1D-1825-4EEE-B827-14610598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352550"/>
            <a:ext cx="2381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F10A29-2A68-4F02-BE6F-E5F58642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3525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A18"/>
          </a:solidFill>
          <a:ln xmlns:a="http://schemas.openxmlformats.org/drawingml/2006/main" w="0">
            <a:solidFill>
              <a:srgbClr val="C68A1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8FB5BC-8B54-4EC7-9D53-2A1B6E32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466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0E5D7B-A8CE-46FC-932A-098121F0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46685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最小闭环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026DAD-1D2A-4697-A5A1-0C1AF47F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38350"/>
            <a:ext cx="2000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前台 / 后台 thin loop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受控 workload 与故障注入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结果包、问题单、迁入清单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FA10B2-AB73-48C8-B3A8-BCF4D1B0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rPr>
              <a:t>交付纪律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699964-ABA3-4211-8C30-FE20DC1A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9846AD-BF83-47A9-A59E-2D1F2B1C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32" name="一套基线-title">
            <a:extLst xmlns:a="http://schemas.openxmlformats.org/drawingml/2006/main">
              <a:ext uri="{FF2B5EF4-FFF2-40B4-BE49-F238E27FC236}">
                <a16:creationId xmlns:a16="http://schemas.microsoft.com/office/drawing/2014/main" id="{F98E90D7-DC02-41F6-B327-4CF9B818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一套基线</a:t>
            </a:r>
          </a:p>
        </p:txBody>
      </p:sp>
      <p:sp>
        <p:nvSpPr>
          <p:cNvPr id="33" name="一套基线-body">
            <a:extLst xmlns:a="http://schemas.openxmlformats.org/drawingml/2006/main">
              <a:ext uri="{FF2B5EF4-FFF2-40B4-BE49-F238E27FC236}">
                <a16:creationId xmlns:a16="http://schemas.microsoft.com/office/drawing/2014/main" id="{05EED786-B2D6-4A98-9C09-4515F8D8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207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统一 workload / trace / 时钟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对照组、SLO、调优口径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1E199F-B199-4AC7-B207-57F132CE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577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FA2BC3-BDC0-4F62-8F48-2B496826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577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A93"/>
          </a:solidFill>
          <a:ln xmlns:a="http://schemas.openxmlformats.org/drawingml/2006/main" w="0">
            <a:solidFill>
              <a:srgbClr val="0D9A93"/>
            </a:solidFill>
            <a:prstDash val="solid"/>
          </a:ln>
        </p:spPr>
      </p:sp>
      <p:sp>
        <p:nvSpPr>
          <p:cNvPr id="36" name="一条路径-title">
            <a:extLst xmlns:a="http://schemas.openxmlformats.org/drawingml/2006/main">
              <a:ext uri="{FF2B5EF4-FFF2-40B4-BE49-F238E27FC236}">
                <a16:creationId xmlns:a16="http://schemas.microsoft.com/office/drawing/2014/main" id="{5CE90C18-CDB2-4618-9D59-09309DDF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720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一条路径</a:t>
            </a:r>
          </a:p>
        </p:txBody>
      </p:sp>
      <p:sp>
        <p:nvSpPr>
          <p:cNvPr id="37" name="一条路径-body">
            <a:extLst xmlns:a="http://schemas.openxmlformats.org/drawingml/2006/main">
              <a:ext uri="{FF2B5EF4-FFF2-40B4-BE49-F238E27FC236}">
                <a16:creationId xmlns:a16="http://schemas.microsoft.com/office/drawing/2014/main" id="{D0E59675-99DB-42E0-B9F3-40922162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76800"/>
            <a:ext cx="207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Planned → Actual → Resource → SLO 全链路可追踪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2CD72B-5E4D-4B79-93C8-89946A62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4577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F674D3-0D2E-47A1-B482-D38AA272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4577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D9"/>
          </a:solidFill>
          <a:ln xmlns:a="http://schemas.openxmlformats.org/drawingml/2006/main" w="0">
            <a:solidFill>
              <a:srgbClr val="7667D9"/>
            </a:solidFill>
            <a:prstDash val="solid"/>
          </a:ln>
        </p:spPr>
      </p:sp>
      <p:sp>
        <p:nvSpPr>
          <p:cNvPr id="40" name="一个证据包-title">
            <a:extLst xmlns:a="http://schemas.openxmlformats.org/drawingml/2006/main">
              <a:ext uri="{FF2B5EF4-FFF2-40B4-BE49-F238E27FC236}">
                <a16:creationId xmlns:a16="http://schemas.microsoft.com/office/drawing/2014/main" id="{1547725A-0A62-44CB-A03E-6AFBF9E1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5720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一个证据包</a:t>
            </a:r>
          </a:p>
        </p:txBody>
      </p:sp>
      <p:sp>
        <p:nvSpPr>
          <p:cNvPr id="41" name="一个证据包-body">
            <a:extLst xmlns:a="http://schemas.openxmlformats.org/drawingml/2006/main">
              <a:ext uri="{FF2B5EF4-FFF2-40B4-BE49-F238E27FC236}">
                <a16:creationId xmlns:a16="http://schemas.microsoft.com/office/drawing/2014/main" id="{3C6300D3-F9BD-4773-AD6B-94E03512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876800"/>
            <a:ext cx="207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代码、提交、配置、日志、计数器、结论可复现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A1329F-664E-4A0A-AB08-69D043B2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57700"/>
            <a:ext cx="28003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43356A-812B-45BD-BB03-7185056E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577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A18"/>
          </a:solidFill>
          <a:ln xmlns:a="http://schemas.openxmlformats.org/drawingml/2006/main" w="0">
            <a:solidFill>
              <a:srgbClr val="C68A18"/>
            </a:solidFill>
            <a:prstDash val="solid"/>
          </a:ln>
        </p:spPr>
      </p:sp>
      <p:sp>
        <p:nvSpPr>
          <p:cNvPr id="44" name="一个迁入清单-title">
            <a:extLst xmlns:a="http://schemas.openxmlformats.org/drawingml/2006/main">
              <a:ext uri="{FF2B5EF4-FFF2-40B4-BE49-F238E27FC236}">
                <a16:creationId xmlns:a16="http://schemas.microsoft.com/office/drawing/2014/main" id="{E03D1320-C7D2-49A6-8D42-76C4B1AC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72000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一个迁入清单</a:t>
            </a:r>
          </a:p>
        </p:txBody>
      </p:sp>
      <p:sp>
        <p:nvSpPr>
          <p:cNvPr id="45" name="一个迁入清单-body">
            <a:extLst xmlns:a="http://schemas.openxmlformats.org/drawingml/2006/main">
              <a:ext uri="{FF2B5EF4-FFF2-40B4-BE49-F238E27FC236}">
                <a16:creationId xmlns:a16="http://schemas.microsoft.com/office/drawing/2014/main" id="{53379B95-30D2-430D-B0FB-71048760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76800"/>
            <a:ext cx="2495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原型接口、模块边界、测试项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Provider 与风险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9449219-D93E-4ED8-83EA-FA85EF6D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首期目标是形成可持续建设的工程起点，而不是一次性演示。</a:t>
            </a:r>
          </a:p>
        </p:txBody>
      </p:sp>
      <p:sp>
        <p:nvSpPr>
          <p:cNvPr id="4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F206044-F603-4AE5-B047-8F897AC9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统一异构 KVCache 存储池｜立项申请与建设路径</a:t>
            </a:r>
          </a:p>
        </p:txBody>
      </p:sp>
      <p:sp>
        <p:nvSpPr>
          <p:cNvPr id="4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C362355-77A9-4C84-947B-A651890A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437842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6D363F41-1A29-4A9C-A22C-FB087FD5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72E8DD-C229-4A65-ABCC-946B0C62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项目建成后形成五类收益，且收益会随生态与硬件迭代累积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F0B7595-AE9B-4293-8DF1-4570CAE0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项目产出不仅是一个组件，更是客户结果、硬件能力、工程数据和生态主导权的复合资产。</a:t>
            </a:r>
          </a:p>
        </p:txBody>
      </p:sp>
      <p:sp>
        <p:nvSpPr>
          <p:cNvPr id="4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28215BED-3ACD-493F-9CC1-6B821A8E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3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11  /  预期收益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AD5AB585-0136-485F-AFEB-7300890A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C48EB0-0C30-4E15-9CBB-347EB7AE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943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64FB9-B8F9-4657-873F-87671171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943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F0AA9-1F4A-476C-9B52-F5AB14C6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客户界面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1B74C-B95A-4D97-9100-09CABD17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5621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更多 SLO 合格事务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更低 TTFT / TPOT / TCO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延缓容量扩容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2190A9-CD9E-448F-92A0-E54D35AA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2C6F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C6FE8"/>
                </a:solidFill>
                <a:latin typeface="Microsoft YaHei"/>
                <a:ea typeface="Microsoft YaHei"/>
                <a:cs typeface="Microsoft YaHei"/>
              </a:rPr>
              <a:t>客户可感知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524900-6448-4720-9184-BDEF2283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409700"/>
            <a:ext cx="1943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3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8AC0C7-D628-468A-B1D8-BA999CC1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409700"/>
            <a:ext cx="1943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A93"/>
          </a:solidFill>
          <a:ln xmlns:a="http://schemas.openxmlformats.org/drawingml/2006/main" w="0">
            <a:solidFill>
              <a:srgbClr val="0D9A9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6BA0A-1B85-4E6B-ACEC-C7494330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56210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生态建设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88DFC9-D3C7-4051-A950-0642EC13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86000"/>
            <a:ext cx="15621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KV 状态语义 ABI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UBMEM / URMA profile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一致性与认证套件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AF4D19-136F-4D1F-B343-AE151409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9095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0D9A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D9A93"/>
                </a:solidFill>
                <a:latin typeface="Microsoft YaHei"/>
                <a:ea typeface="Microsoft YaHei"/>
                <a:cs typeface="Microsoft YaHei"/>
              </a:rPr>
              <a:t>行业可复用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DC3AA7-ADA6-478C-AEA9-BA3B1C00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409700"/>
            <a:ext cx="1943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C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8EA2F9-5B17-4835-9393-D11D6500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409700"/>
            <a:ext cx="1943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D9"/>
          </a:solidFill>
          <a:ln xmlns:a="http://schemas.openxmlformats.org/drawingml/2006/main" w="0">
            <a:solidFill>
              <a:srgbClr val="7667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088476-8676-4C5E-AA6F-3EEBA59D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56210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软硬结合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7AEC2D-FE12-4BB4-AD03-BF1CE780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86000"/>
            <a:ext cx="15621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芯片 / 固件 / 驱动 / 软件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联合调优与 Day-0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问题跨层归因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A12FAE-DAB1-46AB-A0E2-46ADFF2F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9095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7667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7667D9"/>
                </a:solidFill>
                <a:latin typeface="Microsoft YaHei"/>
                <a:ea typeface="Microsoft YaHei"/>
                <a:cs typeface="Microsoft YaHei"/>
              </a:rPr>
              <a:t>代际可积累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A39E08-76D3-4036-B730-EF348F92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409700"/>
            <a:ext cx="1943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6A69A8-15A6-49B5-A853-0985D39C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409700"/>
            <a:ext cx="1943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A18"/>
          </a:solidFill>
          <a:ln xmlns:a="http://schemas.openxmlformats.org/drawingml/2006/main" w="0">
            <a:solidFill>
              <a:srgbClr val="C68A1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EEDF65-E783-4EFA-AEFB-70E9F594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56210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软件栈孵化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1076B2-7D06-439C-BDA9-DD856F4C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86000"/>
            <a:ext cx="15621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vLLM / SGLang 接入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Provider 生态复用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带动上下游成熟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F4F3F0-7786-4E30-9873-ADE11908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9095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C68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C68A18"/>
                </a:solidFill>
                <a:latin typeface="Microsoft YaHei"/>
                <a:ea typeface="Microsoft YaHei"/>
                <a:cs typeface="Microsoft YaHei"/>
              </a:rPr>
              <a:t>协同可扩展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492B70-61C8-42C4-A64E-23F549B3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09700"/>
            <a:ext cx="1943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3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5D9E32-CCBA-4593-85CB-1CF60029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09700"/>
            <a:ext cx="1943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167"/>
          </a:solidFill>
          <a:ln xmlns:a="http://schemas.openxmlformats.org/drawingml/2006/main" w="0">
            <a:solidFill>
              <a:srgbClr val="0F416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797404-6CDE-4226-9182-8CF44108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56210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生态主导权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727532-4398-4419-AD6C-5C8F1B12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86000"/>
            <a:ext cx="15621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沉淀性能包络与版本矩阵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牵引国产硬件迭代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形成第一方交付能力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E125BA-3F1D-4CFA-AFC2-A76C03CF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9095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rPr>
              <a:t>战略可持续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EA7EAA-F892-4657-BBDF-120E0766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572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167"/>
          </a:solidFill>
          <a:ln xmlns:a="http://schemas.openxmlformats.org/drawingml/2006/main" w="0">
            <a:solidFill>
              <a:srgbClr val="0F416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C50FCC-A2A7-4A14-850B-74FDADE5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1011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长期复利 = 真实客户 Trace + 可执行决策 + 性能 / 故障 / 成本数据 + 硬件联合设计 + 交付责任。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DC6E81-3096-4BDE-9DEE-BD2EECD7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这套复合资产决定项目能否从一次性优化，升级为国产 AI Infra 的长期基础设施能力。</a:t>
            </a:r>
          </a:p>
        </p:txBody>
      </p:sp>
      <p:sp>
        <p:nvSpPr>
          <p:cNvPr id="3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C0EEC82-DFB3-4B89-8B88-C76191D0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统一异构 KVCache 存储池｜立项申请与建设路径</a:t>
            </a:r>
          </a:p>
        </p:txBody>
      </p:sp>
      <p:sp>
        <p:nvSpPr>
          <p:cNvPr id="3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1D70F89-0E83-410B-8108-469241C3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437842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CA792525-09A4-4472-9A33-C9E35717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FB7243-13C7-4A86-BE38-7BE99089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请批准项目建设，落实四项前置保障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0850049-C6CE-4B74-B4A4-645B5659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首期先形成最小纵向切片，随后按 P0–P3 里程碑持续投入，把项目交付为可用、可复制的国产推理状态基础设施。</a:t>
            </a:r>
          </a:p>
        </p:txBody>
      </p:sp>
      <p:sp>
        <p:nvSpPr>
          <p:cNvPr id="4" name="slide-section">
            <a:extLst xmlns:a="http://schemas.openxmlformats.org/drawingml/2006/main">
              <a:ext uri="{FF2B5EF4-FFF2-40B4-BE49-F238E27FC236}">
                <a16:creationId xmlns:a16="http://schemas.microsoft.com/office/drawing/2014/main" id="{5163BD8D-C0B0-47F3-842F-7D05360E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3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12  /  立项申请</a:t>
            </a:r>
          </a:p>
        </p:txBody>
      </p:sp>
      <p:sp>
        <p:nvSpPr>
          <p:cNvPr id="5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97DCF2E-4FD6-4684-944D-E47ABBD9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DE372-5E70-4876-94B4-6F064183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57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167"/>
          </a:solidFill>
          <a:ln xmlns:a="http://schemas.openxmlformats.org/drawingml/2006/main" w="0">
            <a:solidFill>
              <a:srgbClr val="0F416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4C31D-BDF3-47E8-B081-FB449F80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47800"/>
            <a:ext cx="1011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请批准立项，并支持首期 4–5 周建设与验证。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B25BE4-6A77-426B-B1E7-ECC6AED2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1011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 i="0">
                <a:solidFill>
                  <a:srgbClr val="EAF3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EAF3FA"/>
                </a:solidFill>
                <a:latin typeface="Microsoft YaHei"/>
                <a:ea typeface="Microsoft YaHei"/>
                <a:cs typeface="Microsoft YaHei"/>
              </a:rPr>
              <a:t>立项后第一批交付：统一基线包、最小纵向闭环、硬件 Provider、性能与故障证据、P0–P3 计划。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8FB49B-AA88-4A85-88A1-B13D8DB2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857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FD47E-ED57-4820-9C71-104F7E98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FE8"/>
          </a:solidFill>
          <a:ln xmlns:a="http://schemas.openxmlformats.org/drawingml/2006/main" w="0">
            <a:solidFill>
              <a:srgbClr val="2C6FE8"/>
            </a:solidFill>
            <a:prstDash val="solid"/>
          </a:ln>
        </p:spPr>
      </p:sp>
      <p:sp>
        <p:nvSpPr>
          <p:cNvPr id="11" name="01  项目归属与 Owner-title">
            <a:extLst xmlns:a="http://schemas.openxmlformats.org/drawingml/2006/main">
              <a:ext uri="{FF2B5EF4-FFF2-40B4-BE49-F238E27FC236}">
                <a16:creationId xmlns:a16="http://schemas.microsoft.com/office/drawing/2014/main" id="{7EE9CAC9-44AF-49A2-975D-E89319C0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443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01  项目归属与 Owner</a:t>
            </a:r>
          </a:p>
        </p:txBody>
      </p:sp>
      <p:sp>
        <p:nvSpPr>
          <p:cNvPr id="12" name="01  项目归属与 Owner-body">
            <a:extLst xmlns:a="http://schemas.openxmlformats.org/drawingml/2006/main">
              <a:ext uri="{FF2B5EF4-FFF2-40B4-BE49-F238E27FC236}">
                <a16:creationId xmlns:a16="http://schemas.microsoft.com/office/drawing/2014/main" id="{A113FDF4-EDAD-488E-B905-48F20264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明确产品 / 架构 Owner、范围边界、跨团队 RACI 与问题升级机制。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6F777-E072-4CAD-8CC7-1B0062BD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00300"/>
            <a:ext cx="4857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3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208D87-B697-47A3-B948-A79CB7C8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003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A93"/>
          </a:solidFill>
          <a:ln xmlns:a="http://schemas.openxmlformats.org/drawingml/2006/main" w="0">
            <a:solidFill>
              <a:srgbClr val="0D9A93"/>
            </a:solidFill>
            <a:prstDash val="solid"/>
          </a:ln>
        </p:spPr>
      </p:sp>
      <p:sp>
        <p:nvSpPr>
          <p:cNvPr id="15" name="02  跨层研发资源-title">
            <a:extLst xmlns:a="http://schemas.openxmlformats.org/drawingml/2006/main">
              <a:ext uri="{FF2B5EF4-FFF2-40B4-BE49-F238E27FC236}">
                <a16:creationId xmlns:a16="http://schemas.microsoft.com/office/drawing/2014/main" id="{CD807FC5-1772-4C54-920D-9BF07FC1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14600"/>
            <a:ext cx="443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02  跨层研发资源</a:t>
            </a:r>
          </a:p>
        </p:txBody>
      </p:sp>
      <p:sp>
        <p:nvSpPr>
          <p:cNvPr id="16" name="02  跨层研发资源-body">
            <a:extLst xmlns:a="http://schemas.openxmlformats.org/drawingml/2006/main">
              <a:ext uri="{FF2B5EF4-FFF2-40B4-BE49-F238E27FC236}">
                <a16:creationId xmlns:a16="http://schemas.microsoft.com/office/drawing/2014/main" id="{CA42BDF2-92DF-48AD-AE92-D78248B2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3845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落实框架、控制面、传输、存储、硬件、驱动与固件协同人员。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93D2E2-877D-42F2-A2BC-16E94F15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857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C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DCEA00-B025-4773-9289-66926338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7D9"/>
          </a:solidFill>
          <a:ln xmlns:a="http://schemas.openxmlformats.org/drawingml/2006/main" w="0">
            <a:solidFill>
              <a:srgbClr val="7667D9"/>
            </a:solidFill>
            <a:prstDash val="solid"/>
          </a:ln>
        </p:spPr>
      </p:sp>
      <p:sp>
        <p:nvSpPr>
          <p:cNvPr id="19" name="03  代表硬件与窗口-title">
            <a:extLst xmlns:a="http://schemas.openxmlformats.org/drawingml/2006/main">
              <a:ext uri="{FF2B5EF4-FFF2-40B4-BE49-F238E27FC236}">
                <a16:creationId xmlns:a16="http://schemas.microsoft.com/office/drawing/2014/main" id="{F203EFB0-0B16-4F5C-B83F-94BE9AF1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443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03  代表硬件与窗口</a:t>
            </a:r>
          </a:p>
        </p:txBody>
      </p:sp>
      <p:sp>
        <p:nvSpPr>
          <p:cNvPr id="20" name="03  代表硬件与窗口-body">
            <a:extLst xmlns:a="http://schemas.openxmlformats.org/drawingml/2006/main">
              <a:ext uri="{FF2B5EF4-FFF2-40B4-BE49-F238E27FC236}">
                <a16:creationId xmlns:a16="http://schemas.microsoft.com/office/drawing/2014/main" id="{334CFE81-90FB-47BB-B65D-5E86D12A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提供 UBMEM / URMA / NPU / SSD 环境、驱动接口与芯片联合调优窗口。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B207A4-B821-4D9D-AB58-775F7CE0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38550"/>
            <a:ext cx="4857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D5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54A16E-49DC-47D6-A285-A2F0D61B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3855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A18"/>
          </a:solidFill>
          <a:ln xmlns:a="http://schemas.openxmlformats.org/drawingml/2006/main" w="0">
            <a:solidFill>
              <a:srgbClr val="C68A18"/>
            </a:solidFill>
            <a:prstDash val="solid"/>
          </a:ln>
        </p:spPr>
      </p:sp>
      <p:sp>
        <p:nvSpPr>
          <p:cNvPr id="23" name="04  场景与客户联创-title">
            <a:extLst xmlns:a="http://schemas.openxmlformats.org/drawingml/2006/main">
              <a:ext uri="{FF2B5EF4-FFF2-40B4-BE49-F238E27FC236}">
                <a16:creationId xmlns:a16="http://schemas.microsoft.com/office/drawing/2014/main" id="{90CFD9D5-EF7E-4AFF-A5F4-DFD09500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52850"/>
            <a:ext cx="443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04  场景与客户联创</a:t>
            </a:r>
          </a:p>
        </p:txBody>
      </p:sp>
      <p:sp>
        <p:nvSpPr>
          <p:cNvPr id="24" name="04  场景与客户联创-body">
            <a:extLst xmlns:a="http://schemas.openxmlformats.org/drawingml/2006/main">
              <a:ext uri="{FF2B5EF4-FFF2-40B4-BE49-F238E27FC236}">
                <a16:creationId xmlns:a16="http://schemas.microsoft.com/office/drawing/2014/main" id="{E30B0111-BF7F-4AD4-993B-A3D4A0A7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76700"/>
            <a:ext cx="445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A7D"/>
                </a:solidFill>
                <a:latin typeface="Microsoft YaHei"/>
                <a:ea typeface="Microsoft YaHei"/>
                <a:cs typeface="Microsoft YaHei"/>
              </a:rPr>
              <a:t>冻结代表 workload / trace、vLLM / SGLang 接入路径和客户验证出口。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ED5B7C-10FD-41E9-AC83-5AAAC1B6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F4167"/>
                </a:solidFill>
                <a:latin typeface="Microsoft YaHei"/>
                <a:ea typeface="Microsoft YaHei"/>
                <a:cs typeface="Microsoft YaHei"/>
              </a:rPr>
              <a:t>最终目标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FF2C3D-C7EE-465B-93E6-CEB70987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991100"/>
            <a:ext cx="897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4253D"/>
                </a:solidFill>
                <a:latin typeface="Microsoft YaHei"/>
                <a:ea typeface="Microsoft YaHei"/>
                <a:cs typeface="Microsoft YaHei"/>
              </a:rPr>
              <a:t>建设国产 AI Infra 的关键状态基础设施，让国产硬件能力真正转化为客户推理能力、生态能力与长期竞争力。</a:t>
            </a:r>
          </a:p>
        </p:txBody>
      </p:sp>
      <p:sp>
        <p:nvSpPr>
          <p:cNvPr id="2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AF14AEB-418C-4CAA-ACF8-6206C2C5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统一异构 KVCache 存储池｜立项申请与建设路径</a:t>
            </a:r>
          </a:p>
        </p:txBody>
      </p:sp>
      <p:sp>
        <p:nvSpPr>
          <p:cNvPr id="2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A0DD39A-838E-414A-8C38-8BD80F7F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7A8999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437842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2026-08-07T08:14:26.2310000Z</dcterms:created>
  <dcterms:modified xsi:type="dcterms:W3CDTF">2026-08-07T08:14:26.2310000Z</dcterms:modified>
</coreProperties>
</file>