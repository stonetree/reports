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0F2FE"/>
                </a:solidFill>
                <a:latin typeface="Microsoft YaHei"/>
              </a:defRPr>
            </a:pPr>
            <a:r>
              <a:t>软硬协同构筑统一异构 KVCache 存储池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  <a:latin typeface="Microsoft YaHei"/>
              </a:defRPr>
            </a:pPr>
            <a:r>
              <a:t>基于 UBMEM/URMA 底座的集群级 AI 推理状态治理与性能突破</a:t>
            </a:r>
          </a:p>
          <a:p>
            <a:pPr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汇报定位：面向国产 AI 硬件生态的第一方推理状态系统工程投资申请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651760"/>
            <a:ext cx="3332073" cy="27432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296631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F2FE"/>
                </a:solidFill>
                <a:latin typeface="Microsoft YaHei"/>
              </a:defRPr>
            </a:pPr>
            <a:r>
              <a:t>1. 直击瓶颈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打破 HBM 容量墙与重复 Prefill 算力浪费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将 KVCache 从局域临时 Buffer 升级为集群级高价值状态资产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彻底消除前缀重复计算带来的 TTFT 居高不下问题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353" y="2651760"/>
            <a:ext cx="3332073" cy="27432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2233" y="2834640"/>
            <a:ext cx="296631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2. 技术突破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以 UBMEM (内存语义) / URMA (传输语义) 为双擎底座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以 HBM↔SSD 直达/低 Host 参与为容量主路径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通过算搬均衡 ROI 决策引擎实现可信复用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186" y="2651760"/>
            <a:ext cx="3332073" cy="27432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10066" y="2834640"/>
            <a:ext cx="296631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3. 分阶段授权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申请 4~5 周 PVT 验证放行，购买决策事实证据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达成 TTFT 降低 ≥20%、HBM 容量提升 ≥30%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用有限投入极控立项风险，建立第一方协同标杆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核心交付 KPI :   </a:t>
            </a:r>
            <a:r>
              <a:rPr sz="1400" b="1">
                <a:solidFill>
                  <a:srgbClr val="00F2FE"/>
                </a:solidFill>
              </a:rPr>
              <a:t>首 Token 时延 (p99 TTFT) 降低 ≥ 20%   |   </a:t>
            </a:r>
            <a:r>
              <a:rPr sz="1400" b="1">
                <a:solidFill>
                  <a:srgbClr val="10B981"/>
                </a:solidFill>
              </a:rPr>
              <a:t>HBM 有效容量提升 ≥ 30%   |   </a:t>
            </a:r>
            <a:r>
              <a:rPr sz="1400" b="1">
                <a:solidFill>
                  <a:srgbClr val="F59E0B"/>
                </a:solidFill>
              </a:rPr>
              <a:t>Host Touch Budget =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F2FE"/>
                </a:solidFill>
                <a:latin typeface="Arial"/>
              </a:defRPr>
            </a:pPr>
            <a:r>
              <a:t>统一异构 KVCACHE 存储池 | 立项汇报</a:t>
            </a:r>
          </a:p>
          <a:p>
            <a:pPr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背景、问题本质与第一性原理：KVCache 不是磁盘文件，而是高维张量内存切片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三大现实痛点 (The Pain Points)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Microsoft YaHei"/>
              </a:defRPr>
            </a:pPr>
            <a:r>
              <a:t>1. 算力浪费 (Prefill Waste)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公共前缀/历史对话在每次 Request 中重复 Prefill 计算，导致首 token 时延 (TTFT) 居高不下。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Microsoft YaHei"/>
              </a:defRPr>
            </a:pPr>
            <a:r>
              <a:t>2. 容量壁垒 (HBM Capacity Wall)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HBM 极其昂贵且容量受限，易引发 OOM 与抢占；传统 SSD 路径 CPU 参与度高、拷贝开销大无法直接使用。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Microsoft YaHei"/>
              </a:defRPr>
            </a:pPr>
            <a:r>
              <a:t>3. 负收益反噬 (Negative ROI Backlash)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传统方案盲目 Hit 预取，忽视网络拥塞、CPU 内存拷贝与多卡同步开销，频繁出现“命中但比重算更慢”现象。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F2FE"/>
                </a:solidFill>
                <a:latin typeface="Microsoft YaHei"/>
              </a:defRPr>
            </a:pPr>
            <a:r>
              <a:t>第一性原理辩证 (First-Principles Dialectics)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本质认知：Memory OS Substrate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KVCache 的本质是高维张量内存切片扩展，而非 POSIX 磁盘文件或通用 Blob 键值对象。它具有极强的模型结构、分词器、多头注意力布局及精确定址依赖。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决策平衡：重算也是一种可调度的计算路径！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在 AI 推理中，重新计算 (Recompute) 是可建模、可高并发的路径。盲目搬运导致的负收益命中 (Negative ROI Hit) 对 TTFT SLO 的破坏性远大于未命中！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系统目标：从 Raw Hit 到 Usable Hit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仅当 SavedRecompute &gt; DirQuery + Load + Attach + Sync + Interference 时才换入，负收益命中果断放弃 (Abandoned Hit) 回退本地重算。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F2FE"/>
                </a:solidFill>
                <a:latin typeface="Arial"/>
              </a:defRPr>
            </a:pPr>
            <a:r>
              <a:t>统一异构 KVCACHE 存储池 | 立项汇报</a:t>
            </a:r>
          </a:p>
          <a:p>
            <a:pPr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总体架构：四层解耦契约与上下游枢纽定位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36289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F2FE"/>
                </a:solidFill>
                <a:latin typeface="Microsoft YaHei"/>
              </a:defRPr>
            </a:pPr>
            <a:r>
              <a:t>L1 推理调度层 (Inference Integration)</a:t>
            </a:r>
          </a:p>
          <a:p>
            <a:pPr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vLLM / SGLang Connector  |  Prefix Budget Manager  |  Request Router  |  Pipeline Offload Dispatcher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10728655" cy="100584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24328"/>
            <a:ext cx="1036289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L2 KV 连接层 (KV Connection &amp; Intent)</a:t>
            </a:r>
          </a:p>
          <a:p>
            <a:pPr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请求意图解析 (KVAccessIntent)  |  访问执行方案 (QueryPlan)  |  可消费引用凭证 (AttachHandle)  |  动态 ROI 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10728655" cy="100584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67328"/>
            <a:ext cx="1036289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L3 传输管理层 (Transfer &amp; State Management)</a:t>
            </a:r>
          </a:p>
          <a:p>
            <a:pPr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前缀目录 (PrefixDirectory)  |  KVObject 生命周期状态机  |  分层容量调度 (Eviction)  |  多租户 QoS 隔离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00600"/>
            <a:ext cx="10728655" cy="100584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10328"/>
            <a:ext cx="1036289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Microsoft YaHei"/>
              </a:defRPr>
            </a:pPr>
            <a:r>
              <a:t>L4 底层传输层 (Hardware Transport Foundation)</a:t>
            </a:r>
          </a:p>
          <a:p>
            <a:pPr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路径能力矩阵 (CapabilityMatrix)  |  UBMEM Direct View  |  URMA 零拷贝 RDMA DMA  |  NVMe SSD 容量后端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43600"/>
            <a:ext cx="10728655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F2FE"/>
                </a:solidFill>
                <a:latin typeface="Microsoft YaHei"/>
              </a:defRPr>
            </a:pPr>
            <a:r>
              <a:t>物理底座 :   国产 AI NPU   |   UBMEM 共享总线 (内存语义)   |   URMA 高速网卡 (传输语义)   |   NVMe SSD 存储介质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F2FE"/>
                </a:solidFill>
                <a:latin typeface="Arial"/>
              </a:defRPr>
            </a:pPr>
            <a:r>
              <a:t>统一异构 KVCACHE 存储池 | 立项汇报</a:t>
            </a:r>
          </a:p>
          <a:p>
            <a:pPr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四大关键架构决策：破除传统瓶颈，坚守极限性能与安全边界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80990" cy="23317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1523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F2FE"/>
                </a:solidFill>
                <a:latin typeface="Microsoft YaHei"/>
              </a:defRPr>
            </a:pPr>
            <a:r>
              <a:t>1. 图式路径与 DDR 角色化准入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消除 HBM→DDR→SSD 固定三级搬运假象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将 HBM↔SSD 直达/低 Host 参与设为容量主路径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DDR 绝非必经层，仅当承担热点缓存、预取缓冲或注册内存池且具备净收益时准入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270" y="1371600"/>
            <a:ext cx="5180990" cy="23317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1150" y="1508760"/>
            <a:ext cx="481523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2. 数据面边界: Host Touch Budget = 0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CPU 不参与 KV 正文拷贝、编解码或全量 CRC 校验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CPU 仅负责微秒级描述符提交与异常诊断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彻底消除 CPU Wall 成为集群吞吐瓶颈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80990" cy="23317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1523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3. UBMEM + URMA 双擎底座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UBMEM: 微秒级共享内存元数据与读就绪感知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URMA: 大块 KV 正文硬件级零拷贝 DMA 跨节点搬运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双擎结合发挥国产硬件微架构最大潜力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270" y="3931920"/>
            <a:ext cx="5180990" cy="23317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150" y="4069080"/>
            <a:ext cx="481523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  <a:latin typeface="Microsoft YaHei"/>
              </a:defRPr>
            </a:pPr>
            <a:r>
              <a:t>4. 安全屏障: 零信任 AttachHandle + Lease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硬件 Completion Queue (CQ) 与可见性屏障达成前绝不签发凭证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凭证具备显式有效期与租约回收机制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• 错误数据与过期 KV 消费概率精确为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F2FE"/>
                </a:solidFill>
                <a:latin typeface="Arial"/>
              </a:defRPr>
            </a:pPr>
            <a:r>
              <a:t>统一异构 KVCACHE 存储池 | 立项汇报</a:t>
            </a:r>
          </a:p>
          <a:p>
            <a:pPr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动态 ROI 决策引擎：从 Raw Hit 到 Usable Hit 的算搬均衡决策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1887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0F2FE"/>
                </a:solidFill>
                <a:latin typeface="Microsoft YaHei"/>
              </a:defRPr>
            </a:pPr>
            <a:r>
              <a:t>数学决策天平方程 (State Intelligence ROI Balance)</a:t>
            </a:r>
          </a:p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Time(SavedRecompute)  &gt;  Time(DirQuery) + Time(DataLoad) + Time(EngineAttach) + Time(MultiCardSync) + Cost(TPOT_Interference)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120640" cy="356616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2FE"/>
                </a:solidFill>
                <a:latin typeface="Microsoft YaHei"/>
              </a:defRPr>
            </a:pPr>
            <a:r>
              <a:t>Raw Hit vs Usable Hit (质的飞跃)</a:t>
            </a:r>
          </a:p>
          <a:p>
            <a:pPr>
              <a:spcAft>
                <a:spcPts val="300"/>
              </a:spcAft>
              <a:defRPr sz="1200" b="1">
                <a:solidFill>
                  <a:srgbClr val="F8FAFC"/>
                </a:solidFill>
                <a:latin typeface="Microsoft YaHei"/>
              </a:defRPr>
            </a:pPr>
            <a:r>
              <a:t>• Raw Hit (原始匹配)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仅代表前缀目录中找到了一个候选对象，未校验正确性、加载成本或时效。</a:t>
            </a:r>
          </a:p>
          <a:p>
            <a:pPr>
              <a:spcAft>
                <a:spcPts val="300"/>
              </a:spcAft>
              <a:defRPr sz="1200" b="1">
                <a:solidFill>
                  <a:srgbClr val="F8FAFC"/>
                </a:solidFill>
                <a:latin typeface="Microsoft YaHei"/>
              </a:defRPr>
            </a:pPr>
            <a:r>
              <a:t>• Usable Hit (可消费命中)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候选对象通过模型语义、版本、布局、数据就绪、访问租约、路径负载与成本建模校验后，能够安全且有收益地使用。</a:t>
            </a:r>
          </a:p>
          <a:p>
            <a:pPr>
              <a:spcAft>
                <a:spcPts val="300"/>
              </a:spcAft>
              <a:defRPr sz="1200" b="1">
                <a:solidFill>
                  <a:srgbClr val="F8FAFC"/>
                </a:solidFill>
                <a:latin typeface="Microsoft YaHei"/>
              </a:defRPr>
            </a:pPr>
            <a:r>
              <a:t>• 关键效益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消除 80% 以上因盲目换入导致的拥塞与网络延迟暴雷。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5242255" cy="356616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4876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负收益放弃策略 (Abandoned Hit)</a:t>
            </a:r>
          </a:p>
          <a:p>
            <a:pPr>
              <a:spcAft>
                <a:spcPts val="300"/>
              </a:spcAft>
              <a:defRPr sz="1200" b="1">
                <a:solidFill>
                  <a:srgbClr val="F8FAFC"/>
                </a:solidFill>
                <a:latin typeface="Microsoft YaHei"/>
              </a:defRPr>
            </a:pPr>
            <a:r>
              <a:t>• 负收益判定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当天平右侧 (加载/传输/干扰总耗时) 大于左侧 (节省重算耗时) 时，判定为负收益命中。</a:t>
            </a:r>
          </a:p>
          <a:p>
            <a:pPr>
              <a:spcAft>
                <a:spcPts val="300"/>
              </a:spcAft>
              <a:defRPr sz="1200" b="1">
                <a:solidFill>
                  <a:srgbClr val="F8FAFC"/>
                </a:solidFill>
                <a:latin typeface="Microsoft YaHei"/>
              </a:defRPr>
            </a:pPr>
            <a:r>
              <a:t>• Abandoned Hit 动作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果断记录 Abandoned Hit 并自动指示推理引擎回退至本地重算 (Local Recompute)。</a:t>
            </a:r>
          </a:p>
          <a:p>
            <a:pPr>
              <a:spcAft>
                <a:spcPts val="300"/>
              </a:spcAft>
              <a:defRPr sz="1200" b="1">
                <a:solidFill>
                  <a:srgbClr val="F8FAFC"/>
                </a:solidFill>
                <a:latin typeface="Microsoft YaHei"/>
              </a:defRPr>
            </a:pPr>
            <a:r>
              <a:t>• SLO 守护底线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确保在网络拥塞或介质繁忙时，首 token 时延 (p99 TTFT) SLO 绝不恶化。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F2FE"/>
                </a:solidFill>
                <a:latin typeface="Arial"/>
              </a:defRPr>
            </a:pPr>
            <a:r>
              <a:t>统一异构 KVCACHE 存储池 | 立项汇报</a:t>
            </a:r>
          </a:p>
          <a:p>
            <a:pPr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竞争分析：与开源/厂商方案的多维对比与三大深层竞争壁垒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2103120"/>
                <a:gridCol w="2316175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Mooncake (FAST '25)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LMCache (PyTorch)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NVIDIA Dynamo/GDS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本项目 (unified_kv)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定位与责任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用户态 P2P 存储库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引擎无关中间层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云原生微服务/GDS驱动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2FE"/>
                          </a:solidFill>
                          <a:latin typeface="Microsoft YaHei"/>
                        </a:defRPr>
                      </a:pPr>
                      <a:r>
                        <a:t>国产 AI 硬件第一方系统工程闭环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底层通信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多网卡 RDMA/TCP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通用 NIXL/S3 Connector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NVLink/RDMA + GDS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2FE"/>
                          </a:solidFill>
                          <a:latin typeface="Microsoft YaHei"/>
                        </a:defRPr>
                      </a:pPr>
                      <a:r>
                        <a:t>UBMEM (内存) + URMA (传输) 双擎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介质主路径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HBM ↔ DRAM ↔ SSD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HBM ↔ DRAM ↔ SSD ↔ S3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HBM ↔ NVMe SSD (GDS直达)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2FE"/>
                          </a:solidFill>
                          <a:latin typeface="Microsoft YaHei"/>
                        </a:defRPr>
                      </a:pPr>
                      <a:r>
                        <a:t>HBM↔SSD 直达/低 Host 参与主路径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CPU 参与度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依赖 CPU 内存中转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CPU 负责 CacheGen 编解码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GDS 零 CPU中转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2FE"/>
                          </a:solidFill>
                          <a:latin typeface="Microsoft YaHei"/>
                        </a:defRPr>
                      </a:pPr>
                      <a:r>
                        <a:t>Host Payload Touch Budget = 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决策机制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静态 Prefix/Hash 匹配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Prefix + Non-prefix 融合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Overlap 成本路由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2FE"/>
                          </a:solidFill>
                          <a:latin typeface="Microsoft YaHei"/>
                        </a:defRPr>
                      </a:pPr>
                      <a:r>
                        <a:t>动态 Usable Hit 算搬均衡 ROI 引擎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572000"/>
            <a:ext cx="3332073" cy="16459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305775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2FE"/>
                </a:solidFill>
                <a:latin typeface="Microsoft YaHei"/>
              </a:defRPr>
            </a:pPr>
            <a:r>
              <a:t>1. 软件层级屏障</a:t>
            </a:r>
          </a:p>
          <a:p>
            <a:pPr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下沉至驱动、NIC 与 UBMEM/URMA 物理寄存器/DMA 队列，非用户态中间件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4572000"/>
            <a:ext cx="3332073" cy="16459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6513" y="4709160"/>
            <a:ext cx="305775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2. 数据范式屏障</a:t>
            </a:r>
          </a:p>
          <a:p>
            <a:pPr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高维张量内存切片 (KVObject/Extent) 语义，非 POSIX Blob I/O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186" y="4572000"/>
            <a:ext cx="3332073" cy="16459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4346" y="4709160"/>
            <a:ext cx="305775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3. 物理控制权屏障</a:t>
            </a:r>
          </a:p>
          <a:p>
            <a:pPr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具备修改国产硬件 DMA、NoC、寄存器与协议栈契约的第一方协同控制权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F2FE"/>
                </a:solidFill>
                <a:latin typeface="Arial"/>
              </a:defRPr>
            </a:pPr>
            <a:r>
              <a:t>统一异构 KVCACHE 存储池 | 立项汇报</a:t>
            </a:r>
          </a:p>
          <a:p>
            <a:pPr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预期成果与衍生价值：UB 通信软件栈孵化与国产生态反向牵引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32073" cy="48463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66313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F2FE"/>
                </a:solidFill>
                <a:latin typeface="Microsoft YaHei"/>
              </a:defRPr>
            </a:pPr>
            <a:r>
              <a:t>1. UB 通信栈催熟与孵化</a:t>
            </a:r>
          </a:p>
          <a:p>
            <a:pPr>
              <a:spcAft>
                <a:spcPts val="1200"/>
              </a:spcAft>
              <a:defRPr sz="1150">
                <a:solidFill>
                  <a:srgbClr val="CBD5E1"/>
                </a:solidFill>
                <a:latin typeface="Microsoft YaHei"/>
              </a:defRPr>
            </a:pPr>
            <a:r>
              <a:t>• 将 UBMEM/URMA 从底层物理原语催熟为 AI 状态治理的工业级 API/ABI 标准</a:t>
            </a:r>
          </a:p>
          <a:p>
            <a:pPr>
              <a:spcAft>
                <a:spcPts val="1200"/>
              </a:spcAft>
              <a:defRPr sz="1150">
                <a:solidFill>
                  <a:srgbClr val="CBD5E1"/>
                </a:solidFill>
                <a:latin typeface="Microsoft YaHei"/>
              </a:defRPr>
            </a:pPr>
            <a:r>
              <a:t>• 沉淀路径能力矩阵 (CapabilityMatrix)</a:t>
            </a:r>
          </a:p>
          <a:p>
            <a:pPr>
              <a:spcAft>
                <a:spcPts val="1200"/>
              </a:spcAft>
              <a:defRPr sz="1150">
                <a:solidFill>
                  <a:srgbClr val="CBD5E1"/>
                </a:solidFill>
                <a:latin typeface="Microsoft YaHei"/>
              </a:defRPr>
            </a:pPr>
            <a:r>
              <a:t>• 研发硬件传输任务编译器 (Descriptor Compiler) 与统一运行探针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353" y="1371600"/>
            <a:ext cx="3332073" cy="48463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2233" y="1554480"/>
            <a:ext cx="2966313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2. 硬件微架构反向牵引</a:t>
            </a:r>
          </a:p>
          <a:p>
            <a:pPr>
              <a:spcAft>
                <a:spcPts val="1200"/>
              </a:spcAft>
              <a:defRPr sz="1150">
                <a:solidFill>
                  <a:srgbClr val="CBD5E1"/>
                </a:solidFill>
                <a:latin typeface="Microsoft YaHei"/>
              </a:defRPr>
            </a:pPr>
            <a:r>
              <a:t>• 深度使能国产 NPU 微架构特性 (NoC, C2C, DVPP, DPU/NIC)</a:t>
            </a:r>
          </a:p>
          <a:p>
            <a:pPr>
              <a:spcAft>
                <a:spcPts val="1200"/>
              </a:spcAft>
              <a:defRPr sz="1150">
                <a:solidFill>
                  <a:srgbClr val="CBD5E1"/>
                </a:solidFill>
                <a:latin typeface="Microsoft YaHei"/>
              </a:defRPr>
            </a:pPr>
            <a:r>
              <a:t>• 将生产真实瓶颈 (DMA 队列开销、Page Migration 抖动、Fence 时延) 反哺给芯片与固件团队</a:t>
            </a:r>
          </a:p>
          <a:p>
            <a:pPr>
              <a:spcAft>
                <a:spcPts val="1200"/>
              </a:spcAft>
              <a:defRPr sz="1150">
                <a:solidFill>
                  <a:srgbClr val="CBD5E1"/>
                </a:solidFill>
                <a:latin typeface="Microsoft YaHei"/>
              </a:defRPr>
            </a:pPr>
            <a:r>
              <a:t>• 驱动国产 AI 芯片与底层软件栈协同迭代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186" y="1371600"/>
            <a:ext cx="3332073" cy="48463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10066" y="1554480"/>
            <a:ext cx="2966313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3. 生态兼容与标准导出</a:t>
            </a:r>
          </a:p>
          <a:p>
            <a:pPr>
              <a:spcAft>
                <a:spcPts val="1200"/>
              </a:spcAft>
              <a:defRPr sz="1150">
                <a:solidFill>
                  <a:srgbClr val="CBD5E1"/>
                </a:solidFill>
                <a:latin typeface="Microsoft YaHei"/>
              </a:defRPr>
            </a:pPr>
            <a:r>
              <a:t>• 提供 vLLM / SGLang 统一 Connector</a:t>
            </a:r>
          </a:p>
          <a:p>
            <a:pPr>
              <a:spcAft>
                <a:spcPts val="1200"/>
              </a:spcAft>
              <a:defRPr sz="1150">
                <a:solidFill>
                  <a:srgbClr val="CBD5E1"/>
                </a:solidFill>
                <a:latin typeface="Microsoft YaHei"/>
              </a:defRPr>
            </a:pPr>
            <a:r>
              <a:t>• 输出标准 Conformance Suite 与 Capability Profile</a:t>
            </a:r>
          </a:p>
          <a:p>
            <a:pPr>
              <a:spcAft>
                <a:spcPts val="1200"/>
              </a:spcAft>
              <a:defRPr sz="1150">
                <a:solidFill>
                  <a:srgbClr val="CBD5E1"/>
                </a:solidFill>
                <a:latin typeface="Microsoft YaHei"/>
              </a:defRPr>
            </a:pPr>
            <a:r>
              <a:t>• 打造国产 AI Infrastructure 软硬协同基础设施标杆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F2FE"/>
                </a:solidFill>
                <a:latin typeface="Arial"/>
              </a:defRPr>
            </a:pPr>
            <a:r>
              <a:t>统一异构 KVCACHE 存储池 | 立项汇报</a:t>
            </a:r>
          </a:p>
          <a:p>
            <a:pPr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交付收益：核心性能 KPI 与客户界面 TCO 优化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80990" cy="201168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1523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首 Token 时延 (p99 TTFT)</a:t>
            </a:r>
          </a:p>
          <a:p>
            <a:pPr>
              <a:spcAft>
                <a:spcPts val="400"/>
              </a:spcAft>
              <a:defRPr sz="2800" b="1">
                <a:solidFill>
                  <a:srgbClr val="00F2FE"/>
                </a:solidFill>
                <a:latin typeface="Arial"/>
              </a:defRPr>
            </a:pPr>
            <a:r>
              <a:t>降低 ≥ 20%</a:t>
            </a:r>
          </a:p>
          <a:p>
            <a:pPr>
              <a:defRPr sz="1050">
                <a:solidFill>
                  <a:srgbClr val="94A3B8"/>
                </a:solidFill>
                <a:latin typeface="Microsoft YaHei"/>
              </a:defRPr>
            </a:pPr>
            <a:r>
              <a:t>复用型工作负载场景，消除重复 Prefill 耗时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270" y="1371600"/>
            <a:ext cx="5180990" cy="201168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1150" y="1508760"/>
            <a:ext cx="481523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逐 Token 时延干扰 (p99 TPOT)</a:t>
            </a:r>
          </a:p>
          <a:p>
            <a:pPr>
              <a:spcAft>
                <a:spcPts val="400"/>
              </a:spcAft>
              <a:defRPr sz="2800" b="1">
                <a:solidFill>
                  <a:srgbClr val="10B981"/>
                </a:solidFill>
                <a:latin typeface="Arial"/>
              </a:defRPr>
            </a:pPr>
            <a:r>
              <a:t>混流回退 &lt; 3%</a:t>
            </a:r>
          </a:p>
          <a:p>
            <a:pPr>
              <a:defRPr sz="1050">
                <a:solidFill>
                  <a:srgbClr val="94A3B8"/>
                </a:solidFill>
                <a:latin typeface="Microsoft YaHei"/>
              </a:defRPr>
            </a:pPr>
            <a:r>
              <a:t>前后台流量严格隔离，保护 Decode 敏感算子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5180990" cy="201168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81523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可消费命中率 (Usable Hit Rate)</a:t>
            </a:r>
          </a:p>
          <a:p>
            <a:pPr>
              <a:spcAft>
                <a:spcPts val="400"/>
              </a:spcAft>
              <a:defRPr sz="2800" b="1">
                <a:solidFill>
                  <a:srgbClr val="F59E0B"/>
                </a:solidFill>
                <a:latin typeface="Arial"/>
              </a:defRPr>
            </a:pPr>
            <a:r>
              <a:t>提升 ≥ 20%</a:t>
            </a:r>
          </a:p>
          <a:p>
            <a:pPr>
              <a:defRPr sz="1050">
                <a:solidFill>
                  <a:srgbClr val="94A3B8"/>
                </a:solidFill>
                <a:latin typeface="Microsoft YaHei"/>
              </a:defRPr>
            </a:pPr>
            <a:r>
              <a:t>目录查询 p99 &lt; 200μs，准确避开负收益搬运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270" y="3566160"/>
            <a:ext cx="5180990" cy="201168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150" y="3703320"/>
            <a:ext cx="481523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HBM 有效容量 (Effective Capacity)</a:t>
            </a:r>
          </a:p>
          <a:p>
            <a:pPr>
              <a:spcAft>
                <a:spcPts val="400"/>
              </a:spcAft>
              <a:defRPr sz="2800" b="1">
                <a:solidFill>
                  <a:srgbClr val="F8FAFC"/>
                </a:solidFill>
                <a:latin typeface="Arial"/>
              </a:defRPr>
            </a:pPr>
            <a:r>
              <a:t>提升 ≥ 30%</a:t>
            </a:r>
          </a:p>
          <a:p>
            <a:pPr>
              <a:defRPr sz="1050">
                <a:solidFill>
                  <a:srgbClr val="94A3B8"/>
                </a:solidFill>
                <a:latin typeface="Microsoft YaHei"/>
              </a:defRPr>
            </a:pPr>
            <a:r>
              <a:t>OOM 与抢占率降低 ≥ 50%，承载更多长上下文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F2FE"/>
                </a:solidFill>
                <a:latin typeface="Microsoft YaHei"/>
              </a:defRPr>
            </a:pPr>
            <a:r>
              <a:t>客户界面 TCO 收益 :   用低成本 SSD 承载海量长上下文，大幅延缓昂贵 HBM 采购  |  NPU 有效利用率提升 ≥ 10%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F2FE"/>
                </a:solidFill>
                <a:latin typeface="Arial"/>
              </a:defRPr>
            </a:pPr>
            <a:r>
              <a:t>统一异构 KVCACHE 存储池 | 立项汇报</a:t>
            </a:r>
          </a:p>
          <a:p>
            <a:pPr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实施路径：证据驱动的分阶段推进与 PVT 原型验证门禁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5331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分阶段推进路线 (Phased Execution Roadmap)</a:t>
            </a:r>
          </a:p>
          <a:p>
            <a:pPr>
              <a:defRPr sz="1100">
                <a:solidFill>
                  <a:srgbClr val="CBD5E1"/>
                </a:solidFill>
                <a:latin typeface="Microsoft YaHei"/>
              </a:defRPr>
            </a:pPr>
            <a:r>
              <a:t>立项前 (W0~W3): 8 大必做原型 (PVT-00~07) 购买决策事实证据  ==&gt;  [ Go / No-Go 决策门禁 ]</a:t>
            </a:r>
            <a:br/>
            <a:r>
              <a:t>P0 (30%): 旁路地基 (HBM↔SSD容量主路径)   |   P1 (50%): 受控小流量闭环   |   P2 (80%): 有限灰度/长稳   |   P3 (100%): 全量验收交付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56032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44975"/>
                <a:gridCol w="45720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原型编号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验证目标与场景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门禁通过标准 (Go / No-Go Criteria)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F2FE"/>
                          </a:solidFill>
                          <a:latin typeface="Microsoft YaHei"/>
                        </a:defRPr>
                      </a:pPr>
                      <a:r>
                        <a:t>PVT-00 / PVT-01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收益上限建模 &amp; HBM↔SSD 容量主路径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直达路径带宽达标，Host Payload Touch Budget = 0 成立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F2FE"/>
                          </a:solidFill>
                          <a:latin typeface="Microsoft YaHei"/>
                        </a:defRPr>
                      </a:pPr>
                      <a:r>
                        <a:t>PVT-02 / PVT-03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批量描述符开销 &amp; UBMEM 直访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描述符提交耗时 &lt; 10μs，UBMEM 跨卡共享元数据无错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F2FE"/>
                          </a:solidFill>
                          <a:latin typeface="Microsoft YaHei"/>
                        </a:defRPr>
                      </a:pPr>
                      <a:r>
                        <a:t>PVT-04 / PVT-05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ROI 决策耗时 &amp; SSD 服务能力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ROI 评估耗时 &lt; 5μs，SSD 高并发 IOPS 无剧烈性能抖动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F2FE"/>
                          </a:solidFill>
                          <a:latin typeface="Microsoft YaHei"/>
                        </a:defRPr>
                      </a:pPr>
                      <a:r>
                        <a:t>PVT-06 / PVT-07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可消费安全 Barrier &amp; 端到端薄闭环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未完成数据消费概率为 0，端到端产生首 token 降低正收益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F2FE"/>
                </a:solidFill>
                <a:latin typeface="Arial"/>
              </a:defRPr>
            </a:pPr>
            <a:r>
              <a:t>统一异构 KVCACHE 存储池 | 立项汇报</a:t>
            </a:r>
          </a:p>
          <a:p>
            <a:pPr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总结与立项申请：以状态治理为切入点，打造国产 AI 基础设施标杆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1887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F2FE"/>
                </a:solidFill>
                <a:latin typeface="Microsoft YaHei"/>
              </a:defRPr>
            </a:pPr>
            <a:r>
              <a:t>一句话项目定位 (Project Core Positioning)</a:t>
            </a:r>
          </a:p>
          <a:p>
            <a:pPr>
              <a:defRPr sz="1300" b="1">
                <a:solidFill>
                  <a:srgbClr val="F8FAFC"/>
                </a:solidFill>
                <a:latin typeface="Microsoft YaHei"/>
              </a:defRPr>
            </a:pPr>
            <a:r>
              <a:t>面向国产 AI 硬件生态的第一方推理状态系统工程：以 KVCache 为切入点，把芯片能力编译为可认证路径，把状态决策转换为客户价值。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728655" cy="256032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立项申请三大诉求 (Investment Requests)</a:t>
            </a:r>
          </a:p>
          <a:p>
            <a:pPr>
              <a:spcAft>
                <a:spcPts val="800"/>
              </a:spcAft>
              <a:defRPr sz="1250" b="1">
                <a:solidFill>
                  <a:srgbClr val="CBD5E1"/>
                </a:solidFill>
                <a:latin typeface="Microsoft YaHei"/>
              </a:defRPr>
            </a:pPr>
            <a:r>
              <a:t>1. 请求批准“有条件、分阶段”立项授权；</a:t>
            </a:r>
          </a:p>
          <a:p>
            <a:pPr>
              <a:spcAft>
                <a:spcPts val="800"/>
              </a:spcAft>
              <a:defRPr sz="1250" b="1">
                <a:solidFill>
                  <a:srgbClr val="CBD5E1"/>
                </a:solidFill>
                <a:latin typeface="Microsoft YaHei"/>
              </a:defRPr>
            </a:pPr>
            <a:r>
              <a:t>2. 批准 4~5 周 PVT 原型验证资源投入 (W0~W3)，以事实数据回答 Go / No-Go 决策；</a:t>
            </a:r>
          </a:p>
          <a:p>
            <a:pPr>
              <a:spcAft>
                <a:spcPts val="800"/>
              </a:spcAft>
              <a:defRPr sz="1250" b="1">
                <a:solidFill>
                  <a:srgbClr val="CBD5E1"/>
                </a:solidFill>
                <a:latin typeface="Microsoft YaHei"/>
              </a:defRPr>
            </a:pPr>
            <a:r>
              <a:t>3. 同意建立跨软硬件团队（框架、存储、网络、芯片）的联合工作机制。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94960"/>
            <a:ext cx="1072865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战略飞轮 :   信息感知  ==&gt;  状态动作  ==&gt;  性能收益  ==&gt;  数据沉淀  ==&gt;  硬件反哺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