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82880" cy="3474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554480"/>
            <a:ext cx="10058400" cy="3657600"/>
          </a:xfrm>
          <a:prstGeom prst="rect">
            <a:avLst/>
          </a:prstGeom>
          <a:noFill/>
        </p:spPr>
        <p:txBody>
          <a:bodyPr wrap="square">
            <a:spAutoFit/>
          </a:bodyPr>
          <a:lstStyle/>
          <a:p>
            <a:pPr>
              <a:defRPr sz="3000" b="1">
                <a:solidFill>
                  <a:srgbClr val="FFFFFF"/>
                </a:solidFill>
                <a:latin typeface="Microsoft YaHei"/>
              </a:defRPr>
            </a:pPr>
            <a:r>
              <a:t>统一异构 KVCache 存储池基础设施软件栈</a:t>
            </a:r>
          </a:p>
          <a:p>
            <a:pPr>
              <a:spcBef>
                <a:spcPts val="1400"/>
              </a:spcBef>
              <a:defRPr sz="1600">
                <a:solidFill>
                  <a:srgbClr val="94A3B8"/>
                </a:solidFill>
                <a:latin typeface="Microsoft YaHei"/>
              </a:defRPr>
            </a:pPr>
            <a:r>
              <a:t>面向国产 AI 硬件生态的第一方推理状态系统工程立项汇报</a:t>
            </a:r>
          </a:p>
          <a:p>
            <a:pPr>
              <a:spcBef>
                <a:spcPts val="2200"/>
              </a:spcBef>
              <a:defRPr sz="1250">
                <a:solidFill>
                  <a:srgbClr val="60A5FA"/>
                </a:solidFill>
                <a:latin typeface="Microsoft YaHei"/>
              </a:defRPr>
            </a:pPr>
            <a:r>
              <a:t>深度融合 UBMEM 统一内存与 URMA 零拷贝传输 ｜ 重构 AI 推理状态价值底座</a:t>
            </a:r>
          </a:p>
        </p:txBody>
      </p:sp>
      <p:sp>
        <p:nvSpPr>
          <p:cNvPr id="5" name="TextBox 4"/>
          <p:cNvSpPr txBox="1"/>
          <p:nvPr/>
        </p:nvSpPr>
        <p:spPr>
          <a:xfrm>
            <a:off x="1188720" y="5394960"/>
            <a:ext cx="10058400" cy="731520"/>
          </a:xfrm>
          <a:prstGeom prst="rect">
            <a:avLst/>
          </a:prstGeom>
          <a:noFill/>
        </p:spPr>
        <p:txBody>
          <a:bodyPr wrap="none">
            <a:spAutoFit/>
          </a:bodyPr>
          <a:lstStyle/>
          <a:p>
            <a:pPr>
              <a:defRPr sz="1050">
                <a:solidFill>
                  <a:srgbClr val="94A3B8"/>
                </a:solidFill>
                <a:latin typeface="Microsoft YaHei"/>
              </a:defRPr>
            </a:pPr>
            <a:r>
              <a:t>汇报对象：技术 CTO / 部门主管 / 首席架构师 / 研发负责人 ｜ 阶段：立项论证评审 (Stage-Gate P0)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项目愿景与战略定位 ── 打造国产 AI 算力底座的高效状态管理基础设施</a:t>
            </a:r>
          </a:p>
        </p:txBody>
      </p:sp>
      <p:sp>
        <p:nvSpPr>
          <p:cNvPr id="5" name="Rectangle 4"/>
          <p:cNvSpPr/>
          <p:nvPr/>
        </p:nvSpPr>
        <p:spPr>
          <a:xfrm>
            <a:off x="548640" y="1170432"/>
            <a:ext cx="11094415" cy="475488"/>
          </a:xfrm>
          <a:prstGeom prst="rect">
            <a:avLst/>
          </a:prstGeom>
          <a:solidFill>
            <a:srgbClr val="F0F9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1E3A8A"/>
                </a:solidFill>
                <a:latin typeface="Microsoft YaHei"/>
              </a:defRPr>
            </a:pPr>
            <a:r>
              <a:t>【核心摘要】有机融合 UBMEM 统一内存与 URMA 零拷贝传输网络，协同控制面意图预测与数据面多级介质池化，实现 TTFT 与 TPOT 的显著优化，构建自主可控、全栈软硬协同的 AI Infra 基础设施标杆。</a:t>
            </a:r>
          </a:p>
        </p:txBody>
      </p:sp>
      <p:sp>
        <p:nvSpPr>
          <p:cNvPr id="6" name="Rectangle 5"/>
          <p:cNvSpPr/>
          <p:nvPr/>
        </p:nvSpPr>
        <p:spPr>
          <a:xfrm>
            <a:off x="548640" y="1783080"/>
            <a:ext cx="3511296" cy="4617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511296"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1200" b="1">
                <a:solidFill>
                  <a:srgbClr val="FFFFFF"/>
                </a:solidFill>
                <a:latin typeface="Microsoft YaHei"/>
              </a:defRPr>
            </a:pPr>
            <a:r>
              <a:t>一、 战略使命与必要性</a:t>
            </a:r>
          </a:p>
        </p:txBody>
      </p:sp>
      <p:sp>
        <p:nvSpPr>
          <p:cNvPr id="8" name="TextBox 7"/>
          <p:cNvSpPr txBox="1"/>
          <p:nvPr/>
        </p:nvSpPr>
        <p:spPr>
          <a:xfrm>
            <a:off x="685800" y="2377440"/>
            <a:ext cx="3236976" cy="3931920"/>
          </a:xfrm>
          <a:prstGeom prst="rect">
            <a:avLst/>
          </a:prstGeom>
          <a:noFill/>
        </p:spPr>
        <p:txBody>
          <a:bodyPr wrap="square" lIns="0" tIns="0">
            <a:spAutoFit/>
          </a:bodyPr>
          <a:lstStyle/>
          <a:p>
            <a:pPr>
              <a:defRPr sz="1050" b="1">
                <a:solidFill>
                  <a:srgbClr val="0F172A"/>
                </a:solidFill>
                <a:latin typeface="Microsoft YaHei"/>
              </a:defRPr>
            </a:pPr>
            <a:r>
              <a:t>• 打造国产软硬件生态标杆</a:t>
            </a:r>
          </a:p>
          <a:p>
            <a:pPr>
              <a:spcBef>
                <a:spcPts val="200"/>
              </a:spcBef>
              <a:defRPr sz="950">
                <a:solidFill>
                  <a:srgbClr val="475569"/>
                </a:solidFill>
                <a:latin typeface="Microsoft YaHei"/>
              </a:defRPr>
            </a:pPr>
            <a:r>
              <a:t>深耕国产芯片微架构，建立覆盖 KVCache 全场景适配的软件栈。</a:t>
            </a:r>
          </a:p>
          <a:p>
            <a:pPr>
              <a:spcBef>
                <a:spcPts val="1000"/>
              </a:spcBef>
              <a:defRPr sz="1050" b="1">
                <a:solidFill>
                  <a:srgbClr val="0F172A"/>
                </a:solidFill>
                <a:latin typeface="Microsoft YaHei"/>
              </a:defRPr>
            </a:pPr>
            <a:r>
              <a:t>• 极致性能与硬件使能</a:t>
            </a:r>
          </a:p>
          <a:p>
            <a:pPr>
              <a:spcBef>
                <a:spcPts val="200"/>
              </a:spcBef>
              <a:defRPr sz="950">
                <a:solidFill>
                  <a:srgbClr val="475569"/>
                </a:solidFill>
                <a:latin typeface="Microsoft YaHei"/>
              </a:defRPr>
            </a:pPr>
            <a:r>
              <a:t>深度挖掘 UBMEM/URMA 原语，实现芯片内 SRAM/L3 到 SSD 全通路 0 触碰。</a:t>
            </a:r>
          </a:p>
          <a:p>
            <a:pPr>
              <a:spcBef>
                <a:spcPts val="1000"/>
              </a:spcBef>
              <a:defRPr sz="1050" b="1">
                <a:solidFill>
                  <a:srgbClr val="0F172A"/>
                </a:solidFill>
                <a:latin typeface="Microsoft YaHei"/>
              </a:defRPr>
            </a:pPr>
            <a:r>
              <a:t>• 牵引硬件迭代与生态孵化</a:t>
            </a:r>
          </a:p>
          <a:p>
            <a:pPr>
              <a:spcBef>
                <a:spcPts val="200"/>
              </a:spcBef>
              <a:defRPr sz="950">
                <a:solidFill>
                  <a:srgbClr val="475569"/>
                </a:solidFill>
                <a:latin typeface="Microsoft YaHei"/>
              </a:defRPr>
            </a:pPr>
            <a:r>
              <a:t>以存储池真实需求倒逼国产硬件演进，催熟上下游 AI 核心软件。</a:t>
            </a:r>
          </a:p>
        </p:txBody>
      </p:sp>
      <p:sp>
        <p:nvSpPr>
          <p:cNvPr id="9" name="Rectangle 8"/>
          <p:cNvSpPr/>
          <p:nvPr/>
        </p:nvSpPr>
        <p:spPr>
          <a:xfrm>
            <a:off x="4334255" y="1783080"/>
            <a:ext cx="3511296" cy="4617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5" y="1783080"/>
            <a:ext cx="3511296" cy="50292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1200" b="1">
                <a:solidFill>
                  <a:srgbClr val="FFFFFF"/>
                </a:solidFill>
                <a:latin typeface="Microsoft YaHei"/>
              </a:defRPr>
            </a:pPr>
            <a:r>
              <a:t>二、 预期产出与战略收益</a:t>
            </a:r>
          </a:p>
        </p:txBody>
      </p:sp>
      <p:sp>
        <p:nvSpPr>
          <p:cNvPr id="11" name="TextBox 10"/>
          <p:cNvSpPr txBox="1"/>
          <p:nvPr/>
        </p:nvSpPr>
        <p:spPr>
          <a:xfrm>
            <a:off x="4471416" y="2377440"/>
            <a:ext cx="3236976" cy="3931920"/>
          </a:xfrm>
          <a:prstGeom prst="rect">
            <a:avLst/>
          </a:prstGeom>
          <a:noFill/>
        </p:spPr>
        <p:txBody>
          <a:bodyPr wrap="square" lIns="0" tIns="0">
            <a:spAutoFit/>
          </a:bodyPr>
          <a:lstStyle/>
          <a:p>
            <a:pPr>
              <a:defRPr sz="1050" b="1">
                <a:solidFill>
                  <a:srgbClr val="0F172A"/>
                </a:solidFill>
                <a:latin typeface="Microsoft YaHei"/>
              </a:defRPr>
            </a:pPr>
            <a:r>
              <a:t>• 客户 SLO 收益承诺</a:t>
            </a:r>
          </a:p>
          <a:p>
            <a:pPr>
              <a:spcBef>
                <a:spcPts val="200"/>
              </a:spcBef>
              <a:defRPr sz="950">
                <a:solidFill>
                  <a:srgbClr val="475569"/>
                </a:solidFill>
                <a:latin typeface="Microsoft YaHei"/>
              </a:defRPr>
            </a:pPr>
            <a:r>
              <a:t>TTFT P99 降低 ≥30%，解码 TPOT 尾部抖动控制在 &lt;5%。</a:t>
            </a:r>
          </a:p>
          <a:p>
            <a:pPr>
              <a:spcBef>
                <a:spcPts val="1000"/>
              </a:spcBef>
              <a:defRPr sz="1050" b="1">
                <a:solidFill>
                  <a:srgbClr val="0F172A"/>
                </a:solidFill>
                <a:latin typeface="Microsoft YaHei"/>
              </a:defRPr>
            </a:pPr>
            <a:r>
              <a:t>• UB 通信协议软件栈孵化</a:t>
            </a:r>
          </a:p>
          <a:p>
            <a:pPr>
              <a:spcBef>
                <a:spcPts val="200"/>
              </a:spcBef>
              <a:defRPr sz="950">
                <a:solidFill>
                  <a:srgbClr val="475569"/>
                </a:solidFill>
                <a:latin typeface="Microsoft YaHei"/>
              </a:defRPr>
            </a:pPr>
            <a:r>
              <a:t>催熟 URMA 传输与 UBMEM 统一内存 API，导出标准化 Provider 规范。</a:t>
            </a:r>
          </a:p>
          <a:p>
            <a:pPr>
              <a:spcBef>
                <a:spcPts val="1000"/>
              </a:spcBef>
              <a:defRPr sz="1050" b="1">
                <a:solidFill>
                  <a:srgbClr val="0F172A"/>
                </a:solidFill>
                <a:latin typeface="Microsoft YaHei"/>
              </a:defRPr>
            </a:pPr>
            <a:r>
              <a:t>• 国产硬件生态催熟</a:t>
            </a:r>
          </a:p>
          <a:p>
            <a:pPr>
              <a:spcBef>
                <a:spcPts val="200"/>
              </a:spcBef>
              <a:defRPr sz="950">
                <a:solidFill>
                  <a:srgbClr val="475569"/>
                </a:solidFill>
                <a:latin typeface="Microsoft YaHei"/>
              </a:defRPr>
            </a:pPr>
            <a:r>
              <a:t>倒逼 NPU/C2C 微架构迭代，固化片内 SRAM/L3 切片缓存机制。</a:t>
            </a:r>
          </a:p>
        </p:txBody>
      </p:sp>
      <p:sp>
        <p:nvSpPr>
          <p:cNvPr id="12" name="Rectangle 11"/>
          <p:cNvSpPr/>
          <p:nvPr/>
        </p:nvSpPr>
        <p:spPr>
          <a:xfrm>
            <a:off x="8119871" y="1783080"/>
            <a:ext cx="3511296" cy="4617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19871" y="1783080"/>
            <a:ext cx="3511296" cy="50292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1200" b="1">
                <a:solidFill>
                  <a:srgbClr val="FFFFFF"/>
                </a:solidFill>
                <a:latin typeface="Microsoft YaHei"/>
              </a:defRPr>
            </a:pPr>
            <a:r>
              <a:t>三、 核心竞争壁垒路径</a:t>
            </a:r>
          </a:p>
        </p:txBody>
      </p:sp>
      <p:sp>
        <p:nvSpPr>
          <p:cNvPr id="14" name="TextBox 13"/>
          <p:cNvSpPr txBox="1"/>
          <p:nvPr/>
        </p:nvSpPr>
        <p:spPr>
          <a:xfrm>
            <a:off x="8257031" y="2377440"/>
            <a:ext cx="3236976" cy="3931920"/>
          </a:xfrm>
          <a:prstGeom prst="rect">
            <a:avLst/>
          </a:prstGeom>
          <a:noFill/>
        </p:spPr>
        <p:txBody>
          <a:bodyPr wrap="square" lIns="0" tIns="0">
            <a:spAutoFit/>
          </a:bodyPr>
          <a:lstStyle/>
          <a:p>
            <a:pPr>
              <a:defRPr sz="1050" b="1">
                <a:solidFill>
                  <a:srgbClr val="0F172A"/>
                </a:solidFill>
                <a:latin typeface="Microsoft YaHei"/>
              </a:defRPr>
            </a:pPr>
            <a:r>
              <a:t>• 第一方系统工程闭环</a:t>
            </a:r>
          </a:p>
          <a:p>
            <a:pPr>
              <a:spcBef>
                <a:spcPts val="200"/>
              </a:spcBef>
              <a:defRPr sz="950">
                <a:solidFill>
                  <a:srgbClr val="475569"/>
                </a:solidFill>
                <a:latin typeface="Microsoft YaHei"/>
              </a:defRPr>
            </a:pPr>
            <a:r>
              <a:t>把 KVCache 定义为有身份、版本与经济价值的执行状态。</a:t>
            </a:r>
          </a:p>
          <a:p>
            <a:pPr>
              <a:spcBef>
                <a:spcPts val="1000"/>
              </a:spcBef>
              <a:defRPr sz="1050" b="1">
                <a:solidFill>
                  <a:srgbClr val="0F172A"/>
                </a:solidFill>
                <a:latin typeface="Microsoft YaHei"/>
              </a:defRPr>
            </a:pPr>
            <a:r>
              <a:t>• 状态编译与方案优化</a:t>
            </a:r>
          </a:p>
          <a:p>
            <a:pPr>
              <a:spcBef>
                <a:spcPts val="200"/>
              </a:spcBef>
              <a:defRPr sz="950">
                <a:solidFill>
                  <a:srgbClr val="475569"/>
                </a:solidFill>
                <a:latin typeface="Microsoft YaHei"/>
              </a:defRPr>
            </a:pPr>
            <a:r>
              <a:t>把 View/Load/Move/Recompute 编译为面向客户 SLO 的 QueryPlan。</a:t>
            </a:r>
          </a:p>
          <a:p>
            <a:pPr>
              <a:spcBef>
                <a:spcPts val="1000"/>
              </a:spcBef>
              <a:defRPr sz="1050" b="1">
                <a:solidFill>
                  <a:srgbClr val="0F172A"/>
                </a:solidFill>
                <a:latin typeface="Microsoft YaHei"/>
              </a:defRPr>
            </a:pPr>
            <a:r>
              <a:t>• 软硬协同持续演进</a:t>
            </a:r>
          </a:p>
          <a:p>
            <a:pPr>
              <a:spcBef>
                <a:spcPts val="200"/>
              </a:spcBef>
              <a:defRPr sz="950">
                <a:solidFill>
                  <a:srgbClr val="475569"/>
                </a:solidFill>
                <a:latin typeface="Microsoft YaHei"/>
              </a:defRPr>
            </a:pPr>
            <a:r>
              <a:t>建立运行数据与硬件联合设计机制，持续形成跨代技术壁垒。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核心竞争力与对比 ── 深度对标 NVIDIA 全套 AI Infra 矩阵与开源代际超越</a:t>
            </a:r>
          </a:p>
        </p:txBody>
      </p:sp>
      <p:sp>
        <p:nvSpPr>
          <p:cNvPr id="5" name="Rectangle 4"/>
          <p:cNvSpPr/>
          <p:nvPr/>
        </p:nvSpPr>
        <p:spPr>
          <a:xfrm>
            <a:off x="548640" y="1170432"/>
            <a:ext cx="11094415" cy="475488"/>
          </a:xfrm>
          <a:prstGeom prst="rect">
            <a:avLst/>
          </a:prstGeom>
          <a:solidFill>
            <a:srgbClr val="F0F9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1E3A8A"/>
                </a:solidFill>
                <a:latin typeface="Microsoft YaHei"/>
              </a:defRPr>
            </a:pPr>
            <a:r>
              <a:t>【战略对比】NVIDIA 在 AI Infra 构建了严密闭环，本项目旨在国产硬件体系打造具备对等且在异构介质与意图决策上更优的全套软件栈；同时在 4 大维度形成相比开源方案 (Mooncake/LMCache) 的代际突破。</a:t>
            </a:r>
          </a:p>
        </p:txBody>
      </p:sp>
      <p:sp>
        <p:nvSpPr>
          <p:cNvPr id="6" name="Rectangle 5"/>
          <p:cNvSpPr/>
          <p:nvPr/>
        </p:nvSpPr>
        <p:spPr>
          <a:xfrm>
            <a:off x="548640" y="1783080"/>
            <a:ext cx="5404104" cy="46177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5404104"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1150" b="1">
                <a:solidFill>
                  <a:srgbClr val="FFFFFF"/>
                </a:solidFill>
                <a:latin typeface="Microsoft YaHei"/>
              </a:defRPr>
            </a:pPr>
            <a:r>
              <a:t>一、 对标 NVIDIA AI Infra KVCache 闭环软件组件矩阵</a:t>
            </a:r>
          </a:p>
        </p:txBody>
      </p:sp>
      <p:sp>
        <p:nvSpPr>
          <p:cNvPr id="8" name="TextBox 7"/>
          <p:cNvSpPr txBox="1"/>
          <p:nvPr/>
        </p:nvSpPr>
        <p:spPr>
          <a:xfrm>
            <a:off x="685800" y="2404872"/>
            <a:ext cx="5129784" cy="3886200"/>
          </a:xfrm>
          <a:prstGeom prst="rect">
            <a:avLst/>
          </a:prstGeom>
          <a:noFill/>
        </p:spPr>
        <p:txBody>
          <a:bodyPr wrap="square" lIns="0" tIns="0">
            <a:spAutoFit/>
          </a:bodyPr>
          <a:lstStyle/>
          <a:p>
            <a:pPr>
              <a:defRPr sz="1000" b="1">
                <a:solidFill>
                  <a:srgbClr val="1E3A8A"/>
                </a:solidFill>
                <a:latin typeface="Microsoft YaHei"/>
              </a:defRPr>
            </a:pPr>
            <a:r>
              <a:t>• 对标组件：TRT-LLM Cache Manager</a:t>
            </a:r>
          </a:p>
          <a:p>
            <a:pPr>
              <a:defRPr sz="900">
                <a:solidFill>
                  <a:srgbClr val="475569"/>
                </a:solidFill>
                <a:latin typeface="Microsoft YaHei"/>
              </a:defRPr>
            </a:pPr>
            <a:r>
              <a:t>  NVIDIA 原生: PagedAttention 框架内缓存管理  ➜  本项目突破: 统一 KVObject 跨框架对象管理与生命周期</a:t>
            </a:r>
          </a:p>
          <a:p>
            <a:pPr>
              <a:spcBef>
                <a:spcPts val="800"/>
              </a:spcBef>
              <a:defRPr sz="1000" b="1">
                <a:solidFill>
                  <a:srgbClr val="1E3A8A"/>
                </a:solidFill>
                <a:latin typeface="Microsoft YaHei"/>
              </a:defRPr>
            </a:pPr>
            <a:r>
              <a:t>• 对标组件：NIXL (Network Interface Library)</a:t>
            </a:r>
          </a:p>
          <a:p>
            <a:pPr>
              <a:defRPr sz="900">
                <a:solidFill>
                  <a:srgbClr val="475569"/>
                </a:solidFill>
                <a:latin typeface="Microsoft YaHei"/>
              </a:defRPr>
            </a:pPr>
            <a:r>
              <a:t>  NVIDIA 原生: PD 分离传输协议与统一接口  ➜  本项目突破: URMA 零拷贝传输引擎 (Host CPU 0 触碰)</a:t>
            </a:r>
          </a:p>
          <a:p>
            <a:pPr>
              <a:spcBef>
                <a:spcPts val="800"/>
              </a:spcBef>
              <a:defRPr sz="1000" b="1">
                <a:solidFill>
                  <a:srgbClr val="1E3A8A"/>
                </a:solidFill>
                <a:latin typeface="Microsoft YaHei"/>
              </a:defRPr>
            </a:pPr>
            <a:r>
              <a:t>• 对标组件：GDS (GPUDirect Storage)</a:t>
            </a:r>
          </a:p>
          <a:p>
            <a:pPr>
              <a:defRPr sz="900">
                <a:solidFill>
                  <a:srgbClr val="475569"/>
                </a:solidFill>
                <a:latin typeface="Microsoft YaHei"/>
              </a:defRPr>
            </a:pPr>
            <a:r>
              <a:t>  NVIDIA 原生: NVMe ↔ GPU HBM 直达 DMA  ➜  本项目突破: UBMEM Direct I/O HBM↔SSD 容量主路径直达</a:t>
            </a:r>
          </a:p>
          <a:p>
            <a:pPr>
              <a:spcBef>
                <a:spcPts val="800"/>
              </a:spcBef>
              <a:defRPr sz="1000" b="1">
                <a:solidFill>
                  <a:srgbClr val="1E3A8A"/>
                </a:solidFill>
                <a:latin typeface="Microsoft YaHei"/>
              </a:defRPr>
            </a:pPr>
            <a:r>
              <a:t>• 对标组件：NVLink / NVSwitch</a:t>
            </a:r>
          </a:p>
          <a:p>
            <a:pPr>
              <a:defRPr sz="900">
                <a:solidFill>
                  <a:srgbClr val="475569"/>
                </a:solidFill>
                <a:latin typeface="Microsoft YaHei"/>
              </a:defRPr>
            </a:pPr>
            <a:r>
              <a:t>  NVIDIA 原生: 硬件级芯片/节点间超高带宽总线  ➜  本项目突破: C2C 高速互联 + UBMEM 统一内存共享总线</a:t>
            </a:r>
          </a:p>
          <a:p>
            <a:pPr>
              <a:spcBef>
                <a:spcPts val="800"/>
              </a:spcBef>
              <a:defRPr sz="1000" b="1">
                <a:solidFill>
                  <a:srgbClr val="1E3A8A"/>
                </a:solidFill>
                <a:latin typeface="Microsoft YaHei"/>
              </a:defRPr>
            </a:pPr>
            <a:r>
              <a:t>• 对标组件：NVIDIA Dynamo</a:t>
            </a:r>
          </a:p>
          <a:p>
            <a:pPr>
              <a:defRPr sz="900">
                <a:solidFill>
                  <a:srgbClr val="475569"/>
                </a:solidFill>
                <a:latin typeface="Microsoft YaHei"/>
              </a:defRPr>
            </a:pPr>
            <a:r>
              <a:t>  NVIDIA 原生: 集群级推理切片与算力调度  ➜  本项目突破: SLO 收益驱动 QueryPlan 自治决策优化器</a:t>
            </a:r>
          </a:p>
        </p:txBody>
      </p:sp>
      <p:sp>
        <p:nvSpPr>
          <p:cNvPr id="9" name="Rectangle 8"/>
          <p:cNvSpPr/>
          <p:nvPr/>
        </p:nvSpPr>
        <p:spPr>
          <a:xfrm>
            <a:off x="6227064" y="1783080"/>
            <a:ext cx="5404104" cy="46177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27064" y="1783080"/>
            <a:ext cx="5404104" cy="50292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1150" b="1">
                <a:solidFill>
                  <a:srgbClr val="FFFFFF"/>
                </a:solidFill>
                <a:latin typeface="Microsoft YaHei"/>
              </a:defRPr>
            </a:pPr>
            <a:r>
              <a:t>二、 相比开源方案 (Mooncake/LMCache) 的 4 大代际突破</a:t>
            </a:r>
          </a:p>
        </p:txBody>
      </p:sp>
      <p:sp>
        <p:nvSpPr>
          <p:cNvPr id="11" name="TextBox 10"/>
          <p:cNvSpPr txBox="1"/>
          <p:nvPr/>
        </p:nvSpPr>
        <p:spPr>
          <a:xfrm>
            <a:off x="6364224" y="2404872"/>
            <a:ext cx="5129784" cy="3886200"/>
          </a:xfrm>
          <a:prstGeom prst="rect">
            <a:avLst/>
          </a:prstGeom>
          <a:noFill/>
        </p:spPr>
        <p:txBody>
          <a:bodyPr wrap="square" lIns="0" tIns="0">
            <a:spAutoFit/>
          </a:bodyPr>
          <a:lstStyle/>
          <a:p>
            <a:pPr>
              <a:defRPr sz="1000" b="1">
                <a:solidFill>
                  <a:srgbClr val="047857"/>
                </a:solidFill>
                <a:latin typeface="Microsoft YaHei"/>
              </a:defRPr>
            </a:pPr>
            <a:r>
              <a:t>• 1. 存储介质拓扑深度</a:t>
            </a:r>
          </a:p>
          <a:p>
            <a:pPr>
              <a:defRPr sz="900">
                <a:solidFill>
                  <a:srgbClr val="475569"/>
                </a:solidFill>
                <a:latin typeface="Microsoft YaHei"/>
              </a:defRPr>
            </a:pPr>
            <a:r>
              <a:t>开源局限于 DRAM/SSD，无法感知片内 L3/SRAM；本项目原生支持 HBM/DDR/SSD 及芯片内 SRAM/L3 全层级编址流动。</a:t>
            </a:r>
          </a:p>
          <a:p>
            <a:pPr>
              <a:spcBef>
                <a:spcPts val="1000"/>
              </a:spcBef>
              <a:defRPr sz="1000" b="1">
                <a:solidFill>
                  <a:srgbClr val="047857"/>
                </a:solidFill>
                <a:latin typeface="Microsoft YaHei"/>
              </a:defRPr>
            </a:pPr>
            <a:r>
              <a:t>• 2. 传输底座与 CPU 触碰</a:t>
            </a:r>
          </a:p>
          <a:p>
            <a:pPr>
              <a:defRPr sz="900">
                <a:solidFill>
                  <a:srgbClr val="475569"/>
                </a:solidFill>
                <a:latin typeface="Microsoft YaHei"/>
              </a:defRPr>
            </a:pPr>
            <a:r>
              <a:t>开源依赖标准 RDMA/TCP 栈与 Host 内存队列，存在 CPU 描述符开销；本项目深度使能 UBMEM/URMA 原生描述符，Host CPU 正文 0 触碰。</a:t>
            </a:r>
          </a:p>
          <a:p>
            <a:pPr>
              <a:spcBef>
                <a:spcPts val="1000"/>
              </a:spcBef>
              <a:defRPr sz="1000" b="1">
                <a:solidFill>
                  <a:srgbClr val="047857"/>
                </a:solidFill>
                <a:latin typeface="Microsoft YaHei"/>
              </a:defRPr>
            </a:pPr>
            <a:r>
              <a:t>• 3. 决策智能与 SLO 感知</a:t>
            </a:r>
          </a:p>
          <a:p>
            <a:pPr>
              <a:defRPr sz="900">
                <a:solidFill>
                  <a:srgbClr val="475569"/>
                </a:solidFill>
                <a:latin typeface="Microsoft YaHei"/>
              </a:defRPr>
            </a:pPr>
            <a:r>
              <a:t>开源偏向 Key-Value 被动匹配与 LRU 淘汰，缺乏 Load vs Recompute 比较；本项目具备 SemanticIdentity 校验与 QueryPlan SLO 收益选路。</a:t>
            </a:r>
          </a:p>
          <a:p>
            <a:pPr>
              <a:spcBef>
                <a:spcPts val="1000"/>
              </a:spcBef>
              <a:defRPr sz="1000" b="1">
                <a:solidFill>
                  <a:srgbClr val="047857"/>
                </a:solidFill>
                <a:latin typeface="Microsoft YaHei"/>
              </a:defRPr>
            </a:pPr>
            <a:r>
              <a:t>• 4. 完整性与屏障保障</a:t>
            </a:r>
          </a:p>
          <a:p>
            <a:pPr>
              <a:defRPr sz="900">
                <a:solidFill>
                  <a:srgbClr val="475569"/>
                </a:solidFill>
                <a:latin typeface="Microsoft YaHei"/>
              </a:defRPr>
            </a:pPr>
            <a:r>
              <a:t>开源依赖应用层逻辑或 RDMA CQ，无硬件级屏障；本项目联动硬件 CRC 与 Fence 可见性屏障，保障 100% 可消费就绪与 Rank 共识。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五层立体组件沙盘架构图 ── 从业务场景到硬件底座的全链路控制与数据通路</a:t>
            </a:r>
          </a:p>
        </p:txBody>
      </p:sp>
      <p:sp>
        <p:nvSpPr>
          <p:cNvPr id="5" name="Rectangle 4"/>
          <p:cNvSpPr/>
          <p:nvPr/>
        </p:nvSpPr>
        <p:spPr>
          <a:xfrm>
            <a:off x="548640" y="1078992"/>
            <a:ext cx="1645920" cy="9692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tIns="228600"/>
          <a:lstStyle/>
          <a:p>
            <a:pPr algn="ctr">
              <a:defRPr sz="950" b="1">
                <a:solidFill>
                  <a:srgbClr val="FFFFFF"/>
                </a:solidFill>
                <a:latin typeface="Microsoft YaHei"/>
              </a:defRPr>
            </a:pPr>
            <a:r>
              <a:t>Layer 1: 业务场景与接入</a:t>
            </a:r>
          </a:p>
        </p:txBody>
      </p:sp>
      <p:sp>
        <p:nvSpPr>
          <p:cNvPr id="6" name="Rectangle 5"/>
          <p:cNvSpPr/>
          <p:nvPr/>
        </p:nvSpPr>
        <p:spPr>
          <a:xfrm>
            <a:off x="2240280" y="1078992"/>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TM1 框架适配器</a:t>
            </a:r>
          </a:p>
          <a:p>
            <a:pPr>
              <a:spcBef>
                <a:spcPts val="200"/>
              </a:spcBef>
              <a:defRPr sz="700">
                <a:solidFill>
                  <a:srgbClr val="475569"/>
                </a:solidFill>
                <a:latin typeface="Microsoft YaHei"/>
              </a:defRPr>
            </a:pPr>
            <a:r>
              <a:t>vLLM / SGLang 拦截请求</a:t>
            </a:r>
            <a:br/>
            <a:r>
              <a:t>生成规范化 KVAccessIntent</a:t>
            </a:r>
          </a:p>
        </p:txBody>
      </p:sp>
      <p:sp>
        <p:nvSpPr>
          <p:cNvPr id="7" name="Rectangle 6"/>
          <p:cNvSpPr/>
          <p:nvPr/>
        </p:nvSpPr>
        <p:spPr>
          <a:xfrm>
            <a:off x="3982212" y="1078992"/>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长上下文 RAG 模式</a:t>
            </a:r>
          </a:p>
          <a:p>
            <a:pPr>
              <a:spcBef>
                <a:spcPts val="200"/>
              </a:spcBef>
              <a:defRPr sz="700">
                <a:solidFill>
                  <a:srgbClr val="475569"/>
                </a:solidFill>
                <a:latin typeface="Microsoft YaHei"/>
              </a:defRPr>
            </a:pPr>
            <a:r>
              <a:t>前缀预计算热点高频复用</a:t>
            </a:r>
            <a:br/>
            <a:r>
              <a:t>稳定转化为 TTFT 时延收益</a:t>
            </a:r>
          </a:p>
        </p:txBody>
      </p:sp>
      <p:sp>
        <p:nvSpPr>
          <p:cNvPr id="8" name="Rectangle 7"/>
          <p:cNvSpPr/>
          <p:nvPr/>
        </p:nvSpPr>
        <p:spPr>
          <a:xfrm>
            <a:off x="5724144" y="1078992"/>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多轮 Agent 对话模式</a:t>
            </a:r>
          </a:p>
          <a:p>
            <a:pPr>
              <a:spcBef>
                <a:spcPts val="200"/>
              </a:spcBef>
              <a:defRPr sz="700">
                <a:solidFill>
                  <a:srgbClr val="475569"/>
                </a:solidFill>
                <a:latin typeface="Microsoft YaHei"/>
              </a:defRPr>
            </a:pPr>
            <a:r>
              <a:t>增量 History KVCache 挂载</a:t>
            </a:r>
            <a:br/>
            <a:r>
              <a:t>跨 Turn 共享上下文 Key-Value</a:t>
            </a:r>
          </a:p>
        </p:txBody>
      </p:sp>
      <p:sp>
        <p:nvSpPr>
          <p:cNvPr id="9" name="Rectangle 8"/>
          <p:cNvSpPr/>
          <p:nvPr/>
        </p:nvSpPr>
        <p:spPr>
          <a:xfrm>
            <a:off x="7466075" y="1078992"/>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Prefill-Decode 分离</a:t>
            </a:r>
          </a:p>
          <a:p>
            <a:pPr>
              <a:spcBef>
                <a:spcPts val="200"/>
              </a:spcBef>
              <a:defRPr sz="700">
                <a:solidFill>
                  <a:srgbClr val="475569"/>
                </a:solidFill>
                <a:latin typeface="Microsoft YaHei"/>
              </a:defRPr>
            </a:pPr>
            <a:r>
              <a:t>跨节点 Key-Value 异步前递</a:t>
            </a:r>
            <a:br/>
            <a:r>
              <a:t>解耦计算密集与访存集群</a:t>
            </a:r>
          </a:p>
        </p:txBody>
      </p:sp>
      <p:sp>
        <p:nvSpPr>
          <p:cNvPr id="10" name="Rectangle 9"/>
          <p:cNvSpPr/>
          <p:nvPr/>
        </p:nvSpPr>
        <p:spPr>
          <a:xfrm>
            <a:off x="548640" y="2157984"/>
            <a:ext cx="1645920" cy="9692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tIns="228600"/>
          <a:lstStyle/>
          <a:p>
            <a:pPr algn="ctr">
              <a:defRPr sz="950" b="1">
                <a:solidFill>
                  <a:srgbClr val="FFFFFF"/>
                </a:solidFill>
                <a:latin typeface="Microsoft YaHei"/>
              </a:defRPr>
            </a:pPr>
            <a:r>
              <a:t>Layer 2: 控制与语义管理</a:t>
            </a:r>
          </a:p>
        </p:txBody>
      </p:sp>
      <p:sp>
        <p:nvSpPr>
          <p:cNvPr id="11" name="Rectangle 10"/>
          <p:cNvSpPr/>
          <p:nvPr/>
        </p:nvSpPr>
        <p:spPr>
          <a:xfrm>
            <a:off x="2240280" y="2157984"/>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TM2 分布式前缀索引</a:t>
            </a:r>
          </a:p>
          <a:p>
            <a:pPr>
              <a:spcBef>
                <a:spcPts val="200"/>
              </a:spcBef>
              <a:defRPr sz="700">
                <a:solidFill>
                  <a:srgbClr val="475569"/>
                </a:solidFill>
                <a:latin typeface="Microsoft YaHei"/>
              </a:defRPr>
            </a:pPr>
            <a:r>
              <a:t>Radix Tree 微秒级 Lookup</a:t>
            </a:r>
            <a:br/>
            <a:r>
              <a:t>KVSemanticIdentity 校验</a:t>
            </a:r>
          </a:p>
        </p:txBody>
      </p:sp>
      <p:sp>
        <p:nvSpPr>
          <p:cNvPr id="12" name="Rectangle 11"/>
          <p:cNvSpPr/>
          <p:nvPr/>
        </p:nvSpPr>
        <p:spPr>
          <a:xfrm>
            <a:off x="3982212" y="2157984"/>
            <a:ext cx="1668780" cy="969264"/>
          </a:xfrm>
          <a:prstGeom prst="rect">
            <a:avLst/>
          </a:prstGeom>
          <a:solidFill>
            <a:srgbClr val="1E3A8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FFFFFF"/>
                </a:solidFill>
                <a:latin typeface="Microsoft YaHei"/>
              </a:defRPr>
            </a:pPr>
            <a:r>
              <a:t>QueryPlan 优化器</a:t>
            </a:r>
          </a:p>
          <a:p>
            <a:pPr>
              <a:spcBef>
                <a:spcPts val="200"/>
              </a:spcBef>
              <a:defRPr sz="700">
                <a:solidFill>
                  <a:srgbClr val="E2E8F0"/>
                </a:solidFill>
                <a:latin typeface="Microsoft YaHei"/>
              </a:defRPr>
            </a:pPr>
            <a:r>
              <a:t>【核心决策枢纽】</a:t>
            </a:r>
            <a:br/>
            <a:r>
              <a:t>Load vs Recompute 收益决策</a:t>
            </a:r>
          </a:p>
        </p:txBody>
      </p:sp>
      <p:sp>
        <p:nvSpPr>
          <p:cNvPr id="13" name="Rectangle 12"/>
          <p:cNvSpPr/>
          <p:nvPr/>
        </p:nvSpPr>
        <p:spPr>
          <a:xfrm>
            <a:off x="5724144" y="2157984"/>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TM5 消费资格判定</a:t>
            </a:r>
          </a:p>
          <a:p>
            <a:pPr>
              <a:spcBef>
                <a:spcPts val="200"/>
              </a:spcBef>
              <a:defRPr sz="700">
                <a:solidFill>
                  <a:srgbClr val="475569"/>
                </a:solidFill>
                <a:latin typeface="Microsoft YaHei"/>
              </a:defRPr>
            </a:pPr>
            <a:r>
              <a:t>ConsumeEligibility 验证</a:t>
            </a:r>
            <a:br/>
            <a:r>
              <a:t>Ready 屏障 / Lease 租约</a:t>
            </a:r>
          </a:p>
        </p:txBody>
      </p:sp>
      <p:sp>
        <p:nvSpPr>
          <p:cNvPr id="14" name="Rectangle 13"/>
          <p:cNvSpPr/>
          <p:nvPr/>
        </p:nvSpPr>
        <p:spPr>
          <a:xfrm>
            <a:off x="7466075" y="2157984"/>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AttachHandle 凭证</a:t>
            </a:r>
          </a:p>
          <a:p>
            <a:pPr>
              <a:spcBef>
                <a:spcPts val="200"/>
              </a:spcBef>
              <a:defRPr sz="700">
                <a:solidFill>
                  <a:srgbClr val="475569"/>
                </a:solidFill>
                <a:latin typeface="Microsoft YaHei"/>
              </a:defRPr>
            </a:pPr>
            <a:r>
              <a:t>签发可消费引用凭证</a:t>
            </a:r>
            <a:br/>
            <a:r>
              <a:t>约束访问有效期与并发释放</a:t>
            </a:r>
          </a:p>
        </p:txBody>
      </p:sp>
      <p:sp>
        <p:nvSpPr>
          <p:cNvPr id="15" name="Rectangle 14"/>
          <p:cNvSpPr/>
          <p:nvPr/>
        </p:nvSpPr>
        <p:spPr>
          <a:xfrm>
            <a:off x="548640" y="3236976"/>
            <a:ext cx="1645920" cy="96926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tIns="228600"/>
          <a:lstStyle/>
          <a:p>
            <a:pPr algn="ctr">
              <a:defRPr sz="950" b="1">
                <a:solidFill>
                  <a:srgbClr val="FFFFFF"/>
                </a:solidFill>
                <a:latin typeface="Microsoft YaHei"/>
              </a:defRPr>
            </a:pPr>
            <a:r>
              <a:t>Layer 3: 存储池与对象空间</a:t>
            </a:r>
          </a:p>
        </p:txBody>
      </p:sp>
      <p:sp>
        <p:nvSpPr>
          <p:cNvPr id="16" name="Rectangle 15"/>
          <p:cNvSpPr/>
          <p:nvPr/>
        </p:nvSpPr>
        <p:spPr>
          <a:xfrm>
            <a:off x="2240280" y="3236976"/>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TM3 KVObject 对象</a:t>
            </a:r>
          </a:p>
          <a:p>
            <a:pPr>
              <a:spcBef>
                <a:spcPts val="200"/>
              </a:spcBef>
              <a:defRPr sz="700">
                <a:solidFill>
                  <a:srgbClr val="475569"/>
                </a:solidFill>
                <a:latin typeface="Microsoft YaHei"/>
              </a:defRPr>
            </a:pPr>
            <a:r>
              <a:t>ExtentManifest 片段清单</a:t>
            </a:r>
            <a:br/>
            <a:r>
              <a:t>抽象统一逻辑 KV 属性</a:t>
            </a:r>
          </a:p>
        </p:txBody>
      </p:sp>
      <p:sp>
        <p:nvSpPr>
          <p:cNvPr id="17" name="Rectangle 16"/>
          <p:cNvSpPr/>
          <p:nvPr/>
        </p:nvSpPr>
        <p:spPr>
          <a:xfrm>
            <a:off x="3982212" y="3236976"/>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容量主路径控制策略</a:t>
            </a:r>
          </a:p>
          <a:p>
            <a:pPr>
              <a:spcBef>
                <a:spcPts val="200"/>
              </a:spcBef>
              <a:defRPr sz="700">
                <a:solidFill>
                  <a:srgbClr val="475569"/>
                </a:solidFill>
                <a:latin typeface="Microsoft YaHei"/>
              </a:defRPr>
            </a:pPr>
            <a:r>
              <a:t>强制 HBM↔SSD 直达路径</a:t>
            </a:r>
            <a:br/>
            <a:r>
              <a:t>拦截 CPU 无效数据正文触碰</a:t>
            </a:r>
          </a:p>
        </p:txBody>
      </p:sp>
      <p:sp>
        <p:nvSpPr>
          <p:cNvPr id="18" name="Rectangle 17"/>
          <p:cNvSpPr/>
          <p:nvPr/>
        </p:nvSpPr>
        <p:spPr>
          <a:xfrm>
            <a:off x="5724144" y="3236976"/>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DDR 按角色准入机制</a:t>
            </a:r>
          </a:p>
          <a:p>
            <a:pPr>
              <a:spcBef>
                <a:spcPts val="200"/>
              </a:spcBef>
              <a:defRPr sz="700">
                <a:solidFill>
                  <a:srgbClr val="475569"/>
                </a:solidFill>
                <a:latin typeface="Microsoft YaHei"/>
              </a:defRPr>
            </a:pPr>
            <a:r>
              <a:t>仅在热点/预取有正收益启用</a:t>
            </a:r>
            <a:br/>
            <a:r>
              <a:t>无持续收益退出正文主路径</a:t>
            </a:r>
          </a:p>
        </p:txBody>
      </p:sp>
      <p:sp>
        <p:nvSpPr>
          <p:cNvPr id="19" name="Rectangle 18"/>
          <p:cNvSpPr/>
          <p:nvPr/>
        </p:nvSpPr>
        <p:spPr>
          <a:xfrm>
            <a:off x="7466075" y="3236976"/>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容量水位与分层淘汰</a:t>
            </a:r>
          </a:p>
          <a:p>
            <a:pPr>
              <a:spcBef>
                <a:spcPts val="200"/>
              </a:spcBef>
              <a:defRPr sz="700">
                <a:solidFill>
                  <a:srgbClr val="475569"/>
                </a:solidFill>
                <a:latin typeface="Microsoft YaHei"/>
              </a:defRPr>
            </a:pPr>
            <a:r>
              <a:t>基于 SLO 收益函数分层淘汰</a:t>
            </a:r>
            <a:br/>
            <a:r>
              <a:t>高密 DDR/SSD 扩展服务容量</a:t>
            </a:r>
          </a:p>
        </p:txBody>
      </p:sp>
      <p:sp>
        <p:nvSpPr>
          <p:cNvPr id="20" name="Rectangle 19"/>
          <p:cNvSpPr/>
          <p:nvPr/>
        </p:nvSpPr>
        <p:spPr>
          <a:xfrm>
            <a:off x="548640" y="4315968"/>
            <a:ext cx="1645920" cy="969264"/>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tIns="228600"/>
          <a:lstStyle/>
          <a:p>
            <a:pPr algn="ctr">
              <a:defRPr sz="950" b="1">
                <a:solidFill>
                  <a:srgbClr val="FFFFFF"/>
                </a:solidFill>
                <a:latin typeface="Microsoft YaHei"/>
              </a:defRPr>
            </a:pPr>
            <a:r>
              <a:t>Layer 4: 传输与数据编排面</a:t>
            </a:r>
          </a:p>
        </p:txBody>
      </p:sp>
      <p:sp>
        <p:nvSpPr>
          <p:cNvPr id="21" name="Rectangle 20"/>
          <p:cNvSpPr/>
          <p:nvPr/>
        </p:nvSpPr>
        <p:spPr>
          <a:xfrm>
            <a:off x="2240280" y="4315968"/>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TM4 传输数据流编排</a:t>
            </a:r>
          </a:p>
          <a:p>
            <a:pPr>
              <a:spcBef>
                <a:spcPts val="200"/>
              </a:spcBef>
              <a:defRPr sz="700">
                <a:solidFill>
                  <a:srgbClr val="475569"/>
                </a:solidFill>
                <a:latin typeface="Microsoft YaHei"/>
              </a:defRPr>
            </a:pPr>
            <a:r>
              <a:t>ExtentManifest 编译描述符</a:t>
            </a:r>
            <a:br/>
            <a:r>
              <a:t>批量 SG 描述符开销 &lt; 20μs</a:t>
            </a:r>
          </a:p>
        </p:txBody>
      </p:sp>
      <p:sp>
        <p:nvSpPr>
          <p:cNvPr id="22" name="Rectangle 21"/>
          <p:cNvSpPr/>
          <p:nvPr/>
        </p:nvSpPr>
        <p:spPr>
          <a:xfrm>
            <a:off x="3982212" y="4315968"/>
            <a:ext cx="1668780" cy="969264"/>
          </a:xfrm>
          <a:prstGeom prst="rect">
            <a:avLst/>
          </a:prstGeom>
          <a:solidFill>
            <a:srgbClr val="047857"/>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FFFFFF"/>
                </a:solidFill>
                <a:latin typeface="Microsoft YaHei"/>
              </a:defRPr>
            </a:pPr>
            <a:r>
              <a:t>URMA 零拷贝传输</a:t>
            </a:r>
          </a:p>
          <a:p>
            <a:pPr>
              <a:spcBef>
                <a:spcPts val="200"/>
              </a:spcBef>
              <a:defRPr sz="700">
                <a:solidFill>
                  <a:srgbClr val="E2E8F0"/>
                </a:solidFill>
                <a:latin typeface="Microsoft YaHei"/>
              </a:defRPr>
            </a:pPr>
            <a:r>
              <a:t>【底层传输枢纽】</a:t>
            </a:r>
            <a:br/>
            <a:r>
              <a:t>大块 KV 正文异步 0 触碰搬运</a:t>
            </a:r>
          </a:p>
        </p:txBody>
      </p:sp>
      <p:sp>
        <p:nvSpPr>
          <p:cNvPr id="23" name="Rectangle 22"/>
          <p:cNvSpPr/>
          <p:nvPr/>
        </p:nvSpPr>
        <p:spPr>
          <a:xfrm>
            <a:off x="5724144" y="4315968"/>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UBMEM 统一内存引擎</a:t>
            </a:r>
          </a:p>
          <a:p>
            <a:pPr>
              <a:spcBef>
                <a:spcPts val="200"/>
              </a:spcBef>
              <a:defRPr sz="700">
                <a:solidFill>
                  <a:srgbClr val="475569"/>
                </a:solidFill>
                <a:latin typeface="Microsoft YaHei"/>
              </a:defRPr>
            </a:pPr>
            <a:r>
              <a:t>前缀目录与就绪状态高频共享</a:t>
            </a:r>
            <a:br/>
            <a:r>
              <a:t>UBMEM 感知 ➔ 驱动 URMA</a:t>
            </a:r>
          </a:p>
        </p:txBody>
      </p:sp>
      <p:sp>
        <p:nvSpPr>
          <p:cNvPr id="24" name="Rectangle 23"/>
          <p:cNvSpPr/>
          <p:nvPr/>
        </p:nvSpPr>
        <p:spPr>
          <a:xfrm>
            <a:off x="7466075" y="4315968"/>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TM6 完整性与屏障</a:t>
            </a:r>
          </a:p>
          <a:p>
            <a:pPr>
              <a:spcBef>
                <a:spcPts val="200"/>
              </a:spcBef>
              <a:defRPr sz="700">
                <a:solidFill>
                  <a:srgbClr val="475569"/>
                </a:solidFill>
                <a:latin typeface="Microsoft YaHei"/>
              </a:defRPr>
            </a:pPr>
            <a:r>
              <a:t>硬件 CRC 端到端完整性校验</a:t>
            </a:r>
            <a:br/>
            <a:r>
              <a:t>硬件 Fence 屏障保障跨节点可见</a:t>
            </a:r>
          </a:p>
        </p:txBody>
      </p:sp>
      <p:sp>
        <p:nvSpPr>
          <p:cNvPr id="25" name="Rectangle 24"/>
          <p:cNvSpPr/>
          <p:nvPr/>
        </p:nvSpPr>
        <p:spPr>
          <a:xfrm>
            <a:off x="548640" y="5394960"/>
            <a:ext cx="1645920" cy="96926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tIns="228600"/>
          <a:lstStyle/>
          <a:p>
            <a:pPr algn="ctr">
              <a:defRPr sz="950" b="1">
                <a:solidFill>
                  <a:srgbClr val="FFFFFF"/>
                </a:solidFill>
                <a:latin typeface="Microsoft YaHei"/>
              </a:defRPr>
            </a:pPr>
            <a:r>
              <a:t>Layer 5: 异构硬件与介质层</a:t>
            </a:r>
          </a:p>
        </p:txBody>
      </p:sp>
      <p:sp>
        <p:nvSpPr>
          <p:cNvPr id="26" name="Rectangle 25"/>
          <p:cNvSpPr/>
          <p:nvPr/>
        </p:nvSpPr>
        <p:spPr>
          <a:xfrm>
            <a:off x="2240280" y="5394960"/>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芯片内 SRAM / L3 缓存</a:t>
            </a:r>
          </a:p>
          <a:p>
            <a:pPr>
              <a:spcBef>
                <a:spcPts val="200"/>
              </a:spcBef>
              <a:defRPr sz="700">
                <a:solidFill>
                  <a:srgbClr val="475569"/>
                </a:solidFill>
                <a:latin typeface="Microsoft YaHei"/>
              </a:defRPr>
            </a:pPr>
            <a:r>
              <a:t>片内 Cache 拓扑感知切片</a:t>
            </a:r>
            <a:br/>
            <a:r>
              <a:t>极速热点 Prefix 块驻留</a:t>
            </a:r>
          </a:p>
        </p:txBody>
      </p:sp>
      <p:sp>
        <p:nvSpPr>
          <p:cNvPr id="27" name="Rectangle 26"/>
          <p:cNvSpPr/>
          <p:nvPr/>
        </p:nvSpPr>
        <p:spPr>
          <a:xfrm>
            <a:off x="3982212" y="5394960"/>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HBM3 / HBM3e 高带宽显存</a:t>
            </a:r>
          </a:p>
          <a:p>
            <a:pPr>
              <a:spcBef>
                <a:spcPts val="200"/>
              </a:spcBef>
              <a:defRPr sz="700">
                <a:solidFill>
                  <a:srgbClr val="475569"/>
                </a:solidFill>
                <a:latin typeface="Microsoft YaHei"/>
              </a:defRPr>
            </a:pPr>
            <a:r>
              <a:t>NPU 旁片上显存空间</a:t>
            </a:r>
            <a:br/>
            <a:r>
              <a:t>解码阶段极速读取</a:t>
            </a:r>
          </a:p>
        </p:txBody>
      </p:sp>
      <p:sp>
        <p:nvSpPr>
          <p:cNvPr id="28" name="Rectangle 27"/>
          <p:cNvSpPr/>
          <p:nvPr/>
        </p:nvSpPr>
        <p:spPr>
          <a:xfrm>
            <a:off x="5724144" y="5394960"/>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Host DDR5 共享内存池</a:t>
            </a:r>
          </a:p>
          <a:p>
            <a:pPr>
              <a:spcBef>
                <a:spcPts val="200"/>
              </a:spcBef>
              <a:defRPr sz="700">
                <a:solidFill>
                  <a:srgbClr val="475569"/>
                </a:solidFill>
                <a:latin typeface="Microsoft YaHei"/>
              </a:defRPr>
            </a:pPr>
            <a:r>
              <a:t>预注册 UBMEM 共享内存</a:t>
            </a:r>
            <a:br/>
            <a:r>
              <a:t>条件热点与缓存缓冲</a:t>
            </a:r>
          </a:p>
        </p:txBody>
      </p:sp>
      <p:sp>
        <p:nvSpPr>
          <p:cNvPr id="29" name="Rectangle 28"/>
          <p:cNvSpPr/>
          <p:nvPr/>
        </p:nvSpPr>
        <p:spPr>
          <a:xfrm>
            <a:off x="7466075" y="5394960"/>
            <a:ext cx="1668780" cy="969264"/>
          </a:xfrm>
          <a:prstGeom prst="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54864"/>
          <a:lstStyle/>
          <a:p>
            <a:pPr algn="ctr">
              <a:defRPr sz="800" b="1">
                <a:solidFill>
                  <a:srgbClr val="0F172A"/>
                </a:solidFill>
                <a:latin typeface="Microsoft YaHei"/>
              </a:defRPr>
            </a:pPr>
            <a:r>
              <a:t>PCIe 5.0 Direct SSD</a:t>
            </a:r>
          </a:p>
          <a:p>
            <a:pPr>
              <a:spcBef>
                <a:spcPts val="200"/>
              </a:spcBef>
              <a:defRPr sz="700">
                <a:solidFill>
                  <a:srgbClr val="475569"/>
                </a:solidFill>
                <a:latin typeface="Microsoft YaHei"/>
              </a:defRPr>
            </a:pPr>
            <a:r>
              <a:t>大容量冷数据持久化池</a:t>
            </a:r>
            <a:br/>
            <a:r>
              <a:t>Direct I/O HBM↔SSD 直达</a:t>
            </a:r>
          </a:p>
        </p:txBody>
      </p:sp>
      <p:sp>
        <p:nvSpPr>
          <p:cNvPr id="30" name="Rectangle 29"/>
          <p:cNvSpPr/>
          <p:nvPr/>
        </p:nvSpPr>
        <p:spPr>
          <a:xfrm>
            <a:off x="9418320" y="1078992"/>
            <a:ext cx="2221992" cy="5285232"/>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418320" y="1078992"/>
            <a:ext cx="2221992" cy="3840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950" b="1">
                <a:solidFill>
                  <a:srgbClr val="FFFFFF"/>
                </a:solidFill>
                <a:latin typeface="Microsoft YaHei"/>
              </a:defRPr>
            </a:pPr>
            <a:r>
              <a:t>全生命周期辅助组件 (Obs/Test)</a:t>
            </a:r>
          </a:p>
        </p:txBody>
      </p:sp>
      <p:sp>
        <p:nvSpPr>
          <p:cNvPr id="32" name="Rectangle 31"/>
          <p:cNvSpPr/>
          <p:nvPr/>
        </p:nvSpPr>
        <p:spPr>
          <a:xfrm>
            <a:off x="9491472" y="1517904"/>
            <a:ext cx="2075688" cy="1149858"/>
          </a:xfrm>
          <a:prstGeom prst="rect">
            <a:avLst/>
          </a:prstGeom>
          <a:solidFill>
            <a:srgbClr val="F5F3FF"/>
          </a:solidFill>
          <a:ln>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45720" tIns="36576"/>
          <a:lstStyle/>
          <a:p>
            <a:pPr algn="ctr">
              <a:defRPr sz="800" b="1">
                <a:solidFill>
                  <a:srgbClr val="4338CA"/>
                </a:solidFill>
                <a:latin typeface="Microsoft YaHei"/>
              </a:defRPr>
            </a:pPr>
            <a:r>
              <a:t>TM6 全路径可观测性组件</a:t>
            </a:r>
          </a:p>
          <a:p>
            <a:pPr>
              <a:spcBef>
                <a:spcPts val="200"/>
              </a:spcBef>
              <a:defRPr sz="680">
                <a:solidFill>
                  <a:srgbClr val="475569"/>
                </a:solidFill>
                <a:latin typeface="Microsoft YaHei"/>
              </a:defRPr>
            </a:pPr>
            <a:r>
              <a:t>串联 Request ➔ Plan ➔ Descriptor ➔ Trace 链路记录</a:t>
            </a:r>
          </a:p>
        </p:txBody>
      </p:sp>
      <p:sp>
        <p:nvSpPr>
          <p:cNvPr id="33" name="Rectangle 32"/>
          <p:cNvSpPr/>
          <p:nvPr/>
        </p:nvSpPr>
        <p:spPr>
          <a:xfrm>
            <a:off x="9491472" y="2722626"/>
            <a:ext cx="2075688" cy="1149858"/>
          </a:xfrm>
          <a:prstGeom prst="rect">
            <a:avLst/>
          </a:prstGeom>
          <a:solidFill>
            <a:srgbClr val="F5F3FF"/>
          </a:solidFill>
          <a:ln>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45720" tIns="36576"/>
          <a:lstStyle/>
          <a:p>
            <a:pPr algn="ctr">
              <a:defRPr sz="800" b="1">
                <a:solidFill>
                  <a:srgbClr val="4338CA"/>
                </a:solidFill>
                <a:latin typeface="Microsoft YaHei"/>
              </a:defRPr>
            </a:pPr>
            <a:r>
              <a:t>故障诊断与 500ms 回退</a:t>
            </a:r>
          </a:p>
          <a:p>
            <a:pPr>
              <a:spcBef>
                <a:spcPts val="200"/>
              </a:spcBef>
              <a:defRPr sz="680">
                <a:solidFill>
                  <a:srgbClr val="475569"/>
                </a:solidFill>
                <a:latin typeface="Microsoft YaHei"/>
              </a:defRPr>
            </a:pPr>
            <a:r>
              <a:t>硬件 CRC 错误与 Rank 不一致隔离，500ms 内自动回退切换</a:t>
            </a:r>
          </a:p>
        </p:txBody>
      </p:sp>
      <p:sp>
        <p:nvSpPr>
          <p:cNvPr id="34" name="Rectangle 33"/>
          <p:cNvSpPr/>
          <p:nvPr/>
        </p:nvSpPr>
        <p:spPr>
          <a:xfrm>
            <a:off x="9491472" y="3927348"/>
            <a:ext cx="2075688" cy="1149858"/>
          </a:xfrm>
          <a:prstGeom prst="rect">
            <a:avLst/>
          </a:prstGeom>
          <a:solidFill>
            <a:srgbClr val="F5F3FF"/>
          </a:solidFill>
          <a:ln>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45720" tIns="36576"/>
          <a:lstStyle/>
          <a:p>
            <a:pPr algn="ctr">
              <a:defRPr sz="800" b="1">
                <a:solidFill>
                  <a:srgbClr val="4338CA"/>
                </a:solidFill>
                <a:latin typeface="Microsoft YaHei"/>
              </a:defRPr>
            </a:pPr>
            <a:r>
              <a:t>立项前 PVT 验证测试集</a:t>
            </a:r>
          </a:p>
          <a:p>
            <a:pPr>
              <a:spcBef>
                <a:spcPts val="200"/>
              </a:spcBef>
              <a:defRPr sz="680">
                <a:solidFill>
                  <a:srgbClr val="475569"/>
                </a:solidFill>
                <a:latin typeface="Microsoft YaHei"/>
              </a:defRPr>
            </a:pPr>
            <a:r>
              <a:t>PVT-00 ~ PVT-07 最小切片自动化测试与 Trace 回放</a:t>
            </a:r>
          </a:p>
        </p:txBody>
      </p:sp>
      <p:sp>
        <p:nvSpPr>
          <p:cNvPr id="35" name="Rectangle 34"/>
          <p:cNvSpPr/>
          <p:nvPr/>
        </p:nvSpPr>
        <p:spPr>
          <a:xfrm>
            <a:off x="9491472" y="5132070"/>
            <a:ext cx="2075688" cy="1149858"/>
          </a:xfrm>
          <a:prstGeom prst="rect">
            <a:avLst/>
          </a:prstGeom>
          <a:solidFill>
            <a:srgbClr val="F5F3FF"/>
          </a:solidFill>
          <a:ln>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lIns="45720" tIns="36576"/>
          <a:lstStyle/>
          <a:p>
            <a:pPr algn="ctr">
              <a:defRPr sz="800" b="1">
                <a:solidFill>
                  <a:srgbClr val="4338CA"/>
                </a:solidFill>
                <a:latin typeface="Microsoft YaHei"/>
              </a:defRPr>
            </a:pPr>
            <a:r>
              <a:t>抢占式 QoS 流量隔离</a:t>
            </a:r>
          </a:p>
          <a:p>
            <a:pPr>
              <a:spcBef>
                <a:spcPts val="200"/>
              </a:spcBef>
              <a:defRPr sz="680">
                <a:solidFill>
                  <a:srgbClr val="475569"/>
                </a:solidFill>
                <a:latin typeface="Microsoft YaHei"/>
              </a:defRPr>
            </a:pPr>
            <a:r>
              <a:t>前后台混流抢占式 QoS 队列隔离，控制解码 TPOT 抖动 &lt;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四大核心技术方向与子技术拆解 ── “两段式”硬核技术手段与量化效果</a:t>
            </a:r>
          </a:p>
        </p:txBody>
      </p:sp>
      <p:sp>
        <p:nvSpPr>
          <p:cNvPr id="5" name="Rectangle 4"/>
          <p:cNvSpPr/>
          <p:nvPr/>
        </p:nvSpPr>
        <p:spPr>
          <a:xfrm>
            <a:off x="548640" y="1234440"/>
            <a:ext cx="5404104" cy="22402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34440"/>
            <a:ext cx="5404104" cy="3657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ctr">
              <a:defRPr sz="1050" b="1">
                <a:solidFill>
                  <a:srgbClr val="FFFFFF"/>
                </a:solidFill>
                <a:latin typeface="Microsoft YaHei"/>
              </a:defRPr>
            </a:pPr>
            <a:r>
              <a:t>关键技术方向一：异构存储介质池化与分层调度</a:t>
            </a:r>
          </a:p>
        </p:txBody>
      </p:sp>
      <p:sp>
        <p:nvSpPr>
          <p:cNvPr id="7" name="TextBox 6"/>
          <p:cNvSpPr txBox="1"/>
          <p:nvPr/>
        </p:nvSpPr>
        <p:spPr>
          <a:xfrm>
            <a:off x="658368" y="1645920"/>
            <a:ext cx="5184648" cy="1783080"/>
          </a:xfrm>
          <a:prstGeom prst="rect">
            <a:avLst/>
          </a:prstGeom>
          <a:noFill/>
        </p:spPr>
        <p:txBody>
          <a:bodyPr wrap="square" lIns="0" tIns="0">
            <a:spAutoFit/>
          </a:bodyPr>
          <a:lstStyle/>
          <a:p>
            <a:pPr>
              <a:defRPr sz="850" b="1">
                <a:solidFill>
                  <a:srgbClr val="0F172A"/>
                </a:solidFill>
                <a:latin typeface="Microsoft YaHei"/>
              </a:defRPr>
            </a:pPr>
            <a:r>
              <a:t>大标题陈述：有机统筹 HBM/DDR/SSD 及芯片内 SRAM/L3 介质，实现数据流动与统一编址，构建异构存储池底座。</a:t>
            </a:r>
          </a:p>
          <a:p>
            <a:pPr>
              <a:spcBef>
                <a:spcPts val="300"/>
              </a:spcBef>
              <a:defRPr sz="780">
                <a:solidFill>
                  <a:srgbClr val="475569"/>
                </a:solidFill>
                <a:latin typeface="Microsoft YaHei"/>
              </a:defRPr>
            </a:pPr>
            <a:r>
              <a:t>• 1.1 SRAM/L3 微架构感知切片：深度整合片内拓扑，实现热点 Prefix 块片内驻留与极速命中。</a:t>
            </a:r>
          </a:p>
          <a:p>
            <a:pPr>
              <a:spcBef>
                <a:spcPts val="300"/>
              </a:spcBef>
              <a:defRPr sz="780">
                <a:solidFill>
                  <a:srgbClr val="475569"/>
                </a:solidFill>
                <a:latin typeface="Microsoft YaHei"/>
              </a:defRPr>
            </a:pPr>
            <a:r>
              <a:t>• 1.2 UBMEM 统一内存池化转换：部署 UBMEM 内存映射，实现 DDR 与 HBM 间虚拟地址跨介质访问。</a:t>
            </a:r>
          </a:p>
          <a:p>
            <a:pPr>
              <a:spcBef>
                <a:spcPts val="300"/>
              </a:spcBef>
              <a:defRPr sz="780">
                <a:solidFill>
                  <a:srgbClr val="475569"/>
                </a:solidFill>
                <a:latin typeface="Microsoft YaHei"/>
              </a:defRPr>
            </a:pPr>
            <a:r>
              <a:t>• 1.3 HBM↔SSD 直达通道管理：融合 Direct I/O 与 NVMe 异步队列，实现大容量 KV 块绕过 Host DDR。</a:t>
            </a:r>
          </a:p>
        </p:txBody>
      </p:sp>
      <p:sp>
        <p:nvSpPr>
          <p:cNvPr id="8" name="Rectangle 7"/>
          <p:cNvSpPr/>
          <p:nvPr/>
        </p:nvSpPr>
        <p:spPr>
          <a:xfrm>
            <a:off x="6227064" y="1234440"/>
            <a:ext cx="5404104" cy="22402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27064" y="1234440"/>
            <a:ext cx="5404104" cy="3657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ctr">
              <a:defRPr sz="1050" b="1">
                <a:solidFill>
                  <a:srgbClr val="FFFFFF"/>
                </a:solidFill>
                <a:latin typeface="Microsoft YaHei"/>
              </a:defRPr>
            </a:pPr>
            <a:r>
              <a:t>关键技术方向二：意图驱动冷热预取与感知前递</a:t>
            </a:r>
          </a:p>
        </p:txBody>
      </p:sp>
      <p:sp>
        <p:nvSpPr>
          <p:cNvPr id="10" name="TextBox 9"/>
          <p:cNvSpPr txBox="1"/>
          <p:nvPr/>
        </p:nvSpPr>
        <p:spPr>
          <a:xfrm>
            <a:off x="6336792" y="1645920"/>
            <a:ext cx="5184648" cy="1783080"/>
          </a:xfrm>
          <a:prstGeom prst="rect">
            <a:avLst/>
          </a:prstGeom>
          <a:noFill/>
        </p:spPr>
        <p:txBody>
          <a:bodyPr wrap="square" lIns="0" tIns="0">
            <a:spAutoFit/>
          </a:bodyPr>
          <a:lstStyle/>
          <a:p>
            <a:pPr>
              <a:defRPr sz="850" b="1">
                <a:solidFill>
                  <a:srgbClr val="0F172A"/>
                </a:solidFill>
                <a:latin typeface="Microsoft YaHei"/>
              </a:defRPr>
            </a:pPr>
            <a:r>
              <a:t>大标题陈述：有机链接 KVAccessIntent 意图契约与后端 PrefixBudget 机制，实现预取与前递协同，降低 P99 推理时延。</a:t>
            </a:r>
          </a:p>
          <a:p>
            <a:pPr>
              <a:spcBef>
                <a:spcPts val="300"/>
              </a:spcBef>
              <a:defRPr sz="780">
                <a:solidFill>
                  <a:srgbClr val="475569"/>
                </a:solidFill>
                <a:latin typeface="Microsoft YaHei"/>
              </a:defRPr>
            </a:pPr>
            <a:r>
              <a:t>• 2.1 SemanticIdentity 语义身份校验：确立版本与计算图关联，实现非可消费状态毫秒级精准拦截。</a:t>
            </a:r>
          </a:p>
          <a:p>
            <a:pPr>
              <a:spcBef>
                <a:spcPts val="300"/>
              </a:spcBef>
              <a:defRPr sz="780">
                <a:solidFill>
                  <a:srgbClr val="475569"/>
                </a:solidFill>
                <a:latin typeface="Microsoft YaHei"/>
              </a:defRPr>
            </a:pPr>
            <a:r>
              <a:t>• 2.2 意图感知前递与预取引擎：基于 prompt 语义特征提取，实现 Decode 阶段跨节点 KVCache 提前搬运。</a:t>
            </a:r>
          </a:p>
          <a:p>
            <a:pPr>
              <a:spcBef>
                <a:spcPts val="300"/>
              </a:spcBef>
              <a:defRPr sz="780">
                <a:solidFill>
                  <a:srgbClr val="475569"/>
                </a:solidFill>
                <a:latin typeface="Microsoft YaHei"/>
              </a:defRPr>
            </a:pPr>
            <a:r>
              <a:t>• 2.3 SLO 约束 QueryPlan 动态选择：实时对比 Load、View 与 Recompute 开销，实现最佳路径自治决策。</a:t>
            </a:r>
          </a:p>
        </p:txBody>
      </p:sp>
      <p:sp>
        <p:nvSpPr>
          <p:cNvPr id="11" name="Rectangle 10"/>
          <p:cNvSpPr/>
          <p:nvPr/>
        </p:nvSpPr>
        <p:spPr>
          <a:xfrm>
            <a:off x="548640" y="3611880"/>
            <a:ext cx="5404104" cy="22402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611880"/>
            <a:ext cx="5404104" cy="36576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ctr">
              <a:defRPr sz="1050" b="1">
                <a:solidFill>
                  <a:srgbClr val="FFFFFF"/>
                </a:solidFill>
                <a:latin typeface="Microsoft YaHei"/>
              </a:defRPr>
            </a:pPr>
            <a:r>
              <a:t>关键技术方向三：URMA/UBMEM 国产硬件深度使能</a:t>
            </a:r>
          </a:p>
        </p:txBody>
      </p:sp>
      <p:sp>
        <p:nvSpPr>
          <p:cNvPr id="13" name="TextBox 12"/>
          <p:cNvSpPr txBox="1"/>
          <p:nvPr/>
        </p:nvSpPr>
        <p:spPr>
          <a:xfrm>
            <a:off x="658368" y="4023360"/>
            <a:ext cx="5184648" cy="1783080"/>
          </a:xfrm>
          <a:prstGeom prst="rect">
            <a:avLst/>
          </a:prstGeom>
          <a:noFill/>
        </p:spPr>
        <p:txBody>
          <a:bodyPr wrap="square" lIns="0" tIns="0">
            <a:spAutoFit/>
          </a:bodyPr>
          <a:lstStyle/>
          <a:p>
            <a:pPr>
              <a:defRPr sz="850" b="1">
                <a:solidFill>
                  <a:srgbClr val="0F172A"/>
                </a:solidFill>
                <a:latin typeface="Microsoft YaHei"/>
              </a:defRPr>
            </a:pPr>
            <a:r>
              <a:t>大标题陈述：有机融合 URMA 零拷贝 RDMA 协议与 UBMEM 预注册描述符，实现搬运 Host CPU 正文 0 触碰，保障通道吞吐。</a:t>
            </a:r>
          </a:p>
          <a:p>
            <a:pPr>
              <a:spcBef>
                <a:spcPts val="300"/>
              </a:spcBef>
              <a:defRPr sz="780">
                <a:solidFill>
                  <a:srgbClr val="475569"/>
                </a:solidFill>
                <a:latin typeface="Microsoft YaHei"/>
              </a:defRPr>
            </a:pPr>
            <a:r>
              <a:t>• 3.1 批量 SG 描述符与 Fence 屏障：联合开发描述符链表化机制，实现万级 Block 传输指令开销降低 50%。</a:t>
            </a:r>
          </a:p>
          <a:p>
            <a:pPr>
              <a:spcBef>
                <a:spcPts val="300"/>
              </a:spcBef>
              <a:defRPr sz="780">
                <a:solidFill>
                  <a:srgbClr val="475569"/>
                </a:solidFill>
                <a:latin typeface="Microsoft YaHei"/>
              </a:defRPr>
            </a:pPr>
            <a:r>
              <a:t>• 3.2 硬件 CRC 校验与 Rank 一致性：协同部署硬件完整性校验与内存屏障，保障分布式消费绝对正确。</a:t>
            </a:r>
          </a:p>
          <a:p>
            <a:pPr>
              <a:spcBef>
                <a:spcPts val="300"/>
              </a:spcBef>
              <a:defRPr sz="780">
                <a:solidFill>
                  <a:srgbClr val="475569"/>
                </a:solidFill>
                <a:latin typeface="Microsoft YaHei"/>
              </a:defRPr>
            </a:pPr>
            <a:r>
              <a:t>• 3.3 链路拥塞控制与 QoS 平抑：构建基于 RDMA 队列的抢占式 QoS 机制，平抑前后台混流流量抢占。</a:t>
            </a:r>
          </a:p>
        </p:txBody>
      </p:sp>
      <p:sp>
        <p:nvSpPr>
          <p:cNvPr id="14" name="Rectangle 13"/>
          <p:cNvSpPr/>
          <p:nvPr/>
        </p:nvSpPr>
        <p:spPr>
          <a:xfrm>
            <a:off x="6227064" y="3611880"/>
            <a:ext cx="5404104" cy="22402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27064" y="3611880"/>
            <a:ext cx="5404104" cy="36576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ctr">
              <a:defRPr sz="1050" b="1">
                <a:solidFill>
                  <a:srgbClr val="FFFFFF"/>
                </a:solidFill>
                <a:latin typeface="Microsoft YaHei"/>
              </a:defRPr>
            </a:pPr>
            <a:r>
              <a:t>关键技术方向四：统一控制面低时延元数据匹配</a:t>
            </a:r>
          </a:p>
        </p:txBody>
      </p:sp>
      <p:sp>
        <p:nvSpPr>
          <p:cNvPr id="16" name="TextBox 15"/>
          <p:cNvSpPr txBox="1"/>
          <p:nvPr/>
        </p:nvSpPr>
        <p:spPr>
          <a:xfrm>
            <a:off x="6336792" y="4023360"/>
            <a:ext cx="5184648" cy="1783080"/>
          </a:xfrm>
          <a:prstGeom prst="rect">
            <a:avLst/>
          </a:prstGeom>
          <a:noFill/>
        </p:spPr>
        <p:txBody>
          <a:bodyPr wrap="square" lIns="0" tIns="0">
            <a:spAutoFit/>
          </a:bodyPr>
          <a:lstStyle/>
          <a:p>
            <a:pPr>
              <a:defRPr sz="850" b="1">
                <a:solidFill>
                  <a:srgbClr val="0F172A"/>
                </a:solidFill>
                <a:latin typeface="Microsoft YaHei"/>
              </a:defRPr>
            </a:pPr>
            <a:r>
              <a:t>大标题陈述：有机整合 PrefixDirectory 树形索引与分布式一致性 Hash，实现高并发控制面微秒级检索，筑牢控制平面防线。</a:t>
            </a:r>
          </a:p>
          <a:p>
            <a:pPr>
              <a:spcBef>
                <a:spcPts val="300"/>
              </a:spcBef>
              <a:defRPr sz="780">
                <a:solidFill>
                  <a:srgbClr val="475569"/>
                </a:solidFill>
                <a:latin typeface="Microsoft YaHei"/>
              </a:defRPr>
            </a:pPr>
            <a:r>
              <a:t>• 4.1 微秒级 PrefixDirectory 前缀查找：深度优化 Radix Tree 并发锁机制，实现百万级前缀检索 &lt; 50μs。</a:t>
            </a:r>
          </a:p>
          <a:p>
            <a:pPr>
              <a:spcBef>
                <a:spcPts val="300"/>
              </a:spcBef>
              <a:defRPr sz="780">
                <a:solidFill>
                  <a:srgbClr val="475569"/>
                </a:solidFill>
                <a:latin typeface="Microsoft YaHei"/>
              </a:defRPr>
            </a:pPr>
            <a:r>
              <a:t>• 4.2 ConsumeEligibility 消费资格验证：构建 completion event 异步链，保障仅在完全写就后释放凭证。</a:t>
            </a:r>
          </a:p>
          <a:p>
            <a:pPr>
              <a:spcBef>
                <a:spcPts val="300"/>
              </a:spcBef>
              <a:defRPr sz="780">
                <a:solidFill>
                  <a:srgbClr val="475569"/>
                </a:solidFill>
                <a:latin typeface="Microsoft YaHei"/>
              </a:defRPr>
            </a:pPr>
            <a:r>
              <a:t>• 4.3 多租户隔离与容量价值分配：严格执行基于 SLO 收益函数的淘汰策略，实现高价值 KVCache 驻留最大化。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与 Mooncake / LMCache 开源方案多维硬核对比 ── 代码与架构级分析</a:t>
            </a:r>
          </a:p>
        </p:txBody>
      </p:sp>
      <p:sp>
        <p:nvSpPr>
          <p:cNvPr id="5" name="Rectangle 4"/>
          <p:cNvSpPr/>
          <p:nvPr/>
        </p:nvSpPr>
        <p:spPr>
          <a:xfrm>
            <a:off x="548640" y="1143000"/>
            <a:ext cx="11094415" cy="5257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43000"/>
            <a:ext cx="11094415"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sz="1100" b="1">
                <a:solidFill>
                  <a:srgbClr val="FFFFFF"/>
                </a:solidFill>
                <a:latin typeface="Microsoft YaHei"/>
              </a:defRPr>
            </a:pPr>
            <a:r>
              <a:t>最新开源代码与架构深度对比矩阵 (分析代码库：Mooncake &amp; LMCache)</a:t>
            </a:r>
          </a:p>
        </p:txBody>
      </p:sp>
      <p:sp>
        <p:nvSpPr>
          <p:cNvPr id="7" name="Rectangle 6"/>
          <p:cNvSpPr/>
          <p:nvPr/>
        </p:nvSpPr>
        <p:spPr>
          <a:xfrm>
            <a:off x="731520" y="1627632"/>
            <a:ext cx="10728655" cy="896112"/>
          </a:xfrm>
          <a:prstGeom prst="rect">
            <a:avLst/>
          </a:prstGeom>
          <a:solidFill>
            <a:srgbClr val="F0F9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【维度：系统架构定位】</a:t>
            </a:r>
          </a:p>
          <a:p>
            <a:pPr>
              <a:defRPr sz="720">
                <a:solidFill>
                  <a:srgbClr val="475569"/>
                </a:solidFill>
                <a:latin typeface="Microsoft YaHei"/>
              </a:defRPr>
            </a:pPr>
            <a:r>
              <a:t>• Mooncake: P2P 块存储与 TransferEngine 搬运库，依赖外部 Client GET/PUT。</a:t>
            </a:r>
            <a:br/>
            <a:r>
              <a:t>• LMCache: 引擎无关缓存 Daemon 中间件，作为独立进程管理 Key-Value 键值对。</a:t>
            </a:r>
            <a:br/>
            <a:r>
              <a:t>• 本项目: 原生软硬协同 AI Infra 基础设施，具备控制/数据面分离与 QueryPlan 调度。</a:t>
            </a:r>
          </a:p>
        </p:txBody>
      </p:sp>
      <p:sp>
        <p:nvSpPr>
          <p:cNvPr id="8" name="Rectangle 7"/>
          <p:cNvSpPr/>
          <p:nvPr/>
        </p:nvSpPr>
        <p:spPr>
          <a:xfrm>
            <a:off x="731520" y="2569464"/>
            <a:ext cx="10728655" cy="896112"/>
          </a:xfrm>
          <a:prstGeom prst="rect">
            <a:avLst/>
          </a:prstGeom>
          <a:solidFill>
            <a:srgbClr val="FFFF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【维度：存储介质层次】</a:t>
            </a:r>
          </a:p>
          <a:p>
            <a:pPr>
              <a:defRPr sz="720">
                <a:solidFill>
                  <a:srgbClr val="475569"/>
                </a:solidFill>
                <a:latin typeface="Microsoft YaHei"/>
              </a:defRPr>
            </a:pPr>
            <a:r>
              <a:t>• Mooncake: 支持 CPU DRAM、Host NVMe SSD 与 HBM；无法感知片内 L3/SRAM 拓扑。</a:t>
            </a:r>
            <a:br/>
            <a:r>
              <a:t>• LMCache: 支持 Host RAM、Local SSD、Redis/S3；完全依赖通用 OS 文件系统或外置 DB。</a:t>
            </a:r>
            <a:br/>
            <a:r>
              <a:t>• 本项目: 原生支持 HBM/DDR/SSD 及芯片内 SRAM/L3，基于 UBMEM 实现跨介质统一编址。</a:t>
            </a:r>
          </a:p>
        </p:txBody>
      </p:sp>
      <p:sp>
        <p:nvSpPr>
          <p:cNvPr id="9" name="Rectangle 8"/>
          <p:cNvSpPr/>
          <p:nvPr/>
        </p:nvSpPr>
        <p:spPr>
          <a:xfrm>
            <a:off x="731520" y="3511296"/>
            <a:ext cx="10728655" cy="896112"/>
          </a:xfrm>
          <a:prstGeom prst="rect">
            <a:avLst/>
          </a:prstGeom>
          <a:solidFill>
            <a:srgbClr val="F0F9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【维度：传输与 CPU 触碰】</a:t>
            </a:r>
          </a:p>
          <a:p>
            <a:pPr>
              <a:defRPr sz="720">
                <a:solidFill>
                  <a:srgbClr val="475569"/>
                </a:solidFill>
                <a:latin typeface="Microsoft YaHei"/>
              </a:defRPr>
            </a:pPr>
            <a:r>
              <a:t>• Mooncake: 支持 RDMA 与 NVLink；依赖 Host 内存队列，存在 Host 描述符/中转开销。</a:t>
            </a:r>
            <a:br/>
            <a:r>
              <a:t>• LMCache: 支持 TCP/RDMA/NIXL；Python/C++ 转换存在 SERDE 序列化与内存拷贝开销。</a:t>
            </a:r>
            <a:br/>
            <a:r>
              <a:t>• 本项目: 深度使能 UBMEM/URMA 原生描述符，Host CPU 正文 0 触碰，描述符编译 &lt; 20μs。</a:t>
            </a:r>
          </a:p>
        </p:txBody>
      </p:sp>
      <p:sp>
        <p:nvSpPr>
          <p:cNvPr id="10" name="Rectangle 9"/>
          <p:cNvSpPr/>
          <p:nvPr/>
        </p:nvSpPr>
        <p:spPr>
          <a:xfrm>
            <a:off x="731520" y="4453128"/>
            <a:ext cx="10728655" cy="896112"/>
          </a:xfrm>
          <a:prstGeom prst="rect">
            <a:avLst/>
          </a:prstGeom>
          <a:solidFill>
            <a:srgbClr val="FFFF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【维度：匹配决策与 SLO】</a:t>
            </a:r>
          </a:p>
          <a:p>
            <a:pPr>
              <a:defRPr sz="720">
                <a:solidFill>
                  <a:srgbClr val="475569"/>
                </a:solidFill>
                <a:latin typeface="Microsoft YaHei"/>
              </a:defRPr>
            </a:pPr>
            <a:r>
              <a:t>• Mooncake: 简单的 P2P Key-Value 查找，缺乏 Load vs Recompute 实时开销比较与前递。</a:t>
            </a:r>
            <a:br/>
            <a:r>
              <a:t>• LMCache: 基于 Chunk 哈希匹配与 LRU/FIFO 淘汰，缺乏 SLO 效益函数与放弃机制。</a:t>
            </a:r>
            <a:br/>
            <a:r>
              <a:t>• 本项目: 具备 SemanticIdentity 校验、ConsumeEligibility 验证与 QueryPlan 效益决策。</a:t>
            </a:r>
          </a:p>
        </p:txBody>
      </p:sp>
      <p:sp>
        <p:nvSpPr>
          <p:cNvPr id="11" name="Rectangle 10"/>
          <p:cNvSpPr/>
          <p:nvPr/>
        </p:nvSpPr>
        <p:spPr>
          <a:xfrm>
            <a:off x="731520" y="5394960"/>
            <a:ext cx="10728655" cy="896112"/>
          </a:xfrm>
          <a:prstGeom prst="rect">
            <a:avLst/>
          </a:prstGeom>
          <a:solidFill>
            <a:srgbClr val="F0F9FF"/>
          </a:solidFill>
          <a:ln w="1016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850" b="1">
                <a:solidFill>
                  <a:srgbClr val="1E3A8A"/>
                </a:solidFill>
                <a:latin typeface="Microsoft YaHei"/>
              </a:defRPr>
            </a:pPr>
            <a:r>
              <a:t>【维度：完整性与屏障】</a:t>
            </a:r>
          </a:p>
          <a:p>
            <a:pPr>
              <a:defRPr sz="720">
                <a:solidFill>
                  <a:srgbClr val="475569"/>
                </a:solidFill>
                <a:latin typeface="Microsoft YaHei"/>
              </a:defRPr>
            </a:pPr>
            <a:r>
              <a:t>• Mooncake: 依赖应用层逻辑或标准 RDMA CQ 通知，无硬件级可见性屏障。</a:t>
            </a:r>
            <a:br/>
            <a:r>
              <a:t>• LMCache: 依赖 Daemon 内部状态记录，存在与推理框架 Fate-sharing 风险。</a:t>
            </a:r>
            <a:br/>
            <a:r>
              <a:t>• 本项目: 联动硬件 CRC 与 Fence 可见性屏障，保障 100% 可消费就绪与跨节点共识。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证据驱动“分阶段立项”与四阶段研发 Roadmap (P0 - P3)</a:t>
            </a:r>
          </a:p>
        </p:txBody>
      </p:sp>
      <p:sp>
        <p:nvSpPr>
          <p:cNvPr id="5" name="Rectangle 4"/>
          <p:cNvSpPr/>
          <p:nvPr/>
        </p:nvSpPr>
        <p:spPr>
          <a:xfrm>
            <a:off x="548640" y="1143000"/>
            <a:ext cx="5404104" cy="5257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43000"/>
            <a:ext cx="5404104"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sz="1100" b="1">
                <a:solidFill>
                  <a:srgbClr val="FFFFFF"/>
                </a:solidFill>
                <a:latin typeface="Microsoft YaHei"/>
              </a:defRPr>
            </a:pPr>
            <a:r>
              <a:t>一、 立项前 8 大 PVT 原型验证门禁 (Stage-Gate 1)</a:t>
            </a:r>
          </a:p>
        </p:txBody>
      </p:sp>
      <p:sp>
        <p:nvSpPr>
          <p:cNvPr id="7" name="TextBox 6"/>
          <p:cNvSpPr txBox="1"/>
          <p:nvPr/>
        </p:nvSpPr>
        <p:spPr>
          <a:xfrm>
            <a:off x="685800" y="1645920"/>
            <a:ext cx="5129784" cy="4709160"/>
          </a:xfrm>
          <a:prstGeom prst="rect">
            <a:avLst/>
          </a:prstGeom>
          <a:noFill/>
        </p:spPr>
        <p:txBody>
          <a:bodyPr wrap="square" lIns="0" tIns="0">
            <a:spAutoFit/>
          </a:bodyPr>
          <a:lstStyle/>
          <a:p>
            <a:pPr>
              <a:defRPr sz="850">
                <a:solidFill>
                  <a:srgbClr val="0F172A"/>
                </a:solidFill>
                <a:latin typeface="Microsoft YaHei"/>
              </a:defRPr>
            </a:pPr>
            <a:r>
              <a:t>• PVT-00 状态复用价值验证  ➔  门禁通过标准: Save-prefill 收益 ≥ 20%</a:t>
            </a:r>
          </a:p>
          <a:p>
            <a:pPr>
              <a:spcBef>
                <a:spcPts val="400"/>
              </a:spcBef>
              <a:defRPr sz="850">
                <a:solidFill>
                  <a:srgbClr val="0F172A"/>
                </a:solidFill>
                <a:latin typeface="Microsoft YaHei"/>
              </a:defRPr>
            </a:pPr>
            <a:r>
              <a:t>• PVT-01 UBMEM/URMA 通道可行性  ➔  门禁通过标准: 数据搬运 Host CPU 正文触碰归 0</a:t>
            </a:r>
          </a:p>
          <a:p>
            <a:pPr>
              <a:spcBef>
                <a:spcPts val="400"/>
              </a:spcBef>
              <a:defRPr sz="850">
                <a:solidFill>
                  <a:srgbClr val="0F172A"/>
                </a:solidFill>
                <a:latin typeface="Microsoft YaHei"/>
              </a:defRPr>
            </a:pPr>
            <a:r>
              <a:t>• PVT-02 逻辑布局描述符编译  ➔  门禁通过标准: 单次编译开销 &lt; 20μs</a:t>
            </a:r>
          </a:p>
          <a:p>
            <a:pPr>
              <a:spcBef>
                <a:spcPts val="400"/>
              </a:spcBef>
              <a:defRPr sz="850">
                <a:solidFill>
                  <a:srgbClr val="0F172A"/>
                </a:solidFill>
                <a:latin typeface="Microsoft YaHei"/>
              </a:defRPr>
            </a:pPr>
            <a:r>
              <a:t>• PVT-03 Direct View 安全区划分  ➔  门禁通过标准: View 读延迟 P99 抖动 &lt; 10%</a:t>
            </a:r>
          </a:p>
          <a:p>
            <a:pPr>
              <a:spcBef>
                <a:spcPts val="400"/>
              </a:spcBef>
              <a:defRPr sz="850">
                <a:solidFill>
                  <a:srgbClr val="0F172A"/>
                </a:solidFill>
                <a:latin typeface="Microsoft YaHei"/>
              </a:defRPr>
            </a:pPr>
            <a:r>
              <a:t>• PVT-04 QueryPlan 决策验证  ➔  门禁通过标准: 正收益匹配决策准确率 ≥ 95%</a:t>
            </a:r>
          </a:p>
          <a:p>
            <a:pPr>
              <a:spcBef>
                <a:spcPts val="400"/>
              </a:spcBef>
              <a:defRPr sz="850">
                <a:solidFill>
                  <a:srgbClr val="0F172A"/>
                </a:solidFill>
                <a:latin typeface="Microsoft YaHei"/>
              </a:defRPr>
            </a:pPr>
            <a:r>
              <a:t>• PVT-05 异构介质容量服务能力  ➔  门禁通过标准: 推理并发提升 ≥ 30%，0 OOM</a:t>
            </a:r>
          </a:p>
          <a:p>
            <a:pPr>
              <a:spcBef>
                <a:spcPts val="400"/>
              </a:spcBef>
              <a:defRPr sz="850">
                <a:solidFill>
                  <a:srgbClr val="0F172A"/>
                </a:solidFill>
                <a:latin typeface="Microsoft YaHei"/>
              </a:defRPr>
            </a:pPr>
            <a:r>
              <a:t>• PVT-06 物理命中转可消费完整性  ➔  门禁通过标准: 错误消费拦截率 100%</a:t>
            </a:r>
          </a:p>
          <a:p>
            <a:pPr>
              <a:spcBef>
                <a:spcPts val="400"/>
              </a:spcBef>
              <a:defRPr sz="850">
                <a:solidFill>
                  <a:srgbClr val="0F172A"/>
                </a:solidFill>
                <a:latin typeface="Microsoft YaHei"/>
              </a:defRPr>
            </a:pPr>
            <a:r>
              <a:t>• PVT-07 薄闭环端到端在线净收益  ➔  门禁通过标准: TTFT P99 降低 ≥ 25%</a:t>
            </a:r>
          </a:p>
        </p:txBody>
      </p:sp>
      <p:sp>
        <p:nvSpPr>
          <p:cNvPr id="8" name="Rectangle 7"/>
          <p:cNvSpPr/>
          <p:nvPr/>
        </p:nvSpPr>
        <p:spPr>
          <a:xfrm>
            <a:off x="6227064" y="1143000"/>
            <a:ext cx="5404104" cy="5257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27064" y="1143000"/>
            <a:ext cx="5404104" cy="41148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sz="1100" b="1">
                <a:solidFill>
                  <a:srgbClr val="FFFFFF"/>
                </a:solidFill>
                <a:latin typeface="Microsoft YaHei"/>
              </a:defRPr>
            </a:pPr>
            <a:r>
              <a:t>二、 四阶段研发实施 Roadmap (12 个月交付计划)</a:t>
            </a:r>
          </a:p>
        </p:txBody>
      </p:sp>
      <p:sp>
        <p:nvSpPr>
          <p:cNvPr id="10" name="TextBox 9"/>
          <p:cNvSpPr txBox="1"/>
          <p:nvPr/>
        </p:nvSpPr>
        <p:spPr>
          <a:xfrm>
            <a:off x="6364224" y="1645920"/>
            <a:ext cx="5129784" cy="4709160"/>
          </a:xfrm>
          <a:prstGeom prst="rect">
            <a:avLst/>
          </a:prstGeom>
          <a:noFill/>
        </p:spPr>
        <p:txBody>
          <a:bodyPr wrap="square" lIns="0" tIns="0">
            <a:spAutoFit/>
          </a:bodyPr>
          <a:lstStyle/>
          <a:p>
            <a:pPr>
              <a:defRPr sz="950" b="1">
                <a:solidFill>
                  <a:srgbClr val="047857"/>
                </a:solidFill>
                <a:latin typeface="Microsoft YaHei"/>
              </a:defRPr>
            </a:pPr>
            <a:r>
              <a:t>• P0 阶段 (W1 - W5) 立项前切片验证与包跑通</a:t>
            </a:r>
          </a:p>
          <a:p>
            <a:pPr>
              <a:defRPr sz="850">
                <a:solidFill>
                  <a:srgbClr val="475569"/>
                </a:solidFill>
                <a:latin typeface="Microsoft YaHei"/>
              </a:defRPr>
            </a:pPr>
            <a:r>
              <a:t>  完成 PVT-00~07 测试包，交付 4-5 周切片代码并签署 Stage-Gate 1 评审。</a:t>
            </a:r>
          </a:p>
          <a:p>
            <a:pPr>
              <a:spcBef>
                <a:spcPts val="800"/>
              </a:spcBef>
              <a:defRPr sz="950" b="1">
                <a:solidFill>
                  <a:srgbClr val="047857"/>
                </a:solidFill>
                <a:latin typeface="Microsoft YaHei"/>
              </a:defRPr>
            </a:pPr>
            <a:r>
              <a:t>• P1 阶段 (M2 - M4) 核心功能闭环与驱动集成</a:t>
            </a:r>
          </a:p>
          <a:p>
            <a:pPr>
              <a:defRPr sz="850">
                <a:solidFill>
                  <a:srgbClr val="475569"/>
                </a:solidFill>
                <a:latin typeface="Microsoft YaHei"/>
              </a:defRPr>
            </a:pPr>
            <a:r>
              <a:t>  URMA/UBMEM 驱动集成，推出 QueryPlan 1.0，完成 vLLM/SGLang 适配。</a:t>
            </a:r>
          </a:p>
          <a:p>
            <a:pPr>
              <a:spcBef>
                <a:spcPts val="800"/>
              </a:spcBef>
              <a:defRPr sz="950" b="1">
                <a:solidFill>
                  <a:srgbClr val="047857"/>
                </a:solidFill>
                <a:latin typeface="Microsoft YaHei"/>
              </a:defRPr>
            </a:pPr>
            <a:r>
              <a:t>• P2 阶段 (M5 - M8) 异构池化与长上下文 QoS 隔离</a:t>
            </a:r>
          </a:p>
          <a:p>
            <a:pPr>
              <a:defRPr sz="850">
                <a:solidFill>
                  <a:srgbClr val="475569"/>
                </a:solidFill>
                <a:latin typeface="Microsoft YaHei"/>
              </a:defRPr>
            </a:pPr>
            <a:r>
              <a:t>  支持 HBM/DDR/SSD/L3 全介质池化与 Prefill-Decode 分离，混流 QoS 隔离达标。</a:t>
            </a:r>
          </a:p>
          <a:p>
            <a:pPr>
              <a:spcBef>
                <a:spcPts val="800"/>
              </a:spcBef>
              <a:defRPr sz="950" b="1">
                <a:solidFill>
                  <a:srgbClr val="047857"/>
                </a:solidFill>
                <a:latin typeface="Microsoft YaHei"/>
              </a:defRPr>
            </a:pPr>
            <a:r>
              <a:t>• P3 阶段 (M9 - M12) 生态拓展与工业级交付</a:t>
            </a:r>
          </a:p>
          <a:p>
            <a:pPr>
              <a:defRPr sz="850">
                <a:solidFill>
                  <a:srgbClr val="475569"/>
                </a:solidFill>
                <a:latin typeface="Microsoft YaHei"/>
              </a:defRPr>
            </a:pPr>
            <a:r>
              <a:t>  全栈适配主流国产 NPU 框架，交付工业级 Benchmark，在标杆客户上线复用。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365760"/>
            <a:ext cx="2377440" cy="25603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FFFFFF"/>
                </a:solidFill>
                <a:latin typeface="Microsoft YaHei"/>
              </a:defRPr>
            </a:pPr>
            <a:r>
              <a:t>统一异构 KVCACHE 存储池 ｜ 高层立项汇报</a:t>
            </a:r>
          </a:p>
        </p:txBody>
      </p:sp>
      <p:sp>
        <p:nvSpPr>
          <p:cNvPr id="4" name="TextBox 3"/>
          <p:cNvSpPr txBox="1"/>
          <p:nvPr/>
        </p:nvSpPr>
        <p:spPr>
          <a:xfrm>
            <a:off x="548640" y="658368"/>
            <a:ext cx="11094415" cy="457200"/>
          </a:xfrm>
          <a:prstGeom prst="rect">
            <a:avLst/>
          </a:prstGeom>
          <a:noFill/>
        </p:spPr>
        <p:txBody>
          <a:bodyPr wrap="square" lIns="0" tIns="0" rIns="0" bIns="0">
            <a:spAutoFit/>
          </a:bodyPr>
          <a:lstStyle/>
          <a:p>
            <a:pPr>
              <a:defRPr sz="1900" b="1">
                <a:solidFill>
                  <a:srgbClr val="0F172A"/>
                </a:solidFill>
                <a:latin typeface="Microsoft YaHei"/>
              </a:defRPr>
            </a:pPr>
            <a:r>
              <a:t>双视角量化收益承诺、生态孵化与风控资产沉淀</a:t>
            </a:r>
          </a:p>
        </p:txBody>
      </p:sp>
      <p:sp>
        <p:nvSpPr>
          <p:cNvPr id="5" name="Rectangle 4"/>
          <p:cNvSpPr/>
          <p:nvPr/>
        </p:nvSpPr>
        <p:spPr>
          <a:xfrm>
            <a:off x="548640" y="1143000"/>
            <a:ext cx="5404104" cy="5257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43000"/>
            <a:ext cx="5404104"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sz="1100" b="1">
                <a:solidFill>
                  <a:srgbClr val="FFFFFF"/>
                </a:solidFill>
                <a:latin typeface="Microsoft YaHei"/>
              </a:defRPr>
            </a:pPr>
            <a:r>
              <a:t>一、 客户与硬件双视角量化收益承诺</a:t>
            </a:r>
          </a:p>
        </p:txBody>
      </p:sp>
      <p:sp>
        <p:nvSpPr>
          <p:cNvPr id="7" name="TextBox 6"/>
          <p:cNvSpPr txBox="1"/>
          <p:nvPr/>
        </p:nvSpPr>
        <p:spPr>
          <a:xfrm>
            <a:off x="685800" y="1645920"/>
            <a:ext cx="5129784" cy="4709160"/>
          </a:xfrm>
          <a:prstGeom prst="rect">
            <a:avLst/>
          </a:prstGeom>
          <a:noFill/>
        </p:spPr>
        <p:txBody>
          <a:bodyPr wrap="square" lIns="0" tIns="0">
            <a:spAutoFit/>
          </a:bodyPr>
          <a:lstStyle/>
          <a:p>
            <a:pPr>
              <a:defRPr sz="950" b="1">
                <a:solidFill>
                  <a:srgbClr val="1E3A8A"/>
                </a:solidFill>
                <a:latin typeface="Microsoft YaHei"/>
              </a:defRPr>
            </a:pPr>
            <a:r>
              <a:t>• 1. 外部客户业务价值视角 (SLO Targets)</a:t>
            </a:r>
          </a:p>
          <a:p>
            <a:pPr>
              <a:defRPr sz="850">
                <a:solidFill>
                  <a:srgbClr val="475569"/>
                </a:solidFill>
                <a:latin typeface="Microsoft YaHei"/>
              </a:defRPr>
            </a:pPr>
            <a:r>
              <a:t>  - 首包响应时间 (TTFT P99): 降低 ≥ 30%</a:t>
            </a:r>
          </a:p>
          <a:p>
            <a:pPr>
              <a:defRPr sz="850">
                <a:solidFill>
                  <a:srgbClr val="475569"/>
                </a:solidFill>
                <a:latin typeface="Microsoft YaHei"/>
              </a:defRPr>
            </a:pPr>
            <a:r>
              <a:t>  - 解码生成质量 (TPOT 抖动): 尾部抖动控制在 &lt; 5%</a:t>
            </a:r>
          </a:p>
          <a:p>
            <a:pPr>
              <a:defRPr sz="850">
                <a:solidFill>
                  <a:srgbClr val="475569"/>
                </a:solidFill>
                <a:latin typeface="Microsoft YaHei"/>
              </a:defRPr>
            </a:pPr>
            <a:r>
              <a:t>  - 显存服务能力 (Effective): HBM 有效容量提升 ≥ 40%</a:t>
            </a:r>
          </a:p>
          <a:p>
            <a:pPr>
              <a:defRPr sz="850">
                <a:solidFill>
                  <a:srgbClr val="475569"/>
                </a:solidFill>
                <a:latin typeface="Microsoft YaHei"/>
              </a:defRPr>
            </a:pPr>
            <a:r>
              <a:t>  - 整体拥有成本 (Cluster TCO): 集群 TCO 降低 ≥ 25%</a:t>
            </a:r>
          </a:p>
          <a:p>
            <a:pPr>
              <a:spcBef>
                <a:spcPts val="1000"/>
              </a:spcBef>
              <a:defRPr sz="950" b="1">
                <a:solidFill>
                  <a:srgbClr val="1E3A8A"/>
                </a:solidFill>
                <a:latin typeface="Microsoft YaHei"/>
              </a:defRPr>
            </a:pPr>
            <a:r>
              <a:t>• 2. HOST 侧 / 集群侧 / 硬件侧视角</a:t>
            </a:r>
          </a:p>
          <a:p>
            <a:pPr>
              <a:defRPr sz="850">
                <a:solidFill>
                  <a:srgbClr val="475569"/>
                </a:solidFill>
                <a:latin typeface="Microsoft YaHei"/>
              </a:defRPr>
            </a:pPr>
            <a:r>
              <a:t>  - CPU 负载开销: Data Path 数据搬运 Host CPU 正文触碰归 0</a:t>
            </a:r>
          </a:p>
          <a:p>
            <a:pPr>
              <a:defRPr sz="850">
                <a:solidFill>
                  <a:srgbClr val="475569"/>
                </a:solidFill>
                <a:latin typeface="Microsoft YaHei"/>
              </a:defRPr>
            </a:pPr>
            <a:r>
              <a:t>  - 总线网络利用率: URMA/UBMEM 有效带宽利用率 ≥ 85%</a:t>
            </a:r>
          </a:p>
          <a:p>
            <a:pPr>
              <a:defRPr sz="850">
                <a:solidFill>
                  <a:srgbClr val="475569"/>
                </a:solidFill>
                <a:latin typeface="Microsoft YaHei"/>
              </a:defRPr>
            </a:pPr>
            <a:r>
              <a:t>  - 控制面决策开销: Radix Tree 匹配单次决策开销 &lt; 100μs</a:t>
            </a:r>
          </a:p>
          <a:p>
            <a:pPr>
              <a:defRPr sz="850">
                <a:solidFill>
                  <a:srgbClr val="475569"/>
                </a:solidFill>
                <a:latin typeface="Microsoft YaHei"/>
              </a:defRPr>
            </a:pPr>
            <a:r>
              <a:t>  - 直达加载吞吐: SSD↔HBM 直达吞吐达到硬件物理峰值 ≥ 90%</a:t>
            </a:r>
          </a:p>
        </p:txBody>
      </p:sp>
      <p:sp>
        <p:nvSpPr>
          <p:cNvPr id="8" name="Rectangle 7"/>
          <p:cNvSpPr/>
          <p:nvPr/>
        </p:nvSpPr>
        <p:spPr>
          <a:xfrm>
            <a:off x="6227064" y="1143000"/>
            <a:ext cx="5404104" cy="52578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27064" y="1143000"/>
            <a:ext cx="5404104" cy="41148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ctr">
              <a:defRPr sz="1100" b="1">
                <a:solidFill>
                  <a:srgbClr val="FFFFFF"/>
                </a:solidFill>
                <a:latin typeface="Microsoft YaHei"/>
              </a:defRPr>
            </a:pPr>
            <a:r>
              <a:t>二、 UB 协议孵化与 No-Go 资产回收保护网</a:t>
            </a:r>
          </a:p>
        </p:txBody>
      </p:sp>
      <p:sp>
        <p:nvSpPr>
          <p:cNvPr id="10" name="TextBox 9"/>
          <p:cNvSpPr txBox="1"/>
          <p:nvPr/>
        </p:nvSpPr>
        <p:spPr>
          <a:xfrm>
            <a:off x="6364224" y="1645920"/>
            <a:ext cx="5129784" cy="4709160"/>
          </a:xfrm>
          <a:prstGeom prst="rect">
            <a:avLst/>
          </a:prstGeom>
          <a:noFill/>
        </p:spPr>
        <p:txBody>
          <a:bodyPr wrap="square" lIns="0" tIns="0">
            <a:spAutoFit/>
          </a:bodyPr>
          <a:lstStyle/>
          <a:p>
            <a:pPr>
              <a:defRPr sz="950" b="1">
                <a:solidFill>
                  <a:srgbClr val="4338CA"/>
                </a:solidFill>
                <a:latin typeface="Microsoft YaHei"/>
              </a:defRPr>
            </a:pPr>
            <a:r>
              <a:t>• 1. UB 通信协议标准化与生态催熟收益</a:t>
            </a:r>
          </a:p>
          <a:p>
            <a:pPr>
              <a:defRPr sz="850">
                <a:solidFill>
                  <a:srgbClr val="475569"/>
                </a:solidFill>
                <a:latin typeface="Microsoft YaHei"/>
              </a:defRPr>
            </a:pPr>
            <a:r>
              <a:t>  - 导出标准化 URMA 传输与 UBMEM 统一内存 API，形成基础设施标杆。</a:t>
            </a:r>
          </a:p>
          <a:p>
            <a:pPr>
              <a:defRPr sz="850">
                <a:solidFill>
                  <a:srgbClr val="475569"/>
                </a:solidFill>
                <a:latin typeface="Microsoft YaHei"/>
              </a:defRPr>
            </a:pPr>
            <a:r>
              <a:t>  - 以后台存储池真实瓶颈反向倒逼国产 NPU 芯片优化 C2C 锁与 SG 描述符。</a:t>
            </a:r>
          </a:p>
          <a:p>
            <a:pPr>
              <a:defRPr sz="850">
                <a:solidFill>
                  <a:srgbClr val="475569"/>
                </a:solidFill>
                <a:latin typeface="Microsoft YaHei"/>
              </a:defRPr>
            </a:pPr>
            <a:r>
              <a:t>  - 向上使能 vLLM-Ascend、MindIE 及 Agent 状态持久化机制。</a:t>
            </a:r>
          </a:p>
          <a:p>
            <a:pPr>
              <a:spcBef>
                <a:spcPts val="1000"/>
              </a:spcBef>
              <a:defRPr sz="950" b="1">
                <a:solidFill>
                  <a:srgbClr val="4338CA"/>
                </a:solidFill>
                <a:latin typeface="Microsoft YaHei"/>
              </a:defRPr>
            </a:pPr>
            <a:r>
              <a:t>• 2. 风险治理与 No-Go 资产回收保护网 (Safety Net)</a:t>
            </a:r>
          </a:p>
          <a:p>
            <a:pPr>
              <a:defRPr sz="850">
                <a:solidFill>
                  <a:srgbClr val="475569"/>
                </a:solidFill>
                <a:latin typeface="Microsoft YaHei"/>
              </a:defRPr>
            </a:pPr>
            <a:r>
              <a:t>  - 硬件驱动迭代延迟风险 ➔ 提供标准 RDMA/TCP 替代 Provider 兜底降级。</a:t>
            </a:r>
          </a:p>
          <a:p>
            <a:pPr>
              <a:defRPr sz="850">
                <a:solidFill>
                  <a:srgbClr val="475569"/>
                </a:solidFill>
                <a:latin typeface="Microsoft YaHei"/>
              </a:defRPr>
            </a:pPr>
            <a:r>
              <a:t>  - 跨节点 View 性能抖动 ➔ 动态收缩 View 范围，自动切为 Copy-to-HBM。</a:t>
            </a:r>
          </a:p>
          <a:p>
            <a:pPr>
              <a:defRPr sz="850">
                <a:solidFill>
                  <a:srgbClr val="475569"/>
                </a:solidFill>
                <a:latin typeface="Microsoft YaHei"/>
              </a:defRPr>
            </a:pPr>
            <a:r>
              <a:t>  - 即使触发 No-Go 终止，所有代码、Provider 规范、Benchmark Suite 与 Trace 样本库均全量沉淀为平台基础设施资产。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