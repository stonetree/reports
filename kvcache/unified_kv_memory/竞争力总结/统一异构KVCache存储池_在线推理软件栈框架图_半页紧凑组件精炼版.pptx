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2eb584cc654a4d" /><Relationship Type="http://schemas.openxmlformats.org/officeDocument/2006/relationships/extended-properties" Target="/docProps/app.xml" Id="R47a6eda4c49547e3" /><Relationship Type="http://schemas.openxmlformats.org/officeDocument/2006/relationships/officeDocument" Target="/ppt/presentation.xml" Id="R7678ffe4fdcb48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a33cbbccb64a76"/>
  </p:sldMasterIdLst>
  <p:notesMasterIdLst>
    <p:notesMasterId xmlns:r="http://schemas.openxmlformats.org/officeDocument/2006/relationships" r:id="R844820e6dccc4938"/>
  </p:notesMasterIdLst>
  <p:sldIdLst>
    <p:sldId xmlns:r="http://schemas.openxmlformats.org/officeDocument/2006/relationships" id="256" r:id="Rd892d896975d46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ff0ab463464eb1" /><Relationship Type="http://schemas.openxmlformats.org/officeDocument/2006/relationships/slideMaster" Target="/ppt/slideMasters/slideMaster1.xml" Id="R0ea33cbbccb64a76" /><Relationship Type="http://schemas.openxmlformats.org/officeDocument/2006/relationships/notesMaster" Target="/ppt/notesMasters/notesMaster1.xml" Id="R844820e6dccc4938" /><Relationship Type="http://schemas.openxmlformats.org/officeDocument/2006/relationships/presProps" Target="/ppt/presProps.xml" Id="Rf1815709ef7042c5" /><Relationship Type="http://schemas.openxmlformats.org/officeDocument/2006/relationships/tableStyles" Target="/ppt/tableStyles.xml" Id="Rc59ef4ccb1274bb1" /><Relationship Type="http://schemas.openxmlformats.org/officeDocument/2006/relationships/slide" Target="/ppt/slides/slide1.xml" Id="Rd892d896975d46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849a0376d548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78220d2c7847b4" /><Relationship Type="http://schemas.openxmlformats.org/officeDocument/2006/relationships/notesMaster" Target="/ppt/notesMasters/notesMaster1.xml" Id="R047c9ef35f2f42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D:\codes\reports\kvcache\unified_kv_memory\统一异构KVCache存储池_关键技术与竞争力_讨论稿.md</a:t>
            </a:r>
          </a:p>
          <a:p xmlns:a="http://schemas.openxmlformats.org/drawingml/2006/main">
            <a:r>
              <a:t>D:\codes\reports\kvcache\unified_kv_memory\统一异构KVCache存储池总体架构与SRS评审导读_V2.2评审稿.md</a:t>
            </a:r>
          </a:p>
          <a:p xmlns:a="http://schemas.openxmlformats.org/drawingml/2006/main">
            <a:r>
              <a:t>D:\codes\reports\kvcache\unified_kv_memory\KVCache SRS需求列表 V2.2_传输底座视角_建议修订版.xlsx</a:t>
            </a:r>
          </a:p>
          <a:p xmlns:a="http://schemas.openxmlformats.org/drawingml/2006/main">
            <a:r>
              <a:t>User-confirmed architecture and visual direction from the current Codex task.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969d63fdf449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798a42fe964c61" /><Relationship Type="http://schemas.openxmlformats.org/officeDocument/2006/relationships/slideLayout" Target="/ppt/slideLayouts/slideLayout1.xml" Id="R0825a83aff7a4c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25a83aff7a4c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0d6c077804bfd" /><Relationship Type="http://schemas.openxmlformats.org/officeDocument/2006/relationships/notesSlide" Target="/ppt/notesSlides/notesSlide1.xml" Id="R62db118f5c6041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left-right-divider">
            <a:extLst xmlns:a="http://schemas.openxmlformats.org/drawingml/2006/main">
              <a:ext uri="{FF2B5EF4-FFF2-40B4-BE49-F238E27FC236}">
                <a16:creationId xmlns:a16="http://schemas.microsoft.com/office/drawing/2014/main" id="{F031A5C3-4E2F-469C-87F0-83799A3D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990600"/>
            <a:ext cx="0" cy="55340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6D01590-CAD5-42C1-B170-48A57747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19682E-9447-4DF4-BCEE-BEF30510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统一异构 KVCache 存储池贯通在线推理业务与异构硬件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3465866-F947-406D-8613-69E91D08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3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全栈坐标｜项目四层原位放大｜在线推理中间件生态参照</a:t>
            </a:r>
          </a:p>
        </p:txBody>
      </p:sp>
      <p:sp>
        <p:nvSpPr>
          <p:cNvPr id="5" name="business-layer">
            <a:extLst xmlns:a="http://schemas.openxmlformats.org/drawingml/2006/main">
              <a:ext uri="{FF2B5EF4-FFF2-40B4-BE49-F238E27FC236}">
                <a16:creationId xmlns:a16="http://schemas.microsoft.com/office/drawing/2014/main" id="{CA64112B-DEF3-4CD8-A742-2A91E9EE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7000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6" name="business-layer-label">
            <a:extLst xmlns:a="http://schemas.openxmlformats.org/drawingml/2006/main">
              <a:ext uri="{FF2B5EF4-FFF2-40B4-BE49-F238E27FC236}">
                <a16:creationId xmlns:a16="http://schemas.microsoft.com/office/drawing/2014/main" id="{1F6F791E-F817-4964-BD1F-E06DE4A1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7" name="business-layer-module-1">
            <a:extLst xmlns:a="http://schemas.openxmlformats.org/drawingml/2006/main">
              <a:ext uri="{FF2B5EF4-FFF2-40B4-BE49-F238E27FC236}">
                <a16:creationId xmlns:a16="http://schemas.microsoft.com/office/drawing/2014/main" id="{D8878649-7274-49F3-AA3B-CAC85F7E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066800"/>
            <a:ext cx="13644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RAG 公共前缀</a:t>
            </a:r>
          </a:p>
        </p:txBody>
      </p:sp>
      <p:sp>
        <p:nvSpPr>
          <p:cNvPr id="8" name="business-layer-module-2">
            <a:extLst xmlns:a="http://schemas.openxmlformats.org/drawingml/2006/main">
              <a:ext uri="{FF2B5EF4-FFF2-40B4-BE49-F238E27FC236}">
                <a16:creationId xmlns:a16="http://schemas.microsoft.com/office/drawing/2014/main" id="{7322DB09-910E-4897-A988-A12CAEBA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581" y="1066800"/>
            <a:ext cx="13644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多轮智能体</a:t>
            </a:r>
          </a:p>
        </p:txBody>
      </p:sp>
      <p:sp>
        <p:nvSpPr>
          <p:cNvPr id="9" name="business-layer-module-3">
            <a:extLst xmlns:a="http://schemas.openxmlformats.org/drawingml/2006/main">
              <a:ext uri="{FF2B5EF4-FFF2-40B4-BE49-F238E27FC236}">
                <a16:creationId xmlns:a16="http://schemas.microsoft.com/office/drawing/2014/main" id="{226D1680-F23B-4C95-9C98-E125B835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763" y="1066800"/>
            <a:ext cx="13644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长上下文推理</a:t>
            </a:r>
          </a:p>
        </p:txBody>
      </p:sp>
      <p:sp>
        <p:nvSpPr>
          <p:cNvPr id="10" name="business-layer-module-4">
            <a:extLst xmlns:a="http://schemas.openxmlformats.org/drawingml/2006/main">
              <a:ext uri="{FF2B5EF4-FFF2-40B4-BE49-F238E27FC236}">
                <a16:creationId xmlns:a16="http://schemas.microsoft.com/office/drawing/2014/main" id="{E27FC5C3-7E0A-4C60-AA63-3F88E921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944" y="1066800"/>
            <a:ext cx="13644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P/D 分离</a:t>
            </a:r>
          </a:p>
        </p:txBody>
      </p:sp>
      <p:sp>
        <p:nvSpPr>
          <p:cNvPr id="11" name="framework-layer">
            <a:extLst xmlns:a="http://schemas.openxmlformats.org/drawingml/2006/main">
              <a:ext uri="{FF2B5EF4-FFF2-40B4-BE49-F238E27FC236}">
                <a16:creationId xmlns:a16="http://schemas.microsoft.com/office/drawing/2014/main" id="{24D7C75C-219B-4696-9B8B-4DF1047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7000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12" name="framework-layer-label">
            <a:extLst xmlns:a="http://schemas.openxmlformats.org/drawingml/2006/main">
              <a:ext uri="{FF2B5EF4-FFF2-40B4-BE49-F238E27FC236}">
                <a16:creationId xmlns:a16="http://schemas.microsoft.com/office/drawing/2014/main" id="{58C872D0-35EE-4169-9B1B-848945B9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279"/>
          </a:solidFill>
          <a:ln xmlns:a="http://schemas.openxmlformats.org/drawingml/2006/main" w="0">
            <a:solidFill>
              <a:srgbClr val="1D5279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推理框架层</a:t>
            </a:r>
          </a:p>
        </p:txBody>
      </p:sp>
      <p:sp>
        <p:nvSpPr>
          <p:cNvPr id="13" name="framework-layer-module-1">
            <a:extLst xmlns:a="http://schemas.openxmlformats.org/drawingml/2006/main">
              <a:ext uri="{FF2B5EF4-FFF2-40B4-BE49-F238E27FC236}">
                <a16:creationId xmlns:a16="http://schemas.microsoft.com/office/drawing/2014/main" id="{02D32C15-EDCA-4648-A880-814952E5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590675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vLLM</a:t>
            </a:r>
          </a:p>
        </p:txBody>
      </p:sp>
      <p:sp>
        <p:nvSpPr>
          <p:cNvPr id="14" name="framework-layer-module-2">
            <a:extLst xmlns:a="http://schemas.openxmlformats.org/drawingml/2006/main">
              <a:ext uri="{FF2B5EF4-FFF2-40B4-BE49-F238E27FC236}">
                <a16:creationId xmlns:a16="http://schemas.microsoft.com/office/drawing/2014/main" id="{4667B033-1479-48B0-B284-C25D4D83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590675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SGLang</a:t>
            </a:r>
          </a:p>
        </p:txBody>
      </p:sp>
      <p:sp>
        <p:nvSpPr>
          <p:cNvPr id="15" name="framework-layer-module-3">
            <a:extLst xmlns:a="http://schemas.openxmlformats.org/drawingml/2006/main">
              <a:ext uri="{FF2B5EF4-FFF2-40B4-BE49-F238E27FC236}">
                <a16:creationId xmlns:a16="http://schemas.microsoft.com/office/drawing/2014/main" id="{27E3A1A7-B713-4AD5-9533-6268EEB8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590675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其他推理框架</a:t>
            </a:r>
          </a:p>
        </p:txBody>
      </p:sp>
      <p:sp>
        <p:nvSpPr>
          <p:cNvPr id="16" name="project-core-frame">
            <a:extLst xmlns:a="http://schemas.openxmlformats.org/drawingml/2006/main">
              <a:ext uri="{FF2B5EF4-FFF2-40B4-BE49-F238E27FC236}">
                <a16:creationId xmlns:a16="http://schemas.microsoft.com/office/drawing/2014/main" id="{FC2024A1-43EE-40AC-8011-76B7A7E4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50958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ED"/>
            </a:solidFill>
            <a:prstDash val="solid"/>
          </a:ln>
        </p:spPr>
      </p:sp>
      <p:sp>
        <p:nvSpPr>
          <p:cNvPr id="17" name="project-core-header">
            <a:extLst xmlns:a="http://schemas.openxmlformats.org/drawingml/2006/main">
              <a:ext uri="{FF2B5EF4-FFF2-40B4-BE49-F238E27FC236}">
                <a16:creationId xmlns:a16="http://schemas.microsoft.com/office/drawing/2014/main" id="{01351490-B2EC-45C4-9A6E-3DD2B6B0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5095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  <p:txBody>
          <a:bodyPr xmlns:a="http://schemas.openxmlformats.org/drawingml/2006/main" wrap="square" lIns="114300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统一异构 KVCache 存储池｜软硬协同核心覆盖</a:t>
            </a:r>
          </a:p>
        </p:txBody>
      </p:sp>
      <p:sp>
        <p:nvSpPr>
          <p:cNvPr id="18" name="project-layer-1">
            <a:extLst xmlns:a="http://schemas.openxmlformats.org/drawingml/2006/main">
              <a:ext uri="{FF2B5EF4-FFF2-40B4-BE49-F238E27FC236}">
                <a16:creationId xmlns:a16="http://schemas.microsoft.com/office/drawing/2014/main" id="{0524BFCD-8535-47A2-BE55-8B541729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90775"/>
            <a:ext cx="49625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10478">
            <a:solidFill>
              <a:srgbClr val="E9C77E"/>
            </a:solidFill>
            <a:prstDash val="solid"/>
          </a:ln>
        </p:spPr>
      </p:sp>
      <p:sp>
        <p:nvSpPr>
          <p:cNvPr id="19" name="project-layer-1-accent">
            <a:extLst xmlns:a="http://schemas.openxmlformats.org/drawingml/2006/main">
              <a:ext uri="{FF2B5EF4-FFF2-40B4-BE49-F238E27FC236}">
                <a16:creationId xmlns:a16="http://schemas.microsoft.com/office/drawing/2014/main" id="{BC81DC65-49FF-493C-8255-1C92D259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90775"/>
            <a:ext cx="666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50A"/>
          </a:solidFill>
          <a:ln xmlns:a="http://schemas.openxmlformats.org/drawingml/2006/main" w="0">
            <a:solidFill>
              <a:srgbClr val="A6650A"/>
            </a:solidFill>
            <a:prstDash val="solid"/>
          </a:ln>
        </p:spPr>
      </p:sp>
      <p:sp>
        <p:nvSpPr>
          <p:cNvPr id="20" name="project-layer-1-label">
            <a:extLst xmlns:a="http://schemas.openxmlformats.org/drawingml/2006/main">
              <a:ext uri="{FF2B5EF4-FFF2-40B4-BE49-F238E27FC236}">
                <a16:creationId xmlns:a16="http://schemas.microsoft.com/office/drawing/2014/main" id="{1EB5182A-BD97-434C-9DC8-7E1F3991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13620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L1 推理调度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与收益决策</a:t>
            </a:r>
          </a:p>
        </p:txBody>
      </p:sp>
      <p:sp>
        <p:nvSpPr>
          <p:cNvPr id="21" name="project-layer-1-component-1">
            <a:extLst xmlns:a="http://schemas.openxmlformats.org/drawingml/2006/main">
              <a:ext uri="{FF2B5EF4-FFF2-40B4-BE49-F238E27FC236}">
                <a16:creationId xmlns:a16="http://schemas.microsoft.com/office/drawing/2014/main" id="{D0A31AFC-5A6A-474D-95AB-4DE8B50D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50507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77E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rPr>
              <a:t>KV载入决策</a:t>
            </a:r>
          </a:p>
        </p:txBody>
      </p:sp>
      <p:sp>
        <p:nvSpPr>
          <p:cNvPr id="22" name="project-layer-1-component-2">
            <a:extLst xmlns:a="http://schemas.openxmlformats.org/drawingml/2006/main">
              <a:ext uri="{FF2B5EF4-FFF2-40B4-BE49-F238E27FC236}">
                <a16:creationId xmlns:a16="http://schemas.microsoft.com/office/drawing/2014/main" id="{D492BF9A-952C-4597-A72A-1626AD63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50507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77E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副本选路准入</a:t>
            </a:r>
          </a:p>
        </p:txBody>
      </p:sp>
      <p:sp>
        <p:nvSpPr>
          <p:cNvPr id="23" name="project-layer-1-component-3">
            <a:extLst xmlns:a="http://schemas.openxmlformats.org/drawingml/2006/main">
              <a:ext uri="{FF2B5EF4-FFF2-40B4-BE49-F238E27FC236}">
                <a16:creationId xmlns:a16="http://schemas.microsoft.com/office/drawing/2014/main" id="{8500F3EB-ACED-444A-867F-93DFA1B2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50507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77E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框架适配</a:t>
            </a:r>
          </a:p>
        </p:txBody>
      </p:sp>
      <p:sp>
        <p:nvSpPr>
          <p:cNvPr id="24" name="project-layer-2">
            <a:extLst xmlns:a="http://schemas.openxmlformats.org/drawingml/2006/main">
              <a:ext uri="{FF2B5EF4-FFF2-40B4-BE49-F238E27FC236}">
                <a16:creationId xmlns:a16="http://schemas.microsoft.com/office/drawing/2014/main" id="{7D419F8E-86D1-431C-A753-5F235B75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14675"/>
            <a:ext cx="49625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10478">
            <a:solidFill>
              <a:srgbClr val="8FD4CD"/>
            </a:solidFill>
            <a:prstDash val="solid"/>
          </a:ln>
        </p:spPr>
      </p:sp>
      <p:sp>
        <p:nvSpPr>
          <p:cNvPr id="25" name="project-layer-2-accent">
            <a:extLst xmlns:a="http://schemas.openxmlformats.org/drawingml/2006/main">
              <a:ext uri="{FF2B5EF4-FFF2-40B4-BE49-F238E27FC236}">
                <a16:creationId xmlns:a16="http://schemas.microsoft.com/office/drawing/2014/main" id="{1DB4626D-C40A-4F01-A3EE-5464E1FA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14675"/>
            <a:ext cx="666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C83"/>
          </a:solidFill>
          <a:ln xmlns:a="http://schemas.openxmlformats.org/drawingml/2006/main" w="0">
            <a:solidFill>
              <a:srgbClr val="0F8C83"/>
            </a:solidFill>
            <a:prstDash val="solid"/>
          </a:ln>
        </p:spPr>
      </p:sp>
      <p:sp>
        <p:nvSpPr>
          <p:cNvPr id="26" name="project-layer-2-label">
            <a:extLst xmlns:a="http://schemas.openxmlformats.org/drawingml/2006/main">
              <a:ext uri="{FF2B5EF4-FFF2-40B4-BE49-F238E27FC236}">
                <a16:creationId xmlns:a16="http://schemas.microsoft.com/office/drawing/2014/main" id="{5992366B-BAD1-4EB0-B43B-1B55CB24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3620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L2 KV连接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与跨框架匹配</a:t>
            </a:r>
          </a:p>
        </p:txBody>
      </p:sp>
      <p:sp>
        <p:nvSpPr>
          <p:cNvPr id="27" name="project-layer-2-component-1">
            <a:extLst xmlns:a="http://schemas.openxmlformats.org/drawingml/2006/main">
              <a:ext uri="{FF2B5EF4-FFF2-40B4-BE49-F238E27FC236}">
                <a16:creationId xmlns:a16="http://schemas.microsoft.com/office/drawing/2014/main" id="{50A50E10-7C63-4216-AB34-3CEE22C4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22897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D4C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UBMEM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20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全局匹配</a:t>
            </a:r>
          </a:p>
        </p:txBody>
      </p:sp>
      <p:sp>
        <p:nvSpPr>
          <p:cNvPr id="28" name="project-layer-2-component-2">
            <a:extLst xmlns:a="http://schemas.openxmlformats.org/drawingml/2006/main">
              <a:ext uri="{FF2B5EF4-FFF2-40B4-BE49-F238E27FC236}">
                <a16:creationId xmlns:a16="http://schemas.microsoft.com/office/drawing/2014/main" id="{5D199604-B4D4-4B94-86E3-95E01EDD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22897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D4C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UBMEM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共享块表</a:t>
            </a:r>
          </a:p>
        </p:txBody>
      </p:sp>
      <p:sp>
        <p:nvSpPr>
          <p:cNvPr id="29" name="project-layer-2-component-3">
            <a:extLst xmlns:a="http://schemas.openxmlformats.org/drawingml/2006/main">
              <a:ext uri="{FF2B5EF4-FFF2-40B4-BE49-F238E27FC236}">
                <a16:creationId xmlns:a16="http://schemas.microsoft.com/office/drawing/2014/main" id="{FDA32E45-0EBE-4C9D-AFA8-123D1CFF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22897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D4C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缓存复用准入</a:t>
            </a:r>
          </a:p>
        </p:txBody>
      </p:sp>
      <p:sp>
        <p:nvSpPr>
          <p:cNvPr id="30" name="project-layer-3">
            <a:extLst xmlns:a="http://schemas.openxmlformats.org/drawingml/2006/main">
              <a:ext uri="{FF2B5EF4-FFF2-40B4-BE49-F238E27FC236}">
                <a16:creationId xmlns:a16="http://schemas.microsoft.com/office/drawing/2014/main" id="{E6015CC6-1072-405D-9CEB-E8837DA8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38575"/>
            <a:ext cx="49625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F"/>
          </a:solidFill>
          <a:ln xmlns:a="http://schemas.openxmlformats.org/drawingml/2006/main" w="10478">
            <a:solidFill>
              <a:srgbClr val="C2B3F2"/>
            </a:solidFill>
            <a:prstDash val="solid"/>
          </a:ln>
        </p:spPr>
      </p:sp>
      <p:sp>
        <p:nvSpPr>
          <p:cNvPr id="31" name="project-layer-3-accent">
            <a:extLst xmlns:a="http://schemas.openxmlformats.org/drawingml/2006/main">
              <a:ext uri="{FF2B5EF4-FFF2-40B4-BE49-F238E27FC236}">
                <a16:creationId xmlns:a16="http://schemas.microsoft.com/office/drawing/2014/main" id="{E4682249-24CE-4BF8-87ED-AC569159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38575"/>
            <a:ext cx="666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6C8"/>
          </a:solidFill>
          <a:ln xmlns:a="http://schemas.openxmlformats.org/drawingml/2006/main" w="0">
            <a:solidFill>
              <a:srgbClr val="7656C8"/>
            </a:solidFill>
            <a:prstDash val="solid"/>
          </a:ln>
        </p:spPr>
      </p:sp>
      <p:sp>
        <p:nvSpPr>
          <p:cNvPr id="32" name="project-layer-3-label">
            <a:extLst xmlns:a="http://schemas.openxmlformats.org/drawingml/2006/main">
              <a:ext uri="{FF2B5EF4-FFF2-40B4-BE49-F238E27FC236}">
                <a16:creationId xmlns:a16="http://schemas.microsoft.com/office/drawing/2014/main" id="{5E42BE83-49D1-448E-ADE8-620E468B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13620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L3 统一KV对象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与图式分层管理</a:t>
            </a:r>
          </a:p>
        </p:txBody>
      </p:sp>
      <p:sp>
        <p:nvSpPr>
          <p:cNvPr id="33" name="project-layer-3-component-1">
            <a:extLst xmlns:a="http://schemas.openxmlformats.org/drawingml/2006/main">
              <a:ext uri="{FF2B5EF4-FFF2-40B4-BE49-F238E27FC236}">
                <a16:creationId xmlns:a16="http://schemas.microsoft.com/office/drawing/2014/main" id="{27D6072F-C924-4A57-8B81-0B2C6074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95287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B3F2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rPr>
              <a:t>KV对象建模</a:t>
            </a:r>
          </a:p>
        </p:txBody>
      </p:sp>
      <p:sp>
        <p:nvSpPr>
          <p:cNvPr id="34" name="project-layer-3-component-2">
            <a:extLst xmlns:a="http://schemas.openxmlformats.org/drawingml/2006/main">
              <a:ext uri="{FF2B5EF4-FFF2-40B4-BE49-F238E27FC236}">
                <a16:creationId xmlns:a16="http://schemas.microsoft.com/office/drawing/2014/main" id="{E444C5B5-9436-4FF2-A3CB-9FF0EAA5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95287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B3F2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异构分层放置</a:t>
            </a:r>
          </a:p>
        </p:txBody>
      </p:sp>
      <p:sp>
        <p:nvSpPr>
          <p:cNvPr id="35" name="project-layer-3-component-3">
            <a:extLst xmlns:a="http://schemas.openxmlformats.org/drawingml/2006/main">
              <a:ext uri="{FF2B5EF4-FFF2-40B4-BE49-F238E27FC236}">
                <a16:creationId xmlns:a16="http://schemas.microsoft.com/office/drawing/2014/main" id="{8EABC325-8EDF-48EA-A386-1BE26AF5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95287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B3F2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生命周期治理</a:t>
            </a:r>
          </a:p>
        </p:txBody>
      </p:sp>
      <p:sp>
        <p:nvSpPr>
          <p:cNvPr id="36" name="project-layer-4">
            <a:extLst xmlns:a="http://schemas.openxmlformats.org/drawingml/2006/main">
              <a:ext uri="{FF2B5EF4-FFF2-40B4-BE49-F238E27FC236}">
                <a16:creationId xmlns:a16="http://schemas.microsoft.com/office/drawing/2014/main" id="{3F739342-65A0-4314-BDA8-C06AA815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62475"/>
            <a:ext cx="49625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0478">
            <a:solidFill>
              <a:srgbClr val="9EBEFF"/>
            </a:solidFill>
            <a:prstDash val="solid"/>
          </a:ln>
        </p:spPr>
      </p:sp>
      <p:sp>
        <p:nvSpPr>
          <p:cNvPr id="37" name="project-layer-4-accent">
            <a:extLst xmlns:a="http://schemas.openxmlformats.org/drawingml/2006/main">
              <a:ext uri="{FF2B5EF4-FFF2-40B4-BE49-F238E27FC236}">
                <a16:creationId xmlns:a16="http://schemas.microsoft.com/office/drawing/2014/main" id="{32E28D16-F0D7-4F98-A736-0C97AACF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62475"/>
            <a:ext cx="666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8" name="project-layer-4-label">
            <a:extLst xmlns:a="http://schemas.openxmlformats.org/drawingml/2006/main">
              <a:ext uri="{FF2B5EF4-FFF2-40B4-BE49-F238E27FC236}">
                <a16:creationId xmlns:a16="http://schemas.microsoft.com/office/drawing/2014/main" id="{504B0E5A-0703-4658-A514-92C6FE75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13620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L4 高性能数据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与共享内存底座</a:t>
            </a:r>
          </a:p>
        </p:txBody>
      </p:sp>
      <p:sp>
        <p:nvSpPr>
          <p:cNvPr id="39" name="project-layer-4-component-1">
            <a:extLst xmlns:a="http://schemas.openxmlformats.org/drawingml/2006/main">
              <a:ext uri="{FF2B5EF4-FFF2-40B4-BE49-F238E27FC236}">
                <a16:creationId xmlns:a16="http://schemas.microsoft.com/office/drawing/2014/main" id="{045AF091-1D48-4F14-82C7-56211FC8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67677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EFF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URMA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2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大块传输</a:t>
            </a:r>
          </a:p>
        </p:txBody>
      </p:sp>
      <p:sp>
        <p:nvSpPr>
          <p:cNvPr id="40" name="project-layer-4-component-2">
            <a:extLst xmlns:a="http://schemas.openxmlformats.org/drawingml/2006/main">
              <a:ext uri="{FF2B5EF4-FFF2-40B4-BE49-F238E27FC236}">
                <a16:creationId xmlns:a16="http://schemas.microsoft.com/office/drawing/2014/main" id="{2E3A9148-42D1-447C-940E-45B3C65E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67677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EFF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UBMEM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元数据快路径</a:t>
            </a:r>
          </a:p>
        </p:txBody>
      </p:sp>
      <p:sp>
        <p:nvSpPr>
          <p:cNvPr id="41" name="project-layer-4-component-3">
            <a:extLst xmlns:a="http://schemas.openxmlformats.org/drawingml/2006/main">
              <a:ext uri="{FF2B5EF4-FFF2-40B4-BE49-F238E27FC236}">
                <a16:creationId xmlns:a16="http://schemas.microsoft.com/office/drawing/2014/main" id="{689A1CC4-88D2-40A3-9246-5073C7E8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67677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EFF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异步传输编排</a:t>
            </a:r>
          </a:p>
        </p:txBody>
      </p:sp>
      <p:sp>
        <p:nvSpPr>
          <p:cNvPr id="42" name="ecosystem-sidebar-frame">
            <a:extLst xmlns:a="http://schemas.openxmlformats.org/drawingml/2006/main">
              <a:ext uri="{FF2B5EF4-FFF2-40B4-BE49-F238E27FC236}">
                <a16:creationId xmlns:a16="http://schemas.microsoft.com/office/drawing/2014/main" id="{ABB75BBA-A133-4931-8F3B-7F10D7D3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47875"/>
            <a:ext cx="18192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0478">
            <a:solidFill>
              <a:srgbClr val="CDD3DB"/>
            </a:solidFill>
            <a:prstDash val="solid"/>
          </a:ln>
        </p:spPr>
      </p:sp>
      <p:sp>
        <p:nvSpPr>
          <p:cNvPr id="43" name="ecosystem-sidebar-header">
            <a:extLst xmlns:a="http://schemas.openxmlformats.org/drawingml/2006/main">
              <a:ext uri="{FF2B5EF4-FFF2-40B4-BE49-F238E27FC236}">
                <a16:creationId xmlns:a16="http://schemas.microsoft.com/office/drawing/2014/main" id="{7AB9312E-91F8-4A8E-B9B3-25D16D2F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47875"/>
            <a:ext cx="18192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4B5563"/>
            </a:solidFill>
            <a:prstDash val="solid"/>
          </a:ln>
        </p:spPr>
        <p:txBody>
          <a:bodyPr xmlns:a="http://schemas.openxmlformats.org/drawingml/2006/main" wrap="square" lIns="857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在线推理相关中间件</a:t>
            </a:r>
          </a:p>
        </p:txBody>
      </p:sp>
      <p:sp>
        <p:nvSpPr>
          <p:cNvPr id="44" name="ecosystem-zone-runtime">
            <a:extLst xmlns:a="http://schemas.openxmlformats.org/drawingml/2006/main">
              <a:ext uri="{FF2B5EF4-FFF2-40B4-BE49-F238E27FC236}">
                <a16:creationId xmlns:a16="http://schemas.microsoft.com/office/drawing/2014/main" id="{440A3615-0ABA-4934-A74A-386C50CA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390775"/>
            <a:ext cx="16859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ecosystem-zone-runtime-title">
            <a:extLst xmlns:a="http://schemas.openxmlformats.org/drawingml/2006/main">
              <a:ext uri="{FF2B5EF4-FFF2-40B4-BE49-F238E27FC236}">
                <a16:creationId xmlns:a16="http://schemas.microsoft.com/office/drawing/2014/main" id="{DF88795E-462C-4C76-8BFB-6ECC8762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38400"/>
            <a:ext cx="1552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20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框架运行 / 模型执行</a:t>
            </a:r>
          </a:p>
        </p:txBody>
      </p:sp>
      <p:sp>
        <p:nvSpPr>
          <p:cNvPr id="46" name="ecosystem-zone-runtime-items">
            <a:extLst xmlns:a="http://schemas.openxmlformats.org/drawingml/2006/main">
              <a:ext uri="{FF2B5EF4-FFF2-40B4-BE49-F238E27FC236}">
                <a16:creationId xmlns:a16="http://schemas.microsoft.com/office/drawing/2014/main" id="{133491B2-F457-417C-987D-D4D368CB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57475"/>
            <a:ext cx="15525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Ray / MP</a:t>
            </a:r>
          </a:p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PyTorch / 图编译</a:t>
            </a:r>
          </a:p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权重 / Adapter</a:t>
            </a:r>
          </a:p>
        </p:txBody>
      </p:sp>
      <p:sp>
        <p:nvSpPr>
          <p:cNvPr id="47" name="ecosystem-zone-compute">
            <a:extLst xmlns:a="http://schemas.openxmlformats.org/drawingml/2006/main">
              <a:ext uri="{FF2B5EF4-FFF2-40B4-BE49-F238E27FC236}">
                <a16:creationId xmlns:a16="http://schemas.microsoft.com/office/drawing/2014/main" id="{59B64C04-0FD2-40EA-BB87-260BAE39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324225"/>
            <a:ext cx="16859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ecosystem-zone-compute-title">
            <a:extLst xmlns:a="http://schemas.openxmlformats.org/drawingml/2006/main">
              <a:ext uri="{FF2B5EF4-FFF2-40B4-BE49-F238E27FC236}">
                <a16:creationId xmlns:a16="http://schemas.microsoft.com/office/drawing/2014/main" id="{CD696C0A-02EF-42C7-8E36-CD67B660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71850"/>
            <a:ext cx="1552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20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计算加速 / 并行通信</a:t>
            </a:r>
          </a:p>
        </p:txBody>
      </p:sp>
      <p:sp>
        <p:nvSpPr>
          <p:cNvPr id="49" name="ecosystem-zone-compute-items">
            <a:extLst xmlns:a="http://schemas.openxmlformats.org/drawingml/2006/main">
              <a:ext uri="{FF2B5EF4-FFF2-40B4-BE49-F238E27FC236}">
                <a16:creationId xmlns:a16="http://schemas.microsoft.com/office/drawing/2014/main" id="{B8E575A0-D42A-4C3F-A1AD-57DA494F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90925"/>
            <a:ext cx="15525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5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FlashAttention / Triton</a:t>
            </a:r>
          </a:p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HCCL / NCCL</a:t>
            </a:r>
          </a:p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通用缓存 / 对象访问</a:t>
            </a:r>
          </a:p>
        </p:txBody>
      </p:sp>
      <p:sp>
        <p:nvSpPr>
          <p:cNvPr id="50" name="ecosystem-zone-transport">
            <a:extLst xmlns:a="http://schemas.openxmlformats.org/drawingml/2006/main">
              <a:ext uri="{FF2B5EF4-FFF2-40B4-BE49-F238E27FC236}">
                <a16:creationId xmlns:a16="http://schemas.microsoft.com/office/drawing/2014/main" id="{517B4436-C8C3-4BF1-AC02-7D9825B3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257675"/>
            <a:ext cx="16859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ecosystem-zone-transport-title">
            <a:extLst xmlns:a="http://schemas.openxmlformats.org/drawingml/2006/main">
              <a:ext uri="{FF2B5EF4-FFF2-40B4-BE49-F238E27FC236}">
                <a16:creationId xmlns:a16="http://schemas.microsoft.com/office/drawing/2014/main" id="{EF31FBBC-77CB-4E0B-BF5C-7C4EB52B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305300"/>
            <a:ext cx="1552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20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传输 / 存储访问</a:t>
            </a:r>
          </a:p>
        </p:txBody>
      </p:sp>
      <p:sp>
        <p:nvSpPr>
          <p:cNvPr id="52" name="ecosystem-zone-transport-items">
            <a:extLst xmlns:a="http://schemas.openxmlformats.org/drawingml/2006/main">
              <a:ext uri="{FF2B5EF4-FFF2-40B4-BE49-F238E27FC236}">
                <a16:creationId xmlns:a16="http://schemas.microsoft.com/office/drawing/2014/main" id="{D6099394-66F0-409F-AEB2-1EFDD371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24375"/>
            <a:ext cx="1552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NIXL / UCX / libfabric</a:t>
            </a:r>
          </a:p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SPDK / io_uring</a:t>
            </a:r>
          </a:p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gRPC / 消息通信</a:t>
            </a:r>
          </a:p>
        </p:txBody>
      </p:sp>
      <p:sp>
        <p:nvSpPr>
          <p:cNvPr id="53" name="os-driver-layer">
            <a:extLst xmlns:a="http://schemas.openxmlformats.org/drawingml/2006/main">
              <a:ext uri="{FF2B5EF4-FFF2-40B4-BE49-F238E27FC236}">
                <a16:creationId xmlns:a16="http://schemas.microsoft.com/office/drawing/2014/main" id="{46F37FD0-0EAD-4318-841C-CC1F06D7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53050"/>
            <a:ext cx="7000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54" name="os-driver-layer-label">
            <a:extLst xmlns:a="http://schemas.openxmlformats.org/drawingml/2006/main">
              <a:ext uri="{FF2B5EF4-FFF2-40B4-BE49-F238E27FC236}">
                <a16:creationId xmlns:a16="http://schemas.microsoft.com/office/drawing/2014/main" id="{5B2DB045-1F8C-420A-8FB5-5988E685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B7C"/>
          </a:solidFill>
          <a:ln xmlns:a="http://schemas.openxmlformats.org/drawingml/2006/main" w="0">
            <a:solidFill>
              <a:srgbClr val="516B7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OS／驱动层</a:t>
            </a:r>
          </a:p>
        </p:txBody>
      </p:sp>
      <p:sp>
        <p:nvSpPr>
          <p:cNvPr id="55" name="os-driver-layer-module-1">
            <a:extLst xmlns:a="http://schemas.openxmlformats.org/drawingml/2006/main">
              <a:ext uri="{FF2B5EF4-FFF2-40B4-BE49-F238E27FC236}">
                <a16:creationId xmlns:a16="http://schemas.microsoft.com/office/drawing/2014/main" id="{03222785-808A-47F5-A012-D1BD5ADD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13644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NPU Runtime</a:t>
            </a:r>
          </a:p>
        </p:txBody>
      </p:sp>
      <p:sp>
        <p:nvSpPr>
          <p:cNvPr id="56" name="os-driver-layer-module-2">
            <a:extLst xmlns:a="http://schemas.openxmlformats.org/drawingml/2006/main">
              <a:ext uri="{FF2B5EF4-FFF2-40B4-BE49-F238E27FC236}">
                <a16:creationId xmlns:a16="http://schemas.microsoft.com/office/drawing/2014/main" id="{E7D6D90B-55F4-4838-B7DE-24D35F67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581" y="5419725"/>
            <a:ext cx="13644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 / RDMA 驱动</a:t>
            </a:r>
          </a:p>
        </p:txBody>
      </p:sp>
      <p:sp>
        <p:nvSpPr>
          <p:cNvPr id="57" name="os-driver-layer-module-3">
            <a:extLst xmlns:a="http://schemas.openxmlformats.org/drawingml/2006/main">
              <a:ext uri="{FF2B5EF4-FFF2-40B4-BE49-F238E27FC236}">
                <a16:creationId xmlns:a16="http://schemas.microsoft.com/office/drawing/2014/main" id="{04A23BC4-6238-4E00-8C4A-77E410FC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763" y="5419725"/>
            <a:ext cx="13644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内存映射 / 一致性</a:t>
            </a:r>
          </a:p>
        </p:txBody>
      </p:sp>
      <p:sp>
        <p:nvSpPr>
          <p:cNvPr id="58" name="os-driver-layer-module-4">
            <a:extLst xmlns:a="http://schemas.openxmlformats.org/drawingml/2006/main">
              <a:ext uri="{FF2B5EF4-FFF2-40B4-BE49-F238E27FC236}">
                <a16:creationId xmlns:a16="http://schemas.microsoft.com/office/drawing/2014/main" id="{FF268C81-AC76-413C-97B4-2C53F44B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944" y="5419725"/>
            <a:ext cx="13644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存储 I/O / NVMe</a:t>
            </a:r>
          </a:p>
        </p:txBody>
      </p:sp>
      <p:sp>
        <p:nvSpPr>
          <p:cNvPr id="59" name="hardware-layer">
            <a:extLst xmlns:a="http://schemas.openxmlformats.org/drawingml/2006/main">
              <a:ext uri="{FF2B5EF4-FFF2-40B4-BE49-F238E27FC236}">
                <a16:creationId xmlns:a16="http://schemas.microsoft.com/office/drawing/2014/main" id="{97B7DD62-15CD-43DE-8B35-B518A99F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7000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60" name="hardware-layer-label">
            <a:extLst xmlns:a="http://schemas.openxmlformats.org/drawingml/2006/main">
              <a:ext uri="{FF2B5EF4-FFF2-40B4-BE49-F238E27FC236}">
                <a16:creationId xmlns:a16="http://schemas.microsoft.com/office/drawing/2014/main" id="{603DC486-748D-4844-B4D6-C6CA643F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4075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A5B"/>
          </a:solidFill>
          <a:ln xmlns:a="http://schemas.openxmlformats.org/drawingml/2006/main" w="0">
            <a:solidFill>
              <a:srgbClr val="354A5B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异构硬件层</a:t>
            </a:r>
          </a:p>
        </p:txBody>
      </p:sp>
      <p:sp>
        <p:nvSpPr>
          <p:cNvPr id="61" name="hardware-layer-module-1">
            <a:extLst xmlns:a="http://schemas.openxmlformats.org/drawingml/2006/main">
              <a:ext uri="{FF2B5EF4-FFF2-40B4-BE49-F238E27FC236}">
                <a16:creationId xmlns:a16="http://schemas.microsoft.com/office/drawing/2014/main" id="{A0D9C9D4-61C8-4EC2-BFC1-78A2BE59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943600"/>
            <a:ext cx="13644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NPU / HBM</a:t>
            </a:r>
          </a:p>
        </p:txBody>
      </p:sp>
      <p:sp>
        <p:nvSpPr>
          <p:cNvPr id="62" name="hardware-layer-module-2">
            <a:extLst xmlns:a="http://schemas.openxmlformats.org/drawingml/2006/main">
              <a:ext uri="{FF2B5EF4-FFF2-40B4-BE49-F238E27FC236}">
                <a16:creationId xmlns:a16="http://schemas.microsoft.com/office/drawing/2014/main" id="{88E68589-181D-4787-81AB-ABB1E86F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581" y="5943600"/>
            <a:ext cx="13644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CPU / DDR</a:t>
            </a:r>
          </a:p>
        </p:txBody>
      </p:sp>
      <p:sp>
        <p:nvSpPr>
          <p:cNvPr id="63" name="hardware-layer-module-3">
            <a:extLst xmlns:a="http://schemas.openxmlformats.org/drawingml/2006/main">
              <a:ext uri="{FF2B5EF4-FFF2-40B4-BE49-F238E27FC236}">
                <a16:creationId xmlns:a16="http://schemas.microsoft.com/office/drawing/2014/main" id="{14B70E4A-9664-43DE-9578-B7772C6A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763" y="5943600"/>
            <a:ext cx="13644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NIC / UB / C2C</a:t>
            </a:r>
          </a:p>
        </p:txBody>
      </p:sp>
      <p:sp>
        <p:nvSpPr>
          <p:cNvPr id="64" name="hardware-layer-module-4">
            <a:extLst xmlns:a="http://schemas.openxmlformats.org/drawingml/2006/main">
              <a:ext uri="{FF2B5EF4-FFF2-40B4-BE49-F238E27FC236}">
                <a16:creationId xmlns:a16="http://schemas.microsoft.com/office/drawing/2014/main" id="{2BBD8022-ECC6-4F95-9E17-7C6C925C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944" y="5943600"/>
            <a:ext cx="13644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NVMe SSD</a:t>
            </a:r>
          </a:p>
        </p:txBody>
      </p:sp>
      <p:sp>
        <p:nvSpPr>
          <p:cNvPr id="65" name="scope-note">
            <a:extLst xmlns:a="http://schemas.openxmlformats.org/drawingml/2006/main">
              <a:ext uri="{FF2B5EF4-FFF2-40B4-BE49-F238E27FC236}">
                <a16:creationId xmlns:a16="http://schemas.microsoft.com/office/drawing/2014/main" id="{52F4355C-BC05-49D0-9A6E-5ADF87DC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7000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125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彩色：项目核心覆盖｜灰色：在线推理生态参照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2026-07-30T01:26:53.6240000Z</dcterms:created>
  <dcterms:modified xsi:type="dcterms:W3CDTF">2026-07-30T01:26:53.6240000Z</dcterms:modified>
</coreProperties>
</file>