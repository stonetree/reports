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119e318dc425e" /><Relationship Type="http://schemas.openxmlformats.org/officeDocument/2006/relationships/extended-properties" Target="/docProps/app.xml" Id="Ra3d7658928a54b3d" /><Relationship Type="http://schemas.openxmlformats.org/officeDocument/2006/relationships/officeDocument" Target="/ppt/presentation.xml" Id="R0cff8a8404bd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4e88cb8484857"/>
  </p:sldMasterIdLst>
  <p:notesMasterIdLst>
    <p:notesMasterId xmlns:r="http://schemas.openxmlformats.org/officeDocument/2006/relationships" r:id="Rfd5efd856a4b4d52"/>
  </p:notesMasterIdLst>
  <p:sldIdLst>
    <p:sldId xmlns:r="http://schemas.openxmlformats.org/officeDocument/2006/relationships" id="256" r:id="R4b770762b27347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6e25b9a774553" /><Relationship Type="http://schemas.openxmlformats.org/officeDocument/2006/relationships/slideMaster" Target="/ppt/slideMasters/slideMaster1.xml" Id="Rf034e88cb8484857" /><Relationship Type="http://schemas.openxmlformats.org/officeDocument/2006/relationships/notesMaster" Target="/ppt/notesMasters/notesMaster1.xml" Id="Rfd5efd856a4b4d52" /><Relationship Type="http://schemas.openxmlformats.org/officeDocument/2006/relationships/presProps" Target="/ppt/presProps.xml" Id="R8a344fea664f489d" /><Relationship Type="http://schemas.openxmlformats.org/officeDocument/2006/relationships/tableStyles" Target="/ppt/tableStyles.xml" Id="R393278e0ff004078" /><Relationship Type="http://schemas.openxmlformats.org/officeDocument/2006/relationships/slide" Target="/ppt/slides/slide1.xml" Id="R4b770762b273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218b66da7242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cc7fbdec1471e" /><Relationship Type="http://schemas.openxmlformats.org/officeDocument/2006/relationships/notesMaster" Target="/ppt/notesMasters/notesMaster1.xml" Id="R0fddaaca47b7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architecture and visual direction from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434c66207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56e3ee143c4dac" /><Relationship Type="http://schemas.openxmlformats.org/officeDocument/2006/relationships/slideLayout" Target="/ppt/slideLayouts/slideLayout1.xml" Id="Rbca89d9e9de344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89d9e9de344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e98b0f8224a3b" /><Relationship Type="http://schemas.openxmlformats.org/officeDocument/2006/relationships/notesSlide" Target="/ppt/notesSlides/notesSlide1.xml" Id="Ra9783129adf54a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 KVCache 存储池贯通在线推理业务与异构硬件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全栈坐标｜项目四层原位放大｜关键技术与业务竞争力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KV载入决策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副本选路准入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共享块表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缓存复用准入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KV对象建模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异构分层放置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生命周期治理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异步传输编排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UB/RDMA驱动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内存映射/一致性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存储I/O/NVMe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competitiveness-header">
            <a:extLst xmlns:a="http://schemas.openxmlformats.org/drawingml/2006/main">
              <a:ext uri="{FF2B5EF4-FFF2-40B4-BE49-F238E27FC236}">
                <a16:creationId xmlns:a16="http://schemas.microsoft.com/office/drawing/2014/main" id="{19F7FE9A-5435-4DBA-A555-4D8824E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00125"/>
            <a:ext cx="529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333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关键业务竞争力与技术壁垒</a:t>
            </a:r>
          </a:p>
        </p:txBody>
      </p:sp>
      <p:sp>
        <p:nvSpPr>
          <p:cNvPr id="86" name="competitiveness-thesis">
            <a:extLst xmlns:a="http://schemas.openxmlformats.org/drawingml/2006/main">
              <a:ext uri="{FF2B5EF4-FFF2-40B4-BE49-F238E27FC236}">
                <a16:creationId xmlns:a16="http://schemas.microsoft.com/office/drawing/2014/main" id="{59E1B78B-6A60-4045-9886-3516F0A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52550"/>
            <a:ext cx="529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以真实业务收益牵引软件策略与硬件能力共同演进，将跨框架、跨节点 KVCache 复用稳定转化为 TTFT 收益与集群级容量效率</a:t>
            </a:r>
          </a:p>
        </p:txBody>
      </p:sp>
      <p:sp>
        <p:nvSpPr>
          <p:cNvPr id="87" name="competitiveness-outcomes">
            <a:extLst xmlns:a="http://schemas.openxmlformats.org/drawingml/2006/main">
              <a:ext uri="{FF2B5EF4-FFF2-40B4-BE49-F238E27FC236}">
                <a16:creationId xmlns:a16="http://schemas.microsoft.com/office/drawing/2014/main" id="{B84B2464-F251-4D06-8D63-348EDA6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95475"/>
            <a:ext cx="529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88" b="1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减少重复 Prefill｜形成跨域复用｜扩展可服务容量｜提升异构资源效率</a:t>
            </a:r>
          </a:p>
        </p:txBody>
      </p:sp>
      <p:sp>
        <p:nvSpPr>
          <p:cNvPr id="88" name="competitiveness-section-1">
            <a:extLst xmlns:a="http://schemas.openxmlformats.org/drawingml/2006/main">
              <a:ext uri="{FF2B5EF4-FFF2-40B4-BE49-F238E27FC236}">
                <a16:creationId xmlns:a16="http://schemas.microsoft.com/office/drawing/2014/main" id="{7EC15444-1383-4C54-9D21-D384849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9" name="competitiveness-section-1-accent">
            <a:extLst xmlns:a="http://schemas.openxmlformats.org/drawingml/2006/main">
              <a:ext uri="{FF2B5EF4-FFF2-40B4-BE49-F238E27FC236}">
                <a16:creationId xmlns:a16="http://schemas.microsoft.com/office/drawing/2014/main" id="{A8BFBE89-2E92-46CD-8410-F8D1F7F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0" name="competitiveness-section-1-title">
            <a:extLst xmlns:a="http://schemas.openxmlformats.org/drawingml/2006/main">
              <a:ext uri="{FF2B5EF4-FFF2-40B4-BE49-F238E27FC236}">
                <a16:creationId xmlns:a16="http://schemas.microsoft.com/office/drawing/2014/main" id="{4F6E2351-F02A-4235-BD02-171DCCB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URMA与UBMEM分工承载大块数据与高频元数据，构建跨设备、跨节点的KVCache高性能底座</a:t>
            </a:r>
          </a:p>
        </p:txBody>
      </p:sp>
      <p:sp>
        <p:nvSpPr>
          <p:cNvPr id="91" name="competitiveness-section-1-details">
            <a:extLst xmlns:a="http://schemas.openxmlformats.org/drawingml/2006/main">
              <a:ext uri="{FF2B5EF4-FFF2-40B4-BE49-F238E27FC236}">
                <a16:creationId xmlns:a16="http://schemas.microsoft.com/office/drawing/2014/main" id="{42E1626A-2561-4C28-850E-D158886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URMA批量异步搬运KV正文，释放互联带宽并降低Host开销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UBMEM承载目录、位置与就绪状态，事件驱动贯通对象发现、传输与安全消费</a:t>
            </a:r>
          </a:p>
        </p:txBody>
      </p:sp>
      <p:sp>
        <p:nvSpPr>
          <p:cNvPr id="92" name="competitiveness-section-2">
            <a:extLst xmlns:a="http://schemas.openxmlformats.org/drawingml/2006/main">
              <a:ext uri="{FF2B5EF4-FFF2-40B4-BE49-F238E27FC236}">
                <a16:creationId xmlns:a16="http://schemas.microsoft.com/office/drawing/2014/main" id="{8B2E34AE-DAD4-48BE-97DE-E720EAC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3" name="competitiveness-section-2-accent">
            <a:extLst xmlns:a="http://schemas.openxmlformats.org/drawingml/2006/main">
              <a:ext uri="{FF2B5EF4-FFF2-40B4-BE49-F238E27FC236}">
                <a16:creationId xmlns:a16="http://schemas.microsoft.com/office/drawing/2014/main" id="{46718B58-1AE3-43FF-B4C1-C73BA0E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94" name="competitiveness-section-2-title">
            <a:extLst xmlns:a="http://schemas.openxmlformats.org/drawingml/2006/main">
              <a:ext uri="{FF2B5EF4-FFF2-40B4-BE49-F238E27FC236}">
                <a16:creationId xmlns:a16="http://schemas.microsoft.com/office/drawing/2014/main" id="{F13BF2A9-0AAC-4571-9BF0-AD065B0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统一前缀索引与消费资格判定，贯通对象定位与状态校验，提升集群级匹配效率与命中质量</a:t>
            </a:r>
          </a:p>
        </p:txBody>
      </p:sp>
      <p:sp>
        <p:nvSpPr>
          <p:cNvPr id="95" name="competitiveness-section-2-details">
            <a:extLst xmlns:a="http://schemas.openxmlformats.org/drawingml/2006/main">
              <a:ext uri="{FF2B5EF4-FFF2-40B4-BE49-F238E27FC236}">
                <a16:creationId xmlns:a16="http://schemas.microsoft.com/office/drawing/2014/main" id="{5D935C38-0909-4BAA-A807-34F02443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UBMEM共享地址空间重构全局前缀表与block_table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CPU SIMD加速块哈希，形成“本地计算＋全局低时延匹配”的查询快路径</a:t>
            </a:r>
          </a:p>
        </p:txBody>
      </p:sp>
      <p:sp>
        <p:nvSpPr>
          <p:cNvPr id="96" name="competitiveness-section-3">
            <a:extLst xmlns:a="http://schemas.openxmlformats.org/drawingml/2006/main">
              <a:ext uri="{FF2B5EF4-FFF2-40B4-BE49-F238E27FC236}">
                <a16:creationId xmlns:a16="http://schemas.microsoft.com/office/drawing/2014/main" id="{1CBC405B-37F1-486A-84BE-3DFD31C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7" name="competitiveness-section-3-accent">
            <a:extLst xmlns:a="http://schemas.openxmlformats.org/drawingml/2006/main">
              <a:ext uri="{FF2B5EF4-FFF2-40B4-BE49-F238E27FC236}">
                <a16:creationId xmlns:a16="http://schemas.microsoft.com/office/drawing/2014/main" id="{F3DBECEA-5952-45BB-B358-E2B4497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98" name="competitiveness-section-3-title">
            <a:extLst xmlns:a="http://schemas.openxmlformats.org/drawingml/2006/main">
              <a:ext uri="{FF2B5EF4-FFF2-40B4-BE49-F238E27FC236}">
                <a16:creationId xmlns:a16="http://schemas.microsoft.com/office/drawing/2014/main" id="{D0ACDD62-FFA4-45AB-B6DA-5CFEAF2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以业务正收益驱动载入—重算与多副本选路，优化KVCache流动，将命中稳定转化为TTFT收益</a:t>
            </a:r>
          </a:p>
        </p:txBody>
      </p:sp>
      <p:sp>
        <p:nvSpPr>
          <p:cNvPr id="99" name="competitiveness-section-3-details">
            <a:extLst xmlns:a="http://schemas.openxmlformats.org/drawingml/2006/main">
              <a:ext uri="{FF2B5EF4-FFF2-40B4-BE49-F238E27FC236}">
                <a16:creationId xmlns:a16="http://schemas.microsoft.com/office/drawing/2014/main" id="{8C3F48F7-E83F-4333-ADFD-49ECFAA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QueryPlan纳入带宽、队列、拓扑、拥塞与UBMEM访问成本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决策下沉为URMA路径、描述符、优先级与执行时机，稳定兑现TTFT收益</a:t>
            </a:r>
          </a:p>
        </p:txBody>
      </p:sp>
      <p:sp>
        <p:nvSpPr>
          <p:cNvPr id="100" name="competitiveness-section-4">
            <a:extLst xmlns:a="http://schemas.openxmlformats.org/drawingml/2006/main">
              <a:ext uri="{FF2B5EF4-FFF2-40B4-BE49-F238E27FC236}">
                <a16:creationId xmlns:a16="http://schemas.microsoft.com/office/drawing/2014/main" id="{FC898960-F206-43C5-83FE-9B1D6A60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1" name="competitiveness-section-4-accent">
            <a:extLst xmlns:a="http://schemas.openxmlformats.org/drawingml/2006/main">
              <a:ext uri="{FF2B5EF4-FFF2-40B4-BE49-F238E27FC236}">
                <a16:creationId xmlns:a16="http://schemas.microsoft.com/office/drawing/2014/main" id="{9CB90F02-A068-4412-80D0-C714A80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102" name="competitiveness-section-4-title">
            <a:extLst xmlns:a="http://schemas.openxmlformats.org/drawingml/2006/main">
              <a:ext uri="{FF2B5EF4-FFF2-40B4-BE49-F238E27FC236}">
                <a16:creationId xmlns:a16="http://schemas.microsoft.com/office/drawing/2014/main" id="{35ADB853-D85B-45F6-91BF-60CCF731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统一KV对象与图式分层管理，重塑HBM、DDR、SSD容量分工与数据流动，持续扩展可服务容量</a:t>
            </a:r>
          </a:p>
        </p:txBody>
      </p:sp>
      <p:sp>
        <p:nvSpPr>
          <p:cNvPr id="103" name="competitiveness-section-4-details">
            <a:extLst xmlns:a="http://schemas.openxmlformats.org/drawingml/2006/main">
              <a:ext uri="{FF2B5EF4-FFF2-40B4-BE49-F238E27FC236}">
                <a16:creationId xmlns:a16="http://schemas.microsoft.com/office/drawing/2014/main" id="{626A26AD-8E93-4B02-8065-25AE5617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KVObject统一HBM、DDR与远端内存视图，Extent衔接SSD容量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按介质特征设计结构与粒度，联动DMA、C2C、页迁移与硬件QoS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2026-07-30T02:40:29.3470000Z</dcterms:created>
  <dcterms:modified xsi:type="dcterms:W3CDTF">2026-07-30T02:40:29.3470000Z</dcterms:modified>
</coreProperties>
</file>