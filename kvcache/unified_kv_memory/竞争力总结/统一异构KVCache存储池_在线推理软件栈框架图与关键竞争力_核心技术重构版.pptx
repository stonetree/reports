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d84fc324f49f2" /><Relationship Type="http://schemas.openxmlformats.org/officeDocument/2006/relationships/extended-properties" Target="/docProps/app.xml" Id="Rdebfe9a4397f40d1" /><Relationship Type="http://schemas.openxmlformats.org/officeDocument/2006/relationships/officeDocument" Target="/ppt/presentation.xml" Id="R85fc6555adb74c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61f9bb64e4eeb"/>
  </p:sldMasterIdLst>
  <p:notesMasterIdLst>
    <p:notesMasterId xmlns:r="http://schemas.openxmlformats.org/officeDocument/2006/relationships" r:id="R354788dbc2ca454d"/>
  </p:notesMasterIdLst>
  <p:sldIdLst>
    <p:sldId xmlns:r="http://schemas.openxmlformats.org/officeDocument/2006/relationships" id="256" r:id="Re4e6c38442b042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d745b27d540c4" /><Relationship Type="http://schemas.openxmlformats.org/officeDocument/2006/relationships/slideMaster" Target="/ppt/slideMasters/slideMaster1.xml" Id="R8d161f9bb64e4eeb" /><Relationship Type="http://schemas.openxmlformats.org/officeDocument/2006/relationships/notesMaster" Target="/ppt/notesMasters/notesMaster1.xml" Id="R354788dbc2ca454d" /><Relationship Type="http://schemas.openxmlformats.org/officeDocument/2006/relationships/presProps" Target="/ppt/presProps.xml" Id="R9ed2737b432a4957" /><Relationship Type="http://schemas.openxmlformats.org/officeDocument/2006/relationships/tableStyles" Target="/ppt/tableStyles.xml" Id="R8d2ee9e222d14db8" /><Relationship Type="http://schemas.openxmlformats.org/officeDocument/2006/relationships/slide" Target="/ppt/slides/slide1.xml" Id="Re4e6c38442b042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41fddfbe0b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0a392d18f4426" /><Relationship Type="http://schemas.openxmlformats.org/officeDocument/2006/relationships/notesMaster" Target="/ppt/notesMasters/notesMaster1.xml" Id="R9f16ee28839c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architecture:</a:t>
            </a:r>
          </a:p>
          <a:p xmlns:a="http://schemas.openxmlformats.org/drawingml/2006/main">
            <a:r>
              <a:t>D:\codes\reports\kvcache\unified_kv_memory\统一异构KVCache存储池总体架构与SRS评审导读_定版.md</a:t>
            </a:r>
          </a:p>
          <a:p xmlns:a="http://schemas.openxmlformats.org/drawingml/2006/main">
            <a:r>
              <a:t>D:\codes\reports\kvcache\unified_kv_memory\outputs\需求基线复核_20260717\统一异构KVCache存储池总体架构与SRS评审导读_V2.2_传输底座视角_建议修订版.md</a:t>
            </a:r>
          </a:p>
          <a:p xmlns:a="http://schemas.openxmlformats.org/drawingml/2006/main">
            <a:r>
              <a:t>D:\codes\reports\kvcache\unified_kv_memory\竞争力总结\统一异构KVCache存储池_关键技术与竞争力_讨论稿.md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Mooncake primary references:</a:t>
            </a:r>
          </a:p>
          <a:p xmlns:a="http://schemas.openxmlformats.org/drawingml/2006/main">
            <a:r>
              <a:t>https://github.com/kvcache-ai/Mooncake/blob/main/docs/source/design/mooncake-store.md</a:t>
            </a:r>
          </a:p>
          <a:p xmlns:a="http://schemas.openxmlformats.org/drawingml/2006/main">
            <a:r>
              <a:t>https://kvcache-ai.github.io/Mooncake/design/transfer-engine/index.html</a:t>
            </a:r>
          </a:p>
          <a:p xmlns:a="http://schemas.openxmlformats.org/drawingml/2006/main">
            <a:r>
              <a:t>https://kvcache-ai.github.io/Mooncake/design/tent/transport-selector.html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Comparison note:</a:t>
            </a:r>
          </a:p>
          <a:p xmlns:a="http://schemas.openxmlformats.org/drawingml/2006/main">
            <a:r>
              <a:t>Mooncake already provides object-level KV storage, zero-copy and multi-NIC transfer, multiple transport backends, RAM/SSD tiering, and request priority in TENT. The visible slide therefore avoids generic feature-parity claims. It emphasizes this project's intended differentiation: memory-semantic direct access to hot metadata; KVObject/ExtentManifest lifecycle semantics across heterogeneous media; KV-intent QoS across metadata, foreground fetch, store ingress, and background governance; and QueryPlan/Descriptor compilation into chip, SoC, DPU/NIC, network, and storage actions.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c4910c8db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409aa6b004b3d" /><Relationship Type="http://schemas.openxmlformats.org/officeDocument/2006/relationships/slideLayout" Target="/ppt/slideLayouts/slideLayout1.xml" Id="R4d21cfa344b840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1cfa344b840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f33ebc2ce4219" /><Relationship Type="http://schemas.openxmlformats.org/officeDocument/2006/relationships/notesSlide" Target="/ppt/notesSlides/notesSlide1.xml" Id="R867cbee8ab084a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软硬协同构筑统一异构 KVCache 存储池，达成集群级复用与高效治理目标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KV 语义驱动｜统一异构介质治理｜牵引芯片、网络与存储协同演进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72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8115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存储池｜核心技术分层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81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L1/L2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框架适配层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 Connector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 Connector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0325"/>
            <a:ext cx="847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35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1028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核心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00425"/>
            <a:ext cx="781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元数据直访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00425"/>
            <a:ext cx="781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QueryPlan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00425"/>
            <a:ext cx="9810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KV传输编排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102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多态硬件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使能层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00475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多介质治理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00475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C5B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全链路QoS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00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内存语义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00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传输引擎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910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DPU / 网卡 QoS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910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1F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分层存储 I/O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1020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3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芯片/SoC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一致性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DPU/NIC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存储I/O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340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NPU/SoC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CPU/DDR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C2C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DPU/NIC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存储控制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  <p:sp>
        <p:nvSpPr>
          <p:cNvPr id="67" name="ecosystem-zone-runtime-component-1">
            <a:extLst xmlns:a="http://schemas.openxmlformats.org/drawingml/2006/main">
              <a:ext uri="{FF2B5EF4-FFF2-40B4-BE49-F238E27FC236}">
                <a16:creationId xmlns:a16="http://schemas.microsoft.com/office/drawing/2014/main" id="{E5115650-7D0F-417A-BD56-2A3E45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68" name="ecosystem-zone-runtime-component-2">
            <a:extLst xmlns:a="http://schemas.openxmlformats.org/drawingml/2006/main">
              <a:ext uri="{FF2B5EF4-FFF2-40B4-BE49-F238E27FC236}">
                <a16:creationId xmlns:a16="http://schemas.microsoft.com/office/drawing/2014/main" id="{712D8B97-7740-4429-B913-7A41CC1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69" name="ecosystem-zone-runtime-component-3">
            <a:extLst xmlns:a="http://schemas.openxmlformats.org/drawingml/2006/main">
              <a:ext uri="{FF2B5EF4-FFF2-40B4-BE49-F238E27FC236}">
                <a16:creationId xmlns:a16="http://schemas.microsoft.com/office/drawing/2014/main" id="{D4D4E7C3-9DE1-47EE-BC7D-D96BF9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70" name="ecosystem-zone-runtime-component-4">
            <a:extLst xmlns:a="http://schemas.openxmlformats.org/drawingml/2006/main">
              <a:ext uri="{FF2B5EF4-FFF2-40B4-BE49-F238E27FC236}">
                <a16:creationId xmlns:a16="http://schemas.microsoft.com/office/drawing/2014/main" id="{0EC242A0-D9B0-4604-9496-DF4C8D8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图编译</a:t>
            </a:r>
          </a:p>
        </p:txBody>
      </p:sp>
      <p:sp>
        <p:nvSpPr>
          <p:cNvPr id="71" name="ecosystem-zone-runtime-component-5">
            <a:extLst xmlns:a="http://schemas.openxmlformats.org/drawingml/2006/main">
              <a:ext uri="{FF2B5EF4-FFF2-40B4-BE49-F238E27FC236}">
                <a16:creationId xmlns:a16="http://schemas.microsoft.com/office/drawing/2014/main" id="{8F539A3D-B0AD-4C64-967B-0C30C1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</a:t>
            </a:r>
          </a:p>
        </p:txBody>
      </p:sp>
      <p:sp>
        <p:nvSpPr>
          <p:cNvPr id="72" name="ecosystem-zone-runtime-component-6">
            <a:extLst xmlns:a="http://schemas.openxmlformats.org/drawingml/2006/main">
              <a:ext uri="{FF2B5EF4-FFF2-40B4-BE49-F238E27FC236}">
                <a16:creationId xmlns:a16="http://schemas.microsoft.com/office/drawing/2014/main" id="{65A992D3-BE94-409A-A84C-C483ACF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84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Adapter管理</a:t>
            </a:r>
          </a:p>
        </p:txBody>
      </p:sp>
      <p:sp>
        <p:nvSpPr>
          <p:cNvPr id="73" name="ecosystem-zone-compute-component-1">
            <a:extLst xmlns:a="http://schemas.openxmlformats.org/drawingml/2006/main">
              <a:ext uri="{FF2B5EF4-FFF2-40B4-BE49-F238E27FC236}">
                <a16:creationId xmlns:a16="http://schemas.microsoft.com/office/drawing/2014/main" id="{2D3DA8A2-C8C4-4754-B222-AA264AA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7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</a:t>
            </a:r>
          </a:p>
        </p:txBody>
      </p:sp>
      <p:sp>
        <p:nvSpPr>
          <p:cNvPr id="74" name="ecosystem-zone-compute-component-2">
            <a:extLst xmlns:a="http://schemas.openxmlformats.org/drawingml/2006/main">
              <a:ext uri="{FF2B5EF4-FFF2-40B4-BE49-F238E27FC236}">
                <a16:creationId xmlns:a16="http://schemas.microsoft.com/office/drawing/2014/main" id="{6538262F-BAF7-45C6-995A-BF0CB58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</p:txBody>
      </p:sp>
      <p:sp>
        <p:nvSpPr>
          <p:cNvPr id="75" name="ecosystem-zone-compute-component-3">
            <a:extLst xmlns:a="http://schemas.openxmlformats.org/drawingml/2006/main">
              <a:ext uri="{FF2B5EF4-FFF2-40B4-BE49-F238E27FC236}">
                <a16:creationId xmlns:a16="http://schemas.microsoft.com/office/drawing/2014/main" id="{92732865-6DF9-489B-9760-A8F5E68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</a:t>
            </a:r>
          </a:p>
        </p:txBody>
      </p:sp>
      <p:sp>
        <p:nvSpPr>
          <p:cNvPr id="76" name="ecosystem-zone-compute-component-4">
            <a:extLst xmlns:a="http://schemas.openxmlformats.org/drawingml/2006/main">
              <a:ext uri="{FF2B5EF4-FFF2-40B4-BE49-F238E27FC236}">
                <a16:creationId xmlns:a16="http://schemas.microsoft.com/office/drawing/2014/main" id="{C0839510-2074-49B2-913D-32129BA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NCCL</a:t>
            </a:r>
          </a:p>
        </p:txBody>
      </p:sp>
      <p:sp>
        <p:nvSpPr>
          <p:cNvPr id="77" name="ecosystem-zone-compute-component-5">
            <a:extLst xmlns:a="http://schemas.openxmlformats.org/drawingml/2006/main">
              <a:ext uri="{FF2B5EF4-FFF2-40B4-BE49-F238E27FC236}">
                <a16:creationId xmlns:a16="http://schemas.microsoft.com/office/drawing/2014/main" id="{0144A79F-2685-43CF-9374-E2C7FA3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</a:t>
            </a:r>
          </a:p>
        </p:txBody>
      </p:sp>
      <p:sp>
        <p:nvSpPr>
          <p:cNvPr id="78" name="ecosystem-zone-compute-component-6">
            <a:extLst xmlns:a="http://schemas.openxmlformats.org/drawingml/2006/main">
              <a:ext uri="{FF2B5EF4-FFF2-40B4-BE49-F238E27FC236}">
                <a16:creationId xmlns:a16="http://schemas.microsoft.com/office/drawing/2014/main" id="{9BF91C4E-F7E6-4871-99E0-1A0571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对象访问</a:t>
            </a:r>
          </a:p>
        </p:txBody>
      </p:sp>
      <p:sp>
        <p:nvSpPr>
          <p:cNvPr id="79" name="ecosystem-zone-transport-component-1">
            <a:extLst xmlns:a="http://schemas.openxmlformats.org/drawingml/2006/main">
              <a:ext uri="{FF2B5EF4-FFF2-40B4-BE49-F238E27FC236}">
                <a16:creationId xmlns:a16="http://schemas.microsoft.com/office/drawing/2014/main" id="{CA49F2FA-91D2-4E9F-97B9-D481303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</a:t>
            </a:r>
          </a:p>
        </p:txBody>
      </p:sp>
      <p:sp>
        <p:nvSpPr>
          <p:cNvPr id="80" name="ecosystem-zone-transport-component-2">
            <a:extLst xmlns:a="http://schemas.openxmlformats.org/drawingml/2006/main">
              <a:ext uri="{FF2B5EF4-FFF2-40B4-BE49-F238E27FC236}">
                <a16:creationId xmlns:a16="http://schemas.microsoft.com/office/drawing/2014/main" id="{0116E26F-17A9-4B55-974D-CFBF8C5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UCX</a:t>
            </a:r>
          </a:p>
        </p:txBody>
      </p:sp>
      <p:sp>
        <p:nvSpPr>
          <p:cNvPr id="81" name="ecosystem-zone-transport-component-3">
            <a:extLst xmlns:a="http://schemas.openxmlformats.org/drawingml/2006/main">
              <a:ext uri="{FF2B5EF4-FFF2-40B4-BE49-F238E27FC236}">
                <a16:creationId xmlns:a16="http://schemas.microsoft.com/office/drawing/2014/main" id="{86E86099-E196-4CF7-BF60-6536F07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libfabric</a:t>
            </a:r>
          </a:p>
        </p:txBody>
      </p:sp>
      <p:sp>
        <p:nvSpPr>
          <p:cNvPr id="82" name="ecosystem-zone-transport-component-4">
            <a:extLst xmlns:a="http://schemas.openxmlformats.org/drawingml/2006/main">
              <a:ext uri="{FF2B5EF4-FFF2-40B4-BE49-F238E27FC236}">
                <a16:creationId xmlns:a16="http://schemas.microsoft.com/office/drawing/2014/main" id="{2FD0E2BE-756C-4C97-A976-26544F7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</a:t>
            </a:r>
          </a:p>
        </p:txBody>
      </p:sp>
      <p:sp>
        <p:nvSpPr>
          <p:cNvPr id="83" name="ecosystem-zone-transport-component-5">
            <a:extLst xmlns:a="http://schemas.openxmlformats.org/drawingml/2006/main">
              <a:ext uri="{FF2B5EF4-FFF2-40B4-BE49-F238E27FC236}">
                <a16:creationId xmlns:a16="http://schemas.microsoft.com/office/drawing/2014/main" id="{9A946348-7E6F-4CF1-8144-7AF12E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io_uring</a:t>
            </a:r>
          </a:p>
        </p:txBody>
      </p:sp>
      <p:sp>
        <p:nvSpPr>
          <p:cNvPr id="84" name="ecosystem-zone-transport-component-6">
            <a:extLst xmlns:a="http://schemas.openxmlformats.org/drawingml/2006/main">
              <a:ext uri="{FF2B5EF4-FFF2-40B4-BE49-F238E27FC236}">
                <a16:creationId xmlns:a16="http://schemas.microsoft.com/office/drawing/2014/main" id="{1A03C5E1-3270-43FA-BA06-52E68F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85" name="key-competitiveness-heading-accent">
            <a:extLst xmlns:a="http://schemas.openxmlformats.org/drawingml/2006/main">
              <a:ext uri="{FF2B5EF4-FFF2-40B4-BE49-F238E27FC236}">
                <a16:creationId xmlns:a16="http://schemas.microsoft.com/office/drawing/2014/main" id="{945DEED7-07AD-473E-A63F-33925FD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28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6" name="key-competitiveness-heading">
            <a:extLst xmlns:a="http://schemas.openxmlformats.org/drawingml/2006/main">
              <a:ext uri="{FF2B5EF4-FFF2-40B4-BE49-F238E27FC236}">
                <a16:creationId xmlns:a16="http://schemas.microsoft.com/office/drawing/2014/main" id="{CEB019C2-E3C4-4F55-BB6E-0A6F6B5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关键竞争力</a:t>
            </a:r>
          </a:p>
        </p:txBody>
      </p:sp>
      <p:sp>
        <p:nvSpPr>
          <p:cNvPr id="87" name="key-competitiveness-1-marker">
            <a:extLst xmlns:a="http://schemas.openxmlformats.org/drawingml/2006/main">
              <a:ext uri="{FF2B5EF4-FFF2-40B4-BE49-F238E27FC236}">
                <a16:creationId xmlns:a16="http://schemas.microsoft.com/office/drawing/2014/main" id="{2566B519-4F46-4EE8-97AE-0C70D75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38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8" name="key-competitiveness-1-title">
            <a:extLst xmlns:a="http://schemas.openxmlformats.org/drawingml/2006/main">
              <a:ext uri="{FF2B5EF4-FFF2-40B4-BE49-F238E27FC236}">
                <a16:creationId xmlns:a16="http://schemas.microsoft.com/office/drawing/2014/main" id="{7440B415-EDEF-46A2-A36D-966EF1E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19225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跨框架、跨节点统一匹配与复用，可消费命中率提升 ≥20%、P99 TTFT 降低 ≥20%。</a:t>
            </a:r>
          </a:p>
        </p:txBody>
      </p:sp>
      <p:sp>
        <p:nvSpPr>
          <p:cNvPr id="90" name="key-competitiveness-2-marker">
            <a:extLst xmlns:a="http://schemas.openxmlformats.org/drawingml/2006/main">
              <a:ext uri="{FF2B5EF4-FFF2-40B4-BE49-F238E27FC236}">
                <a16:creationId xmlns:a16="http://schemas.microsoft.com/office/drawing/2014/main" id="{E57E5335-70F0-4AEE-8CBB-4644F9A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key-competitiveness-2-title">
            <a:extLst xmlns:a="http://schemas.openxmlformats.org/drawingml/2006/main">
              <a:ext uri="{FF2B5EF4-FFF2-40B4-BE49-F238E27FC236}">
                <a16:creationId xmlns:a16="http://schemas.microsoft.com/office/drawing/2014/main" id="{43D54307-0606-4A39-8B17-3EC23C96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0275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芯片—内存—网络—存储全栈协同，HBM 有效容量提升 ≥30%、后台治理引起的 P99 TPOT 劣化 ≤3%。</a:t>
            </a:r>
          </a:p>
        </p:txBody>
      </p:sp>
      <p:sp>
        <p:nvSpPr>
          <p:cNvPr id="93" name="right-section-separator">
            <a:extLst xmlns:a="http://schemas.openxmlformats.org/drawingml/2006/main">
              <a:ext uri="{FF2B5EF4-FFF2-40B4-BE49-F238E27FC236}">
                <a16:creationId xmlns:a16="http://schemas.microsoft.com/office/drawing/2014/main" id="{738B2825-8C78-4CD0-87BF-A0C0C63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146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94" name="key-technology-heading-accent">
            <a:extLst xmlns:a="http://schemas.openxmlformats.org/drawingml/2006/main">
              <a:ext uri="{FF2B5EF4-FFF2-40B4-BE49-F238E27FC236}">
                <a16:creationId xmlns:a16="http://schemas.microsoft.com/office/drawing/2014/main" id="{42DAA627-0001-43D7-975C-695FEB10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</p:sp>
      <p:sp>
        <p:nvSpPr>
          <p:cNvPr id="95" name="key-technology-heading">
            <a:extLst xmlns:a="http://schemas.openxmlformats.org/drawingml/2006/main">
              <a:ext uri="{FF2B5EF4-FFF2-40B4-BE49-F238E27FC236}">
                <a16:creationId xmlns:a16="http://schemas.microsoft.com/office/drawing/2014/main" id="{5D9B2463-5978-48CE-9832-B19BD83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96" name="key-technology-1-marker">
            <a:extLst xmlns:a="http://schemas.openxmlformats.org/drawingml/2006/main">
              <a:ext uri="{FF2B5EF4-FFF2-40B4-BE49-F238E27FC236}">
                <a16:creationId xmlns:a16="http://schemas.microsoft.com/office/drawing/2014/main" id="{4298D421-E99C-43A1-A076-4D96E0F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97" name="key-technology-1-title">
            <a:extLst xmlns:a="http://schemas.openxmlformats.org/drawingml/2006/main">
              <a:ext uri="{FF2B5EF4-FFF2-40B4-BE49-F238E27FC236}">
                <a16:creationId xmlns:a16="http://schemas.microsoft.com/office/drawing/2014/main" id="{DB5AC46E-6EF5-4929-BC6D-2DB6B55A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86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基于内存语义直达前缀目录、block_table 与对象状态，缩短热点元数据访问和一致性发布链路。</a:t>
            </a:r>
          </a:p>
        </p:txBody>
      </p:sp>
      <p:sp>
        <p:nvSpPr>
          <p:cNvPr id="99" name="key-technology-2-marker">
            <a:extLst xmlns:a="http://schemas.openxmlformats.org/drawingml/2006/main">
              <a:ext uri="{FF2B5EF4-FFF2-40B4-BE49-F238E27FC236}">
                <a16:creationId xmlns:a16="http://schemas.microsoft.com/office/drawing/2014/main" id="{E4432160-49F5-4264-8D2E-E29B782E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76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00" name="key-technology-2-title">
            <a:extLst xmlns:a="http://schemas.openxmlformats.org/drawingml/2006/main">
              <a:ext uri="{FF2B5EF4-FFF2-40B4-BE49-F238E27FC236}">
                <a16:creationId xmlns:a16="http://schemas.microsoft.com/office/drawing/2014/main" id="{D22B9B0F-B891-4EEF-BD48-CD0F32A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576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KVObject—ExtentManifest 统一表达 HBM、DDR、远端内存与 SSD 的位置、版本和生命周期，实现跨介质一致治理。</a:t>
            </a:r>
          </a:p>
        </p:txBody>
      </p:sp>
      <p:sp>
        <p:nvSpPr>
          <p:cNvPr id="102" name="key-technology-3-marker">
            <a:extLst xmlns:a="http://schemas.openxmlformats.org/drawingml/2006/main">
              <a:ext uri="{FF2B5EF4-FFF2-40B4-BE49-F238E27FC236}">
                <a16:creationId xmlns:a16="http://schemas.microsoft.com/office/drawing/2014/main" id="{8F419690-8A97-4082-B253-D4F64CA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8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03" name="key-technology-3-title">
            <a:extLst xmlns:a="http://schemas.openxmlformats.org/drawingml/2006/main">
              <a:ext uri="{FF2B5EF4-FFF2-40B4-BE49-F238E27FC236}">
                <a16:creationId xmlns:a16="http://schemas.microsoft.com/office/drawing/2014/main" id="{F7DE1E5A-C4D5-4D8C-A4B7-22CEAEA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29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面向 KV 业务意图编排元数据查询、前台拉取、Store 入库和后台迁移，贯通队列、链路与存储 QoS，保护 TTFT/TPOT。</a:t>
            </a:r>
          </a:p>
        </p:txBody>
      </p:sp>
      <p:sp>
        <p:nvSpPr>
          <p:cNvPr id="105" name="key-technology-4-marker">
            <a:extLst xmlns:a="http://schemas.openxmlformats.org/drawingml/2006/main">
              <a:ext uri="{FF2B5EF4-FFF2-40B4-BE49-F238E27FC236}">
                <a16:creationId xmlns:a16="http://schemas.microsoft.com/office/drawing/2014/main" id="{A7F382B5-4B83-4D27-A233-17317B8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9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106" name="key-technology-4-title">
            <a:extLst xmlns:a="http://schemas.openxmlformats.org/drawingml/2006/main">
              <a:ext uri="{FF2B5EF4-FFF2-40B4-BE49-F238E27FC236}">
                <a16:creationId xmlns:a16="http://schemas.microsoft.com/office/drawing/2014/main" id="{8EA488C6-9411-4252-ADD5-0FCA868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006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QueryPlan/Descriptor 将 KV 收益决策编译为芯片、SoC、DPU/网卡、网络与存储动作，形成牵引硬件演进的全栈闭环。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2026-07-30T10:40:39.1010000Z</dcterms:created>
  <dcterms:modified xsi:type="dcterms:W3CDTF">2026-07-30T10:40:39.1020000Z</dcterms:modified>
</coreProperties>
</file>