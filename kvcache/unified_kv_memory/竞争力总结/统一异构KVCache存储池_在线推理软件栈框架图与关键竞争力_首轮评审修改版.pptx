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435dfc10c34d06" /><Relationship Type="http://schemas.openxmlformats.org/officeDocument/2006/relationships/extended-properties" Target="/docProps/app.xml" Id="Ra8c81fb064f4459d" /><Relationship Type="http://schemas.openxmlformats.org/officeDocument/2006/relationships/officeDocument" Target="/ppt/presentation.xml" Id="Ra53441e80d4d4c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d3c14b9b3a4d5c"/>
  </p:sldMasterIdLst>
  <p:notesMasterIdLst>
    <p:notesMasterId xmlns:r="http://schemas.openxmlformats.org/officeDocument/2006/relationships" r:id="R018805d1876245a4"/>
  </p:notesMasterIdLst>
  <p:sldIdLst>
    <p:sldId xmlns:r="http://schemas.openxmlformats.org/officeDocument/2006/relationships" id="256" r:id="R2c550b4801c24b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b232b4a394433c" /><Relationship Type="http://schemas.openxmlformats.org/officeDocument/2006/relationships/slideMaster" Target="/ppt/slideMasters/slideMaster1.xml" Id="R84d3c14b9b3a4d5c" /><Relationship Type="http://schemas.openxmlformats.org/officeDocument/2006/relationships/notesMaster" Target="/ppt/notesMasters/notesMaster1.xml" Id="R018805d1876245a4" /><Relationship Type="http://schemas.openxmlformats.org/officeDocument/2006/relationships/presProps" Target="/ppt/presProps.xml" Id="R0135ff34fc46412b" /><Relationship Type="http://schemas.openxmlformats.org/officeDocument/2006/relationships/tableStyles" Target="/ppt/tableStyles.xml" Id="R497419817bf64775" /><Relationship Type="http://schemas.openxmlformats.org/officeDocument/2006/relationships/slide" Target="/ppt/slides/slide1.xml" Id="R2c550b4801c24b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42c83a41ba45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b360905d824493" /><Relationship Type="http://schemas.openxmlformats.org/officeDocument/2006/relationships/notesMaster" Target="/ppt/notesMasters/notesMaster1.xml" Id="R0b61e6dfef334a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D:\codes\reports\kvcache\unified_kv_memory\竞争力总结\统一异构KVCache存储池_关键技术与竞争力_讨论稿.md</a:t>
            </a:r>
          </a:p>
          <a:p xmlns:a="http://schemas.openxmlformats.org/drawingml/2006/main">
            <a:r>
              <a:t>D:\codes\reports\kvcache\unified_kv_memory\竞争力总结\统一异构KVCache存储池_在线推理软件栈框架图与关键竞争力_终稿_分区列表版.pptx</a:t>
            </a:r>
          </a:p>
          <a:p xmlns:a="http://schemas.openxmlformats.org/drawingml/2006/main">
            <a:r>
              <a:t>First-round reviewer feedback: simplify the left project core into framework adaptation, core management, and physical-link enablement; condense every right-side competitiveness and technology item to one short outcome-oriented statement.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c0744975c4f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370ef6cbea4af2" /><Relationship Type="http://schemas.openxmlformats.org/officeDocument/2006/relationships/slideLayout" Target="/ppt/slideLayouts/slideLayout1.xml" Id="R39908407edc548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908407edc548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513d494774090" /><Relationship Type="http://schemas.openxmlformats.org/officeDocument/2006/relationships/notesSlide" Target="/ppt/notesSlides/notesSlide1.xml" Id="Re9493d775f0c45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left-right-divider">
            <a:extLst xmlns:a="http://schemas.openxmlformats.org/drawingml/2006/main">
              <a:ext uri="{FF2B5EF4-FFF2-40B4-BE49-F238E27FC236}">
                <a16:creationId xmlns:a16="http://schemas.microsoft.com/office/drawing/2014/main" id="{F031A5C3-4E2F-469C-87F0-83799A3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0" cy="55340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6D01590-CAD5-42C1-B170-48A5774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19682E-9447-4DF4-BCEE-BEF3051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软硬协同构筑统一异构 KVCache 存储池，达成集群级复用与高效治理目标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465866-F947-406D-8613-69E91D08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深入融合 UB 底层能力｜重塑 KVCache 治理方式｜提升在线推理业务性能</a:t>
            </a:r>
          </a:p>
        </p:txBody>
      </p:sp>
      <p:sp>
        <p:nvSpPr>
          <p:cNvPr id="5" name="business-layer">
            <a:extLst xmlns:a="http://schemas.openxmlformats.org/drawingml/2006/main">
              <a:ext uri="{FF2B5EF4-FFF2-40B4-BE49-F238E27FC236}">
                <a16:creationId xmlns:a16="http://schemas.microsoft.com/office/drawing/2014/main" id="{CA64112B-DEF3-4CD8-A742-2A91E9EE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" name="business-layer-label">
            <a:extLst xmlns:a="http://schemas.openxmlformats.org/drawingml/2006/main">
              <a:ext uri="{FF2B5EF4-FFF2-40B4-BE49-F238E27FC236}">
                <a16:creationId xmlns:a16="http://schemas.microsoft.com/office/drawing/2014/main" id="{1F6F791E-F817-4964-BD1F-E06DE4A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72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7" name="business-layer-module-1">
            <a:extLst xmlns:a="http://schemas.openxmlformats.org/drawingml/2006/main">
              <a:ext uri="{FF2B5EF4-FFF2-40B4-BE49-F238E27FC236}">
                <a16:creationId xmlns:a16="http://schemas.microsoft.com/office/drawing/2014/main" id="{D8878649-7274-49F3-AA3B-CAC85F7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RAG 公共前缀</a:t>
            </a:r>
          </a:p>
        </p:txBody>
      </p:sp>
      <p:sp>
        <p:nvSpPr>
          <p:cNvPr id="8" name="business-layer-module-2">
            <a:extLst xmlns:a="http://schemas.openxmlformats.org/drawingml/2006/main">
              <a:ext uri="{FF2B5EF4-FFF2-40B4-BE49-F238E27FC236}">
                <a16:creationId xmlns:a16="http://schemas.microsoft.com/office/drawing/2014/main" id="{7322DB09-910E-4897-A988-A12CAEBA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多轮智能体</a:t>
            </a:r>
          </a:p>
        </p:txBody>
      </p:sp>
      <p:sp>
        <p:nvSpPr>
          <p:cNvPr id="9" name="business-layer-module-3">
            <a:extLst xmlns:a="http://schemas.openxmlformats.org/drawingml/2006/main">
              <a:ext uri="{FF2B5EF4-FFF2-40B4-BE49-F238E27FC236}">
                <a16:creationId xmlns:a16="http://schemas.microsoft.com/office/drawing/2014/main" id="{226D1680-F23B-4C95-9C98-E125B835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长上下文推理</a:t>
            </a:r>
          </a:p>
        </p:txBody>
      </p:sp>
      <p:sp>
        <p:nvSpPr>
          <p:cNvPr id="10" name="business-layer-module-4">
            <a:extLst xmlns:a="http://schemas.openxmlformats.org/drawingml/2006/main">
              <a:ext uri="{FF2B5EF4-FFF2-40B4-BE49-F238E27FC236}">
                <a16:creationId xmlns:a16="http://schemas.microsoft.com/office/drawing/2014/main" id="{E27FC5C3-7E0A-4C60-AA63-3F88E92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P/D 分离</a:t>
            </a:r>
          </a:p>
        </p:txBody>
      </p:sp>
      <p:sp>
        <p:nvSpPr>
          <p:cNvPr id="11" name="framework-layer">
            <a:extLst xmlns:a="http://schemas.openxmlformats.org/drawingml/2006/main">
              <a:ext uri="{FF2B5EF4-FFF2-40B4-BE49-F238E27FC236}">
                <a16:creationId xmlns:a16="http://schemas.microsoft.com/office/drawing/2014/main" id="{24D7C75C-219B-4696-9B8B-4DF1047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12" name="framework-layer-label">
            <a:extLst xmlns:a="http://schemas.openxmlformats.org/drawingml/2006/main">
              <a:ext uri="{FF2B5EF4-FFF2-40B4-BE49-F238E27FC236}">
                <a16:creationId xmlns:a16="http://schemas.microsoft.com/office/drawing/2014/main" id="{58C872D0-35EE-4169-9B1B-848945B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8115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solidFill>
              <a:srgbClr val="1D527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推理框架层</a:t>
            </a:r>
          </a:p>
        </p:txBody>
      </p:sp>
      <p:sp>
        <p:nvSpPr>
          <p:cNvPr id="13" name="framework-layer-module-1">
            <a:extLst xmlns:a="http://schemas.openxmlformats.org/drawingml/2006/main">
              <a:ext uri="{FF2B5EF4-FFF2-40B4-BE49-F238E27FC236}">
                <a16:creationId xmlns:a16="http://schemas.microsoft.com/office/drawing/2014/main" id="{02D32C15-EDCA-4648-A880-814952E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4" name="framework-layer-module-2">
            <a:extLst xmlns:a="http://schemas.openxmlformats.org/drawingml/2006/main">
              <a:ext uri="{FF2B5EF4-FFF2-40B4-BE49-F238E27FC236}">
                <a16:creationId xmlns:a16="http://schemas.microsoft.com/office/drawing/2014/main" id="{4667B033-1479-48B0-B284-C25D4D8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5" name="framework-layer-module-3">
            <a:extLst xmlns:a="http://schemas.openxmlformats.org/drawingml/2006/main">
              <a:ext uri="{FF2B5EF4-FFF2-40B4-BE49-F238E27FC236}">
                <a16:creationId xmlns:a16="http://schemas.microsoft.com/office/drawing/2014/main" id="{27E3A1A7-B713-4AD5-9533-6268EEB8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其他推理框架</a:t>
            </a:r>
          </a:p>
        </p:txBody>
      </p:sp>
      <p:sp>
        <p:nvSpPr>
          <p:cNvPr id="16" name="project-core-frame">
            <a:extLst xmlns:a="http://schemas.openxmlformats.org/drawingml/2006/main">
              <a:ext uri="{FF2B5EF4-FFF2-40B4-BE49-F238E27FC236}">
                <a16:creationId xmlns:a16="http://schemas.microsoft.com/office/drawing/2014/main" id="{FC2024A1-43EE-40AC-8011-76B7A7E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17" name="project-core-header">
            <a:extLst xmlns:a="http://schemas.openxmlformats.org/drawingml/2006/main">
              <a:ext uri="{FF2B5EF4-FFF2-40B4-BE49-F238E27FC236}">
                <a16:creationId xmlns:a16="http://schemas.microsoft.com/office/drawing/2014/main" id="{01351490-B2EC-45C4-9A6E-3DD2B6B0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1430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统一异构 KVCache 存储池｜核心技术分层</a:t>
            </a:r>
          </a:p>
        </p:txBody>
      </p:sp>
      <p:sp>
        <p:nvSpPr>
          <p:cNvPr id="18" name="project-layer-1">
            <a:extLst xmlns:a="http://schemas.openxmlformats.org/drawingml/2006/main">
              <a:ext uri="{FF2B5EF4-FFF2-40B4-BE49-F238E27FC236}">
                <a16:creationId xmlns:a16="http://schemas.microsoft.com/office/drawing/2014/main" id="{0524BFCD-8535-47A2-BE55-8B54172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3810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</p:sp>
      <p:sp>
        <p:nvSpPr>
          <p:cNvPr id="19" name="project-layer-1-accent">
            <a:extLst xmlns:a="http://schemas.openxmlformats.org/drawingml/2006/main">
              <a:ext uri="{FF2B5EF4-FFF2-40B4-BE49-F238E27FC236}">
                <a16:creationId xmlns:a16="http://schemas.microsoft.com/office/drawing/2014/main" id="{BC81DC65-49FF-493C-8255-1C92D25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20" name="project-layer-1-label">
            <a:extLst xmlns:a="http://schemas.openxmlformats.org/drawingml/2006/main">
              <a:ext uri="{FF2B5EF4-FFF2-40B4-BE49-F238E27FC236}">
                <a16:creationId xmlns:a16="http://schemas.microsoft.com/office/drawing/2014/main" id="{1EB5182A-BD97-434C-9DC8-7E1F399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028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L1/L2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框架适配层</a:t>
            </a:r>
          </a:p>
        </p:txBody>
      </p:sp>
      <p:sp>
        <p:nvSpPr>
          <p:cNvPr id="21" name="project-layer-1-component-1">
            <a:extLst xmlns:a="http://schemas.openxmlformats.org/drawingml/2006/main">
              <a:ext uri="{FF2B5EF4-FFF2-40B4-BE49-F238E27FC236}">
                <a16:creationId xmlns:a16="http://schemas.microsoft.com/office/drawing/2014/main" id="{D0A31AFC-5A6A-474D-95AB-4DE8B50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600325"/>
            <a:ext cx="847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 Connector</a:t>
            </a:r>
          </a:p>
        </p:txBody>
      </p:sp>
      <p:sp>
        <p:nvSpPr>
          <p:cNvPr id="22" name="project-layer-1-component-2">
            <a:extLst xmlns:a="http://schemas.openxmlformats.org/drawingml/2006/main">
              <a:ext uri="{FF2B5EF4-FFF2-40B4-BE49-F238E27FC236}">
                <a16:creationId xmlns:a16="http://schemas.microsoft.com/office/drawing/2014/main" id="{D492BF9A-952C-4597-A72A-1626AD6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00325"/>
            <a:ext cx="847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 Connector</a:t>
            </a:r>
          </a:p>
        </p:txBody>
      </p:sp>
      <p:sp>
        <p:nvSpPr>
          <p:cNvPr id="23" name="project-layer-1-component-3">
            <a:extLst xmlns:a="http://schemas.openxmlformats.org/drawingml/2006/main">
              <a:ext uri="{FF2B5EF4-FFF2-40B4-BE49-F238E27FC236}">
                <a16:creationId xmlns:a16="http://schemas.microsoft.com/office/drawing/2014/main" id="{8500F3EB-ACED-444A-867F-93DFA1B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0325"/>
            <a:ext cx="847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其他框架适配</a:t>
            </a:r>
          </a:p>
        </p:txBody>
      </p:sp>
      <p:sp>
        <p:nvSpPr>
          <p:cNvPr id="24" name="project-layer-2">
            <a:extLst xmlns:a="http://schemas.openxmlformats.org/drawingml/2006/main">
              <a:ext uri="{FF2B5EF4-FFF2-40B4-BE49-F238E27FC236}">
                <a16:creationId xmlns:a16="http://schemas.microsoft.com/office/drawing/2014/main" id="{7D419F8E-86D1-431C-A753-5F235B7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</p:sp>
      <p:sp>
        <p:nvSpPr>
          <p:cNvPr id="25" name="project-layer-2-accent">
            <a:extLst xmlns:a="http://schemas.openxmlformats.org/drawingml/2006/main">
              <a:ext uri="{FF2B5EF4-FFF2-40B4-BE49-F238E27FC236}">
                <a16:creationId xmlns:a16="http://schemas.microsoft.com/office/drawing/2014/main" id="{1DB4626D-C40A-4F01-A3EE-5464E1F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26" name="project-layer-2-label">
            <a:extLst xmlns:a="http://schemas.openxmlformats.org/drawingml/2006/main">
              <a:ext uri="{FF2B5EF4-FFF2-40B4-BE49-F238E27FC236}">
                <a16:creationId xmlns:a16="http://schemas.microsoft.com/office/drawing/2014/main" id="{5992366B-BAD1-4EB0-B43B-1B55CB2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1028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核心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管理层</a:t>
            </a:r>
          </a:p>
        </p:txBody>
      </p:sp>
      <p:sp>
        <p:nvSpPr>
          <p:cNvPr id="27" name="project-layer-2-component-1">
            <a:extLst xmlns:a="http://schemas.openxmlformats.org/drawingml/2006/main">
              <a:ext uri="{FF2B5EF4-FFF2-40B4-BE49-F238E27FC236}">
                <a16:creationId xmlns:a16="http://schemas.microsoft.com/office/drawing/2014/main" id="{50A50E10-7C63-4216-AB34-3CEE22C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400425"/>
            <a:ext cx="781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前缀匹配</a:t>
            </a:r>
          </a:p>
        </p:txBody>
      </p:sp>
      <p:sp>
        <p:nvSpPr>
          <p:cNvPr id="28" name="project-layer-2-component-2">
            <a:extLst xmlns:a="http://schemas.openxmlformats.org/drawingml/2006/main">
              <a:ext uri="{FF2B5EF4-FFF2-40B4-BE49-F238E27FC236}">
                <a16:creationId xmlns:a16="http://schemas.microsoft.com/office/drawing/2014/main" id="{5D199604-B4D4-4B94-86E3-95E01ED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00425"/>
            <a:ext cx="781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路由决策</a:t>
            </a:r>
          </a:p>
        </p:txBody>
      </p:sp>
      <p:sp>
        <p:nvSpPr>
          <p:cNvPr id="29" name="project-layer-2-component-3">
            <a:extLst xmlns:a="http://schemas.openxmlformats.org/drawingml/2006/main">
              <a:ext uri="{FF2B5EF4-FFF2-40B4-BE49-F238E27FC236}">
                <a16:creationId xmlns:a16="http://schemas.microsoft.com/office/drawing/2014/main" id="{FDA32E45-0EBE-4C9D-AFA8-123D1CF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00425"/>
            <a:ext cx="9810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KVCache传输</a:t>
            </a:r>
          </a:p>
        </p:txBody>
      </p:sp>
      <p:sp>
        <p:nvSpPr>
          <p:cNvPr id="30" name="project-layer-3">
            <a:extLst xmlns:a="http://schemas.openxmlformats.org/drawingml/2006/main">
              <a:ext uri="{FF2B5EF4-FFF2-40B4-BE49-F238E27FC236}">
                <a16:creationId xmlns:a16="http://schemas.microsoft.com/office/drawing/2014/main" id="{E6015CC6-1072-405D-9CEB-E8837DA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381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</p:sp>
      <p:sp>
        <p:nvSpPr>
          <p:cNvPr id="31" name="project-layer-3-accent">
            <a:extLst xmlns:a="http://schemas.openxmlformats.org/drawingml/2006/main">
              <a:ext uri="{FF2B5EF4-FFF2-40B4-BE49-F238E27FC236}">
                <a16:creationId xmlns:a16="http://schemas.microsoft.com/office/drawing/2014/main" id="{E4682249-24CE-4BF8-87ED-AC56915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2" name="project-layer-3-label">
            <a:extLst xmlns:a="http://schemas.openxmlformats.org/drawingml/2006/main">
              <a:ext uri="{FF2B5EF4-FFF2-40B4-BE49-F238E27FC236}">
                <a16:creationId xmlns:a16="http://schemas.microsoft.com/office/drawing/2014/main" id="{5E42BE83-49D1-448E-ADE8-620E468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1028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物理链路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使能层</a:t>
            </a:r>
          </a:p>
        </p:txBody>
      </p:sp>
      <p:sp>
        <p:nvSpPr>
          <p:cNvPr id="33" name="project-layer-3-component-1">
            <a:extLst xmlns:a="http://schemas.openxmlformats.org/drawingml/2006/main">
              <a:ext uri="{FF2B5EF4-FFF2-40B4-BE49-F238E27FC236}">
                <a16:creationId xmlns:a16="http://schemas.microsoft.com/office/drawing/2014/main" id="{27D6072F-C924-4A57-8B81-0B2C607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00475"/>
            <a:ext cx="104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KVCache拉取</a:t>
            </a:r>
          </a:p>
        </p:txBody>
      </p:sp>
      <p:sp>
        <p:nvSpPr>
          <p:cNvPr id="34" name="project-layer-3-component-2">
            <a:extLst xmlns:a="http://schemas.openxmlformats.org/drawingml/2006/main">
              <a:ext uri="{FF2B5EF4-FFF2-40B4-BE49-F238E27FC236}">
                <a16:creationId xmlns:a16="http://schemas.microsoft.com/office/drawing/2014/main" id="{E444C5B5-9436-4FF2-A3CB-9FF0EAA5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00475"/>
            <a:ext cx="104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状态同步</a:t>
            </a:r>
          </a:p>
        </p:txBody>
      </p:sp>
      <p:sp>
        <p:nvSpPr>
          <p:cNvPr id="35" name="project-layer-3-component-3">
            <a:extLst xmlns:a="http://schemas.openxmlformats.org/drawingml/2006/main">
              <a:ext uri="{FF2B5EF4-FFF2-40B4-BE49-F238E27FC236}">
                <a16:creationId xmlns:a16="http://schemas.microsoft.com/office/drawing/2014/main" id="{8EABC325-8EDF-48EA-A386-1BE26AF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400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UBMEM接口</a:t>
            </a:r>
          </a:p>
        </p:txBody>
      </p:sp>
      <p:sp>
        <p:nvSpPr>
          <p:cNvPr id="39" name="project-layer-4-component-1">
            <a:extLst xmlns:a="http://schemas.openxmlformats.org/drawingml/2006/main">
              <a:ext uri="{FF2B5EF4-FFF2-40B4-BE49-F238E27FC236}">
                <a16:creationId xmlns:a16="http://schemas.microsoft.com/office/drawing/2014/main" id="{045AF091-1D48-4F14-82C7-56211FC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00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URMA接口</a:t>
            </a:r>
          </a:p>
        </p:txBody>
      </p:sp>
      <p:sp>
        <p:nvSpPr>
          <p:cNvPr id="40" name="project-layer-4-component-2">
            <a:extLst xmlns:a="http://schemas.openxmlformats.org/drawingml/2006/main">
              <a:ext uri="{FF2B5EF4-FFF2-40B4-BE49-F238E27FC236}">
                <a16:creationId xmlns:a16="http://schemas.microsoft.com/office/drawing/2014/main" id="{2E3A9148-42D1-447C-940E-45B3C65E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79107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DPU接口</a:t>
            </a:r>
          </a:p>
        </p:txBody>
      </p:sp>
      <p:sp>
        <p:nvSpPr>
          <p:cNvPr id="41" name="project-layer-4-component-3">
            <a:extLst xmlns:a="http://schemas.openxmlformats.org/drawingml/2006/main">
              <a:ext uri="{FF2B5EF4-FFF2-40B4-BE49-F238E27FC236}">
                <a16:creationId xmlns:a16="http://schemas.microsoft.com/office/drawing/2014/main" id="{689A1CC4-88D2-40A3-9246-5073C7E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9107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分层存储I/O</a:t>
            </a:r>
          </a:p>
        </p:txBody>
      </p:sp>
      <p:sp>
        <p:nvSpPr>
          <p:cNvPr id="42" name="ecosystem-sidebar-frame">
            <a:extLst xmlns:a="http://schemas.openxmlformats.org/drawingml/2006/main">
              <a:ext uri="{FF2B5EF4-FFF2-40B4-BE49-F238E27FC236}">
                <a16:creationId xmlns:a16="http://schemas.microsoft.com/office/drawing/2014/main" id="{ABB75BBA-A133-4931-8F3B-7F10D7D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0478">
            <a:solidFill>
              <a:srgbClr val="CDD3DB"/>
            </a:solidFill>
            <a:prstDash val="solid"/>
          </a:ln>
        </p:spPr>
      </p:sp>
      <p:sp>
        <p:nvSpPr>
          <p:cNvPr id="43" name="ecosystem-sidebar-header">
            <a:extLst xmlns:a="http://schemas.openxmlformats.org/drawingml/2006/main">
              <a:ext uri="{FF2B5EF4-FFF2-40B4-BE49-F238E27FC236}">
                <a16:creationId xmlns:a16="http://schemas.microsoft.com/office/drawing/2014/main" id="{7AB9312E-91F8-4A8E-B9B3-25D16D2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  <p:txBody>
          <a:bodyPr xmlns:a="http://schemas.openxmlformats.org/drawingml/2006/main" wrap="square" lIns="857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在线推理相关中间件</a:t>
            </a:r>
          </a:p>
        </p:txBody>
      </p:sp>
      <p:sp>
        <p:nvSpPr>
          <p:cNvPr id="44" name="ecosystem-zone-runtime">
            <a:extLst xmlns:a="http://schemas.openxmlformats.org/drawingml/2006/main">
              <a:ext uri="{FF2B5EF4-FFF2-40B4-BE49-F238E27FC236}">
                <a16:creationId xmlns:a16="http://schemas.microsoft.com/office/drawing/2014/main" id="{440A3615-0ABA-4934-A74A-386C50C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ecosystem-zone-runtime-title">
            <a:extLst xmlns:a="http://schemas.openxmlformats.org/drawingml/2006/main">
              <a:ext uri="{FF2B5EF4-FFF2-40B4-BE49-F238E27FC236}">
                <a16:creationId xmlns:a16="http://schemas.microsoft.com/office/drawing/2014/main" id="{DF88795E-462C-4C76-8BFB-6ECC8762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框架运行 / 模型执行</a:t>
            </a:r>
          </a:p>
        </p:txBody>
      </p:sp>
      <p:sp>
        <p:nvSpPr>
          <p:cNvPr id="46" name="ecosystem-zone-runtime-items">
            <a:extLst xmlns:a="http://schemas.openxmlformats.org/drawingml/2006/main">
              <a:ext uri="{FF2B5EF4-FFF2-40B4-BE49-F238E27FC236}">
                <a16:creationId xmlns:a16="http://schemas.microsoft.com/office/drawing/2014/main" id="{133491B2-F457-417C-987D-D4D368C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ecosystem-zone-compute">
            <a:extLst xmlns:a="http://schemas.openxmlformats.org/drawingml/2006/main">
              <a:ext uri="{FF2B5EF4-FFF2-40B4-BE49-F238E27FC236}">
                <a16:creationId xmlns:a16="http://schemas.microsoft.com/office/drawing/2014/main" id="{59B64C04-0FD2-40EA-BB87-260BAE3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2422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ecosystem-zone-compute-title">
            <a:extLst xmlns:a="http://schemas.openxmlformats.org/drawingml/2006/main">
              <a:ext uri="{FF2B5EF4-FFF2-40B4-BE49-F238E27FC236}">
                <a16:creationId xmlns:a16="http://schemas.microsoft.com/office/drawing/2014/main" id="{CD696C0A-02EF-42C7-8E36-CD67B66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计算加速 / 并行通信</a:t>
            </a:r>
          </a:p>
        </p:txBody>
      </p:sp>
      <p:sp>
        <p:nvSpPr>
          <p:cNvPr id="49" name="ecosystem-zone-compute-items">
            <a:extLst xmlns:a="http://schemas.openxmlformats.org/drawingml/2006/main">
              <a:ext uri="{FF2B5EF4-FFF2-40B4-BE49-F238E27FC236}">
                <a16:creationId xmlns:a16="http://schemas.microsoft.com/office/drawing/2014/main" id="{B8E575A0-D42A-4C3F-A1AD-57DA494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ecosystem-zone-transport">
            <a:extLst xmlns:a="http://schemas.openxmlformats.org/drawingml/2006/main">
              <a:ext uri="{FF2B5EF4-FFF2-40B4-BE49-F238E27FC236}">
                <a16:creationId xmlns:a16="http://schemas.microsoft.com/office/drawing/2014/main" id="{517B4436-C8C3-4BF1-AC02-7D9825B3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57675"/>
            <a:ext cx="1485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ecosystem-zone-transport-title">
            <a:extLst xmlns:a="http://schemas.openxmlformats.org/drawingml/2006/main">
              <a:ext uri="{FF2B5EF4-FFF2-40B4-BE49-F238E27FC236}">
                <a16:creationId xmlns:a16="http://schemas.microsoft.com/office/drawing/2014/main" id="{EF31FBBC-77CB-4E0B-BF5C-7C4EB52B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957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传输 / 存储访问</a:t>
            </a:r>
          </a:p>
        </p:txBody>
      </p:sp>
      <p:sp>
        <p:nvSpPr>
          <p:cNvPr id="52" name="ecosystem-zone-transport-items">
            <a:extLst xmlns:a="http://schemas.openxmlformats.org/drawingml/2006/main">
              <a:ext uri="{FF2B5EF4-FFF2-40B4-BE49-F238E27FC236}">
                <a16:creationId xmlns:a16="http://schemas.microsoft.com/office/drawing/2014/main" id="{D6099394-66F0-409F-AEB2-1EFDD37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3" name="os-driver-layer">
            <a:extLst xmlns:a="http://schemas.openxmlformats.org/drawingml/2006/main">
              <a:ext uri="{FF2B5EF4-FFF2-40B4-BE49-F238E27FC236}">
                <a16:creationId xmlns:a16="http://schemas.microsoft.com/office/drawing/2014/main" id="{46F37FD0-0EAD-4318-841C-CC1F06D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54" name="os-driver-layer-label">
            <a:extLst xmlns:a="http://schemas.openxmlformats.org/drawingml/2006/main">
              <a:ext uri="{FF2B5EF4-FFF2-40B4-BE49-F238E27FC236}">
                <a16:creationId xmlns:a16="http://schemas.microsoft.com/office/drawing/2014/main" id="{5B2DB045-1F8C-420A-8FB5-5988E68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1020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7C"/>
          </a:solidFill>
          <a:ln xmlns:a="http://schemas.openxmlformats.org/drawingml/2006/main" w="0">
            <a:solidFill>
              <a:srgbClr val="516B7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63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OS／驱动层</a:t>
            </a:r>
          </a:p>
        </p:txBody>
      </p:sp>
      <p:sp>
        <p:nvSpPr>
          <p:cNvPr id="55" name="os-driver-layer-module-1">
            <a:extLst xmlns:a="http://schemas.openxmlformats.org/drawingml/2006/main">
              <a:ext uri="{FF2B5EF4-FFF2-40B4-BE49-F238E27FC236}">
                <a16:creationId xmlns:a16="http://schemas.microsoft.com/office/drawing/2014/main" id="{03222785-808A-47F5-A012-D1BD5AD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Runtime</a:t>
            </a:r>
          </a:p>
        </p:txBody>
      </p:sp>
      <p:sp>
        <p:nvSpPr>
          <p:cNvPr id="56" name="os-driver-layer-module-2">
            <a:extLst xmlns:a="http://schemas.openxmlformats.org/drawingml/2006/main">
              <a:ext uri="{FF2B5EF4-FFF2-40B4-BE49-F238E27FC236}">
                <a16:creationId xmlns:a16="http://schemas.microsoft.com/office/drawing/2014/main" id="{E7D6D90B-55F4-4838-B7DE-24D35F6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UB/RDMA驱动</a:t>
            </a:r>
          </a:p>
        </p:txBody>
      </p:sp>
      <p:sp>
        <p:nvSpPr>
          <p:cNvPr id="57" name="os-driver-layer-module-3">
            <a:extLst xmlns:a="http://schemas.openxmlformats.org/drawingml/2006/main">
              <a:ext uri="{FF2B5EF4-FFF2-40B4-BE49-F238E27FC236}">
                <a16:creationId xmlns:a16="http://schemas.microsoft.com/office/drawing/2014/main" id="{04A23BC4-6238-4E00-8C4A-77E410FC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内存映射/一致性</a:t>
            </a:r>
          </a:p>
        </p:txBody>
      </p:sp>
      <p:sp>
        <p:nvSpPr>
          <p:cNvPr id="58" name="os-driver-layer-module-4">
            <a:extLst xmlns:a="http://schemas.openxmlformats.org/drawingml/2006/main">
              <a:ext uri="{FF2B5EF4-FFF2-40B4-BE49-F238E27FC236}">
                <a16:creationId xmlns:a16="http://schemas.microsoft.com/office/drawing/2014/main" id="{FF268C81-AC76-413C-97B4-2C53F44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存储I/O/NVMe</a:t>
            </a:r>
          </a:p>
        </p:txBody>
      </p:sp>
      <p:sp>
        <p:nvSpPr>
          <p:cNvPr id="59" name="hardware-layer">
            <a:extLst xmlns:a="http://schemas.openxmlformats.org/drawingml/2006/main">
              <a:ext uri="{FF2B5EF4-FFF2-40B4-BE49-F238E27FC236}">
                <a16:creationId xmlns:a16="http://schemas.microsoft.com/office/drawing/2014/main" id="{97B7DD62-15CD-43DE-8B35-B518A99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0" name="hardware-layer-label">
            <a:extLst xmlns:a="http://schemas.openxmlformats.org/drawingml/2006/main">
              <a:ext uri="{FF2B5EF4-FFF2-40B4-BE49-F238E27FC236}">
                <a16:creationId xmlns:a16="http://schemas.microsoft.com/office/drawing/2014/main" id="{603DC486-748D-4844-B4D6-C6CA643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340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A5B"/>
          </a:solidFill>
          <a:ln xmlns:a="http://schemas.openxmlformats.org/drawingml/2006/main" w="0">
            <a:solidFill>
              <a:srgbClr val="354A5B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异构硬件层</a:t>
            </a:r>
          </a:p>
        </p:txBody>
      </p:sp>
      <p:sp>
        <p:nvSpPr>
          <p:cNvPr id="61" name="hardware-layer-module-1">
            <a:extLst xmlns:a="http://schemas.openxmlformats.org/drawingml/2006/main">
              <a:ext uri="{FF2B5EF4-FFF2-40B4-BE49-F238E27FC236}">
                <a16:creationId xmlns:a16="http://schemas.microsoft.com/office/drawing/2014/main" id="{A0D9C9D4-61C8-4EC2-BFC1-78A2BE5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/ HBM</a:t>
            </a:r>
          </a:p>
        </p:txBody>
      </p:sp>
      <p:sp>
        <p:nvSpPr>
          <p:cNvPr id="62" name="hardware-layer-module-2">
            <a:extLst xmlns:a="http://schemas.openxmlformats.org/drawingml/2006/main">
              <a:ext uri="{FF2B5EF4-FFF2-40B4-BE49-F238E27FC236}">
                <a16:creationId xmlns:a16="http://schemas.microsoft.com/office/drawing/2014/main" id="{88E68589-181D-4787-81AB-ABB1E86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CPU / DDR</a:t>
            </a:r>
          </a:p>
        </p:txBody>
      </p:sp>
      <p:sp>
        <p:nvSpPr>
          <p:cNvPr id="63" name="hardware-layer-module-3">
            <a:extLst xmlns:a="http://schemas.openxmlformats.org/drawingml/2006/main">
              <a:ext uri="{FF2B5EF4-FFF2-40B4-BE49-F238E27FC236}">
                <a16:creationId xmlns:a16="http://schemas.microsoft.com/office/drawing/2014/main" id="{14B70E4A-9664-43DE-9578-B7772C6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NIC / UB / C2C</a:t>
            </a:r>
          </a:p>
        </p:txBody>
      </p:sp>
      <p:sp>
        <p:nvSpPr>
          <p:cNvPr id="64" name="hardware-layer-module-4">
            <a:extLst xmlns:a="http://schemas.openxmlformats.org/drawingml/2006/main">
              <a:ext uri="{FF2B5EF4-FFF2-40B4-BE49-F238E27FC236}">
                <a16:creationId xmlns:a16="http://schemas.microsoft.com/office/drawing/2014/main" id="{2BBD8022-ECC6-4F95-9E17-7C6C925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 SSD</a:t>
            </a:r>
          </a:p>
        </p:txBody>
      </p:sp>
      <p:sp>
        <p:nvSpPr>
          <p:cNvPr id="65" name="scope-note">
            <a:extLst xmlns:a="http://schemas.openxmlformats.org/drawingml/2006/main">
              <a:ext uri="{FF2B5EF4-FFF2-40B4-BE49-F238E27FC236}">
                <a16:creationId xmlns:a16="http://schemas.microsoft.com/office/drawing/2014/main" id="{52F4355C-BC05-49D0-9A6E-5ADF87D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彩色：项目核心覆盖｜灰色：在线推理生态参照</a:t>
            </a:r>
          </a:p>
        </p:txBody>
      </p:sp>
      <p:sp>
        <p:nvSpPr>
          <p:cNvPr id="67" name="ecosystem-zone-runtime-component-1">
            <a:extLst xmlns:a="http://schemas.openxmlformats.org/drawingml/2006/main">
              <a:ext uri="{FF2B5EF4-FFF2-40B4-BE49-F238E27FC236}">
                <a16:creationId xmlns:a16="http://schemas.microsoft.com/office/drawing/2014/main" id="{E5115650-7D0F-417A-BD56-2A3E458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Ray</a:t>
            </a:r>
          </a:p>
        </p:txBody>
      </p:sp>
      <p:sp>
        <p:nvSpPr>
          <p:cNvPr id="68" name="ecosystem-zone-runtime-component-2">
            <a:extLst xmlns:a="http://schemas.openxmlformats.org/drawingml/2006/main">
              <a:ext uri="{FF2B5EF4-FFF2-40B4-BE49-F238E27FC236}">
                <a16:creationId xmlns:a16="http://schemas.microsoft.com/office/drawing/2014/main" id="{712D8B97-7740-4429-B913-7A41CC1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MP</a:t>
            </a:r>
          </a:p>
        </p:txBody>
      </p:sp>
      <p:sp>
        <p:nvSpPr>
          <p:cNvPr id="69" name="ecosystem-zone-runtime-component-3">
            <a:extLst xmlns:a="http://schemas.openxmlformats.org/drawingml/2006/main">
              <a:ext uri="{FF2B5EF4-FFF2-40B4-BE49-F238E27FC236}">
                <a16:creationId xmlns:a16="http://schemas.microsoft.com/office/drawing/2014/main" id="{D4D4E7C3-9DE1-47EE-BC7D-D96BF948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70" name="ecosystem-zone-runtime-component-4">
            <a:extLst xmlns:a="http://schemas.openxmlformats.org/drawingml/2006/main">
              <a:ext uri="{FF2B5EF4-FFF2-40B4-BE49-F238E27FC236}">
                <a16:creationId xmlns:a16="http://schemas.microsoft.com/office/drawing/2014/main" id="{0EC242A0-D9B0-4604-9496-DF4C8D8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图编译</a:t>
            </a:r>
          </a:p>
        </p:txBody>
      </p:sp>
      <p:sp>
        <p:nvSpPr>
          <p:cNvPr id="71" name="ecosystem-zone-runtime-component-5">
            <a:extLst xmlns:a="http://schemas.openxmlformats.org/drawingml/2006/main">
              <a:ext uri="{FF2B5EF4-FFF2-40B4-BE49-F238E27FC236}">
                <a16:creationId xmlns:a16="http://schemas.microsoft.com/office/drawing/2014/main" id="{8F539A3D-B0AD-4C64-967B-0C30C1D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权重加载</a:t>
            </a:r>
          </a:p>
        </p:txBody>
      </p:sp>
      <p:sp>
        <p:nvSpPr>
          <p:cNvPr id="72" name="ecosystem-zone-runtime-component-6">
            <a:extLst xmlns:a="http://schemas.openxmlformats.org/drawingml/2006/main">
              <a:ext uri="{FF2B5EF4-FFF2-40B4-BE49-F238E27FC236}">
                <a16:creationId xmlns:a16="http://schemas.microsoft.com/office/drawing/2014/main" id="{65A992D3-BE94-409A-A84C-C483ACF7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846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Adapter管理</a:t>
            </a:r>
          </a:p>
        </p:txBody>
      </p:sp>
      <p:sp>
        <p:nvSpPr>
          <p:cNvPr id="73" name="ecosystem-zone-compute-component-1">
            <a:extLst xmlns:a="http://schemas.openxmlformats.org/drawingml/2006/main">
              <a:ext uri="{FF2B5EF4-FFF2-40B4-BE49-F238E27FC236}">
                <a16:creationId xmlns:a16="http://schemas.microsoft.com/office/drawing/2014/main" id="{2D3DA8A2-C8C4-4754-B222-AA264AA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979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FlashAttention</a:t>
            </a:r>
          </a:p>
        </p:txBody>
      </p:sp>
      <p:sp>
        <p:nvSpPr>
          <p:cNvPr id="74" name="ecosystem-zone-compute-component-2">
            <a:extLst xmlns:a="http://schemas.openxmlformats.org/drawingml/2006/main">
              <a:ext uri="{FF2B5EF4-FFF2-40B4-BE49-F238E27FC236}">
                <a16:creationId xmlns:a16="http://schemas.microsoft.com/office/drawing/2014/main" id="{6538262F-BAF7-45C6-995A-BF0CB58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Triton</a:t>
            </a:r>
          </a:p>
        </p:txBody>
      </p:sp>
      <p:sp>
        <p:nvSpPr>
          <p:cNvPr id="75" name="ecosystem-zone-compute-component-3">
            <a:extLst xmlns:a="http://schemas.openxmlformats.org/drawingml/2006/main">
              <a:ext uri="{FF2B5EF4-FFF2-40B4-BE49-F238E27FC236}">
                <a16:creationId xmlns:a16="http://schemas.microsoft.com/office/drawing/2014/main" id="{92732865-6DF9-489B-9760-A8F5E68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HCCL</a:t>
            </a:r>
          </a:p>
        </p:txBody>
      </p:sp>
      <p:sp>
        <p:nvSpPr>
          <p:cNvPr id="76" name="ecosystem-zone-compute-component-4">
            <a:extLst xmlns:a="http://schemas.openxmlformats.org/drawingml/2006/main">
              <a:ext uri="{FF2B5EF4-FFF2-40B4-BE49-F238E27FC236}">
                <a16:creationId xmlns:a16="http://schemas.microsoft.com/office/drawing/2014/main" id="{C0839510-2074-49B2-913D-32129BA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NCCL</a:t>
            </a:r>
          </a:p>
        </p:txBody>
      </p:sp>
      <p:sp>
        <p:nvSpPr>
          <p:cNvPr id="77" name="ecosystem-zone-compute-component-5">
            <a:extLst xmlns:a="http://schemas.openxmlformats.org/drawingml/2006/main">
              <a:ext uri="{FF2B5EF4-FFF2-40B4-BE49-F238E27FC236}">
                <a16:creationId xmlns:a16="http://schemas.microsoft.com/office/drawing/2014/main" id="{0144A79F-2685-43CF-9374-E2C7FA34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通用缓存</a:t>
            </a:r>
          </a:p>
        </p:txBody>
      </p:sp>
      <p:sp>
        <p:nvSpPr>
          <p:cNvPr id="78" name="ecosystem-zone-compute-component-6">
            <a:extLst xmlns:a="http://schemas.openxmlformats.org/drawingml/2006/main">
              <a:ext uri="{FF2B5EF4-FFF2-40B4-BE49-F238E27FC236}">
                <a16:creationId xmlns:a16="http://schemas.microsoft.com/office/drawing/2014/main" id="{9BF91C4E-F7E6-4871-99E0-1A05713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对象访问</a:t>
            </a:r>
          </a:p>
        </p:txBody>
      </p:sp>
      <p:sp>
        <p:nvSpPr>
          <p:cNvPr id="79" name="ecosystem-zone-transport-component-1">
            <a:extLst xmlns:a="http://schemas.openxmlformats.org/drawingml/2006/main">
              <a:ext uri="{FF2B5EF4-FFF2-40B4-BE49-F238E27FC236}">
                <a16:creationId xmlns:a16="http://schemas.microsoft.com/office/drawing/2014/main" id="{CA49F2FA-91D2-4E9F-97B9-D481303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NIXL</a:t>
            </a:r>
          </a:p>
        </p:txBody>
      </p:sp>
      <p:sp>
        <p:nvSpPr>
          <p:cNvPr id="80" name="ecosystem-zone-transport-component-2">
            <a:extLst xmlns:a="http://schemas.openxmlformats.org/drawingml/2006/main">
              <a:ext uri="{FF2B5EF4-FFF2-40B4-BE49-F238E27FC236}">
                <a16:creationId xmlns:a16="http://schemas.microsoft.com/office/drawing/2014/main" id="{0116E26F-17A9-4B55-974D-CFBF8C5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UCX</a:t>
            </a:r>
          </a:p>
        </p:txBody>
      </p:sp>
      <p:sp>
        <p:nvSpPr>
          <p:cNvPr id="81" name="ecosystem-zone-transport-component-3">
            <a:extLst xmlns:a="http://schemas.openxmlformats.org/drawingml/2006/main">
              <a:ext uri="{FF2B5EF4-FFF2-40B4-BE49-F238E27FC236}">
                <a16:creationId xmlns:a16="http://schemas.microsoft.com/office/drawing/2014/main" id="{86E86099-E196-4CF7-BF60-6536F07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libfabric</a:t>
            </a:r>
          </a:p>
        </p:txBody>
      </p:sp>
      <p:sp>
        <p:nvSpPr>
          <p:cNvPr id="82" name="ecosystem-zone-transport-component-4">
            <a:extLst xmlns:a="http://schemas.openxmlformats.org/drawingml/2006/main">
              <a:ext uri="{FF2B5EF4-FFF2-40B4-BE49-F238E27FC236}">
                <a16:creationId xmlns:a16="http://schemas.microsoft.com/office/drawing/2014/main" id="{2FD0E2BE-756C-4C97-A976-26544F75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SPDK</a:t>
            </a:r>
          </a:p>
        </p:txBody>
      </p:sp>
      <p:sp>
        <p:nvSpPr>
          <p:cNvPr id="83" name="ecosystem-zone-transport-component-5">
            <a:extLst xmlns:a="http://schemas.openxmlformats.org/drawingml/2006/main">
              <a:ext uri="{FF2B5EF4-FFF2-40B4-BE49-F238E27FC236}">
                <a16:creationId xmlns:a16="http://schemas.microsoft.com/office/drawing/2014/main" id="{9A946348-7E6F-4CF1-8144-7AF12E0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io_uring</a:t>
            </a:r>
          </a:p>
        </p:txBody>
      </p:sp>
      <p:sp>
        <p:nvSpPr>
          <p:cNvPr id="84" name="ecosystem-zone-transport-component-6">
            <a:extLst xmlns:a="http://schemas.openxmlformats.org/drawingml/2006/main">
              <a:ext uri="{FF2B5EF4-FFF2-40B4-BE49-F238E27FC236}">
                <a16:creationId xmlns:a16="http://schemas.microsoft.com/office/drawing/2014/main" id="{1A03C5E1-3270-43FA-BA06-52E68FE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gRPC / 消息通信</a:t>
            </a:r>
          </a:p>
        </p:txBody>
      </p:sp>
      <p:sp>
        <p:nvSpPr>
          <p:cNvPr id="85" name="key-competitiveness-heading-accent">
            <a:extLst xmlns:a="http://schemas.openxmlformats.org/drawingml/2006/main">
              <a:ext uri="{FF2B5EF4-FFF2-40B4-BE49-F238E27FC236}">
                <a16:creationId xmlns:a16="http://schemas.microsoft.com/office/drawing/2014/main" id="{945DEED7-07AD-473E-A63F-33925FD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2870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6" name="key-competitiveness-heading">
            <a:extLst xmlns:a="http://schemas.openxmlformats.org/drawingml/2006/main">
              <a:ext uri="{FF2B5EF4-FFF2-40B4-BE49-F238E27FC236}">
                <a16:creationId xmlns:a16="http://schemas.microsoft.com/office/drawing/2014/main" id="{CEB019C2-E3C4-4F55-BB6E-0A6F6B5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00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rPr>
              <a:t>关键竞争力</a:t>
            </a:r>
          </a:p>
        </p:txBody>
      </p:sp>
      <p:sp>
        <p:nvSpPr>
          <p:cNvPr id="87" name="key-competitiveness-1-marker">
            <a:extLst xmlns:a="http://schemas.openxmlformats.org/drawingml/2006/main">
              <a:ext uri="{FF2B5EF4-FFF2-40B4-BE49-F238E27FC236}">
                <a16:creationId xmlns:a16="http://schemas.microsoft.com/office/drawing/2014/main" id="{2566B519-4F46-4EE8-97AE-0C70D756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38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8" name="key-competitiveness-1-title">
            <a:extLst xmlns:a="http://schemas.openxmlformats.org/drawingml/2006/main">
              <a:ext uri="{FF2B5EF4-FFF2-40B4-BE49-F238E27FC236}">
                <a16:creationId xmlns:a16="http://schemas.microsoft.com/office/drawing/2014/main" id="{7440B415-EDEF-46A2-A36D-966EF1E8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19225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跨框架、跨节点统一匹配与复用，可消费命中率提升 ≥20%，减少重复 Prefill。</a:t>
            </a:r>
          </a:p>
        </p:txBody>
      </p:sp>
      <p:sp>
        <p:nvSpPr>
          <p:cNvPr id="90" name="key-competitiveness-2-marker">
            <a:extLst xmlns:a="http://schemas.openxmlformats.org/drawingml/2006/main">
              <a:ext uri="{FF2B5EF4-FFF2-40B4-BE49-F238E27FC236}">
                <a16:creationId xmlns:a16="http://schemas.microsoft.com/office/drawing/2014/main" id="{E57E5335-70F0-4AEE-8CBB-4644F9AC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193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key-competitiveness-2-title">
            <a:extLst xmlns:a="http://schemas.openxmlformats.org/drawingml/2006/main">
              <a:ext uri="{FF2B5EF4-FFF2-40B4-BE49-F238E27FC236}">
                <a16:creationId xmlns:a16="http://schemas.microsoft.com/office/drawing/2014/main" id="{43D54307-0606-4A39-8B17-3EC23C96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0275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正收益选路与异构分层协同，P99 TTFT 降低 ≥20%、HBM 有效容量提升 ≥30%、P99 TPOT 劣化 ≤3%。</a:t>
            </a:r>
          </a:p>
        </p:txBody>
      </p:sp>
      <p:sp>
        <p:nvSpPr>
          <p:cNvPr id="93" name="right-section-separator">
            <a:extLst xmlns:a="http://schemas.openxmlformats.org/drawingml/2006/main">
              <a:ext uri="{FF2B5EF4-FFF2-40B4-BE49-F238E27FC236}">
                <a16:creationId xmlns:a16="http://schemas.microsoft.com/office/drawing/2014/main" id="{738B2825-8C78-4CD0-87BF-A0C0C63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146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7"/>
          </a:solidFill>
          <a:ln xmlns:a="http://schemas.openxmlformats.org/drawingml/2006/main" w="0">
            <a:solidFill>
              <a:srgbClr val="D5DDE7"/>
            </a:solidFill>
            <a:prstDash val="solid"/>
          </a:ln>
        </p:spPr>
      </p:sp>
      <p:sp>
        <p:nvSpPr>
          <p:cNvPr id="94" name="key-technology-heading-accent">
            <a:extLst xmlns:a="http://schemas.openxmlformats.org/drawingml/2006/main">
              <a:ext uri="{FF2B5EF4-FFF2-40B4-BE49-F238E27FC236}">
                <a16:creationId xmlns:a16="http://schemas.microsoft.com/office/drawing/2014/main" id="{42DAA627-0001-43D7-975C-695FEB10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</p:sp>
      <p:sp>
        <p:nvSpPr>
          <p:cNvPr id="95" name="key-technology-heading">
            <a:extLst xmlns:a="http://schemas.openxmlformats.org/drawingml/2006/main">
              <a:ext uri="{FF2B5EF4-FFF2-40B4-BE49-F238E27FC236}">
                <a16:creationId xmlns:a16="http://schemas.microsoft.com/office/drawing/2014/main" id="{5D9B2463-5978-48CE-9832-B19BD83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96" name="key-technology-1-marker">
            <a:extLst xmlns:a="http://schemas.openxmlformats.org/drawingml/2006/main">
              <a:ext uri="{FF2B5EF4-FFF2-40B4-BE49-F238E27FC236}">
                <a16:creationId xmlns:a16="http://schemas.microsoft.com/office/drawing/2014/main" id="{4298D421-E99C-43A1-A076-4D96E0F3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052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97" name="key-technology-1-title">
            <a:extLst xmlns:a="http://schemas.openxmlformats.org/drawingml/2006/main">
              <a:ext uri="{FF2B5EF4-FFF2-40B4-BE49-F238E27FC236}">
                <a16:creationId xmlns:a16="http://schemas.microsoft.com/office/drawing/2014/main" id="{DB5AC46E-6EF5-4929-BC6D-2DB6B55A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861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URMA 承载大块 KV 正文、UBMEM 同步高频元数据，构建跨节点高性能传输底座。</a:t>
            </a:r>
          </a:p>
        </p:txBody>
      </p:sp>
      <p:sp>
        <p:nvSpPr>
          <p:cNvPr id="99" name="key-technology-2-marker">
            <a:extLst xmlns:a="http://schemas.openxmlformats.org/drawingml/2006/main">
              <a:ext uri="{FF2B5EF4-FFF2-40B4-BE49-F238E27FC236}">
                <a16:creationId xmlns:a16="http://schemas.microsoft.com/office/drawing/2014/main" id="{E4432160-49F5-4264-8D2E-E29B782E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767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00" name="key-technology-2-title">
            <a:extLst xmlns:a="http://schemas.openxmlformats.org/drawingml/2006/main">
              <a:ext uri="{FF2B5EF4-FFF2-40B4-BE49-F238E27FC236}">
                <a16:creationId xmlns:a16="http://schemas.microsoft.com/office/drawing/2014/main" id="{D22B9B0F-B891-4EEF-BD48-CD0F32AB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576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 重构全局前缀表与 block_table，结合 CPU SIMD 加速匹配，支撑可消费命中率提升 ≥20%。</a:t>
            </a:r>
          </a:p>
        </p:txBody>
      </p:sp>
      <p:sp>
        <p:nvSpPr>
          <p:cNvPr id="102" name="key-technology-3-marker">
            <a:extLst xmlns:a="http://schemas.openxmlformats.org/drawingml/2006/main">
              <a:ext uri="{FF2B5EF4-FFF2-40B4-BE49-F238E27FC236}">
                <a16:creationId xmlns:a16="http://schemas.microsoft.com/office/drawing/2014/main" id="{8F419690-8A97-4082-B253-D4F64CA1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82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03" name="key-technology-3-title">
            <a:extLst xmlns:a="http://schemas.openxmlformats.org/drawingml/2006/main">
              <a:ext uri="{FF2B5EF4-FFF2-40B4-BE49-F238E27FC236}">
                <a16:creationId xmlns:a16="http://schemas.microsoft.com/office/drawing/2014/main" id="{F7DE1E5A-C4D5-4D8C-A4B7-22CEAEA1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291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QueryPlan 统一载入—重算与多副本选路，只执行正收益复用，支撑 P99 TTFT 降低 ≥20%。</a:t>
            </a:r>
          </a:p>
        </p:txBody>
      </p:sp>
      <p:sp>
        <p:nvSpPr>
          <p:cNvPr id="105" name="key-technology-4-marker">
            <a:extLst xmlns:a="http://schemas.openxmlformats.org/drawingml/2006/main">
              <a:ext uri="{FF2B5EF4-FFF2-40B4-BE49-F238E27FC236}">
                <a16:creationId xmlns:a16="http://schemas.microsoft.com/office/drawing/2014/main" id="{A7F382B5-4B83-4D27-A233-17317B87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97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106" name="key-technology-4-title">
            <a:extLst xmlns:a="http://schemas.openxmlformats.org/drawingml/2006/main">
              <a:ext uri="{FF2B5EF4-FFF2-40B4-BE49-F238E27FC236}">
                <a16:creationId xmlns:a16="http://schemas.microsoft.com/office/drawing/2014/main" id="{8EA488C6-9411-4252-ADD5-0FCA868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006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统一 KV 对象串联 UBMEM 共享访问与 URMA、DMA/C2C 迁移，支撑 HBM 有效容量提升 ≥30%、TPOT 劣化 ≤3%。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2026-07-30T09:42:10.6930000Z</dcterms:created>
  <dcterms:modified xsi:type="dcterms:W3CDTF">2026-07-30T09:42:10.6930000Z</dcterms:modified>
</coreProperties>
</file>