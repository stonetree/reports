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13208e6ab44bf2" /><Relationship Type="http://schemas.openxmlformats.org/officeDocument/2006/relationships/extended-properties" Target="/docProps/app.xml" Id="R448d9da0b4054c9c" /><Relationship Type="http://schemas.openxmlformats.org/officeDocument/2006/relationships/officeDocument" Target="/ppt/presentation.xml" Id="R0e3bf13d99e74f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34810f7504f8b"/>
  </p:sldMasterIdLst>
  <p:notesMasterIdLst>
    <p:notesMasterId xmlns:r="http://schemas.openxmlformats.org/officeDocument/2006/relationships" r:id="Reb60530615fc4ac2"/>
  </p:notesMasterIdLst>
  <p:sldIdLst>
    <p:sldId xmlns:r="http://schemas.openxmlformats.org/officeDocument/2006/relationships" id="256" r:id="Ra074d3e5d7bb41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84c875eb4049bb" /><Relationship Type="http://schemas.openxmlformats.org/officeDocument/2006/relationships/slideMaster" Target="/ppt/slideMasters/slideMaster1.xml" Id="R1b634810f7504f8b" /><Relationship Type="http://schemas.openxmlformats.org/officeDocument/2006/relationships/notesMaster" Target="/ppt/notesMasters/notesMaster1.xml" Id="Reb60530615fc4ac2" /><Relationship Type="http://schemas.openxmlformats.org/officeDocument/2006/relationships/presProps" Target="/ppt/presProps.xml" Id="R160e9c2859ba40c5" /><Relationship Type="http://schemas.openxmlformats.org/officeDocument/2006/relationships/tableStyles" Target="/ppt/tableStyles.xml" Id="Rb0925846e7624d4e" /><Relationship Type="http://schemas.openxmlformats.org/officeDocument/2006/relationships/slide" Target="/ppt/slides/slide1.xml" Id="Ra074d3e5d7bb41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a1521b8914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b62efb1ba46c3" /><Relationship Type="http://schemas.openxmlformats.org/officeDocument/2006/relationships/notesMaster" Target="/ppt/notesMasters/notesMaster1.xml" Id="Reeaee091730a49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D:\codes\reports\kvcache\unified_kv_memory\统一异构KVCache存储池_关键技术与竞争力_讨论稿.md</a:t>
            </a:r>
          </a:p>
          <a:p xmlns:a="http://schemas.openxmlformats.org/drawingml/2006/main">
            <a:r>
              <a:t>D:\codes\reports\kvcache\unified_kv_memory\统一异构KVCache存储池总体架构与SRS评审导读_V2.2评审稿.md</a:t>
            </a:r>
          </a:p>
          <a:p xmlns:a="http://schemas.openxmlformats.org/drawingml/2006/main">
            <a:r>
              <a:t>D:\codes\reports\kvcache\unified_kv_memory\KVCache SRS需求列表 V2.2_传输底座视角_建议修订版.xlsx</a:t>
            </a:r>
          </a:p>
          <a:p xmlns:a="http://schemas.openxmlformats.org/drawingml/2006/main">
            <a:r>
              <a:t>User-confirmed architecture and visual direction from the current Codex task.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b21a51b1f44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5952bc603a4690" /><Relationship Type="http://schemas.openxmlformats.org/officeDocument/2006/relationships/slideLayout" Target="/ppt/slideLayouts/slideLayout1.xml" Id="R044a13fbf4394c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4a13fbf4394c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158112bcb4d49" /><Relationship Type="http://schemas.openxmlformats.org/officeDocument/2006/relationships/notesSlide" Target="/ppt/notesSlides/notesSlide1.xml" Id="R8de8dbc3a8ae47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337AEFC-0512-4F6F-A782-F8D4AA48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5BC7EE-678E-4D13-84FB-9B309598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统一异构 KVCache 存储池贯通在线推理业务与异构硬件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8B8FE37-5F7B-4AF2-BAB2-42A308F9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33425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全栈坐标｜项目四层原位放大｜在线推理中间件生态参照</a:t>
            </a:r>
          </a:p>
        </p:txBody>
      </p:sp>
      <p:sp>
        <p:nvSpPr>
          <p:cNvPr id="4" name="legend-project-color">
            <a:extLst xmlns:a="http://schemas.openxmlformats.org/drawingml/2006/main">
              <a:ext uri="{FF2B5EF4-FFF2-40B4-BE49-F238E27FC236}">
                <a16:creationId xmlns:a16="http://schemas.microsoft.com/office/drawing/2014/main" id="{222FACFA-B757-49C6-A902-FB02AF67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62000"/>
            <a:ext cx="142875" cy="1428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legend-project-text">
            <a:extLst xmlns:a="http://schemas.openxmlformats.org/drawingml/2006/main">
              <a:ext uri="{FF2B5EF4-FFF2-40B4-BE49-F238E27FC236}">
                <a16:creationId xmlns:a16="http://schemas.microsoft.com/office/drawing/2014/main" id="{7972B038-0CB1-400F-9A82-7A6C24A4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048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项目核心</a:t>
            </a:r>
          </a:p>
        </p:txBody>
      </p:sp>
      <p:sp>
        <p:nvSpPr>
          <p:cNvPr id="6" name="legend-ecosystem-color">
            <a:extLst xmlns:a="http://schemas.openxmlformats.org/drawingml/2006/main">
              <a:ext uri="{FF2B5EF4-FFF2-40B4-BE49-F238E27FC236}">
                <a16:creationId xmlns:a16="http://schemas.microsoft.com/office/drawing/2014/main" id="{B99D13CB-A8B0-4762-A403-BF2E791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62000"/>
            <a:ext cx="142875" cy="1428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DD3DB"/>
          </a:solidFill>
          <a:ln xmlns:a="http://schemas.openxmlformats.org/drawingml/2006/main" w="0">
            <a:solidFill>
              <a:srgbClr val="CDD3DB"/>
            </a:solidFill>
            <a:prstDash val="solid"/>
          </a:ln>
        </p:spPr>
      </p:sp>
      <p:sp>
        <p:nvSpPr>
          <p:cNvPr id="7" name="legend-ecosystem-text">
            <a:extLst xmlns:a="http://schemas.openxmlformats.org/drawingml/2006/main">
              <a:ext uri="{FF2B5EF4-FFF2-40B4-BE49-F238E27FC236}">
                <a16:creationId xmlns:a16="http://schemas.microsoft.com/office/drawing/2014/main" id="{EB785183-42C5-48EF-B6DB-41720D9E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04850"/>
            <a:ext cx="81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生态参照</a:t>
            </a:r>
          </a:p>
        </p:txBody>
      </p:sp>
      <p:sp>
        <p:nvSpPr>
          <p:cNvPr id="8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7A182053-B56D-4BB5-8804-81D2B5EC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123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D5DDE7"/>
            </a:solidFill>
            <a:prstDash val="solid"/>
          </a:ln>
        </p:spPr>
      </p:sp>
      <p:sp>
        <p:nvSpPr>
          <p:cNvPr id="9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5A255F17-9B16-44CF-B189-D181C83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114425"/>
            <a:ext cx="16954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0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A228AEAD-3A3B-4798-8A8E-0DF33079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133475"/>
            <a:ext cx="2190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11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5B54C937-EA06-4A33-A267-20A4596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133475"/>
            <a:ext cx="2190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12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F2BFA590-12D3-4BBE-9274-91764AAD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33475"/>
            <a:ext cx="2190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3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67C5E298-82BD-440C-9CC1-70B8251B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133475"/>
            <a:ext cx="2190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4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C6BEF34F-B380-4EDC-8449-380C93E0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1123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11430">
            <a:solidFill>
              <a:srgbClr val="D5DDE7"/>
            </a:solidFill>
            <a:prstDash val="solid"/>
          </a:ln>
        </p:spPr>
      </p:sp>
      <p:sp>
        <p:nvSpPr>
          <p:cNvPr id="15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373276A2-2B3A-4713-9243-E4939D1E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16954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6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1CD97B0F-3461-4506-A3BA-498986A5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29654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7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B4AF841-8C62-4E62-A86F-6C4D143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100" y="1714500"/>
            <a:ext cx="29654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8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9EB65503-3C41-41F7-B5A9-B88FE494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1714500"/>
            <a:ext cx="29654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9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9CCC815F-0ABE-4342-98EA-CAEDA761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28850"/>
            <a:ext cx="82486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2F6FED"/>
            </a:solidFill>
            <a:prstDash val="solid"/>
          </a:ln>
        </p:spPr>
      </p:sp>
      <p:sp>
        <p:nvSpPr>
          <p:cNvPr id="20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BEDEFDE5-AEBE-48AA-8304-65AB0F0F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28850"/>
            <a:ext cx="8248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33350" tIns="19050" rIns="76200" bIns="19050" anchor="ctr">
            <a:normAutofit fontScale="91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存储池｜本项目核心覆盖</a:t>
            </a:r>
          </a:p>
        </p:txBody>
      </p:sp>
      <p:sp>
        <p:nvSpPr>
          <p:cNvPr id="21" name="project-header-soft-hardware">
            <a:extLst xmlns:a="http://schemas.openxmlformats.org/drawingml/2006/main">
              <a:ext uri="{FF2B5EF4-FFF2-40B4-BE49-F238E27FC236}">
                <a16:creationId xmlns:a16="http://schemas.microsoft.com/office/drawing/2014/main" id="{C1DA4125-EEF1-4D15-9B9D-A3C3BAF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479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1200" b="1">
                <a:solidFill>
                  <a:srgbClr val="DDF7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7F4"/>
                </a:solidFill>
                <a:latin typeface="Microsoft YaHei"/>
                <a:ea typeface="Microsoft YaHei"/>
                <a:cs typeface="Microsoft YaHei"/>
              </a:rPr>
              <a:t>业务收益牵引的软硬协同</a:t>
            </a:r>
          </a:p>
        </p:txBody>
      </p:sp>
      <p:sp>
        <p:nvSpPr>
          <p:cNvPr id="22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F8BE63F8-1A13-4767-A6E5-2E88E403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8096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11430">
            <a:solidFill>
              <a:srgbClr val="E9C77E"/>
            </a:solidFill>
            <a:prstDash val="solid"/>
          </a:ln>
        </p:spPr>
      </p:sp>
      <p:sp>
        <p:nvSpPr>
          <p:cNvPr id="23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6AAF017-5E90-4784-8071-3DB47770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4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442F59BA-3591-4F1D-9598-3E4E3634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推理调度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与收益决策</a:t>
            </a:r>
          </a:p>
        </p:txBody>
      </p:sp>
      <p:sp>
        <p:nvSpPr>
          <p:cNvPr id="25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3ABF8FEE-F86C-481B-B053-14CE27DF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QueryPlan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载入—重算</a:t>
            </a:r>
          </a:p>
        </p:txBody>
      </p:sp>
      <p:sp>
        <p:nvSpPr>
          <p:cNvPr id="26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25B0BCAB-0B22-4150-A375-40675DF7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051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多副本选路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水位准入</a:t>
            </a:r>
          </a:p>
        </p:txBody>
      </p:sp>
      <p:sp>
        <p:nvSpPr>
          <p:cNvPr id="27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FE6C0727-0E8C-4B39-8329-2FA01E68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KVAccessIntent</a:t>
            </a:r>
          </a:p>
        </p:txBody>
      </p:sp>
      <p:sp>
        <p:nvSpPr>
          <p:cNvPr id="28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FC0229E7-2932-41FB-9824-FA5B2759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8096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11430">
            <a:solidFill>
              <a:srgbClr val="8FD4CD"/>
            </a:solidFill>
            <a:prstDash val="solid"/>
          </a:ln>
        </p:spPr>
      </p:sp>
      <p:sp>
        <p:nvSpPr>
          <p:cNvPr id="29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084D58B9-0DED-4D0F-B5D7-B261D16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30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EDCE9B77-7999-4CCC-9874-BE76BD1F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KV连接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与跨框架匹配</a:t>
            </a:r>
          </a:p>
        </p:txBody>
      </p:sp>
      <p:sp>
        <p:nvSpPr>
          <p:cNvPr id="31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D3087E44-96B3-482E-AC13-8B80FC6C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909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全局前缀表</a:t>
            </a:r>
          </a:p>
        </p:txBody>
      </p:sp>
      <p:sp>
        <p:nvSpPr>
          <p:cNvPr id="32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F2AD153-C873-44CF-BADF-724276D1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909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UBMEM化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block_table</a:t>
            </a:r>
          </a:p>
        </p:txBody>
      </p:sp>
      <p:sp>
        <p:nvSpPr>
          <p:cNvPr id="33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301DCD2F-B484-4083-B943-302952AC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909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消费资格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AttachHandle</a:t>
            </a:r>
          </a:p>
        </p:txBody>
      </p:sp>
      <p:sp>
        <p:nvSpPr>
          <p:cNvPr id="34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B2B8716-D9D7-4D13-9B88-8692135B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8096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C2B3F2"/>
            </a:solidFill>
            <a:prstDash val="solid"/>
          </a:ln>
        </p:spPr>
      </p:sp>
      <p:sp>
        <p:nvSpPr>
          <p:cNvPr id="35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62105ED0-B4BA-4B52-8851-789E4E7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36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A223C20C-28F6-45A4-9760-72CDE494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统一KV对象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与图式分层管理</a:t>
            </a:r>
          </a:p>
        </p:txBody>
      </p:sp>
      <p:sp>
        <p:nvSpPr>
          <p:cNvPr id="37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58732F8-6A7C-4D8E-B9A3-70CDCC1C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767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KVObject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ExtentManifest</a:t>
            </a:r>
          </a:p>
        </p:txBody>
      </p:sp>
      <p:sp>
        <p:nvSpPr>
          <p:cNvPr id="38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33EDBA9C-F879-40E9-B05F-4498803F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767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Placement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图式分层</a:t>
            </a:r>
          </a:p>
        </p:txBody>
      </p:sp>
      <p:sp>
        <p:nvSpPr>
          <p:cNvPr id="39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54C40419-4ADA-4AC3-8B85-488929B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1790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Lease / QoS</a:t>
            </a:r>
          </a:p>
        </p:txBody>
      </p:sp>
      <p:sp>
        <p:nvSpPr>
          <p:cNvPr id="40" name="project-layer-4">
            <a:extLst xmlns:a="http://schemas.openxmlformats.org/drawingml/2006/main">
              <a:ext uri="{FF2B5EF4-FFF2-40B4-BE49-F238E27FC236}">
                <a16:creationId xmlns:a16="http://schemas.microsoft.com/office/drawing/2014/main" id="{426378B2-BC41-482F-AA2F-5D35098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8096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9EBEFF"/>
            </a:solidFill>
            <a:prstDash val="solid"/>
          </a:ln>
        </p:spPr>
      </p:sp>
      <p:sp>
        <p:nvSpPr>
          <p:cNvPr id="41" name="project-layer-4-accent">
            <a:extLst xmlns:a="http://schemas.openxmlformats.org/drawingml/2006/main">
              <a:ext uri="{FF2B5EF4-FFF2-40B4-BE49-F238E27FC236}">
                <a16:creationId xmlns:a16="http://schemas.microsoft.com/office/drawing/2014/main" id="{9E95FA8C-E5A4-4C29-9FD7-B7E297A8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42" name="project-layer-4-label">
            <a:extLst xmlns:a="http://schemas.openxmlformats.org/drawingml/2006/main">
              <a:ext uri="{FF2B5EF4-FFF2-40B4-BE49-F238E27FC236}">
                <a16:creationId xmlns:a16="http://schemas.microsoft.com/office/drawing/2014/main" id="{5F3AD738-3150-487A-82F2-0C993623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高性能数据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与共享内存底座</a:t>
            </a:r>
          </a:p>
        </p:txBody>
      </p:sp>
      <p:sp>
        <p:nvSpPr>
          <p:cNvPr id="43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A140E875-FE7B-4528-B901-085CD0E5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62500"/>
            <a:ext cx="13239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大块KV传输</a:t>
            </a:r>
          </a:p>
        </p:txBody>
      </p:sp>
      <p:sp>
        <p:nvSpPr>
          <p:cNvPr id="44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AA7B8ABF-5D9C-489C-89B3-DE210FC6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13239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元数据快路径</a:t>
            </a:r>
          </a:p>
        </p:txBody>
      </p:sp>
      <p:sp>
        <p:nvSpPr>
          <p:cNvPr id="45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7C0370A2-BD76-4E39-96CE-7AAF557C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62500"/>
            <a:ext cx="13239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Descriptor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异步DAG</a:t>
            </a:r>
          </a:p>
        </p:txBody>
      </p:sp>
      <p:sp>
        <p:nvSpPr>
          <p:cNvPr id="46" name="project-layer-4-component-4">
            <a:extLst xmlns:a="http://schemas.openxmlformats.org/drawingml/2006/main">
              <a:ext uri="{FF2B5EF4-FFF2-40B4-BE49-F238E27FC236}">
                <a16:creationId xmlns:a16="http://schemas.microsoft.com/office/drawing/2014/main" id="{09EC31CA-BD7E-495C-AB40-B5895B5F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62500"/>
            <a:ext cx="13239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1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路径能力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完成语义</a:t>
            </a:r>
          </a:p>
        </p:txBody>
      </p:sp>
      <p:sp>
        <p:nvSpPr>
          <p:cNvPr id="47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3B749113-B1E1-4012-806E-2FDF00AA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1430">
            <a:solidFill>
              <a:srgbClr val="CDD3DB"/>
            </a:solidFill>
            <a:prstDash val="solid"/>
          </a:ln>
        </p:spPr>
      </p:sp>
      <p:sp>
        <p:nvSpPr>
          <p:cNvPr id="48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0C4D6B64-A184-423F-8B7C-E8EE85DE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114300" tIns="19050" rIns="76200" bIns="19050" anchor="ctr">
            <a:normAutofit fontScale="965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9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777C5A9A-9C21-4C47-B6A7-CA533D87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90800"/>
            <a:ext cx="2705100" cy="82867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50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AD54C204-16B2-448C-9101-6120EE89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38425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框架运行与模型执行</a:t>
            </a:r>
          </a:p>
        </p:txBody>
      </p:sp>
      <p:sp>
        <p:nvSpPr>
          <p:cNvPr id="51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C02BB9F4-8934-4677-B119-7C05DF6E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47975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分布式执行｜Ray / MP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PyTorch｜图编译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权重加载｜Adapter管理</a:t>
            </a:r>
          </a:p>
        </p:txBody>
      </p:sp>
      <p:sp>
        <p:nvSpPr>
          <p:cNvPr id="52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CD306FE7-29C2-4CF6-9478-8441D320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705100" cy="82867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53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A6E91202-475E-498A-B924-D825CA75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计算加速与并行通信</a:t>
            </a:r>
          </a:p>
        </p:txBody>
      </p:sp>
      <p:sp>
        <p:nvSpPr>
          <p:cNvPr id="54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5246EDBF-63B4-4A6E-B7E8-2E44B5E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FlashAttention｜Triton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 / NCCL｜torch.distributed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通用缓存｜对象访问</a:t>
            </a:r>
          </a:p>
        </p:txBody>
      </p:sp>
      <p:sp>
        <p:nvSpPr>
          <p:cNvPr id="55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7921A75F-AA60-4BC1-B2C2-76F5465B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27051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56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BA4A3C4B-7F2F-4CEA-BD30-44A7FF88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10075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数据传输与存储访问</a:t>
            </a:r>
          </a:p>
        </p:txBody>
      </p:sp>
      <p:sp>
        <p:nvSpPr>
          <p:cNvPr id="57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3839FE79-144A-49F5-9894-54A9A438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457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 / UCX｜libfabric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 / io_uring｜Direct Storage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gRPC｜消息通信</a:t>
            </a:r>
          </a:p>
        </p:txBody>
      </p:sp>
      <p:sp>
        <p:nvSpPr>
          <p:cNvPr id="58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3664CF85-0B72-4549-ACB5-C2353193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57825"/>
            <a:ext cx="112395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11430">
            <a:solidFill>
              <a:srgbClr val="D5DDE7"/>
            </a:solidFill>
            <a:prstDash val="solid"/>
          </a:ln>
        </p:spPr>
      </p:sp>
      <p:sp>
        <p:nvSpPr>
          <p:cNvPr id="59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0227702E-90EC-47AE-8DB1-DFB4EAA5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24500"/>
            <a:ext cx="1695450" cy="352425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60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3C237B4C-6D43-4440-B4C1-3E4F49D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43550"/>
            <a:ext cx="2190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Runtime</a:t>
            </a:r>
          </a:p>
        </p:txBody>
      </p:sp>
      <p:sp>
        <p:nvSpPr>
          <p:cNvPr id="61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801B4D2D-62CC-4C87-9C16-D5CCC641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43550"/>
            <a:ext cx="2190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 / RDMA 驱动</a:t>
            </a:r>
          </a:p>
        </p:txBody>
      </p:sp>
      <p:sp>
        <p:nvSpPr>
          <p:cNvPr id="62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888A4A40-850D-4B58-AFBF-B2E6EC32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43550"/>
            <a:ext cx="2190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 / 一致性</a:t>
            </a:r>
          </a:p>
        </p:txBody>
      </p:sp>
      <p:sp>
        <p:nvSpPr>
          <p:cNvPr id="63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A10DC357-2D9E-4176-B748-C43B77C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43550"/>
            <a:ext cx="2190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 I/O / NVMe</a:t>
            </a:r>
          </a:p>
        </p:txBody>
      </p:sp>
      <p:sp>
        <p:nvSpPr>
          <p:cNvPr id="64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3088A377-8EDD-40E4-9A05-04647F0B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29325"/>
            <a:ext cx="112395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11430">
            <a:solidFill>
              <a:srgbClr val="D5DDE7"/>
            </a:solidFill>
            <a:prstDash val="solid"/>
          </a:ln>
        </p:spPr>
      </p:sp>
      <p:sp>
        <p:nvSpPr>
          <p:cNvPr id="65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2DBB9185-FDC9-4067-9294-2A33D4B4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96000"/>
            <a:ext cx="1695450" cy="352425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6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8B5E8B87-C8FB-4ACF-B385-989D453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115050"/>
            <a:ext cx="2190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/ HBM</a:t>
            </a:r>
          </a:p>
        </p:txBody>
      </p:sp>
      <p:sp>
        <p:nvSpPr>
          <p:cNvPr id="67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54C87C4C-2568-43B4-8B1D-15F8EA98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115050"/>
            <a:ext cx="2190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 / DDR</a:t>
            </a:r>
          </a:p>
        </p:txBody>
      </p:sp>
      <p:sp>
        <p:nvSpPr>
          <p:cNvPr id="68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CF0AE365-A877-49B5-8704-DEF4BE96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15050"/>
            <a:ext cx="2190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NIC / UB / C2C</a:t>
            </a:r>
          </a:p>
        </p:txBody>
      </p:sp>
      <p:sp>
        <p:nvSpPr>
          <p:cNvPr id="69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06A1591-2ED0-4DCC-B2EF-82A78115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2190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70" name="scope-note">
            <a:extLst xmlns:a="http://schemas.openxmlformats.org/drawingml/2006/main">
              <a:ext uri="{FF2B5EF4-FFF2-40B4-BE49-F238E27FC236}">
                <a16:creationId xmlns:a16="http://schemas.microsoft.com/office/drawing/2014/main" id="{5A15B50B-D1F0-4B7C-A207-42E77404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34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11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彩色区域：项目核心覆盖｜灰色侧栏：生态组件、依赖与对接参照</a:t>
            </a:r>
          </a:p>
        </p:txBody>
      </p:sp>
    </p:spTree>
    <p:extLst>
      <p:ext uri="{BB962C8B-B14F-4D97-AF65-F5344CB8AC3E}">
        <p14:creationId xmlns:p14="http://schemas.microsoft.com/office/powerpoint/2010/main" val="1080631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2026-07-29T09:21:43.6810000Z</dcterms:created>
  <dcterms:modified xsi:type="dcterms:W3CDTF">2026-07-29T09:21:43.6820000Z</dcterms:modified>
</coreProperties>
</file>