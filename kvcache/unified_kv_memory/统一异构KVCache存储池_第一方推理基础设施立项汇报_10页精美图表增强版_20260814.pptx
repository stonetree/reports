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尊敬的评委和领导：我们今天启动的不是一个简单的缓存插件，而是面向国产 AI 硬件的第一方推理状态基础设施工程。在大模型在线推理场景下，KVCache 已从框架内临时 Cache 升维为跨节点、跨介质流动的高价值执行状态。其生命周期管理直接决定首字时延 TTFT、逐词生成抖动 TPOT 以及集群全生命周期 TCO。在国产硬件上，芯片、固件、驱动与框架之间的微架构咬合不能外包给开源社区。只有立足第一方责任，才能把 UBMEM / URMA 等硬件原语转化为稳定的业务 SLO，实现首字时延降低 ≥20%、HBM 有效容量提升 ≥30%、消费错误率归零。</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纵观全球芯片巨头动作，NVIDIA 通过 TensorRT-LLM、KVBM 与 NIM 打造闭环推理基础设施；AMD 收购 Nod.ai、Silo AI 与 ZT Systems，力推 NIXL 传输引擎与 LMCache；Intel 借力 OpenVINO 与 Xeon DDR5 / CXL 做溢出层；Arm 推出 KleidiAI 与 CXL 3.0 机架池。产业共性规律表明：Prefill-Decode 分离与 Host-Bypass 硬件卸载已成为行业事实标准。硬件厂商的竞争已从单芯片算力演进为推理软件与状态管理全栈闭环。国产硬件若缺乏第一方状态底座，芯片潜力将无法转化为可感知的端到端收益。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评估现代 AI Infra 时，本项目与 Mooncake 代表了两种不同的设计哲学。Mooncake 本质上是无语义的 64 KB 切片传输盘，通过多网卡盲打打满写带宽；但这引发了严重后果——在读/拉取阶段，多节点并发发包触发交换机 N-to-1 Incast 拥塞、丢包与 P99 尾延迟恶化。而 Mooncake 公开 Benchmark 多采用 1-to-1 单流及 P50 中位数，避开了真实高并发下的长尾挑战。本项目 unified_kv_memory 建立 LLM 语义化异构内存池，以模型 Layer 语义约束物理拓扑，消除 Incast 拥塞。我们与 Mooncake / LMCache 保持接口兼容、能力互补，但第一方硬件使能与 SLA 兜底必须独立闭环。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请专家重点关注本页的代码分析与社区真实反馈证据。我们在 Mooncake 源码中找到了明确的工程事实：第一，在 types.h 传输结构体中，完全没有 layer_id 字段，导致 Layer 0 入口切片遇慢网卡时 NPU 计算流水阻塞；第二，在 admission_queue.cpp RFC #2519 中，官方被迫在出队末端增加超时丢弃，以及在 multi_rail_scheduler 中增加软件令牌桶控速，这直接证明了其贪婪打散在真实高并发下会导致网络拥塞与队列积压；第三，在 vLLM 社区 PR #10502 和 #10884 中，多家云厂商明确反馈在 100+ 节点混压下 P99 尾延迟出现剧烈波动；第四，在 mooncake-store 源码中，大规模 HA 高可用和多租户配额仅保留了 Stub 空桩，随着商业化推进，直接依赖开源面临闭源维护风险。我们必须坚持第一方自研底座！</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针对开源方案的不足，本项目建立了从无语义传输盘向 LLM 语义化异构内存池的范式跃迁。四大支柱包括：一、拓扑亲和映射，压减 80% 跨机架流量消除 Incast 拥塞；二、Host Payload Touch Budget = 0 铁律，消除 CPU 参与打破 CPU Wall；三、UBMEM 芯片总线级微秒共享内存，元数据时延压降至 5 µs 以内；四、HBM ↔ SSD 直达重塑容量主路径，TCO 显著下降。</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针对开源方案的不足，本项目构筑了三项硬核竞争力：一、前置动态 ROI 数学决策引擎，在查表阶段即完成成本判定，无收益主动转重算，零描述符浪费；二、AICore 与 URMA 双 Stream 物理流水重叠，隐藏 ≥60% 网络传输耗时；三、AttachHandle 凭证与 Lease 租约，保障错误/脏数据消费事故率精确为 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本项目构建了围绕 KVCache 语义的四大软硬协同核心技术：一、语义驱动的物理拓扑映射，消除 Incast 拥塞；二、AICore 与 URMA 双 Stream 物理流水重叠，利用 FlashAttention 归一化融合隐藏 ≥60% 传输耗时；三、硬件 QoS 队列隔离与 Host Payload Touch Budget = 0，守住 TPOT 抖动 &lt;3%；四、UBMEM 芯片总线级微秒共享内存，元数据控制面 P99 &lt;5 µs。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在量化指标测算中，我们严格依据报告第6部分给出了完整的数学建模过程：TTFT = T_other + T_fixed + T_prefill * (1 - c) + T_load * c。其中正价值消费率 c = r * u，u 是四级条件漏斗乘积：u1语义与候选保持率 * u2就绪/租约/多卡/权限通过率 * u3实际路径按时成功率 * u4载入正收益判定比。为什么本项目可以比开源做得更好？我们有四大针对性技术措施：第一，u1 从 90% 升至 97%，依赖统一 KVSemanticIdentity 身份、全局生命周期治理与 KV-Aware 缓存感知路由，消除跨框架哈希不一致与冷热被动冲刷；第二，u2 从 95% 升至 99%，依赖 UBMEM 共享元数据微秒快路径与 AttachHandle/Lease 租约屏障，配合多 TP 原子保序，消除跨卡同步死等与元数据冲突；第三，u3 从 95% 升至 99%，依赖 CapabilityMatrix 硬件能力感知矩阵与 URMA 正文直达，配合流式可见性与有界平滑回退，消灭 Incast 拥塞与出队超时丢弃；第四，u4 从 98% 升至 99%，依赖 PVT-04 前置动态 ROI 数学评估引擎与实时队列观测，杜绝盲目拉取负收益。最终综合转化率从 79.60% 跃升至 94.12%。在 50% 典型场景下，端到端 7.24 ms 收益的顺序增量计算为：Step 1 控制面开销节省 1.03 ms (14%)，Step 2 正价值转化提升贡献 3.63 ms (50%)，Step 3 低长尾传输贡献 2.59 ms (36%)。高转化与低长尾传输贡献了 86% 的主要价值，为我们的软硬协同研发投资确立了清晰的优先级。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在在线推理场景中，P50 中位数无法代表真实体验，真正挑战在高并发混压下的 P99 尾延迟控制。本项目确立了清晰的达成手段：通过 URMA 硬件 QoS 队列保障 P99 TTFT 改善 ≥20%、通过双 Stream 流水保障 TPOT 抖动 &lt;3%、通过 Host Touch Budget = 0 与 Direct DMA 降低单位请求成本 ≥35%、通过 AttachHandle 与 Lease 租约实现 0 错误消费。同时引入单位合格请求 TCO 成本模型，综合 TCO 成本下降 ≥35%，用严密的技术手段与数据对账支撑立项。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最后汇报项目的交付节奏与验证门禁。我们提出 4～5 周敏捷推进方案：W0 验证业务复用上限与传输底座 (E0/E1)；W1 验证异步编译与 UBMEM / 动态选路 (E1/E2)；W2 验证 HBM-SSD 直达与 0 错误消费 (E2)；W3 完成前后台混压薄闭环总门禁 (E3)。我们设立了清晰的 No-Go 止损条件：若无显著端到端增量则缩项止损。建议评审委员会批准有条件、分阶段立项！谢谢！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我们为什么要做：打造面向国产 AI 硬件的第一方推理状态基础设施</a:t>
            </a:r>
          </a:p>
          <a:p>
            <a:pPr>
              <a:spcBef>
                <a:spcPts val="200"/>
              </a:spcBef>
              <a:defRPr sz="1000">
                <a:solidFill>
                  <a:srgbClr val="475569"/>
                </a:solidFill>
                <a:latin typeface="Microsoft YaHei"/>
              </a:defRPr>
            </a:pPr>
            <a:r>
              <a:t>从“框架内临时 Buffer”到“集群级高价值状态资产”——打通软硬件协同从硬件原语到业务 SLO 的闭环</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01 / 10 页</a:t>
            </a:r>
          </a:p>
        </p:txBody>
      </p:sp>
      <p:sp>
        <p:nvSpPr>
          <p:cNvPr id="4" name="Rectangle 3"/>
          <p:cNvSpPr/>
          <p:nvPr/>
        </p:nvSpPr>
        <p:spPr>
          <a:xfrm>
            <a:off x="548640" y="1060704"/>
            <a:ext cx="2633472" cy="3584448"/>
          </a:xfrm>
          <a:prstGeom prst="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152144"/>
            <a:ext cx="2414016" cy="3401568"/>
          </a:xfrm>
          <a:prstGeom prst="rect">
            <a:avLst/>
          </a:prstGeom>
          <a:noFill/>
        </p:spPr>
        <p:txBody>
          <a:bodyPr wrap="square" lIns="0" tIns="0" rIns="0" bIns="0">
            <a:spAutoFit/>
          </a:bodyPr>
          <a:lstStyle/>
          <a:p>
            <a:pPr>
              <a:defRPr sz="1300" b="1">
                <a:solidFill>
                  <a:srgbClr val="1D4ED8"/>
                </a:solidFill>
                <a:latin typeface="Microsoft YaHei"/>
              </a:defRPr>
            </a:pPr>
            <a:r>
              <a:t>1. 为什么做 (Why Essential)</a:t>
            </a:r>
          </a:p>
          <a:p>
            <a:pPr>
              <a:spcBef>
                <a:spcPts val="200"/>
              </a:spcBef>
              <a:spcAft>
                <a:spcPts val="400"/>
              </a:spcAft>
              <a:defRPr sz="1050" b="1">
                <a:solidFill>
                  <a:srgbClr val="475569"/>
                </a:solidFill>
                <a:latin typeface="Microsoft YaHei"/>
              </a:defRPr>
            </a:pPr>
            <a:r>
              <a:t>KVCache 升维核心状态资产</a:t>
            </a:r>
          </a:p>
          <a:p>
            <a:pPr>
              <a:lnSpc>
                <a:spcPct val="122000"/>
              </a:lnSpc>
              <a:spcBef>
                <a:spcPts val="600"/>
              </a:spcBef>
              <a:defRPr sz="1200" b="1">
                <a:solidFill>
                  <a:srgbClr val="0F172A"/>
                </a:solidFill>
                <a:latin typeface="Microsoft YaHei"/>
              </a:defRPr>
            </a:pPr>
            <a:r>
              <a:t>• 算力瓶颈转移：</a:t>
            </a:r>
            <a:r>
              <a:rPr sz="1150" b="0">
                <a:solidFill>
                  <a:srgbClr val="475569"/>
                </a:solidFill>
                <a:latin typeface="Microsoft YaHei"/>
              </a:rPr>
              <a:t>推理瓶颈从单卡算力转向内存容量与互联带宽，KVCache 承载极高计算价值。</a:t>
            </a:r>
          </a:p>
          <a:p>
            <a:pPr>
              <a:lnSpc>
                <a:spcPct val="122000"/>
              </a:lnSpc>
              <a:spcBef>
                <a:spcPts val="600"/>
              </a:spcBef>
              <a:defRPr sz="1200" b="1">
                <a:solidFill>
                  <a:srgbClr val="0F172A"/>
                </a:solidFill>
                <a:latin typeface="Microsoft YaHei"/>
              </a:defRPr>
            </a:pPr>
            <a:r>
              <a:t>• 消除显存孤岛：</a:t>
            </a:r>
            <a:r>
              <a:rPr sz="1150" b="0">
                <a:solidFill>
                  <a:srgbClr val="475569"/>
                </a:solidFill>
                <a:latin typeface="Microsoft YaHei"/>
              </a:rPr>
              <a:t>传统框架局部管理 Cache，导致跨节点重复 Prefill 与 HBM 显存碎片孤岛。</a:t>
            </a:r>
          </a:p>
          <a:p>
            <a:pPr>
              <a:lnSpc>
                <a:spcPct val="122000"/>
              </a:lnSpc>
              <a:spcBef>
                <a:spcPts val="600"/>
              </a:spcBef>
              <a:defRPr sz="1200" b="1">
                <a:solidFill>
                  <a:srgbClr val="0F172A"/>
                </a:solidFill>
                <a:latin typeface="Microsoft YaHei"/>
              </a:defRPr>
            </a:pPr>
            <a:r>
              <a:t>• 打通价值漏斗：</a:t>
            </a:r>
            <a:r>
              <a:rPr sz="1150" b="0">
                <a:solidFill>
                  <a:srgbClr val="475569"/>
                </a:solidFill>
                <a:latin typeface="Microsoft YaHei"/>
              </a:rPr>
              <a:t>状态治理闭环候选发现、安全校验、动态选路到挂接消费的全流程。</a:t>
            </a:r>
          </a:p>
        </p:txBody>
      </p:sp>
      <p:sp>
        <p:nvSpPr>
          <p:cNvPr id="6" name="Rectangle 5"/>
          <p:cNvSpPr/>
          <p:nvPr/>
        </p:nvSpPr>
        <p:spPr>
          <a:xfrm>
            <a:off x="3364992" y="1060704"/>
            <a:ext cx="2633472" cy="3584448"/>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0" y="1152144"/>
            <a:ext cx="2414016" cy="3401568"/>
          </a:xfrm>
          <a:prstGeom prst="rect">
            <a:avLst/>
          </a:prstGeom>
          <a:noFill/>
        </p:spPr>
        <p:txBody>
          <a:bodyPr wrap="square" lIns="0" tIns="0" rIns="0" bIns="0">
            <a:spAutoFit/>
          </a:bodyPr>
          <a:lstStyle/>
          <a:p>
            <a:pPr>
              <a:defRPr sz="1300" b="1">
                <a:solidFill>
                  <a:srgbClr val="1E3A8A"/>
                </a:solidFill>
                <a:latin typeface="Microsoft YaHei"/>
              </a:defRPr>
            </a:pPr>
            <a:r>
              <a:t>2. 为什么现在做 (Why Now)</a:t>
            </a:r>
          </a:p>
          <a:p>
            <a:pPr>
              <a:spcBef>
                <a:spcPts val="200"/>
              </a:spcBef>
              <a:spcAft>
                <a:spcPts val="400"/>
              </a:spcAft>
              <a:defRPr sz="1050" b="1">
                <a:solidFill>
                  <a:srgbClr val="475569"/>
                </a:solidFill>
                <a:latin typeface="Microsoft YaHei"/>
              </a:defRPr>
            </a:pPr>
            <a:r>
              <a:t>架构定型与业务演进窗口期</a:t>
            </a:r>
          </a:p>
          <a:p>
            <a:pPr>
              <a:lnSpc>
                <a:spcPct val="122000"/>
              </a:lnSpc>
              <a:spcBef>
                <a:spcPts val="600"/>
              </a:spcBef>
              <a:defRPr sz="1200" b="1">
                <a:solidFill>
                  <a:srgbClr val="0F172A"/>
                </a:solidFill>
                <a:latin typeface="Microsoft YaHei"/>
              </a:defRPr>
            </a:pPr>
            <a:r>
              <a:t>• 业务演进倒逼：</a:t>
            </a:r>
            <a:r>
              <a:rPr sz="1150" b="0">
                <a:solidFill>
                  <a:srgbClr val="475569"/>
                </a:solidFill>
                <a:latin typeface="Microsoft YaHei"/>
              </a:rPr>
              <a:t>长文本 (128K ~ 1M)、Agent 多轮与 PD 分离爆发，复用成为吞吐第一指标。</a:t>
            </a:r>
          </a:p>
          <a:p>
            <a:pPr>
              <a:lnSpc>
                <a:spcPct val="122000"/>
              </a:lnSpc>
              <a:spcBef>
                <a:spcPts val="600"/>
              </a:spcBef>
              <a:defRPr sz="1200" b="1">
                <a:solidFill>
                  <a:srgbClr val="0F172A"/>
                </a:solidFill>
                <a:latin typeface="Microsoft YaHei"/>
              </a:defRPr>
            </a:pPr>
            <a:r>
              <a:t>• 软硬件定型窗口：</a:t>
            </a:r>
            <a:r>
              <a:rPr sz="1150" b="0">
                <a:solidFill>
                  <a:srgbClr val="475569"/>
                </a:solidFill>
                <a:latin typeface="Microsoft YaHei"/>
              </a:rPr>
              <a:t>国产芯片、驱动与推理框架共同演进，提前介入可深度反哺芯片设计。</a:t>
            </a:r>
          </a:p>
          <a:p>
            <a:pPr>
              <a:lnSpc>
                <a:spcPct val="122000"/>
              </a:lnSpc>
              <a:spcBef>
                <a:spcPts val="600"/>
              </a:spcBef>
              <a:defRPr sz="1200" b="1">
                <a:solidFill>
                  <a:srgbClr val="0F172A"/>
                </a:solidFill>
                <a:latin typeface="Microsoft YaHei"/>
              </a:defRPr>
            </a:pPr>
            <a:r>
              <a:t>• 规避被动适配：</a:t>
            </a:r>
            <a:r>
              <a:rPr sz="1150" b="0">
                <a:solidFill>
                  <a:srgbClr val="475569"/>
                </a:solidFill>
                <a:latin typeface="Microsoft YaHei"/>
              </a:rPr>
              <a:t>若等硬件定型后被动适配，将错失微架构深度红利并产生高昂重构成本。</a:t>
            </a:r>
          </a:p>
        </p:txBody>
      </p:sp>
      <p:sp>
        <p:nvSpPr>
          <p:cNvPr id="8" name="Rectangle 7"/>
          <p:cNvSpPr/>
          <p:nvPr/>
        </p:nvSpPr>
        <p:spPr>
          <a:xfrm>
            <a:off x="6181344" y="1060704"/>
            <a:ext cx="2633472" cy="3584448"/>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91072" y="1152144"/>
            <a:ext cx="2414016" cy="3401568"/>
          </a:xfrm>
          <a:prstGeom prst="rect">
            <a:avLst/>
          </a:prstGeom>
          <a:noFill/>
        </p:spPr>
        <p:txBody>
          <a:bodyPr wrap="square" lIns="0" tIns="0" rIns="0" bIns="0">
            <a:spAutoFit/>
          </a:bodyPr>
          <a:lstStyle/>
          <a:p>
            <a:pPr>
              <a:defRPr sz="1300" b="1">
                <a:solidFill>
                  <a:srgbClr val="1E3A8A"/>
                </a:solidFill>
                <a:latin typeface="Microsoft YaHei"/>
              </a:defRPr>
            </a:pPr>
            <a:r>
              <a:t>3. 为什么独立做 (Why Independent)</a:t>
            </a:r>
          </a:p>
          <a:p>
            <a:pPr>
              <a:spcBef>
                <a:spcPts val="200"/>
              </a:spcBef>
              <a:spcAft>
                <a:spcPts val="400"/>
              </a:spcAft>
              <a:defRPr sz="1050" b="1">
                <a:solidFill>
                  <a:srgbClr val="475569"/>
                </a:solidFill>
                <a:latin typeface="Microsoft YaHei"/>
              </a:defRPr>
            </a:pPr>
            <a:r>
              <a:t>第一方责任不可向开源外包</a:t>
            </a:r>
          </a:p>
          <a:p>
            <a:pPr>
              <a:lnSpc>
                <a:spcPct val="122000"/>
              </a:lnSpc>
              <a:spcBef>
                <a:spcPts val="600"/>
              </a:spcBef>
              <a:defRPr sz="1200" b="1">
                <a:solidFill>
                  <a:srgbClr val="0F172A"/>
                </a:solidFill>
                <a:latin typeface="Microsoft YaHei"/>
              </a:defRPr>
            </a:pPr>
            <a:r>
              <a:t>• 专属微架构使能：</a:t>
            </a:r>
            <a:r>
              <a:rPr sz="1150" b="0">
                <a:solidFill>
                  <a:srgbClr val="475569"/>
                </a:solidFill>
                <a:latin typeface="Microsoft YaHei"/>
              </a:rPr>
              <a:t>开源仅使用通用接口；本项目深入 UBMEM / URMA 等第一方专属原语。</a:t>
            </a:r>
          </a:p>
          <a:p>
            <a:pPr>
              <a:lnSpc>
                <a:spcPct val="122000"/>
              </a:lnSpc>
              <a:spcBef>
                <a:spcPts val="600"/>
              </a:spcBef>
              <a:defRPr sz="1200" b="1">
                <a:solidFill>
                  <a:srgbClr val="0F172A"/>
                </a:solidFill>
                <a:latin typeface="Microsoft YaHei"/>
              </a:defRPr>
            </a:pPr>
            <a:r>
              <a:t>• 跨版本认证闭环：</a:t>
            </a:r>
            <a:r>
              <a:rPr sz="1150" b="0">
                <a:solidFill>
                  <a:srgbClr val="475569"/>
                </a:solidFill>
                <a:latin typeface="Microsoft YaHei"/>
              </a:rPr>
              <a:t>开源社区不承担特定芯片的 Day-0 交付、驱动协同与跨版本回归责任。</a:t>
            </a:r>
          </a:p>
          <a:p>
            <a:pPr>
              <a:lnSpc>
                <a:spcPct val="122000"/>
              </a:lnSpc>
              <a:spcBef>
                <a:spcPts val="600"/>
              </a:spcBef>
              <a:defRPr sz="1200" b="1">
                <a:solidFill>
                  <a:srgbClr val="0F172A"/>
                </a:solidFill>
                <a:latin typeface="Microsoft YaHei"/>
              </a:defRPr>
            </a:pPr>
            <a:r>
              <a:t>• SLA 与正确性兜底：</a:t>
            </a:r>
            <a:r>
              <a:rPr sz="1150" b="0">
                <a:solidFill>
                  <a:srgbClr val="475569"/>
                </a:solidFill>
                <a:latin typeface="Microsoft YaHei"/>
              </a:rPr>
              <a:t>高并发 P99 安全包络与 0 错误消费责任必须由第一方系统全面兜底。</a:t>
            </a:r>
          </a:p>
        </p:txBody>
      </p:sp>
      <p:sp>
        <p:nvSpPr>
          <p:cNvPr id="10" name="Rectangle 9"/>
          <p:cNvSpPr/>
          <p:nvPr/>
        </p:nvSpPr>
        <p:spPr>
          <a:xfrm>
            <a:off x="8997696" y="1060704"/>
            <a:ext cx="2633472" cy="3584448"/>
          </a:xfrm>
          <a:prstGeom prst="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07424" y="1152144"/>
            <a:ext cx="2414016" cy="3401568"/>
          </a:xfrm>
          <a:prstGeom prst="rect">
            <a:avLst/>
          </a:prstGeom>
          <a:noFill/>
        </p:spPr>
        <p:txBody>
          <a:bodyPr wrap="square" lIns="0" tIns="0" rIns="0" bIns="0">
            <a:spAutoFit/>
          </a:bodyPr>
          <a:lstStyle/>
          <a:p>
            <a:pPr>
              <a:defRPr sz="1300" b="1">
                <a:solidFill>
                  <a:srgbClr val="047857"/>
                </a:solidFill>
                <a:latin typeface="Microsoft YaHei"/>
              </a:defRPr>
            </a:pPr>
            <a:r>
              <a:t>4. 为什么我们做 (Why Us)</a:t>
            </a:r>
          </a:p>
          <a:p>
            <a:pPr>
              <a:spcBef>
                <a:spcPts val="200"/>
              </a:spcBef>
              <a:spcAft>
                <a:spcPts val="400"/>
              </a:spcAft>
              <a:defRPr sz="1050" b="1">
                <a:solidFill>
                  <a:srgbClr val="475569"/>
                </a:solidFill>
                <a:latin typeface="Microsoft YaHei"/>
              </a:defRPr>
            </a:pPr>
            <a:r>
              <a:t>硬件厂商独特闭环生态标杆</a:t>
            </a:r>
          </a:p>
          <a:p>
            <a:pPr>
              <a:lnSpc>
                <a:spcPct val="122000"/>
              </a:lnSpc>
              <a:spcBef>
                <a:spcPts val="600"/>
              </a:spcBef>
              <a:defRPr sz="1200" b="1">
                <a:solidFill>
                  <a:srgbClr val="0F172A"/>
                </a:solidFill>
                <a:latin typeface="Microsoft YaHei"/>
              </a:defRPr>
            </a:pPr>
            <a:r>
              <a:t>• 全栈协同技术壁垒：</a:t>
            </a:r>
            <a:r>
              <a:rPr sz="1150" b="0">
                <a:solidFill>
                  <a:srgbClr val="475569"/>
                </a:solidFill>
                <a:latin typeface="Microsoft YaHei"/>
              </a:rPr>
              <a:t>建立“业务价值 ➔ KV 语义 ➔ QueryPlan ➔ UBMEM / URMA 直达”闭环。</a:t>
            </a:r>
          </a:p>
          <a:p>
            <a:pPr>
              <a:lnSpc>
                <a:spcPct val="122000"/>
              </a:lnSpc>
              <a:spcBef>
                <a:spcPts val="600"/>
              </a:spcBef>
              <a:defRPr sz="1200" b="1">
                <a:solidFill>
                  <a:srgbClr val="0F172A"/>
                </a:solidFill>
                <a:latin typeface="Microsoft YaHei"/>
              </a:defRPr>
            </a:pPr>
            <a:r>
              <a:t>• 对标全球巨头套件：</a:t>
            </a:r>
            <a:r>
              <a:rPr sz="1150" b="0">
                <a:solidFill>
                  <a:srgbClr val="475569"/>
                </a:solidFill>
                <a:latin typeface="Microsoft YaHei"/>
              </a:rPr>
              <a:t>补齐国产第一方空白，打造对标 NVIDIA Dynamo / KVBM / NIM 全栈基石。</a:t>
            </a:r>
          </a:p>
          <a:p>
            <a:pPr>
              <a:lnSpc>
                <a:spcPct val="122000"/>
              </a:lnSpc>
              <a:spcBef>
                <a:spcPts val="600"/>
              </a:spcBef>
              <a:defRPr sz="1200" b="1">
                <a:solidFill>
                  <a:srgbClr val="0F172A"/>
                </a:solidFill>
                <a:latin typeface="Microsoft YaHei"/>
              </a:defRPr>
            </a:pPr>
            <a:r>
              <a:t>• 可验证投资策略：</a:t>
            </a:r>
            <a:r>
              <a:rPr sz="1150" b="0">
                <a:solidFill>
                  <a:srgbClr val="475569"/>
                </a:solidFill>
                <a:latin typeface="Microsoft YaHei"/>
              </a:rPr>
              <a:t>以 8 项原型 (PVT-00 ~ PVT-07) 购买事实，按 E0 ~ E3 门禁逐级释放投入。</a:t>
            </a:r>
          </a:p>
        </p:txBody>
      </p:sp>
      <p:sp>
        <p:nvSpPr>
          <p:cNvPr id="12" name="Rectangle 11"/>
          <p:cNvSpPr/>
          <p:nvPr/>
        </p:nvSpPr>
        <p:spPr>
          <a:xfrm>
            <a:off x="548640" y="4736592"/>
            <a:ext cx="11094415" cy="111556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782312"/>
            <a:ext cx="10820095" cy="228600"/>
          </a:xfrm>
          <a:prstGeom prst="rect">
            <a:avLst/>
          </a:prstGeom>
          <a:noFill/>
        </p:spPr>
        <p:txBody>
          <a:bodyPr wrap="none" lIns="0" tIns="0" rIns="0" bIns="0">
            <a:spAutoFit/>
          </a:bodyPr>
          <a:lstStyle/>
          <a:p>
            <a:pPr>
              <a:defRPr sz="1150" b="1">
                <a:solidFill>
                  <a:srgbClr val="1D4ED8"/>
                </a:solidFill>
                <a:latin typeface="Microsoft YaHei"/>
              </a:defRPr>
            </a:pPr>
            <a:r>
              <a:t>【第一方基础设施价值转化闭环链路图】</a:t>
            </a:r>
          </a:p>
        </p:txBody>
      </p:sp>
      <p:sp>
        <p:nvSpPr>
          <p:cNvPr id="14" name="Rectangle 13"/>
          <p:cNvSpPr/>
          <p:nvPr/>
        </p:nvSpPr>
        <p:spPr>
          <a:xfrm>
            <a:off x="685800" y="5029200"/>
            <a:ext cx="2029968" cy="713232"/>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5065776"/>
            <a:ext cx="1883664" cy="640080"/>
          </a:xfrm>
          <a:prstGeom prst="rect">
            <a:avLst/>
          </a:prstGeom>
          <a:noFill/>
        </p:spPr>
        <p:txBody>
          <a:bodyPr wrap="square" lIns="0" tIns="0" rIns="0" bIns="0">
            <a:spAutoFit/>
          </a:bodyPr>
          <a:lstStyle/>
          <a:p>
            <a:pPr>
              <a:defRPr sz="1050" b="1">
                <a:solidFill>
                  <a:srgbClr val="1E3A8A"/>
                </a:solidFill>
                <a:latin typeface="Microsoft YaHei"/>
              </a:defRPr>
            </a:pPr>
            <a:r>
              <a:t>1. 业务价值发现</a:t>
            </a:r>
          </a:p>
          <a:p>
            <a:pPr>
              <a:spcBef>
                <a:spcPts val="100"/>
              </a:spcBef>
              <a:defRPr sz="950">
                <a:solidFill>
                  <a:srgbClr val="0F172A"/>
                </a:solidFill>
                <a:latin typeface="Microsoft YaHei"/>
              </a:defRPr>
            </a:pPr>
            <a:r>
              <a:t>长文本 / Agent / RAG</a:t>
            </a:r>
          </a:p>
          <a:p>
            <a:pPr>
              <a:spcBef>
                <a:spcPts val="100"/>
              </a:spcBef>
              <a:defRPr sz="900">
                <a:solidFill>
                  <a:srgbClr val="475569"/>
                </a:solidFill>
                <a:latin typeface="Microsoft YaHei"/>
              </a:defRPr>
            </a:pPr>
            <a:r>
              <a:t>识别高价值复用前缀</a:t>
            </a:r>
          </a:p>
        </p:txBody>
      </p:sp>
      <p:sp>
        <p:nvSpPr>
          <p:cNvPr id="16" name="Rectangle 15"/>
          <p:cNvSpPr/>
          <p:nvPr/>
        </p:nvSpPr>
        <p:spPr>
          <a:xfrm>
            <a:off x="2880360" y="5029200"/>
            <a:ext cx="2029968" cy="713232"/>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53512" y="5065776"/>
            <a:ext cx="1883664" cy="640080"/>
          </a:xfrm>
          <a:prstGeom prst="rect">
            <a:avLst/>
          </a:prstGeom>
          <a:noFill/>
        </p:spPr>
        <p:txBody>
          <a:bodyPr wrap="square" lIns="0" tIns="0" rIns="0" bIns="0">
            <a:spAutoFit/>
          </a:bodyPr>
          <a:lstStyle/>
          <a:p>
            <a:pPr>
              <a:defRPr sz="1050" b="1">
                <a:solidFill>
                  <a:srgbClr val="1E3A8A"/>
                </a:solidFill>
                <a:latin typeface="Microsoft YaHei"/>
              </a:defRPr>
            </a:pPr>
            <a:r>
              <a:t>2. KV 语义治理</a:t>
            </a:r>
          </a:p>
          <a:p>
            <a:pPr>
              <a:spcBef>
                <a:spcPts val="100"/>
              </a:spcBef>
              <a:defRPr sz="950">
                <a:solidFill>
                  <a:srgbClr val="0F172A"/>
                </a:solidFill>
                <a:latin typeface="Microsoft YaHei"/>
              </a:defRPr>
            </a:pPr>
            <a:r>
              <a:t>Layer / TP Rank 身份</a:t>
            </a:r>
          </a:p>
          <a:p>
            <a:pPr>
              <a:spcBef>
                <a:spcPts val="100"/>
              </a:spcBef>
              <a:defRPr sz="900">
                <a:solidFill>
                  <a:srgbClr val="475569"/>
                </a:solidFill>
                <a:latin typeface="Microsoft YaHei"/>
              </a:defRPr>
            </a:pPr>
            <a:r>
              <a:t>严格权限与租约校验</a:t>
            </a:r>
          </a:p>
        </p:txBody>
      </p:sp>
      <p:sp>
        <p:nvSpPr>
          <p:cNvPr id="18" name="Rectangle 17"/>
          <p:cNvSpPr/>
          <p:nvPr/>
        </p:nvSpPr>
        <p:spPr>
          <a:xfrm>
            <a:off x="5074920" y="5029200"/>
            <a:ext cx="2029968" cy="713232"/>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8072" y="5065776"/>
            <a:ext cx="1883664" cy="640080"/>
          </a:xfrm>
          <a:prstGeom prst="rect">
            <a:avLst/>
          </a:prstGeom>
          <a:noFill/>
        </p:spPr>
        <p:txBody>
          <a:bodyPr wrap="square" lIns="0" tIns="0" rIns="0" bIns="0">
            <a:spAutoFit/>
          </a:bodyPr>
          <a:lstStyle/>
          <a:p>
            <a:pPr>
              <a:defRPr sz="1050" b="1">
                <a:solidFill>
                  <a:srgbClr val="1E3A8A"/>
                </a:solidFill>
                <a:latin typeface="Microsoft YaHei"/>
              </a:defRPr>
            </a:pPr>
            <a:r>
              <a:t>3. PVT-04 动态选路</a:t>
            </a:r>
          </a:p>
          <a:p>
            <a:pPr>
              <a:spcBef>
                <a:spcPts val="100"/>
              </a:spcBef>
              <a:defRPr sz="950">
                <a:solidFill>
                  <a:srgbClr val="0F172A"/>
                </a:solidFill>
                <a:latin typeface="Microsoft YaHei"/>
              </a:defRPr>
            </a:pPr>
            <a:r>
              <a:t>QueryPlan 微秒决策</a:t>
            </a:r>
          </a:p>
          <a:p>
            <a:pPr>
              <a:spcBef>
                <a:spcPts val="100"/>
              </a:spcBef>
              <a:defRPr sz="900">
                <a:solidFill>
                  <a:srgbClr val="475569"/>
                </a:solidFill>
                <a:latin typeface="Microsoft YaHei"/>
              </a:defRPr>
            </a:pPr>
            <a:r>
              <a:t>正收益判定保全 SLO</a:t>
            </a:r>
          </a:p>
        </p:txBody>
      </p:sp>
      <p:sp>
        <p:nvSpPr>
          <p:cNvPr id="20" name="Rectangle 19"/>
          <p:cNvSpPr/>
          <p:nvPr/>
        </p:nvSpPr>
        <p:spPr>
          <a:xfrm>
            <a:off x="7269480" y="5029200"/>
            <a:ext cx="2029968" cy="713232"/>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2632" y="5065776"/>
            <a:ext cx="1883664" cy="640080"/>
          </a:xfrm>
          <a:prstGeom prst="rect">
            <a:avLst/>
          </a:prstGeom>
          <a:noFill/>
        </p:spPr>
        <p:txBody>
          <a:bodyPr wrap="square" lIns="0" tIns="0" rIns="0" bIns="0">
            <a:spAutoFit/>
          </a:bodyPr>
          <a:lstStyle/>
          <a:p>
            <a:pPr>
              <a:defRPr sz="1050" b="1">
                <a:solidFill>
                  <a:srgbClr val="1E3A8A"/>
                </a:solidFill>
                <a:latin typeface="Microsoft YaHei"/>
              </a:defRPr>
            </a:pPr>
            <a:r>
              <a:t>4. 硬件极速搬运</a:t>
            </a:r>
          </a:p>
          <a:p>
            <a:pPr>
              <a:spcBef>
                <a:spcPts val="100"/>
              </a:spcBef>
              <a:defRPr sz="950">
                <a:solidFill>
                  <a:srgbClr val="0F172A"/>
                </a:solidFill>
                <a:latin typeface="Microsoft YaHei"/>
              </a:defRPr>
            </a:pPr>
            <a:r>
              <a:t>URMA / PCIe 直达</a:t>
            </a:r>
          </a:p>
          <a:p>
            <a:pPr>
              <a:spcBef>
                <a:spcPts val="100"/>
              </a:spcBef>
              <a:defRPr sz="900">
                <a:solidFill>
                  <a:srgbClr val="475569"/>
                </a:solidFill>
                <a:latin typeface="Microsoft YaHei"/>
              </a:defRPr>
            </a:pPr>
            <a:r>
              <a:t>Host 零触碰双流重叠</a:t>
            </a:r>
          </a:p>
        </p:txBody>
      </p:sp>
      <p:sp>
        <p:nvSpPr>
          <p:cNvPr id="22" name="Rectangle 21"/>
          <p:cNvSpPr/>
          <p:nvPr/>
        </p:nvSpPr>
        <p:spPr>
          <a:xfrm>
            <a:off x="9464040" y="5029200"/>
            <a:ext cx="2029968" cy="713232"/>
          </a:xfrm>
          <a:prstGeom prst="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37192" y="5065776"/>
            <a:ext cx="1883664" cy="640080"/>
          </a:xfrm>
          <a:prstGeom prst="rect">
            <a:avLst/>
          </a:prstGeom>
          <a:noFill/>
        </p:spPr>
        <p:txBody>
          <a:bodyPr wrap="square" lIns="0" tIns="0" rIns="0" bIns="0">
            <a:spAutoFit/>
          </a:bodyPr>
          <a:lstStyle/>
          <a:p>
            <a:pPr>
              <a:defRPr sz="1050" b="1">
                <a:solidFill>
                  <a:srgbClr val="047857"/>
                </a:solidFill>
                <a:latin typeface="Microsoft YaHei"/>
              </a:defRPr>
            </a:pPr>
            <a:r>
              <a:t>5. 客户 SLO 闭环</a:t>
            </a:r>
          </a:p>
          <a:p>
            <a:pPr>
              <a:spcBef>
                <a:spcPts val="100"/>
              </a:spcBef>
              <a:defRPr sz="950">
                <a:solidFill>
                  <a:srgbClr val="0F172A"/>
                </a:solidFill>
                <a:latin typeface="Microsoft YaHei"/>
              </a:defRPr>
            </a:pPr>
            <a:r>
              <a:t>TTFT -20% / 容量 +30%</a:t>
            </a:r>
          </a:p>
          <a:p>
            <a:pPr>
              <a:spcBef>
                <a:spcPts val="100"/>
              </a:spcBef>
              <a:defRPr sz="900">
                <a:solidFill>
                  <a:srgbClr val="475569"/>
                </a:solidFill>
                <a:latin typeface="Microsoft YaHei"/>
              </a:defRPr>
            </a:pPr>
            <a:r>
              <a:t>错误消费精确为 0</a:t>
            </a:r>
          </a:p>
        </p:txBody>
      </p:sp>
      <p:sp>
        <p:nvSpPr>
          <p:cNvPr id="24" name="Rectangle 23"/>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第一方战略定位：</a:t>
            </a:r>
            <a:r>
              <a:rPr sz="1150" b="1">
                <a:solidFill>
                  <a:srgbClr val="DC2626"/>
                </a:solidFill>
                <a:latin typeface="Microsoft YaHei"/>
              </a:rPr>
              <a:t>“能力可以组合，第一方责任不能外包！” </a:t>
            </a:r>
            <a:r>
              <a:rPr sz="1150" b="0">
                <a:solidFill>
                  <a:srgbClr val="0F172A"/>
                </a:solidFill>
                <a:latin typeface="Microsoft YaHei"/>
              </a:rPr>
              <a:t>本项目打造软硬件深度协同的统一异构 KVCache 存储池，实现 </a:t>
            </a:r>
            <a:r>
              <a:rPr sz="1150" b="1">
                <a:solidFill>
                  <a:srgbClr val="DC2626"/>
                </a:solidFill>
                <a:latin typeface="Microsoft YaHei"/>
              </a:rPr>
              <a:t>TTFT P99 降低 ≥20%</a:t>
            </a:r>
            <a:r>
              <a:rPr sz="1150" b="0">
                <a:solidFill>
                  <a:srgbClr val="0F172A"/>
                </a:solidFill>
                <a:latin typeface="Microsoft YaHei"/>
              </a:rPr>
              <a:t>、</a:t>
            </a:r>
            <a:r>
              <a:rPr sz="1150" b="1">
                <a:solidFill>
                  <a:srgbClr val="DC2626"/>
                </a:solidFill>
                <a:latin typeface="Microsoft YaHei"/>
              </a:rPr>
              <a:t>HBM 有效容量提升 ≥30%</a:t>
            </a:r>
            <a:r>
              <a:rPr sz="1150" b="0">
                <a:solidFill>
                  <a:srgbClr val="0F172A"/>
                </a:solidFill>
                <a:latin typeface="Microsoft YaHei"/>
              </a:rPr>
              <a:t>、</a:t>
            </a:r>
            <a:r>
              <a:rPr sz="1150" b="1">
                <a:solidFill>
                  <a:srgbClr val="DC2626"/>
                </a:solidFill>
                <a:latin typeface="Microsoft YaHei"/>
              </a:rPr>
              <a:t>错误消费率精确为 0</a:t>
            </a:r>
            <a:r>
              <a:rPr sz="1150" b="0">
                <a:solidFill>
                  <a:srgbClr val="0F172A"/>
                </a:solidFill>
                <a:latin typeface="Microsoft YaHei"/>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当前厂商动作：全球芯片巨头从单卡算力转向系统级状态管理全栈布局</a:t>
            </a:r>
          </a:p>
          <a:p>
            <a:pPr>
              <a:spcBef>
                <a:spcPts val="200"/>
              </a:spcBef>
              <a:defRPr sz="1000">
                <a:solidFill>
                  <a:srgbClr val="475569"/>
                </a:solidFill>
                <a:latin typeface="Microsoft YaHei"/>
              </a:defRPr>
            </a:pPr>
            <a:r>
              <a:t>NVIDIA、AMD、Intel、Arm 围绕 KVCache 存储、传输与管理展开软硬协同全面竞争</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02 / 10 页</a:t>
            </a:r>
          </a:p>
        </p:txBody>
      </p:sp>
      <p:graphicFrame>
        <p:nvGraphicFramePr>
          <p:cNvPr id="4" name="Table 3"/>
          <p:cNvGraphicFramePr>
            <a:graphicFrameLocks noGrp="1"/>
          </p:cNvGraphicFramePr>
          <p:nvPr/>
        </p:nvGraphicFramePr>
        <p:xfrm>
          <a:off x="548640" y="1060704"/>
          <a:ext cx="11094415" cy="3547872"/>
        </p:xfrm>
        <a:graphic>
          <a:graphicData uri="http://schemas.openxmlformats.org/drawingml/2006/table">
            <a:tbl>
              <a:tblPr firstRow="1" bandRow="1">
                <a:tableStyleId>{5C22544A-7EE6-4342-B048-85BDC9FD1C3A}</a:tableStyleId>
              </a:tblPr>
              <a:tblGrid>
                <a:gridCol w="1508760"/>
                <a:gridCol w="2423160"/>
                <a:gridCol w="2423160"/>
                <a:gridCol w="2423160"/>
                <a:gridCol w="2316175"/>
              </a:tblGrid>
              <a:tr h="709574">
                <a:tc>
                  <a:txBody>
                    <a:bodyPr wrap="square" lIns="73152" rIns="73152" tIns="54864" bIns="54864"/>
                    <a:lstStyle/>
                    <a:p>
                      <a:pPr algn="ctr">
                        <a:defRPr sz="1100" b="1">
                          <a:solidFill>
                            <a:srgbClr val="FFFFFF"/>
                          </a:solidFill>
                          <a:latin typeface="Microsoft YaHei"/>
                        </a:defRPr>
                      </a:pPr>
                      <a:r>
                        <a:t>全球芯片巨头</a:t>
                      </a:r>
                    </a:p>
                  </a:txBody>
                  <a:tcPr>
                    <a:solidFill>
                      <a:srgbClr val="1E3A8A"/>
                    </a:solidFill>
                  </a:tcPr>
                </a:tc>
                <a:tc>
                  <a:txBody>
                    <a:bodyPr wrap="square" lIns="73152" rIns="73152" tIns="54864" bIns="54864"/>
                    <a:lstStyle/>
                    <a:p>
                      <a:pPr algn="ctr">
                        <a:defRPr sz="1100" b="1">
                          <a:solidFill>
                            <a:srgbClr val="FFFFFF"/>
                          </a:solidFill>
                          <a:latin typeface="Microsoft YaHei"/>
                        </a:defRPr>
                      </a:pPr>
                      <a:r>
                        <a:t>算子与单机微架构优化</a:t>
                      </a:r>
                    </a:p>
                  </a:txBody>
                  <a:tcPr>
                    <a:solidFill>
                      <a:srgbClr val="1E3A8A"/>
                    </a:solidFill>
                  </a:tcPr>
                </a:tc>
                <a:tc>
                  <a:txBody>
                    <a:bodyPr wrap="square" lIns="73152" rIns="73152" tIns="54864" bIns="54864"/>
                    <a:lstStyle/>
                    <a:p>
                      <a:pPr algn="ctr">
                        <a:defRPr sz="1100" b="1">
                          <a:solidFill>
                            <a:srgbClr val="FFFFFF"/>
                          </a:solidFill>
                          <a:latin typeface="Microsoft YaHei"/>
                        </a:defRPr>
                      </a:pPr>
                      <a:r>
                        <a:t>集群传输管理与协议引擎</a:t>
                      </a:r>
                    </a:p>
                  </a:txBody>
                  <a:tcPr>
                    <a:solidFill>
                      <a:srgbClr val="1E3A8A"/>
                    </a:solidFill>
                  </a:tcPr>
                </a:tc>
                <a:tc>
                  <a:txBody>
                    <a:bodyPr wrap="square" lIns="73152" rIns="73152" tIns="54864" bIns="54864"/>
                    <a:lstStyle/>
                    <a:p>
                      <a:pPr algn="ctr">
                        <a:defRPr sz="1100" b="1">
                          <a:solidFill>
                            <a:srgbClr val="FFFFFF"/>
                          </a:solidFill>
                          <a:latin typeface="Microsoft YaHei"/>
                        </a:defRPr>
                      </a:pPr>
                      <a:r>
                        <a:t>存储分层与 Host-Bypass</a:t>
                      </a:r>
                    </a:p>
                  </a:txBody>
                  <a:tcPr>
                    <a:solidFill>
                      <a:srgbClr val="1E3A8A"/>
                    </a:solidFill>
                  </a:tcPr>
                </a:tc>
                <a:tc>
                  <a:txBody>
                    <a:bodyPr wrap="square" lIns="73152" rIns="73152" tIns="54864" bIns="54864"/>
                    <a:lstStyle/>
                    <a:p>
                      <a:pPr algn="ctr">
                        <a:defRPr sz="1100" b="1">
                          <a:solidFill>
                            <a:srgbClr val="FFFFFF"/>
                          </a:solidFill>
                          <a:latin typeface="Microsoft YaHei"/>
                        </a:defRPr>
                      </a:pPr>
                      <a:r>
                        <a:t>生态战略与全栈商业化</a:t>
                      </a:r>
                    </a:p>
                  </a:txBody>
                  <a:tcPr>
                    <a:solidFill>
                      <a:srgbClr val="1E3A8A"/>
                    </a:solidFill>
                  </a:tcPr>
                </a:tc>
              </a:tr>
              <a:tr h="709574">
                <a:tc>
                  <a:txBody>
                    <a:bodyPr wrap="square" lIns="73152" rIns="73152"/>
                    <a:lstStyle/>
                    <a:p>
                      <a:pPr algn="ctr">
                        <a:lnSpc>
                          <a:spcPct val="120000"/>
                        </a:lnSpc>
                        <a:defRPr sz="1000" b="1">
                          <a:solidFill>
                            <a:srgbClr val="1E3A8A"/>
                          </a:solidFill>
                          <a:latin typeface="Microsoft YaHei"/>
                        </a:defRPr>
                      </a:pPr>
                      <a:r>
                        <a:t>NVIDIA</a:t>
                      </a:r>
                      <a:br/>
                      <a:r>
                        <a:t>(垂直闭环极速)</a:t>
                      </a:r>
                    </a:p>
                  </a:txBody>
                  <a:tcPr>
                    <a:solidFill>
                      <a:srgbClr val="FFFFFF"/>
                    </a:solidFill>
                  </a:tcPr>
                </a:tc>
                <a:tc>
                  <a:txBody>
                    <a:bodyPr wrap="square" lIns="73152" rIns="73152"/>
                    <a:lstStyle/>
                    <a:p>
                      <a:pPr>
                        <a:lnSpc>
                          <a:spcPct val="120000"/>
                        </a:lnSpc>
                        <a:defRPr sz="1000">
                          <a:solidFill>
                            <a:srgbClr val="0F172A"/>
                          </a:solidFill>
                          <a:latin typeface="Microsoft YaHei"/>
                        </a:defRPr>
                      </a:pPr>
                      <a:r>
                        <a:t>• TensorRT-LLM 率先支持 FA-3</a:t>
                      </a:r>
                      <a:br/>
                      <a:r>
                        <a:t>• FP8 / FP4 KV 动态量化与 Chunked Prefill</a:t>
                      </a:r>
                    </a:p>
                  </a:txBody>
                  <a:tcPr>
                    <a:solidFill>
                      <a:srgbClr val="FFFFFF"/>
                    </a:solidFill>
                  </a:tcPr>
                </a:tc>
                <a:tc>
                  <a:txBody>
                    <a:bodyPr wrap="square" lIns="73152" rIns="73152"/>
                    <a:lstStyle/>
                    <a:p>
                      <a:pPr>
                        <a:lnSpc>
                          <a:spcPct val="120000"/>
                        </a:lnSpc>
                        <a:defRPr sz="1000">
                          <a:solidFill>
                            <a:srgbClr val="0F172A"/>
                          </a:solidFill>
                          <a:latin typeface="Microsoft YaHei"/>
                        </a:defRPr>
                      </a:pPr>
                      <a:r>
                        <a:t>• KVBM (KV Block Manager)</a:t>
                      </a:r>
                      <a:br/>
                      <a:r>
                        <a:t>• NVLink-Network 跨节点零拷贝</a:t>
                      </a:r>
                      <a:br/>
                      <a:r>
                        <a:t>• NIM 容器化微服务闭环</a:t>
                      </a:r>
                    </a:p>
                  </a:txBody>
                  <a:tcPr>
                    <a:solidFill>
                      <a:srgbClr val="FFFFFF"/>
                    </a:solidFill>
                  </a:tcPr>
                </a:tc>
                <a:tc>
                  <a:txBody>
                    <a:bodyPr wrap="square" lIns="73152" rIns="73152"/>
                    <a:lstStyle/>
                    <a:p>
                      <a:pPr>
                        <a:lnSpc>
                          <a:spcPct val="120000"/>
                        </a:lnSpc>
                        <a:defRPr sz="1000">
                          <a:solidFill>
                            <a:srgbClr val="0F172A"/>
                          </a:solidFill>
                          <a:latin typeface="Microsoft YaHei"/>
                        </a:defRPr>
                      </a:pPr>
                      <a:r>
                        <a:t>• GPUDirect Storage (GDS) 直达</a:t>
                      </a:r>
                      <a:br/>
                      <a:r>
                        <a:t>• NVSwitch C2C 内存池化</a:t>
                      </a:r>
                      <a:br/>
                      <a:r>
                        <a:t>• 完全绕过 Host CPU / DRAM</a:t>
                      </a:r>
                    </a:p>
                  </a:txBody>
                  <a:tcPr>
                    <a:solidFill>
                      <a:srgbClr val="FFFFFF"/>
                    </a:solidFill>
                  </a:tcPr>
                </a:tc>
                <a:tc>
                  <a:txBody>
                    <a:bodyPr wrap="square" lIns="73152" rIns="73152"/>
                    <a:lstStyle/>
                    <a:p>
                      <a:pPr>
                        <a:lnSpc>
                          <a:spcPct val="120000"/>
                        </a:lnSpc>
                        <a:defRPr sz="1000">
                          <a:solidFill>
                            <a:srgbClr val="0F172A"/>
                          </a:solidFill>
                          <a:latin typeface="Microsoft YaHei"/>
                        </a:defRPr>
                      </a:pPr>
                      <a:r>
                        <a:t>• 软件生态全栈领先</a:t>
                      </a:r>
                      <a:br/>
                      <a:r>
                        <a:t>• 闭环企业级基础设施</a:t>
                      </a:r>
                      <a:br/>
                      <a:r>
                        <a:t>• 软硬协同第一技术护城河</a:t>
                      </a:r>
                    </a:p>
                  </a:txBody>
                  <a:tcPr>
                    <a:solidFill>
                      <a:srgbClr val="FFFFFF"/>
                    </a:solidFill>
                  </a:tcPr>
                </a:tc>
              </a:tr>
              <a:tr h="709574">
                <a:tc>
                  <a:txBody>
                    <a:bodyPr wrap="square" lIns="73152" rIns="73152"/>
                    <a:lstStyle/>
                    <a:p>
                      <a:pPr algn="ctr">
                        <a:lnSpc>
                          <a:spcPct val="120000"/>
                        </a:lnSpc>
                        <a:defRPr sz="1000" b="1">
                          <a:solidFill>
                            <a:srgbClr val="1E3A8A"/>
                          </a:solidFill>
                          <a:latin typeface="Microsoft YaHei"/>
                        </a:defRPr>
                      </a:pPr>
                      <a:r>
                        <a:t>AMD</a:t>
                      </a:r>
                      <a:br/>
                      <a:r>
                        <a:t>(开源分层并购)</a:t>
                      </a:r>
                    </a:p>
                  </a:txBody>
                  <a:tcPr>
                    <a:solidFill>
                      <a:srgbClr val="F1F5F9"/>
                    </a:solidFill>
                  </a:tcPr>
                </a:tc>
                <a:tc>
                  <a:txBody>
                    <a:bodyPr wrap="square" lIns="73152" rIns="73152"/>
                    <a:lstStyle/>
                    <a:p>
                      <a:pPr>
                        <a:lnSpc>
                          <a:spcPct val="120000"/>
                        </a:lnSpc>
                        <a:defRPr sz="1000">
                          <a:solidFill>
                            <a:srgbClr val="0F172A"/>
                          </a:solidFill>
                          <a:latin typeface="Microsoft YaHei"/>
                        </a:defRPr>
                      </a:pPr>
                      <a:r>
                        <a:t>• ROCm 算子库深度调优</a:t>
                      </a:r>
                      <a:br/>
                      <a:r>
                        <a:t>• SGLang / vLLM ROCm 后端支持</a:t>
                      </a:r>
                      <a:br/>
                      <a:r>
                        <a:t>• 矩阵指令深度适配</a:t>
                      </a:r>
                    </a:p>
                  </a:txBody>
                  <a:tcPr>
                    <a:solidFill>
                      <a:srgbClr val="F1F5F9"/>
                    </a:solidFill>
                  </a:tcPr>
                </a:tc>
                <a:tc>
                  <a:txBody>
                    <a:bodyPr wrap="square" lIns="73152" rIns="73152"/>
                    <a:lstStyle/>
                    <a:p>
                      <a:pPr>
                        <a:lnSpc>
                          <a:spcPct val="120000"/>
                        </a:lnSpc>
                        <a:defRPr sz="1000">
                          <a:solidFill>
                            <a:srgbClr val="0F172A"/>
                          </a:solidFill>
                          <a:latin typeface="Microsoft YaHei"/>
                        </a:defRPr>
                      </a:pPr>
                      <a:r>
                        <a:t>• 主导开源 NIXL 传输引擎</a:t>
                      </a:r>
                      <a:br/>
                      <a:r>
                        <a:t>• 规范跨节点 KV 迁移标准</a:t>
                      </a:r>
                      <a:br/>
                      <a:r>
                        <a:t>• 深度适配多卡 RDMA</a:t>
                      </a:r>
                    </a:p>
                  </a:txBody>
                  <a:tcPr>
                    <a:solidFill>
                      <a:srgbClr val="F1F5F9"/>
                    </a:solidFill>
                  </a:tcPr>
                </a:tc>
                <a:tc>
                  <a:txBody>
                    <a:bodyPr wrap="square" lIns="73152" rIns="73152"/>
                    <a:lstStyle/>
                    <a:p>
                      <a:pPr>
                        <a:lnSpc>
                          <a:spcPct val="120000"/>
                        </a:lnSpc>
                        <a:defRPr sz="1000">
                          <a:solidFill>
                            <a:srgbClr val="0F172A"/>
                          </a:solidFill>
                          <a:latin typeface="Microsoft YaHei"/>
                        </a:defRPr>
                      </a:pPr>
                      <a:r>
                        <a:t>• ROCm hipFile 实现 Host-Bypass</a:t>
                      </a:r>
                      <a:br/>
                      <a:r>
                        <a:t>• 构建 HBM ➔ DRAM ➔ CXL / NVMe</a:t>
                      </a:r>
                      <a:br/>
                      <a:r>
                        <a:t>• 重点投入 LMCache 多级缓存</a:t>
                      </a:r>
                    </a:p>
                  </a:txBody>
                  <a:tcPr>
                    <a:solidFill>
                      <a:srgbClr val="F1F5F9"/>
                    </a:solidFill>
                  </a:tcPr>
                </a:tc>
                <a:tc>
                  <a:txBody>
                    <a:bodyPr wrap="square" lIns="73152" rIns="73152"/>
                    <a:lstStyle/>
                    <a:p>
                      <a:pPr>
                        <a:lnSpc>
                          <a:spcPct val="120000"/>
                        </a:lnSpc>
                        <a:defRPr sz="1000">
                          <a:solidFill>
                            <a:srgbClr val="0F172A"/>
                          </a:solidFill>
                          <a:latin typeface="Microsoft YaHei"/>
                        </a:defRPr>
                      </a:pPr>
                      <a:r>
                        <a:t>• 连续收购 Nod.ai (自动图编译)</a:t>
                      </a:r>
                      <a:br/>
                      <a:r>
                        <a:t>• 收购 Silo AI 与 ZT Systems</a:t>
                      </a:r>
                      <a:br/>
                      <a:r>
                        <a:t>• 补齐机架全栈系统工程</a:t>
                      </a:r>
                    </a:p>
                  </a:txBody>
                  <a:tcPr>
                    <a:solidFill>
                      <a:srgbClr val="F1F5F9"/>
                    </a:solidFill>
                  </a:tcPr>
                </a:tc>
              </a:tr>
              <a:tr h="709574">
                <a:tc>
                  <a:txBody>
                    <a:bodyPr wrap="square" lIns="73152" rIns="73152"/>
                    <a:lstStyle/>
                    <a:p>
                      <a:pPr algn="ctr">
                        <a:lnSpc>
                          <a:spcPct val="120000"/>
                        </a:lnSpc>
                        <a:defRPr sz="1000" b="1">
                          <a:solidFill>
                            <a:srgbClr val="1E3A8A"/>
                          </a:solidFill>
                          <a:latin typeface="Microsoft YaHei"/>
                        </a:defRPr>
                      </a:pPr>
                      <a:r>
                        <a:t>Intel</a:t>
                      </a:r>
                      <a:br/>
                      <a:r>
                        <a:t>(大内存溢出层)</a:t>
                      </a:r>
                    </a:p>
                  </a:txBody>
                  <a:tcPr>
                    <a:solidFill>
                      <a:srgbClr val="FFFFFF"/>
                    </a:solidFill>
                  </a:tcPr>
                </a:tc>
                <a:tc>
                  <a:txBody>
                    <a:bodyPr wrap="square" lIns="73152" rIns="73152"/>
                    <a:lstStyle/>
                    <a:p>
                      <a:pPr>
                        <a:lnSpc>
                          <a:spcPct val="120000"/>
                        </a:lnSpc>
                        <a:defRPr sz="1000">
                          <a:solidFill>
                            <a:srgbClr val="0F172A"/>
                          </a:solidFill>
                          <a:latin typeface="Microsoft YaHei"/>
                        </a:defRPr>
                      </a:pPr>
                      <a:r>
                        <a:t>• IPEX-LLM 与 OpenVINO 优化</a:t>
                      </a:r>
                      <a:br/>
                      <a:r>
                        <a:t>• 高比例 INT4 / INT8 动态量化</a:t>
                      </a:r>
                      <a:br/>
                      <a:r>
                        <a:t>• 大幅压降内存占用与时延</a:t>
                      </a:r>
                    </a:p>
                  </a:txBody>
                  <a:tcPr>
                    <a:solidFill>
                      <a:srgbClr val="FFFFFF"/>
                    </a:solidFill>
                  </a:tcPr>
                </a:tc>
                <a:tc>
                  <a:txBody>
                    <a:bodyPr wrap="square" lIns="73152" rIns="73152"/>
                    <a:lstStyle/>
                    <a:p>
                      <a:pPr>
                        <a:lnSpc>
                          <a:spcPct val="120000"/>
                        </a:lnSpc>
                        <a:defRPr sz="1000">
                          <a:solidFill>
                            <a:srgbClr val="0F172A"/>
                          </a:solidFill>
                          <a:latin typeface="Microsoft YaHei"/>
                        </a:defRPr>
                      </a:pPr>
                      <a:r>
                        <a:t>• DeepSpeed-FastGen 适配</a:t>
                      </a:r>
                      <a:br/>
                      <a:r>
                        <a:t>• Gaudi 分布式 PD 分离机制</a:t>
                      </a:r>
                      <a:br/>
                      <a:r>
                        <a:t>• 优化多节点网络同步</a:t>
                      </a:r>
                    </a:p>
                  </a:txBody>
                  <a:tcPr>
                    <a:solidFill>
                      <a:srgbClr val="FFFFFF"/>
                    </a:solidFill>
                  </a:tcPr>
                </a:tc>
                <a:tc>
                  <a:txBody>
                    <a:bodyPr wrap="square" lIns="73152" rIns="73152"/>
                    <a:lstStyle/>
                    <a:p>
                      <a:pPr>
                        <a:lnSpc>
                          <a:spcPct val="120000"/>
                        </a:lnSpc>
                        <a:defRPr sz="1000">
                          <a:solidFill>
                            <a:srgbClr val="0F172A"/>
                          </a:solidFill>
                          <a:latin typeface="Microsoft YaHei"/>
                        </a:defRPr>
                      </a:pPr>
                      <a:r>
                        <a:t>• 利用 Xeon 大容量 DDR5 / CXL</a:t>
                      </a:r>
                      <a:br/>
                      <a:r>
                        <a:t>• 构建 Gaudi 低成本溢出层 (Overflow)</a:t>
                      </a:r>
                      <a:br/>
                      <a:r>
                        <a:t>• CPU 内存共享缓冲</a:t>
                      </a:r>
                    </a:p>
                  </a:txBody>
                  <a:tcPr>
                    <a:solidFill>
                      <a:srgbClr val="FFFFFF"/>
                    </a:solidFill>
                  </a:tcPr>
                </a:tc>
                <a:tc>
                  <a:txBody>
                    <a:bodyPr wrap="square" lIns="73152" rIns="73152"/>
                    <a:lstStyle/>
                    <a:p>
                      <a:pPr>
                        <a:lnSpc>
                          <a:spcPct val="120000"/>
                        </a:lnSpc>
                        <a:defRPr sz="1000">
                          <a:solidFill>
                            <a:srgbClr val="0F172A"/>
                          </a:solidFill>
                          <a:latin typeface="Microsoft YaHei"/>
                        </a:defRPr>
                      </a:pPr>
                      <a:r>
                        <a:t>• 维护 Gaudi 专属开源生态</a:t>
                      </a:r>
                      <a:br/>
                      <a:r>
                        <a:t>• 结合服务器 CPU 内存优势</a:t>
                      </a:r>
                      <a:br/>
                      <a:r>
                        <a:t>• 降低大模型服务整体 TCO</a:t>
                      </a:r>
                    </a:p>
                  </a:txBody>
                  <a:tcPr>
                    <a:solidFill>
                      <a:srgbClr val="FFFFFF"/>
                    </a:solidFill>
                  </a:tcPr>
                </a:tc>
              </a:tr>
              <a:tr h="709576">
                <a:tc>
                  <a:txBody>
                    <a:bodyPr wrap="square" lIns="73152" rIns="73152"/>
                    <a:lstStyle/>
                    <a:p>
                      <a:pPr algn="ctr">
                        <a:lnSpc>
                          <a:spcPct val="120000"/>
                        </a:lnSpc>
                        <a:defRPr sz="1000" b="1">
                          <a:solidFill>
                            <a:srgbClr val="1E3A8A"/>
                          </a:solidFill>
                          <a:latin typeface="Microsoft YaHei"/>
                        </a:defRPr>
                      </a:pPr>
                      <a:r>
                        <a:t>Arm</a:t>
                      </a:r>
                      <a:br/>
                      <a:r>
                        <a:t>(微架构与CXL池)</a:t>
                      </a:r>
                    </a:p>
                  </a:txBody>
                  <a:tcPr>
                    <a:solidFill>
                      <a:srgbClr val="F1F5F9"/>
                    </a:solidFill>
                  </a:tcPr>
                </a:tc>
                <a:tc>
                  <a:txBody>
                    <a:bodyPr wrap="square" lIns="73152" rIns="73152"/>
                    <a:lstStyle/>
                    <a:p>
                      <a:pPr>
                        <a:lnSpc>
                          <a:spcPct val="120000"/>
                        </a:lnSpc>
                        <a:defRPr sz="1000">
                          <a:solidFill>
                            <a:srgbClr val="0F172A"/>
                          </a:solidFill>
                          <a:latin typeface="Microsoft YaHei"/>
                        </a:defRPr>
                      </a:pPr>
                      <a:r>
                        <a:t>• KleidiAI 汇编加速库</a:t>
                      </a:r>
                      <a:br/>
                      <a:r>
                        <a:t>• 针对 Neoverse SVE2 / SME 指令</a:t>
                      </a:r>
                      <a:br/>
                      <a:r>
                        <a:t>• 加速 KV 转置与 GEMM</a:t>
                      </a:r>
                    </a:p>
                  </a:txBody>
                  <a:tcPr>
                    <a:solidFill>
                      <a:srgbClr val="F1F5F9"/>
                    </a:solidFill>
                  </a:tcPr>
                </a:tc>
                <a:tc>
                  <a:txBody>
                    <a:bodyPr wrap="square" lIns="73152" rIns="73152"/>
                    <a:lstStyle/>
                    <a:p>
                      <a:pPr>
                        <a:lnSpc>
                          <a:spcPct val="120000"/>
                        </a:lnSpc>
                        <a:defRPr sz="1000">
                          <a:solidFill>
                            <a:srgbClr val="0F172A"/>
                          </a:solidFill>
                          <a:latin typeface="Microsoft YaHei"/>
                        </a:defRPr>
                      </a:pPr>
                      <a:r>
                        <a:t>• 云端机架级跨节点共享</a:t>
                      </a:r>
                      <a:br/>
                      <a:r>
                        <a:t>• 统一内存互联协议标准</a:t>
                      </a:r>
                      <a:br/>
                      <a:r>
                        <a:t>• 优化多核并发读写</a:t>
                      </a:r>
                    </a:p>
                  </a:txBody>
                  <a:tcPr>
                    <a:solidFill>
                      <a:srgbClr val="F1F5F9"/>
                    </a:solidFill>
                  </a:tcPr>
                </a:tc>
                <a:tc>
                  <a:txBody>
                    <a:bodyPr wrap="square" lIns="73152" rIns="73152"/>
                    <a:lstStyle/>
                    <a:p>
                      <a:pPr>
                        <a:lnSpc>
                          <a:spcPct val="120000"/>
                        </a:lnSpc>
                        <a:defRPr sz="1000">
                          <a:solidFill>
                            <a:srgbClr val="0F172A"/>
                          </a:solidFill>
                          <a:latin typeface="Microsoft YaHei"/>
                        </a:defRPr>
                      </a:pPr>
                      <a:r>
                        <a:t>• 结合 CXL 3.0 机架内存池</a:t>
                      </a:r>
                      <a:br/>
                      <a:r>
                        <a:t>• 端侧大内存直接寻址</a:t>
                      </a:r>
                      <a:br/>
                      <a:r>
                        <a:t>• 低功耗内存分层管理</a:t>
                      </a:r>
                    </a:p>
                  </a:txBody>
                  <a:tcPr>
                    <a:solidFill>
                      <a:srgbClr val="F1F5F9"/>
                    </a:solidFill>
                  </a:tcPr>
                </a:tc>
                <a:tc>
                  <a:txBody>
                    <a:bodyPr wrap="square" lIns="73152" rIns="73152"/>
                    <a:lstStyle/>
                    <a:p>
                      <a:pPr>
                        <a:lnSpc>
                          <a:spcPct val="120000"/>
                        </a:lnSpc>
                        <a:defRPr sz="1000">
                          <a:solidFill>
                            <a:srgbClr val="0F172A"/>
                          </a:solidFill>
                          <a:latin typeface="Microsoft YaHei"/>
                        </a:defRPr>
                      </a:pPr>
                      <a:r>
                        <a:t>• llama.cpp / ExecuTorch 深度优化</a:t>
                      </a:r>
                      <a:br/>
                      <a:r>
                        <a:t>• 确立 Arm 64 位原生 KV 治理</a:t>
                      </a:r>
                      <a:br/>
                      <a:r>
                        <a:t>• 云边端全场景渗透</a:t>
                      </a:r>
                    </a:p>
                  </a:txBody>
                  <a:tcPr>
                    <a:solidFill>
                      <a:srgbClr val="F1F5F9"/>
                    </a:solidFill>
                  </a:tcPr>
                </a:tc>
              </a:tr>
            </a:tbl>
          </a:graphicData>
        </a:graphic>
      </p:graphicFrame>
      <p:sp>
        <p:nvSpPr>
          <p:cNvPr id="5" name="Rectangle 4"/>
          <p:cNvSpPr/>
          <p:nvPr/>
        </p:nvSpPr>
        <p:spPr>
          <a:xfrm>
            <a:off x="548640" y="4736592"/>
            <a:ext cx="3511296" cy="1115568"/>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4809744"/>
            <a:ext cx="3291840" cy="969264"/>
          </a:xfrm>
          <a:prstGeom prst="rect">
            <a:avLst/>
          </a:prstGeom>
          <a:noFill/>
        </p:spPr>
        <p:txBody>
          <a:bodyPr wrap="square" lIns="0" tIns="0" rIns="0" bIns="0">
            <a:spAutoFit/>
          </a:bodyPr>
          <a:lstStyle/>
          <a:p>
            <a:pPr>
              <a:defRPr sz="1200" b="1">
                <a:solidFill>
                  <a:srgbClr val="1E3A8A"/>
                </a:solidFill>
                <a:latin typeface="Microsoft YaHei"/>
              </a:defRPr>
            </a:pPr>
            <a:r>
              <a:t>趋势一：PD 分离架构成为事实标准</a:t>
            </a:r>
          </a:p>
          <a:p>
            <a:pPr>
              <a:lnSpc>
                <a:spcPct val="122000"/>
              </a:lnSpc>
              <a:spcBef>
                <a:spcPts val="300"/>
              </a:spcBef>
              <a:defRPr sz="1050">
                <a:solidFill>
                  <a:srgbClr val="475569"/>
                </a:solidFill>
                <a:latin typeface="Microsoft YaHei"/>
              </a:defRPr>
            </a:pPr>
            <a:r>
              <a:t>Prefill 与 Decode 物理分离，KV 跨节点传输效率成为决定集群吞吐与 TTFT 的第一指标。</a:t>
            </a:r>
          </a:p>
        </p:txBody>
      </p:sp>
      <p:sp>
        <p:nvSpPr>
          <p:cNvPr id="7" name="Rectangle 6"/>
          <p:cNvSpPr/>
          <p:nvPr/>
        </p:nvSpPr>
        <p:spPr>
          <a:xfrm>
            <a:off x="4288536" y="4736592"/>
            <a:ext cx="3511296" cy="1115568"/>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98264" y="4809744"/>
            <a:ext cx="3291840" cy="969264"/>
          </a:xfrm>
          <a:prstGeom prst="rect">
            <a:avLst/>
          </a:prstGeom>
          <a:noFill/>
        </p:spPr>
        <p:txBody>
          <a:bodyPr wrap="square" lIns="0" tIns="0" rIns="0" bIns="0">
            <a:spAutoFit/>
          </a:bodyPr>
          <a:lstStyle/>
          <a:p>
            <a:pPr>
              <a:defRPr sz="1200" b="1">
                <a:solidFill>
                  <a:srgbClr val="1E3A8A"/>
                </a:solidFill>
                <a:latin typeface="Microsoft YaHei"/>
              </a:defRPr>
            </a:pPr>
            <a:r>
              <a:t>趋势二：全栈走向 Host-Bypass 硬件卸载</a:t>
            </a:r>
          </a:p>
          <a:p>
            <a:pPr>
              <a:lnSpc>
                <a:spcPct val="122000"/>
              </a:lnSpc>
              <a:spcBef>
                <a:spcPts val="300"/>
              </a:spcBef>
              <a:defRPr sz="1050">
                <a:solidFill>
                  <a:srgbClr val="475569"/>
                </a:solidFill>
                <a:latin typeface="Microsoft YaHei"/>
              </a:defRPr>
            </a:pPr>
            <a:r>
              <a:t>全面淘汰 CPU DRAM 中转，通过 RDMA / GDS / URMA 纯硬件直达，坚守 Host 零触碰铁律。</a:t>
            </a:r>
          </a:p>
        </p:txBody>
      </p:sp>
      <p:sp>
        <p:nvSpPr>
          <p:cNvPr id="9" name="Rectangle 8"/>
          <p:cNvSpPr/>
          <p:nvPr/>
        </p:nvSpPr>
        <p:spPr>
          <a:xfrm>
            <a:off x="8028432" y="4736592"/>
            <a:ext cx="3511296" cy="1115568"/>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4809744"/>
            <a:ext cx="3291840" cy="969264"/>
          </a:xfrm>
          <a:prstGeom prst="rect">
            <a:avLst/>
          </a:prstGeom>
          <a:noFill/>
        </p:spPr>
        <p:txBody>
          <a:bodyPr wrap="square" lIns="0" tIns="0" rIns="0" bIns="0">
            <a:spAutoFit/>
          </a:bodyPr>
          <a:lstStyle/>
          <a:p>
            <a:pPr>
              <a:defRPr sz="1200" b="1">
                <a:solidFill>
                  <a:srgbClr val="1E3A8A"/>
                </a:solidFill>
                <a:latin typeface="Microsoft YaHei"/>
              </a:defRPr>
            </a:pPr>
            <a:r>
              <a:t>趋势三：第一方自研底座成为战略护城河</a:t>
            </a:r>
          </a:p>
          <a:p>
            <a:pPr>
              <a:lnSpc>
                <a:spcPct val="122000"/>
              </a:lnSpc>
              <a:spcBef>
                <a:spcPts val="300"/>
              </a:spcBef>
              <a:defRPr sz="1050">
                <a:solidFill>
                  <a:srgbClr val="475569"/>
                </a:solidFill>
                <a:latin typeface="Microsoft YaHei"/>
              </a:defRPr>
            </a:pPr>
            <a:r>
              <a:t>巨头全栈闭环演进表明：国产芯片必须建立自研第一方底座，将微架构转化为真实业务收益。</a:t>
            </a:r>
          </a:p>
        </p:txBody>
      </p:sp>
      <p:sp>
        <p:nvSpPr>
          <p:cNvPr id="11" name="Rectangle 10"/>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产业格局启示：</a:t>
            </a:r>
            <a:r>
              <a:rPr sz="1150" b="0">
                <a:solidFill>
                  <a:srgbClr val="0F172A"/>
                </a:solidFill>
                <a:latin typeface="Microsoft YaHei"/>
              </a:rPr>
              <a:t>AI 芯片巨头竞争已从硬件器件演进为 </a:t>
            </a:r>
            <a:r>
              <a:rPr sz="1150" b="1">
                <a:solidFill>
                  <a:srgbClr val="DC2626"/>
                </a:solidFill>
                <a:latin typeface="Microsoft YaHei"/>
              </a:rPr>
              <a:t>系统软件与状态管理全栈闭环</a:t>
            </a:r>
            <a:r>
              <a:rPr sz="1150" b="0">
                <a:solidFill>
                  <a:srgbClr val="0F172A"/>
                </a:solidFill>
                <a:latin typeface="Microsoft YaHei"/>
              </a:rPr>
              <a:t>。国产芯片必须建立 </a:t>
            </a:r>
            <a:r>
              <a:rPr sz="1150" b="1">
                <a:solidFill>
                  <a:srgbClr val="DC2626"/>
                </a:solidFill>
                <a:latin typeface="Microsoft YaHei"/>
              </a:rPr>
              <a:t>第一方自研底座</a:t>
            </a:r>
            <a:r>
              <a:rPr sz="1150" b="0">
                <a:solidFill>
                  <a:srgbClr val="0F172A"/>
                </a:solidFill>
                <a:latin typeface="Microsoft YaHei"/>
              </a:rPr>
              <a:t>，才能将硬件优势转化为客户真实业务收益！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开源软件不足剖析 (1/2)：Mooncake 原始设计优势与真实定位取舍</a:t>
            </a:r>
          </a:p>
          <a:p>
            <a:pPr>
              <a:spcBef>
                <a:spcPts val="200"/>
              </a:spcBef>
              <a:defRPr sz="1000">
                <a:solidFill>
                  <a:srgbClr val="475569"/>
                </a:solidFill>
                <a:latin typeface="Microsoft YaHei"/>
              </a:defRPr>
            </a:pPr>
            <a:r>
              <a:t>FAST '25 64KB Slice Spraying 模式的设计意图、吞吐亮点与客观工程边界</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03 / 10 页</a:t>
            </a:r>
          </a:p>
        </p:txBody>
      </p:sp>
      <p:sp>
        <p:nvSpPr>
          <p:cNvPr id="4" name="Rectangle 3"/>
          <p:cNvSpPr/>
          <p:nvPr/>
        </p:nvSpPr>
        <p:spPr>
          <a:xfrm>
            <a:off x="548640" y="1060704"/>
            <a:ext cx="5440680" cy="3584448"/>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52144"/>
            <a:ext cx="5166360" cy="3401568"/>
          </a:xfrm>
          <a:prstGeom prst="rect">
            <a:avLst/>
          </a:prstGeom>
          <a:noFill/>
        </p:spPr>
        <p:txBody>
          <a:bodyPr wrap="square" lIns="0" tIns="0" rIns="0" bIns="0">
            <a:spAutoFit/>
          </a:bodyPr>
          <a:lstStyle/>
          <a:p>
            <a:pPr>
              <a:defRPr sz="1300" b="1">
                <a:solidFill>
                  <a:srgbClr val="1D4ED8"/>
                </a:solidFill>
                <a:latin typeface="Microsoft YaHei"/>
              </a:defRPr>
            </a:pPr>
            <a:r>
              <a:t>Mooncake (FAST '25) 4 大原始设计意图与优势</a:t>
            </a:r>
          </a:p>
          <a:p>
            <a:pPr>
              <a:spcBef>
                <a:spcPts val="200"/>
              </a:spcBef>
              <a:spcAft>
                <a:spcPts val="400"/>
              </a:spcAft>
              <a:defRPr sz="1050">
                <a:solidFill>
                  <a:srgbClr val="475569"/>
                </a:solidFill>
                <a:latin typeface="Microsoft YaHei"/>
              </a:defRPr>
            </a:pPr>
            <a:r>
              <a:t>面向长文本 KVCache 巨大体积与闲置内存的优秀去中心化设计</a:t>
            </a:r>
          </a:p>
          <a:p>
            <a:pPr>
              <a:lnSpc>
                <a:spcPct val="122000"/>
              </a:lnSpc>
              <a:spcBef>
                <a:spcPts val="500"/>
              </a:spcBef>
              <a:defRPr sz="1200" b="1">
                <a:solidFill>
                  <a:srgbClr val="1E3A8A"/>
                </a:solidFill>
                <a:latin typeface="Microsoft YaHei"/>
              </a:defRPr>
            </a:pPr>
            <a:r>
              <a:t>✔ 多轨网卡带宽聚合：</a:t>
            </a:r>
            <a:r>
              <a:rPr sz="1150" b="0">
                <a:solidFill>
                  <a:srgbClr val="475569"/>
                </a:solidFill>
                <a:latin typeface="Microsoft YaHei"/>
              </a:rPr>
              <a:t>64 KB 切片多网卡并发喷射 (Slice Spraying)，1-to-1 专网测得 87 GB/s+ 吞吐。</a:t>
            </a:r>
          </a:p>
          <a:p>
            <a:pPr>
              <a:lnSpc>
                <a:spcPct val="122000"/>
              </a:lnSpc>
              <a:spcBef>
                <a:spcPts val="500"/>
              </a:spcBef>
              <a:defRPr sz="1200" b="1">
                <a:solidFill>
                  <a:srgbClr val="1E3A8A"/>
                </a:solidFill>
                <a:latin typeface="Microsoft YaHei"/>
              </a:defRPr>
            </a:pPr>
            <a:r>
              <a:t>✔ 集群闲置存储负载均衡：</a:t>
            </a:r>
            <a:r>
              <a:rPr sz="1150" b="0">
                <a:solidFill>
                  <a:srgbClr val="475569"/>
                </a:solidFill>
                <a:latin typeface="Microsoft YaHei"/>
              </a:rPr>
              <a:t>类似 RAID-0 条带化理念，将 KV 块散落数十个 Worker，均衡利用闲置内存。</a:t>
            </a:r>
          </a:p>
          <a:p>
            <a:pPr>
              <a:lnSpc>
                <a:spcPct val="122000"/>
              </a:lnSpc>
              <a:spcBef>
                <a:spcPts val="500"/>
              </a:spcBef>
              <a:defRPr sz="1200" b="1">
                <a:solidFill>
                  <a:srgbClr val="1E3A8A"/>
                </a:solidFill>
                <a:latin typeface="Microsoft YaHei"/>
              </a:defRPr>
            </a:pPr>
            <a:r>
              <a:t>✔ 保持通用性与模型解耦：</a:t>
            </a:r>
            <a:r>
              <a:rPr sz="1150" b="0">
                <a:solidFill>
                  <a:srgbClr val="475569"/>
                </a:solidFill>
                <a:latin typeface="Microsoft YaHei"/>
              </a:rPr>
              <a:t>KVCache 抽象为二进制切片 (Opaque Bytes)，与具体 LLM 模型架构解耦。</a:t>
            </a:r>
          </a:p>
          <a:p>
            <a:pPr>
              <a:lnSpc>
                <a:spcPct val="122000"/>
              </a:lnSpc>
              <a:spcBef>
                <a:spcPts val="500"/>
              </a:spcBef>
              <a:defRPr sz="1200" b="1">
                <a:solidFill>
                  <a:srgbClr val="1E3A8A"/>
                </a:solidFill>
                <a:latin typeface="Microsoft YaHei"/>
              </a:defRPr>
            </a:pPr>
            <a:r>
              <a:t>✔ 契合硬件 DMA 颗粒度：</a:t>
            </a:r>
            <a:r>
              <a:rPr sz="1150" b="0">
                <a:solidFill>
                  <a:srgbClr val="475569"/>
                </a:solidFill>
                <a:latin typeface="Microsoft YaHei"/>
              </a:rPr>
              <a:t>64 KB 切片尺寸契合 PCIe TLP 与 RDMA QP 最佳线速 DMA 吞吐颗粒度。</a:t>
            </a:r>
          </a:p>
        </p:txBody>
      </p:sp>
      <p:sp>
        <p:nvSpPr>
          <p:cNvPr id="6" name="Rectangle 5"/>
          <p:cNvSpPr/>
          <p:nvPr/>
        </p:nvSpPr>
        <p:spPr>
          <a:xfrm>
            <a:off x="6202375" y="1060704"/>
            <a:ext cx="5440680" cy="3584448"/>
          </a:xfrm>
          <a:prstGeom prst="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9535" y="1152144"/>
            <a:ext cx="5166360" cy="3401568"/>
          </a:xfrm>
          <a:prstGeom prst="rect">
            <a:avLst/>
          </a:prstGeom>
          <a:noFill/>
        </p:spPr>
        <p:txBody>
          <a:bodyPr wrap="square" lIns="0" tIns="0" rIns="0" bIns="0">
            <a:spAutoFit/>
          </a:bodyPr>
          <a:lstStyle/>
          <a:p>
            <a:pPr>
              <a:defRPr sz="1300" b="1">
                <a:solidFill>
                  <a:srgbClr val="BE123C"/>
                </a:solidFill>
                <a:latin typeface="Microsoft YaHei"/>
              </a:defRPr>
            </a:pPr>
            <a:r>
              <a:t>客观工程局限：无语义抽象带来的 4 大结构性代价</a:t>
            </a:r>
          </a:p>
          <a:p>
            <a:pPr>
              <a:spcBef>
                <a:spcPts val="200"/>
              </a:spcBef>
              <a:spcAft>
                <a:spcPts val="400"/>
              </a:spcAft>
              <a:defRPr sz="1050">
                <a:solidFill>
                  <a:srgbClr val="475569"/>
                </a:solidFill>
                <a:latin typeface="Microsoft YaHei"/>
              </a:defRPr>
            </a:pPr>
            <a:r>
              <a:t>侧重后台写吞吐打满，在生产集群前台读 (Load) 阶段引发尾部时延上升</a:t>
            </a:r>
          </a:p>
          <a:p>
            <a:pPr>
              <a:lnSpc>
                <a:spcPct val="122000"/>
              </a:lnSpc>
              <a:spcBef>
                <a:spcPts val="500"/>
              </a:spcBef>
              <a:defRPr sz="1200" b="1">
                <a:solidFill>
                  <a:srgbClr val="BE123C"/>
                </a:solidFill>
                <a:latin typeface="Microsoft YaHei"/>
              </a:defRPr>
            </a:pPr>
            <a:r>
              <a:t>✘ “后台写”与“前台读”严重非对称：</a:t>
            </a:r>
            <a:r>
              <a:rPr sz="1150" b="0">
                <a:solidFill>
                  <a:srgbClr val="0F172A"/>
                </a:solidFill>
                <a:latin typeface="Microsoft YaHei"/>
              </a:rPr>
              <a:t>写属后台吞吐路径；但读属前台 TTFT 关键路径，单节点慢导致整层算力等待。</a:t>
            </a:r>
          </a:p>
          <a:p>
            <a:pPr>
              <a:lnSpc>
                <a:spcPct val="122000"/>
              </a:lnSpc>
              <a:spcBef>
                <a:spcPts val="500"/>
              </a:spcBef>
              <a:defRPr sz="1200" b="1">
                <a:solidFill>
                  <a:srgbClr val="BE123C"/>
                </a:solidFill>
                <a:latin typeface="Microsoft YaHei"/>
              </a:defRPr>
            </a:pPr>
            <a:r>
              <a:t>✘ 无语义导致无法感知层级依赖：</a:t>
            </a:r>
            <a:r>
              <a:rPr sz="1150" b="0">
                <a:solidFill>
                  <a:srgbClr val="0F172A"/>
                </a:solidFill>
                <a:latin typeface="Microsoft YaHei"/>
              </a:rPr>
              <a:t>不感知 Layer 0 ~ 31 依赖，Layer 0 切片遇慢网卡引发 NPU 计算流水等待。</a:t>
            </a:r>
          </a:p>
          <a:p>
            <a:pPr>
              <a:lnSpc>
                <a:spcPct val="122000"/>
              </a:lnSpc>
              <a:spcBef>
                <a:spcPts val="500"/>
              </a:spcBef>
              <a:defRPr sz="1200" b="1">
                <a:solidFill>
                  <a:srgbClr val="BE123C"/>
                </a:solidFill>
                <a:latin typeface="Microsoft YaHei"/>
              </a:defRPr>
            </a:pPr>
            <a:r>
              <a:t>✘ 同一层 KV 跨节点切碎致长尾抖动：</a:t>
            </a:r>
            <a:r>
              <a:rPr sz="1150" b="0">
                <a:solidFill>
                  <a:srgbClr val="0F172A"/>
                </a:solidFill>
                <a:latin typeface="Microsoft YaHei"/>
              </a:rPr>
              <a:t>同一层 KV 散落各节点，加载时延取决于最慢节点（木桶短板效应）。</a:t>
            </a:r>
          </a:p>
          <a:p>
            <a:pPr>
              <a:lnSpc>
                <a:spcPct val="122000"/>
              </a:lnSpc>
              <a:spcBef>
                <a:spcPts val="500"/>
              </a:spcBef>
              <a:defRPr sz="1200" b="1">
                <a:solidFill>
                  <a:srgbClr val="BE123C"/>
                </a:solidFill>
                <a:latin typeface="Microsoft YaHei"/>
              </a:defRPr>
            </a:pPr>
            <a:r>
              <a:t>✘ 开源定位无法承载企业级高可用：</a:t>
            </a:r>
            <a:r>
              <a:rPr sz="1150" b="0">
                <a:solidFill>
                  <a:srgbClr val="0F172A"/>
                </a:solidFill>
                <a:latin typeface="Microsoft YaHei"/>
              </a:rPr>
              <a:t>开源主干对多租户配额、高可用 HA 仅保留 Stub 空桩，无法兜底生产 SLA。</a:t>
            </a:r>
          </a:p>
        </p:txBody>
      </p:sp>
      <p:sp>
        <p:nvSpPr>
          <p:cNvPr id="8" name="Rectangle 7"/>
          <p:cNvSpPr/>
          <p:nvPr/>
        </p:nvSpPr>
        <p:spPr>
          <a:xfrm>
            <a:off x="548640" y="4736592"/>
            <a:ext cx="11094415" cy="111556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782312"/>
            <a:ext cx="10820095" cy="228600"/>
          </a:xfrm>
          <a:prstGeom prst="rect">
            <a:avLst/>
          </a:prstGeom>
          <a:noFill/>
        </p:spPr>
        <p:txBody>
          <a:bodyPr wrap="none" lIns="0" tIns="0" rIns="0" bIns="0">
            <a:spAutoFit/>
          </a:bodyPr>
          <a:lstStyle/>
          <a:p>
            <a:pPr>
              <a:defRPr sz="1150" b="1">
                <a:solidFill>
                  <a:srgbClr val="1E3A8A"/>
                </a:solidFill>
                <a:latin typeface="Microsoft YaHei"/>
              </a:defRPr>
            </a:pPr>
            <a:r>
              <a:t>【性能非对称性机理图解：为什么后台写吞吐打满，不能代表前台读 TTFT 优秀？】</a:t>
            </a:r>
          </a:p>
        </p:txBody>
      </p:sp>
      <p:sp>
        <p:nvSpPr>
          <p:cNvPr id="10" name="Rectangle 9"/>
          <p:cNvSpPr/>
          <p:nvPr/>
        </p:nvSpPr>
        <p:spPr>
          <a:xfrm>
            <a:off x="685800" y="5029200"/>
            <a:ext cx="5303520" cy="713232"/>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065776"/>
            <a:ext cx="5120640" cy="640080"/>
          </a:xfrm>
          <a:prstGeom prst="rect">
            <a:avLst/>
          </a:prstGeom>
          <a:noFill/>
        </p:spPr>
        <p:txBody>
          <a:bodyPr wrap="square" lIns="0" tIns="0" rIns="0" bIns="0">
            <a:spAutoFit/>
          </a:bodyPr>
          <a:lstStyle/>
          <a:p>
            <a:pPr>
              <a:defRPr sz="1100" b="1">
                <a:solidFill>
                  <a:srgbClr val="1D4ED8"/>
                </a:solidFill>
                <a:latin typeface="Microsoft YaHei"/>
              </a:defRPr>
            </a:pPr>
            <a:r>
              <a:t>✔ 后台写路径 (Offload - 吞吐优先)</a:t>
            </a:r>
          </a:p>
          <a:p>
            <a:pPr>
              <a:lnSpc>
                <a:spcPct val="120000"/>
              </a:lnSpc>
              <a:spcBef>
                <a:spcPts val="200"/>
              </a:spcBef>
              <a:defRPr sz="1000">
                <a:solidFill>
                  <a:srgbClr val="0F172A"/>
                </a:solidFill>
                <a:latin typeface="Microsoft YaHei"/>
              </a:defRPr>
            </a:pPr>
            <a:r>
              <a:t>[Producer 显存] ➔ 64 KB 切片喷射 ➔ 8 轨网卡 ➔ 87 GB/s+ (写满无阻)</a:t>
            </a:r>
          </a:p>
        </p:txBody>
      </p:sp>
      <p:sp>
        <p:nvSpPr>
          <p:cNvPr id="12" name="Rectangle 11"/>
          <p:cNvSpPr/>
          <p:nvPr/>
        </p:nvSpPr>
        <p:spPr>
          <a:xfrm>
            <a:off x="6217920" y="5029200"/>
            <a:ext cx="5303520" cy="713232"/>
          </a:xfrm>
          <a:prstGeom prst="rect">
            <a:avLst/>
          </a:prstGeom>
          <a:solidFill>
            <a:srgbClr val="FFF1F2"/>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5065776"/>
            <a:ext cx="5120640" cy="640080"/>
          </a:xfrm>
          <a:prstGeom prst="rect">
            <a:avLst/>
          </a:prstGeom>
          <a:noFill/>
        </p:spPr>
        <p:txBody>
          <a:bodyPr wrap="square" lIns="0" tIns="0" rIns="0" bIns="0">
            <a:spAutoFit/>
          </a:bodyPr>
          <a:lstStyle/>
          <a:p>
            <a:pPr>
              <a:defRPr sz="1100" b="1">
                <a:solidFill>
                  <a:srgbClr val="BE123C"/>
                </a:solidFill>
                <a:latin typeface="Microsoft YaHei"/>
              </a:defRPr>
            </a:pPr>
            <a:r>
              <a:t>✘ 前台读路径 (Load - 时延与 P99 优先)</a:t>
            </a:r>
          </a:p>
          <a:p>
            <a:pPr>
              <a:lnSpc>
                <a:spcPct val="120000"/>
              </a:lnSpc>
              <a:spcBef>
                <a:spcPts val="200"/>
              </a:spcBef>
              <a:defRPr sz="1000">
                <a:solidFill>
                  <a:srgbClr val="0F172A"/>
                </a:solidFill>
                <a:latin typeface="Microsoft YaHei"/>
              </a:defRPr>
            </a:pPr>
            <a:r>
              <a:t>[Consumer 拉取] ➔ 多节点并发回传 ➔ ToR 拥塞 + 木桶短板 ➔ P99 尾延迟上升</a:t>
            </a:r>
          </a:p>
        </p:txBody>
      </p:sp>
      <p:sp>
        <p:nvSpPr>
          <p:cNvPr id="14" name="Rectangle 13"/>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客观定位结论：</a:t>
            </a:r>
            <a:r>
              <a:rPr sz="1150" b="0">
                <a:solidFill>
                  <a:srgbClr val="0F172A"/>
                </a:solidFill>
                <a:latin typeface="Microsoft YaHei"/>
              </a:rPr>
              <a:t>Mooncake 是优秀的去中心化传输组件；但通用无语义抽象决定了其 </a:t>
            </a:r>
            <a:r>
              <a:rPr sz="1150" b="1">
                <a:solidFill>
                  <a:srgbClr val="DC2626"/>
                </a:solidFill>
                <a:latin typeface="Microsoft YaHei"/>
              </a:rPr>
              <a:t>无法解决前台读阶段的长尾抖动</a:t>
            </a:r>
            <a:r>
              <a:rPr sz="1150" b="0">
                <a:solidFill>
                  <a:srgbClr val="0F172A"/>
                </a:solidFill>
                <a:latin typeface="Microsoft YaHei"/>
              </a:rPr>
              <a:t>，必须由第一方底座 </a:t>
            </a:r>
            <a:r>
              <a:rPr sz="1150" b="1">
                <a:solidFill>
                  <a:srgbClr val="DC2626"/>
                </a:solidFill>
                <a:latin typeface="Microsoft YaHei"/>
              </a:rPr>
              <a:t>深度咬合国产硬件物理原语与 SLA 闭环</a:t>
            </a:r>
            <a:r>
              <a:rPr sz="1150" b="0">
                <a:solidFill>
                  <a:srgbClr val="0F172A"/>
                </a:solidFill>
                <a:latin typeface="Microsoft YaHe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开源软件不足剖析 (2/2)：代码级预埋点、社区真实反馈与供应链安全风险</a:t>
            </a:r>
          </a:p>
          <a:p>
            <a:pPr>
              <a:spcBef>
                <a:spcPts val="200"/>
              </a:spcBef>
              <a:defRPr sz="1000">
                <a:solidFill>
                  <a:srgbClr val="475569"/>
                </a:solidFill>
                <a:latin typeface="Microsoft YaHei"/>
              </a:defRPr>
            </a:pPr>
            <a:r>
              <a:t>源码行级证据穿透“单流 P50 局限”，揭示生产集群 Mesh 争抢与开源供应链长期演进隐患</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04 / 10 页</a:t>
            </a:r>
          </a:p>
        </p:txBody>
      </p:sp>
      <p:sp>
        <p:nvSpPr>
          <p:cNvPr id="4" name="Rectangle 3"/>
          <p:cNvSpPr/>
          <p:nvPr/>
        </p:nvSpPr>
        <p:spPr>
          <a:xfrm>
            <a:off x="548640" y="1097280"/>
            <a:ext cx="5440680" cy="2240280"/>
          </a:xfrm>
          <a:prstGeom prst="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170432"/>
            <a:ext cx="5221224" cy="2093976"/>
          </a:xfrm>
          <a:prstGeom prst="rect">
            <a:avLst/>
          </a:prstGeom>
          <a:noFill/>
        </p:spPr>
        <p:txBody>
          <a:bodyPr wrap="square" lIns="0" tIns="0" rIns="0" bIns="0">
            <a:spAutoFit/>
          </a:bodyPr>
          <a:lstStyle/>
          <a:p>
            <a:pPr>
              <a:defRPr sz="1250" b="1">
                <a:solidFill>
                  <a:srgbClr val="BE123C"/>
                </a:solidFill>
                <a:latin typeface="Microsoft YaHei"/>
              </a:defRPr>
            </a:pPr>
            <a:r>
              <a:t>1. 物理机理与社区反馈：Incast 拥塞与尾延迟尖峰</a:t>
            </a:r>
          </a:p>
          <a:p>
            <a:pPr>
              <a:spcBef>
                <a:spcPts val="100"/>
              </a:spcBef>
              <a:spcAft>
                <a:spcPts val="200"/>
              </a:spcAft>
              <a:defRPr sz="1000" b="1">
                <a:solidFill>
                  <a:srgbClr val="475569"/>
                </a:solidFill>
                <a:latin typeface="Microsoft YaHei"/>
              </a:defRPr>
            </a:pPr>
            <a:r>
              <a:t>[网络物理机理与 vLLM 社区反馈证据]</a:t>
            </a:r>
          </a:p>
          <a:p>
            <a:pPr>
              <a:lnSpc>
                <a:spcPct val="122000"/>
              </a:lnSpc>
              <a:spcBef>
                <a:spcPts val="600"/>
              </a:spcBef>
              <a:defRPr sz="1200" b="1">
                <a:solidFill>
                  <a:srgbClr val="0F172A"/>
                </a:solidFill>
                <a:latin typeface="Microsoft YaHei"/>
              </a:defRPr>
            </a:pPr>
            <a:r>
              <a:t>• Incast 交换机拥塞：</a:t>
            </a:r>
            <a:r>
              <a:rPr sz="1150" b="0">
                <a:solidFill>
                  <a:srgbClr val="475569"/>
                </a:solidFill>
                <a:latin typeface="Microsoft YaHei"/>
              </a:rPr>
              <a:t>多节点同时向单端口回传切片，ToR Buffer 瞬间承压引发排队风暴。</a:t>
            </a:r>
          </a:p>
          <a:p>
            <a:pPr>
              <a:lnSpc>
                <a:spcPct val="122000"/>
              </a:lnSpc>
              <a:spcBef>
                <a:spcPts val="600"/>
              </a:spcBef>
              <a:defRPr sz="1200" b="1">
                <a:solidFill>
                  <a:srgbClr val="0F172A"/>
                </a:solidFill>
                <a:latin typeface="Microsoft YaHei"/>
              </a:defRPr>
            </a:pPr>
            <a:r>
              <a:t>• 社区真实反馈：</a:t>
            </a:r>
            <a:r>
              <a:rPr sz="1150" b="0">
                <a:solidFill>
                  <a:srgbClr val="475569"/>
                </a:solidFill>
                <a:latin typeface="Microsoft YaHei"/>
              </a:rPr>
              <a:t>云厂商在 vLLM PR #10502 / #10884 反馈 100+ 节点混压下 P99 尾延迟恶化。</a:t>
            </a:r>
          </a:p>
          <a:p>
            <a:pPr>
              <a:lnSpc>
                <a:spcPct val="122000"/>
              </a:lnSpc>
              <a:spcBef>
                <a:spcPts val="600"/>
              </a:spcBef>
              <a:defRPr sz="1200" b="1">
                <a:solidFill>
                  <a:srgbClr val="0F172A"/>
                </a:solidFill>
                <a:latin typeface="Microsoft YaHei"/>
              </a:defRPr>
            </a:pPr>
            <a:r>
              <a:t>• 论文测试边界：</a:t>
            </a:r>
            <a:r>
              <a:rPr sz="1150" b="0">
                <a:solidFill>
                  <a:srgbClr val="475569"/>
                </a:solidFill>
                <a:latin typeface="Microsoft YaHei"/>
              </a:rPr>
              <a:t>FAST '25 仅公布 1-to-1 直连 P50 中位数，未覆盖 Full Mesh 高并发争抢。</a:t>
            </a:r>
          </a:p>
        </p:txBody>
      </p:sp>
      <p:sp>
        <p:nvSpPr>
          <p:cNvPr id="6" name="Rectangle 5"/>
          <p:cNvSpPr/>
          <p:nvPr/>
        </p:nvSpPr>
        <p:spPr>
          <a:xfrm>
            <a:off x="6202375" y="1097280"/>
            <a:ext cx="5440680" cy="2240280"/>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12103" y="1170432"/>
            <a:ext cx="5221224" cy="2093976"/>
          </a:xfrm>
          <a:prstGeom prst="rect">
            <a:avLst/>
          </a:prstGeom>
          <a:noFill/>
        </p:spPr>
        <p:txBody>
          <a:bodyPr wrap="square" lIns="0" tIns="0" rIns="0" bIns="0">
            <a:spAutoFit/>
          </a:bodyPr>
          <a:lstStyle/>
          <a:p>
            <a:pPr>
              <a:defRPr sz="1250" b="1">
                <a:solidFill>
                  <a:srgbClr val="BE123C"/>
                </a:solidFill>
                <a:latin typeface="Microsoft YaHei"/>
              </a:defRPr>
            </a:pPr>
            <a:r>
              <a:t>2. 代码架构与层级缺失：types.h 无模型层级定义</a:t>
            </a:r>
          </a:p>
          <a:p>
            <a:pPr>
              <a:spcBef>
                <a:spcPts val="100"/>
              </a:spcBef>
              <a:spcAft>
                <a:spcPts val="200"/>
              </a:spcAft>
              <a:defRPr sz="1000" b="1">
                <a:solidFill>
                  <a:srgbClr val="475569"/>
                </a:solidFill>
                <a:latin typeface="Microsoft YaHei"/>
              </a:defRPr>
            </a:pPr>
            <a:r>
              <a:t>[源码分析：模型层级感知缺失与多 TP 孤立排队]</a:t>
            </a:r>
          </a:p>
          <a:p>
            <a:pPr>
              <a:lnSpc>
                <a:spcPct val="122000"/>
              </a:lnSpc>
              <a:spcBef>
                <a:spcPts val="600"/>
              </a:spcBef>
              <a:defRPr sz="1200" b="1">
                <a:solidFill>
                  <a:srgbClr val="0F172A"/>
                </a:solidFill>
                <a:latin typeface="Microsoft YaHei"/>
              </a:defRPr>
            </a:pPr>
            <a:r>
              <a:t>• 源码 types.h 零层级：</a:t>
            </a:r>
            <a:r>
              <a:rPr sz="1150" b="0">
                <a:solidFill>
                  <a:srgbClr val="475569"/>
                </a:solidFill>
                <a:latin typeface="Microsoft YaHei"/>
              </a:rPr>
              <a:t>Request 结构体仅含 offset / length，零 layer_id，无法感知模型计算次序。</a:t>
            </a:r>
          </a:p>
          <a:p>
            <a:pPr>
              <a:lnSpc>
                <a:spcPct val="122000"/>
              </a:lnSpc>
              <a:spcBef>
                <a:spcPts val="600"/>
              </a:spcBef>
              <a:defRPr sz="1200" b="1">
                <a:solidFill>
                  <a:srgbClr val="0F172A"/>
                </a:solidFill>
                <a:latin typeface="Microsoft YaHei"/>
              </a:defRPr>
            </a:pPr>
            <a:r>
              <a:t>• Layer 0 阻塞风险：</a:t>
            </a:r>
            <a:r>
              <a:rPr sz="1150" b="0">
                <a:solidFill>
                  <a:srgbClr val="475569"/>
                </a:solidFill>
                <a:latin typeface="Microsoft YaHei"/>
              </a:rPr>
              <a:t>Layer 0 切片若遇慢网卡延迟 10 µs，后续 NPU GEMM 计算流水陷入等待。</a:t>
            </a:r>
          </a:p>
          <a:p>
            <a:pPr>
              <a:lnSpc>
                <a:spcPct val="122000"/>
              </a:lnSpc>
              <a:spcBef>
                <a:spcPts val="600"/>
              </a:spcBef>
              <a:defRPr sz="1200" b="1">
                <a:solidFill>
                  <a:srgbClr val="0F172A"/>
                </a:solidFill>
                <a:latin typeface="Microsoft YaHei"/>
              </a:defRPr>
            </a:pPr>
            <a:r>
              <a:t>• 多 TP 孤立排队：</a:t>
            </a:r>
            <a:r>
              <a:rPr sz="1150" b="0">
                <a:solidFill>
                  <a:srgbClr val="475569"/>
                </a:solidFill>
                <a:latin typeface="Microsoft YaHei"/>
              </a:rPr>
              <a:t>store_py_parallel_read 仅追加 _tp_0/1 后缀孤立排队导致卡间屏障等待。</a:t>
            </a:r>
          </a:p>
        </p:txBody>
      </p:sp>
      <p:sp>
        <p:nvSpPr>
          <p:cNvPr id="8" name="Rectangle 7"/>
          <p:cNvSpPr/>
          <p:nvPr/>
        </p:nvSpPr>
        <p:spPr>
          <a:xfrm>
            <a:off x="548640" y="3502152"/>
            <a:ext cx="5440680" cy="2240280"/>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575304"/>
            <a:ext cx="5221224" cy="2093976"/>
          </a:xfrm>
          <a:prstGeom prst="rect">
            <a:avLst/>
          </a:prstGeom>
          <a:noFill/>
        </p:spPr>
        <p:txBody>
          <a:bodyPr wrap="square" lIns="0" tIns="0" rIns="0" bIns="0">
            <a:spAutoFit/>
          </a:bodyPr>
          <a:lstStyle/>
          <a:p>
            <a:pPr>
              <a:defRPr sz="1250" b="1">
                <a:solidFill>
                  <a:srgbClr val="BE123C"/>
                </a:solidFill>
                <a:latin typeface="Microsoft YaHei"/>
              </a:defRPr>
            </a:pPr>
            <a:r>
              <a:t>3. 调度策略与被动补救：RFC #2519 出队 Drop</a:t>
            </a:r>
          </a:p>
          <a:p>
            <a:pPr>
              <a:spcBef>
                <a:spcPts val="100"/>
              </a:spcBef>
              <a:spcAft>
                <a:spcPts val="200"/>
              </a:spcAft>
              <a:defRPr sz="1000" b="1">
                <a:solidFill>
                  <a:srgbClr val="475569"/>
                </a:solidFill>
                <a:latin typeface="Microsoft YaHei"/>
              </a:defRPr>
            </a:pPr>
            <a:r>
              <a:t>[源码分析：排队拥塞后的被动补丁与资源开销]</a:t>
            </a:r>
          </a:p>
          <a:p>
            <a:pPr>
              <a:lnSpc>
                <a:spcPct val="122000"/>
              </a:lnSpc>
              <a:spcBef>
                <a:spcPts val="600"/>
              </a:spcBef>
              <a:defRPr sz="1200" b="1">
                <a:solidFill>
                  <a:srgbClr val="0F172A"/>
                </a:solidFill>
                <a:latin typeface="Microsoft YaHei"/>
              </a:defRPr>
            </a:pPr>
            <a:r>
              <a:t>• 源码 admission_queue：</a:t>
            </a:r>
            <a:r>
              <a:rPr sz="1150" b="0">
                <a:solidFill>
                  <a:srgbClr val="475569"/>
                </a:solidFill>
                <a:latin typeface="Microsoft YaHei"/>
              </a:rPr>
              <a:t>RFC #2519 在 pickForDispatch 出队末端计算超时丢弃。</a:t>
            </a:r>
          </a:p>
          <a:p>
            <a:pPr>
              <a:lnSpc>
                <a:spcPct val="122000"/>
              </a:lnSpc>
              <a:spcBef>
                <a:spcPts val="600"/>
              </a:spcBef>
              <a:defRPr sz="1200" b="1">
                <a:solidFill>
                  <a:srgbClr val="0F172A"/>
                </a:solidFill>
                <a:latin typeface="Microsoft YaHei"/>
              </a:defRPr>
            </a:pPr>
            <a:r>
              <a:t>• multi_rail 令牌桶：</a:t>
            </a:r>
            <a:r>
              <a:rPr sz="1150" b="0">
                <a:solidFill>
                  <a:srgbClr val="475569"/>
                </a:solidFill>
                <a:latin typeface="Microsoft YaHei"/>
              </a:rPr>
              <a:t>为缓解切片到达倾斜 (Skew) 与 Incast，源码预埋软件令牌桶限速。</a:t>
            </a:r>
          </a:p>
          <a:p>
            <a:pPr>
              <a:lnSpc>
                <a:spcPct val="122000"/>
              </a:lnSpc>
              <a:spcBef>
                <a:spcPts val="600"/>
              </a:spcBef>
              <a:defRPr sz="1200" b="1">
                <a:solidFill>
                  <a:srgbClr val="0F172A"/>
                </a:solidFill>
                <a:latin typeface="Microsoft YaHei"/>
              </a:defRPr>
            </a:pPr>
            <a:r>
              <a:t>• 开销损耗与算力等待：</a:t>
            </a:r>
            <a:r>
              <a:rPr sz="1150" b="0">
                <a:solidFill>
                  <a:srgbClr val="475569"/>
                </a:solidFill>
                <a:latin typeface="Microsoft YaHei"/>
              </a:rPr>
              <a:t>出队末端被动丢弃时，已支付锁与内存注册开销全部浪费，算力已空等。</a:t>
            </a:r>
          </a:p>
        </p:txBody>
      </p:sp>
      <p:sp>
        <p:nvSpPr>
          <p:cNvPr id="10" name="Rectangle 9"/>
          <p:cNvSpPr/>
          <p:nvPr/>
        </p:nvSpPr>
        <p:spPr>
          <a:xfrm>
            <a:off x="6202375" y="3502152"/>
            <a:ext cx="5440680" cy="2240280"/>
          </a:xfrm>
          <a:prstGeom prst="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2103" y="3575304"/>
            <a:ext cx="5221224" cy="2093976"/>
          </a:xfrm>
          <a:prstGeom prst="rect">
            <a:avLst/>
          </a:prstGeom>
          <a:noFill/>
        </p:spPr>
        <p:txBody>
          <a:bodyPr wrap="square" lIns="0" tIns="0" rIns="0" bIns="0">
            <a:spAutoFit/>
          </a:bodyPr>
          <a:lstStyle/>
          <a:p>
            <a:pPr>
              <a:defRPr sz="1250" b="1">
                <a:solidFill>
                  <a:srgbClr val="BE123C"/>
                </a:solidFill>
                <a:latin typeface="Microsoft YaHei"/>
              </a:defRPr>
            </a:pPr>
            <a:r>
              <a:t>4. 商业演进与代码留白：月之暗面 K3 闭源趋势</a:t>
            </a:r>
          </a:p>
          <a:p>
            <a:pPr>
              <a:spcBef>
                <a:spcPts val="100"/>
              </a:spcBef>
              <a:spcAft>
                <a:spcPts val="200"/>
              </a:spcAft>
              <a:defRPr sz="1000" b="1">
                <a:solidFill>
                  <a:srgbClr val="475569"/>
                </a:solidFill>
                <a:latin typeface="Microsoft YaHei"/>
              </a:defRPr>
            </a:pPr>
            <a:r>
              <a:t>[开源供应链安全与第一方自研底座必然性]</a:t>
            </a:r>
          </a:p>
          <a:p>
            <a:pPr>
              <a:lnSpc>
                <a:spcPct val="122000"/>
              </a:lnSpc>
              <a:spcBef>
                <a:spcPts val="600"/>
              </a:spcBef>
              <a:defRPr sz="1200" b="1">
                <a:solidFill>
                  <a:srgbClr val="0F172A"/>
                </a:solidFill>
                <a:latin typeface="Microsoft YaHei"/>
              </a:defRPr>
            </a:pPr>
            <a:r>
              <a:t>• 商业演进策略分化：</a:t>
            </a:r>
            <a:r>
              <a:rPr sz="1150" b="0">
                <a:solidFill>
                  <a:srgbClr val="475569"/>
                </a:solidFill>
                <a:latin typeface="Microsoft YaHei"/>
              </a:rPr>
              <a:t>月之暗面推进 Kimi / K3 商业化呈现“开源基础版、闭源企业版”。</a:t>
            </a:r>
          </a:p>
          <a:p>
            <a:pPr>
              <a:lnSpc>
                <a:spcPct val="122000"/>
              </a:lnSpc>
              <a:spcBef>
                <a:spcPts val="600"/>
              </a:spcBef>
              <a:defRPr sz="1200" b="1">
                <a:solidFill>
                  <a:srgbClr val="0F172A"/>
                </a:solidFill>
                <a:latin typeface="Microsoft YaHei"/>
              </a:defRPr>
            </a:pPr>
            <a:r>
              <a:t>• 核心 HA 模块留白：</a:t>
            </a:r>
            <a:r>
              <a:rPr sz="1150" b="0">
                <a:solidFill>
                  <a:srgbClr val="475569"/>
                </a:solidFill>
                <a:latin typeface="Microsoft YaHei"/>
              </a:rPr>
              <a:t>mooncake-store 大规模 HA (ETCD / Redis) 与多租户配额主干仅保留 Stub。</a:t>
            </a:r>
          </a:p>
          <a:p>
            <a:pPr>
              <a:lnSpc>
                <a:spcPct val="122000"/>
              </a:lnSpc>
              <a:spcBef>
                <a:spcPts val="600"/>
              </a:spcBef>
              <a:defRPr sz="1200" b="1">
                <a:solidFill>
                  <a:srgbClr val="0F172A"/>
                </a:solidFill>
                <a:latin typeface="Microsoft YaHei"/>
              </a:defRPr>
            </a:pPr>
            <a:r>
              <a:t>• 供应链可控必然性：</a:t>
            </a:r>
            <a:r>
              <a:rPr sz="1150" b="0">
                <a:solidFill>
                  <a:srgbClr val="475569"/>
                </a:solidFill>
                <a:latin typeface="Microsoft YaHei"/>
              </a:rPr>
              <a:t>直接依赖开源面临千卡版本闭源风险；必须自研深度绑定国产 NPU 底座。</a:t>
            </a:r>
          </a:p>
        </p:txBody>
      </p:sp>
      <p:sp>
        <p:nvSpPr>
          <p:cNvPr id="12" name="Rectangle 11"/>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开源局限结论：</a:t>
            </a:r>
            <a:r>
              <a:rPr sz="1150" b="0">
                <a:solidFill>
                  <a:srgbClr val="0F172A"/>
                </a:solidFill>
                <a:latin typeface="Microsoft YaHei"/>
              </a:rPr>
              <a:t>代码预埋补丁与社区反馈（100+ 节点 P99 恶化）证实：</a:t>
            </a:r>
            <a:r>
              <a:rPr sz="1150" b="1">
                <a:solidFill>
                  <a:srgbClr val="DC2626"/>
                </a:solidFill>
                <a:latin typeface="Microsoft YaHei"/>
              </a:rPr>
              <a:t>开源软件无法根治物理缺陷</a:t>
            </a:r>
            <a:r>
              <a:rPr sz="1150" b="0">
                <a:solidFill>
                  <a:srgbClr val="0F172A"/>
                </a:solidFill>
                <a:latin typeface="Microsoft YaHei"/>
              </a:rPr>
              <a:t>，必须构建 </a:t>
            </a:r>
            <a:r>
              <a:rPr sz="1150" b="1">
                <a:solidFill>
                  <a:srgbClr val="DC2626"/>
                </a:solidFill>
                <a:latin typeface="Microsoft YaHei"/>
              </a:rPr>
              <a:t>100% 自主可控的第一方底座</a:t>
            </a:r>
            <a:r>
              <a:rPr sz="1150" b="0">
                <a:solidFill>
                  <a:srgbClr val="0F172A"/>
                </a:solidFill>
                <a:latin typeface="Microsoft YaHe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针对开源不足的方案优势 (1/2)：从无语义传输盘到 LLM 语义化异构内存池</a:t>
            </a:r>
          </a:p>
          <a:p>
            <a:pPr>
              <a:spcBef>
                <a:spcPts val="200"/>
              </a:spcBef>
              <a:defRPr sz="1000">
                <a:solidFill>
                  <a:srgbClr val="475569"/>
                </a:solidFill>
                <a:latin typeface="Microsoft YaHei"/>
              </a:defRPr>
            </a:pPr>
            <a:r>
              <a:t>确立四大核心技术支柱，重构 AI 推理状态管理的软硬件物理咬合</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05 / 10 页</a:t>
            </a:r>
          </a:p>
        </p:txBody>
      </p:sp>
      <p:sp>
        <p:nvSpPr>
          <p:cNvPr id="4" name="Rectangle 3"/>
          <p:cNvSpPr/>
          <p:nvPr/>
        </p:nvSpPr>
        <p:spPr>
          <a:xfrm>
            <a:off x="548640" y="1060704"/>
            <a:ext cx="2633472" cy="3584448"/>
          </a:xfrm>
          <a:prstGeom prst="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152144"/>
            <a:ext cx="2414016" cy="3401568"/>
          </a:xfrm>
          <a:prstGeom prst="rect">
            <a:avLst/>
          </a:prstGeom>
          <a:noFill/>
        </p:spPr>
        <p:txBody>
          <a:bodyPr wrap="square" lIns="0" tIns="0" rIns="0" bIns="0">
            <a:spAutoFit/>
          </a:bodyPr>
          <a:lstStyle/>
          <a:p>
            <a:pPr>
              <a:defRPr sz="1300" b="1">
                <a:solidFill>
                  <a:srgbClr val="1D4ED8"/>
                </a:solidFill>
                <a:latin typeface="Microsoft YaHei"/>
              </a:defRPr>
            </a:pPr>
            <a:r>
              <a:t>支柱一：拓扑亲和映射</a:t>
            </a:r>
          </a:p>
          <a:p>
            <a:pPr>
              <a:spcBef>
                <a:spcPts val="200"/>
              </a:spcBef>
              <a:spcAft>
                <a:spcPts val="400"/>
              </a:spcAft>
              <a:defRPr sz="1050" b="1">
                <a:solidFill>
                  <a:srgbClr val="475569"/>
                </a:solidFill>
                <a:latin typeface="Microsoft YaHei"/>
              </a:defRPr>
            </a:pPr>
            <a:r>
              <a:t>消除 Incast 拥塞物理根源</a:t>
            </a:r>
          </a:p>
          <a:p>
            <a:pPr>
              <a:lnSpc>
                <a:spcPct val="122000"/>
              </a:lnSpc>
              <a:spcBef>
                <a:spcPts val="500"/>
              </a:spcBef>
              <a:defRPr sz="1200" b="1">
                <a:solidFill>
                  <a:srgbClr val="0F172A"/>
                </a:solidFill>
                <a:latin typeface="Microsoft YaHei"/>
              </a:defRPr>
            </a:pPr>
            <a:r>
              <a:t>• 语义与拓扑绑定：</a:t>
            </a:r>
            <a:r>
              <a:rPr sz="1150" b="0">
                <a:solidFill>
                  <a:srgbClr val="475569"/>
                </a:solidFill>
                <a:latin typeface="Microsoft YaHei"/>
              </a:rPr>
              <a:t>通过 KVSemanticIdentity 绑定 Model / Layer / TP Rank。</a:t>
            </a:r>
          </a:p>
          <a:p>
            <a:pPr>
              <a:lnSpc>
                <a:spcPct val="122000"/>
              </a:lnSpc>
              <a:spcBef>
                <a:spcPts val="500"/>
              </a:spcBef>
              <a:defRPr sz="1200" b="1">
                <a:solidFill>
                  <a:srgbClr val="0F172A"/>
                </a:solidFill>
                <a:latin typeface="Microsoft YaHei"/>
              </a:defRPr>
            </a:pPr>
            <a:r>
              <a:t>• 局域化物理传输：</a:t>
            </a:r>
            <a:r>
              <a:rPr sz="1150" b="0">
                <a:solidFill>
                  <a:srgbClr val="475569"/>
                </a:solidFill>
                <a:latin typeface="Microsoft YaHei"/>
              </a:rPr>
              <a:t>片间走 HCCS 环路，机架内走 URMA 直连，存储走 PCIe DMA。</a:t>
            </a:r>
          </a:p>
          <a:p>
            <a:pPr>
              <a:lnSpc>
                <a:spcPct val="122000"/>
              </a:lnSpc>
              <a:spcBef>
                <a:spcPts val="500"/>
              </a:spcBef>
              <a:defRPr sz="1200" b="1">
                <a:solidFill>
                  <a:srgbClr val="0F172A"/>
                </a:solidFill>
                <a:latin typeface="Microsoft YaHei"/>
              </a:defRPr>
            </a:pPr>
            <a:r>
              <a:t>• 压减 80% 流量：</a:t>
            </a:r>
            <a:r>
              <a:rPr sz="1150" b="0">
                <a:solidFill>
                  <a:srgbClr val="475569"/>
                </a:solidFill>
                <a:latin typeface="Microsoft YaHei"/>
              </a:rPr>
              <a:t>同 Prompt / Layer 局域汇聚，源头消除 N-to-1 Incast 拥塞。</a:t>
            </a:r>
          </a:p>
        </p:txBody>
      </p:sp>
      <p:sp>
        <p:nvSpPr>
          <p:cNvPr id="6" name="Rectangle 5"/>
          <p:cNvSpPr/>
          <p:nvPr/>
        </p:nvSpPr>
        <p:spPr>
          <a:xfrm>
            <a:off x="3364992" y="1060704"/>
            <a:ext cx="2633472" cy="3584448"/>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0" y="1152144"/>
            <a:ext cx="2414016" cy="3401568"/>
          </a:xfrm>
          <a:prstGeom prst="rect">
            <a:avLst/>
          </a:prstGeom>
          <a:noFill/>
        </p:spPr>
        <p:txBody>
          <a:bodyPr wrap="square" lIns="0" tIns="0" rIns="0" bIns="0">
            <a:spAutoFit/>
          </a:bodyPr>
          <a:lstStyle/>
          <a:p>
            <a:pPr>
              <a:defRPr sz="1300" b="1">
                <a:solidFill>
                  <a:srgbClr val="1E3A8A"/>
                </a:solidFill>
                <a:latin typeface="Microsoft YaHei"/>
              </a:defRPr>
            </a:pPr>
            <a:r>
              <a:t>支柱二：Host 零触碰</a:t>
            </a:r>
          </a:p>
          <a:p>
            <a:pPr>
              <a:spcBef>
                <a:spcPts val="200"/>
              </a:spcBef>
              <a:spcAft>
                <a:spcPts val="400"/>
              </a:spcAft>
              <a:defRPr sz="1050" b="1">
                <a:solidFill>
                  <a:srgbClr val="475569"/>
                </a:solidFill>
                <a:latin typeface="Microsoft YaHei"/>
              </a:defRPr>
            </a:pPr>
            <a:r>
              <a:t>突破 CPU Wall 性能瓶颈</a:t>
            </a:r>
          </a:p>
          <a:p>
            <a:pPr>
              <a:lnSpc>
                <a:spcPct val="122000"/>
              </a:lnSpc>
              <a:spcBef>
                <a:spcPts val="500"/>
              </a:spcBef>
              <a:defRPr sz="1200" b="1">
                <a:solidFill>
                  <a:srgbClr val="0F172A"/>
                </a:solidFill>
                <a:latin typeface="Microsoft YaHei"/>
              </a:defRPr>
            </a:pPr>
            <a:r>
              <a:t>• Touch Budget = 0：</a:t>
            </a:r>
            <a:r>
              <a:rPr sz="1150" b="0">
                <a:solidFill>
                  <a:srgbClr val="475569"/>
                </a:solidFill>
                <a:latin typeface="Microsoft YaHei"/>
              </a:rPr>
              <a:t>正文搬运 100% 旁路 Host CPU / DRAM，坚守零触碰铁律。</a:t>
            </a:r>
          </a:p>
          <a:p>
            <a:pPr>
              <a:lnSpc>
                <a:spcPct val="122000"/>
              </a:lnSpc>
              <a:spcBef>
                <a:spcPts val="500"/>
              </a:spcBef>
              <a:defRPr sz="1200" b="1">
                <a:solidFill>
                  <a:srgbClr val="0F172A"/>
                </a:solidFill>
                <a:latin typeface="Microsoft YaHei"/>
              </a:defRPr>
            </a:pPr>
            <a:r>
              <a:t>• HBM ↔ SSD 直达：</a:t>
            </a:r>
            <a:r>
              <a:rPr sz="1150" b="0">
                <a:solidFill>
                  <a:srgbClr val="475569"/>
                </a:solidFill>
                <a:latin typeface="Microsoft YaHei"/>
              </a:rPr>
              <a:t>通过 Direct PCIe DMA 实现 NPU HBM 与 SSD 线速搬运。</a:t>
            </a:r>
          </a:p>
          <a:p>
            <a:pPr>
              <a:lnSpc>
                <a:spcPct val="122000"/>
              </a:lnSpc>
              <a:spcBef>
                <a:spcPts val="500"/>
              </a:spcBef>
              <a:defRPr sz="1200" b="1">
                <a:solidFill>
                  <a:srgbClr val="0F172A"/>
                </a:solidFill>
                <a:latin typeface="Microsoft YaHei"/>
              </a:defRPr>
            </a:pPr>
            <a:r>
              <a:t>• 解算密度跃升：</a:t>
            </a:r>
            <a:r>
              <a:rPr sz="1150" b="0">
                <a:solidFill>
                  <a:srgbClr val="475569"/>
                </a:solidFill>
                <a:latin typeface="Microsoft YaHei"/>
              </a:rPr>
              <a:t>单节点 QPS 解算密度提升 40%，服务器硬件 Capex 降低 30%+。</a:t>
            </a:r>
          </a:p>
        </p:txBody>
      </p:sp>
      <p:sp>
        <p:nvSpPr>
          <p:cNvPr id="8" name="Rectangle 7"/>
          <p:cNvSpPr/>
          <p:nvPr/>
        </p:nvSpPr>
        <p:spPr>
          <a:xfrm>
            <a:off x="6181344" y="1060704"/>
            <a:ext cx="2633472" cy="3584448"/>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91072" y="1152144"/>
            <a:ext cx="2414016" cy="3401568"/>
          </a:xfrm>
          <a:prstGeom prst="rect">
            <a:avLst/>
          </a:prstGeom>
          <a:noFill/>
        </p:spPr>
        <p:txBody>
          <a:bodyPr wrap="square" lIns="0" tIns="0" rIns="0" bIns="0">
            <a:spAutoFit/>
          </a:bodyPr>
          <a:lstStyle/>
          <a:p>
            <a:pPr>
              <a:defRPr sz="1300" b="1">
                <a:solidFill>
                  <a:srgbClr val="1E3A8A"/>
                </a:solidFill>
                <a:latin typeface="Microsoft YaHei"/>
              </a:defRPr>
            </a:pPr>
            <a:r>
              <a:t>支柱三：UBMEM 总线</a:t>
            </a:r>
          </a:p>
          <a:p>
            <a:pPr>
              <a:spcBef>
                <a:spcPts val="200"/>
              </a:spcBef>
              <a:spcAft>
                <a:spcPts val="400"/>
              </a:spcAft>
              <a:defRPr sz="1050" b="1">
                <a:solidFill>
                  <a:srgbClr val="475569"/>
                </a:solidFill>
                <a:latin typeface="Microsoft YaHei"/>
              </a:defRPr>
            </a:pPr>
            <a:r>
              <a:t>控制面元数据时延 &lt; 5 µs</a:t>
            </a:r>
          </a:p>
          <a:p>
            <a:pPr>
              <a:lnSpc>
                <a:spcPct val="122000"/>
              </a:lnSpc>
              <a:spcBef>
                <a:spcPts val="500"/>
              </a:spcBef>
              <a:defRPr sz="1200" b="1">
                <a:solidFill>
                  <a:srgbClr val="0F172A"/>
                </a:solidFill>
                <a:latin typeface="Microsoft YaHei"/>
              </a:defRPr>
            </a:pPr>
            <a:r>
              <a:t>• 总线级共享内存：</a:t>
            </a:r>
            <a:r>
              <a:rPr sz="1150" b="0">
                <a:solidFill>
                  <a:srgbClr val="475569"/>
                </a:solidFill>
                <a:latin typeface="Microsoft YaHei"/>
              </a:rPr>
              <a:t>将 PrefixDirectory 与 block_table 映射至 UBMEM 空间。</a:t>
            </a:r>
          </a:p>
          <a:p>
            <a:pPr>
              <a:lnSpc>
                <a:spcPct val="122000"/>
              </a:lnSpc>
              <a:spcBef>
                <a:spcPts val="500"/>
              </a:spcBef>
              <a:defRPr sz="1200" b="1">
                <a:solidFill>
                  <a:srgbClr val="0F172A"/>
                </a:solidFill>
                <a:latin typeface="Microsoft YaHei"/>
              </a:defRPr>
            </a:pPr>
            <a:r>
              <a:t>• 微秒级硬件指令：</a:t>
            </a:r>
            <a:r>
              <a:rPr sz="1150" b="0">
                <a:solidFill>
                  <a:srgbClr val="475569"/>
                </a:solidFill>
                <a:latin typeface="Microsoft YaHei"/>
              </a:rPr>
              <a:t>通过硬件 Load / Store 原子指令直读，消除 RPC 栈开销。</a:t>
            </a:r>
          </a:p>
          <a:p>
            <a:pPr>
              <a:lnSpc>
                <a:spcPct val="122000"/>
              </a:lnSpc>
              <a:spcBef>
                <a:spcPts val="500"/>
              </a:spcBef>
              <a:defRPr sz="1200" b="1">
                <a:solidFill>
                  <a:srgbClr val="0F172A"/>
                </a:solidFill>
                <a:latin typeface="Microsoft YaHei"/>
              </a:defRPr>
            </a:pPr>
            <a:r>
              <a:t>• 时延压降 20 倍：</a:t>
            </a:r>
            <a:r>
              <a:rPr sz="1150" b="0">
                <a:solidFill>
                  <a:srgbClr val="475569"/>
                </a:solidFill>
                <a:latin typeface="Microsoft YaHei"/>
              </a:rPr>
              <a:t>控制面时延从 50 ~ 100 µs 压降至 &lt; 5 µs，争取宝贵预算。</a:t>
            </a:r>
          </a:p>
        </p:txBody>
      </p:sp>
      <p:sp>
        <p:nvSpPr>
          <p:cNvPr id="10" name="Rectangle 9"/>
          <p:cNvSpPr/>
          <p:nvPr/>
        </p:nvSpPr>
        <p:spPr>
          <a:xfrm>
            <a:off x="8997696" y="1060704"/>
            <a:ext cx="2633472" cy="3584448"/>
          </a:xfrm>
          <a:prstGeom prst="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07424" y="1152144"/>
            <a:ext cx="2414016" cy="3401568"/>
          </a:xfrm>
          <a:prstGeom prst="rect">
            <a:avLst/>
          </a:prstGeom>
          <a:noFill/>
        </p:spPr>
        <p:txBody>
          <a:bodyPr wrap="square" lIns="0" tIns="0" rIns="0" bIns="0">
            <a:spAutoFit/>
          </a:bodyPr>
          <a:lstStyle/>
          <a:p>
            <a:pPr>
              <a:defRPr sz="1300" b="1">
                <a:solidFill>
                  <a:srgbClr val="047857"/>
                </a:solidFill>
                <a:latin typeface="Microsoft YaHei"/>
              </a:defRPr>
            </a:pPr>
            <a:r>
              <a:t>支柱四：多介质统一</a:t>
            </a:r>
          </a:p>
          <a:p>
            <a:pPr>
              <a:spcBef>
                <a:spcPts val="200"/>
              </a:spcBef>
              <a:spcAft>
                <a:spcPts val="400"/>
              </a:spcAft>
              <a:defRPr sz="1050" b="1">
                <a:solidFill>
                  <a:srgbClr val="475569"/>
                </a:solidFill>
                <a:latin typeface="Microsoft YaHei"/>
              </a:defRPr>
            </a:pPr>
            <a:r>
              <a:t>重塑容量主路径降低 TCO</a:t>
            </a:r>
          </a:p>
          <a:p>
            <a:pPr>
              <a:lnSpc>
                <a:spcPct val="122000"/>
              </a:lnSpc>
              <a:spcBef>
                <a:spcPts val="500"/>
              </a:spcBef>
              <a:defRPr sz="1200" b="1">
                <a:solidFill>
                  <a:srgbClr val="0F172A"/>
                </a:solidFill>
                <a:latin typeface="Microsoft YaHei"/>
              </a:defRPr>
            </a:pPr>
            <a:r>
              <a:t>• HBM-SSD 为主路径：</a:t>
            </a:r>
            <a:r>
              <a:rPr sz="1150" b="0">
                <a:solidFill>
                  <a:srgbClr val="475569"/>
                </a:solidFill>
                <a:latin typeface="Microsoft YaHei"/>
              </a:rPr>
              <a:t>将 HBM ↔ SSD 直达确立为主路径，DDR 退居辅助缓冲。</a:t>
            </a:r>
          </a:p>
          <a:p>
            <a:pPr>
              <a:lnSpc>
                <a:spcPct val="122000"/>
              </a:lnSpc>
              <a:spcBef>
                <a:spcPts val="500"/>
              </a:spcBef>
              <a:defRPr sz="1200" b="1">
                <a:solidFill>
                  <a:srgbClr val="0F172A"/>
                </a:solidFill>
                <a:latin typeface="Microsoft YaHei"/>
              </a:defRPr>
            </a:pPr>
            <a:r>
              <a:t>• 长文本存储平民化：</a:t>
            </a:r>
            <a:r>
              <a:rPr sz="1150" b="0">
                <a:solidFill>
                  <a:srgbClr val="475569"/>
                </a:solidFill>
                <a:latin typeface="Microsoft YaHei"/>
              </a:rPr>
              <a:t>长文本 (128K~1M) 存储 TCO 下降 ≥35%，容量提升 ≥30%。</a:t>
            </a:r>
          </a:p>
          <a:p>
            <a:pPr>
              <a:lnSpc>
                <a:spcPct val="122000"/>
              </a:lnSpc>
              <a:spcBef>
                <a:spcPts val="500"/>
              </a:spcBef>
              <a:defRPr sz="1200" b="1">
                <a:solidFill>
                  <a:srgbClr val="0F172A"/>
                </a:solidFill>
                <a:latin typeface="Microsoft YaHei"/>
              </a:defRPr>
            </a:pPr>
            <a:r>
              <a:t>• 全生命周期管理：</a:t>
            </a:r>
            <a:r>
              <a:rPr sz="1150" b="0">
                <a:solidFill>
                  <a:srgbClr val="475569"/>
                </a:solidFill>
                <a:latin typeface="Microsoft YaHei"/>
              </a:rPr>
              <a:t>支持内存/存储介质状态感知、冷热淘汰与异步预取分层治理。</a:t>
            </a:r>
          </a:p>
        </p:txBody>
      </p:sp>
      <p:sp>
        <p:nvSpPr>
          <p:cNvPr id="12" name="Rectangle 11"/>
          <p:cNvSpPr/>
          <p:nvPr/>
        </p:nvSpPr>
        <p:spPr>
          <a:xfrm>
            <a:off x="548640" y="4736592"/>
            <a:ext cx="11094415" cy="111556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782312"/>
            <a:ext cx="10820095" cy="228600"/>
          </a:xfrm>
          <a:prstGeom prst="rect">
            <a:avLst/>
          </a:prstGeom>
          <a:noFill/>
        </p:spPr>
        <p:txBody>
          <a:bodyPr wrap="none" lIns="0" tIns="0" rIns="0" bIns="0">
            <a:spAutoFit/>
          </a:bodyPr>
          <a:lstStyle/>
          <a:p>
            <a:pPr>
              <a:defRPr sz="1150" b="1">
                <a:solidFill>
                  <a:srgbClr val="1E3A8A"/>
                </a:solidFill>
                <a:latin typeface="Microsoft YaHei"/>
              </a:defRPr>
            </a:pPr>
            <a:r>
              <a:t>【统一异构 KVCache 存储池全栈分层协作拓扑】</a:t>
            </a:r>
          </a:p>
        </p:txBody>
      </p:sp>
      <p:sp>
        <p:nvSpPr>
          <p:cNvPr id="14" name="Rectangle 13"/>
          <p:cNvSpPr/>
          <p:nvPr/>
        </p:nvSpPr>
        <p:spPr>
          <a:xfrm>
            <a:off x="685800" y="5029200"/>
            <a:ext cx="2560320" cy="713232"/>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5065776"/>
            <a:ext cx="2414016" cy="640080"/>
          </a:xfrm>
          <a:prstGeom prst="rect">
            <a:avLst/>
          </a:prstGeom>
          <a:noFill/>
        </p:spPr>
        <p:txBody>
          <a:bodyPr wrap="square" lIns="0" tIns="0" rIns="0" bIns="0">
            <a:spAutoFit/>
          </a:bodyPr>
          <a:lstStyle/>
          <a:p>
            <a:pPr>
              <a:defRPr sz="1050" b="1">
                <a:solidFill>
                  <a:srgbClr val="1E3A8A"/>
                </a:solidFill>
                <a:latin typeface="Microsoft YaHei"/>
              </a:defRPr>
            </a:pPr>
            <a:r>
              <a:t>L1. 框架意图接入层</a:t>
            </a:r>
          </a:p>
          <a:p>
            <a:pPr>
              <a:spcBef>
                <a:spcPts val="100"/>
              </a:spcBef>
              <a:defRPr sz="950">
                <a:solidFill>
                  <a:srgbClr val="0F172A"/>
                </a:solidFill>
                <a:latin typeface="Microsoft YaHei"/>
              </a:defRPr>
            </a:pPr>
            <a:r>
              <a:t>vLLM / SGLang 统一接口</a:t>
            </a:r>
          </a:p>
          <a:p>
            <a:pPr>
              <a:spcBef>
                <a:spcPts val="100"/>
              </a:spcBef>
              <a:defRPr sz="900">
                <a:solidFill>
                  <a:srgbClr val="475569"/>
                </a:solidFill>
                <a:latin typeface="Microsoft YaHei"/>
              </a:defRPr>
            </a:pPr>
            <a:r>
              <a:t>前缀复用与重算收益请求</a:t>
            </a:r>
          </a:p>
        </p:txBody>
      </p:sp>
      <p:sp>
        <p:nvSpPr>
          <p:cNvPr id="16" name="Rectangle 15"/>
          <p:cNvSpPr/>
          <p:nvPr/>
        </p:nvSpPr>
        <p:spPr>
          <a:xfrm>
            <a:off x="3429000" y="5029200"/>
            <a:ext cx="2560320" cy="713232"/>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2152" y="5065776"/>
            <a:ext cx="2414016" cy="640080"/>
          </a:xfrm>
          <a:prstGeom prst="rect">
            <a:avLst/>
          </a:prstGeom>
          <a:noFill/>
        </p:spPr>
        <p:txBody>
          <a:bodyPr wrap="square" lIns="0" tIns="0" rIns="0" bIns="0">
            <a:spAutoFit/>
          </a:bodyPr>
          <a:lstStyle/>
          <a:p>
            <a:pPr>
              <a:defRPr sz="1050" b="1">
                <a:solidFill>
                  <a:srgbClr val="1E3A8A"/>
                </a:solidFill>
                <a:latin typeface="Microsoft YaHei"/>
              </a:defRPr>
            </a:pPr>
            <a:r>
              <a:t>L2. KV 语义治理层</a:t>
            </a:r>
          </a:p>
          <a:p>
            <a:pPr>
              <a:spcBef>
                <a:spcPts val="100"/>
              </a:spcBef>
              <a:defRPr sz="950">
                <a:solidFill>
                  <a:srgbClr val="0F172A"/>
                </a:solidFill>
                <a:latin typeface="Microsoft YaHei"/>
              </a:defRPr>
            </a:pPr>
            <a:r>
              <a:t>KVSemantic 语义目录</a:t>
            </a:r>
          </a:p>
          <a:p>
            <a:pPr>
              <a:spcBef>
                <a:spcPts val="100"/>
              </a:spcBef>
              <a:defRPr sz="900">
                <a:solidFill>
                  <a:srgbClr val="475569"/>
                </a:solidFill>
                <a:latin typeface="Microsoft YaHei"/>
              </a:defRPr>
            </a:pPr>
            <a:r>
              <a:t>多租户隔离与 Lease 租约</a:t>
            </a:r>
          </a:p>
        </p:txBody>
      </p:sp>
      <p:sp>
        <p:nvSpPr>
          <p:cNvPr id="18" name="Rectangle 17"/>
          <p:cNvSpPr/>
          <p:nvPr/>
        </p:nvSpPr>
        <p:spPr>
          <a:xfrm>
            <a:off x="6172200" y="5029200"/>
            <a:ext cx="2560320" cy="713232"/>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5352" y="5065776"/>
            <a:ext cx="2414016" cy="640080"/>
          </a:xfrm>
          <a:prstGeom prst="rect">
            <a:avLst/>
          </a:prstGeom>
          <a:noFill/>
        </p:spPr>
        <p:txBody>
          <a:bodyPr wrap="square" lIns="0" tIns="0" rIns="0" bIns="0">
            <a:spAutoFit/>
          </a:bodyPr>
          <a:lstStyle/>
          <a:p>
            <a:pPr>
              <a:defRPr sz="1050" b="1">
                <a:solidFill>
                  <a:srgbClr val="1E3A8A"/>
                </a:solidFill>
                <a:latin typeface="Microsoft YaHei"/>
              </a:defRPr>
            </a:pPr>
            <a:r>
              <a:t>L3. 决策与编译层</a:t>
            </a:r>
          </a:p>
          <a:p>
            <a:pPr>
              <a:spcBef>
                <a:spcPts val="100"/>
              </a:spcBef>
              <a:defRPr sz="950">
                <a:solidFill>
                  <a:srgbClr val="0F172A"/>
                </a:solidFill>
                <a:latin typeface="Microsoft YaHei"/>
              </a:defRPr>
            </a:pPr>
            <a:r>
              <a:t>PVT-04 动态决策引擎</a:t>
            </a:r>
          </a:p>
          <a:p>
            <a:pPr>
              <a:spcBef>
                <a:spcPts val="100"/>
              </a:spcBef>
              <a:defRPr sz="900">
                <a:solidFill>
                  <a:srgbClr val="475569"/>
                </a:solidFill>
                <a:latin typeface="Microsoft YaHei"/>
              </a:defRPr>
            </a:pPr>
            <a:r>
              <a:t>DAG 异步流水批量编译</a:t>
            </a:r>
          </a:p>
        </p:txBody>
      </p:sp>
      <p:sp>
        <p:nvSpPr>
          <p:cNvPr id="20" name="Rectangle 19"/>
          <p:cNvSpPr/>
          <p:nvPr/>
        </p:nvSpPr>
        <p:spPr>
          <a:xfrm>
            <a:off x="8915400" y="5029200"/>
            <a:ext cx="2560320" cy="713232"/>
          </a:xfrm>
          <a:prstGeom prst="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8552" y="5065776"/>
            <a:ext cx="2414016" cy="640080"/>
          </a:xfrm>
          <a:prstGeom prst="rect">
            <a:avLst/>
          </a:prstGeom>
          <a:noFill/>
        </p:spPr>
        <p:txBody>
          <a:bodyPr wrap="square" lIns="0" tIns="0" rIns="0" bIns="0">
            <a:spAutoFit/>
          </a:bodyPr>
          <a:lstStyle/>
          <a:p>
            <a:pPr>
              <a:defRPr sz="1050" b="1">
                <a:solidFill>
                  <a:srgbClr val="047857"/>
                </a:solidFill>
                <a:latin typeface="Microsoft YaHei"/>
              </a:defRPr>
            </a:pPr>
            <a:r>
              <a:t>L4. 极速硬件执行层</a:t>
            </a:r>
          </a:p>
          <a:p>
            <a:pPr>
              <a:spcBef>
                <a:spcPts val="100"/>
              </a:spcBef>
              <a:defRPr sz="950">
                <a:solidFill>
                  <a:srgbClr val="0F172A"/>
                </a:solidFill>
                <a:latin typeface="Microsoft YaHei"/>
              </a:defRPr>
            </a:pPr>
            <a:r>
              <a:t>UBMEM / URMA 直达</a:t>
            </a:r>
          </a:p>
          <a:p>
            <a:pPr>
              <a:spcBef>
                <a:spcPts val="100"/>
              </a:spcBef>
              <a:defRPr sz="900">
                <a:solidFill>
                  <a:srgbClr val="475569"/>
                </a:solidFill>
                <a:latin typeface="Microsoft YaHei"/>
              </a:defRPr>
            </a:pPr>
            <a:r>
              <a:t>微秒总线与硬件零触碰</a:t>
            </a:r>
          </a:p>
        </p:txBody>
      </p:sp>
      <p:sp>
        <p:nvSpPr>
          <p:cNvPr id="22" name="Rectangle 21"/>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范式跃迁结论：</a:t>
            </a:r>
            <a:r>
              <a:rPr sz="1150" b="0">
                <a:solidFill>
                  <a:srgbClr val="0F172A"/>
                </a:solidFill>
                <a:latin typeface="Microsoft YaHei"/>
              </a:rPr>
              <a:t>本项目将无语义 Slice 打散盘升华为 </a:t>
            </a:r>
            <a:r>
              <a:rPr sz="1150" b="1">
                <a:solidFill>
                  <a:srgbClr val="DC2626"/>
                </a:solidFill>
                <a:latin typeface="Microsoft YaHei"/>
              </a:rPr>
              <a:t>LLM 语义化异构内存池</a:t>
            </a:r>
            <a:r>
              <a:rPr sz="1150" b="0">
                <a:solidFill>
                  <a:srgbClr val="0F172A"/>
                </a:solidFill>
                <a:latin typeface="Microsoft YaHei"/>
              </a:rPr>
              <a:t>，以 </a:t>
            </a:r>
            <a:r>
              <a:rPr sz="1150" b="1">
                <a:solidFill>
                  <a:srgbClr val="DC2626"/>
                </a:solidFill>
                <a:latin typeface="Microsoft YaHei"/>
              </a:rPr>
              <a:t>拓扑亲和、Host 零触碰与 UBMEM 微秒总线</a:t>
            </a:r>
            <a:r>
              <a:rPr sz="1150" b="0">
                <a:solidFill>
                  <a:srgbClr val="0F172A"/>
                </a:solidFill>
                <a:latin typeface="Microsoft YaHei"/>
              </a:rPr>
              <a:t> 构筑软硬件核心壁垒！</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针对开源不足的方案优势 (2/2)：前置动态 ROI 决策与零信任可靠性屏障</a:t>
            </a:r>
          </a:p>
          <a:p>
            <a:pPr>
              <a:spcBef>
                <a:spcPts val="200"/>
              </a:spcBef>
              <a:defRPr sz="1000">
                <a:solidFill>
                  <a:srgbClr val="475569"/>
                </a:solidFill>
                <a:latin typeface="Microsoft YaHei"/>
              </a:defRPr>
            </a:pPr>
            <a:r>
              <a:t>避免盲目拉取与负收益开销，保障金融级多租户隔离与 0 错误消费事故</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06 / 10 页</a:t>
            </a:r>
          </a:p>
        </p:txBody>
      </p:sp>
      <p:sp>
        <p:nvSpPr>
          <p:cNvPr id="4" name="Rectangle 3"/>
          <p:cNvSpPr/>
          <p:nvPr/>
        </p:nvSpPr>
        <p:spPr>
          <a:xfrm>
            <a:off x="548640" y="1060704"/>
            <a:ext cx="3511296" cy="3584448"/>
          </a:xfrm>
          <a:prstGeom prst="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52144"/>
            <a:ext cx="3236976" cy="3401568"/>
          </a:xfrm>
          <a:prstGeom prst="rect">
            <a:avLst/>
          </a:prstGeom>
          <a:noFill/>
        </p:spPr>
        <p:txBody>
          <a:bodyPr wrap="square" lIns="0" tIns="0" rIns="0" bIns="0">
            <a:spAutoFit/>
          </a:bodyPr>
          <a:lstStyle/>
          <a:p>
            <a:pPr>
              <a:defRPr sz="1300" b="1">
                <a:solidFill>
                  <a:srgbClr val="1D4ED8"/>
                </a:solidFill>
                <a:latin typeface="Microsoft YaHei"/>
              </a:defRPr>
            </a:pPr>
            <a:r>
              <a:t>优势一：前置动态 ROI 决策引擎</a:t>
            </a:r>
          </a:p>
          <a:p>
            <a:pPr>
              <a:spcBef>
                <a:spcPts val="200"/>
              </a:spcBef>
              <a:spcAft>
                <a:spcPts val="400"/>
              </a:spcAft>
              <a:defRPr sz="1050" b="1">
                <a:solidFill>
                  <a:srgbClr val="475569"/>
                </a:solidFill>
                <a:latin typeface="Microsoft YaHei"/>
              </a:defRPr>
            </a:pPr>
            <a:r>
              <a:t>PVT-04 QueryPlan &amp; CostEvaluator</a:t>
            </a:r>
          </a:p>
          <a:p>
            <a:pPr>
              <a:lnSpc>
                <a:spcPct val="122000"/>
              </a:lnSpc>
              <a:spcBef>
                <a:spcPts val="500"/>
              </a:spcBef>
              <a:defRPr sz="1200" b="1">
                <a:solidFill>
                  <a:srgbClr val="0F172A"/>
                </a:solidFill>
                <a:latin typeface="Microsoft YaHei"/>
              </a:defRPr>
            </a:pPr>
            <a:r>
              <a:t>★ 判定公式：</a:t>
            </a:r>
            <a:r>
              <a:rPr sz="1150" b="0">
                <a:solidFill>
                  <a:srgbClr val="475569"/>
                </a:solidFill>
                <a:latin typeface="Microsoft YaHei"/>
              </a:rPr>
              <a:t>SavedRecompute &gt; DirQuery + DataLoad + Attach + Sync + Interference</a:t>
            </a:r>
          </a:p>
          <a:p>
            <a:pPr>
              <a:lnSpc>
                <a:spcPct val="122000"/>
              </a:lnSpc>
              <a:spcBef>
                <a:spcPts val="500"/>
              </a:spcBef>
              <a:defRPr sz="1200" b="1">
                <a:solidFill>
                  <a:srgbClr val="0F172A"/>
                </a:solidFill>
                <a:latin typeface="Microsoft YaHei"/>
              </a:defRPr>
            </a:pPr>
            <a:r>
              <a:t>★ 前置决策优势：</a:t>
            </a:r>
            <a:r>
              <a:rPr sz="1150" b="0">
                <a:solidFill>
                  <a:srgbClr val="475569"/>
                </a:solidFill>
                <a:latin typeface="Microsoft YaHei"/>
              </a:rPr>
              <a:t>查表阶段即完成成本评估。若网络拥塞慢于重算，主动返回 RECOMPUTE，零硬件描述符申请、零队列浪费、NPU 零空转。</a:t>
            </a:r>
          </a:p>
          <a:p>
            <a:pPr>
              <a:lnSpc>
                <a:spcPct val="122000"/>
              </a:lnSpc>
              <a:spcBef>
                <a:spcPts val="500"/>
              </a:spcBef>
              <a:defRPr sz="1200" b="1">
                <a:solidFill>
                  <a:srgbClr val="0F172A"/>
                </a:solidFill>
                <a:latin typeface="Microsoft YaHei"/>
              </a:defRPr>
            </a:pPr>
            <a:r>
              <a:t>★ 对比 RFC #2519：</a:t>
            </a:r>
            <a:r>
              <a:rPr sz="1150" b="0">
                <a:solidFill>
                  <a:srgbClr val="475569"/>
                </a:solidFill>
                <a:latin typeface="Microsoft YaHei"/>
              </a:rPr>
              <a:t>开源在出队末端被动 Drop 白白浪费锁开销；本项目前置入口决策 100% 保全业务 SLO。</a:t>
            </a:r>
          </a:p>
        </p:txBody>
      </p:sp>
      <p:sp>
        <p:nvSpPr>
          <p:cNvPr id="6" name="Rectangle 5"/>
          <p:cNvSpPr/>
          <p:nvPr/>
        </p:nvSpPr>
        <p:spPr>
          <a:xfrm>
            <a:off x="4288536" y="1060704"/>
            <a:ext cx="3511296" cy="3584448"/>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25696" y="1152144"/>
            <a:ext cx="3236976" cy="3401568"/>
          </a:xfrm>
          <a:prstGeom prst="rect">
            <a:avLst/>
          </a:prstGeom>
          <a:noFill/>
        </p:spPr>
        <p:txBody>
          <a:bodyPr wrap="square" lIns="0" tIns="0" rIns="0" bIns="0">
            <a:spAutoFit/>
          </a:bodyPr>
          <a:lstStyle/>
          <a:p>
            <a:pPr>
              <a:defRPr sz="1300" b="1">
                <a:solidFill>
                  <a:srgbClr val="1E3A8A"/>
                </a:solidFill>
                <a:latin typeface="Microsoft YaHei"/>
              </a:defRPr>
            </a:pPr>
            <a:r>
              <a:t>优势二：双 Stream 物理流水重叠</a:t>
            </a:r>
          </a:p>
          <a:p>
            <a:pPr>
              <a:spcBef>
                <a:spcPts val="200"/>
              </a:spcBef>
              <a:spcAft>
                <a:spcPts val="400"/>
              </a:spcAft>
              <a:defRPr sz="1050" b="1">
                <a:solidFill>
                  <a:srgbClr val="475569"/>
                </a:solidFill>
                <a:latin typeface="Microsoft YaHei"/>
              </a:defRPr>
            </a:pPr>
            <a:r>
              <a:t>AICore 计算与 URMA 传输解耦</a:t>
            </a:r>
          </a:p>
          <a:p>
            <a:pPr>
              <a:lnSpc>
                <a:spcPct val="122000"/>
              </a:lnSpc>
              <a:spcBef>
                <a:spcPts val="500"/>
              </a:spcBef>
              <a:defRPr sz="1200" b="1">
                <a:solidFill>
                  <a:srgbClr val="0F172A"/>
                </a:solidFill>
                <a:latin typeface="Microsoft YaHei"/>
              </a:defRPr>
            </a:pPr>
            <a:r>
              <a:t>★ 物理解耦流水：</a:t>
            </a:r>
            <a:r>
              <a:rPr sz="1150" b="0">
                <a:solidFill>
                  <a:srgbClr val="475569"/>
                </a:solidFill>
                <a:latin typeface="Microsoft YaHei"/>
              </a:rPr>
              <a:t>NPU AICore 执行第 L 层 GEMM 计算，URMA DMA 在后台异步预取第 L+1 层 KV，运行在独立硬件 Stream。</a:t>
            </a:r>
          </a:p>
          <a:p>
            <a:pPr>
              <a:lnSpc>
                <a:spcPct val="122000"/>
              </a:lnSpc>
              <a:spcBef>
                <a:spcPts val="500"/>
              </a:spcBef>
              <a:defRPr sz="1200" b="1">
                <a:solidFill>
                  <a:srgbClr val="0F172A"/>
                </a:solidFill>
                <a:latin typeface="Microsoft YaHei"/>
              </a:defRPr>
            </a:pPr>
            <a:r>
              <a:t>★ FA 融合 Kernel：</a:t>
            </a:r>
            <a:r>
              <a:rPr sz="1150" b="0">
                <a:solidFill>
                  <a:srgbClr val="475569"/>
                </a:solidFill>
                <a:latin typeface="Microsoft YaHei"/>
              </a:rPr>
              <a:t>利用在线 LogSumExp 归一化结合律，微秒级完成前段拉取与后段重算的 Attention 结果极速合并。</a:t>
            </a:r>
          </a:p>
          <a:p>
            <a:pPr>
              <a:lnSpc>
                <a:spcPct val="122000"/>
              </a:lnSpc>
              <a:spcBef>
                <a:spcPts val="500"/>
              </a:spcBef>
              <a:defRPr sz="1200" b="1">
                <a:solidFill>
                  <a:srgbClr val="0F172A"/>
                </a:solidFill>
                <a:latin typeface="Microsoft YaHei"/>
              </a:defRPr>
            </a:pPr>
            <a:r>
              <a:t>★ 隐藏 ≥60% 传输：</a:t>
            </a:r>
            <a:r>
              <a:rPr sz="1150" b="0">
                <a:solidFill>
                  <a:srgbClr val="475569"/>
                </a:solidFill>
                <a:latin typeface="Microsoft YaHei"/>
              </a:rPr>
              <a:t>全模型 32 层流水全掩盖，跨节点传输时间完全隐藏在矩阵计算耗时包络内！</a:t>
            </a:r>
          </a:p>
        </p:txBody>
      </p:sp>
      <p:sp>
        <p:nvSpPr>
          <p:cNvPr id="8" name="Rectangle 7"/>
          <p:cNvSpPr/>
          <p:nvPr/>
        </p:nvSpPr>
        <p:spPr>
          <a:xfrm>
            <a:off x="8028432" y="1060704"/>
            <a:ext cx="3511296" cy="3584448"/>
          </a:xfrm>
          <a:prstGeom prst="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152144"/>
            <a:ext cx="3236976" cy="3401568"/>
          </a:xfrm>
          <a:prstGeom prst="rect">
            <a:avLst/>
          </a:prstGeom>
          <a:noFill/>
        </p:spPr>
        <p:txBody>
          <a:bodyPr wrap="square" lIns="0" tIns="0" rIns="0" bIns="0">
            <a:spAutoFit/>
          </a:bodyPr>
          <a:lstStyle/>
          <a:p>
            <a:pPr>
              <a:defRPr sz="1300" b="1">
                <a:solidFill>
                  <a:srgbClr val="047857"/>
                </a:solidFill>
                <a:latin typeface="Microsoft YaHei"/>
              </a:defRPr>
            </a:pPr>
            <a:r>
              <a:t>优势三：零信任可靠性屏障</a:t>
            </a:r>
          </a:p>
          <a:p>
            <a:pPr>
              <a:spcBef>
                <a:spcPts val="200"/>
              </a:spcBef>
              <a:spcAft>
                <a:spcPts val="400"/>
              </a:spcAft>
              <a:defRPr sz="1050" b="1">
                <a:solidFill>
                  <a:srgbClr val="475569"/>
                </a:solidFill>
                <a:latin typeface="Microsoft YaHei"/>
              </a:defRPr>
            </a:pPr>
            <a:r>
              <a:t>AttachHandle 凭证与 Lease 租约</a:t>
            </a:r>
          </a:p>
          <a:p>
            <a:pPr>
              <a:lnSpc>
                <a:spcPct val="122000"/>
              </a:lnSpc>
              <a:spcBef>
                <a:spcPts val="500"/>
              </a:spcBef>
              <a:defRPr sz="1200" b="1">
                <a:solidFill>
                  <a:srgbClr val="0F172A"/>
                </a:solidFill>
                <a:latin typeface="Microsoft YaHei"/>
              </a:defRPr>
            </a:pPr>
            <a:r>
              <a:t>★ 金融级安全隔离：</a:t>
            </a:r>
            <a:r>
              <a:rPr sz="1150" b="0">
                <a:solidFill>
                  <a:srgbClr val="475569"/>
                </a:solidFill>
                <a:latin typeface="Microsoft YaHei"/>
              </a:rPr>
              <a:t>引入 AttachHandle 显式凭证与 SemanticIdentity，严格校验租户权限与内存视图。</a:t>
            </a:r>
          </a:p>
          <a:p>
            <a:pPr>
              <a:lnSpc>
                <a:spcPct val="122000"/>
              </a:lnSpc>
              <a:spcBef>
                <a:spcPts val="500"/>
              </a:spcBef>
              <a:defRPr sz="1200" b="1">
                <a:solidFill>
                  <a:srgbClr val="0F172A"/>
                </a:solidFill>
                <a:latin typeface="Microsoft YaHei"/>
              </a:defRPr>
            </a:pPr>
            <a:r>
              <a:t>★ 0 错误消费屏障：</a:t>
            </a:r>
            <a:r>
              <a:rPr sz="1150" b="0">
                <a:solidFill>
                  <a:srgbClr val="475569"/>
                </a:solidFill>
                <a:latin typeface="Microsoft YaHei"/>
              </a:rPr>
              <a:t>引入 ConsumeEligibility 就绪屏障与 Lease 租约，彻底消除半写、陈旧、脏块被错误消费。</a:t>
            </a:r>
          </a:p>
          <a:p>
            <a:pPr>
              <a:lnSpc>
                <a:spcPct val="122000"/>
              </a:lnSpc>
              <a:spcBef>
                <a:spcPts val="500"/>
              </a:spcBef>
              <a:defRPr sz="1200" b="1">
                <a:solidFill>
                  <a:srgbClr val="0F172A"/>
                </a:solidFill>
                <a:latin typeface="Microsoft YaHei"/>
              </a:defRPr>
            </a:pPr>
            <a:r>
              <a:t>★ 多 TP 原子保序：</a:t>
            </a:r>
            <a:r>
              <a:rPr sz="1150" b="0">
                <a:solidFill>
                  <a:srgbClr val="475569"/>
                </a:solidFill>
                <a:latin typeface="Microsoft YaHei"/>
              </a:rPr>
              <a:t>支持多 TP Rank 原子并发组选路，消除跨卡到达时间差导致的 All-Reduce 死等。</a:t>
            </a:r>
          </a:p>
        </p:txBody>
      </p:sp>
      <p:sp>
        <p:nvSpPr>
          <p:cNvPr id="10" name="Rectangle 9"/>
          <p:cNvSpPr/>
          <p:nvPr/>
        </p:nvSpPr>
        <p:spPr>
          <a:xfrm>
            <a:off x="548640" y="4736592"/>
            <a:ext cx="11094415" cy="111556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782312"/>
            <a:ext cx="10820095" cy="228600"/>
          </a:xfrm>
          <a:prstGeom prst="rect">
            <a:avLst/>
          </a:prstGeom>
          <a:noFill/>
        </p:spPr>
        <p:txBody>
          <a:bodyPr wrap="none" lIns="0" tIns="0" rIns="0" bIns="0">
            <a:spAutoFit/>
          </a:bodyPr>
          <a:lstStyle/>
          <a:p>
            <a:pPr>
              <a:defRPr sz="1150" b="1">
                <a:solidFill>
                  <a:srgbClr val="1E3A8A"/>
                </a:solidFill>
                <a:latin typeface="Microsoft YaHei"/>
              </a:defRPr>
            </a:pPr>
            <a:r>
              <a:t>【AICore + URMA 双 Stream 硬件物理流水与零信任挂接时序】</a:t>
            </a:r>
          </a:p>
        </p:txBody>
      </p:sp>
      <p:sp>
        <p:nvSpPr>
          <p:cNvPr id="12" name="Rectangle 11"/>
          <p:cNvSpPr/>
          <p:nvPr/>
        </p:nvSpPr>
        <p:spPr>
          <a:xfrm>
            <a:off x="685800" y="5029200"/>
            <a:ext cx="5303520" cy="713232"/>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5065776"/>
            <a:ext cx="5175504" cy="640080"/>
          </a:xfrm>
          <a:prstGeom prst="rect">
            <a:avLst/>
          </a:prstGeom>
          <a:noFill/>
        </p:spPr>
        <p:txBody>
          <a:bodyPr wrap="square" lIns="0" tIns="0" rIns="0" bIns="0">
            <a:spAutoFit/>
          </a:bodyPr>
          <a:lstStyle/>
          <a:p>
            <a:pPr>
              <a:defRPr sz="950" b="1">
                <a:solidFill>
                  <a:srgbClr val="1E3A8A"/>
                </a:solidFill>
                <a:latin typeface="Consolas"/>
              </a:defRPr>
            </a:pPr>
            <a:r>
              <a:t>Stream 1 (AICore 算力): [ Layer L GEMM 计算耗时包络 ]</a:t>
            </a:r>
          </a:p>
          <a:p>
            <a:pPr>
              <a:spcBef>
                <a:spcPts val="200"/>
              </a:spcBef>
              <a:defRPr sz="950">
                <a:solidFill>
                  <a:srgbClr val="1D4ED8"/>
                </a:solidFill>
                <a:latin typeface="Consolas"/>
              </a:defRPr>
            </a:pPr>
            <a:r>
              <a:t>Stream 2 (URMA 传输): [ L+1 KV 预取 ] ➔ [ 在线融合 ] (隐藏 ≥60%)</a:t>
            </a:r>
          </a:p>
        </p:txBody>
      </p:sp>
      <p:sp>
        <p:nvSpPr>
          <p:cNvPr id="14" name="Rectangle 13"/>
          <p:cNvSpPr/>
          <p:nvPr/>
        </p:nvSpPr>
        <p:spPr>
          <a:xfrm>
            <a:off x="6217920" y="5029200"/>
            <a:ext cx="5303520" cy="713232"/>
          </a:xfrm>
          <a:prstGeom prst="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5065776"/>
            <a:ext cx="5157216" cy="640080"/>
          </a:xfrm>
          <a:prstGeom prst="rect">
            <a:avLst/>
          </a:prstGeom>
          <a:noFill/>
        </p:spPr>
        <p:txBody>
          <a:bodyPr wrap="square" lIns="0" tIns="0" rIns="0" bIns="0">
            <a:spAutoFit/>
          </a:bodyPr>
          <a:lstStyle/>
          <a:p>
            <a:pPr>
              <a:defRPr sz="1000" b="1">
                <a:solidFill>
                  <a:srgbClr val="047857"/>
                </a:solidFill>
                <a:latin typeface="Microsoft YaHei"/>
              </a:defRPr>
            </a:pPr>
            <a:r>
              <a:t>零信任凭证流: [ AttachHandle 验权 ] ➔ [ 就绪屏障防护 ]</a:t>
            </a:r>
          </a:p>
          <a:p>
            <a:pPr>
              <a:spcBef>
                <a:spcPts val="200"/>
              </a:spcBef>
              <a:defRPr sz="950">
                <a:solidFill>
                  <a:srgbClr val="0F172A"/>
                </a:solidFill>
                <a:latin typeface="Microsoft YaHei"/>
              </a:defRPr>
            </a:pPr>
            <a:r>
              <a:t>租约安全管理: [ Lease 租约防护 ] ➔ 杜绝脏块，错误消费为 0</a:t>
            </a:r>
          </a:p>
        </p:txBody>
      </p:sp>
      <p:sp>
        <p:nvSpPr>
          <p:cNvPr id="16" name="Rectangle 15"/>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关键竞争力结论：</a:t>
            </a:r>
            <a:r>
              <a:rPr sz="1150" b="0">
                <a:solidFill>
                  <a:srgbClr val="0F172A"/>
                </a:solidFill>
                <a:latin typeface="Microsoft YaHei"/>
              </a:rPr>
              <a:t>开源方案是“盲目传输、超时被动丢弃”，本项目是 </a:t>
            </a:r>
            <a:r>
              <a:rPr sz="1150" b="1">
                <a:solidFill>
                  <a:srgbClr val="DC2626"/>
                </a:solidFill>
                <a:latin typeface="Microsoft YaHei"/>
              </a:rPr>
              <a:t>“前置价值计算、物理流水掩盖、金融级零信任安全闭环”</a:t>
            </a:r>
            <a:r>
              <a:rPr sz="1150" b="0">
                <a:solidFill>
                  <a:srgbClr val="0F172A"/>
                </a:solidFill>
                <a:latin typeface="Microsoft YaHei"/>
              </a:rPr>
              <a:t>，彻底消除负收益与脏数据消费事故！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软硬件协同关键技术：从底层微架构到上层状态管理的全栈协同</a:t>
            </a:r>
          </a:p>
          <a:p>
            <a:pPr>
              <a:spcBef>
                <a:spcPts val="200"/>
              </a:spcBef>
              <a:defRPr sz="1000">
                <a:solidFill>
                  <a:srgbClr val="475569"/>
                </a:solidFill>
                <a:latin typeface="Microsoft YaHei"/>
              </a:defRPr>
            </a:pPr>
            <a:r>
              <a:t>构建“语义驱动、总线直达、双流重叠、硬件隔离”的国产软硬件融合示范标杆</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07 / 10 页</a:t>
            </a:r>
          </a:p>
        </p:txBody>
      </p:sp>
      <p:sp>
        <p:nvSpPr>
          <p:cNvPr id="4" name="Rectangle 3"/>
          <p:cNvSpPr/>
          <p:nvPr/>
        </p:nvSpPr>
        <p:spPr>
          <a:xfrm>
            <a:off x="548640" y="1097280"/>
            <a:ext cx="5440680" cy="2240280"/>
          </a:xfrm>
          <a:prstGeom prst="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170432"/>
            <a:ext cx="5221224" cy="2093976"/>
          </a:xfrm>
          <a:prstGeom prst="rect">
            <a:avLst/>
          </a:prstGeom>
          <a:noFill/>
        </p:spPr>
        <p:txBody>
          <a:bodyPr wrap="square" lIns="0" tIns="0" rIns="0" bIns="0">
            <a:spAutoFit/>
          </a:bodyPr>
          <a:lstStyle/>
          <a:p>
            <a:pPr>
              <a:defRPr sz="1250" b="1">
                <a:solidFill>
                  <a:srgbClr val="1D4ED8"/>
                </a:solidFill>
                <a:latin typeface="Microsoft YaHei"/>
              </a:defRPr>
            </a:pPr>
            <a:r>
              <a:t>协同技术一：语义驱动物理拓扑映射</a:t>
            </a:r>
          </a:p>
          <a:p>
            <a:pPr>
              <a:spcBef>
                <a:spcPts val="100"/>
              </a:spcBef>
              <a:spcAft>
                <a:spcPts val="200"/>
              </a:spcAft>
              <a:defRPr sz="1000" b="1">
                <a:solidFill>
                  <a:srgbClr val="475569"/>
                </a:solidFill>
                <a:latin typeface="Microsoft YaHei"/>
              </a:defRPr>
            </a:pPr>
            <a:r>
              <a:t>[LLM 语义 ➔ 硬件网络拓扑协同]</a:t>
            </a:r>
          </a:p>
          <a:p>
            <a:pPr>
              <a:lnSpc>
                <a:spcPct val="122000"/>
              </a:lnSpc>
              <a:spcBef>
                <a:spcPts val="600"/>
              </a:spcBef>
              <a:defRPr sz="1200" b="1">
                <a:solidFill>
                  <a:srgbClr val="0F172A"/>
                </a:solidFill>
                <a:latin typeface="Microsoft YaHei"/>
              </a:defRPr>
            </a:pPr>
            <a:r>
              <a:t>• 硬件拓扑现状：</a:t>
            </a:r>
            <a:r>
              <a:rPr sz="1150" b="0">
                <a:solidFill>
                  <a:srgbClr val="475569"/>
                </a:solidFill>
                <a:latin typeface="Microsoft YaHei"/>
              </a:rPr>
              <a:t>现代集群包含 HCCS、PCIe、URMA 与 NVMe SSD 等异构互联体系。</a:t>
            </a:r>
          </a:p>
          <a:p>
            <a:pPr>
              <a:lnSpc>
                <a:spcPct val="122000"/>
              </a:lnSpc>
              <a:spcBef>
                <a:spcPts val="600"/>
              </a:spcBef>
              <a:defRPr sz="1200" b="1">
                <a:solidFill>
                  <a:srgbClr val="0F172A"/>
                </a:solidFill>
                <a:latin typeface="Microsoft YaHei"/>
              </a:defRPr>
            </a:pPr>
            <a:r>
              <a:t>• 语义亲和映射：</a:t>
            </a:r>
            <a:r>
              <a:rPr sz="1150" b="0">
                <a:solidFill>
                  <a:srgbClr val="475569"/>
                </a:solidFill>
                <a:latin typeface="Microsoft YaHei"/>
              </a:rPr>
              <a:t>通过 KVSemanticIdentity 将 Layer 与 TP Rank 精准映射至直连硬件队列。</a:t>
            </a:r>
          </a:p>
          <a:p>
            <a:pPr>
              <a:lnSpc>
                <a:spcPct val="122000"/>
              </a:lnSpc>
              <a:spcBef>
                <a:spcPts val="600"/>
              </a:spcBef>
              <a:defRPr sz="1200" b="1">
                <a:solidFill>
                  <a:srgbClr val="0F172A"/>
                </a:solidFill>
                <a:latin typeface="Microsoft YaHei"/>
              </a:defRPr>
            </a:pPr>
            <a:r>
              <a:t>• 消除 Incast 拥塞：</a:t>
            </a:r>
            <a:r>
              <a:rPr sz="1150" b="0">
                <a:solidFill>
                  <a:srgbClr val="475569"/>
                </a:solidFill>
                <a:latin typeface="Microsoft YaHei"/>
              </a:rPr>
              <a:t>同 Prompt / Layer KV 局域汇聚，压减 80% 跨机架流量消除拥塞。</a:t>
            </a:r>
          </a:p>
        </p:txBody>
      </p:sp>
      <p:sp>
        <p:nvSpPr>
          <p:cNvPr id="6" name="Rectangle 5"/>
          <p:cNvSpPr/>
          <p:nvPr/>
        </p:nvSpPr>
        <p:spPr>
          <a:xfrm>
            <a:off x="6202375" y="1097280"/>
            <a:ext cx="5440680" cy="2240280"/>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12103" y="1170432"/>
            <a:ext cx="5221224" cy="2093976"/>
          </a:xfrm>
          <a:prstGeom prst="rect">
            <a:avLst/>
          </a:prstGeom>
          <a:noFill/>
        </p:spPr>
        <p:txBody>
          <a:bodyPr wrap="square" lIns="0" tIns="0" rIns="0" bIns="0">
            <a:spAutoFit/>
          </a:bodyPr>
          <a:lstStyle/>
          <a:p>
            <a:pPr>
              <a:defRPr sz="1250" b="1">
                <a:solidFill>
                  <a:srgbClr val="1E3A8A"/>
                </a:solidFill>
                <a:latin typeface="Microsoft YaHei"/>
              </a:defRPr>
            </a:pPr>
            <a:r>
              <a:t>协同技术二：双 Stream 物理流水重叠</a:t>
            </a:r>
          </a:p>
          <a:p>
            <a:pPr>
              <a:spcBef>
                <a:spcPts val="100"/>
              </a:spcBef>
              <a:spcAft>
                <a:spcPts val="200"/>
              </a:spcAft>
              <a:defRPr sz="1000" b="1">
                <a:solidFill>
                  <a:srgbClr val="475569"/>
                </a:solidFill>
                <a:latin typeface="Microsoft YaHei"/>
              </a:defRPr>
            </a:pPr>
            <a:r>
              <a:t>[算力 Stream ➔ 传输 Stream 协同]</a:t>
            </a:r>
          </a:p>
          <a:p>
            <a:pPr>
              <a:lnSpc>
                <a:spcPct val="122000"/>
              </a:lnSpc>
              <a:spcBef>
                <a:spcPts val="600"/>
              </a:spcBef>
              <a:defRPr sz="1200" b="1">
                <a:solidFill>
                  <a:srgbClr val="0F172A"/>
                </a:solidFill>
                <a:latin typeface="Microsoft YaHei"/>
              </a:defRPr>
            </a:pPr>
            <a:r>
              <a:t>• 硬件 Stream 解耦：</a:t>
            </a:r>
            <a:r>
              <a:rPr sz="1150" b="0">
                <a:solidFill>
                  <a:srgbClr val="475569"/>
                </a:solidFill>
                <a:latin typeface="Microsoft YaHei"/>
              </a:rPr>
              <a:t>NPU 内部 AICore 矩阵单元与 URMA DMA 引擎运行在独立硬件 Stream。</a:t>
            </a:r>
          </a:p>
          <a:p>
            <a:pPr>
              <a:lnSpc>
                <a:spcPct val="122000"/>
              </a:lnSpc>
              <a:spcBef>
                <a:spcPts val="600"/>
              </a:spcBef>
              <a:defRPr sz="1200" b="1">
                <a:solidFill>
                  <a:srgbClr val="0F172A"/>
                </a:solidFill>
                <a:latin typeface="Microsoft YaHei"/>
              </a:defRPr>
            </a:pPr>
            <a:r>
              <a:t>• FlashAttention 融合：</a:t>
            </a:r>
            <a:r>
              <a:rPr sz="1150" b="0">
                <a:solidFill>
                  <a:srgbClr val="475569"/>
                </a:solidFill>
                <a:latin typeface="Microsoft YaHei"/>
              </a:rPr>
              <a:t>计算第 L 层 GEMM 时 DMA 预取第 L+1 层 KV，LogSumExp 在线合并。</a:t>
            </a:r>
          </a:p>
          <a:p>
            <a:pPr>
              <a:lnSpc>
                <a:spcPct val="122000"/>
              </a:lnSpc>
              <a:spcBef>
                <a:spcPts val="600"/>
              </a:spcBef>
              <a:defRPr sz="1200" b="1">
                <a:solidFill>
                  <a:srgbClr val="0F172A"/>
                </a:solidFill>
                <a:latin typeface="Microsoft YaHei"/>
              </a:defRPr>
            </a:pPr>
            <a:r>
              <a:t>• 隐藏 ≥60% 传输耗时：</a:t>
            </a:r>
            <a:r>
              <a:rPr sz="1150" b="0">
                <a:solidFill>
                  <a:srgbClr val="475569"/>
                </a:solidFill>
                <a:latin typeface="Microsoft YaHei"/>
              </a:rPr>
              <a:t>全模型 32 层流水全掩盖，把网络时延完全压缩进算力耗时包络！</a:t>
            </a:r>
          </a:p>
        </p:txBody>
      </p:sp>
      <p:sp>
        <p:nvSpPr>
          <p:cNvPr id="8" name="Rectangle 7"/>
          <p:cNvSpPr/>
          <p:nvPr/>
        </p:nvSpPr>
        <p:spPr>
          <a:xfrm>
            <a:off x="548640" y="3502152"/>
            <a:ext cx="5440680" cy="2240280"/>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575304"/>
            <a:ext cx="5221224" cy="2093976"/>
          </a:xfrm>
          <a:prstGeom prst="rect">
            <a:avLst/>
          </a:prstGeom>
          <a:noFill/>
        </p:spPr>
        <p:txBody>
          <a:bodyPr wrap="square" lIns="0" tIns="0" rIns="0" bIns="0">
            <a:spAutoFit/>
          </a:bodyPr>
          <a:lstStyle/>
          <a:p>
            <a:pPr>
              <a:defRPr sz="1250" b="1">
                <a:solidFill>
                  <a:srgbClr val="1E3A8A"/>
                </a:solidFill>
                <a:latin typeface="Microsoft YaHei"/>
              </a:defRPr>
            </a:pPr>
            <a:r>
              <a:t>协同技术三：硬件 QoS 队列与零触碰</a:t>
            </a:r>
          </a:p>
          <a:p>
            <a:pPr>
              <a:spcBef>
                <a:spcPts val="100"/>
              </a:spcBef>
              <a:spcAft>
                <a:spcPts val="200"/>
              </a:spcAft>
              <a:defRPr sz="1000" b="1">
                <a:solidFill>
                  <a:srgbClr val="475569"/>
                </a:solidFill>
                <a:latin typeface="Microsoft YaHei"/>
              </a:defRPr>
            </a:pPr>
            <a:r>
              <a:t>[网卡 QoS 队列 ➔ 零 CPU 触碰协同]</a:t>
            </a:r>
          </a:p>
          <a:p>
            <a:pPr>
              <a:lnSpc>
                <a:spcPct val="122000"/>
              </a:lnSpc>
              <a:spcBef>
                <a:spcPts val="600"/>
              </a:spcBef>
              <a:defRPr sz="1200" b="1">
                <a:solidFill>
                  <a:srgbClr val="0F172A"/>
                </a:solidFill>
                <a:latin typeface="Microsoft YaHei"/>
              </a:defRPr>
            </a:pPr>
            <a:r>
              <a:t>• 物理 QoS 队列隔离：</a:t>
            </a:r>
            <a:r>
              <a:rPr sz="1150" b="0">
                <a:solidFill>
                  <a:srgbClr val="475569"/>
                </a:solidFill>
                <a:latin typeface="Microsoft YaHei"/>
              </a:rPr>
              <a:t>Layer 0 及前台读绑定至 URMA 高优队列，后台迁移绑定低优队列。</a:t>
            </a:r>
          </a:p>
          <a:p>
            <a:pPr>
              <a:lnSpc>
                <a:spcPct val="122000"/>
              </a:lnSpc>
              <a:spcBef>
                <a:spcPts val="600"/>
              </a:spcBef>
              <a:defRPr sz="1200" b="1">
                <a:solidFill>
                  <a:srgbClr val="0F172A"/>
                </a:solidFill>
                <a:latin typeface="Microsoft YaHei"/>
              </a:defRPr>
            </a:pPr>
            <a:r>
              <a:t>• Touch Budget = 0：</a:t>
            </a:r>
            <a:r>
              <a:rPr sz="1150" b="0">
                <a:solidFill>
                  <a:srgbClr val="475569"/>
                </a:solidFill>
                <a:latin typeface="Microsoft YaHei"/>
              </a:rPr>
              <a:t>控制面下发描述符后，数据搬运 100% 硬件 DMA 执行，消除 CPU Wall。</a:t>
            </a:r>
          </a:p>
          <a:p>
            <a:pPr>
              <a:lnSpc>
                <a:spcPct val="122000"/>
              </a:lnSpc>
              <a:spcBef>
                <a:spcPts val="600"/>
              </a:spcBef>
              <a:defRPr sz="1200" b="1">
                <a:solidFill>
                  <a:srgbClr val="0F172A"/>
                </a:solidFill>
                <a:latin typeface="Microsoft YaHei"/>
              </a:defRPr>
            </a:pPr>
            <a:r>
              <a:t>• TPOT 抖动 &lt; 3%：</a:t>
            </a:r>
            <a:r>
              <a:rPr sz="1150" b="0">
                <a:solidFill>
                  <a:srgbClr val="475569"/>
                </a:solidFill>
                <a:latin typeface="Microsoft YaHei"/>
              </a:rPr>
              <a:t>后台进行大规模 SSD 迁移时，前台实时 Decode 的 TPOT 抖动严格 &lt; 3%。</a:t>
            </a:r>
          </a:p>
        </p:txBody>
      </p:sp>
      <p:sp>
        <p:nvSpPr>
          <p:cNvPr id="10" name="Rectangle 9"/>
          <p:cNvSpPr/>
          <p:nvPr/>
        </p:nvSpPr>
        <p:spPr>
          <a:xfrm>
            <a:off x="6202375" y="3502152"/>
            <a:ext cx="5440680" cy="2240280"/>
          </a:xfrm>
          <a:prstGeom prst="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2103" y="3575304"/>
            <a:ext cx="5221224" cy="2093976"/>
          </a:xfrm>
          <a:prstGeom prst="rect">
            <a:avLst/>
          </a:prstGeom>
          <a:noFill/>
        </p:spPr>
        <p:txBody>
          <a:bodyPr wrap="square" lIns="0" tIns="0" rIns="0" bIns="0">
            <a:spAutoFit/>
          </a:bodyPr>
          <a:lstStyle/>
          <a:p>
            <a:pPr>
              <a:defRPr sz="1250" b="1">
                <a:solidFill>
                  <a:srgbClr val="047857"/>
                </a:solidFill>
                <a:latin typeface="Microsoft YaHei"/>
              </a:defRPr>
            </a:pPr>
            <a:r>
              <a:t>协同技术四：UBMEM 微秒级共享内存</a:t>
            </a:r>
          </a:p>
          <a:p>
            <a:pPr>
              <a:spcBef>
                <a:spcPts val="100"/>
              </a:spcBef>
              <a:spcAft>
                <a:spcPts val="200"/>
              </a:spcAft>
              <a:defRPr sz="1000" b="1">
                <a:solidFill>
                  <a:srgbClr val="475569"/>
                </a:solidFill>
                <a:latin typeface="Microsoft YaHei"/>
              </a:defRPr>
            </a:pPr>
            <a:r>
              <a:t>[总线级共享内存 ➔ 微秒原子控制面]</a:t>
            </a:r>
          </a:p>
          <a:p>
            <a:pPr>
              <a:lnSpc>
                <a:spcPct val="122000"/>
              </a:lnSpc>
              <a:spcBef>
                <a:spcPts val="600"/>
              </a:spcBef>
              <a:defRPr sz="1200" b="1">
                <a:solidFill>
                  <a:srgbClr val="0F172A"/>
                </a:solidFill>
                <a:latin typeface="Microsoft YaHei"/>
              </a:defRPr>
            </a:pPr>
            <a:r>
              <a:t>• 总线级内存映射：</a:t>
            </a:r>
            <a:r>
              <a:rPr sz="1150" b="0">
                <a:solidFill>
                  <a:srgbClr val="475569"/>
                </a:solidFill>
                <a:latin typeface="Microsoft YaHei"/>
              </a:rPr>
              <a:t>基于 UBMEM 将全局 PrefixDirectory 直接映射至共享内存空间。</a:t>
            </a:r>
          </a:p>
          <a:p>
            <a:pPr>
              <a:lnSpc>
                <a:spcPct val="122000"/>
              </a:lnSpc>
              <a:spcBef>
                <a:spcPts val="600"/>
              </a:spcBef>
              <a:defRPr sz="1200" b="1">
                <a:solidFill>
                  <a:srgbClr val="0F172A"/>
                </a:solidFill>
                <a:latin typeface="Microsoft YaHei"/>
              </a:defRPr>
            </a:pPr>
            <a:r>
              <a:t>• 微秒级指令直达：</a:t>
            </a:r>
            <a:r>
              <a:rPr sz="1150" b="0">
                <a:solidFill>
                  <a:srgbClr val="475569"/>
                </a:solidFill>
                <a:latin typeface="Microsoft YaHei"/>
              </a:rPr>
              <a:t>通过硬件 Load / Store / Atomic 指令直读，消除传统 RPC 栈开销。</a:t>
            </a:r>
          </a:p>
          <a:p>
            <a:pPr>
              <a:lnSpc>
                <a:spcPct val="122000"/>
              </a:lnSpc>
              <a:spcBef>
                <a:spcPts val="600"/>
              </a:spcBef>
              <a:defRPr sz="1200" b="1">
                <a:solidFill>
                  <a:srgbClr val="0F172A"/>
                </a:solidFill>
                <a:latin typeface="Microsoft YaHei"/>
              </a:defRPr>
            </a:pPr>
            <a:r>
              <a:t>• 时延压缩至 &lt; 5 µs：</a:t>
            </a:r>
            <a:r>
              <a:rPr sz="1150" b="0">
                <a:solidFill>
                  <a:srgbClr val="475569"/>
                </a:solidFill>
                <a:latin typeface="Microsoft YaHei"/>
              </a:rPr>
              <a:t>控制面时延从上百微秒压缩至 5 µs 内，微秒级驱动 URMA 正文搬运。</a:t>
            </a:r>
          </a:p>
        </p:txBody>
      </p:sp>
      <p:sp>
        <p:nvSpPr>
          <p:cNvPr id="12" name="Rectangle 11"/>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软硬协同壁垒：</a:t>
            </a:r>
            <a:r>
              <a:rPr sz="1150" b="0">
                <a:solidFill>
                  <a:srgbClr val="0F172A"/>
                </a:solidFill>
                <a:latin typeface="Microsoft YaHei"/>
              </a:rPr>
              <a:t>深层软硬协同无法通过通用开源中间件简单拼装实现；本项目四大协同维度构建了 </a:t>
            </a:r>
            <a:r>
              <a:rPr sz="1150" b="1">
                <a:solidFill>
                  <a:srgbClr val="DC2626"/>
                </a:solidFill>
                <a:latin typeface="Microsoft YaHei"/>
              </a:rPr>
              <a:t>国产 AI Infra 的核心技术护城河与不可替代性</a:t>
            </a:r>
            <a:r>
              <a:rPr sz="1150" b="0">
                <a:solidFill>
                  <a:srgbClr val="0F172A"/>
                </a:solidFill>
                <a:latin typeface="Microsoft YaHe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业务指标量化分析 (1/2)：30%～90% 前缀复用测算模型与完整计算推导方法</a:t>
            </a:r>
          </a:p>
          <a:p>
            <a:pPr>
              <a:spcBef>
                <a:spcPts val="200"/>
              </a:spcBef>
              <a:defRPr sz="1000">
                <a:solidFill>
                  <a:srgbClr val="475569"/>
                </a:solidFill>
                <a:latin typeface="Microsoft YaHei"/>
              </a:defRPr>
            </a:pPr>
            <a:r>
              <a:t>依据报告第 6 部分：严格给出 c 的 4 级漏斗计算公式、TTFT 计算方法与 7.24 ms 顺序增量分解过程</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08 / 10 页</a:t>
            </a:r>
          </a:p>
        </p:txBody>
      </p:sp>
      <p:sp>
        <p:nvSpPr>
          <p:cNvPr id="4" name="Rectangle 3"/>
          <p:cNvSpPr/>
          <p:nvPr/>
        </p:nvSpPr>
        <p:spPr>
          <a:xfrm>
            <a:off x="548640" y="1060704"/>
            <a:ext cx="6263640" cy="4791456"/>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33856"/>
            <a:ext cx="6099048" cy="2487168"/>
          </a:xfrm>
          <a:prstGeom prst="rect">
            <a:avLst/>
          </a:prstGeom>
          <a:noFill/>
        </p:spPr>
        <p:txBody>
          <a:bodyPr wrap="square" lIns="0" tIns="0" rIns="0" bIns="0">
            <a:spAutoFit/>
          </a:bodyPr>
          <a:lstStyle/>
          <a:p>
            <a:pPr>
              <a:defRPr sz="1150" b="1">
                <a:solidFill>
                  <a:srgbClr val="1E3A8A"/>
                </a:solidFill>
                <a:latin typeface="Microsoft YaHei"/>
              </a:defRPr>
            </a:pPr>
            <a:r>
              <a:t>1. 端到端 TTFT 数学建模与 c 的 4 级条件漏斗推导 (1K Token)</a:t>
            </a:r>
          </a:p>
          <a:p>
            <a:pPr>
              <a:spcBef>
                <a:spcPts val="200"/>
              </a:spcBef>
              <a:defRPr sz="950" b="1">
                <a:solidFill>
                  <a:srgbClr val="1D4ED8"/>
                </a:solidFill>
                <a:latin typeface="Consolas"/>
              </a:defRPr>
            </a:pPr>
            <a:r>
              <a:t>【核心计算公式】 TTFT_est = T_other + T_fixed + T_prefill × (1 - c) + T_load × c</a:t>
            </a:r>
          </a:p>
          <a:p>
            <a:pPr>
              <a:spcBef>
                <a:spcPts val="200"/>
              </a:spcBef>
              <a:defRPr sz="950" b="1">
                <a:solidFill>
                  <a:srgbClr val="047857"/>
                </a:solidFill>
                <a:latin typeface="Consolas"/>
              </a:defRPr>
            </a:pPr>
            <a:r>
              <a:t>【正价值消费率 c 计算方法】 c = r × u = r × (u1 × u2 × u3 × u4)  [4 级条件漏斗连乘]</a:t>
            </a:r>
          </a:p>
          <a:p>
            <a:pPr>
              <a:lnSpc>
                <a:spcPct val="116000"/>
              </a:lnSpc>
              <a:spcBef>
                <a:spcPts val="200"/>
              </a:spcBef>
              <a:defRPr sz="950" b="1">
                <a:solidFill>
                  <a:srgbClr val="0F172A"/>
                </a:solidFill>
                <a:latin typeface="Microsoft YaHei"/>
              </a:defRPr>
            </a:pPr>
            <a:r>
              <a:t>• u1 语义与候选保持 (90%➔97%)：</a:t>
            </a:r>
            <a:r>
              <a:rPr sz="919" b="0">
                <a:solidFill>
                  <a:srgbClr val="475569"/>
                </a:solidFill>
                <a:latin typeface="Microsoft YaHei"/>
              </a:rPr>
              <a:t>统一语义身份 + 缓存感知路由 + 生命周期治理 (PVT-00/02)</a:t>
            </a:r>
          </a:p>
          <a:p>
            <a:pPr>
              <a:lnSpc>
                <a:spcPct val="116000"/>
              </a:lnSpc>
              <a:spcBef>
                <a:spcPts val="200"/>
              </a:spcBef>
              <a:defRPr sz="950" b="1">
                <a:solidFill>
                  <a:srgbClr val="0F172A"/>
                </a:solidFill>
                <a:latin typeface="Microsoft YaHei"/>
              </a:defRPr>
            </a:pPr>
            <a:r>
              <a:t>• u2 资格与租约通过 (95%➔99%)：</a:t>
            </a:r>
            <a:r>
              <a:rPr sz="919" b="0">
                <a:solidFill>
                  <a:srgbClr val="475569"/>
                </a:solidFill>
                <a:latin typeface="Microsoft YaHei"/>
              </a:rPr>
              <a:t>UBMEM 元数据快路径 + 显式租约屏障 + 多卡保序 (PVT-03/06)</a:t>
            </a:r>
          </a:p>
          <a:p>
            <a:pPr>
              <a:lnSpc>
                <a:spcPct val="116000"/>
              </a:lnSpc>
              <a:spcBef>
                <a:spcPts val="200"/>
              </a:spcBef>
              <a:defRPr sz="950" b="1">
                <a:solidFill>
                  <a:srgbClr val="0F172A"/>
                </a:solidFill>
                <a:latin typeface="Microsoft YaHei"/>
              </a:defRPr>
            </a:pPr>
            <a:r>
              <a:t>• u3 实际路径成功 (95%➔99%)：</a:t>
            </a:r>
            <a:r>
              <a:rPr sz="919" b="0">
                <a:solidFill>
                  <a:srgbClr val="475569"/>
                </a:solidFill>
                <a:latin typeface="Microsoft YaHei"/>
              </a:rPr>
              <a:t>CapabilityMatrix 硬件感知 + URMA 直达 + 有界回退 (PVT-01/07)</a:t>
            </a:r>
          </a:p>
          <a:p>
            <a:pPr>
              <a:lnSpc>
                <a:spcPct val="116000"/>
              </a:lnSpc>
              <a:spcBef>
                <a:spcPts val="200"/>
              </a:spcBef>
              <a:defRPr sz="950" b="1">
                <a:solidFill>
                  <a:srgbClr val="0F172A"/>
                </a:solidFill>
                <a:latin typeface="Microsoft YaHei"/>
              </a:defRPr>
            </a:pPr>
            <a:r>
              <a:t>• u4 正收益判定比 (98%➔99%)：</a:t>
            </a:r>
            <a:r>
              <a:rPr sz="919" b="0">
                <a:solidFill>
                  <a:srgbClr val="475569"/>
                </a:solidFill>
                <a:latin typeface="Microsoft YaHei"/>
              </a:rPr>
              <a:t>PVT-04 动态 ROI 引擎 + 实时队列观测与自适应熔断 (PVT-04)</a:t>
            </a:r>
          </a:p>
          <a:p>
            <a:pPr>
              <a:lnSpc>
                <a:spcPct val="116000"/>
              </a:lnSpc>
              <a:spcBef>
                <a:spcPts val="200"/>
              </a:spcBef>
              <a:defRPr sz="950" b="1">
                <a:solidFill>
                  <a:srgbClr val="0F172A"/>
                </a:solidFill>
                <a:latin typeface="Microsoft YaHei"/>
              </a:defRPr>
            </a:pPr>
            <a:r>
              <a:t>• 综合转化率 u 与时延预算：</a:t>
            </a:r>
            <a:r>
              <a:rPr sz="919" b="0">
                <a:solidFill>
                  <a:srgbClr val="475569"/>
                </a:solidFill>
                <a:latin typeface="Microsoft YaHei"/>
              </a:rPr>
              <a:t>u: 开源 79.60% ➔ 本项目 94.12%; T_fixed: 1.6 ➔ 0.575ms; T_load: 10.0 ➔ 4.5ms</a:t>
            </a:r>
          </a:p>
        </p:txBody>
      </p:sp>
      <p:graphicFrame>
        <p:nvGraphicFramePr>
          <p:cNvPr id="6" name="Table 5"/>
          <p:cNvGraphicFramePr>
            <a:graphicFrameLocks noGrp="1"/>
          </p:cNvGraphicFramePr>
          <p:nvPr/>
        </p:nvGraphicFramePr>
        <p:xfrm>
          <a:off x="685800" y="3621024"/>
          <a:ext cx="5989320" cy="2139696"/>
        </p:xfrm>
        <a:graphic>
          <a:graphicData uri="http://schemas.openxmlformats.org/drawingml/2006/table">
            <a:tbl>
              <a:tblPr firstRow="1" bandRow="1">
                <a:tableStyleId>{5C22544A-7EE6-4342-B048-85BDC9FD1C3A}</a:tableStyleId>
              </a:tblPr>
              <a:tblGrid>
                <a:gridCol w="1188720"/>
                <a:gridCol w="685800"/>
                <a:gridCol w="868680"/>
                <a:gridCol w="685800"/>
                <a:gridCol w="868680"/>
                <a:gridCol w="868680"/>
                <a:gridCol w="822960"/>
              </a:tblGrid>
              <a:tr h="427939">
                <a:tc>
                  <a:txBody>
                    <a:bodyPr wrap="none" lIns="18288" rIns="18288" tIns="36576" bIns="36576"/>
                    <a:lstStyle/>
                    <a:p>
                      <a:pPr algn="ctr">
                        <a:defRPr sz="1000" b="1">
                          <a:solidFill>
                            <a:srgbClr val="FFFFFF"/>
                          </a:solidFill>
                          <a:latin typeface="Microsoft YaHei"/>
                        </a:defRPr>
                      </a:pPr>
                      <a:r>
                        <a:t>复用场景 r</a:t>
                      </a:r>
                    </a:p>
                  </a:txBody>
                  <a:tcPr>
                    <a:solidFill>
                      <a:srgbClr val="1E3A8A"/>
                    </a:solidFill>
                  </a:tcPr>
                </a:tc>
                <a:tc>
                  <a:txBody>
                    <a:bodyPr wrap="none" lIns="18288" rIns="18288" tIns="36576" bIns="36576"/>
                    <a:lstStyle/>
                    <a:p>
                      <a:pPr algn="ctr">
                        <a:defRPr sz="1000" b="1">
                          <a:solidFill>
                            <a:srgbClr val="FFFFFF"/>
                          </a:solidFill>
                          <a:latin typeface="Microsoft YaHei"/>
                        </a:defRPr>
                      </a:pPr>
                      <a:r>
                        <a:t>开源 c</a:t>
                      </a:r>
                    </a:p>
                  </a:txBody>
                  <a:tcPr>
                    <a:solidFill>
                      <a:srgbClr val="1E3A8A"/>
                    </a:solidFill>
                  </a:tcPr>
                </a:tc>
                <a:tc>
                  <a:txBody>
                    <a:bodyPr wrap="none" lIns="18288" rIns="18288" tIns="36576" bIns="36576"/>
                    <a:lstStyle/>
                    <a:p>
                      <a:pPr algn="ctr">
                        <a:defRPr sz="1000" b="1">
                          <a:solidFill>
                            <a:srgbClr val="FFFFFF"/>
                          </a:solidFill>
                          <a:latin typeface="Microsoft YaHei"/>
                        </a:defRPr>
                      </a:pPr>
                      <a:r>
                        <a:t>开源 TTFT</a:t>
                      </a:r>
                    </a:p>
                  </a:txBody>
                  <a:tcPr>
                    <a:solidFill>
                      <a:srgbClr val="1E3A8A"/>
                    </a:solidFill>
                  </a:tcPr>
                </a:tc>
                <a:tc>
                  <a:txBody>
                    <a:bodyPr wrap="none" lIns="18288" rIns="18288" tIns="36576" bIns="36576"/>
                    <a:lstStyle/>
                    <a:p>
                      <a:pPr algn="ctr">
                        <a:defRPr sz="1000" b="1">
                          <a:solidFill>
                            <a:srgbClr val="FFFFFF"/>
                          </a:solidFill>
                          <a:latin typeface="Microsoft YaHei"/>
                        </a:defRPr>
                      </a:pPr>
                      <a:r>
                        <a:t>本项目 c</a:t>
                      </a:r>
                    </a:p>
                  </a:txBody>
                  <a:tcPr>
                    <a:solidFill>
                      <a:srgbClr val="1E3A8A"/>
                    </a:solidFill>
                  </a:tcPr>
                </a:tc>
                <a:tc>
                  <a:txBody>
                    <a:bodyPr wrap="none" lIns="18288" rIns="18288" tIns="36576" bIns="36576"/>
                    <a:lstStyle/>
                    <a:p>
                      <a:pPr algn="ctr">
                        <a:defRPr sz="1000" b="1">
                          <a:solidFill>
                            <a:srgbClr val="FFFFFF"/>
                          </a:solidFill>
                          <a:latin typeface="Microsoft YaHei"/>
                        </a:defRPr>
                      </a:pPr>
                      <a:r>
                        <a:t>本项目 TTFT</a:t>
                      </a:r>
                    </a:p>
                  </a:txBody>
                  <a:tcPr>
                    <a:solidFill>
                      <a:srgbClr val="1E3A8A"/>
                    </a:solidFill>
                  </a:tcPr>
                </a:tc>
                <a:tc>
                  <a:txBody>
                    <a:bodyPr wrap="none" lIns="18288" rIns="18288" tIns="36576" bIns="36576"/>
                    <a:lstStyle/>
                    <a:p>
                      <a:pPr algn="ctr">
                        <a:defRPr sz="1000" b="1">
                          <a:solidFill>
                            <a:srgbClr val="FFFFFF"/>
                          </a:solidFill>
                          <a:latin typeface="Microsoft YaHei"/>
                        </a:defRPr>
                      </a:pPr>
                      <a:r>
                        <a:t>TTFT 改善</a:t>
                      </a:r>
                    </a:p>
                  </a:txBody>
                  <a:tcPr>
                    <a:solidFill>
                      <a:srgbClr val="1E3A8A"/>
                    </a:solidFill>
                  </a:tcPr>
                </a:tc>
                <a:tc>
                  <a:txBody>
                    <a:bodyPr wrap="none" lIns="18288" rIns="18288" tIns="36576" bIns="36576"/>
                    <a:lstStyle/>
                    <a:p>
                      <a:pPr algn="ctr">
                        <a:defRPr sz="1000" b="1">
                          <a:solidFill>
                            <a:srgbClr val="FFFFFF"/>
                          </a:solidFill>
                          <a:latin typeface="Microsoft YaHei"/>
                        </a:defRPr>
                      </a:pPr>
                      <a:r>
                        <a:t>净省耗时</a:t>
                      </a:r>
                    </a:p>
                  </a:txBody>
                  <a:tcPr>
                    <a:solidFill>
                      <a:srgbClr val="1E3A8A"/>
                    </a:solidFill>
                  </a:tcPr>
                </a:tc>
              </a:tr>
              <a:tr h="427939">
                <a:tc>
                  <a:txBody>
                    <a:bodyPr wrap="square" lIns="18288" rIns="18288" tIns="36576" bIns="36576"/>
                    <a:lstStyle/>
                    <a:p>
                      <a:pPr algn="ctr">
                        <a:defRPr sz="1000" b="1">
                          <a:solidFill>
                            <a:srgbClr val="0F172A"/>
                          </a:solidFill>
                          <a:latin typeface="Microsoft YaHei"/>
                        </a:defRPr>
                      </a:pPr>
                      <a:r>
                        <a:t>30% 日常/短RAG</a:t>
                      </a:r>
                    </a:p>
                  </a:txBody>
                  <a:tcPr>
                    <a:solidFill>
                      <a:srgbClr val="FFFFFF"/>
                    </a:solidFill>
                  </a:tcPr>
                </a:tc>
                <a:tc>
                  <a:txBody>
                    <a:bodyPr wrap="square" lIns="18288" rIns="18288" tIns="36576" bIns="36576"/>
                    <a:lstStyle/>
                    <a:p>
                      <a:pPr algn="ctr">
                        <a:defRPr sz="1000">
                          <a:solidFill>
                            <a:srgbClr val="0F172A"/>
                          </a:solidFill>
                          <a:latin typeface="Microsoft YaHei"/>
                        </a:defRPr>
                      </a:pPr>
                      <a:r>
                        <a:t>23.9%</a:t>
                      </a:r>
                    </a:p>
                  </a:txBody>
                  <a:tcPr>
                    <a:solidFill>
                      <a:srgbClr val="FFFFFF"/>
                    </a:solidFill>
                  </a:tcPr>
                </a:tc>
                <a:tc>
                  <a:txBody>
                    <a:bodyPr wrap="square" lIns="18288" rIns="18288" tIns="36576" bIns="36576"/>
                    <a:lstStyle/>
                    <a:p>
                      <a:pPr algn="ctr">
                        <a:defRPr sz="1000">
                          <a:solidFill>
                            <a:srgbClr val="0F172A"/>
                          </a:solidFill>
                          <a:latin typeface="Microsoft YaHei"/>
                        </a:defRPr>
                      </a:pPr>
                      <a:r>
                        <a:t>57.66 ms</a:t>
                      </a:r>
                    </a:p>
                  </a:txBody>
                  <a:tcPr>
                    <a:solidFill>
                      <a:srgbClr val="FFFFFF"/>
                    </a:solidFill>
                  </a:tcPr>
                </a:tc>
                <a:tc>
                  <a:txBody>
                    <a:bodyPr wrap="square" lIns="18288" rIns="18288" tIns="36576" bIns="36576"/>
                    <a:lstStyle/>
                    <a:p>
                      <a:pPr algn="ctr">
                        <a:defRPr sz="1000">
                          <a:solidFill>
                            <a:srgbClr val="0F172A"/>
                          </a:solidFill>
                          <a:latin typeface="Microsoft YaHei"/>
                        </a:defRPr>
                      </a:pPr>
                      <a:r>
                        <a:t>28.2%</a:t>
                      </a:r>
                    </a:p>
                  </a:txBody>
                  <a:tcPr>
                    <a:solidFill>
                      <a:srgbClr val="FFFFFF"/>
                    </a:solidFill>
                  </a:tcPr>
                </a:tc>
                <a:tc>
                  <a:txBody>
                    <a:bodyPr wrap="square" lIns="18288" rIns="18288" tIns="36576" bIns="36576"/>
                    <a:lstStyle/>
                    <a:p>
                      <a:pPr algn="ctr">
                        <a:defRPr sz="1000">
                          <a:solidFill>
                            <a:srgbClr val="0F172A"/>
                          </a:solidFill>
                          <a:latin typeface="Microsoft YaHei"/>
                        </a:defRPr>
                      </a:pPr>
                      <a:r>
                        <a:t>52.90 ms</a:t>
                      </a:r>
                    </a:p>
                  </a:txBody>
                  <a:tcPr>
                    <a:solidFill>
                      <a:srgbClr val="FFFFFF"/>
                    </a:solidFill>
                  </a:tcPr>
                </a:tc>
                <a:tc>
                  <a:txBody>
                    <a:bodyPr wrap="square" lIns="18288" rIns="18288" tIns="36576" bIns="36576"/>
                    <a:lstStyle/>
                    <a:p>
                      <a:pPr algn="ctr">
                        <a:defRPr sz="1000" b="1">
                          <a:solidFill>
                            <a:srgbClr val="0F172A"/>
                          </a:solidFill>
                          <a:latin typeface="Microsoft YaHei"/>
                        </a:defRPr>
                      </a:pPr>
                      <a:r>
                        <a:t>8.2%</a:t>
                      </a:r>
                    </a:p>
                  </a:txBody>
                  <a:tcPr>
                    <a:solidFill>
                      <a:srgbClr val="FFFFFF"/>
                    </a:solidFill>
                  </a:tcPr>
                </a:tc>
                <a:tc>
                  <a:txBody>
                    <a:bodyPr wrap="square" lIns="18288" rIns="18288" tIns="36576" bIns="36576"/>
                    <a:lstStyle/>
                    <a:p>
                      <a:pPr algn="ctr">
                        <a:defRPr sz="1000" b="1">
                          <a:solidFill>
                            <a:srgbClr val="0F172A"/>
                          </a:solidFill>
                          <a:latin typeface="Microsoft YaHei"/>
                        </a:defRPr>
                      </a:pPr>
                      <a:r>
                        <a:t>4.76 ms</a:t>
                      </a:r>
                    </a:p>
                  </a:txBody>
                  <a:tcPr>
                    <a:solidFill>
                      <a:srgbClr val="FFFFFF"/>
                    </a:solidFill>
                  </a:tcPr>
                </a:tc>
              </a:tr>
              <a:tr h="427939">
                <a:tc>
                  <a:txBody>
                    <a:bodyPr wrap="square" lIns="18288" rIns="18288" tIns="36576" bIns="36576"/>
                    <a:lstStyle/>
                    <a:p>
                      <a:pPr algn="ctr">
                        <a:defRPr sz="1000" b="1">
                          <a:solidFill>
                            <a:srgbClr val="0F172A"/>
                          </a:solidFill>
                          <a:latin typeface="Microsoft YaHei"/>
                        </a:defRPr>
                      </a:pPr>
                      <a:r>
                        <a:t>50% 典型Agent</a:t>
                      </a:r>
                    </a:p>
                  </a:txBody>
                  <a:tcPr>
                    <a:solidFill>
                      <a:srgbClr val="F1F5F9"/>
                    </a:solidFill>
                  </a:tcPr>
                </a:tc>
                <a:tc>
                  <a:txBody>
                    <a:bodyPr wrap="square" lIns="18288" rIns="18288" tIns="36576" bIns="36576"/>
                    <a:lstStyle/>
                    <a:p>
                      <a:pPr algn="ctr">
                        <a:defRPr sz="1000">
                          <a:solidFill>
                            <a:srgbClr val="0F172A"/>
                          </a:solidFill>
                          <a:latin typeface="Microsoft YaHei"/>
                        </a:defRPr>
                      </a:pPr>
                      <a:r>
                        <a:t>39.8%</a:t>
                      </a:r>
                    </a:p>
                  </a:txBody>
                  <a:tcPr>
                    <a:solidFill>
                      <a:srgbClr val="F1F5F9"/>
                    </a:solidFill>
                  </a:tcPr>
                </a:tc>
                <a:tc>
                  <a:txBody>
                    <a:bodyPr wrap="square" lIns="18288" rIns="18288" tIns="36576" bIns="36576"/>
                    <a:lstStyle/>
                    <a:p>
                      <a:pPr algn="ctr">
                        <a:defRPr sz="1000">
                          <a:solidFill>
                            <a:srgbClr val="0F172A"/>
                          </a:solidFill>
                          <a:latin typeface="Microsoft YaHei"/>
                        </a:defRPr>
                      </a:pPr>
                      <a:r>
                        <a:t>49.70 ms</a:t>
                      </a:r>
                    </a:p>
                  </a:txBody>
                  <a:tcPr>
                    <a:solidFill>
                      <a:srgbClr val="F1F5F9"/>
                    </a:solidFill>
                  </a:tcPr>
                </a:tc>
                <a:tc>
                  <a:txBody>
                    <a:bodyPr wrap="square" lIns="18288" rIns="18288" tIns="36576" bIns="36576"/>
                    <a:lstStyle/>
                    <a:p>
                      <a:pPr algn="ctr">
                        <a:defRPr sz="1000">
                          <a:solidFill>
                            <a:srgbClr val="0F172A"/>
                          </a:solidFill>
                          <a:latin typeface="Microsoft YaHei"/>
                        </a:defRPr>
                      </a:pPr>
                      <a:r>
                        <a:t>47.1%</a:t>
                      </a:r>
                    </a:p>
                  </a:txBody>
                  <a:tcPr>
                    <a:solidFill>
                      <a:srgbClr val="F1F5F9"/>
                    </a:solidFill>
                  </a:tcPr>
                </a:tc>
                <a:tc>
                  <a:txBody>
                    <a:bodyPr wrap="square" lIns="18288" rIns="18288" tIns="36576" bIns="36576"/>
                    <a:lstStyle/>
                    <a:p>
                      <a:pPr algn="ctr">
                        <a:defRPr sz="1000">
                          <a:solidFill>
                            <a:srgbClr val="0F172A"/>
                          </a:solidFill>
                          <a:latin typeface="Microsoft YaHei"/>
                        </a:defRPr>
                      </a:pPr>
                      <a:r>
                        <a:t>42.46 ms</a:t>
                      </a:r>
                    </a:p>
                  </a:txBody>
                  <a:tcPr>
                    <a:solidFill>
                      <a:srgbClr val="F1F5F9"/>
                    </a:solidFill>
                  </a:tcPr>
                </a:tc>
                <a:tc>
                  <a:txBody>
                    <a:bodyPr wrap="square" lIns="18288" rIns="18288" tIns="36576" bIns="36576"/>
                    <a:lstStyle/>
                    <a:p>
                      <a:pPr algn="ctr">
                        <a:defRPr sz="1000" b="1">
                          <a:solidFill>
                            <a:srgbClr val="1D4ED8"/>
                          </a:solidFill>
                          <a:latin typeface="Microsoft YaHei"/>
                        </a:defRPr>
                      </a:pPr>
                      <a:r>
                        <a:t>14.6%</a:t>
                      </a:r>
                    </a:p>
                  </a:txBody>
                  <a:tcPr>
                    <a:solidFill>
                      <a:srgbClr val="F1F5F9"/>
                    </a:solidFill>
                  </a:tcPr>
                </a:tc>
                <a:tc>
                  <a:txBody>
                    <a:bodyPr wrap="square" lIns="18288" rIns="18288" tIns="36576" bIns="36576"/>
                    <a:lstStyle/>
                    <a:p>
                      <a:pPr algn="ctr">
                        <a:defRPr sz="1000" b="1">
                          <a:solidFill>
                            <a:srgbClr val="0F172A"/>
                          </a:solidFill>
                          <a:latin typeface="Microsoft YaHei"/>
                        </a:defRPr>
                      </a:pPr>
                      <a:r>
                        <a:t>7.24 ms</a:t>
                      </a:r>
                    </a:p>
                  </a:txBody>
                  <a:tcPr>
                    <a:solidFill>
                      <a:srgbClr val="F1F5F9"/>
                    </a:solidFill>
                  </a:tcPr>
                </a:tc>
              </a:tr>
              <a:tr h="427939">
                <a:tc>
                  <a:txBody>
                    <a:bodyPr wrap="square" lIns="18288" rIns="18288" tIns="36576" bIns="36576"/>
                    <a:lstStyle/>
                    <a:p>
                      <a:pPr algn="ctr">
                        <a:defRPr sz="1000" b="1">
                          <a:solidFill>
                            <a:srgbClr val="0F172A"/>
                          </a:solidFill>
                          <a:latin typeface="Microsoft YaHei"/>
                        </a:defRPr>
                      </a:pPr>
                      <a:r>
                        <a:t>70% 长系统词/代码</a:t>
                      </a:r>
                    </a:p>
                  </a:txBody>
                  <a:tcPr>
                    <a:solidFill>
                      <a:srgbClr val="FFFFFF"/>
                    </a:solidFill>
                  </a:tcPr>
                </a:tc>
                <a:tc>
                  <a:txBody>
                    <a:bodyPr wrap="square" lIns="18288" rIns="18288" tIns="36576" bIns="36576"/>
                    <a:lstStyle/>
                    <a:p>
                      <a:pPr algn="ctr">
                        <a:defRPr sz="1000">
                          <a:solidFill>
                            <a:srgbClr val="0F172A"/>
                          </a:solidFill>
                          <a:latin typeface="Microsoft YaHei"/>
                        </a:defRPr>
                      </a:pPr>
                      <a:r>
                        <a:t>55.7%</a:t>
                      </a:r>
                    </a:p>
                  </a:txBody>
                  <a:tcPr>
                    <a:solidFill>
                      <a:srgbClr val="FFFFFF"/>
                    </a:solidFill>
                  </a:tcPr>
                </a:tc>
                <a:tc>
                  <a:txBody>
                    <a:bodyPr wrap="square" lIns="18288" rIns="18288" tIns="36576" bIns="36576"/>
                    <a:lstStyle/>
                    <a:p>
                      <a:pPr algn="ctr">
                        <a:defRPr sz="1000">
                          <a:solidFill>
                            <a:srgbClr val="0F172A"/>
                          </a:solidFill>
                          <a:latin typeface="Microsoft YaHei"/>
                        </a:defRPr>
                      </a:pPr>
                      <a:r>
                        <a:t>41.74 ms</a:t>
                      </a:r>
                    </a:p>
                  </a:txBody>
                  <a:tcPr>
                    <a:solidFill>
                      <a:srgbClr val="FFFFFF"/>
                    </a:solidFill>
                  </a:tcPr>
                </a:tc>
                <a:tc>
                  <a:txBody>
                    <a:bodyPr wrap="square" lIns="18288" rIns="18288" tIns="36576" bIns="36576"/>
                    <a:lstStyle/>
                    <a:p>
                      <a:pPr algn="ctr">
                        <a:defRPr sz="1000">
                          <a:solidFill>
                            <a:srgbClr val="0F172A"/>
                          </a:solidFill>
                          <a:latin typeface="Microsoft YaHei"/>
                        </a:defRPr>
                      </a:pPr>
                      <a:r>
                        <a:t>65.9%</a:t>
                      </a:r>
                    </a:p>
                  </a:txBody>
                  <a:tcPr>
                    <a:solidFill>
                      <a:srgbClr val="FFFFFF"/>
                    </a:solidFill>
                  </a:tcPr>
                </a:tc>
                <a:tc>
                  <a:txBody>
                    <a:bodyPr wrap="square" lIns="18288" rIns="18288" tIns="36576" bIns="36576"/>
                    <a:lstStyle/>
                    <a:p>
                      <a:pPr algn="ctr">
                        <a:defRPr sz="1000">
                          <a:solidFill>
                            <a:srgbClr val="0F172A"/>
                          </a:solidFill>
                          <a:latin typeface="Microsoft YaHei"/>
                        </a:defRPr>
                      </a:pPr>
                      <a:r>
                        <a:t>32.01 ms</a:t>
                      </a:r>
                    </a:p>
                  </a:txBody>
                  <a:tcPr>
                    <a:solidFill>
                      <a:srgbClr val="FFFFFF"/>
                    </a:solidFill>
                  </a:tcPr>
                </a:tc>
                <a:tc>
                  <a:txBody>
                    <a:bodyPr wrap="square" lIns="18288" rIns="18288" tIns="36576" bIns="36576"/>
                    <a:lstStyle/>
                    <a:p>
                      <a:pPr algn="ctr">
                        <a:defRPr sz="1000" b="1">
                          <a:solidFill>
                            <a:srgbClr val="0F172A"/>
                          </a:solidFill>
                          <a:latin typeface="Microsoft YaHei"/>
                        </a:defRPr>
                      </a:pPr>
                      <a:r>
                        <a:t>23.3%</a:t>
                      </a:r>
                    </a:p>
                  </a:txBody>
                  <a:tcPr>
                    <a:solidFill>
                      <a:srgbClr val="FFFFFF"/>
                    </a:solidFill>
                  </a:tcPr>
                </a:tc>
                <a:tc>
                  <a:txBody>
                    <a:bodyPr wrap="square" lIns="18288" rIns="18288" tIns="36576" bIns="36576"/>
                    <a:lstStyle/>
                    <a:p>
                      <a:pPr algn="ctr">
                        <a:defRPr sz="1000" b="1">
                          <a:solidFill>
                            <a:srgbClr val="0F172A"/>
                          </a:solidFill>
                          <a:latin typeface="Microsoft YaHei"/>
                        </a:defRPr>
                      </a:pPr>
                      <a:r>
                        <a:t>9.73 ms</a:t>
                      </a:r>
                    </a:p>
                  </a:txBody>
                  <a:tcPr>
                    <a:solidFill>
                      <a:srgbClr val="FFFFFF"/>
                    </a:solidFill>
                  </a:tcPr>
                </a:tc>
              </a:tr>
              <a:tr h="427940">
                <a:tc>
                  <a:txBody>
                    <a:bodyPr wrap="square" lIns="18288" rIns="18288" tIns="36576" bIns="36576"/>
                    <a:lstStyle/>
                    <a:p>
                      <a:pPr algn="ctr">
                        <a:defRPr sz="1000" b="1">
                          <a:solidFill>
                            <a:srgbClr val="0F172A"/>
                          </a:solidFill>
                          <a:latin typeface="Microsoft YaHei"/>
                        </a:defRPr>
                      </a:pPr>
                      <a:r>
                        <a:t>90% 固定重度库</a:t>
                      </a:r>
                    </a:p>
                  </a:txBody>
                  <a:tcPr>
                    <a:solidFill>
                      <a:srgbClr val="F1F5F9"/>
                    </a:solidFill>
                  </a:tcPr>
                </a:tc>
                <a:tc>
                  <a:txBody>
                    <a:bodyPr wrap="square" lIns="18288" rIns="18288" tIns="36576" bIns="36576"/>
                    <a:lstStyle/>
                    <a:p>
                      <a:pPr algn="ctr">
                        <a:defRPr sz="1000">
                          <a:solidFill>
                            <a:srgbClr val="0F172A"/>
                          </a:solidFill>
                          <a:latin typeface="Microsoft YaHei"/>
                        </a:defRPr>
                      </a:pPr>
                      <a:r>
                        <a:t>71.6%</a:t>
                      </a:r>
                    </a:p>
                  </a:txBody>
                  <a:tcPr>
                    <a:solidFill>
                      <a:srgbClr val="F1F5F9"/>
                    </a:solidFill>
                  </a:tcPr>
                </a:tc>
                <a:tc>
                  <a:txBody>
                    <a:bodyPr wrap="square" lIns="18288" rIns="18288" tIns="36576" bIns="36576"/>
                    <a:lstStyle/>
                    <a:p>
                      <a:pPr algn="ctr">
                        <a:defRPr sz="1000">
                          <a:solidFill>
                            <a:srgbClr val="0F172A"/>
                          </a:solidFill>
                          <a:latin typeface="Microsoft YaHei"/>
                        </a:defRPr>
                      </a:pPr>
                      <a:r>
                        <a:t>33.78 ms</a:t>
                      </a:r>
                    </a:p>
                  </a:txBody>
                  <a:tcPr>
                    <a:solidFill>
                      <a:srgbClr val="F1F5F9"/>
                    </a:solidFill>
                  </a:tcPr>
                </a:tc>
                <a:tc>
                  <a:txBody>
                    <a:bodyPr wrap="square" lIns="18288" rIns="18288" tIns="36576" bIns="36576"/>
                    <a:lstStyle/>
                    <a:p>
                      <a:pPr algn="ctr">
                        <a:defRPr sz="1000">
                          <a:solidFill>
                            <a:srgbClr val="0F172A"/>
                          </a:solidFill>
                          <a:latin typeface="Microsoft YaHei"/>
                        </a:defRPr>
                      </a:pPr>
                      <a:r>
                        <a:t>84.7%</a:t>
                      </a:r>
                    </a:p>
                  </a:txBody>
                  <a:tcPr>
                    <a:solidFill>
                      <a:srgbClr val="F1F5F9"/>
                    </a:solidFill>
                  </a:tcPr>
                </a:tc>
                <a:tc>
                  <a:txBody>
                    <a:bodyPr wrap="square" lIns="18288" rIns="18288" tIns="36576" bIns="36576"/>
                    <a:lstStyle/>
                    <a:p>
                      <a:pPr algn="ctr">
                        <a:defRPr sz="1000">
                          <a:solidFill>
                            <a:srgbClr val="0F172A"/>
                          </a:solidFill>
                          <a:latin typeface="Microsoft YaHei"/>
                        </a:defRPr>
                      </a:pPr>
                      <a:r>
                        <a:t>21.56 ms</a:t>
                      </a:r>
                    </a:p>
                  </a:txBody>
                  <a:tcPr>
                    <a:solidFill>
                      <a:srgbClr val="F1F5F9"/>
                    </a:solidFill>
                  </a:tcPr>
                </a:tc>
                <a:tc>
                  <a:txBody>
                    <a:bodyPr wrap="square" lIns="18288" rIns="18288" tIns="36576" bIns="36576"/>
                    <a:lstStyle/>
                    <a:p>
                      <a:pPr algn="ctr">
                        <a:defRPr sz="1000" b="1">
                          <a:solidFill>
                            <a:srgbClr val="1D4ED8"/>
                          </a:solidFill>
                          <a:latin typeface="Microsoft YaHei"/>
                        </a:defRPr>
                      </a:pPr>
                      <a:r>
                        <a:t>36.2%</a:t>
                      </a:r>
                    </a:p>
                  </a:txBody>
                  <a:tcPr>
                    <a:solidFill>
                      <a:srgbClr val="F1F5F9"/>
                    </a:solidFill>
                  </a:tcPr>
                </a:tc>
                <a:tc>
                  <a:txBody>
                    <a:bodyPr wrap="square" lIns="18288" rIns="18288" tIns="36576" bIns="36576"/>
                    <a:lstStyle/>
                    <a:p>
                      <a:pPr algn="ctr">
                        <a:defRPr sz="1000" b="1">
                          <a:solidFill>
                            <a:srgbClr val="0F172A"/>
                          </a:solidFill>
                          <a:latin typeface="Microsoft YaHei"/>
                        </a:defRPr>
                      </a:pPr>
                      <a:r>
                        <a:t>12.22 ms</a:t>
                      </a:r>
                    </a:p>
                  </a:txBody>
                  <a:tcPr>
                    <a:solidFill>
                      <a:srgbClr val="F1F5F9"/>
                    </a:solidFill>
                  </a:tcPr>
                </a:tc>
              </a:tr>
            </a:tbl>
          </a:graphicData>
        </a:graphic>
      </p:graphicFrame>
      <p:sp>
        <p:nvSpPr>
          <p:cNvPr id="7" name="Rectangle 6"/>
          <p:cNvSpPr/>
          <p:nvPr/>
        </p:nvSpPr>
        <p:spPr>
          <a:xfrm>
            <a:off x="7025335" y="1060704"/>
            <a:ext cx="4617720" cy="4791456"/>
          </a:xfrm>
          <a:prstGeom prst="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62495" y="1133856"/>
            <a:ext cx="4343400" cy="457200"/>
          </a:xfrm>
          <a:prstGeom prst="rect">
            <a:avLst/>
          </a:prstGeom>
          <a:noFill/>
        </p:spPr>
        <p:txBody>
          <a:bodyPr wrap="square" lIns="0" tIns="0" rIns="0" bIns="0">
            <a:spAutoFit/>
          </a:bodyPr>
          <a:lstStyle/>
          <a:p>
            <a:pPr>
              <a:defRPr sz="1200" b="1">
                <a:solidFill>
                  <a:srgbClr val="1D4ED8"/>
                </a:solidFill>
                <a:latin typeface="Microsoft YaHei"/>
              </a:defRPr>
            </a:pPr>
            <a:r>
              <a:t>2. 50% 场景 7.24 ms 收益顺序增量计算过程</a:t>
            </a:r>
          </a:p>
          <a:p>
            <a:pPr>
              <a:spcBef>
                <a:spcPts val="100"/>
              </a:spcBef>
              <a:defRPr sz="950">
                <a:solidFill>
                  <a:srgbClr val="475569"/>
                </a:solidFill>
                <a:latin typeface="Microsoft YaHei"/>
              </a:defRPr>
            </a:pPr>
            <a:r>
              <a:t>严密三步增量归因计算公式，确立研发投资优先级</a:t>
            </a:r>
          </a:p>
        </p:txBody>
      </p:sp>
      <p:graphicFrame>
        <p:nvGraphicFramePr>
          <p:cNvPr id="9" name="Table 8"/>
          <p:cNvGraphicFramePr>
            <a:graphicFrameLocks noGrp="1"/>
          </p:cNvGraphicFramePr>
          <p:nvPr/>
        </p:nvGraphicFramePr>
        <p:xfrm>
          <a:off x="7162495" y="1609344"/>
          <a:ext cx="4343400" cy="2148840"/>
        </p:xfrm>
        <a:graphic>
          <a:graphicData uri="http://schemas.openxmlformats.org/drawingml/2006/table">
            <a:tbl>
              <a:tblPr firstRow="1" bandRow="1">
                <a:tableStyleId>{5C22544A-7EE6-4342-B048-85BDC9FD1C3A}</a:tableStyleId>
              </a:tblPr>
              <a:tblGrid>
                <a:gridCol w="1325880"/>
                <a:gridCol w="502920"/>
                <a:gridCol w="594360"/>
                <a:gridCol w="1920240"/>
              </a:tblGrid>
              <a:tr h="537210">
                <a:tc>
                  <a:txBody>
                    <a:bodyPr wrap="square" lIns="36576" rIns="36576" tIns="27432" bIns="27432"/>
                    <a:lstStyle/>
                    <a:p>
                      <a:pPr algn="ctr">
                        <a:defRPr sz="950" b="1">
                          <a:solidFill>
                            <a:srgbClr val="FFFFFF"/>
                          </a:solidFill>
                          <a:latin typeface="Microsoft YaHei"/>
                        </a:defRPr>
                      </a:pPr>
                      <a:r>
                        <a:t>收益归因环节</a:t>
                      </a:r>
                    </a:p>
                  </a:txBody>
                  <a:tcPr>
                    <a:solidFill>
                      <a:srgbClr val="1E3A8A"/>
                    </a:solidFill>
                  </a:tcPr>
                </a:tc>
                <a:tc>
                  <a:txBody>
                    <a:bodyPr wrap="square" lIns="36576" rIns="36576" tIns="27432" bIns="27432"/>
                    <a:lstStyle/>
                    <a:p>
                      <a:pPr algn="ctr">
                        <a:defRPr sz="950" b="1">
                          <a:solidFill>
                            <a:srgbClr val="FFFFFF"/>
                          </a:solidFill>
                          <a:latin typeface="Microsoft YaHei"/>
                        </a:defRPr>
                      </a:pPr>
                      <a:r>
                        <a:t>占比</a:t>
                      </a:r>
                    </a:p>
                  </a:txBody>
                  <a:tcPr>
                    <a:solidFill>
                      <a:srgbClr val="1E3A8A"/>
                    </a:solidFill>
                  </a:tcPr>
                </a:tc>
                <a:tc>
                  <a:txBody>
                    <a:bodyPr wrap="square" lIns="36576" rIns="36576" tIns="27432" bIns="27432"/>
                    <a:lstStyle/>
                    <a:p>
                      <a:pPr algn="ctr">
                        <a:defRPr sz="950" b="1">
                          <a:solidFill>
                            <a:srgbClr val="FFFFFF"/>
                          </a:solidFill>
                          <a:latin typeface="Microsoft YaHei"/>
                        </a:defRPr>
                      </a:pPr>
                      <a:r>
                        <a:t>节省</a:t>
                      </a:r>
                    </a:p>
                  </a:txBody>
                  <a:tcPr>
                    <a:solidFill>
                      <a:srgbClr val="1E3A8A"/>
                    </a:solidFill>
                  </a:tcPr>
                </a:tc>
                <a:tc>
                  <a:txBody>
                    <a:bodyPr wrap="square" lIns="36576" rIns="36576" tIns="27432" bIns="27432"/>
                    <a:lstStyle/>
                    <a:p>
                      <a:pPr algn="ctr">
                        <a:defRPr sz="950" b="1">
                          <a:solidFill>
                            <a:srgbClr val="FFFFFF"/>
                          </a:solidFill>
                          <a:latin typeface="Microsoft YaHei"/>
                        </a:defRPr>
                      </a:pPr>
                      <a:r>
                        <a:t>精确计算公式与技术措施</a:t>
                      </a:r>
                    </a:p>
                  </a:txBody>
                  <a:tcPr>
                    <a:solidFill>
                      <a:srgbClr val="1E3A8A"/>
                    </a:solidFill>
                  </a:tcPr>
                </a:tc>
              </a:tr>
              <a:tr h="537210">
                <a:tc>
                  <a:txBody>
                    <a:bodyPr wrap="square" lIns="36576" rIns="36576" tIns="27432" bIns="27432"/>
                    <a:lstStyle/>
                    <a:p>
                      <a:pPr algn="ctr">
                        <a:lnSpc>
                          <a:spcPct val="118000"/>
                        </a:lnSpc>
                        <a:defRPr sz="900" b="1">
                          <a:solidFill>
                            <a:srgbClr val="1E3A8A"/>
                          </a:solidFill>
                          <a:latin typeface="Microsoft YaHei"/>
                        </a:defRPr>
                      </a:pPr>
                      <a:r>
                        <a:t>Step 1: 控制面开销节省</a:t>
                      </a:r>
                    </a:p>
                  </a:txBody>
                  <a:tcPr>
                    <a:solidFill>
                      <a:srgbClr val="FFFFFF"/>
                    </a:solidFill>
                  </a:tcPr>
                </a:tc>
                <a:tc>
                  <a:txBody>
                    <a:bodyPr wrap="square" lIns="36576" rIns="36576" tIns="27432" bIns="27432"/>
                    <a:lstStyle/>
                    <a:p>
                      <a:pPr algn="ctr">
                        <a:lnSpc>
                          <a:spcPct val="118000"/>
                        </a:lnSpc>
                        <a:defRPr sz="900" b="1">
                          <a:solidFill>
                            <a:srgbClr val="0F172A"/>
                          </a:solidFill>
                          <a:latin typeface="Microsoft YaHei"/>
                        </a:defRPr>
                      </a:pPr>
                      <a:r>
                        <a:t>14%</a:t>
                      </a:r>
                    </a:p>
                  </a:txBody>
                  <a:tcPr>
                    <a:solidFill>
                      <a:srgbClr val="FFFFFF"/>
                    </a:solidFill>
                  </a:tcPr>
                </a:tc>
                <a:tc>
                  <a:txBody>
                    <a:bodyPr wrap="square" lIns="36576" rIns="36576" tIns="27432" bIns="27432"/>
                    <a:lstStyle/>
                    <a:p>
                      <a:pPr algn="ctr">
                        <a:lnSpc>
                          <a:spcPct val="118000"/>
                        </a:lnSpc>
                        <a:defRPr sz="900" b="1">
                          <a:solidFill>
                            <a:srgbClr val="0F172A"/>
                          </a:solidFill>
                          <a:latin typeface="Microsoft YaHei"/>
                        </a:defRPr>
                      </a:pPr>
                      <a:r>
                        <a:t>1.03 ms</a:t>
                      </a:r>
                    </a:p>
                  </a:txBody>
                  <a:tcPr>
                    <a:solidFill>
                      <a:srgbClr val="FFFFFF"/>
                    </a:solidFill>
                  </a:tcPr>
                </a:tc>
                <a:tc>
                  <a:txBody>
                    <a:bodyPr wrap="square" lIns="36576" rIns="36576" tIns="27432" bIns="27432"/>
                    <a:lstStyle/>
                    <a:p>
                      <a:pPr>
                        <a:lnSpc>
                          <a:spcPct val="118000"/>
                        </a:lnSpc>
                        <a:defRPr sz="900">
                          <a:solidFill>
                            <a:srgbClr val="0F172A"/>
                          </a:solidFill>
                          <a:latin typeface="Microsoft YaHei"/>
                        </a:defRPr>
                      </a:pPr>
                      <a:r>
                        <a:t>Δ1 = 1.600 - 0.575 ms (快路径)</a:t>
                      </a:r>
                      <a:br/>
                      <a:r>
                        <a:t>UBMEM 共享内存查表与描述符直发</a:t>
                      </a:r>
                    </a:p>
                  </a:txBody>
                  <a:tcPr>
                    <a:solidFill>
                      <a:srgbClr val="FFFFFF"/>
                    </a:solidFill>
                  </a:tcPr>
                </a:tc>
              </a:tr>
              <a:tr h="537210">
                <a:tc>
                  <a:txBody>
                    <a:bodyPr wrap="square" lIns="36576" rIns="36576" tIns="27432" bIns="27432"/>
                    <a:lstStyle/>
                    <a:p>
                      <a:pPr algn="ctr">
                        <a:lnSpc>
                          <a:spcPct val="118000"/>
                        </a:lnSpc>
                        <a:defRPr sz="900" b="1">
                          <a:solidFill>
                            <a:srgbClr val="1E3A8A"/>
                          </a:solidFill>
                          <a:latin typeface="Microsoft YaHei"/>
                        </a:defRPr>
                      </a:pPr>
                      <a:r>
                        <a:t>Step 2: 正价值转化提升</a:t>
                      </a:r>
                    </a:p>
                  </a:txBody>
                  <a:tcPr>
                    <a:solidFill>
                      <a:srgbClr val="FFFFFF"/>
                    </a:solidFill>
                  </a:tcPr>
                </a:tc>
                <a:tc>
                  <a:txBody>
                    <a:bodyPr wrap="square" lIns="36576" rIns="36576" tIns="27432" bIns="27432"/>
                    <a:lstStyle/>
                    <a:p>
                      <a:pPr algn="ctr">
                        <a:lnSpc>
                          <a:spcPct val="118000"/>
                        </a:lnSpc>
                        <a:defRPr sz="900" b="1">
                          <a:solidFill>
                            <a:srgbClr val="0F172A"/>
                          </a:solidFill>
                          <a:latin typeface="Microsoft YaHei"/>
                        </a:defRPr>
                      </a:pPr>
                      <a:r>
                        <a:t>50%</a:t>
                      </a:r>
                    </a:p>
                  </a:txBody>
                  <a:tcPr>
                    <a:solidFill>
                      <a:srgbClr val="FFFFFF"/>
                    </a:solidFill>
                  </a:tcPr>
                </a:tc>
                <a:tc>
                  <a:txBody>
                    <a:bodyPr wrap="square" lIns="36576" rIns="36576" tIns="27432" bIns="27432"/>
                    <a:lstStyle/>
                    <a:p>
                      <a:pPr algn="ctr">
                        <a:lnSpc>
                          <a:spcPct val="118000"/>
                        </a:lnSpc>
                        <a:defRPr sz="900" b="1">
                          <a:solidFill>
                            <a:srgbClr val="0F172A"/>
                          </a:solidFill>
                          <a:latin typeface="Microsoft YaHei"/>
                        </a:defRPr>
                      </a:pPr>
                      <a:r>
                        <a:t>3.63 ms</a:t>
                      </a:r>
                    </a:p>
                  </a:txBody>
                  <a:tcPr>
                    <a:solidFill>
                      <a:srgbClr val="FFFFFF"/>
                    </a:solidFill>
                  </a:tcPr>
                </a:tc>
                <a:tc>
                  <a:txBody>
                    <a:bodyPr wrap="square" lIns="36576" rIns="36576" tIns="27432" bIns="27432"/>
                    <a:lstStyle/>
                    <a:p>
                      <a:pPr>
                        <a:lnSpc>
                          <a:spcPct val="118000"/>
                        </a:lnSpc>
                        <a:defRPr sz="900">
                          <a:solidFill>
                            <a:srgbClr val="0F172A"/>
                          </a:solidFill>
                          <a:latin typeface="Microsoft YaHei"/>
                        </a:defRPr>
                      </a:pPr>
                      <a:r>
                        <a:t>Δ2 = (47.06%-39.80%) × (60-10ms)</a:t>
                      </a:r>
                      <a:br/>
                      <a:r>
                        <a:t>统一语义身份，大幅减少校验失败</a:t>
                      </a:r>
                    </a:p>
                  </a:txBody>
                  <a:tcPr>
                    <a:solidFill>
                      <a:srgbClr val="FFFFFF"/>
                    </a:solidFill>
                  </a:tcPr>
                </a:tc>
              </a:tr>
              <a:tr h="537210">
                <a:tc>
                  <a:txBody>
                    <a:bodyPr wrap="square" lIns="36576" rIns="36576" tIns="27432" bIns="27432"/>
                    <a:lstStyle/>
                    <a:p>
                      <a:pPr algn="ctr">
                        <a:lnSpc>
                          <a:spcPct val="118000"/>
                        </a:lnSpc>
                        <a:defRPr sz="900" b="1">
                          <a:solidFill>
                            <a:srgbClr val="1E3A8A"/>
                          </a:solidFill>
                          <a:latin typeface="Microsoft YaHei"/>
                        </a:defRPr>
                      </a:pPr>
                      <a:r>
                        <a:t>Step 3: 低长尾数据传输</a:t>
                      </a:r>
                    </a:p>
                  </a:txBody>
                  <a:tcPr>
                    <a:solidFill>
                      <a:srgbClr val="FFFFFF"/>
                    </a:solidFill>
                  </a:tcPr>
                </a:tc>
                <a:tc>
                  <a:txBody>
                    <a:bodyPr wrap="square" lIns="36576" rIns="36576" tIns="27432" bIns="27432"/>
                    <a:lstStyle/>
                    <a:p>
                      <a:pPr algn="ctr">
                        <a:lnSpc>
                          <a:spcPct val="118000"/>
                        </a:lnSpc>
                        <a:defRPr sz="900" b="1">
                          <a:solidFill>
                            <a:srgbClr val="0F172A"/>
                          </a:solidFill>
                          <a:latin typeface="Microsoft YaHei"/>
                        </a:defRPr>
                      </a:pPr>
                      <a:r>
                        <a:t>36%</a:t>
                      </a:r>
                    </a:p>
                  </a:txBody>
                  <a:tcPr>
                    <a:solidFill>
                      <a:srgbClr val="FFFFFF"/>
                    </a:solidFill>
                  </a:tcPr>
                </a:tc>
                <a:tc>
                  <a:txBody>
                    <a:bodyPr wrap="square" lIns="36576" rIns="36576" tIns="27432" bIns="27432"/>
                    <a:lstStyle/>
                    <a:p>
                      <a:pPr algn="ctr">
                        <a:lnSpc>
                          <a:spcPct val="118000"/>
                        </a:lnSpc>
                        <a:defRPr sz="900" b="1">
                          <a:solidFill>
                            <a:srgbClr val="0F172A"/>
                          </a:solidFill>
                          <a:latin typeface="Microsoft YaHei"/>
                        </a:defRPr>
                      </a:pPr>
                      <a:r>
                        <a:t>2.59 ms</a:t>
                      </a:r>
                    </a:p>
                  </a:txBody>
                  <a:tcPr>
                    <a:solidFill>
                      <a:srgbClr val="FFFFFF"/>
                    </a:solidFill>
                  </a:tcPr>
                </a:tc>
                <a:tc>
                  <a:txBody>
                    <a:bodyPr wrap="square" lIns="36576" rIns="36576" tIns="27432" bIns="27432"/>
                    <a:lstStyle/>
                    <a:p>
                      <a:pPr>
                        <a:lnSpc>
                          <a:spcPct val="118000"/>
                        </a:lnSpc>
                        <a:defRPr sz="900">
                          <a:solidFill>
                            <a:srgbClr val="0F172A"/>
                          </a:solidFill>
                          <a:latin typeface="Microsoft YaHei"/>
                        </a:defRPr>
                      </a:pPr>
                      <a:r>
                        <a:t>Δ3 = 47.06% × (10.0 - 4.5ms)</a:t>
                      </a:r>
                      <a:br/>
                      <a:r>
                        <a:t>URMA 正文直达与 QoS 隔离压减排队</a:t>
                      </a:r>
                    </a:p>
                  </a:txBody>
                  <a:tcPr>
                    <a:solidFill>
                      <a:srgbClr val="FFFFFF"/>
                    </a:solidFill>
                  </a:tcPr>
                </a:tc>
              </a:tr>
            </a:tbl>
          </a:graphicData>
        </a:graphic>
      </p:graphicFrame>
      <p:sp>
        <p:nvSpPr>
          <p:cNvPr id="10" name="Rectangle 9"/>
          <p:cNvSpPr/>
          <p:nvPr/>
        </p:nvSpPr>
        <p:spPr>
          <a:xfrm>
            <a:off x="7162495" y="4169664"/>
            <a:ext cx="4343400" cy="157276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53935" y="4224528"/>
            <a:ext cx="4160520" cy="1463040"/>
          </a:xfrm>
          <a:prstGeom prst="rect">
            <a:avLst/>
          </a:prstGeom>
          <a:noFill/>
        </p:spPr>
        <p:txBody>
          <a:bodyPr wrap="square" lIns="0" tIns="0" rIns="0" bIns="0">
            <a:spAutoFit/>
          </a:bodyPr>
          <a:lstStyle/>
          <a:p>
            <a:pPr>
              <a:defRPr sz="1050" b="1">
                <a:solidFill>
                  <a:srgbClr val="1E3A8A"/>
                </a:solidFill>
                <a:latin typeface="Microsoft YaHei"/>
              </a:defRPr>
            </a:pPr>
            <a:r>
              <a:t>【3. 盈亏平衡前缀长度门槛 (Breakeven Analysis)】</a:t>
            </a:r>
          </a:p>
          <a:p>
            <a:pPr>
              <a:spcBef>
                <a:spcPts val="200"/>
              </a:spcBef>
              <a:defRPr sz="950" b="1">
                <a:solidFill>
                  <a:srgbClr val="1D4ED8"/>
                </a:solidFill>
                <a:latin typeface="Consolas"/>
              </a:defRPr>
            </a:pPr>
            <a:r>
              <a:t>• 临界公式: p_min = T_fixed / (T_prefill - T_load)</a:t>
            </a:r>
          </a:p>
          <a:p>
            <a:pPr>
              <a:lnSpc>
                <a:spcPct val="120000"/>
              </a:lnSpc>
              <a:spcBef>
                <a:spcPts val="200"/>
              </a:spcBef>
              <a:defRPr sz="900">
                <a:solidFill>
                  <a:srgbClr val="475569"/>
                </a:solidFill>
                <a:latin typeface="Microsoft YaHei"/>
              </a:defRPr>
            </a:pPr>
            <a:r>
              <a:t>• 开源组合门槛: 1.6 / (60 - 10) = 3.2% (1K 需 32 tokens)</a:t>
            </a:r>
            <a:br/>
            <a:r>
              <a:t>• 本项目门槛:   0.575 / (60 - 4.5) = 1.0% (1K 仅需 10 tokens 即正收益)</a:t>
            </a:r>
            <a:br/>
            <a:r>
              <a:t>• 业务意义: 极低固定开销与直达传输让超短前缀亦能获得净加速！</a:t>
            </a:r>
          </a:p>
        </p:txBody>
      </p:sp>
      <p:sp>
        <p:nvSpPr>
          <p:cNvPr id="12" name="Rectangle 11"/>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量化测算结论：</a:t>
            </a:r>
            <a:r>
              <a:rPr sz="1150" b="0">
                <a:solidFill>
                  <a:srgbClr val="0F172A"/>
                </a:solidFill>
                <a:latin typeface="Microsoft YaHei"/>
              </a:rPr>
              <a:t>元数据加速是必要基础，但 </a:t>
            </a:r>
            <a:r>
              <a:rPr sz="1150" b="1">
                <a:solidFill>
                  <a:srgbClr val="DC2626"/>
                </a:solidFill>
                <a:latin typeface="Microsoft YaHei"/>
              </a:rPr>
              <a:t>主要收益 (86%) 来自高转化与低长尾有界传输</a:t>
            </a:r>
            <a:r>
              <a:rPr sz="1150" b="0">
                <a:solidFill>
                  <a:srgbClr val="0F172A"/>
                </a:solidFill>
                <a:latin typeface="Microsoft YaHei"/>
              </a:rPr>
              <a:t>；业务复用度越高，</a:t>
            </a:r>
            <a:r>
              <a:rPr sz="1150" b="1">
                <a:solidFill>
                  <a:srgbClr val="DC2626"/>
                </a:solidFill>
                <a:latin typeface="Microsoft YaHei"/>
              </a:rPr>
              <a:t>第一方软硬件协同优势越能被指数级放大</a:t>
            </a:r>
            <a:r>
              <a:rPr sz="1150" b="0">
                <a:solidFill>
                  <a:srgbClr val="0F172A"/>
                </a:solidFill>
                <a:latin typeface="Microsoft YaHei"/>
              </a:rPr>
              <a:t>！*(注: 测算模型)*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业务指标量化分析 (2/2)：P99 尾延迟安全包络、关键达成途径与 TCO 对账</a:t>
            </a:r>
          </a:p>
          <a:p>
            <a:pPr>
              <a:spcBef>
                <a:spcPts val="200"/>
              </a:spcBef>
              <a:defRPr sz="1000">
                <a:solidFill>
                  <a:srgbClr val="475569"/>
                </a:solidFill>
                <a:latin typeface="Microsoft YaHei"/>
              </a:defRPr>
            </a:pPr>
            <a:r>
              <a:t>拒绝单流 P50 局限，以高并发混压下的 P99 确定性守护与综合成本降低 ≥35% 为唯一交付标准</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09 / 10 页</a:t>
            </a:r>
          </a:p>
        </p:txBody>
      </p:sp>
      <p:sp>
        <p:nvSpPr>
          <p:cNvPr id="4" name="Rectangle 3"/>
          <p:cNvSpPr/>
          <p:nvPr/>
        </p:nvSpPr>
        <p:spPr>
          <a:xfrm>
            <a:off x="548640" y="1060704"/>
            <a:ext cx="3511296" cy="2029968"/>
          </a:xfrm>
          <a:prstGeom prst="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133856"/>
            <a:ext cx="3291840" cy="1883664"/>
          </a:xfrm>
          <a:prstGeom prst="rect">
            <a:avLst/>
          </a:prstGeom>
          <a:noFill/>
        </p:spPr>
        <p:txBody>
          <a:bodyPr wrap="square" lIns="0" tIns="0" rIns="0" bIns="0">
            <a:spAutoFit/>
          </a:bodyPr>
          <a:lstStyle/>
          <a:p>
            <a:pPr>
              <a:defRPr sz="1250" b="1">
                <a:solidFill>
                  <a:srgbClr val="1D4ED8"/>
                </a:solidFill>
                <a:latin typeface="Microsoft YaHei"/>
              </a:defRPr>
            </a:pPr>
            <a:r>
              <a:t>指标一：P99 尾延迟安全包络</a:t>
            </a:r>
          </a:p>
          <a:p>
            <a:pPr>
              <a:spcBef>
                <a:spcPts val="100"/>
              </a:spcBef>
              <a:spcAft>
                <a:spcPts val="200"/>
              </a:spcAft>
              <a:defRPr sz="1000" b="1">
                <a:solidFill>
                  <a:srgbClr val="475569"/>
                </a:solidFill>
                <a:latin typeface="Microsoft YaHei"/>
              </a:defRPr>
            </a:pPr>
            <a:r>
              <a:t>保障高并发与混压下的时延稳定性</a:t>
            </a:r>
          </a:p>
          <a:p>
            <a:pPr>
              <a:spcBef>
                <a:spcPts val="200"/>
              </a:spcBef>
              <a:defRPr sz="1100" b="1">
                <a:solidFill>
                  <a:srgbClr val="1E3A8A"/>
                </a:solidFill>
                <a:latin typeface="Microsoft YaHei"/>
              </a:defRPr>
            </a:pPr>
            <a:r>
              <a:t>✔ P99 TTFT 改善 ≥20%：</a:t>
            </a:r>
            <a:r>
              <a:rPr sz="1050" b="0">
                <a:solidFill>
                  <a:srgbClr val="475569"/>
                </a:solidFill>
                <a:latin typeface="Microsoft YaHei"/>
              </a:rPr>
              <a:t>URMA 硬件高优 QoS 队列隔离与前台带宽保留 (PVT-01)</a:t>
            </a:r>
          </a:p>
          <a:p>
            <a:pPr>
              <a:spcBef>
                <a:spcPts val="200"/>
              </a:spcBef>
              <a:defRPr sz="1100" b="1">
                <a:solidFill>
                  <a:srgbClr val="1E3A8A"/>
                </a:solidFill>
                <a:latin typeface="Microsoft YaHei"/>
              </a:defRPr>
            </a:pPr>
            <a:r>
              <a:t>✔ P99 TPOT 抖动 &lt; 3%：</a:t>
            </a:r>
            <a:r>
              <a:rPr sz="1050" b="0">
                <a:solidFill>
                  <a:srgbClr val="475569"/>
                </a:solidFill>
                <a:latin typeface="Microsoft YaHei"/>
              </a:rPr>
              <a:t>AICore 与 URMA 双 Stream 解耦流水 + FA 融合 (PVT-02)</a:t>
            </a:r>
          </a:p>
          <a:p>
            <a:pPr>
              <a:spcBef>
                <a:spcPts val="200"/>
              </a:spcBef>
              <a:defRPr sz="1100" b="1">
                <a:solidFill>
                  <a:srgbClr val="1E3A8A"/>
                </a:solidFill>
                <a:latin typeface="Microsoft YaHei"/>
              </a:defRPr>
            </a:pPr>
            <a:r>
              <a:t>✔ 传输 P99 膨胀 ≤ 2.0 倍：</a:t>
            </a:r>
            <a:r>
              <a:rPr sz="1050" b="0">
                <a:solidFill>
                  <a:srgbClr val="475569"/>
                </a:solidFill>
                <a:latin typeface="Microsoft YaHei"/>
              </a:rPr>
              <a:t>实时时延观测、队列深度监控与自适应重算熔断 (PVT-07)</a:t>
            </a:r>
          </a:p>
        </p:txBody>
      </p:sp>
      <p:sp>
        <p:nvSpPr>
          <p:cNvPr id="6" name="Rectangle 5"/>
          <p:cNvSpPr/>
          <p:nvPr/>
        </p:nvSpPr>
        <p:spPr>
          <a:xfrm>
            <a:off x="4288536" y="1060704"/>
            <a:ext cx="3511296" cy="2029968"/>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98264" y="1133856"/>
            <a:ext cx="3291840" cy="1883664"/>
          </a:xfrm>
          <a:prstGeom prst="rect">
            <a:avLst/>
          </a:prstGeom>
          <a:noFill/>
        </p:spPr>
        <p:txBody>
          <a:bodyPr wrap="square" lIns="0" tIns="0" rIns="0" bIns="0">
            <a:spAutoFit/>
          </a:bodyPr>
          <a:lstStyle/>
          <a:p>
            <a:pPr>
              <a:defRPr sz="1250" b="1">
                <a:solidFill>
                  <a:srgbClr val="1E3A8A"/>
                </a:solidFill>
                <a:latin typeface="Microsoft YaHei"/>
              </a:defRPr>
            </a:pPr>
            <a:r>
              <a:t>指标二：单位合格请求 TCO 显著优化</a:t>
            </a:r>
          </a:p>
          <a:p>
            <a:pPr>
              <a:spcBef>
                <a:spcPts val="100"/>
              </a:spcBef>
              <a:spcAft>
                <a:spcPts val="200"/>
              </a:spcAft>
              <a:defRPr sz="1000" b="1">
                <a:solidFill>
                  <a:srgbClr val="475569"/>
                </a:solidFill>
                <a:latin typeface="Microsoft YaHei"/>
              </a:defRPr>
            </a:pPr>
            <a:r>
              <a:t>TCO = 全生命周期总成本 / SLO 合格请求数</a:t>
            </a:r>
          </a:p>
          <a:p>
            <a:pPr>
              <a:spcBef>
                <a:spcPts val="200"/>
              </a:spcBef>
              <a:defRPr sz="1100" b="1">
                <a:solidFill>
                  <a:srgbClr val="1E3A8A"/>
                </a:solidFill>
                <a:latin typeface="Microsoft YaHei"/>
              </a:defRPr>
            </a:pPr>
            <a:r>
              <a:t>✔ 单位请求成本 ↓≥35%：</a:t>
            </a:r>
            <a:r>
              <a:rPr sz="1050" b="0">
                <a:solidFill>
                  <a:srgbClr val="475569"/>
                </a:solidFill>
                <a:latin typeface="Microsoft YaHei"/>
              </a:rPr>
              <a:t>Host Touch Budget = 0，单机解算密度提升 40% (PVT-01)</a:t>
            </a:r>
          </a:p>
          <a:p>
            <a:pPr>
              <a:spcBef>
                <a:spcPts val="200"/>
              </a:spcBef>
              <a:defRPr sz="1100" b="1">
                <a:solidFill>
                  <a:srgbClr val="1E3A8A"/>
                </a:solidFill>
                <a:latin typeface="Microsoft YaHei"/>
              </a:defRPr>
            </a:pPr>
            <a:r>
              <a:t>✔ NPU 算力浪费压降：</a:t>
            </a:r>
            <a:r>
              <a:rPr sz="1050" b="0">
                <a:solidFill>
                  <a:srgbClr val="475569"/>
                </a:solidFill>
                <a:latin typeface="Microsoft YaHei"/>
              </a:rPr>
              <a:t>PVT-04 前置动态 ROI 评估引擎，无收益转重算 (PVT-04)</a:t>
            </a:r>
          </a:p>
          <a:p>
            <a:pPr>
              <a:spcBef>
                <a:spcPts val="200"/>
              </a:spcBef>
              <a:defRPr sz="1100" b="1">
                <a:solidFill>
                  <a:srgbClr val="1E3A8A"/>
                </a:solidFill>
                <a:latin typeface="Microsoft YaHei"/>
              </a:defRPr>
            </a:pPr>
            <a:r>
              <a:t>✔ 服务目标合格率提升：</a:t>
            </a:r>
            <a:r>
              <a:rPr sz="1050" b="0">
                <a:solidFill>
                  <a:srgbClr val="475569"/>
                </a:solidFill>
                <a:latin typeface="Microsoft YaHei"/>
              </a:rPr>
              <a:t>尾部时延收敛将合格率由 95% 升至 98%，纯增收 3.1%</a:t>
            </a:r>
          </a:p>
        </p:txBody>
      </p:sp>
      <p:sp>
        <p:nvSpPr>
          <p:cNvPr id="8" name="Rectangle 7"/>
          <p:cNvSpPr/>
          <p:nvPr/>
        </p:nvSpPr>
        <p:spPr>
          <a:xfrm>
            <a:off x="8028432" y="1060704"/>
            <a:ext cx="3511296" cy="2029968"/>
          </a:xfrm>
          <a:prstGeom prst="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133856"/>
            <a:ext cx="3291840" cy="1883664"/>
          </a:xfrm>
          <a:prstGeom prst="rect">
            <a:avLst/>
          </a:prstGeom>
          <a:noFill/>
        </p:spPr>
        <p:txBody>
          <a:bodyPr wrap="square" lIns="0" tIns="0" rIns="0" bIns="0">
            <a:spAutoFit/>
          </a:bodyPr>
          <a:lstStyle/>
          <a:p>
            <a:pPr>
              <a:defRPr sz="1250" b="1">
                <a:solidFill>
                  <a:srgbClr val="047857"/>
                </a:solidFill>
                <a:latin typeface="Microsoft YaHei"/>
              </a:defRPr>
            </a:pPr>
            <a:r>
              <a:t>指标三：有效容量与零信任可靠性</a:t>
            </a:r>
          </a:p>
          <a:p>
            <a:pPr>
              <a:spcBef>
                <a:spcPts val="100"/>
              </a:spcBef>
              <a:spcAft>
                <a:spcPts val="200"/>
              </a:spcAft>
              <a:defRPr sz="1000" b="1">
                <a:solidFill>
                  <a:srgbClr val="475569"/>
                </a:solidFill>
                <a:latin typeface="Microsoft YaHei"/>
              </a:defRPr>
            </a:pPr>
            <a:r>
              <a:t>建立海量溢出池与 0 错误消费屏障</a:t>
            </a:r>
          </a:p>
          <a:p>
            <a:pPr>
              <a:spcBef>
                <a:spcPts val="200"/>
              </a:spcBef>
              <a:defRPr sz="1100" b="1">
                <a:solidFill>
                  <a:srgbClr val="1E3A8A"/>
                </a:solidFill>
                <a:latin typeface="Microsoft YaHei"/>
              </a:defRPr>
            </a:pPr>
            <a:r>
              <a:t>✔ HBM 有效容量 ↑≥30%：</a:t>
            </a:r>
            <a:r>
              <a:rPr sz="1050" b="0">
                <a:solidFill>
                  <a:srgbClr val="475569"/>
                </a:solidFill>
                <a:latin typeface="Microsoft YaHei"/>
              </a:rPr>
              <a:t>HBM ↔ SSD Direct PCIe DMA 建立分层溢出池 (PVT-05)</a:t>
            </a:r>
          </a:p>
          <a:p>
            <a:pPr>
              <a:spcBef>
                <a:spcPts val="200"/>
              </a:spcBef>
              <a:defRPr sz="1100" b="1">
                <a:solidFill>
                  <a:srgbClr val="1E3A8A"/>
                </a:solidFill>
                <a:latin typeface="Microsoft YaHei"/>
              </a:defRPr>
            </a:pPr>
            <a:r>
              <a:t>✔ 错误消费事故率 = 0：</a:t>
            </a:r>
            <a:r>
              <a:rPr sz="1050" b="0">
                <a:solidFill>
                  <a:srgbClr val="475569"/>
                </a:solidFill>
                <a:latin typeface="Microsoft YaHei"/>
              </a:rPr>
              <a:t>AttachHandle 凭证与 Lease 租约就绪屏障防护 (PVT-06)</a:t>
            </a:r>
          </a:p>
          <a:p>
            <a:pPr>
              <a:spcBef>
                <a:spcPts val="200"/>
              </a:spcBef>
              <a:defRPr sz="1100" b="1">
                <a:solidFill>
                  <a:srgbClr val="1E3A8A"/>
                </a:solidFill>
                <a:latin typeface="Microsoft YaHei"/>
              </a:defRPr>
            </a:pPr>
            <a:r>
              <a:t>✔ 负收益 / 迟到加载 &lt; 1%：</a:t>
            </a:r>
            <a:r>
              <a:rPr sz="1050" b="0">
                <a:solidFill>
                  <a:srgbClr val="475569"/>
                </a:solidFill>
                <a:latin typeface="Microsoft YaHei"/>
              </a:rPr>
              <a:t>多 TP Rank 原子并发组选路，消除跨卡等待 (PVT-04)</a:t>
            </a:r>
          </a:p>
        </p:txBody>
      </p:sp>
      <p:graphicFrame>
        <p:nvGraphicFramePr>
          <p:cNvPr id="10" name="Table 9"/>
          <p:cNvGraphicFramePr>
            <a:graphicFrameLocks noGrp="1"/>
          </p:cNvGraphicFramePr>
          <p:nvPr/>
        </p:nvGraphicFramePr>
        <p:xfrm>
          <a:off x="548640" y="3182112"/>
          <a:ext cx="11094415" cy="2688336"/>
        </p:xfrm>
        <a:graphic>
          <a:graphicData uri="http://schemas.openxmlformats.org/drawingml/2006/table">
            <a:tbl>
              <a:tblPr firstRow="1" bandRow="1">
                <a:tableStyleId>{5C22544A-7EE6-4342-B048-85BDC9FD1C3A}</a:tableStyleId>
              </a:tblPr>
              <a:tblGrid>
                <a:gridCol w="1828800"/>
                <a:gridCol w="2926080"/>
                <a:gridCol w="3108960"/>
                <a:gridCol w="3230575"/>
              </a:tblGrid>
              <a:tr h="672084">
                <a:tc>
                  <a:txBody>
                    <a:bodyPr wrap="square" lIns="54864" rIns="54864" tIns="36576" bIns="36576"/>
                    <a:lstStyle/>
                    <a:p>
                      <a:pPr algn="ctr">
                        <a:defRPr sz="1050" b="1">
                          <a:solidFill>
                            <a:srgbClr val="FFFFFF"/>
                          </a:solidFill>
                          <a:latin typeface="Microsoft YaHei"/>
                        </a:defRPr>
                      </a:pPr>
                      <a:r>
                        <a:t>TCO 核心对账维度</a:t>
                      </a:r>
                    </a:p>
                  </a:txBody>
                  <a:tcPr>
                    <a:solidFill>
                      <a:srgbClr val="1E3A8A"/>
                    </a:solidFill>
                  </a:tcPr>
                </a:tc>
                <a:tc>
                  <a:txBody>
                    <a:bodyPr wrap="square" lIns="54864" rIns="54864" tIns="36576" bIns="36576"/>
                    <a:lstStyle/>
                    <a:p>
                      <a:pPr algn="ctr">
                        <a:defRPr sz="1050" b="1">
                          <a:solidFill>
                            <a:srgbClr val="FFFFFF"/>
                          </a:solidFill>
                          <a:latin typeface="Microsoft YaHei"/>
                        </a:defRPr>
                      </a:pPr>
                      <a:r>
                        <a:t>传统开源粗放方案现状 (Open Source)</a:t>
                      </a:r>
                    </a:p>
                  </a:txBody>
                  <a:tcPr>
                    <a:solidFill>
                      <a:srgbClr val="1E3A8A"/>
                    </a:solidFill>
                  </a:tcPr>
                </a:tc>
                <a:tc>
                  <a:txBody>
                    <a:bodyPr wrap="square" lIns="54864" rIns="54864" tIns="36576" bIns="36576"/>
                    <a:lstStyle/>
                    <a:p>
                      <a:pPr algn="ctr">
                        <a:defRPr sz="1050" b="1">
                          <a:solidFill>
                            <a:srgbClr val="FFFFFF"/>
                          </a:solidFill>
                          <a:latin typeface="Microsoft YaHei"/>
                        </a:defRPr>
                      </a:pPr>
                      <a:r>
                        <a:t>本项目第一方软硬件协同方案 (Unified KV)</a:t>
                      </a:r>
                    </a:p>
                  </a:txBody>
                  <a:tcPr>
                    <a:solidFill>
                      <a:srgbClr val="1E3A8A"/>
                    </a:solidFill>
                  </a:tcPr>
                </a:tc>
                <a:tc>
                  <a:txBody>
                    <a:bodyPr wrap="square" lIns="54864" rIns="54864" tIns="36576" bIns="36576"/>
                    <a:lstStyle/>
                    <a:p>
                      <a:pPr algn="ctr">
                        <a:defRPr sz="1050" b="1">
                          <a:solidFill>
                            <a:srgbClr val="FFFFFF"/>
                          </a:solidFill>
                          <a:latin typeface="Microsoft YaHei"/>
                        </a:defRPr>
                      </a:pPr>
                      <a:r>
                        <a:t>客户业务端到端价值产出 (ROI)</a:t>
                      </a:r>
                    </a:p>
                  </a:txBody>
                  <a:tcPr>
                    <a:solidFill>
                      <a:srgbClr val="1E3A8A"/>
                    </a:solidFill>
                  </a:tcPr>
                </a:tc>
              </a:tr>
              <a:tr h="672084">
                <a:tc>
                  <a:txBody>
                    <a:bodyPr wrap="square" lIns="54864" rIns="54864" tIns="36576" bIns="36576"/>
                    <a:lstStyle/>
                    <a:p>
                      <a:pPr algn="ctr">
                        <a:lnSpc>
                          <a:spcPct val="122000"/>
                        </a:lnSpc>
                        <a:defRPr sz="1000" b="1">
                          <a:solidFill>
                            <a:srgbClr val="1E3A8A"/>
                          </a:solidFill>
                          <a:latin typeface="Microsoft YaHei"/>
                        </a:defRPr>
                      </a:pPr>
                      <a:r>
                        <a:t>1. NPU 算力利用</a:t>
                      </a:r>
                      <a:br/>
                      <a:r>
                        <a:t>(Compute Efficiency)</a:t>
                      </a:r>
                    </a:p>
                  </a:txBody>
                  <a:tcPr>
                    <a:solidFill>
                      <a:srgbClr val="FFFFFF"/>
                    </a:solidFill>
                  </a:tcPr>
                </a:tc>
                <a:tc>
                  <a:txBody>
                    <a:bodyPr wrap="square" lIns="54864" rIns="54864" tIns="36576" bIns="36576"/>
                    <a:lstStyle/>
                    <a:p>
                      <a:pPr>
                        <a:lnSpc>
                          <a:spcPct val="122000"/>
                        </a:lnSpc>
                        <a:defRPr sz="1000">
                          <a:solidFill>
                            <a:srgbClr val="0F172A"/>
                          </a:solidFill>
                          <a:latin typeface="Microsoft YaHei"/>
                        </a:defRPr>
                      </a:pPr>
                      <a:r>
                        <a:t>• 高并发下排队超时被动丢弃</a:t>
                      </a:r>
                      <a:br/>
                      <a:r>
                        <a:t>• 重复 Prefill 挤占前台算力</a:t>
                      </a:r>
                      <a:br/>
                      <a:r>
                        <a:t>• 慢节点引发 NPU 周期等待</a:t>
                      </a:r>
                    </a:p>
                  </a:txBody>
                  <a:tcPr>
                    <a:solidFill>
                      <a:srgbClr val="FFFFFF"/>
                    </a:solidFill>
                  </a:tcPr>
                </a:tc>
                <a:tc>
                  <a:txBody>
                    <a:bodyPr wrap="square" lIns="54864" rIns="54864" tIns="36576" bIns="36576"/>
                    <a:lstStyle/>
                    <a:p>
                      <a:pPr>
                        <a:lnSpc>
                          <a:spcPct val="122000"/>
                        </a:lnSpc>
                        <a:defRPr sz="1000">
                          <a:solidFill>
                            <a:srgbClr val="0F172A"/>
                          </a:solidFill>
                          <a:latin typeface="Microsoft YaHei"/>
                        </a:defRPr>
                      </a:pPr>
                      <a:r>
                        <a:t>• PVT-04 前置动态 ROI 判定，零描述符浪费</a:t>
                      </a:r>
                      <a:br/>
                      <a:r>
                        <a:t>• 50% 场景每请求省 4.36 ms Prefill</a:t>
                      </a:r>
                      <a:br/>
                      <a:r>
                        <a:t>• 算力流与传输流解耦流水重叠</a:t>
                      </a:r>
                    </a:p>
                  </a:txBody>
                  <a:tcPr>
                    <a:solidFill>
                      <a:srgbClr val="FFFFFF"/>
                    </a:solidFill>
                  </a:tcPr>
                </a:tc>
                <a:tc>
                  <a:txBody>
                    <a:bodyPr wrap="square" lIns="54864" rIns="54864" tIns="36576" bIns="36576"/>
                    <a:lstStyle/>
                    <a:p>
                      <a:pPr>
                        <a:lnSpc>
                          <a:spcPct val="122000"/>
                        </a:lnSpc>
                        <a:defRPr sz="1000">
                          <a:solidFill>
                            <a:srgbClr val="0F172A"/>
                          </a:solidFill>
                          <a:latin typeface="Microsoft YaHei"/>
                        </a:defRPr>
                      </a:pPr>
                      <a:r>
                        <a:t>• 每日千万请求节省 96.8 NPU 卡时</a:t>
                      </a:r>
                      <a:br/>
                      <a:r>
                        <a:t>• 算力利用率大幅释放</a:t>
                      </a:r>
                      <a:br/>
                      <a:r>
                        <a:t>• 相同卡数支撑更高业务 QPS</a:t>
                      </a:r>
                    </a:p>
                  </a:txBody>
                  <a:tcPr>
                    <a:solidFill>
                      <a:srgbClr val="FFFFFF"/>
                    </a:solidFill>
                  </a:tcPr>
                </a:tc>
              </a:tr>
              <a:tr h="672084">
                <a:tc>
                  <a:txBody>
                    <a:bodyPr wrap="square" lIns="54864" rIns="54864" tIns="36576" bIns="36576"/>
                    <a:lstStyle/>
                    <a:p>
                      <a:pPr algn="ctr">
                        <a:lnSpc>
                          <a:spcPct val="122000"/>
                        </a:lnSpc>
                        <a:defRPr sz="1000" b="1">
                          <a:solidFill>
                            <a:srgbClr val="1E3A8A"/>
                          </a:solidFill>
                          <a:latin typeface="Microsoft YaHei"/>
                        </a:defRPr>
                      </a:pPr>
                      <a:r>
                        <a:t>2. 服务器硬件投入</a:t>
                      </a:r>
                      <a:br/>
                      <a:r>
                        <a:t>(Server &amp; Memory)</a:t>
                      </a:r>
                    </a:p>
                  </a:txBody>
                  <a:tcPr>
                    <a:solidFill>
                      <a:srgbClr val="F1F5F9"/>
                    </a:solidFill>
                  </a:tcPr>
                </a:tc>
                <a:tc>
                  <a:txBody>
                    <a:bodyPr wrap="square" lIns="54864" rIns="54864" tIns="36576" bIns="36576"/>
                    <a:lstStyle/>
                    <a:p>
                      <a:pPr>
                        <a:lnSpc>
                          <a:spcPct val="122000"/>
                        </a:lnSpc>
                        <a:defRPr sz="1000">
                          <a:solidFill>
                            <a:srgbClr val="0F172A"/>
                          </a:solidFill>
                          <a:latin typeface="Microsoft YaHei"/>
                        </a:defRPr>
                      </a:pPr>
                      <a:r>
                        <a:t>• 依赖昂贵 Host 大容量 CPU / DRAM 中转</a:t>
                      </a:r>
                      <a:br/>
                      <a:r>
                        <a:t>• 单节点解算密度受制于 CPU Wall</a:t>
                      </a:r>
                      <a:br/>
                      <a:r>
                        <a:t>• HBM 显存孤岛与 OOM 抢占</a:t>
                      </a:r>
                    </a:p>
                  </a:txBody>
                  <a:tcPr>
                    <a:solidFill>
                      <a:srgbClr val="F1F5F9"/>
                    </a:solidFill>
                  </a:tcPr>
                </a:tc>
                <a:tc>
                  <a:txBody>
                    <a:bodyPr wrap="square" lIns="54864" rIns="54864" tIns="36576" bIns="36576"/>
                    <a:lstStyle/>
                    <a:p>
                      <a:pPr>
                        <a:lnSpc>
                          <a:spcPct val="122000"/>
                        </a:lnSpc>
                        <a:defRPr sz="1000">
                          <a:solidFill>
                            <a:srgbClr val="0F172A"/>
                          </a:solidFill>
                          <a:latin typeface="Microsoft YaHei"/>
                        </a:defRPr>
                      </a:pPr>
                      <a:r>
                        <a:t>• Host Payload Touch Budget = 0 铁律</a:t>
                      </a:r>
                      <a:br/>
                      <a:r>
                        <a:t>• HBM ↔ SSD Direct PCIe DMA 直达</a:t>
                      </a:r>
                      <a:br/>
                      <a:r>
                        <a:t>• 消除 CPU 内存拷贝与序列化损耗</a:t>
                      </a:r>
                    </a:p>
                  </a:txBody>
                  <a:tcPr>
                    <a:solidFill>
                      <a:srgbClr val="F1F5F9"/>
                    </a:solidFill>
                  </a:tcPr>
                </a:tc>
                <a:tc>
                  <a:txBody>
                    <a:bodyPr wrap="square" lIns="54864" rIns="54864" tIns="36576" bIns="36576"/>
                    <a:lstStyle/>
                    <a:p>
                      <a:pPr>
                        <a:lnSpc>
                          <a:spcPct val="122000"/>
                        </a:lnSpc>
                        <a:defRPr sz="1000">
                          <a:solidFill>
                            <a:srgbClr val="0F172A"/>
                          </a:solidFill>
                          <a:latin typeface="Microsoft YaHei"/>
                        </a:defRPr>
                      </a:pPr>
                      <a:r>
                        <a:t>• 单机 Host CPU / 内存配置大幅简化</a:t>
                      </a:r>
                      <a:br/>
                      <a:r>
                        <a:t>• 服务器硬件 Capex 降低 30% ~ 40%</a:t>
                      </a:r>
                      <a:br/>
                      <a:r>
                        <a:t>• 能耗 Opex 下降 25%</a:t>
                      </a:r>
                    </a:p>
                  </a:txBody>
                  <a:tcPr>
                    <a:solidFill>
                      <a:srgbClr val="F1F5F9"/>
                    </a:solidFill>
                  </a:tcPr>
                </a:tc>
              </a:tr>
              <a:tr h="672084">
                <a:tc>
                  <a:txBody>
                    <a:bodyPr wrap="square" lIns="54864" rIns="54864" tIns="36576" bIns="36576"/>
                    <a:lstStyle/>
                    <a:p>
                      <a:pPr algn="ctr">
                        <a:lnSpc>
                          <a:spcPct val="122000"/>
                        </a:lnSpc>
                        <a:defRPr sz="1000" b="1">
                          <a:solidFill>
                            <a:srgbClr val="1E3A8A"/>
                          </a:solidFill>
                          <a:latin typeface="Microsoft YaHei"/>
                        </a:defRPr>
                      </a:pPr>
                      <a:r>
                        <a:t>3. 服务目标合格率</a:t>
                      </a:r>
                      <a:br/>
                      <a:r>
                        <a:t>(SLO Qualified Rate)</a:t>
                      </a:r>
                    </a:p>
                  </a:txBody>
                  <a:tcPr>
                    <a:solidFill>
                      <a:srgbClr val="FFFFFF"/>
                    </a:solidFill>
                  </a:tcPr>
                </a:tc>
                <a:tc>
                  <a:txBody>
                    <a:bodyPr wrap="square" lIns="54864" rIns="54864" tIns="36576" bIns="36576"/>
                    <a:lstStyle/>
                    <a:p>
                      <a:pPr>
                        <a:lnSpc>
                          <a:spcPct val="122000"/>
                        </a:lnSpc>
                        <a:defRPr sz="1000">
                          <a:solidFill>
                            <a:srgbClr val="0F172A"/>
                          </a:solidFill>
                          <a:latin typeface="Microsoft YaHei"/>
                        </a:defRPr>
                      </a:pPr>
                      <a:r>
                        <a:t>• 仅保 P50，P99 尾延迟显著上升</a:t>
                      </a:r>
                      <a:br/>
                      <a:r>
                        <a:t>• 尾部超时引发客户端重试风暴</a:t>
                      </a:r>
                      <a:br/>
                      <a:r>
                        <a:t>• 业务合格率徘徊在 95% 左右</a:t>
                      </a:r>
                    </a:p>
                  </a:txBody>
                  <a:tcPr>
                    <a:solidFill>
                      <a:srgbClr val="FFFFFF"/>
                    </a:solidFill>
                  </a:tcPr>
                </a:tc>
                <a:tc>
                  <a:txBody>
                    <a:bodyPr wrap="square" lIns="54864" rIns="54864" tIns="36576" bIns="36576"/>
                    <a:lstStyle/>
                    <a:p>
                      <a:pPr>
                        <a:lnSpc>
                          <a:spcPct val="122000"/>
                        </a:lnSpc>
                        <a:defRPr sz="1000">
                          <a:solidFill>
                            <a:srgbClr val="0F172A"/>
                          </a:solidFill>
                          <a:latin typeface="Microsoft YaHei"/>
                        </a:defRPr>
                      </a:pPr>
                      <a:r>
                        <a:t>• 硬件 QoS 队列与拥塞安全包络控制</a:t>
                      </a:r>
                      <a:br/>
                      <a:r>
                        <a:t>• 传输 P99 膨胀控制在 2.0 倍以内</a:t>
                      </a:r>
                      <a:br/>
                      <a:r>
                        <a:t>• 杜绝负收益拉取与时延恶化</a:t>
                      </a:r>
                    </a:p>
                  </a:txBody>
                  <a:tcPr>
                    <a:solidFill>
                      <a:srgbClr val="FFFFFF"/>
                    </a:solidFill>
                  </a:tcPr>
                </a:tc>
                <a:tc>
                  <a:txBody>
                    <a:bodyPr wrap="square" lIns="54864" rIns="54864" tIns="36576" bIns="36576"/>
                    <a:lstStyle/>
                    <a:p>
                      <a:pPr>
                        <a:lnSpc>
                          <a:spcPct val="122000"/>
                        </a:lnSpc>
                        <a:defRPr sz="1000">
                          <a:solidFill>
                            <a:srgbClr val="0F172A"/>
                          </a:solidFill>
                          <a:latin typeface="Microsoft YaHei"/>
                        </a:defRPr>
                      </a:pPr>
                      <a:r>
                        <a:t>• 服务合格率由 95% 提升至 98%</a:t>
                      </a:r>
                      <a:br/>
                      <a:r>
                        <a:t>• 直接带来 3.1% 纯经济收益</a:t>
                      </a:r>
                      <a:br/>
                      <a:r>
                        <a:t>• 单位合格请求综合 TCO 降低 ≥35%</a:t>
                      </a:r>
                    </a:p>
                  </a:txBody>
                  <a:tcPr>
                    <a:solidFill>
                      <a:srgbClr val="FFFFFF"/>
                    </a:solidFill>
                  </a:tcPr>
                </a:tc>
              </a:tr>
            </a:tbl>
          </a:graphicData>
        </a:graphic>
      </p:graphicFrame>
      <p:sp>
        <p:nvSpPr>
          <p:cNvPr id="11" name="Rectangle 10"/>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对账交付标准：</a:t>
            </a:r>
            <a:r>
              <a:rPr sz="1150" b="0">
                <a:solidFill>
                  <a:srgbClr val="0F172A"/>
                </a:solidFill>
                <a:latin typeface="Microsoft YaHei"/>
              </a:rPr>
              <a:t>以 </a:t>
            </a:r>
            <a:r>
              <a:rPr sz="1150" b="1">
                <a:solidFill>
                  <a:srgbClr val="DC2626"/>
                </a:solidFill>
                <a:latin typeface="Microsoft YaHei"/>
              </a:rPr>
              <a:t>“合格业务事务产出”</a:t>
            </a:r>
            <a:r>
              <a:rPr sz="1150" b="0">
                <a:solidFill>
                  <a:srgbClr val="0F172A"/>
                </a:solidFill>
                <a:latin typeface="Microsoft YaHei"/>
              </a:rPr>
              <a:t> 和 </a:t>
            </a:r>
            <a:r>
              <a:rPr sz="1150" b="1">
                <a:solidFill>
                  <a:srgbClr val="DC2626"/>
                </a:solidFill>
                <a:latin typeface="Microsoft YaHei"/>
              </a:rPr>
              <a:t>“全生命周期单位成本 ↓≥35%”</a:t>
            </a:r>
            <a:r>
              <a:rPr sz="1150" b="0">
                <a:solidFill>
                  <a:srgbClr val="0F172A"/>
                </a:solidFill>
                <a:latin typeface="Microsoft YaHei"/>
              </a:rPr>
              <a:t> 作为终极对账口径，</a:t>
            </a:r>
            <a:r>
              <a:rPr sz="1150" b="1">
                <a:solidFill>
                  <a:srgbClr val="DC2626"/>
                </a:solidFill>
                <a:latin typeface="Microsoft YaHei"/>
              </a:rPr>
              <a:t>杜绝只算单流带宽不算端到端 TCO 的粗放评估</a:t>
            </a:r>
            <a:r>
              <a:rPr sz="1150" b="0">
                <a:solidFill>
                  <a:srgbClr val="0F172A"/>
                </a:solidFill>
                <a:latin typeface="Microsoft YaHei"/>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219456"/>
            <a:ext cx="11094415" cy="749808"/>
          </a:xfrm>
          <a:prstGeom prst="rect">
            <a:avLst/>
          </a:prstGeom>
          <a:noFill/>
        </p:spPr>
        <p:txBody>
          <a:bodyPr wrap="square" lIns="0" tIns="0" rIns="0" bIns="0">
            <a:spAutoFit/>
          </a:bodyPr>
          <a:lstStyle/>
          <a:p>
            <a:pPr>
              <a:defRPr sz="1900" b="1">
                <a:solidFill>
                  <a:srgbClr val="1E3A8A"/>
                </a:solidFill>
                <a:latin typeface="Microsoft YaHei"/>
              </a:defRPr>
            </a:pPr>
            <a:r>
              <a:t>交付节奏与原型验证门禁：以原型验证购买事实，以阶段门禁控制投资风险</a:t>
            </a:r>
          </a:p>
          <a:p>
            <a:pPr>
              <a:spcBef>
                <a:spcPts val="200"/>
              </a:spcBef>
              <a:defRPr sz="1000">
                <a:solidFill>
                  <a:srgbClr val="475569"/>
                </a:solidFill>
                <a:latin typeface="Microsoft YaHei"/>
              </a:defRPr>
            </a:pPr>
            <a:r>
              <a:t>4～5 周 W0～W3 敏捷推进，8 大必做 PVT + 3 项 CVT 证伪，按 Go / No-Go 逐级释放资源</a:t>
            </a:r>
          </a:p>
        </p:txBody>
      </p:sp>
      <p:sp>
        <p:nvSpPr>
          <p:cNvPr id="3" name="TextBox 2"/>
          <p:cNvSpPr txBox="1"/>
          <p:nvPr/>
        </p:nvSpPr>
        <p:spPr>
          <a:xfrm>
            <a:off x="10241280" y="219456"/>
            <a:ext cx="1401775" cy="320040"/>
          </a:xfrm>
          <a:prstGeom prst="rect">
            <a:avLst/>
          </a:prstGeom>
          <a:noFill/>
        </p:spPr>
        <p:txBody>
          <a:bodyPr wrap="none" lIns="0" tIns="0" rIns="0" bIns="0">
            <a:spAutoFit/>
          </a:bodyPr>
          <a:lstStyle/>
          <a:p>
            <a:pPr algn="r">
              <a:defRPr sz="1100" b="1">
                <a:solidFill>
                  <a:srgbClr val="1D4ED8"/>
                </a:solidFill>
                <a:latin typeface="Microsoft YaHei"/>
              </a:defRPr>
            </a:pPr>
            <a:r>
              <a:t>第 10 / 10 页</a:t>
            </a:r>
          </a:p>
        </p:txBody>
      </p:sp>
      <p:sp>
        <p:nvSpPr>
          <p:cNvPr id="4" name="Rectangle 3"/>
          <p:cNvSpPr/>
          <p:nvPr/>
        </p:nvSpPr>
        <p:spPr>
          <a:xfrm>
            <a:off x="548640" y="1060704"/>
            <a:ext cx="2633472" cy="4389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 y="1115568"/>
            <a:ext cx="2523744" cy="329184"/>
          </a:xfrm>
          <a:prstGeom prst="rect">
            <a:avLst/>
          </a:prstGeom>
          <a:noFill/>
        </p:spPr>
        <p:txBody>
          <a:bodyPr wrap="none" lIns="0" tIns="0" rIns="0" bIns="0">
            <a:spAutoFit/>
          </a:bodyPr>
          <a:lstStyle/>
          <a:p>
            <a:pPr algn="ctr">
              <a:defRPr sz="1100" b="1">
                <a:solidFill>
                  <a:srgbClr val="FFFFFF"/>
                </a:solidFill>
                <a:latin typeface="Microsoft YaHei"/>
              </a:defRPr>
            </a:pPr>
            <a:r>
              <a:t>W0 (第 1 周) 业务与传输底座</a:t>
            </a:r>
          </a:p>
        </p:txBody>
      </p:sp>
      <p:sp>
        <p:nvSpPr>
          <p:cNvPr id="6" name="Rectangle 5"/>
          <p:cNvSpPr/>
          <p:nvPr/>
        </p:nvSpPr>
        <p:spPr>
          <a:xfrm>
            <a:off x="3364992" y="1060704"/>
            <a:ext cx="2633472" cy="4389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19856" y="1115568"/>
            <a:ext cx="2523744" cy="329184"/>
          </a:xfrm>
          <a:prstGeom prst="rect">
            <a:avLst/>
          </a:prstGeom>
          <a:noFill/>
        </p:spPr>
        <p:txBody>
          <a:bodyPr wrap="none" lIns="0" tIns="0" rIns="0" bIns="0">
            <a:spAutoFit/>
          </a:bodyPr>
          <a:lstStyle/>
          <a:p>
            <a:pPr algn="ctr">
              <a:defRPr sz="1100" b="1">
                <a:solidFill>
                  <a:srgbClr val="FFFFFF"/>
                </a:solidFill>
                <a:latin typeface="Microsoft YaHei"/>
              </a:defRPr>
            </a:pPr>
            <a:r>
              <a:t>W1 (第 2~3 周) 语义编译与决策</a:t>
            </a:r>
          </a:p>
        </p:txBody>
      </p:sp>
      <p:sp>
        <p:nvSpPr>
          <p:cNvPr id="8" name="Rectangle 7"/>
          <p:cNvSpPr/>
          <p:nvPr/>
        </p:nvSpPr>
        <p:spPr>
          <a:xfrm>
            <a:off x="6181344" y="1060704"/>
            <a:ext cx="2633472" cy="4389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36208" y="1115568"/>
            <a:ext cx="2523744" cy="329184"/>
          </a:xfrm>
          <a:prstGeom prst="rect">
            <a:avLst/>
          </a:prstGeom>
          <a:noFill/>
        </p:spPr>
        <p:txBody>
          <a:bodyPr wrap="none" lIns="0" tIns="0" rIns="0" bIns="0">
            <a:spAutoFit/>
          </a:bodyPr>
          <a:lstStyle/>
          <a:p>
            <a:pPr algn="ctr">
              <a:defRPr sz="1100" b="1">
                <a:solidFill>
                  <a:srgbClr val="FFFFFF"/>
                </a:solidFill>
                <a:latin typeface="Microsoft YaHei"/>
              </a:defRPr>
            </a:pPr>
            <a:r>
              <a:t>W2 (第 3~4 周) 分层容量与资格</a:t>
            </a:r>
          </a:p>
        </p:txBody>
      </p:sp>
      <p:sp>
        <p:nvSpPr>
          <p:cNvPr id="10" name="Rectangle 9"/>
          <p:cNvSpPr/>
          <p:nvPr/>
        </p:nvSpPr>
        <p:spPr>
          <a:xfrm>
            <a:off x="8997696" y="1060704"/>
            <a:ext cx="2633472" cy="438912"/>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115568"/>
            <a:ext cx="2523744" cy="329184"/>
          </a:xfrm>
          <a:prstGeom prst="rect">
            <a:avLst/>
          </a:prstGeom>
          <a:noFill/>
        </p:spPr>
        <p:txBody>
          <a:bodyPr wrap="none" lIns="0" tIns="0" rIns="0" bIns="0">
            <a:spAutoFit/>
          </a:bodyPr>
          <a:lstStyle/>
          <a:p>
            <a:pPr algn="ctr">
              <a:defRPr sz="1100" b="1">
                <a:solidFill>
                  <a:srgbClr val="FFFFFF"/>
                </a:solidFill>
                <a:latin typeface="Microsoft YaHei"/>
              </a:defRPr>
            </a:pPr>
            <a:r>
              <a:t>W3 (第 4~5 周) 混压薄闭环门禁</a:t>
            </a:r>
          </a:p>
        </p:txBody>
      </p:sp>
      <p:sp>
        <p:nvSpPr>
          <p:cNvPr id="12" name="Rectangle 11"/>
          <p:cNvSpPr/>
          <p:nvPr/>
        </p:nvSpPr>
        <p:spPr>
          <a:xfrm>
            <a:off x="548640" y="1572768"/>
            <a:ext cx="2633472" cy="3090672"/>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20"/>
            <a:ext cx="2414016" cy="2944368"/>
          </a:xfrm>
          <a:prstGeom prst="rect">
            <a:avLst/>
          </a:prstGeom>
          <a:noFill/>
        </p:spPr>
        <p:txBody>
          <a:bodyPr wrap="square" lIns="0" tIns="0" rIns="0" bIns="0">
            <a:spAutoFit/>
          </a:bodyPr>
          <a:lstStyle/>
          <a:p>
            <a:pPr>
              <a:spcAft>
                <a:spcPts val="200"/>
              </a:spcAft>
              <a:defRPr sz="1150" b="1">
                <a:solidFill>
                  <a:srgbClr val="1E3A8A"/>
                </a:solidFill>
                <a:latin typeface="Microsoft YaHei"/>
              </a:defRPr>
            </a:pPr>
            <a:r>
              <a:t>业务空间与传输底座 (E0 / E1 门禁)</a:t>
            </a:r>
          </a:p>
          <a:p>
            <a:pPr>
              <a:lnSpc>
                <a:spcPct val="118000"/>
              </a:lnSpc>
              <a:spcBef>
                <a:spcPts val="400"/>
              </a:spcBef>
              <a:defRPr sz="1100" b="1">
                <a:solidFill>
                  <a:srgbClr val="0F172A"/>
                </a:solidFill>
                <a:latin typeface="Microsoft YaHei"/>
              </a:defRPr>
            </a:pPr>
            <a:r>
              <a:t>▶ PVT-00 业务收益评估：</a:t>
            </a:r>
            <a:r>
              <a:rPr sz="1050" b="0">
                <a:solidFill>
                  <a:srgbClr val="475569"/>
                </a:solidFill>
                <a:latin typeface="Microsoft YaHei"/>
              </a:rPr>
              <a:t>评估目标业务流量 Saved-Prefill 上限，冻结复用分布。</a:t>
            </a:r>
          </a:p>
          <a:p>
            <a:pPr>
              <a:lnSpc>
                <a:spcPct val="118000"/>
              </a:lnSpc>
              <a:spcBef>
                <a:spcPts val="400"/>
              </a:spcBef>
              <a:defRPr sz="1100" b="1">
                <a:solidFill>
                  <a:srgbClr val="0F172A"/>
                </a:solidFill>
                <a:latin typeface="Microsoft YaHei"/>
              </a:defRPr>
            </a:pPr>
            <a:r>
              <a:t>▶ PVT-01 零触碰底座：</a:t>
            </a:r>
            <a:r>
              <a:rPr sz="1050" b="0">
                <a:solidFill>
                  <a:srgbClr val="475569"/>
                </a:solidFill>
                <a:latin typeface="Microsoft YaHei"/>
              </a:rPr>
              <a:t>验证 HBM / DDR / SSD 真实可达性，建立 CapabilityMatrix。</a:t>
            </a:r>
          </a:p>
          <a:p>
            <a:pPr>
              <a:lnSpc>
                <a:spcPct val="118000"/>
              </a:lnSpc>
              <a:spcBef>
                <a:spcPts val="400"/>
              </a:spcBef>
              <a:defRPr sz="1100" b="1">
                <a:solidFill>
                  <a:srgbClr val="0F172A"/>
                </a:solidFill>
                <a:latin typeface="Microsoft YaHei"/>
              </a:defRPr>
            </a:pPr>
            <a:r>
              <a:t>▶ E0/E1 准入门槛：</a:t>
            </a:r>
            <a:r>
              <a:rPr sz="1050" b="0">
                <a:solidFill>
                  <a:srgbClr val="475569"/>
                </a:solidFill>
                <a:latin typeface="Microsoft YaHei"/>
              </a:rPr>
              <a:t>确认业务具备复用空间，底层硬件路径与真实观测闭环。</a:t>
            </a:r>
          </a:p>
        </p:txBody>
      </p:sp>
      <p:sp>
        <p:nvSpPr>
          <p:cNvPr id="14" name="Rectangle 13"/>
          <p:cNvSpPr/>
          <p:nvPr/>
        </p:nvSpPr>
        <p:spPr>
          <a:xfrm>
            <a:off x="3364992" y="1572768"/>
            <a:ext cx="2633472" cy="3090672"/>
          </a:xfrm>
          <a:prstGeom prst="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645920"/>
            <a:ext cx="2414016" cy="2944368"/>
          </a:xfrm>
          <a:prstGeom prst="rect">
            <a:avLst/>
          </a:prstGeom>
          <a:noFill/>
        </p:spPr>
        <p:txBody>
          <a:bodyPr wrap="square" lIns="0" tIns="0" rIns="0" bIns="0">
            <a:spAutoFit/>
          </a:bodyPr>
          <a:lstStyle/>
          <a:p>
            <a:pPr>
              <a:spcAft>
                <a:spcPts val="200"/>
              </a:spcAft>
              <a:defRPr sz="1150" b="1">
                <a:solidFill>
                  <a:srgbClr val="1D4ED8"/>
                </a:solidFill>
                <a:latin typeface="Microsoft YaHei"/>
              </a:defRPr>
            </a:pPr>
            <a:r>
              <a:t>语义编译与选路决策 (E1 / E2 门禁)</a:t>
            </a:r>
          </a:p>
          <a:p>
            <a:pPr>
              <a:lnSpc>
                <a:spcPct val="118000"/>
              </a:lnSpc>
              <a:spcBef>
                <a:spcPts val="400"/>
              </a:spcBef>
              <a:defRPr sz="1100" b="1">
                <a:solidFill>
                  <a:srgbClr val="0F172A"/>
                </a:solidFill>
                <a:latin typeface="Microsoft YaHei"/>
              </a:defRPr>
            </a:pPr>
            <a:r>
              <a:t>▶ PVT-02 DAG 流水编译：</a:t>
            </a:r>
            <a:r>
              <a:rPr sz="1050" b="0">
                <a:solidFill>
                  <a:srgbClr val="475569"/>
                </a:solidFill>
                <a:latin typeface="Microsoft YaHei"/>
              </a:rPr>
              <a:t>异构框架 Layout 编译器与异步 DAG 验证，重叠率 ≥60%。</a:t>
            </a:r>
          </a:p>
          <a:p>
            <a:pPr>
              <a:lnSpc>
                <a:spcPct val="118000"/>
              </a:lnSpc>
              <a:spcBef>
                <a:spcPts val="400"/>
              </a:spcBef>
              <a:defRPr sz="1100" b="1">
                <a:solidFill>
                  <a:srgbClr val="0F172A"/>
                </a:solidFill>
                <a:latin typeface="Microsoft YaHei"/>
              </a:defRPr>
            </a:pPr>
            <a:r>
              <a:t>▶ PVT-03 UBMEM 边界：</a:t>
            </a:r>
            <a:r>
              <a:rPr sz="1050" b="0">
                <a:solidFill>
                  <a:srgbClr val="475569"/>
                </a:solidFill>
                <a:latin typeface="Microsoft YaHei"/>
              </a:rPr>
              <a:t>验证 UBMEM 元数据快路径，完整查询 P99 &lt; 5 µs。</a:t>
            </a:r>
          </a:p>
          <a:p>
            <a:pPr>
              <a:lnSpc>
                <a:spcPct val="118000"/>
              </a:lnSpc>
              <a:spcBef>
                <a:spcPts val="400"/>
              </a:spcBef>
              <a:defRPr sz="1100" b="1">
                <a:solidFill>
                  <a:srgbClr val="0F172A"/>
                </a:solidFill>
                <a:latin typeface="Microsoft YaHei"/>
              </a:defRPr>
            </a:pPr>
            <a:r>
              <a:t>▶ PVT-04 动态决策引擎：</a:t>
            </a:r>
            <a:r>
              <a:rPr sz="1050" b="0">
                <a:solidFill>
                  <a:srgbClr val="475569"/>
                </a:solidFill>
                <a:latin typeface="Microsoft YaHei"/>
              </a:rPr>
              <a:t>验证 QueryPlan 微秒选路，动态决策准确率 &gt; 95%。</a:t>
            </a:r>
          </a:p>
        </p:txBody>
      </p:sp>
      <p:sp>
        <p:nvSpPr>
          <p:cNvPr id="16" name="Rectangle 15"/>
          <p:cNvSpPr/>
          <p:nvPr/>
        </p:nvSpPr>
        <p:spPr>
          <a:xfrm>
            <a:off x="6181344" y="1572768"/>
            <a:ext cx="2633472" cy="3090672"/>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645920"/>
            <a:ext cx="2414016" cy="2944368"/>
          </a:xfrm>
          <a:prstGeom prst="rect">
            <a:avLst/>
          </a:prstGeom>
          <a:noFill/>
        </p:spPr>
        <p:txBody>
          <a:bodyPr wrap="square" lIns="0" tIns="0" rIns="0" bIns="0">
            <a:spAutoFit/>
          </a:bodyPr>
          <a:lstStyle/>
          <a:p>
            <a:pPr>
              <a:spcAft>
                <a:spcPts val="200"/>
              </a:spcAft>
              <a:defRPr sz="1150" b="1">
                <a:solidFill>
                  <a:srgbClr val="1E3A8A"/>
                </a:solidFill>
                <a:latin typeface="Microsoft YaHei"/>
              </a:defRPr>
            </a:pPr>
            <a:r>
              <a:t>分层容量与消费资格 (E2 门禁)</a:t>
            </a:r>
          </a:p>
          <a:p>
            <a:pPr>
              <a:lnSpc>
                <a:spcPct val="118000"/>
              </a:lnSpc>
              <a:spcBef>
                <a:spcPts val="400"/>
              </a:spcBef>
              <a:defRPr sz="1100" b="1">
                <a:solidFill>
                  <a:srgbClr val="0F172A"/>
                </a:solidFill>
                <a:latin typeface="Microsoft YaHei"/>
              </a:defRPr>
            </a:pPr>
            <a:r>
              <a:t>▶ PVT-05 HBM-SSD 直达：</a:t>
            </a:r>
            <a:r>
              <a:rPr sz="1050" b="0">
                <a:solidFill>
                  <a:srgbClr val="475569"/>
                </a:solidFill>
                <a:latin typeface="Microsoft YaHei"/>
              </a:rPr>
              <a:t>验证 Direct PCIe DMA 容量主路径，DDR 角色退出准则。</a:t>
            </a:r>
          </a:p>
          <a:p>
            <a:pPr>
              <a:lnSpc>
                <a:spcPct val="118000"/>
              </a:lnSpc>
              <a:spcBef>
                <a:spcPts val="400"/>
              </a:spcBef>
              <a:defRPr sz="1100" b="1">
                <a:solidFill>
                  <a:srgbClr val="0F172A"/>
                </a:solidFill>
                <a:latin typeface="Microsoft YaHei"/>
              </a:defRPr>
            </a:pPr>
            <a:r>
              <a:t>▶ PVT-06 0 错误消费校验：</a:t>
            </a:r>
            <a:r>
              <a:rPr sz="1050" b="0">
                <a:solidFill>
                  <a:srgbClr val="475569"/>
                </a:solidFill>
                <a:latin typeface="Microsoft YaHei"/>
              </a:rPr>
              <a:t>验证 ConsumeEligibility，错误与陈旧消费精确为 0。</a:t>
            </a:r>
          </a:p>
          <a:p>
            <a:pPr>
              <a:lnSpc>
                <a:spcPct val="118000"/>
              </a:lnSpc>
              <a:spcBef>
                <a:spcPts val="400"/>
              </a:spcBef>
              <a:defRPr sz="1100" b="1">
                <a:solidFill>
                  <a:srgbClr val="0F172A"/>
                </a:solidFill>
                <a:latin typeface="Microsoft YaHei"/>
              </a:defRPr>
            </a:pPr>
            <a:r>
              <a:t>▶ E2 准入门槛：</a:t>
            </a:r>
            <a:r>
              <a:rPr sz="1050" b="0">
                <a:solidFill>
                  <a:srgbClr val="475569"/>
                </a:solidFill>
                <a:latin typeface="Microsoft YaHei"/>
              </a:rPr>
              <a:t>多介质净收益成立，租户隔离与消费安全 100% 达标。</a:t>
            </a:r>
          </a:p>
        </p:txBody>
      </p:sp>
      <p:sp>
        <p:nvSpPr>
          <p:cNvPr id="18" name="Rectangle 17"/>
          <p:cNvSpPr/>
          <p:nvPr/>
        </p:nvSpPr>
        <p:spPr>
          <a:xfrm>
            <a:off x="8997696" y="1572768"/>
            <a:ext cx="2633472" cy="3090672"/>
          </a:xfrm>
          <a:prstGeom prst="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1645920"/>
            <a:ext cx="2414016" cy="2944368"/>
          </a:xfrm>
          <a:prstGeom prst="rect">
            <a:avLst/>
          </a:prstGeom>
          <a:noFill/>
        </p:spPr>
        <p:txBody>
          <a:bodyPr wrap="square" lIns="0" tIns="0" rIns="0" bIns="0">
            <a:spAutoFit/>
          </a:bodyPr>
          <a:lstStyle/>
          <a:p>
            <a:pPr>
              <a:spcAft>
                <a:spcPts val="200"/>
              </a:spcAft>
              <a:defRPr sz="1150" b="1">
                <a:solidFill>
                  <a:srgbClr val="047857"/>
                </a:solidFill>
                <a:latin typeface="Microsoft YaHei"/>
              </a:defRPr>
            </a:pPr>
            <a:r>
              <a:t>薄闭环验收与总门禁 (E3 最终门禁)</a:t>
            </a:r>
          </a:p>
          <a:p>
            <a:pPr>
              <a:lnSpc>
                <a:spcPct val="118000"/>
              </a:lnSpc>
              <a:spcBef>
                <a:spcPts val="400"/>
              </a:spcBef>
              <a:defRPr sz="1100" b="1">
                <a:solidFill>
                  <a:srgbClr val="0F172A"/>
                </a:solidFill>
                <a:latin typeface="Microsoft YaHei"/>
              </a:defRPr>
            </a:pPr>
            <a:r>
              <a:t>▶ PVT-07 混压薄闭环：</a:t>
            </a:r>
            <a:r>
              <a:rPr sz="1050" b="0">
                <a:solidFill>
                  <a:srgbClr val="475569"/>
                </a:solidFill>
                <a:latin typeface="Microsoft YaHei"/>
              </a:rPr>
              <a:t>前后台混压端到端薄闭环与 SemanticQoS 干扰包络验证。</a:t>
            </a:r>
          </a:p>
          <a:p>
            <a:pPr>
              <a:lnSpc>
                <a:spcPct val="118000"/>
              </a:lnSpc>
              <a:spcBef>
                <a:spcPts val="400"/>
              </a:spcBef>
              <a:defRPr sz="1100" b="1">
                <a:solidFill>
                  <a:srgbClr val="0F172A"/>
                </a:solidFill>
                <a:latin typeface="Microsoft YaHei"/>
              </a:defRPr>
            </a:pPr>
            <a:r>
              <a:t>▶ 3 项 CVT 条件证伪：</a:t>
            </a:r>
            <a:r>
              <a:rPr sz="1050" b="0">
                <a:solidFill>
                  <a:srgbClr val="475569"/>
                </a:solidFill>
                <a:latin typeface="Microsoft YaHei"/>
              </a:rPr>
              <a:t>CVT-01 多播、CVT-02 原子迁移、CVT-03 DPU 卸载证伪。</a:t>
            </a:r>
          </a:p>
          <a:p>
            <a:pPr>
              <a:lnSpc>
                <a:spcPct val="118000"/>
              </a:lnSpc>
              <a:spcBef>
                <a:spcPts val="400"/>
              </a:spcBef>
              <a:defRPr sz="1100" b="1">
                <a:solidFill>
                  <a:srgbClr val="0F172A"/>
                </a:solidFill>
                <a:latin typeface="Microsoft YaHei"/>
              </a:defRPr>
            </a:pPr>
            <a:r>
              <a:t>▶ E3 投资释放门禁：</a:t>
            </a:r>
            <a:r>
              <a:rPr sz="1050" b="0">
                <a:solidFill>
                  <a:srgbClr val="475569"/>
                </a:solidFill>
                <a:latin typeface="Microsoft YaHei"/>
              </a:rPr>
              <a:t>相对开源在 P99 TTFT 与单位成本上形成显著收益，释放资源。</a:t>
            </a:r>
          </a:p>
        </p:txBody>
      </p:sp>
      <p:sp>
        <p:nvSpPr>
          <p:cNvPr id="20" name="Rectangle 19"/>
          <p:cNvSpPr/>
          <p:nvPr/>
        </p:nvSpPr>
        <p:spPr>
          <a:xfrm>
            <a:off x="548640" y="4736592"/>
            <a:ext cx="11094415" cy="1115568"/>
          </a:xfrm>
          <a:prstGeom prst="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782312"/>
            <a:ext cx="10820095" cy="1024128"/>
          </a:xfrm>
          <a:prstGeom prst="rect">
            <a:avLst/>
          </a:prstGeom>
          <a:noFill/>
        </p:spPr>
        <p:txBody>
          <a:bodyPr wrap="square" lIns="0" tIns="0" rIns="0" bIns="0">
            <a:spAutoFit/>
          </a:bodyPr>
          <a:lstStyle/>
          <a:p>
            <a:pPr>
              <a:defRPr sz="1150" b="1">
                <a:solidFill>
                  <a:srgbClr val="B45309"/>
                </a:solidFill>
                <a:latin typeface="Microsoft YaHei"/>
              </a:defRPr>
            </a:pPr>
            <a:r>
              <a:t>【严密 No-Go 止损与分阶段资源释放机制（安全可控立项）】</a:t>
            </a:r>
          </a:p>
          <a:p>
            <a:pPr>
              <a:lnSpc>
                <a:spcPct val="122000"/>
              </a:lnSpc>
              <a:spcBef>
                <a:spcPts val="300"/>
              </a:spcBef>
              <a:defRPr sz="1050">
                <a:solidFill>
                  <a:srgbClr val="0F172A"/>
                </a:solidFill>
                <a:latin typeface="Microsoft YaHei"/>
              </a:defRPr>
            </a:pPr>
            <a:r>
              <a:t>1. W0 止损: 若目标业务自然前缀复用空间 &lt; 15%，或底层硬件 URMA 路径不可达，立即终止全池研发，退回单机框架适配。</a:t>
            </a:r>
          </a:p>
          <a:p>
            <a:pPr>
              <a:lnSpc>
                <a:spcPct val="122000"/>
              </a:lnSpc>
              <a:spcBef>
                <a:spcPts val="300"/>
              </a:spcBef>
              <a:defRPr sz="1050">
                <a:solidFill>
                  <a:srgbClr val="0F172A"/>
                </a:solidFill>
                <a:latin typeface="Microsoft YaHei"/>
              </a:defRPr>
            </a:pPr>
            <a:r>
              <a:t>2. W1 止损: 若 UBMEM 控制面 P99 &gt; 20 µs 或 PVT-04 动态选路准确率 &lt; 85%，放弃跨节点选路，缩项为本地只读共享缓存。</a:t>
            </a:r>
          </a:p>
          <a:p>
            <a:pPr>
              <a:lnSpc>
                <a:spcPct val="122000"/>
              </a:lnSpc>
              <a:spcBef>
                <a:spcPts val="300"/>
              </a:spcBef>
              <a:defRPr sz="1050">
                <a:solidFill>
                  <a:srgbClr val="0F172A"/>
                </a:solidFill>
                <a:latin typeface="Microsoft YaHei"/>
              </a:defRPr>
            </a:pPr>
            <a:r>
              <a:t>3. W2/W3 止损: 若 HBM ↔ SSD DMA 时延劣于重算，或混压下 P99 TPOT 抖动 &gt; 5%，停止全介质分层，维持 HBM 独立管理并安全止损！</a:t>
            </a:r>
          </a:p>
        </p:txBody>
      </p:sp>
      <p:sp>
        <p:nvSpPr>
          <p:cNvPr id="22" name="Rectangle 21"/>
          <p:cNvSpPr/>
          <p:nvPr/>
        </p:nvSpPr>
        <p:spPr>
          <a:xfrm>
            <a:off x="548640" y="5943600"/>
            <a:ext cx="11094415" cy="676656"/>
          </a:xfrm>
          <a:prstGeom prst="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5943600"/>
            <a:ext cx="73152" cy="67665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998464"/>
            <a:ext cx="10820095" cy="566928"/>
          </a:xfrm>
          <a:prstGeom prst="rect">
            <a:avLst/>
          </a:prstGeom>
          <a:noFill/>
        </p:spPr>
        <p:txBody>
          <a:bodyPr wrap="square" lIns="0" tIns="0" rIns="0" bIns="0">
            <a:spAutoFit/>
          </a:bodyPr>
          <a:lstStyle/>
          <a:p>
            <a:pPr>
              <a:lnSpc>
                <a:spcPct val="125000"/>
              </a:lnSpc>
            </a:pPr>
            <a:r>
              <a:rPr sz="1200" b="1">
                <a:solidFill>
                  <a:srgbClr val="1D4ED8"/>
                </a:solidFill>
                <a:latin typeface="Microsoft YaHei"/>
              </a:rPr>
              <a:t>【核心结论】 </a:t>
            </a:r>
            <a:r>
              <a:rPr sz="1200" b="1">
                <a:solidFill>
                  <a:srgbClr val="1E3A8A"/>
                </a:solidFill>
                <a:latin typeface="Microsoft YaHei"/>
              </a:rPr>
              <a:t>立项决策建议：</a:t>
            </a:r>
            <a:r>
              <a:rPr sz="1150" b="0">
                <a:solidFill>
                  <a:srgbClr val="0F172A"/>
                </a:solidFill>
                <a:latin typeface="Microsoft YaHei"/>
              </a:rPr>
              <a:t>建议评审委员会批准 </a:t>
            </a:r>
            <a:r>
              <a:rPr sz="1150" b="1">
                <a:solidFill>
                  <a:srgbClr val="DC2626"/>
                </a:solidFill>
                <a:latin typeface="Microsoft YaHei"/>
              </a:rPr>
              <a:t>“有条件、分阶段”立项</a:t>
            </a:r>
            <a:r>
              <a:rPr sz="1150" b="0">
                <a:solidFill>
                  <a:srgbClr val="0F172A"/>
                </a:solidFill>
                <a:latin typeface="Microsoft YaHei"/>
              </a:rPr>
              <a:t>：先以 </a:t>
            </a:r>
            <a:r>
              <a:rPr sz="1150" b="1">
                <a:solidFill>
                  <a:srgbClr val="DC2626"/>
                </a:solidFill>
                <a:latin typeface="Microsoft YaHei"/>
              </a:rPr>
              <a:t>4～5 周原型验证购买关键事实</a:t>
            </a:r>
            <a:r>
              <a:rPr sz="1150" b="0">
                <a:solidFill>
                  <a:srgbClr val="0F172A"/>
                </a:solidFill>
                <a:latin typeface="Microsoft YaHei"/>
              </a:rPr>
              <a:t>，按 E0～E3 逐级释放投资，</a:t>
            </a:r>
            <a:r>
              <a:rPr sz="1150" b="1">
                <a:solidFill>
                  <a:srgbClr val="DC2626"/>
                </a:solidFill>
                <a:latin typeface="Microsoft YaHei"/>
              </a:rPr>
              <a:t>若假设不成立则安全止损缩项</a:t>
            </a:r>
            <a:r>
              <a:rPr sz="1150" b="0">
                <a:solidFill>
                  <a:srgbClr val="0F172A"/>
                </a:solidFill>
                <a:latin typeface="Microsoft YaHe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