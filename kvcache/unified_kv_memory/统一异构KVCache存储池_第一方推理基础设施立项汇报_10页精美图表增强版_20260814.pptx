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尊敬的各位领导、评审专家：大家好！今天由我代表统一内存与存储系统架构团队，就《统一异构 KVCache 存储池总体架构与关键技术》向各位做立项汇报。本项目聚焦在大模型在线推理场景下，通过软硬件深度协同打造面向国产 AI 硬件的统一异构状态管理与传输调度底座，实现首字延迟降低 ≥20%、显存有效容量提升 ≥30%、错误消费率为 0。下面由我向大家详细汇报为什么要做、产业格局、方案设计、量化收益与原型验证规划。</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各位评委专家：我们今天启动的是面向国产 AI 硬件的统一异构 KVCache 存储与传输调度底座工程。在大模型在线推理场景下，KVCache 已从框架内临时缓存升维为跨节点、跨介质流动的高价值执行状态。其生命周期管理直接决定首字生成延迟 TTFT、逐词生成抖动 TPOT 以及集群全生命周期 TCO。在国产硬件上，芯片、固件、驱动与推理框架之间的深度协同无法依赖通用开源社区。只有立足原厂软硬件协同自研，才能把 UBMEM 统一总线内存直通与 URMA 等底层通信原语转化为稳定的业务服务质量，实现首字延迟降低 ≥20%、HBM 有效容量提升 ≥30%、消费错误率归零。</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纵观全球芯片巨头动作，NVIDIA 通过 TensorRT-LLM、KVBM 与 NIM 打造闭环推理基础设施；AMD 收购 Nod.ai、Silo AI 与 ZT Systems，力推 NIXL 传输引擎与 LMCache；Intel 借力 OpenVINO 与 Xeon DDR5 / CXL 做溢出层；Arm 推出 KleidiAI 与 CXL 3.0 机架池。产业共性规律表明：Prefill-Decode 分离与 Host-Bypass 硬件卸载已成为行业事实标准。硬件厂商的竞争已从单芯片算力演进为推理软件与状态管理全栈闭环。国产硬件若缺乏软硬件协同底座，芯片硬件潜力将无法转化为可感知的端到端收益。</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评估现代 AI Infra 时，本项目与 Mooncake 代表了两种不同的设计哲学。Mooncake 本质上是通用的 64 KB 切片传输组件，通过多网卡打满写带宽；但这在前台读/拉取阶段引发了挑战——多节点并发回传容易触发交换机 Incast 拥塞与 P99 尾延迟抖动。而 Mooncake 公开 Benchmark 多采用 1-to-1 单流及 P50 中位数，避开了真实高并发下的长尾挑战。本项目 unified_kv_memory 建立 LLM 语义化异构内存池，以模型 Layer 语义优化物理拓扑，消除 Incast 拥塞。我们与 Mooncake / LMCache 保持接口兼容、能力互补，但在国产硬件深度适配与 SLA 兜底上独立闭环。</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请专家重点关注本页的代码分析与社区真实反馈证据。我们在 Mooncake 源码中找到了明确的工程事实：第一，在 types.h 传输结构体中，没有 layer_id 字段，导致 Layer 0 切片遇慢网卡时 NPU 计算流水阻塞；第二，在 admission_queue.cpp RFC #2519 中，官方在出队末端增加超时丢弃，以及在 multi_rail_scheduler 中增加软件令牌桶控速，表明其切片模式在高并发下可能导致网络拥塞与队列积压；第三，在 vLLM 社区 PR #10502 和 #10884 中，多家厂商反馈在 100+ 节点混压下 P99 尾延迟出现波动；第四，在 mooncake-store 源码中，大规模 HA 高可用和多租户配额仅保留了 Stub 空桩，难以直接用于生产。我们必须坚持软硬件协同自研底座！</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针对开源方案的不足，本项目建立了从通用传输组件向语义化统一异构内存池的架构升级。四大支柱包括：一、拓扑亲和映射，压减 80% 跨机架流量消除 Incast 拥塞；二、Host CPU 零数据拷贝（CPU 不参与正文搬运），消除 CPU 瓶颈；三、UBMEM 芯片总线级微秒共享内存，元数据时延压降至 5 µs 以内；四、HBM ↔ SSD 直达重塑容量主路径，TCO 显著下降。</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针对开源方案的不足，本项目构筑了三项关键能力：一、前置动态收益数学决策引擎，在查表阶段即完成成本判定，无收益主动转重算，零描述符浪费；二、AICore 与 URMA 双 Stream 物理流水重叠，隐藏 ≥60% 网络传输耗时；三、严格语义校验与租约机制，保障错误/脏数据消费事故率精确为 0。</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本项目构建了围绕 KVCache 语义的四大软硬件协同关键技术：一、语义驱动的物理拓扑映射，消除 Incast 拥塞；二、AICore 与 URMA 双 Stream 物理流水重叠，利用 FlashAttention 归一化融合隐藏 ≥60% 传输耗时；三、硬件 QoS 队列隔离与 Host CPU 零数据拷贝，守住 TPOT 抖动 &lt;3%；四、UBMEM 芯片总线级微秒共享内存，元数据控制面 P99 &lt;5 µs。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在量化指标测算中，我们严格依据数学模型给出了完整的推导过程：TTFT = T_other + T_fixed + T_prefill * (1 - c) + T_load * c。其中正价值消费率 c = r * u，u 是四级条件漏斗乘积：u1语义与候选保持率 * u2就绪/租约/多卡/权限通过率 * u3实际路径按时成功率 * u4载入正收益判定比。为什么本项目可以比开源做得更好？我们有四大针对性技术措施：第一，u1 从 90% 升至 97%，依赖统一语义身份、全局生命周期治理与缓存感知路由；第二，u2 从 95% 升至 99%，依赖共享内存元数据微秒快路径与显式租约机制，配合多卡原子保序；第三，u3 从 95% 升至 99%，依赖硬件能力感知矩阵与芯片直达传输，配合有界平滑回退，消灭 Incast 拥塞；第四，u4 从 98% 升至 99%，依赖前置动态收益数学评估引擎与实时队列观测，杜绝盲目拉取负收益。最终综合转化率从 79.60% 跃升至 94.12%。在 50% 典型场景下，端到端 7.24 ms 收益的顺序增量计算为：Step 1 控制面开销节省 1.03 ms (14%)，Step 2 正价值转化提升贡献 3.63 ms (50%)，Step 3 低长尾传输贡献 2.59 ms (36%)。高转化与低长尾传输贡献了 86% 的主要价值，为我们的软硬件协同研发确立了清晰的技术优先级。</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在在线推理场景中，P50 中位数无法代表真实体验，真正的技术挑战在于高并发混压下的 P99 尾延迟控制。本项目确立了清晰的达成手段：通过 URMA 硬件 QoS 队列保障 P99 TTFT 改善 ≥20%、通过双 Stream 流水保障 TPOT 抖动 &lt;3%、通过 CPU 零数据拷贝与 Direct DMA 降低单次有效请求成本 ≥35%、通过严格语义校验与租约机制实现 0 错误消费。同时弱化纯纸面数字估算，从算力利用、硬件投入与按时达标率三大维度阐明降低业务 ROI 的底层逻辑，用严密的技术手段支撑立项。</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最后汇报项目的交付节奏与验证门禁。我们提出 4～5 周敏捷推进方案：W0 验证业务复用上限与传输底座 (E0/E1)；W1 验证异步编译与 UBMEM / 动态选路 (E1/E2)；W2 验证 HBM-SSD 直达与 0 错误消费 (E2)；W3 完成前后台混压最小闭环全链路总门禁 (E3)。我们设立了清晰的 No-Go 止损条件：若无显著端到端增量则缩项止损。建议评审委员会批准分阶段立项推进！谢谢！</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以上是《统一异构 KVCache 存储池总体架构与关键技术》立项汇报的全部内容。我们始终坚持务实落地、数据驱动的工程师准则，通过 4~5 周敏捷原型验证摸清技术边界，按 E0~E3 门禁安全可控推进研发投入。非常感谢各位领导和评审专家的耐心聆听，诚挚期待各位专家的批评、指导与提问！</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548640" y="438912"/>
            <a:ext cx="3291840" cy="329184"/>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21792" y="475488"/>
            <a:ext cx="3145536" cy="274320"/>
          </a:xfrm>
          <a:prstGeom prst="rect">
            <a:avLst/>
          </a:prstGeom>
          <a:noFill/>
        </p:spPr>
        <p:txBody>
          <a:bodyPr wrap="none" lIns="0" tIns="0" rIns="0" bIns="0">
            <a:spAutoFit/>
          </a:bodyPr>
          <a:lstStyle/>
          <a:p>
            <a:pPr>
              <a:defRPr sz="1050" b="1">
                <a:solidFill>
                  <a:srgbClr val="1D4ED8"/>
                </a:solidFill>
                <a:latin typeface="Microsoft YaHei"/>
              </a:defRPr>
            </a:pPr>
            <a:r>
              <a:t>大模型推理基础设施关键技术攻关专项</a:t>
            </a:r>
          </a:p>
        </p:txBody>
      </p:sp>
      <p:sp>
        <p:nvSpPr>
          <p:cNvPr id="4" name="TextBox 3"/>
          <p:cNvSpPr txBox="1"/>
          <p:nvPr/>
        </p:nvSpPr>
        <p:spPr>
          <a:xfrm>
            <a:off x="8412480" y="438912"/>
            <a:ext cx="3230575" cy="329184"/>
          </a:xfrm>
          <a:prstGeom prst="rect">
            <a:avLst/>
          </a:prstGeom>
          <a:noFill/>
        </p:spPr>
        <p:txBody>
          <a:bodyPr wrap="none" lIns="0" tIns="0" rIns="0" bIns="0">
            <a:spAutoFit/>
          </a:bodyPr>
          <a:lstStyle/>
          <a:p>
            <a:pPr algn="r">
              <a:defRPr sz="1050" b="1">
                <a:solidFill>
                  <a:srgbClr val="475569"/>
                </a:solidFill>
                <a:latin typeface="Microsoft YaHei"/>
              </a:defRPr>
            </a:pPr>
            <a:r>
              <a:t>立项评审汇报 · 2026 年 8 月</a:t>
            </a:r>
          </a:p>
        </p:txBody>
      </p:sp>
      <p:sp>
        <p:nvSpPr>
          <p:cNvPr id="5" name="Rectangle 4"/>
          <p:cNvSpPr/>
          <p:nvPr/>
        </p:nvSpPr>
        <p:spPr>
          <a:xfrm>
            <a:off x="548640" y="1005840"/>
            <a:ext cx="11094415" cy="2029968"/>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ectangle 5"/>
          <p:cNvSpPr/>
          <p:nvPr/>
        </p:nvSpPr>
        <p:spPr>
          <a:xfrm>
            <a:off x="548640" y="1005840"/>
            <a:ext cx="91440" cy="2029968"/>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170432"/>
            <a:ext cx="10515600" cy="1700784"/>
          </a:xfrm>
          <a:prstGeom prst="rect">
            <a:avLst/>
          </a:prstGeom>
          <a:noFill/>
        </p:spPr>
        <p:txBody>
          <a:bodyPr wrap="square" lIns="0" tIns="0" rIns="0" bIns="0">
            <a:spAutoFit/>
          </a:bodyPr>
          <a:lstStyle/>
          <a:p>
            <a:pPr>
              <a:defRPr sz="2600" b="1">
                <a:solidFill>
                  <a:srgbClr val="1E3A8A"/>
                </a:solidFill>
                <a:latin typeface="Microsoft YaHei"/>
              </a:defRPr>
            </a:pPr>
            <a:r>
              <a:t>统一异构 KVCache 存储池总体架构与关键技术</a:t>
            </a:r>
          </a:p>
          <a:p>
            <a:pPr>
              <a:spcBef>
                <a:spcPts val="800"/>
              </a:spcBef>
              <a:defRPr sz="1300" b="1">
                <a:solidFill>
                  <a:srgbClr val="1D4ED8"/>
                </a:solidFill>
                <a:latin typeface="Microsoft YaHei"/>
              </a:defRPr>
            </a:pPr>
            <a:r>
              <a:t>打造面向国产 AI 硬件的统一异构状态管理与传输调度底座 · 打通底层通信原语到业务 SLO 闭环</a:t>
            </a:r>
          </a:p>
          <a:p>
            <a:pPr>
              <a:spcBef>
                <a:spcPts val="400"/>
              </a:spcBef>
              <a:defRPr sz="1100">
                <a:solidFill>
                  <a:srgbClr val="475569"/>
                </a:solidFill>
                <a:latin typeface="Microsoft YaHei"/>
              </a:defRPr>
            </a:pPr>
            <a:r>
              <a:t>从“框架内临时 Buffer”到“集群级高价值状态资产”——深入微架构协同，实现首字延迟降低、容量扩展与安全闭环</a:t>
            </a:r>
          </a:p>
        </p:txBody>
      </p:sp>
      <p:sp>
        <p:nvSpPr>
          <p:cNvPr id="8" name="Rectangle 7"/>
          <p:cNvSpPr/>
          <p:nvPr/>
        </p:nvSpPr>
        <p:spPr>
          <a:xfrm>
            <a:off x="548640" y="3218688"/>
            <a:ext cx="3511296" cy="2066543"/>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310128"/>
            <a:ext cx="3291840" cy="1883663"/>
          </a:xfrm>
          <a:prstGeom prst="rect">
            <a:avLst/>
          </a:prstGeom>
          <a:noFill/>
        </p:spPr>
        <p:txBody>
          <a:bodyPr wrap="square" lIns="0" tIns="0" rIns="0" bIns="0">
            <a:spAutoFit/>
          </a:bodyPr>
          <a:lstStyle/>
          <a:p>
            <a:pPr>
              <a:defRPr sz="1250" b="1">
                <a:solidFill>
                  <a:srgbClr val="1D4ED8"/>
                </a:solidFill>
                <a:latin typeface="Microsoft YaHei"/>
              </a:defRPr>
            </a:pPr>
            <a:r>
              <a:t>首字生成延迟降低 ≥20%</a:t>
            </a:r>
          </a:p>
          <a:p>
            <a:pPr>
              <a:spcBef>
                <a:spcPts val="200"/>
              </a:spcBef>
              <a:spcAft>
                <a:spcPts val="400"/>
              </a:spcAft>
              <a:defRPr sz="1000" b="1">
                <a:solidFill>
                  <a:srgbClr val="475569"/>
                </a:solidFill>
                <a:latin typeface="Microsoft YaHei"/>
              </a:defRPr>
            </a:pPr>
            <a:r>
              <a:t>深入 UBMEM / URMA 底层原语</a:t>
            </a:r>
          </a:p>
          <a:p>
            <a:pPr>
              <a:lnSpc>
                <a:spcPct val="120000"/>
              </a:lnSpc>
              <a:spcBef>
                <a:spcPts val="400"/>
              </a:spcBef>
              <a:defRPr sz="1100" b="1">
                <a:solidFill>
                  <a:srgbClr val="0F172A"/>
                </a:solidFill>
                <a:latin typeface="Microsoft YaHei"/>
              </a:defRPr>
            </a:pPr>
            <a:r>
              <a:t>• 拓扑亲和映射：</a:t>
            </a:r>
            <a:r>
              <a:rPr sz="1050" b="0">
                <a:solidFill>
                  <a:srgbClr val="475569"/>
                </a:solidFill>
                <a:latin typeface="Microsoft YaHei"/>
              </a:rPr>
              <a:t>压减 80% 跨机架流量，从物理源头消除网络 Incast 拥塞与长尾抖动。</a:t>
            </a:r>
          </a:p>
          <a:p>
            <a:pPr>
              <a:lnSpc>
                <a:spcPct val="120000"/>
              </a:lnSpc>
              <a:spcBef>
                <a:spcPts val="400"/>
              </a:spcBef>
              <a:defRPr sz="1100" b="1">
                <a:solidFill>
                  <a:srgbClr val="0F172A"/>
                </a:solidFill>
                <a:latin typeface="Microsoft YaHei"/>
              </a:defRPr>
            </a:pPr>
            <a:r>
              <a:t>• 双 Stream 物理流水：</a:t>
            </a:r>
            <a:r>
              <a:rPr sz="1050" b="0">
                <a:solidFill>
                  <a:srgbClr val="475569"/>
                </a:solidFill>
                <a:latin typeface="Microsoft YaHei"/>
              </a:rPr>
              <a:t>AICore 计算与 URMA 传输解耦，隐藏 ≥60% 网络跨节点传输耗时。</a:t>
            </a:r>
          </a:p>
        </p:txBody>
      </p:sp>
      <p:sp>
        <p:nvSpPr>
          <p:cNvPr id="10" name="Rectangle 9"/>
          <p:cNvSpPr/>
          <p:nvPr/>
        </p:nvSpPr>
        <p:spPr>
          <a:xfrm>
            <a:off x="4288536" y="3218688"/>
            <a:ext cx="3511296" cy="2066543"/>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398264" y="3310128"/>
            <a:ext cx="3291840" cy="1883663"/>
          </a:xfrm>
          <a:prstGeom prst="rect">
            <a:avLst/>
          </a:prstGeom>
          <a:noFill/>
        </p:spPr>
        <p:txBody>
          <a:bodyPr wrap="square" lIns="0" tIns="0" rIns="0" bIns="0">
            <a:spAutoFit/>
          </a:bodyPr>
          <a:lstStyle/>
          <a:p>
            <a:pPr>
              <a:defRPr sz="1250" b="1">
                <a:solidFill>
                  <a:srgbClr val="047857"/>
                </a:solidFill>
                <a:latin typeface="Microsoft YaHei"/>
              </a:defRPr>
            </a:pPr>
            <a:r>
              <a:t>显存有效容量提升 ≥30%</a:t>
            </a:r>
          </a:p>
          <a:p>
            <a:pPr>
              <a:spcBef>
                <a:spcPts val="200"/>
              </a:spcBef>
              <a:spcAft>
                <a:spcPts val="400"/>
              </a:spcAft>
              <a:defRPr sz="1000" b="1">
                <a:solidFill>
                  <a:srgbClr val="475569"/>
                </a:solidFill>
                <a:latin typeface="Microsoft YaHei"/>
              </a:defRPr>
            </a:pPr>
            <a:r>
              <a:t>确立 HBM ↔ SSD 直达主要扩展路径</a:t>
            </a:r>
          </a:p>
          <a:p>
            <a:pPr>
              <a:lnSpc>
                <a:spcPct val="120000"/>
              </a:lnSpc>
              <a:spcBef>
                <a:spcPts val="400"/>
              </a:spcBef>
              <a:defRPr sz="1100" b="1">
                <a:solidFill>
                  <a:srgbClr val="0F172A"/>
                </a:solidFill>
                <a:latin typeface="Microsoft YaHei"/>
              </a:defRPr>
            </a:pPr>
            <a:r>
              <a:t>• CPU 零数据拷贝：</a:t>
            </a:r>
            <a:r>
              <a:rPr sz="1050" b="0">
                <a:solidFill>
                  <a:srgbClr val="475569"/>
                </a:solidFill>
                <a:latin typeface="Microsoft YaHei"/>
              </a:rPr>
              <a:t>控制面仅下发指令，正文数据 100% 绕过 Host CPU 与内存，消除中转瓶颈。</a:t>
            </a:r>
          </a:p>
          <a:p>
            <a:pPr>
              <a:lnSpc>
                <a:spcPct val="120000"/>
              </a:lnSpc>
              <a:spcBef>
                <a:spcPts val="400"/>
              </a:spcBef>
              <a:defRPr sz="1100" b="1">
                <a:solidFill>
                  <a:srgbClr val="0F172A"/>
                </a:solidFill>
                <a:latin typeface="Microsoft YaHei"/>
              </a:defRPr>
            </a:pPr>
            <a:r>
              <a:t>• 长文本存储成本优化：</a:t>
            </a:r>
            <a:r>
              <a:rPr sz="1050" b="0">
                <a:solidFill>
                  <a:srgbClr val="475569"/>
                </a:solidFill>
                <a:latin typeface="Microsoft YaHei"/>
              </a:rPr>
              <a:t>长文本 (128K~1M) 存储成本下降 ≥35%，单机推理解算密度提升 40%。</a:t>
            </a:r>
          </a:p>
        </p:txBody>
      </p:sp>
      <p:sp>
        <p:nvSpPr>
          <p:cNvPr id="12" name="Rectangle 11"/>
          <p:cNvSpPr/>
          <p:nvPr/>
        </p:nvSpPr>
        <p:spPr>
          <a:xfrm>
            <a:off x="8028432" y="3218688"/>
            <a:ext cx="3511296" cy="2066543"/>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0" y="3310128"/>
            <a:ext cx="3291840" cy="1883663"/>
          </a:xfrm>
          <a:prstGeom prst="rect">
            <a:avLst/>
          </a:prstGeom>
          <a:noFill/>
        </p:spPr>
        <p:txBody>
          <a:bodyPr wrap="square" lIns="0" tIns="0" rIns="0" bIns="0">
            <a:spAutoFit/>
          </a:bodyPr>
          <a:lstStyle/>
          <a:p>
            <a:pPr>
              <a:defRPr sz="1250" b="1">
                <a:solidFill>
                  <a:srgbClr val="1E3A8A"/>
                </a:solidFill>
                <a:latin typeface="Microsoft YaHei"/>
              </a:defRPr>
            </a:pPr>
            <a:r>
              <a:t>错误消费事故率精确为 0</a:t>
            </a:r>
          </a:p>
          <a:p>
            <a:pPr>
              <a:spcBef>
                <a:spcPts val="200"/>
              </a:spcBef>
              <a:spcAft>
                <a:spcPts val="400"/>
              </a:spcAft>
              <a:defRPr sz="1000" b="1">
                <a:solidFill>
                  <a:srgbClr val="475569"/>
                </a:solidFill>
                <a:latin typeface="Microsoft YaHei"/>
              </a:defRPr>
            </a:pPr>
            <a:r>
              <a:t>严格语义一致性校验与显式租约</a:t>
            </a:r>
          </a:p>
          <a:p>
            <a:pPr>
              <a:lnSpc>
                <a:spcPct val="120000"/>
              </a:lnSpc>
              <a:spcBef>
                <a:spcPts val="400"/>
              </a:spcBef>
              <a:defRPr sz="1100" b="1">
                <a:solidFill>
                  <a:srgbClr val="0F172A"/>
                </a:solidFill>
                <a:latin typeface="Microsoft YaHei"/>
              </a:defRPr>
            </a:pPr>
            <a:r>
              <a:t>• 前置动态收益决策：</a:t>
            </a:r>
            <a:r>
              <a:rPr sz="1050" b="0">
                <a:solidFill>
                  <a:srgbClr val="475569"/>
                </a:solidFill>
                <a:latin typeface="Microsoft YaHei"/>
              </a:rPr>
              <a:t>查表阶段量化评估，确保每次加载获明确净收益，无收益主动重算。</a:t>
            </a:r>
          </a:p>
          <a:p>
            <a:pPr>
              <a:lnSpc>
                <a:spcPct val="120000"/>
              </a:lnSpc>
              <a:spcBef>
                <a:spcPts val="400"/>
              </a:spcBef>
              <a:defRPr sz="1100" b="1">
                <a:solidFill>
                  <a:srgbClr val="0F172A"/>
                </a:solidFill>
                <a:latin typeface="Microsoft YaHei"/>
              </a:defRPr>
            </a:pPr>
            <a:r>
              <a:t>• 语义一致性屏障：</a:t>
            </a:r>
            <a:r>
              <a:rPr sz="1050" b="0">
                <a:solidFill>
                  <a:srgbClr val="475569"/>
                </a:solidFill>
                <a:latin typeface="Microsoft YaHei"/>
              </a:rPr>
              <a:t>严格校验模型、词表、模板与租约有效性，实现多卡原子协同无死锁。</a:t>
            </a:r>
          </a:p>
        </p:txBody>
      </p:sp>
      <p:sp>
        <p:nvSpPr>
          <p:cNvPr id="14" name="Rectangle 13"/>
          <p:cNvSpPr/>
          <p:nvPr/>
        </p:nvSpPr>
        <p:spPr>
          <a:xfrm>
            <a:off x="548640" y="5468112"/>
            <a:ext cx="11094415" cy="877824"/>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77240" y="5577840"/>
            <a:ext cx="10637215" cy="658368"/>
          </a:xfrm>
          <a:prstGeom prst="rect">
            <a:avLst/>
          </a:prstGeom>
          <a:noFill/>
        </p:spPr>
        <p:txBody>
          <a:bodyPr wrap="square" lIns="0" tIns="0" rIns="0" bIns="0">
            <a:spAutoFit/>
          </a:bodyPr>
          <a:lstStyle/>
          <a:p>
            <a:pPr>
              <a:defRPr sz="1100" b="1">
                <a:solidFill>
                  <a:srgbClr val="1E3A8A"/>
                </a:solidFill>
                <a:latin typeface="Microsoft YaHei"/>
              </a:defRPr>
            </a:pPr>
            <a:r>
              <a:t>汇报团队：统一内存与存储系统架构团队        立项性质：重大技术攻关工程立项评审</a:t>
            </a:r>
          </a:p>
          <a:p>
            <a:pPr>
              <a:spcBef>
                <a:spcPts val="300"/>
              </a:spcBef>
              <a:defRPr sz="1050">
                <a:solidFill>
                  <a:srgbClr val="475569"/>
                </a:solidFill>
                <a:latin typeface="Microsoft YaHei"/>
              </a:defRPr>
            </a:pPr>
            <a:r>
              <a:t>实施准则：规划 4～5 周敏捷原型验证 (PVT/CVT) · 严格按 E0～E3 阶段门禁逐级推进研发投入与 No-Go 安全止损</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我们为什么要做：打造面向国产 AI 硬件的统一异构 KVCache 存储与传输调度底座</a:t>
            </a:r>
          </a:p>
          <a:p>
            <a:pPr>
              <a:spcBef>
                <a:spcPts val="200"/>
              </a:spcBef>
              <a:defRPr sz="1000">
                <a:solidFill>
                  <a:srgbClr val="475569"/>
                </a:solidFill>
                <a:latin typeface="Microsoft YaHei"/>
              </a:defRPr>
            </a:pPr>
            <a:r>
              <a:t>从“框架内临时 Buffer”到“集群级高价值状态资产”——打通软硬件协同从底层通信原语到业务 SLO（服务等级目标）的闭环</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01 / 10 页</a:t>
            </a:r>
          </a:p>
        </p:txBody>
      </p:sp>
      <p:sp>
        <p:nvSpPr>
          <p:cNvPr id="4" name="Rectangle 3"/>
          <p:cNvSpPr/>
          <p:nvPr/>
        </p:nvSpPr>
        <p:spPr>
          <a:xfrm>
            <a:off x="548640" y="1060704"/>
            <a:ext cx="2633472" cy="3584448"/>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52144"/>
            <a:ext cx="2414016" cy="3401568"/>
          </a:xfrm>
          <a:prstGeom prst="rect">
            <a:avLst/>
          </a:prstGeom>
          <a:noFill/>
        </p:spPr>
        <p:txBody>
          <a:bodyPr wrap="square" lIns="0" tIns="0" rIns="0" bIns="0">
            <a:spAutoFit/>
          </a:bodyPr>
          <a:lstStyle/>
          <a:p>
            <a:pPr>
              <a:defRPr sz="1200" b="1">
                <a:solidFill>
                  <a:srgbClr val="1D4ED8"/>
                </a:solidFill>
                <a:latin typeface="Microsoft YaHei"/>
              </a:defRPr>
            </a:pPr>
            <a:r>
              <a:t>1. 为什么做 (Why Essential)</a:t>
            </a:r>
          </a:p>
          <a:p>
            <a:pPr>
              <a:spcBef>
                <a:spcPts val="200"/>
              </a:spcBef>
              <a:spcAft>
                <a:spcPts val="400"/>
              </a:spcAft>
              <a:defRPr sz="1050" b="1">
                <a:solidFill>
                  <a:srgbClr val="475569"/>
                </a:solidFill>
                <a:latin typeface="Microsoft YaHei"/>
              </a:defRPr>
            </a:pPr>
            <a:r>
              <a:t>KVCache 升维核心状态资产</a:t>
            </a:r>
          </a:p>
          <a:p>
            <a:pPr>
              <a:lnSpc>
                <a:spcPct val="122000"/>
              </a:lnSpc>
              <a:spcBef>
                <a:spcPts val="600"/>
              </a:spcBef>
              <a:defRPr sz="1200" b="1">
                <a:solidFill>
                  <a:srgbClr val="0F172A"/>
                </a:solidFill>
                <a:latin typeface="Microsoft YaHei"/>
              </a:defRPr>
            </a:pPr>
            <a:r>
              <a:t>• 算力瓶颈转移：</a:t>
            </a:r>
            <a:r>
              <a:rPr sz="1150" b="0">
                <a:solidFill>
                  <a:srgbClr val="475569"/>
                </a:solidFill>
                <a:latin typeface="Microsoft YaHei"/>
              </a:rPr>
              <a:t>推理瓶颈从单卡算力转向内存容量与互联带宽，KVCache（键值缓存）承载极高计算价值。</a:t>
            </a:r>
          </a:p>
          <a:p>
            <a:pPr>
              <a:lnSpc>
                <a:spcPct val="122000"/>
              </a:lnSpc>
              <a:spcBef>
                <a:spcPts val="600"/>
              </a:spcBef>
              <a:defRPr sz="1200" b="1">
                <a:solidFill>
                  <a:srgbClr val="0F172A"/>
                </a:solidFill>
                <a:latin typeface="Microsoft YaHei"/>
              </a:defRPr>
            </a:pPr>
            <a:r>
              <a:t>• 消除显存孤岛：</a:t>
            </a:r>
            <a:r>
              <a:rPr sz="1150" b="0">
                <a:solidFill>
                  <a:srgbClr val="475569"/>
                </a:solidFill>
                <a:latin typeface="Microsoft YaHei"/>
              </a:rPr>
              <a:t>传统框架仅做单机显存管理，导致跨节点重复 Prefill（首字预计算）与 HBM（高带宽显存）碎片孤岛。</a:t>
            </a:r>
          </a:p>
          <a:p>
            <a:pPr>
              <a:lnSpc>
                <a:spcPct val="122000"/>
              </a:lnSpc>
              <a:spcBef>
                <a:spcPts val="600"/>
              </a:spcBef>
              <a:defRPr sz="1200" b="1">
                <a:solidFill>
                  <a:srgbClr val="0F172A"/>
                </a:solidFill>
                <a:latin typeface="Microsoft YaHei"/>
              </a:defRPr>
            </a:pPr>
            <a:r>
              <a:t>• 打通价值漏斗：</a:t>
            </a:r>
            <a:r>
              <a:rPr sz="1150" b="0">
                <a:solidFill>
                  <a:srgbClr val="475569"/>
                </a:solidFill>
                <a:latin typeface="Microsoft YaHei"/>
              </a:rPr>
              <a:t>构建状态治理闭环，覆盖候选发现、安全校验、动态选路到挂接消费的全流程。</a:t>
            </a:r>
          </a:p>
        </p:txBody>
      </p:sp>
      <p:sp>
        <p:nvSpPr>
          <p:cNvPr id="6" name="Rectangle 5"/>
          <p:cNvSpPr/>
          <p:nvPr/>
        </p:nvSpPr>
        <p:spPr>
          <a:xfrm>
            <a:off x="3364992" y="1060704"/>
            <a:ext cx="2633472" cy="358444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152144"/>
            <a:ext cx="2414016" cy="3401568"/>
          </a:xfrm>
          <a:prstGeom prst="rect">
            <a:avLst/>
          </a:prstGeom>
          <a:noFill/>
        </p:spPr>
        <p:txBody>
          <a:bodyPr wrap="square" lIns="0" tIns="0" rIns="0" bIns="0">
            <a:spAutoFit/>
          </a:bodyPr>
          <a:lstStyle/>
          <a:p>
            <a:pPr>
              <a:defRPr sz="1200" b="1">
                <a:solidFill>
                  <a:srgbClr val="1E3A8A"/>
                </a:solidFill>
                <a:latin typeface="Microsoft YaHei"/>
              </a:defRPr>
            </a:pPr>
            <a:r>
              <a:t>2. 为什么现在做 (Why Now)</a:t>
            </a:r>
          </a:p>
          <a:p>
            <a:pPr>
              <a:spcBef>
                <a:spcPts val="200"/>
              </a:spcBef>
              <a:spcAft>
                <a:spcPts val="400"/>
              </a:spcAft>
              <a:defRPr sz="1050" b="1">
                <a:solidFill>
                  <a:srgbClr val="475569"/>
                </a:solidFill>
                <a:latin typeface="Microsoft YaHei"/>
              </a:defRPr>
            </a:pPr>
            <a:r>
              <a:t>架构定型与业务演进窗口期</a:t>
            </a:r>
          </a:p>
          <a:p>
            <a:pPr>
              <a:lnSpc>
                <a:spcPct val="122000"/>
              </a:lnSpc>
              <a:spcBef>
                <a:spcPts val="600"/>
              </a:spcBef>
              <a:defRPr sz="1200" b="1">
                <a:solidFill>
                  <a:srgbClr val="0F172A"/>
                </a:solidFill>
                <a:latin typeface="Microsoft YaHei"/>
              </a:defRPr>
            </a:pPr>
            <a:r>
              <a:t>• 业务演进驱动：</a:t>
            </a:r>
            <a:r>
              <a:rPr sz="1150" b="0">
                <a:solidFill>
                  <a:srgbClr val="475569"/>
                </a:solidFill>
                <a:latin typeface="Microsoft YaHei"/>
              </a:rPr>
              <a:t>长文本 (128K ~ 1M)、Agent 多轮与 PD 分离（计算与生成解耦）爆发，缓存复用成为提升吞吐核心指标。</a:t>
            </a:r>
          </a:p>
          <a:p>
            <a:pPr>
              <a:lnSpc>
                <a:spcPct val="122000"/>
              </a:lnSpc>
              <a:spcBef>
                <a:spcPts val="600"/>
              </a:spcBef>
              <a:defRPr sz="1200" b="1">
                <a:solidFill>
                  <a:srgbClr val="0F172A"/>
                </a:solidFill>
                <a:latin typeface="Microsoft YaHei"/>
              </a:defRPr>
            </a:pPr>
            <a:r>
              <a:t>• 软硬件协同窗口：</a:t>
            </a:r>
            <a:r>
              <a:rPr sz="1150" b="0">
                <a:solidFill>
                  <a:srgbClr val="475569"/>
                </a:solidFill>
                <a:latin typeface="Microsoft YaHei"/>
              </a:rPr>
              <a:t>国产芯片、底层驱动与推理框架共同演进，提前介入可深度协同底层微架构设计。</a:t>
            </a:r>
          </a:p>
          <a:p>
            <a:pPr>
              <a:lnSpc>
                <a:spcPct val="122000"/>
              </a:lnSpc>
              <a:spcBef>
                <a:spcPts val="600"/>
              </a:spcBef>
              <a:defRPr sz="1200" b="1">
                <a:solidFill>
                  <a:srgbClr val="0F172A"/>
                </a:solidFill>
                <a:latin typeface="Microsoft YaHei"/>
              </a:defRPr>
            </a:pPr>
            <a:r>
              <a:t>• 规避被动适配：</a:t>
            </a:r>
            <a:r>
              <a:rPr sz="1150" b="0">
                <a:solidFill>
                  <a:srgbClr val="475569"/>
                </a:solidFill>
                <a:latin typeface="Microsoft YaHei"/>
              </a:rPr>
              <a:t>若等硬件定型后被动适配通用接口，将错失底层互联红利并产生高昂重构成本。</a:t>
            </a:r>
          </a:p>
        </p:txBody>
      </p:sp>
      <p:sp>
        <p:nvSpPr>
          <p:cNvPr id="8" name="Rectangle 7"/>
          <p:cNvSpPr/>
          <p:nvPr/>
        </p:nvSpPr>
        <p:spPr>
          <a:xfrm>
            <a:off x="6181344" y="1060704"/>
            <a:ext cx="2633472" cy="358444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152144"/>
            <a:ext cx="2414016" cy="3401568"/>
          </a:xfrm>
          <a:prstGeom prst="rect">
            <a:avLst/>
          </a:prstGeom>
          <a:noFill/>
        </p:spPr>
        <p:txBody>
          <a:bodyPr wrap="square" lIns="0" tIns="0" rIns="0" bIns="0">
            <a:spAutoFit/>
          </a:bodyPr>
          <a:lstStyle/>
          <a:p>
            <a:pPr>
              <a:defRPr sz="1200" b="1">
                <a:solidFill>
                  <a:srgbClr val="1E3A8A"/>
                </a:solidFill>
                <a:latin typeface="Microsoft YaHei"/>
              </a:defRPr>
            </a:pPr>
            <a:r>
              <a:t>3. 为什么自研 (Why In-house)</a:t>
            </a:r>
          </a:p>
          <a:p>
            <a:pPr>
              <a:spcBef>
                <a:spcPts val="200"/>
              </a:spcBef>
              <a:spcAft>
                <a:spcPts val="400"/>
              </a:spcAft>
              <a:defRPr sz="1050" b="1">
                <a:solidFill>
                  <a:srgbClr val="475569"/>
                </a:solidFill>
                <a:latin typeface="Microsoft YaHei"/>
              </a:defRPr>
            </a:pPr>
            <a:r>
              <a:t>开源软件无法承载芯片深度优化</a:t>
            </a:r>
          </a:p>
          <a:p>
            <a:pPr>
              <a:lnSpc>
                <a:spcPct val="122000"/>
              </a:lnSpc>
              <a:spcBef>
                <a:spcPts val="600"/>
              </a:spcBef>
              <a:defRPr sz="1200" b="1">
                <a:solidFill>
                  <a:srgbClr val="0F172A"/>
                </a:solidFill>
                <a:latin typeface="Microsoft YaHei"/>
              </a:defRPr>
            </a:pPr>
            <a:r>
              <a:t>• 专属微架构使能：</a:t>
            </a:r>
            <a:r>
              <a:rPr sz="1150" b="0">
                <a:solidFill>
                  <a:srgbClr val="475569"/>
                </a:solidFill>
                <a:latin typeface="Microsoft YaHei"/>
              </a:rPr>
              <a:t>开源框架仅使用通用标准接口；自研系统可深入 UBMEM（总线共享内存）/ URMA（远程直接访问）等芯片底层原语。</a:t>
            </a:r>
          </a:p>
          <a:p>
            <a:pPr>
              <a:lnSpc>
                <a:spcPct val="122000"/>
              </a:lnSpc>
              <a:spcBef>
                <a:spcPts val="600"/>
              </a:spcBef>
              <a:defRPr sz="1200" b="1">
                <a:solidFill>
                  <a:srgbClr val="0F172A"/>
                </a:solidFill>
                <a:latin typeface="Microsoft YaHei"/>
              </a:defRPr>
            </a:pPr>
            <a:r>
              <a:t>• 软硬件协同交付：</a:t>
            </a:r>
            <a:r>
              <a:rPr sz="1150" b="0">
                <a:solidFill>
                  <a:srgbClr val="475569"/>
                </a:solidFill>
                <a:latin typeface="Microsoft YaHei"/>
              </a:rPr>
              <a:t>开源社区不承担特定芯片的原厂交付、驱动协同适配与跨版本稳定性回归责任。</a:t>
            </a:r>
          </a:p>
          <a:p>
            <a:pPr>
              <a:lnSpc>
                <a:spcPct val="122000"/>
              </a:lnSpc>
              <a:spcBef>
                <a:spcPts val="600"/>
              </a:spcBef>
              <a:defRPr sz="1200" b="1">
                <a:solidFill>
                  <a:srgbClr val="0F172A"/>
                </a:solidFill>
                <a:latin typeface="Microsoft YaHei"/>
              </a:defRPr>
            </a:pPr>
            <a:r>
              <a:t>• SLA 与正确性保障：</a:t>
            </a:r>
            <a:r>
              <a:rPr sz="1150" b="0">
                <a:solidFill>
                  <a:srgbClr val="475569"/>
                </a:solidFill>
                <a:latin typeface="Microsoft YaHei"/>
              </a:rPr>
              <a:t>高并发 P99 尾延迟控制与 0 错误消费需由软硬件深度协同底座全面兜底。</a:t>
            </a:r>
          </a:p>
        </p:txBody>
      </p:sp>
      <p:sp>
        <p:nvSpPr>
          <p:cNvPr id="10" name="Rectangle 9"/>
          <p:cNvSpPr/>
          <p:nvPr/>
        </p:nvSpPr>
        <p:spPr>
          <a:xfrm>
            <a:off x="8997696" y="1060704"/>
            <a:ext cx="2633472" cy="3584448"/>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07424" y="1152144"/>
            <a:ext cx="2414016" cy="3401568"/>
          </a:xfrm>
          <a:prstGeom prst="rect">
            <a:avLst/>
          </a:prstGeom>
          <a:noFill/>
        </p:spPr>
        <p:txBody>
          <a:bodyPr wrap="square" lIns="0" tIns="0" rIns="0" bIns="0">
            <a:spAutoFit/>
          </a:bodyPr>
          <a:lstStyle/>
          <a:p>
            <a:pPr>
              <a:defRPr sz="1200" b="1">
                <a:solidFill>
                  <a:srgbClr val="047857"/>
                </a:solidFill>
                <a:latin typeface="Microsoft YaHei"/>
              </a:defRPr>
            </a:pPr>
            <a:r>
              <a:t>4. 为什么我们做 (Why Us)</a:t>
            </a:r>
          </a:p>
          <a:p>
            <a:pPr>
              <a:spcBef>
                <a:spcPts val="200"/>
              </a:spcBef>
              <a:spcAft>
                <a:spcPts val="400"/>
              </a:spcAft>
              <a:defRPr sz="1050" b="1">
                <a:solidFill>
                  <a:srgbClr val="475569"/>
                </a:solidFill>
                <a:latin typeface="Microsoft YaHei"/>
              </a:defRPr>
            </a:pPr>
            <a:r>
              <a:t>软硬件协同与全栈工程落地能力</a:t>
            </a:r>
          </a:p>
          <a:p>
            <a:pPr>
              <a:lnSpc>
                <a:spcPct val="122000"/>
              </a:lnSpc>
              <a:spcBef>
                <a:spcPts val="600"/>
              </a:spcBef>
              <a:defRPr sz="1200" b="1">
                <a:solidFill>
                  <a:srgbClr val="0F172A"/>
                </a:solidFill>
                <a:latin typeface="Microsoft YaHei"/>
              </a:defRPr>
            </a:pPr>
            <a:r>
              <a:t>• 全栈协同技术壁垒：</a:t>
            </a:r>
            <a:r>
              <a:rPr sz="1150" b="0">
                <a:solidFill>
                  <a:srgbClr val="475569"/>
                </a:solidFill>
                <a:latin typeface="Microsoft YaHei"/>
              </a:rPr>
              <a:t>建立“业务特征 ➔ KV 语义 ➔ QueryPlan（查询计划）➔ UBMEM / URMA 直达”技术闭环。</a:t>
            </a:r>
          </a:p>
          <a:p>
            <a:pPr>
              <a:lnSpc>
                <a:spcPct val="122000"/>
              </a:lnSpc>
              <a:spcBef>
                <a:spcPts val="600"/>
              </a:spcBef>
              <a:defRPr sz="1200" b="1">
                <a:solidFill>
                  <a:srgbClr val="0F172A"/>
                </a:solidFill>
                <a:latin typeface="Microsoft YaHei"/>
              </a:defRPr>
            </a:pPr>
            <a:r>
              <a:t>• 对标全球巨头套件：</a:t>
            </a:r>
            <a:r>
              <a:rPr sz="1150" b="0">
                <a:solidFill>
                  <a:srgbClr val="475569"/>
                </a:solidFill>
                <a:latin typeface="Microsoft YaHei"/>
              </a:rPr>
              <a:t>补齐国产软硬件协同生态空白，对标 NVIDIA Dynamo / KVBM（KV 块管理器）全栈方案。</a:t>
            </a:r>
          </a:p>
          <a:p>
            <a:pPr>
              <a:lnSpc>
                <a:spcPct val="122000"/>
              </a:lnSpc>
              <a:spcBef>
                <a:spcPts val="600"/>
              </a:spcBef>
              <a:defRPr sz="1200" b="1">
                <a:solidFill>
                  <a:srgbClr val="0F172A"/>
                </a:solidFill>
                <a:latin typeface="Microsoft YaHei"/>
              </a:defRPr>
            </a:pPr>
            <a:r>
              <a:t>• 分阶段验证降低风险：</a:t>
            </a:r>
            <a:r>
              <a:rPr sz="1150" b="0">
                <a:solidFill>
                  <a:srgbClr val="475569"/>
                </a:solidFill>
                <a:latin typeface="Microsoft YaHei"/>
              </a:rPr>
              <a:t>通过多项关键技术原型实测数据，按 E0 ~ E3 阶段目标逐级推进研发投入。</a:t>
            </a:r>
          </a:p>
        </p:txBody>
      </p:sp>
      <p:sp>
        <p:nvSpPr>
          <p:cNvPr id="12" name="Rectangle 11"/>
          <p:cNvSpPr/>
          <p:nvPr/>
        </p:nvSpPr>
        <p:spPr>
          <a:xfrm>
            <a:off x="548640" y="4736592"/>
            <a:ext cx="11094415" cy="111556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782312"/>
            <a:ext cx="10820095" cy="228600"/>
          </a:xfrm>
          <a:prstGeom prst="rect">
            <a:avLst/>
          </a:prstGeom>
          <a:noFill/>
        </p:spPr>
        <p:txBody>
          <a:bodyPr wrap="none" lIns="0" tIns="0" rIns="0" bIns="0">
            <a:spAutoFit/>
          </a:bodyPr>
          <a:lstStyle/>
          <a:p>
            <a:pPr>
              <a:defRPr sz="1150" b="1">
                <a:solidFill>
                  <a:srgbClr val="1D4ED8"/>
                </a:solidFill>
                <a:latin typeface="Microsoft YaHei"/>
              </a:defRPr>
            </a:pPr>
            <a:r>
              <a:t>【软硬件协同状态管理价值转化闭环链路图】</a:t>
            </a:r>
          </a:p>
        </p:txBody>
      </p:sp>
      <p:sp>
        <p:nvSpPr>
          <p:cNvPr id="14" name="Rectangle 13"/>
          <p:cNvSpPr/>
          <p:nvPr/>
        </p:nvSpPr>
        <p:spPr>
          <a:xfrm>
            <a:off x="685800" y="5029200"/>
            <a:ext cx="2029968"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5065776"/>
            <a:ext cx="1883664" cy="640080"/>
          </a:xfrm>
          <a:prstGeom prst="rect">
            <a:avLst/>
          </a:prstGeom>
          <a:noFill/>
        </p:spPr>
        <p:txBody>
          <a:bodyPr wrap="square" lIns="0" tIns="0" rIns="0" bIns="0">
            <a:spAutoFit/>
          </a:bodyPr>
          <a:lstStyle/>
          <a:p>
            <a:pPr>
              <a:defRPr sz="1050" b="1">
                <a:solidFill>
                  <a:srgbClr val="1E3A8A"/>
                </a:solidFill>
                <a:latin typeface="Microsoft YaHei"/>
              </a:defRPr>
            </a:pPr>
            <a:r>
              <a:t>1. 业务价值发现</a:t>
            </a:r>
          </a:p>
          <a:p>
            <a:pPr>
              <a:spcBef>
                <a:spcPts val="100"/>
              </a:spcBef>
              <a:defRPr sz="950">
                <a:solidFill>
                  <a:srgbClr val="0F172A"/>
                </a:solidFill>
                <a:latin typeface="Microsoft YaHei"/>
              </a:defRPr>
            </a:pPr>
            <a:r>
              <a:t>长文本 / Agent / RAG</a:t>
            </a:r>
          </a:p>
          <a:p>
            <a:pPr>
              <a:spcBef>
                <a:spcPts val="100"/>
              </a:spcBef>
              <a:defRPr sz="900">
                <a:solidFill>
                  <a:srgbClr val="475569"/>
                </a:solidFill>
                <a:latin typeface="Microsoft YaHei"/>
              </a:defRPr>
            </a:pPr>
            <a:r>
              <a:t>识别高价值复用前缀</a:t>
            </a:r>
          </a:p>
        </p:txBody>
      </p:sp>
      <p:sp>
        <p:nvSpPr>
          <p:cNvPr id="16" name="Rectangle 15"/>
          <p:cNvSpPr/>
          <p:nvPr/>
        </p:nvSpPr>
        <p:spPr>
          <a:xfrm>
            <a:off x="2880360" y="5029200"/>
            <a:ext cx="2029968"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953512" y="5065776"/>
            <a:ext cx="1883664" cy="640080"/>
          </a:xfrm>
          <a:prstGeom prst="rect">
            <a:avLst/>
          </a:prstGeom>
          <a:noFill/>
        </p:spPr>
        <p:txBody>
          <a:bodyPr wrap="square" lIns="0" tIns="0" rIns="0" bIns="0">
            <a:spAutoFit/>
          </a:bodyPr>
          <a:lstStyle/>
          <a:p>
            <a:pPr>
              <a:defRPr sz="1050" b="1">
                <a:solidFill>
                  <a:srgbClr val="1E3A8A"/>
                </a:solidFill>
                <a:latin typeface="Microsoft YaHei"/>
              </a:defRPr>
            </a:pPr>
            <a:r>
              <a:t>2. KV 语义治理</a:t>
            </a:r>
          </a:p>
          <a:p>
            <a:pPr>
              <a:spcBef>
                <a:spcPts val="100"/>
              </a:spcBef>
              <a:defRPr sz="950">
                <a:solidFill>
                  <a:srgbClr val="0F172A"/>
                </a:solidFill>
                <a:latin typeface="Microsoft YaHei"/>
              </a:defRPr>
            </a:pPr>
            <a:r>
              <a:t>Layer / TP Rank 身份</a:t>
            </a:r>
          </a:p>
          <a:p>
            <a:pPr>
              <a:spcBef>
                <a:spcPts val="100"/>
              </a:spcBef>
              <a:defRPr sz="900">
                <a:solidFill>
                  <a:srgbClr val="475569"/>
                </a:solidFill>
                <a:latin typeface="Microsoft YaHei"/>
              </a:defRPr>
            </a:pPr>
            <a:r>
              <a:t>严格权限与租约校验</a:t>
            </a:r>
          </a:p>
        </p:txBody>
      </p:sp>
      <p:sp>
        <p:nvSpPr>
          <p:cNvPr id="18" name="Rectangle 17"/>
          <p:cNvSpPr/>
          <p:nvPr/>
        </p:nvSpPr>
        <p:spPr>
          <a:xfrm>
            <a:off x="5074920" y="5029200"/>
            <a:ext cx="2029968"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148072" y="5065776"/>
            <a:ext cx="1883664" cy="640080"/>
          </a:xfrm>
          <a:prstGeom prst="rect">
            <a:avLst/>
          </a:prstGeom>
          <a:noFill/>
        </p:spPr>
        <p:txBody>
          <a:bodyPr wrap="square" lIns="0" tIns="0" rIns="0" bIns="0">
            <a:spAutoFit/>
          </a:bodyPr>
          <a:lstStyle/>
          <a:p>
            <a:pPr>
              <a:defRPr sz="1050" b="1">
                <a:solidFill>
                  <a:srgbClr val="1E3A8A"/>
                </a:solidFill>
                <a:latin typeface="Microsoft YaHei"/>
              </a:defRPr>
            </a:pPr>
            <a:r>
              <a:t>3. 动态选路决策</a:t>
            </a:r>
          </a:p>
          <a:p>
            <a:pPr>
              <a:spcBef>
                <a:spcPts val="100"/>
              </a:spcBef>
              <a:defRPr sz="950">
                <a:solidFill>
                  <a:srgbClr val="0F172A"/>
                </a:solidFill>
                <a:latin typeface="Microsoft YaHei"/>
              </a:defRPr>
            </a:pPr>
            <a:r>
              <a:t>QueryPlan 微秒决策</a:t>
            </a:r>
          </a:p>
          <a:p>
            <a:pPr>
              <a:spcBef>
                <a:spcPts val="100"/>
              </a:spcBef>
              <a:defRPr sz="900">
                <a:solidFill>
                  <a:srgbClr val="475569"/>
                </a:solidFill>
                <a:latin typeface="Microsoft YaHei"/>
              </a:defRPr>
            </a:pPr>
            <a:r>
              <a:t>正收益判定保障 SLO</a:t>
            </a:r>
          </a:p>
        </p:txBody>
      </p:sp>
      <p:sp>
        <p:nvSpPr>
          <p:cNvPr id="20" name="Rectangle 19"/>
          <p:cNvSpPr/>
          <p:nvPr/>
        </p:nvSpPr>
        <p:spPr>
          <a:xfrm>
            <a:off x="7269480" y="5029200"/>
            <a:ext cx="2029968"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342632" y="5065776"/>
            <a:ext cx="1883664" cy="640080"/>
          </a:xfrm>
          <a:prstGeom prst="rect">
            <a:avLst/>
          </a:prstGeom>
          <a:noFill/>
        </p:spPr>
        <p:txBody>
          <a:bodyPr wrap="square" lIns="0" tIns="0" rIns="0" bIns="0">
            <a:spAutoFit/>
          </a:bodyPr>
          <a:lstStyle/>
          <a:p>
            <a:pPr>
              <a:defRPr sz="1050" b="1">
                <a:solidFill>
                  <a:srgbClr val="1E3A8A"/>
                </a:solidFill>
                <a:latin typeface="Microsoft YaHei"/>
              </a:defRPr>
            </a:pPr>
            <a:r>
              <a:t>4. 硬件极速搬运</a:t>
            </a:r>
          </a:p>
          <a:p>
            <a:pPr>
              <a:spcBef>
                <a:spcPts val="100"/>
              </a:spcBef>
              <a:defRPr sz="950">
                <a:solidFill>
                  <a:srgbClr val="0F172A"/>
                </a:solidFill>
                <a:latin typeface="Microsoft YaHei"/>
              </a:defRPr>
            </a:pPr>
            <a:r>
              <a:t>URMA / PCIe 直达</a:t>
            </a:r>
          </a:p>
          <a:p>
            <a:pPr>
              <a:spcBef>
                <a:spcPts val="100"/>
              </a:spcBef>
              <a:defRPr sz="900">
                <a:solidFill>
                  <a:srgbClr val="475569"/>
                </a:solidFill>
                <a:latin typeface="Microsoft YaHei"/>
              </a:defRPr>
            </a:pPr>
            <a:r>
              <a:t>Host CPU 零数据拷贝</a:t>
            </a:r>
          </a:p>
        </p:txBody>
      </p:sp>
      <p:sp>
        <p:nvSpPr>
          <p:cNvPr id="22" name="Rectangle 21"/>
          <p:cNvSpPr/>
          <p:nvPr/>
        </p:nvSpPr>
        <p:spPr>
          <a:xfrm>
            <a:off x="9464040" y="5029200"/>
            <a:ext cx="2029968" cy="713232"/>
          </a:xfrm>
          <a:prstGeom prst="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537192" y="5065776"/>
            <a:ext cx="1883664" cy="640080"/>
          </a:xfrm>
          <a:prstGeom prst="rect">
            <a:avLst/>
          </a:prstGeom>
          <a:noFill/>
        </p:spPr>
        <p:txBody>
          <a:bodyPr wrap="square" lIns="0" tIns="0" rIns="0" bIns="0">
            <a:spAutoFit/>
          </a:bodyPr>
          <a:lstStyle/>
          <a:p>
            <a:pPr>
              <a:defRPr sz="1050" b="1">
                <a:solidFill>
                  <a:srgbClr val="047857"/>
                </a:solidFill>
                <a:latin typeface="Microsoft YaHei"/>
              </a:defRPr>
            </a:pPr>
            <a:r>
              <a:t>5. 业务目标达成</a:t>
            </a:r>
          </a:p>
          <a:p>
            <a:pPr>
              <a:spcBef>
                <a:spcPts val="100"/>
              </a:spcBef>
              <a:defRPr sz="950">
                <a:solidFill>
                  <a:srgbClr val="0F172A"/>
                </a:solidFill>
                <a:latin typeface="Microsoft YaHei"/>
              </a:defRPr>
            </a:pPr>
            <a:r>
              <a:t>TTFT -20% / 容量 +30%</a:t>
            </a:r>
          </a:p>
          <a:p>
            <a:pPr>
              <a:spcBef>
                <a:spcPts val="100"/>
              </a:spcBef>
              <a:defRPr sz="900">
                <a:solidFill>
                  <a:srgbClr val="475569"/>
                </a:solidFill>
                <a:latin typeface="Microsoft YaHei"/>
              </a:defRPr>
            </a:pPr>
            <a:r>
              <a:t>错误消费精确为 0</a:t>
            </a:r>
          </a:p>
        </p:txBody>
      </p:sp>
      <p:sp>
        <p:nvSpPr>
          <p:cNvPr id="24" name="Rectangle 23"/>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ectangle 24"/>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软硬件协同价值：</a:t>
            </a:r>
            <a:r>
              <a:rPr sz="1150" b="0">
                <a:solidFill>
                  <a:srgbClr val="0F172A"/>
                </a:solidFill>
                <a:latin typeface="Microsoft YaHei"/>
              </a:rPr>
              <a:t>针对开源软件无法深度调用国产芯片特性的短板，自研统一异构 KVCache 存储池，通过 UBMEM / URMA 底层原语打通数据流，实现 </a:t>
            </a:r>
            <a:r>
              <a:rPr sz="1150" b="1">
                <a:solidFill>
                  <a:srgbClr val="DC2626"/>
                </a:solidFill>
                <a:latin typeface="Microsoft YaHei"/>
              </a:rPr>
              <a:t>TTFT（首字生成延迟）P99 降低 ≥20%</a:t>
            </a:r>
            <a:r>
              <a:rPr sz="1150" b="0">
                <a:solidFill>
                  <a:srgbClr val="0F172A"/>
                </a:solidFill>
                <a:latin typeface="Microsoft YaHei"/>
              </a:rPr>
              <a:t>、</a:t>
            </a:r>
            <a:r>
              <a:rPr sz="1150" b="1">
                <a:solidFill>
                  <a:srgbClr val="DC2626"/>
                </a:solidFill>
                <a:latin typeface="Microsoft YaHei"/>
              </a:rPr>
              <a:t>HBM（高带宽显存）有效容量提升 ≥30%</a:t>
            </a:r>
            <a:r>
              <a:rPr sz="1150" b="0">
                <a:solidFill>
                  <a:srgbClr val="0F172A"/>
                </a:solidFill>
                <a:latin typeface="Microsoft YaHei"/>
              </a:rPr>
              <a:t>、</a:t>
            </a:r>
            <a:r>
              <a:rPr sz="1150" b="1">
                <a:solidFill>
                  <a:srgbClr val="DC2626"/>
                </a:solidFill>
                <a:latin typeface="Microsoft YaHei"/>
              </a:rPr>
              <a:t>错误消费率为 0</a:t>
            </a:r>
            <a:r>
              <a:rPr sz="1150" b="0">
                <a:solidFill>
                  <a:srgbClr val="0F172A"/>
                </a:solidFill>
                <a:latin typeface="Microsoft YaHei"/>
              </a:rPr>
              <a:t>。</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当前厂商动作：全球芯片巨头从单卡算力转向系统级状态管理全栈布局</a:t>
            </a:r>
          </a:p>
          <a:p>
            <a:pPr>
              <a:spcBef>
                <a:spcPts val="200"/>
              </a:spcBef>
              <a:defRPr sz="1000">
                <a:solidFill>
                  <a:srgbClr val="475569"/>
                </a:solidFill>
                <a:latin typeface="Microsoft YaHei"/>
              </a:defRPr>
            </a:pPr>
            <a:r>
              <a:t>NVIDIA、AMD、Intel、Arm 围绕 KVCache 存储、传输与管理展开软硬件协同全面竞争</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02 / 10 页</a:t>
            </a:r>
          </a:p>
        </p:txBody>
      </p:sp>
      <p:graphicFrame>
        <p:nvGraphicFramePr>
          <p:cNvPr id="4" name="Table 3"/>
          <p:cNvGraphicFramePr>
            <a:graphicFrameLocks noGrp="1"/>
          </p:cNvGraphicFramePr>
          <p:nvPr/>
        </p:nvGraphicFramePr>
        <p:xfrm>
          <a:off x="548640" y="1005840"/>
          <a:ext cx="11094415" cy="3401568"/>
        </p:xfrm>
        <a:graphic>
          <a:graphicData uri="http://schemas.openxmlformats.org/drawingml/2006/table">
            <a:tbl>
              <a:tblPr firstRow="1" bandRow="1">
                <a:tableStyleId>{5C22544A-7EE6-4342-B048-85BDC9FD1C3A}</a:tableStyleId>
              </a:tblPr>
              <a:tblGrid>
                <a:gridCol w="1508760"/>
                <a:gridCol w="2423160"/>
                <a:gridCol w="2423160"/>
                <a:gridCol w="2423160"/>
                <a:gridCol w="2316175"/>
              </a:tblGrid>
              <a:tr h="680313">
                <a:tc>
                  <a:txBody>
                    <a:bodyPr wrap="square" lIns="73152" rIns="73152" tIns="36576" bIns="36576"/>
                    <a:lstStyle/>
                    <a:p>
                      <a:pPr algn="ctr">
                        <a:defRPr sz="1050" b="1">
                          <a:solidFill>
                            <a:srgbClr val="FFFFFF"/>
                          </a:solidFill>
                          <a:latin typeface="Microsoft YaHei"/>
                        </a:defRPr>
                      </a:pPr>
                      <a:r>
                        <a:t>全球芯片巨头</a:t>
                      </a:r>
                    </a:p>
                  </a:txBody>
                  <a:tcPr>
                    <a:solidFill>
                      <a:srgbClr val="1E3A8A"/>
                    </a:solidFill>
                  </a:tcPr>
                </a:tc>
                <a:tc>
                  <a:txBody>
                    <a:bodyPr wrap="square" lIns="73152" rIns="73152" tIns="36576" bIns="36576"/>
                    <a:lstStyle/>
                    <a:p>
                      <a:pPr algn="ctr">
                        <a:defRPr sz="1050" b="1">
                          <a:solidFill>
                            <a:srgbClr val="FFFFFF"/>
                          </a:solidFill>
                          <a:latin typeface="Microsoft YaHei"/>
                        </a:defRPr>
                      </a:pPr>
                      <a:r>
                        <a:t>算子与单机微架构优化</a:t>
                      </a:r>
                    </a:p>
                  </a:txBody>
                  <a:tcPr>
                    <a:solidFill>
                      <a:srgbClr val="1E3A8A"/>
                    </a:solidFill>
                  </a:tcPr>
                </a:tc>
                <a:tc>
                  <a:txBody>
                    <a:bodyPr wrap="square" lIns="73152" rIns="73152" tIns="36576" bIns="36576"/>
                    <a:lstStyle/>
                    <a:p>
                      <a:pPr algn="ctr">
                        <a:defRPr sz="1050" b="1">
                          <a:solidFill>
                            <a:srgbClr val="FFFFFF"/>
                          </a:solidFill>
                          <a:latin typeface="Microsoft YaHei"/>
                        </a:defRPr>
                      </a:pPr>
                      <a:r>
                        <a:t>集群传输管理与协议引擎</a:t>
                      </a:r>
                    </a:p>
                  </a:txBody>
                  <a:tcPr>
                    <a:solidFill>
                      <a:srgbClr val="1E3A8A"/>
                    </a:solidFill>
                  </a:tcPr>
                </a:tc>
                <a:tc>
                  <a:txBody>
                    <a:bodyPr wrap="square" lIns="73152" rIns="73152" tIns="36576" bIns="36576"/>
                    <a:lstStyle/>
                    <a:p>
                      <a:pPr algn="ctr">
                        <a:defRPr sz="1050" b="1">
                          <a:solidFill>
                            <a:srgbClr val="FFFFFF"/>
                          </a:solidFill>
                          <a:latin typeface="Microsoft YaHei"/>
                        </a:defRPr>
                      </a:pPr>
                      <a:r>
                        <a:t>存储分层与 Host-Bypass (绕过CPU)</a:t>
                      </a:r>
                    </a:p>
                  </a:txBody>
                  <a:tcPr>
                    <a:solidFill>
                      <a:srgbClr val="1E3A8A"/>
                    </a:solidFill>
                  </a:tcPr>
                </a:tc>
                <a:tc>
                  <a:txBody>
                    <a:bodyPr wrap="square" lIns="73152" rIns="73152" tIns="36576" bIns="36576"/>
                    <a:lstStyle/>
                    <a:p>
                      <a:pPr algn="ctr">
                        <a:defRPr sz="1050" b="1">
                          <a:solidFill>
                            <a:srgbClr val="FFFFFF"/>
                          </a:solidFill>
                          <a:latin typeface="Microsoft YaHei"/>
                        </a:defRPr>
                      </a:pPr>
                      <a:r>
                        <a:t>生态战略与全栈商业化</a:t>
                      </a:r>
                    </a:p>
                  </a:txBody>
                  <a:tcPr>
                    <a:solidFill>
                      <a:srgbClr val="1E3A8A"/>
                    </a:solidFill>
                  </a:tcPr>
                </a:tc>
              </a:tr>
              <a:tr h="680313">
                <a:tc>
                  <a:txBody>
                    <a:bodyPr wrap="square" lIns="73152" rIns="73152" tIns="27432" bIns="27432"/>
                    <a:lstStyle/>
                    <a:p>
                      <a:pPr algn="ctr">
                        <a:lnSpc>
                          <a:spcPct val="116000"/>
                        </a:lnSpc>
                        <a:defRPr sz="919" b="1">
                          <a:solidFill>
                            <a:srgbClr val="1E3A8A"/>
                          </a:solidFill>
                          <a:latin typeface="Microsoft YaHei"/>
                        </a:defRPr>
                      </a:pPr>
                      <a:r>
                        <a:t>NVIDIA</a:t>
                      </a:r>
                      <a:br/>
                      <a:r>
                        <a:t>(垂直闭环极速)</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TensorRT-LLM 率先支持 FA-3 (快速注意力)</a:t>
                      </a:r>
                      <a:br/>
                      <a:r>
                        <a:t>• FP8 / FP4 KV 动态量化与 Chunked Prefill</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KVBM (KV 块管理器)</a:t>
                      </a:r>
                      <a:br/>
                      <a:r>
                        <a:t>• NVLink-Network 跨节点零拷贝</a:t>
                      </a:r>
                      <a:br/>
                      <a:r>
                        <a:t>• NIM 容器化微服务闭环</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GPUDirect Storage (GDS 显存直读存储)</a:t>
                      </a:r>
                      <a:br/>
                      <a:r>
                        <a:t>• NVSwitch C2C 内存池化</a:t>
                      </a:r>
                      <a:br/>
                      <a:r>
                        <a:t>• 完全绕过 Host CPU / DRAM (内存)</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软件生态全栈领先</a:t>
                      </a:r>
                      <a:br/>
                      <a:r>
                        <a:t>• 闭环企业级基础设施</a:t>
                      </a:r>
                      <a:br/>
                      <a:r>
                        <a:t>• 构筑软硬件深度协同壁垒</a:t>
                      </a:r>
                    </a:p>
                  </a:txBody>
                  <a:tcPr>
                    <a:solidFill>
                      <a:srgbClr val="FFFFFF"/>
                    </a:solidFill>
                  </a:tcPr>
                </a:tc>
              </a:tr>
              <a:tr h="680313">
                <a:tc>
                  <a:txBody>
                    <a:bodyPr wrap="square" lIns="73152" rIns="73152" tIns="27432" bIns="27432"/>
                    <a:lstStyle/>
                    <a:p>
                      <a:pPr algn="ctr">
                        <a:lnSpc>
                          <a:spcPct val="116000"/>
                        </a:lnSpc>
                        <a:defRPr sz="919" b="1">
                          <a:solidFill>
                            <a:srgbClr val="1E3A8A"/>
                          </a:solidFill>
                          <a:latin typeface="Microsoft YaHei"/>
                        </a:defRPr>
                      </a:pPr>
                      <a:r>
                        <a:t>AMD</a:t>
                      </a:r>
                      <a:br/>
                      <a:r>
                        <a:t>(开源分层并购)</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ROCm 算子库深度调优</a:t>
                      </a:r>
                      <a:br/>
                      <a:r>
                        <a:t>• SGLang / vLLM ROCm 后端支持</a:t>
                      </a:r>
                      <a:br/>
                      <a:r>
                        <a:t>• 矩阵指令深度适配</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主导开源 NIXL 传输引擎</a:t>
                      </a:r>
                      <a:br/>
                      <a:r>
                        <a:t>• 规范跨节点 KV 迁移标准</a:t>
                      </a:r>
                      <a:br/>
                      <a:r>
                        <a:t>• 深度适配多卡 RDMA (远程直接内存访问)</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ROCm hipFile 实现 Host-Bypass</a:t>
                      </a:r>
                      <a:br/>
                      <a:r>
                        <a:t>• 构建 HBM ➔ DRAM ➔ CXL / NVMe 分层</a:t>
                      </a:r>
                      <a:br/>
                      <a:r>
                        <a:t>• 重点投入 LMCache 多级缓存</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连续收购 Nod.ai (自动图编译)</a:t>
                      </a:r>
                      <a:br/>
                      <a:r>
                        <a:t>• 收购 Silo AI 与 ZT Systems</a:t>
                      </a:r>
                      <a:br/>
                      <a:r>
                        <a:t>• 补齐机架级全栈系统工程能力</a:t>
                      </a:r>
                    </a:p>
                  </a:txBody>
                  <a:tcPr>
                    <a:solidFill>
                      <a:srgbClr val="F1F5F9"/>
                    </a:solidFill>
                  </a:tcPr>
                </a:tc>
              </a:tr>
              <a:tr h="680313">
                <a:tc>
                  <a:txBody>
                    <a:bodyPr wrap="square" lIns="73152" rIns="73152" tIns="27432" bIns="27432"/>
                    <a:lstStyle/>
                    <a:p>
                      <a:pPr algn="ctr">
                        <a:lnSpc>
                          <a:spcPct val="116000"/>
                        </a:lnSpc>
                        <a:defRPr sz="919" b="1">
                          <a:solidFill>
                            <a:srgbClr val="1E3A8A"/>
                          </a:solidFill>
                          <a:latin typeface="Microsoft YaHei"/>
                        </a:defRPr>
                      </a:pPr>
                      <a:r>
                        <a:t>Intel</a:t>
                      </a:r>
                      <a:br/>
                      <a:r>
                        <a:t>(大内存溢出层)</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IPEX-LLM 与 OpenVINO 优化</a:t>
                      </a:r>
                      <a:br/>
                      <a:r>
                        <a:t>• 高比例 INT4 / INT8 动态量化</a:t>
                      </a:r>
                      <a:br/>
                      <a:r>
                        <a:t>• 大幅压降内存占用与时延</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DeepSpeed-FastGen 适配</a:t>
                      </a:r>
                      <a:br/>
                      <a:r>
                        <a:t>• Gaudi 分布式 PD 分离机制</a:t>
                      </a:r>
                      <a:br/>
                      <a:r>
                        <a:t>• 优化多节点网络同步</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利用 Xeon 大容量 DDR5 / CXL 扩展</a:t>
                      </a:r>
                      <a:br/>
                      <a:r>
                        <a:t>• 构建 Gaudi 低成本溢出层 (Overflow)</a:t>
                      </a:r>
                      <a:br/>
                      <a:r>
                        <a:t>• CPU 内存共享缓冲</a:t>
                      </a:r>
                    </a:p>
                  </a:txBody>
                  <a:tcPr>
                    <a:solidFill>
                      <a:srgbClr val="FFFFFF"/>
                    </a:solidFill>
                  </a:tcPr>
                </a:tc>
                <a:tc>
                  <a:txBody>
                    <a:bodyPr wrap="square" lIns="73152" rIns="73152" tIns="27432" bIns="27432"/>
                    <a:lstStyle/>
                    <a:p>
                      <a:pPr>
                        <a:lnSpc>
                          <a:spcPct val="116000"/>
                        </a:lnSpc>
                        <a:defRPr sz="919">
                          <a:solidFill>
                            <a:srgbClr val="0F172A"/>
                          </a:solidFill>
                          <a:latin typeface="Microsoft YaHei"/>
                        </a:defRPr>
                      </a:pPr>
                      <a:r>
                        <a:t>• 维护 Gaudi 专属开源生态</a:t>
                      </a:r>
                      <a:br/>
                      <a:r>
                        <a:t>• 结合服务器 CPU 内存容量优势</a:t>
                      </a:r>
                      <a:br/>
                      <a:r>
                        <a:t>• 降低大模型服务整体 TCO (总体拥有成本)</a:t>
                      </a:r>
                    </a:p>
                  </a:txBody>
                  <a:tcPr>
                    <a:solidFill>
                      <a:srgbClr val="FFFFFF"/>
                    </a:solidFill>
                  </a:tcPr>
                </a:tc>
              </a:tr>
              <a:tr h="680316">
                <a:tc>
                  <a:txBody>
                    <a:bodyPr wrap="square" lIns="73152" rIns="73152" tIns="27432" bIns="27432"/>
                    <a:lstStyle/>
                    <a:p>
                      <a:pPr algn="ctr">
                        <a:lnSpc>
                          <a:spcPct val="116000"/>
                        </a:lnSpc>
                        <a:defRPr sz="919" b="1">
                          <a:solidFill>
                            <a:srgbClr val="1E3A8A"/>
                          </a:solidFill>
                          <a:latin typeface="Microsoft YaHei"/>
                        </a:defRPr>
                      </a:pPr>
                      <a:r>
                        <a:t>Arm</a:t>
                      </a:r>
                      <a:br/>
                      <a:r>
                        <a:t>(微架构与CXL池)</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KleidiAI 汇编加速库</a:t>
                      </a:r>
                      <a:br/>
                      <a:r>
                        <a:t>• 针对 Neoverse SVE2 / SME 向量指令</a:t>
                      </a:r>
                      <a:br/>
                      <a:r>
                        <a:t>• 加速 KV 转置与 GEMM (通用矩阵乘)</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云端机架级跨节点共享</a:t>
                      </a:r>
                      <a:br/>
                      <a:r>
                        <a:t>• 统一内存互联协议标准</a:t>
                      </a:r>
                      <a:br/>
                      <a:r>
                        <a:t>• 优化多核并发读写性能</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结合 CXL 3.0 机架内存池</a:t>
                      </a:r>
                      <a:br/>
                      <a:r>
                        <a:t>• 端侧大内存直接寻址</a:t>
                      </a:r>
                      <a:br/>
                      <a:r>
                        <a:t>• 低功耗内存分层管理</a:t>
                      </a:r>
                    </a:p>
                  </a:txBody>
                  <a:tcPr>
                    <a:solidFill>
                      <a:srgbClr val="F1F5F9"/>
                    </a:solidFill>
                  </a:tcPr>
                </a:tc>
                <a:tc>
                  <a:txBody>
                    <a:bodyPr wrap="square" lIns="73152" rIns="73152" tIns="27432" bIns="27432"/>
                    <a:lstStyle/>
                    <a:p>
                      <a:pPr>
                        <a:lnSpc>
                          <a:spcPct val="116000"/>
                        </a:lnSpc>
                        <a:defRPr sz="919">
                          <a:solidFill>
                            <a:srgbClr val="0F172A"/>
                          </a:solidFill>
                          <a:latin typeface="Microsoft YaHei"/>
                        </a:defRPr>
                      </a:pPr>
                      <a:r>
                        <a:t>• llama.cpp / ExecuTorch 深度优化</a:t>
                      </a:r>
                      <a:br/>
                      <a:r>
                        <a:t>• 确立 Arm 64 位原生 KV 治理方案</a:t>
                      </a:r>
                      <a:br/>
                      <a:r>
                        <a:t>• 云边端全场景渗透</a:t>
                      </a:r>
                    </a:p>
                  </a:txBody>
                  <a:tcPr>
                    <a:solidFill>
                      <a:srgbClr val="F1F5F9"/>
                    </a:solidFill>
                  </a:tcPr>
                </a:tc>
              </a:tr>
            </a:tbl>
          </a:graphicData>
        </a:graphic>
      </p:graphicFrame>
      <p:sp>
        <p:nvSpPr>
          <p:cNvPr id="5" name="Rectangle 4"/>
          <p:cNvSpPr/>
          <p:nvPr/>
        </p:nvSpPr>
        <p:spPr>
          <a:xfrm>
            <a:off x="548640" y="4590288"/>
            <a:ext cx="3511296" cy="1243584"/>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58368" y="4663440"/>
            <a:ext cx="3291840" cy="1097280"/>
          </a:xfrm>
          <a:prstGeom prst="rect">
            <a:avLst/>
          </a:prstGeom>
          <a:noFill/>
        </p:spPr>
        <p:txBody>
          <a:bodyPr wrap="square" lIns="0" tIns="0" rIns="0" bIns="0">
            <a:spAutoFit/>
          </a:bodyPr>
          <a:lstStyle/>
          <a:p>
            <a:pPr>
              <a:defRPr sz="1200" b="1">
                <a:solidFill>
                  <a:srgbClr val="1E3A8A"/>
                </a:solidFill>
                <a:latin typeface="Microsoft YaHei"/>
              </a:defRPr>
            </a:pPr>
            <a:r>
              <a:t>趋势一：PD 分离架构成为行业趋势</a:t>
            </a:r>
          </a:p>
          <a:p>
            <a:pPr>
              <a:lnSpc>
                <a:spcPct val="122000"/>
              </a:lnSpc>
              <a:spcBef>
                <a:spcPts val="300"/>
              </a:spcBef>
              <a:defRPr sz="1050">
                <a:solidFill>
                  <a:srgbClr val="475569"/>
                </a:solidFill>
                <a:latin typeface="Microsoft YaHei"/>
              </a:defRPr>
            </a:pPr>
            <a:r>
              <a:t>Prefill（输入计算）与 Decode（生成解码）物理分离，KV 跨节点传输效率成为决定集群吞吐与 TTFT 的关键。</a:t>
            </a:r>
          </a:p>
        </p:txBody>
      </p:sp>
      <p:sp>
        <p:nvSpPr>
          <p:cNvPr id="7" name="Rectangle 6"/>
          <p:cNvSpPr/>
          <p:nvPr/>
        </p:nvSpPr>
        <p:spPr>
          <a:xfrm>
            <a:off x="4288536" y="4590288"/>
            <a:ext cx="3511296" cy="1243584"/>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4398264" y="4663440"/>
            <a:ext cx="3291840" cy="1097280"/>
          </a:xfrm>
          <a:prstGeom prst="rect">
            <a:avLst/>
          </a:prstGeom>
          <a:noFill/>
        </p:spPr>
        <p:txBody>
          <a:bodyPr wrap="square" lIns="0" tIns="0" rIns="0" bIns="0">
            <a:spAutoFit/>
          </a:bodyPr>
          <a:lstStyle/>
          <a:p>
            <a:pPr>
              <a:defRPr sz="1200" b="1">
                <a:solidFill>
                  <a:srgbClr val="1E3A8A"/>
                </a:solidFill>
                <a:latin typeface="Microsoft YaHei"/>
              </a:defRPr>
            </a:pPr>
            <a:r>
              <a:t>趋势二：全栈走向 Host-Bypass 硬件卸载</a:t>
            </a:r>
          </a:p>
          <a:p>
            <a:pPr>
              <a:lnSpc>
                <a:spcPct val="122000"/>
              </a:lnSpc>
              <a:spcBef>
                <a:spcPts val="300"/>
              </a:spcBef>
              <a:defRPr sz="1050">
                <a:solidFill>
                  <a:srgbClr val="475569"/>
                </a:solidFill>
                <a:latin typeface="Microsoft YaHei"/>
              </a:defRPr>
            </a:pPr>
            <a:r>
              <a:t>淘汰 Host CPU / 内存中转，通过 RDMA / GDS / URMA 硬件直达，实现 CPU 零数据拷贝。</a:t>
            </a:r>
          </a:p>
        </p:txBody>
      </p:sp>
      <p:sp>
        <p:nvSpPr>
          <p:cNvPr id="9" name="Rectangle 8"/>
          <p:cNvSpPr/>
          <p:nvPr/>
        </p:nvSpPr>
        <p:spPr>
          <a:xfrm>
            <a:off x="8028432" y="4590288"/>
            <a:ext cx="3511296" cy="1243584"/>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138160" y="4663440"/>
            <a:ext cx="3291840" cy="1097280"/>
          </a:xfrm>
          <a:prstGeom prst="rect">
            <a:avLst/>
          </a:prstGeom>
          <a:noFill/>
        </p:spPr>
        <p:txBody>
          <a:bodyPr wrap="square" lIns="0" tIns="0" rIns="0" bIns="0">
            <a:spAutoFit/>
          </a:bodyPr>
          <a:lstStyle/>
          <a:p>
            <a:pPr>
              <a:defRPr sz="1200" b="1">
                <a:solidFill>
                  <a:srgbClr val="1E3A8A"/>
                </a:solidFill>
                <a:latin typeface="Microsoft YaHei"/>
              </a:defRPr>
            </a:pPr>
            <a:r>
              <a:t>趋势三：原厂软硬件协同成为系统竞争关键</a:t>
            </a:r>
          </a:p>
          <a:p>
            <a:pPr>
              <a:lnSpc>
                <a:spcPct val="122000"/>
              </a:lnSpc>
              <a:spcBef>
                <a:spcPts val="300"/>
              </a:spcBef>
              <a:defRPr sz="1050">
                <a:solidFill>
                  <a:srgbClr val="475569"/>
                </a:solidFill>
                <a:latin typeface="Microsoft YaHei"/>
              </a:defRPr>
            </a:pPr>
            <a:r>
              <a:t>巨头全栈闭环演进表明：国产芯片必须建立原厂软硬件协同底座，将底层硬件潜力转化为真实业务收益。</a:t>
            </a:r>
          </a:p>
        </p:txBody>
      </p:sp>
      <p:sp>
        <p:nvSpPr>
          <p:cNvPr id="11" name="Rectangle 10"/>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产业格局启示：</a:t>
            </a:r>
            <a:r>
              <a:rPr sz="1150" b="0">
                <a:solidFill>
                  <a:srgbClr val="0F172A"/>
                </a:solidFill>
                <a:latin typeface="Microsoft YaHei"/>
              </a:rPr>
              <a:t>全球芯片巨头的竞争已从单卡硬件算力拓展到 </a:t>
            </a:r>
            <a:r>
              <a:rPr sz="1150" b="1">
                <a:solidFill>
                  <a:srgbClr val="DC2626"/>
                </a:solidFill>
                <a:latin typeface="Microsoft YaHei"/>
              </a:rPr>
              <a:t>系统级状态管理与软硬件全栈协同</a:t>
            </a:r>
            <a:r>
              <a:rPr sz="1150" b="0">
                <a:solidFill>
                  <a:srgbClr val="0F172A"/>
                </a:solidFill>
                <a:latin typeface="Microsoft YaHei"/>
              </a:rPr>
              <a:t>。国产芯片必须打造 </a:t>
            </a:r>
            <a:r>
              <a:rPr sz="1150" b="1">
                <a:solidFill>
                  <a:srgbClr val="DC2626"/>
                </a:solidFill>
                <a:latin typeface="Microsoft YaHei"/>
              </a:rPr>
              <a:t>原厂软硬件协同底座</a:t>
            </a:r>
            <a:r>
              <a:rPr sz="1150" b="0">
                <a:solidFill>
                  <a:srgbClr val="0F172A"/>
                </a:solidFill>
                <a:latin typeface="Microsoft YaHei"/>
              </a:rPr>
              <a:t>，深度挖掘硬件互联与存储潜力，才能将底层微架构优势转化为端到端业务收益。</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开源软件不足剖析 (1/2)：Mooncake 原始设计优势与真实定位取舍</a:t>
            </a:r>
          </a:p>
          <a:p>
            <a:pPr>
              <a:spcBef>
                <a:spcPts val="200"/>
              </a:spcBef>
              <a:defRPr sz="1000">
                <a:solidFill>
                  <a:srgbClr val="475569"/>
                </a:solidFill>
                <a:latin typeface="Microsoft YaHei"/>
              </a:defRPr>
            </a:pPr>
            <a:r>
              <a:t>FAST '25 64KB Slice Spraying（切片并发发送）模式的设计意图、吞吐亮点与客观工程边界</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03 / 10 页</a:t>
            </a:r>
          </a:p>
        </p:txBody>
      </p:sp>
      <p:sp>
        <p:nvSpPr>
          <p:cNvPr id="4" name="Rectangle 3"/>
          <p:cNvSpPr/>
          <p:nvPr/>
        </p:nvSpPr>
        <p:spPr>
          <a:xfrm>
            <a:off x="548640" y="1060704"/>
            <a:ext cx="5440680" cy="3584448"/>
          </a:xfrm>
          <a:prstGeom prst="rect">
            <a:avLst/>
          </a:prstGeom>
          <a:solidFill>
            <a:srgbClr val="FFFF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52144"/>
            <a:ext cx="5166360" cy="3401568"/>
          </a:xfrm>
          <a:prstGeom prst="rect">
            <a:avLst/>
          </a:prstGeom>
          <a:noFill/>
        </p:spPr>
        <p:txBody>
          <a:bodyPr wrap="square" lIns="0" tIns="0" rIns="0" bIns="0">
            <a:spAutoFit/>
          </a:bodyPr>
          <a:lstStyle/>
          <a:p>
            <a:pPr>
              <a:defRPr sz="1300" b="1">
                <a:solidFill>
                  <a:srgbClr val="1D4ED8"/>
                </a:solidFill>
                <a:latin typeface="Microsoft YaHei"/>
              </a:defRPr>
            </a:pPr>
            <a:r>
              <a:t>Mooncake (FAST '25) 4 大原始设计意图与优势</a:t>
            </a:r>
          </a:p>
          <a:p>
            <a:pPr>
              <a:spcBef>
                <a:spcPts val="200"/>
              </a:spcBef>
              <a:spcAft>
                <a:spcPts val="400"/>
              </a:spcAft>
              <a:defRPr sz="1050" b="1">
                <a:solidFill>
                  <a:srgbClr val="475569"/>
                </a:solidFill>
                <a:latin typeface="Microsoft YaHei"/>
              </a:defRPr>
            </a:pPr>
            <a:r>
              <a:t>面向长文本 KVCache 巨大体积与闲置内存的去中心化设计</a:t>
            </a:r>
          </a:p>
          <a:p>
            <a:pPr>
              <a:lnSpc>
                <a:spcPct val="122000"/>
              </a:lnSpc>
              <a:spcBef>
                <a:spcPts val="500"/>
              </a:spcBef>
              <a:defRPr sz="1200" b="1">
                <a:solidFill>
                  <a:srgbClr val="1E3A8A"/>
                </a:solidFill>
                <a:latin typeface="Microsoft YaHei"/>
              </a:defRPr>
            </a:pPr>
            <a:r>
              <a:t>✔ 多轨网卡带宽聚合：</a:t>
            </a:r>
            <a:r>
              <a:rPr sz="1150" b="0">
                <a:solidFill>
                  <a:srgbClr val="475569"/>
                </a:solidFill>
                <a:latin typeface="Microsoft YaHei"/>
              </a:rPr>
              <a:t>64 KB 切片多网卡并发发送 (Slice Spraying)，1-to-1 专网测得 87 GB/s+ 吞吐。</a:t>
            </a:r>
          </a:p>
          <a:p>
            <a:pPr>
              <a:lnSpc>
                <a:spcPct val="122000"/>
              </a:lnSpc>
              <a:spcBef>
                <a:spcPts val="500"/>
              </a:spcBef>
              <a:defRPr sz="1200" b="1">
                <a:solidFill>
                  <a:srgbClr val="1E3A8A"/>
                </a:solidFill>
                <a:latin typeface="Microsoft YaHei"/>
              </a:defRPr>
            </a:pPr>
            <a:r>
              <a:t>✔ 集群闲置存储负载均衡：</a:t>
            </a:r>
            <a:r>
              <a:rPr sz="1150" b="0">
                <a:solidFill>
                  <a:srgbClr val="475569"/>
                </a:solidFill>
                <a:latin typeface="Microsoft YaHei"/>
              </a:rPr>
              <a:t>类似 RAID-0 条带化理念，将 KV 块散落数十个节点，均衡利用集群闲置内存。</a:t>
            </a:r>
          </a:p>
          <a:p>
            <a:pPr>
              <a:lnSpc>
                <a:spcPct val="122000"/>
              </a:lnSpc>
              <a:spcBef>
                <a:spcPts val="500"/>
              </a:spcBef>
              <a:defRPr sz="1200" b="1">
                <a:solidFill>
                  <a:srgbClr val="1E3A8A"/>
                </a:solidFill>
                <a:latin typeface="Microsoft YaHei"/>
              </a:defRPr>
            </a:pPr>
            <a:r>
              <a:t>✔ 保持通用性与模型解耦：</a:t>
            </a:r>
            <a:r>
              <a:rPr sz="1150" b="0">
                <a:solidFill>
                  <a:srgbClr val="475569"/>
                </a:solidFill>
                <a:latin typeface="Microsoft YaHei"/>
              </a:rPr>
              <a:t>KVCache 抽象为二进制切片 (Opaque Bytes)，与具体 LLM 模型架构解耦以保持通用。</a:t>
            </a:r>
          </a:p>
          <a:p>
            <a:pPr>
              <a:lnSpc>
                <a:spcPct val="122000"/>
              </a:lnSpc>
              <a:spcBef>
                <a:spcPts val="500"/>
              </a:spcBef>
              <a:defRPr sz="1200" b="1">
                <a:solidFill>
                  <a:srgbClr val="1E3A8A"/>
                </a:solidFill>
                <a:latin typeface="Microsoft YaHei"/>
              </a:defRPr>
            </a:pPr>
            <a:r>
              <a:t>✔ 契合硬件 DMA 颗粒度：</a:t>
            </a:r>
            <a:r>
              <a:rPr sz="1150" b="0">
                <a:solidFill>
                  <a:srgbClr val="475569"/>
                </a:solidFill>
                <a:latin typeface="Microsoft YaHei"/>
              </a:rPr>
              <a:t>64 KB 切片尺寸契合 PCIe TLP 与 RDMA QP 最佳线速 DMA 传输颗粒度。</a:t>
            </a:r>
          </a:p>
        </p:txBody>
      </p:sp>
      <p:sp>
        <p:nvSpPr>
          <p:cNvPr id="6" name="Rectangle 5"/>
          <p:cNvSpPr/>
          <p:nvPr/>
        </p:nvSpPr>
        <p:spPr>
          <a:xfrm>
            <a:off x="6202375" y="1060704"/>
            <a:ext cx="5440680" cy="3584448"/>
          </a:xfrm>
          <a:prstGeom prst="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39535" y="1152144"/>
            <a:ext cx="5166360" cy="3401568"/>
          </a:xfrm>
          <a:prstGeom prst="rect">
            <a:avLst/>
          </a:prstGeom>
          <a:noFill/>
        </p:spPr>
        <p:txBody>
          <a:bodyPr wrap="square" lIns="0" tIns="0" rIns="0" bIns="0">
            <a:spAutoFit/>
          </a:bodyPr>
          <a:lstStyle/>
          <a:p>
            <a:pPr>
              <a:defRPr sz="1300" b="1">
                <a:solidFill>
                  <a:srgbClr val="BE123C"/>
                </a:solidFill>
                <a:latin typeface="Microsoft YaHei"/>
              </a:defRPr>
            </a:pPr>
            <a:r>
              <a:t>客观工程局限：无语义抽象带来的 4 大结构性代价</a:t>
            </a:r>
          </a:p>
          <a:p>
            <a:pPr>
              <a:spcBef>
                <a:spcPts val="200"/>
              </a:spcBef>
              <a:spcAft>
                <a:spcPts val="400"/>
              </a:spcAft>
              <a:defRPr sz="1050" b="1">
                <a:solidFill>
                  <a:srgbClr val="475569"/>
                </a:solidFill>
                <a:latin typeface="Microsoft YaHei"/>
              </a:defRPr>
            </a:pPr>
            <a:r>
              <a:t>侧重后台写吞吐打满，在生产集群前台读 (Load) 阶段引发长尾时延上升</a:t>
            </a:r>
          </a:p>
          <a:p>
            <a:pPr>
              <a:lnSpc>
                <a:spcPct val="122000"/>
              </a:lnSpc>
              <a:spcBef>
                <a:spcPts val="500"/>
              </a:spcBef>
              <a:defRPr sz="1200" b="1">
                <a:solidFill>
                  <a:srgbClr val="BE123C"/>
                </a:solidFill>
                <a:latin typeface="Microsoft YaHei"/>
              </a:defRPr>
            </a:pPr>
            <a:r>
              <a:t>✘ “后台写”与“前台读”严重非对称：</a:t>
            </a:r>
            <a:r>
              <a:rPr sz="1150" b="0">
                <a:solidFill>
                  <a:srgbClr val="0F172A"/>
                </a:solidFill>
                <a:latin typeface="Microsoft YaHei"/>
              </a:rPr>
              <a:t>写属后台吞吐路径；但读属前台 TTFT 关键路径，单个慢节点即导致整层计算等待。</a:t>
            </a:r>
          </a:p>
          <a:p>
            <a:pPr>
              <a:lnSpc>
                <a:spcPct val="122000"/>
              </a:lnSpc>
              <a:spcBef>
                <a:spcPts val="500"/>
              </a:spcBef>
              <a:defRPr sz="1200" b="1">
                <a:solidFill>
                  <a:srgbClr val="BE123C"/>
                </a:solidFill>
                <a:latin typeface="Microsoft YaHei"/>
              </a:defRPr>
            </a:pPr>
            <a:r>
              <a:t>✘ 无语义导致无法感知层级依赖：</a:t>
            </a:r>
            <a:r>
              <a:rPr sz="1150" b="0">
                <a:solidFill>
                  <a:srgbClr val="0F172A"/>
                </a:solidFill>
                <a:latin typeface="Microsoft YaHei"/>
              </a:rPr>
              <a:t>不感知 Layer 0 ~ 31 计算依赖，Layer 0 切片若遇慢网卡将引发 NPU 计算流水等待。</a:t>
            </a:r>
          </a:p>
          <a:p>
            <a:pPr>
              <a:lnSpc>
                <a:spcPct val="122000"/>
              </a:lnSpc>
              <a:spcBef>
                <a:spcPts val="500"/>
              </a:spcBef>
              <a:defRPr sz="1200" b="1">
                <a:solidFill>
                  <a:srgbClr val="BE123C"/>
                </a:solidFill>
                <a:latin typeface="Microsoft YaHei"/>
              </a:defRPr>
            </a:pPr>
            <a:r>
              <a:t>✘ 同一层 KV 跨节点切碎致长尾抖动：</a:t>
            </a:r>
            <a:r>
              <a:rPr sz="1150" b="0">
                <a:solidFill>
                  <a:srgbClr val="0F172A"/>
                </a:solidFill>
                <a:latin typeface="Microsoft YaHei"/>
              </a:rPr>
              <a:t>同一层 KV 散落各节点，拉取总耗时取决于最慢节点（木桶短板效应）。</a:t>
            </a:r>
          </a:p>
          <a:p>
            <a:pPr>
              <a:lnSpc>
                <a:spcPct val="122000"/>
              </a:lnSpc>
              <a:spcBef>
                <a:spcPts val="500"/>
              </a:spcBef>
              <a:defRPr sz="1200" b="1">
                <a:solidFill>
                  <a:srgbClr val="BE123C"/>
                </a:solidFill>
                <a:latin typeface="Microsoft YaHei"/>
              </a:defRPr>
            </a:pPr>
            <a:r>
              <a:t>✘ 开源定位无法承载企业级高可用：</a:t>
            </a:r>
            <a:r>
              <a:rPr sz="1150" b="0">
                <a:solidFill>
                  <a:srgbClr val="0F172A"/>
                </a:solidFill>
                <a:latin typeface="Microsoft YaHei"/>
              </a:rPr>
              <a:t>开源主干对多租户配额、高可用 HA（高可用性）仅保留 Stub 空桩，无法兜底生产 SLA。</a:t>
            </a:r>
          </a:p>
        </p:txBody>
      </p:sp>
      <p:sp>
        <p:nvSpPr>
          <p:cNvPr id="8" name="Rectangle 7"/>
          <p:cNvSpPr/>
          <p:nvPr/>
        </p:nvSpPr>
        <p:spPr>
          <a:xfrm>
            <a:off x="548640" y="4736592"/>
            <a:ext cx="11094415" cy="111556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85800" y="4782312"/>
            <a:ext cx="10820095" cy="228600"/>
          </a:xfrm>
          <a:prstGeom prst="rect">
            <a:avLst/>
          </a:prstGeom>
          <a:noFill/>
        </p:spPr>
        <p:txBody>
          <a:bodyPr wrap="none" lIns="0" tIns="0" rIns="0" bIns="0">
            <a:spAutoFit/>
          </a:bodyPr>
          <a:lstStyle/>
          <a:p>
            <a:pPr>
              <a:defRPr sz="1150" b="1">
                <a:solidFill>
                  <a:srgbClr val="1E3A8A"/>
                </a:solidFill>
                <a:latin typeface="Microsoft YaHei"/>
              </a:defRPr>
            </a:pPr>
            <a:r>
              <a:t>【性能非对称性机理图解：为什么后台写吞吐打满，不能代表前台读 TTFT 优秀？】</a:t>
            </a:r>
          </a:p>
        </p:txBody>
      </p:sp>
      <p:sp>
        <p:nvSpPr>
          <p:cNvPr id="10" name="Rectangle 9"/>
          <p:cNvSpPr/>
          <p:nvPr/>
        </p:nvSpPr>
        <p:spPr>
          <a:xfrm>
            <a:off x="685800" y="5029200"/>
            <a:ext cx="5303520"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77240" y="5065776"/>
            <a:ext cx="5120640" cy="640080"/>
          </a:xfrm>
          <a:prstGeom prst="rect">
            <a:avLst/>
          </a:prstGeom>
          <a:noFill/>
        </p:spPr>
        <p:txBody>
          <a:bodyPr wrap="square" lIns="0" tIns="0" rIns="0" bIns="0">
            <a:spAutoFit/>
          </a:bodyPr>
          <a:lstStyle/>
          <a:p>
            <a:pPr>
              <a:defRPr sz="1100" b="1">
                <a:solidFill>
                  <a:srgbClr val="1D4ED8"/>
                </a:solidFill>
                <a:latin typeface="Microsoft YaHei"/>
              </a:defRPr>
            </a:pPr>
            <a:r>
              <a:t>✔ 后台写路径 (Offload - 吞吐优先)</a:t>
            </a:r>
          </a:p>
          <a:p>
            <a:pPr>
              <a:lnSpc>
                <a:spcPct val="120000"/>
              </a:lnSpc>
              <a:spcBef>
                <a:spcPts val="200"/>
              </a:spcBef>
              <a:defRPr sz="1000">
                <a:solidFill>
                  <a:srgbClr val="0F172A"/>
                </a:solidFill>
                <a:latin typeface="Microsoft YaHei"/>
              </a:defRPr>
            </a:pPr>
            <a:r>
              <a:t>[Producer 显存] ➔ 64 KB 切片发送 ➔ 多轨网卡并发 ➔ 87 GB/s+ (后台写满无阻)</a:t>
            </a:r>
          </a:p>
        </p:txBody>
      </p:sp>
      <p:sp>
        <p:nvSpPr>
          <p:cNvPr id="12" name="Rectangle 11"/>
          <p:cNvSpPr/>
          <p:nvPr/>
        </p:nvSpPr>
        <p:spPr>
          <a:xfrm>
            <a:off x="6217920" y="5029200"/>
            <a:ext cx="5303520" cy="713232"/>
          </a:xfrm>
          <a:prstGeom prst="rect">
            <a:avLst/>
          </a:prstGeom>
          <a:solidFill>
            <a:srgbClr val="FFF1F2"/>
          </a:solidFill>
          <a:ln w="1270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9360" y="5065776"/>
            <a:ext cx="5120640" cy="640080"/>
          </a:xfrm>
          <a:prstGeom prst="rect">
            <a:avLst/>
          </a:prstGeom>
          <a:noFill/>
        </p:spPr>
        <p:txBody>
          <a:bodyPr wrap="square" lIns="0" tIns="0" rIns="0" bIns="0">
            <a:spAutoFit/>
          </a:bodyPr>
          <a:lstStyle/>
          <a:p>
            <a:pPr>
              <a:defRPr sz="1100" b="1">
                <a:solidFill>
                  <a:srgbClr val="BE123C"/>
                </a:solidFill>
                <a:latin typeface="Microsoft YaHei"/>
              </a:defRPr>
            </a:pPr>
            <a:r>
              <a:t>✘ 前台读路径 (Load - 时延与 P99 优先)</a:t>
            </a:r>
          </a:p>
          <a:p>
            <a:pPr>
              <a:lnSpc>
                <a:spcPct val="120000"/>
              </a:lnSpc>
              <a:spcBef>
                <a:spcPts val="200"/>
              </a:spcBef>
              <a:defRPr sz="1000">
                <a:solidFill>
                  <a:srgbClr val="0F172A"/>
                </a:solidFill>
                <a:latin typeface="Microsoft YaHei"/>
              </a:defRPr>
            </a:pPr>
            <a:r>
              <a:t>[Consumer 拉取] ➔ 多节点并发回传 ➔ Incast 拥塞 + 木桶短板 ➔ P99 尾延迟上升</a:t>
            </a:r>
          </a:p>
        </p:txBody>
      </p:sp>
      <p:sp>
        <p:nvSpPr>
          <p:cNvPr id="14" name="Rectangle 13"/>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架构定位差异：</a:t>
            </a:r>
            <a:r>
              <a:rPr sz="1150" b="0">
                <a:solidFill>
                  <a:srgbClr val="0F172A"/>
                </a:solidFill>
                <a:latin typeface="Microsoft YaHei"/>
              </a:rPr>
              <a:t>Mooncake 聚焦通用跨节点数据传输与写带宽打满，但缺乏模型层级语义感知，导致前台读（Load）面临严重的 </a:t>
            </a:r>
            <a:r>
              <a:rPr sz="1150" b="1">
                <a:solidFill>
                  <a:srgbClr val="DC2626"/>
                </a:solidFill>
                <a:latin typeface="Microsoft YaHei"/>
              </a:rPr>
              <a:t>Incast 网络拥塞与尾延迟抖动</a:t>
            </a:r>
            <a:r>
              <a:rPr sz="1150" b="0">
                <a:solidFill>
                  <a:srgbClr val="0F172A"/>
                </a:solidFill>
                <a:latin typeface="Microsoft YaHei"/>
              </a:rPr>
              <a:t>；本项目通过引入 </a:t>
            </a:r>
            <a:r>
              <a:rPr sz="1150" b="1">
                <a:solidFill>
                  <a:srgbClr val="DC2626"/>
                </a:solidFill>
                <a:latin typeface="Microsoft YaHei"/>
              </a:rPr>
              <a:t>LLM 语义感知与芯片底层直达传输</a:t>
            </a:r>
            <a:r>
              <a:rPr sz="1150" b="0">
                <a:solidFill>
                  <a:srgbClr val="0F172A"/>
                </a:solidFill>
                <a:latin typeface="Microsoft YaHei"/>
              </a:rPr>
              <a:t>，在保障吞吐的同时重点消除前台读的长尾延迟。</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开源软件不足剖析 (2/2)：代码级预埋点、社区真实反馈与开源方案落地局限</a:t>
            </a:r>
          </a:p>
          <a:p>
            <a:pPr>
              <a:spcBef>
                <a:spcPts val="200"/>
              </a:spcBef>
              <a:defRPr sz="1000">
                <a:solidFill>
                  <a:srgbClr val="475569"/>
                </a:solidFill>
                <a:latin typeface="Microsoft YaHei"/>
              </a:defRPr>
            </a:pPr>
            <a:r>
              <a:t>源码行级证据穿透“单流 P50 局限”，揭示生产集群网络争抢与开源方案的实际落地边界</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04 / 10 页</a:t>
            </a:r>
          </a:p>
        </p:txBody>
      </p:sp>
      <p:sp>
        <p:nvSpPr>
          <p:cNvPr id="4" name="Rectangle 3"/>
          <p:cNvSpPr/>
          <p:nvPr/>
        </p:nvSpPr>
        <p:spPr>
          <a:xfrm>
            <a:off x="548640" y="1097280"/>
            <a:ext cx="5440680" cy="2240280"/>
          </a:xfrm>
          <a:prstGeom prst="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70432"/>
            <a:ext cx="5221224" cy="2093976"/>
          </a:xfrm>
          <a:prstGeom prst="rect">
            <a:avLst/>
          </a:prstGeom>
          <a:noFill/>
        </p:spPr>
        <p:txBody>
          <a:bodyPr wrap="square" lIns="0" tIns="0" rIns="0" bIns="0">
            <a:spAutoFit/>
          </a:bodyPr>
          <a:lstStyle/>
          <a:p>
            <a:pPr>
              <a:defRPr sz="1250" b="1">
                <a:solidFill>
                  <a:srgbClr val="BE123C"/>
                </a:solidFill>
                <a:latin typeface="Microsoft YaHei"/>
              </a:defRPr>
            </a:pPr>
            <a:r>
              <a:t>1. 物理机理与社区反馈：Incast 拥塞与尾延迟尖峰</a:t>
            </a:r>
          </a:p>
          <a:p>
            <a:pPr>
              <a:spcBef>
                <a:spcPts val="100"/>
              </a:spcBef>
              <a:spcAft>
                <a:spcPts val="200"/>
              </a:spcAft>
              <a:defRPr sz="1000" b="1">
                <a:solidFill>
                  <a:srgbClr val="475569"/>
                </a:solidFill>
                <a:latin typeface="Microsoft YaHei"/>
              </a:defRPr>
            </a:pPr>
            <a:r>
              <a:t>[网络物理机理与 vLLM 社区反馈证据]</a:t>
            </a:r>
          </a:p>
          <a:p>
            <a:pPr>
              <a:lnSpc>
                <a:spcPct val="122000"/>
              </a:lnSpc>
              <a:spcBef>
                <a:spcPts val="600"/>
              </a:spcBef>
              <a:defRPr sz="1200" b="1">
                <a:solidFill>
                  <a:srgbClr val="0F172A"/>
                </a:solidFill>
                <a:latin typeface="Microsoft YaHei"/>
              </a:defRPr>
            </a:pPr>
            <a:r>
              <a:t>• Incast 交换机拥塞：</a:t>
            </a:r>
            <a:r>
              <a:rPr sz="1150" b="0">
                <a:solidFill>
                  <a:srgbClr val="475569"/>
                </a:solidFill>
                <a:latin typeface="Microsoft YaHei"/>
              </a:rPr>
              <a:t>多节点同时向单端口回传切片，交换机端口瞬间承压引发排队风暴与丢包。</a:t>
            </a:r>
          </a:p>
          <a:p>
            <a:pPr>
              <a:lnSpc>
                <a:spcPct val="122000"/>
              </a:lnSpc>
              <a:spcBef>
                <a:spcPts val="600"/>
              </a:spcBef>
              <a:defRPr sz="1200" b="1">
                <a:solidFill>
                  <a:srgbClr val="0F172A"/>
                </a:solidFill>
                <a:latin typeface="Microsoft YaHei"/>
              </a:defRPr>
            </a:pPr>
            <a:r>
              <a:t>• 社区真实反馈：</a:t>
            </a:r>
            <a:r>
              <a:rPr sz="1150" b="0">
                <a:solidFill>
                  <a:srgbClr val="475569"/>
                </a:solidFill>
                <a:latin typeface="Microsoft YaHei"/>
              </a:rPr>
              <a:t>云厂商在 vLLM PR #10502 / #10884 反馈 100+ 节点混压下 P99 尾延迟恶化。</a:t>
            </a:r>
          </a:p>
          <a:p>
            <a:pPr>
              <a:lnSpc>
                <a:spcPct val="122000"/>
              </a:lnSpc>
              <a:spcBef>
                <a:spcPts val="600"/>
              </a:spcBef>
              <a:defRPr sz="1200" b="1">
                <a:solidFill>
                  <a:srgbClr val="0F172A"/>
                </a:solidFill>
                <a:latin typeface="Microsoft YaHei"/>
              </a:defRPr>
            </a:pPr>
            <a:r>
              <a:t>• 论文测试边界：</a:t>
            </a:r>
            <a:r>
              <a:rPr sz="1150" b="0">
                <a:solidFill>
                  <a:srgbClr val="475569"/>
                </a:solidFill>
                <a:latin typeface="Microsoft YaHei"/>
              </a:rPr>
              <a:t>FAST '25 论文主要公布 1-to-1 直连环境 P50 中位数，未覆盖生产高并发网络争抢。</a:t>
            </a:r>
          </a:p>
        </p:txBody>
      </p:sp>
      <p:sp>
        <p:nvSpPr>
          <p:cNvPr id="6" name="Rectangle 5"/>
          <p:cNvSpPr/>
          <p:nvPr/>
        </p:nvSpPr>
        <p:spPr>
          <a:xfrm>
            <a:off x="6202375" y="1097280"/>
            <a:ext cx="5440680" cy="2240280"/>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12103" y="1170432"/>
            <a:ext cx="5221224" cy="2093976"/>
          </a:xfrm>
          <a:prstGeom prst="rect">
            <a:avLst/>
          </a:prstGeom>
          <a:noFill/>
        </p:spPr>
        <p:txBody>
          <a:bodyPr wrap="square" lIns="0" tIns="0" rIns="0" bIns="0">
            <a:spAutoFit/>
          </a:bodyPr>
          <a:lstStyle/>
          <a:p>
            <a:pPr>
              <a:defRPr sz="1250" b="1">
                <a:solidFill>
                  <a:srgbClr val="BE123C"/>
                </a:solidFill>
                <a:latin typeface="Microsoft YaHei"/>
              </a:defRPr>
            </a:pPr>
            <a:r>
              <a:t>2. 代码架构与层级缺失：types.h 无模型层级定义</a:t>
            </a:r>
          </a:p>
          <a:p>
            <a:pPr>
              <a:spcBef>
                <a:spcPts val="100"/>
              </a:spcBef>
              <a:spcAft>
                <a:spcPts val="200"/>
              </a:spcAft>
              <a:defRPr sz="1000" b="1">
                <a:solidFill>
                  <a:srgbClr val="475569"/>
                </a:solidFill>
                <a:latin typeface="Microsoft YaHei"/>
              </a:defRPr>
            </a:pPr>
            <a:r>
              <a:t>[源码分析：模型层级感知缺失与多 TP 孤立排队]</a:t>
            </a:r>
          </a:p>
          <a:p>
            <a:pPr>
              <a:lnSpc>
                <a:spcPct val="122000"/>
              </a:lnSpc>
              <a:spcBef>
                <a:spcPts val="600"/>
              </a:spcBef>
              <a:defRPr sz="1200" b="1">
                <a:solidFill>
                  <a:srgbClr val="0F172A"/>
                </a:solidFill>
                <a:latin typeface="Microsoft YaHei"/>
              </a:defRPr>
            </a:pPr>
            <a:r>
              <a:t>• 源码 types.h 零层级：</a:t>
            </a:r>
            <a:r>
              <a:rPr sz="1150" b="0">
                <a:solidFill>
                  <a:srgbClr val="475569"/>
                </a:solidFill>
                <a:latin typeface="Microsoft YaHei"/>
              </a:rPr>
              <a:t>Request 结构体仅含 offset / length，无 layer_id 字段，无法感知模型计算次序。</a:t>
            </a:r>
          </a:p>
          <a:p>
            <a:pPr>
              <a:lnSpc>
                <a:spcPct val="122000"/>
              </a:lnSpc>
              <a:spcBef>
                <a:spcPts val="600"/>
              </a:spcBef>
              <a:defRPr sz="1200" b="1">
                <a:solidFill>
                  <a:srgbClr val="0F172A"/>
                </a:solidFill>
                <a:latin typeface="Microsoft YaHei"/>
              </a:defRPr>
            </a:pPr>
            <a:r>
              <a:t>• Layer 0 阻塞风险：</a:t>
            </a:r>
            <a:r>
              <a:rPr sz="1150" b="0">
                <a:solidFill>
                  <a:srgbClr val="475569"/>
                </a:solidFill>
                <a:latin typeface="Microsoft YaHei"/>
              </a:rPr>
              <a:t>Layer 0 切片若遇慢网卡延迟 10 µs，后续 NPU GEMM（矩阵计算）流水将陷入等待。</a:t>
            </a:r>
          </a:p>
          <a:p>
            <a:pPr>
              <a:lnSpc>
                <a:spcPct val="122000"/>
              </a:lnSpc>
              <a:spcBef>
                <a:spcPts val="600"/>
              </a:spcBef>
              <a:defRPr sz="1200" b="1">
                <a:solidFill>
                  <a:srgbClr val="0F172A"/>
                </a:solidFill>
                <a:latin typeface="Microsoft YaHei"/>
              </a:defRPr>
            </a:pPr>
            <a:r>
              <a:t>• 多 TP 孤立排队：</a:t>
            </a:r>
            <a:r>
              <a:rPr sz="1150" b="0">
                <a:solidFill>
                  <a:srgbClr val="475569"/>
                </a:solidFill>
                <a:latin typeface="Microsoft YaHei"/>
              </a:rPr>
              <a:t>store_py_parallel_read 仅追加 _tp_0/1 后缀孤立排队，导致多卡同步屏障等待。</a:t>
            </a:r>
          </a:p>
        </p:txBody>
      </p:sp>
      <p:sp>
        <p:nvSpPr>
          <p:cNvPr id="8" name="Rectangle 7"/>
          <p:cNvSpPr/>
          <p:nvPr/>
        </p:nvSpPr>
        <p:spPr>
          <a:xfrm>
            <a:off x="548640" y="3502152"/>
            <a:ext cx="5440680" cy="2240280"/>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575304"/>
            <a:ext cx="5221224" cy="2093976"/>
          </a:xfrm>
          <a:prstGeom prst="rect">
            <a:avLst/>
          </a:prstGeom>
          <a:noFill/>
        </p:spPr>
        <p:txBody>
          <a:bodyPr wrap="square" lIns="0" tIns="0" rIns="0" bIns="0">
            <a:spAutoFit/>
          </a:bodyPr>
          <a:lstStyle/>
          <a:p>
            <a:pPr>
              <a:defRPr sz="1250" b="1">
                <a:solidFill>
                  <a:srgbClr val="BE123C"/>
                </a:solidFill>
                <a:latin typeface="Microsoft YaHei"/>
              </a:defRPr>
            </a:pPr>
            <a:r>
              <a:t>3. 调度策略与被动补救：RFC #2519 出队 Drop</a:t>
            </a:r>
          </a:p>
          <a:p>
            <a:pPr>
              <a:spcBef>
                <a:spcPts val="100"/>
              </a:spcBef>
              <a:spcAft>
                <a:spcPts val="200"/>
              </a:spcAft>
              <a:defRPr sz="1000" b="1">
                <a:solidFill>
                  <a:srgbClr val="475569"/>
                </a:solidFill>
                <a:latin typeface="Microsoft YaHei"/>
              </a:defRPr>
            </a:pPr>
            <a:r>
              <a:t>[源码分析：排队拥塞后的被动补丁与资源开销]</a:t>
            </a:r>
          </a:p>
          <a:p>
            <a:pPr>
              <a:lnSpc>
                <a:spcPct val="122000"/>
              </a:lnSpc>
              <a:spcBef>
                <a:spcPts val="600"/>
              </a:spcBef>
              <a:defRPr sz="1200" b="1">
                <a:solidFill>
                  <a:srgbClr val="0F172A"/>
                </a:solidFill>
                <a:latin typeface="Microsoft YaHei"/>
              </a:defRPr>
            </a:pPr>
            <a:r>
              <a:t>• 源码 admission_queue：</a:t>
            </a:r>
            <a:r>
              <a:rPr sz="1150" b="0">
                <a:solidFill>
                  <a:srgbClr val="475569"/>
                </a:solidFill>
                <a:latin typeface="Microsoft YaHei"/>
              </a:rPr>
              <a:t>RFC #2519 在 pickForDispatch 出队末端检测超时并被动丢弃。</a:t>
            </a:r>
          </a:p>
          <a:p>
            <a:pPr>
              <a:lnSpc>
                <a:spcPct val="122000"/>
              </a:lnSpc>
              <a:spcBef>
                <a:spcPts val="600"/>
              </a:spcBef>
              <a:defRPr sz="1200" b="1">
                <a:solidFill>
                  <a:srgbClr val="0F172A"/>
                </a:solidFill>
                <a:latin typeface="Microsoft YaHei"/>
              </a:defRPr>
            </a:pPr>
            <a:r>
              <a:t>• multi_rail 令牌桶：</a:t>
            </a:r>
            <a:r>
              <a:rPr sz="1150" b="0">
                <a:solidFill>
                  <a:srgbClr val="475569"/>
                </a:solidFill>
                <a:latin typeface="Microsoft YaHei"/>
              </a:rPr>
              <a:t>为缓解切片到达倾斜 (Skew) 与 Incast，源码预埋软件令牌桶限速机制。</a:t>
            </a:r>
          </a:p>
          <a:p>
            <a:pPr>
              <a:lnSpc>
                <a:spcPct val="122000"/>
              </a:lnSpc>
              <a:spcBef>
                <a:spcPts val="600"/>
              </a:spcBef>
              <a:defRPr sz="1200" b="1">
                <a:solidFill>
                  <a:srgbClr val="0F172A"/>
                </a:solidFill>
                <a:latin typeface="Microsoft YaHei"/>
              </a:defRPr>
            </a:pPr>
            <a:r>
              <a:t>• 开销损耗与算力等待：</a:t>
            </a:r>
            <a:r>
              <a:rPr sz="1150" b="0">
                <a:solidFill>
                  <a:srgbClr val="475569"/>
                </a:solidFill>
                <a:latin typeface="Microsoft YaHei"/>
              </a:rPr>
              <a:t>出队末端被动丢弃时，前期已消耗的锁与内存注册开销全部浪费，算力已空等。</a:t>
            </a:r>
          </a:p>
        </p:txBody>
      </p:sp>
      <p:sp>
        <p:nvSpPr>
          <p:cNvPr id="10" name="Rectangle 9"/>
          <p:cNvSpPr/>
          <p:nvPr/>
        </p:nvSpPr>
        <p:spPr>
          <a:xfrm>
            <a:off x="6202375" y="3502152"/>
            <a:ext cx="5440680" cy="2240280"/>
          </a:xfrm>
          <a:prstGeom prst="rect">
            <a:avLst/>
          </a:prstGeom>
          <a:solidFill>
            <a:srgbClr val="FFF1F2"/>
          </a:solidFill>
          <a:ln w="15240">
            <a:solidFill>
              <a:srgbClr val="FECDD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2103" y="3575304"/>
            <a:ext cx="5221224" cy="2093976"/>
          </a:xfrm>
          <a:prstGeom prst="rect">
            <a:avLst/>
          </a:prstGeom>
          <a:noFill/>
        </p:spPr>
        <p:txBody>
          <a:bodyPr wrap="square" lIns="0" tIns="0" rIns="0" bIns="0">
            <a:spAutoFit/>
          </a:bodyPr>
          <a:lstStyle/>
          <a:p>
            <a:pPr>
              <a:defRPr sz="1250" b="1">
                <a:solidFill>
                  <a:srgbClr val="BE123C"/>
                </a:solidFill>
                <a:latin typeface="Microsoft YaHei"/>
              </a:defRPr>
            </a:pPr>
            <a:r>
              <a:t>4. 演进策略与代码留白：企业级功能开源维护局限</a:t>
            </a:r>
          </a:p>
          <a:p>
            <a:pPr>
              <a:spcBef>
                <a:spcPts val="100"/>
              </a:spcBef>
              <a:spcAft>
                <a:spcPts val="200"/>
              </a:spcAft>
              <a:defRPr sz="1000" b="1">
                <a:solidFill>
                  <a:srgbClr val="475569"/>
                </a:solidFill>
                <a:latin typeface="Microsoft YaHei"/>
              </a:defRPr>
            </a:pPr>
            <a:r>
              <a:t>[开源供应链考量与原厂自研底座必要性]</a:t>
            </a:r>
          </a:p>
          <a:p>
            <a:pPr>
              <a:lnSpc>
                <a:spcPct val="122000"/>
              </a:lnSpc>
              <a:spcBef>
                <a:spcPts val="600"/>
              </a:spcBef>
              <a:defRPr sz="1200" b="1">
                <a:solidFill>
                  <a:srgbClr val="0F172A"/>
                </a:solidFill>
                <a:latin typeface="Microsoft YaHei"/>
              </a:defRPr>
            </a:pPr>
            <a:r>
              <a:t>• 演进策略分化：</a:t>
            </a:r>
            <a:r>
              <a:rPr sz="1150" b="0">
                <a:solidFill>
                  <a:srgbClr val="475569"/>
                </a:solidFill>
                <a:latin typeface="Microsoft YaHei"/>
              </a:rPr>
              <a:t>开源项目通常侧重基础通用能力，企业级深度优化往往走向差异化闭环。</a:t>
            </a:r>
          </a:p>
          <a:p>
            <a:pPr>
              <a:lnSpc>
                <a:spcPct val="122000"/>
              </a:lnSpc>
              <a:spcBef>
                <a:spcPts val="600"/>
              </a:spcBef>
              <a:defRPr sz="1200" b="1">
                <a:solidFill>
                  <a:srgbClr val="0F172A"/>
                </a:solidFill>
                <a:latin typeface="Microsoft YaHei"/>
              </a:defRPr>
            </a:pPr>
            <a:r>
              <a:t>• 核心 HA 模块留白：</a:t>
            </a:r>
            <a:r>
              <a:rPr sz="1150" b="0">
                <a:solidFill>
                  <a:srgbClr val="475569"/>
                </a:solidFill>
                <a:latin typeface="Microsoft YaHei"/>
              </a:rPr>
              <a:t>mooncake-store 大规模 HA（高可用）与多租户配额在主干中多保留为 Stub 空桩。</a:t>
            </a:r>
          </a:p>
          <a:p>
            <a:pPr>
              <a:lnSpc>
                <a:spcPct val="122000"/>
              </a:lnSpc>
              <a:spcBef>
                <a:spcPts val="600"/>
              </a:spcBef>
              <a:defRPr sz="1200" b="1">
                <a:solidFill>
                  <a:srgbClr val="0F172A"/>
                </a:solidFill>
                <a:latin typeface="Microsoft YaHei"/>
              </a:defRPr>
            </a:pPr>
            <a:r>
              <a:t>• 原厂深度适配必然性：</a:t>
            </a:r>
            <a:r>
              <a:rPr sz="1150" b="0">
                <a:solidFill>
                  <a:srgbClr val="475569"/>
                </a:solidFill>
                <a:latin typeface="Microsoft YaHei"/>
              </a:rPr>
              <a:t>通用开源无法保证对特定国产 NPU 微架构与驱动版本的持续深度优化与 SLA 兜底。</a:t>
            </a:r>
          </a:p>
        </p:txBody>
      </p:sp>
      <p:sp>
        <p:nvSpPr>
          <p:cNvPr id="12" name="Rectangle 11"/>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开源落地局限：</a:t>
            </a:r>
            <a:r>
              <a:rPr sz="1150" b="0">
                <a:solidFill>
                  <a:srgbClr val="0F172A"/>
                </a:solidFill>
                <a:latin typeface="Microsoft YaHei"/>
              </a:rPr>
              <a:t>源码分析与社区实测表明，通用开源方案的无语义切片和被动丢弃机制 </a:t>
            </a:r>
            <a:r>
              <a:rPr sz="1150" b="1">
                <a:solidFill>
                  <a:srgbClr val="DC2626"/>
                </a:solidFill>
                <a:latin typeface="Microsoft YaHei"/>
              </a:rPr>
              <a:t>无法根除网络 Incast 拥塞与尾延迟劣化</a:t>
            </a:r>
            <a:r>
              <a:rPr sz="1150" b="0">
                <a:solidFill>
                  <a:srgbClr val="0F172A"/>
                </a:solidFill>
                <a:latin typeface="Microsoft YaHei"/>
              </a:rPr>
              <a:t>；必须通过自研系统将 </a:t>
            </a:r>
            <a:r>
              <a:rPr sz="1150" b="1">
                <a:solidFill>
                  <a:srgbClr val="DC2626"/>
                </a:solidFill>
                <a:latin typeface="Microsoft YaHei"/>
              </a:rPr>
              <a:t>模型计算时序、网络 QoS（服务质量）与芯片通信原语深度结合</a:t>
            </a:r>
            <a:r>
              <a:rPr sz="1150" b="0">
                <a:solidFill>
                  <a:srgbClr val="0F172A"/>
                </a:solidFill>
                <a:latin typeface="Microsoft YaHei"/>
              </a:rPr>
              <a:t>，才能满足严苛生产 SLA（服务等级协议）要求。</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针对开源不足的方案优势 (1/2)：从通用传输组件到语义化统一异构内存池</a:t>
            </a:r>
          </a:p>
          <a:p>
            <a:pPr>
              <a:spcBef>
                <a:spcPts val="200"/>
              </a:spcBef>
              <a:defRPr sz="1000">
                <a:solidFill>
                  <a:srgbClr val="475569"/>
                </a:solidFill>
                <a:latin typeface="Microsoft YaHei"/>
              </a:defRPr>
            </a:pPr>
            <a:r>
              <a:t>确立四大核心技术支柱，重构 AI 推理状态管理的软硬件协同体系</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05 / 10 页</a:t>
            </a:r>
          </a:p>
        </p:txBody>
      </p:sp>
      <p:sp>
        <p:nvSpPr>
          <p:cNvPr id="4" name="Rectangle 3"/>
          <p:cNvSpPr/>
          <p:nvPr/>
        </p:nvSpPr>
        <p:spPr>
          <a:xfrm>
            <a:off x="548640" y="1060704"/>
            <a:ext cx="2633472" cy="3584448"/>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52144"/>
            <a:ext cx="2414016" cy="3401568"/>
          </a:xfrm>
          <a:prstGeom prst="rect">
            <a:avLst/>
          </a:prstGeom>
          <a:noFill/>
        </p:spPr>
        <p:txBody>
          <a:bodyPr wrap="square" lIns="0" tIns="0" rIns="0" bIns="0">
            <a:spAutoFit/>
          </a:bodyPr>
          <a:lstStyle/>
          <a:p>
            <a:pPr>
              <a:defRPr sz="1300" b="1">
                <a:solidFill>
                  <a:srgbClr val="1D4ED8"/>
                </a:solidFill>
                <a:latin typeface="Microsoft YaHei"/>
              </a:defRPr>
            </a:pPr>
            <a:r>
              <a:t>支柱一：拓扑亲和映射</a:t>
            </a:r>
          </a:p>
          <a:p>
            <a:pPr>
              <a:spcBef>
                <a:spcPts val="200"/>
              </a:spcBef>
              <a:spcAft>
                <a:spcPts val="400"/>
              </a:spcAft>
              <a:defRPr sz="1050" b="1">
                <a:solidFill>
                  <a:srgbClr val="475569"/>
                </a:solidFill>
                <a:latin typeface="Microsoft YaHei"/>
              </a:defRPr>
            </a:pPr>
            <a:r>
              <a:t>消除 Incast 拥塞物理根源</a:t>
            </a:r>
          </a:p>
          <a:p>
            <a:pPr>
              <a:lnSpc>
                <a:spcPct val="122000"/>
              </a:lnSpc>
              <a:spcBef>
                <a:spcPts val="500"/>
              </a:spcBef>
              <a:defRPr sz="1200" b="1">
                <a:solidFill>
                  <a:srgbClr val="0F172A"/>
                </a:solidFill>
                <a:latin typeface="Microsoft YaHei"/>
              </a:defRPr>
            </a:pPr>
            <a:r>
              <a:t>• 语义与拓扑绑定：</a:t>
            </a:r>
            <a:r>
              <a:rPr sz="1150" b="0">
                <a:solidFill>
                  <a:srgbClr val="475569"/>
                </a:solidFill>
                <a:latin typeface="Microsoft YaHei"/>
              </a:rPr>
              <a:t>通过 KVSemanticIdentity 绑定 Model / Layer / TP Rank（张量并行卡号）。</a:t>
            </a:r>
          </a:p>
          <a:p>
            <a:pPr>
              <a:lnSpc>
                <a:spcPct val="122000"/>
              </a:lnSpc>
              <a:spcBef>
                <a:spcPts val="500"/>
              </a:spcBef>
              <a:defRPr sz="1200" b="1">
                <a:solidFill>
                  <a:srgbClr val="0F172A"/>
                </a:solidFill>
                <a:latin typeface="Microsoft YaHei"/>
              </a:defRPr>
            </a:pPr>
            <a:r>
              <a:t>• 局域化物理传输：</a:t>
            </a:r>
            <a:r>
              <a:rPr sz="1150" b="0">
                <a:solidFill>
                  <a:srgbClr val="475569"/>
                </a:solidFill>
                <a:latin typeface="Microsoft YaHei"/>
              </a:rPr>
              <a:t>片间走 HCCS 环路，机架内走 URMA 直连，存储走 PCIe DMA（直接内存访问）。</a:t>
            </a:r>
          </a:p>
          <a:p>
            <a:pPr>
              <a:lnSpc>
                <a:spcPct val="122000"/>
              </a:lnSpc>
              <a:spcBef>
                <a:spcPts val="500"/>
              </a:spcBef>
              <a:defRPr sz="1200" b="1">
                <a:solidFill>
                  <a:srgbClr val="0F172A"/>
                </a:solidFill>
                <a:latin typeface="Microsoft YaHei"/>
              </a:defRPr>
            </a:pPr>
            <a:r>
              <a:t>• 压减 80% 跨机架流量：</a:t>
            </a:r>
            <a:r>
              <a:rPr sz="1150" b="0">
                <a:solidFill>
                  <a:srgbClr val="475569"/>
                </a:solidFill>
                <a:latin typeface="Microsoft YaHei"/>
              </a:rPr>
              <a:t>同 Prompt / Layer 局域汇聚，从源头消除 N-to-1 Incast 拥塞。</a:t>
            </a:r>
          </a:p>
        </p:txBody>
      </p:sp>
      <p:sp>
        <p:nvSpPr>
          <p:cNvPr id="6" name="Rectangle 5"/>
          <p:cNvSpPr/>
          <p:nvPr/>
        </p:nvSpPr>
        <p:spPr>
          <a:xfrm>
            <a:off x="3364992" y="1060704"/>
            <a:ext cx="2633472" cy="358444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74720" y="1152144"/>
            <a:ext cx="2414016" cy="3401568"/>
          </a:xfrm>
          <a:prstGeom prst="rect">
            <a:avLst/>
          </a:prstGeom>
          <a:noFill/>
        </p:spPr>
        <p:txBody>
          <a:bodyPr wrap="square" lIns="0" tIns="0" rIns="0" bIns="0">
            <a:spAutoFit/>
          </a:bodyPr>
          <a:lstStyle/>
          <a:p>
            <a:pPr>
              <a:defRPr sz="1300" b="1">
                <a:solidFill>
                  <a:srgbClr val="1E3A8A"/>
                </a:solidFill>
                <a:latin typeface="Microsoft YaHei"/>
              </a:defRPr>
            </a:pPr>
            <a:r>
              <a:t>支柱二：Host 零数据拷贝</a:t>
            </a:r>
          </a:p>
          <a:p>
            <a:pPr>
              <a:spcBef>
                <a:spcPts val="200"/>
              </a:spcBef>
              <a:spcAft>
                <a:spcPts val="400"/>
              </a:spcAft>
              <a:defRPr sz="1050" b="1">
                <a:solidFill>
                  <a:srgbClr val="475569"/>
                </a:solidFill>
                <a:latin typeface="Microsoft YaHei"/>
              </a:defRPr>
            </a:pPr>
            <a:r>
              <a:t>突破 CPU 瓶颈提升吞吐</a:t>
            </a:r>
          </a:p>
          <a:p>
            <a:pPr>
              <a:lnSpc>
                <a:spcPct val="122000"/>
              </a:lnSpc>
              <a:spcBef>
                <a:spcPts val="500"/>
              </a:spcBef>
              <a:defRPr sz="1200" b="1">
                <a:solidFill>
                  <a:srgbClr val="0F172A"/>
                </a:solidFill>
                <a:latin typeface="Microsoft YaHei"/>
              </a:defRPr>
            </a:pPr>
            <a:r>
              <a:t>• CPU 不参与数据搬运：</a:t>
            </a:r>
            <a:r>
              <a:rPr sz="1150" b="0">
                <a:solidFill>
                  <a:srgbClr val="475569"/>
                </a:solidFill>
                <a:latin typeface="Microsoft YaHei"/>
              </a:rPr>
              <a:t>控制面仅下发指令，正文数据 100% 绕过 Host CPU 与内存，消除内存拷贝开销。</a:t>
            </a:r>
          </a:p>
          <a:p>
            <a:pPr>
              <a:lnSpc>
                <a:spcPct val="122000"/>
              </a:lnSpc>
              <a:spcBef>
                <a:spcPts val="500"/>
              </a:spcBef>
              <a:defRPr sz="1200" b="1">
                <a:solidFill>
                  <a:srgbClr val="0F172A"/>
                </a:solidFill>
                <a:latin typeface="Microsoft YaHei"/>
              </a:defRPr>
            </a:pPr>
            <a:r>
              <a:t>• HBM ↔ SSD 直达：</a:t>
            </a:r>
            <a:r>
              <a:rPr sz="1150" b="0">
                <a:solidFill>
                  <a:srgbClr val="475569"/>
                </a:solidFill>
                <a:latin typeface="Microsoft YaHei"/>
              </a:rPr>
              <a:t>通过 Direct PCIe DMA 实现 NPU HBM（显存）与 SSD 线速搬运。</a:t>
            </a:r>
          </a:p>
          <a:p>
            <a:pPr>
              <a:lnSpc>
                <a:spcPct val="122000"/>
              </a:lnSpc>
              <a:spcBef>
                <a:spcPts val="500"/>
              </a:spcBef>
              <a:defRPr sz="1200" b="1">
                <a:solidFill>
                  <a:srgbClr val="0F172A"/>
                </a:solidFill>
                <a:latin typeface="Microsoft YaHei"/>
              </a:defRPr>
            </a:pPr>
            <a:r>
              <a:t>• 解算密度跃升：</a:t>
            </a:r>
            <a:r>
              <a:rPr sz="1150" b="0">
                <a:solidFill>
                  <a:srgbClr val="475569"/>
                </a:solidFill>
                <a:latin typeface="Microsoft YaHei"/>
              </a:rPr>
              <a:t>单节点 QPS 解算密度提升 40%，服务器硬件采购成本降低 30%+。</a:t>
            </a:r>
          </a:p>
        </p:txBody>
      </p:sp>
      <p:sp>
        <p:nvSpPr>
          <p:cNvPr id="8" name="Rectangle 7"/>
          <p:cNvSpPr/>
          <p:nvPr/>
        </p:nvSpPr>
        <p:spPr>
          <a:xfrm>
            <a:off x="6181344" y="1060704"/>
            <a:ext cx="2633472" cy="358444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91072" y="1152144"/>
            <a:ext cx="2414016" cy="3401568"/>
          </a:xfrm>
          <a:prstGeom prst="rect">
            <a:avLst/>
          </a:prstGeom>
          <a:noFill/>
        </p:spPr>
        <p:txBody>
          <a:bodyPr wrap="square" lIns="0" tIns="0" rIns="0" bIns="0">
            <a:spAutoFit/>
          </a:bodyPr>
          <a:lstStyle/>
          <a:p>
            <a:pPr>
              <a:defRPr sz="1300" b="1">
                <a:solidFill>
                  <a:srgbClr val="1E3A8A"/>
                </a:solidFill>
                <a:latin typeface="Microsoft YaHei"/>
              </a:defRPr>
            </a:pPr>
            <a:r>
              <a:t>支柱三：UBMEM 总线直通</a:t>
            </a:r>
          </a:p>
          <a:p>
            <a:pPr>
              <a:spcBef>
                <a:spcPts val="200"/>
              </a:spcBef>
              <a:spcAft>
                <a:spcPts val="400"/>
              </a:spcAft>
              <a:defRPr sz="1050" b="1">
                <a:solidFill>
                  <a:srgbClr val="475569"/>
                </a:solidFill>
                <a:latin typeface="Microsoft YaHei"/>
              </a:defRPr>
            </a:pPr>
            <a:r>
              <a:t>控制面元数据时延 &lt; 5 µs</a:t>
            </a:r>
          </a:p>
          <a:p>
            <a:pPr>
              <a:lnSpc>
                <a:spcPct val="122000"/>
              </a:lnSpc>
              <a:spcBef>
                <a:spcPts val="500"/>
              </a:spcBef>
              <a:defRPr sz="1200" b="1">
                <a:solidFill>
                  <a:srgbClr val="0F172A"/>
                </a:solidFill>
                <a:latin typeface="Microsoft YaHei"/>
              </a:defRPr>
            </a:pPr>
            <a:r>
              <a:t>• 总线级共享内存：</a:t>
            </a:r>
            <a:r>
              <a:rPr sz="1150" b="0">
                <a:solidFill>
                  <a:srgbClr val="475569"/>
                </a:solidFill>
                <a:latin typeface="Microsoft YaHei"/>
              </a:rPr>
              <a:t>将全局 PrefixDirectory（前缀目录）与页表映射至 UBMEM 共享空间。</a:t>
            </a:r>
          </a:p>
          <a:p>
            <a:pPr>
              <a:lnSpc>
                <a:spcPct val="122000"/>
              </a:lnSpc>
              <a:spcBef>
                <a:spcPts val="500"/>
              </a:spcBef>
              <a:defRPr sz="1200" b="1">
                <a:solidFill>
                  <a:srgbClr val="0F172A"/>
                </a:solidFill>
                <a:latin typeface="Microsoft YaHei"/>
              </a:defRPr>
            </a:pPr>
            <a:r>
              <a:t>• 微秒级硬件指令：</a:t>
            </a:r>
            <a:r>
              <a:rPr sz="1150" b="0">
                <a:solidFill>
                  <a:srgbClr val="475569"/>
                </a:solidFill>
                <a:latin typeface="Microsoft YaHei"/>
              </a:rPr>
              <a:t>通过硬件 Load / Store 原子指令直读，消除传统 RPC 协议栈开销。</a:t>
            </a:r>
          </a:p>
          <a:p>
            <a:pPr>
              <a:lnSpc>
                <a:spcPct val="122000"/>
              </a:lnSpc>
              <a:spcBef>
                <a:spcPts val="500"/>
              </a:spcBef>
              <a:defRPr sz="1200" b="1">
                <a:solidFill>
                  <a:srgbClr val="0F172A"/>
                </a:solidFill>
                <a:latin typeface="Microsoft YaHei"/>
              </a:defRPr>
            </a:pPr>
            <a:r>
              <a:t>• 时延压降 20 倍：</a:t>
            </a:r>
            <a:r>
              <a:rPr sz="1150" b="0">
                <a:solidFill>
                  <a:srgbClr val="475569"/>
                </a:solidFill>
                <a:latin typeface="Microsoft YaHei"/>
              </a:rPr>
              <a:t>控制面时延从 50 ~ 100 µs 压降至 &lt; 5 µs，为数据传输争取宝贵时延预算。</a:t>
            </a:r>
          </a:p>
        </p:txBody>
      </p:sp>
      <p:sp>
        <p:nvSpPr>
          <p:cNvPr id="10" name="Rectangle 9"/>
          <p:cNvSpPr/>
          <p:nvPr/>
        </p:nvSpPr>
        <p:spPr>
          <a:xfrm>
            <a:off x="8997696" y="1060704"/>
            <a:ext cx="2633472" cy="3584448"/>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107424" y="1152144"/>
            <a:ext cx="2414016" cy="3401568"/>
          </a:xfrm>
          <a:prstGeom prst="rect">
            <a:avLst/>
          </a:prstGeom>
          <a:noFill/>
        </p:spPr>
        <p:txBody>
          <a:bodyPr wrap="square" lIns="0" tIns="0" rIns="0" bIns="0">
            <a:spAutoFit/>
          </a:bodyPr>
          <a:lstStyle/>
          <a:p>
            <a:pPr>
              <a:defRPr sz="1300" b="1">
                <a:solidFill>
                  <a:srgbClr val="047857"/>
                </a:solidFill>
                <a:latin typeface="Microsoft YaHei"/>
              </a:defRPr>
            </a:pPr>
            <a:r>
              <a:t>支柱四：多介质统一分层</a:t>
            </a:r>
          </a:p>
          <a:p>
            <a:pPr>
              <a:spcBef>
                <a:spcPts val="200"/>
              </a:spcBef>
              <a:spcAft>
                <a:spcPts val="400"/>
              </a:spcAft>
              <a:defRPr sz="1050" b="1">
                <a:solidFill>
                  <a:srgbClr val="475569"/>
                </a:solidFill>
                <a:latin typeface="Microsoft YaHei"/>
              </a:defRPr>
            </a:pPr>
            <a:r>
              <a:t>重塑容量主路径降低 TCO</a:t>
            </a:r>
          </a:p>
          <a:p>
            <a:pPr>
              <a:lnSpc>
                <a:spcPct val="122000"/>
              </a:lnSpc>
              <a:spcBef>
                <a:spcPts val="500"/>
              </a:spcBef>
              <a:defRPr sz="1200" b="1">
                <a:solidFill>
                  <a:srgbClr val="0F172A"/>
                </a:solidFill>
                <a:latin typeface="Microsoft YaHei"/>
              </a:defRPr>
            </a:pPr>
            <a:r>
              <a:t>• HBM-SSD 为主路径：</a:t>
            </a:r>
            <a:r>
              <a:rPr sz="1150" b="0">
                <a:solidFill>
                  <a:srgbClr val="475569"/>
                </a:solidFill>
                <a:latin typeface="Microsoft YaHei"/>
              </a:rPr>
              <a:t>将 HBM ↔ SSD 直达确立为主要扩展路径，DDR（内存）退居辅助缓冲。</a:t>
            </a:r>
          </a:p>
          <a:p>
            <a:pPr>
              <a:lnSpc>
                <a:spcPct val="122000"/>
              </a:lnSpc>
              <a:spcBef>
                <a:spcPts val="500"/>
              </a:spcBef>
              <a:defRPr sz="1200" b="1">
                <a:solidFill>
                  <a:srgbClr val="0F172A"/>
                </a:solidFill>
                <a:latin typeface="Microsoft YaHei"/>
              </a:defRPr>
            </a:pPr>
            <a:r>
              <a:t>• 长文本存储成本优化：</a:t>
            </a:r>
            <a:r>
              <a:rPr sz="1150" b="0">
                <a:solidFill>
                  <a:srgbClr val="475569"/>
                </a:solidFill>
                <a:latin typeface="Microsoft YaHei"/>
              </a:rPr>
              <a:t>长文本 (128K~1M) 存储成本下降 ≥35%，单机有效容量提升 ≥30%。</a:t>
            </a:r>
          </a:p>
          <a:p>
            <a:pPr>
              <a:lnSpc>
                <a:spcPct val="122000"/>
              </a:lnSpc>
              <a:spcBef>
                <a:spcPts val="500"/>
              </a:spcBef>
              <a:defRPr sz="1200" b="1">
                <a:solidFill>
                  <a:srgbClr val="0F172A"/>
                </a:solidFill>
                <a:latin typeface="Microsoft YaHei"/>
              </a:defRPr>
            </a:pPr>
            <a:r>
              <a:t>• 全生命周期管理：</a:t>
            </a:r>
            <a:r>
              <a:rPr sz="1150" b="0">
                <a:solidFill>
                  <a:srgbClr val="475569"/>
                </a:solidFill>
                <a:latin typeface="Microsoft YaHei"/>
              </a:rPr>
              <a:t>支持内存与存储介质状态感知、冷热淘汰与异步预取分层治理。</a:t>
            </a:r>
          </a:p>
        </p:txBody>
      </p:sp>
      <p:sp>
        <p:nvSpPr>
          <p:cNvPr id="12" name="Rectangle 11"/>
          <p:cNvSpPr/>
          <p:nvPr/>
        </p:nvSpPr>
        <p:spPr>
          <a:xfrm>
            <a:off x="548640" y="4736592"/>
            <a:ext cx="11094415" cy="111556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85800" y="4782312"/>
            <a:ext cx="10820095" cy="228600"/>
          </a:xfrm>
          <a:prstGeom prst="rect">
            <a:avLst/>
          </a:prstGeom>
          <a:noFill/>
        </p:spPr>
        <p:txBody>
          <a:bodyPr wrap="none" lIns="0" tIns="0" rIns="0" bIns="0">
            <a:spAutoFit/>
          </a:bodyPr>
          <a:lstStyle/>
          <a:p>
            <a:pPr>
              <a:defRPr sz="1150" b="1">
                <a:solidFill>
                  <a:srgbClr val="1E3A8A"/>
                </a:solidFill>
                <a:latin typeface="Microsoft YaHei"/>
              </a:defRPr>
            </a:pPr>
            <a:r>
              <a:t>【统一异构 KVCache 存储池全栈分层协作拓扑】</a:t>
            </a:r>
          </a:p>
        </p:txBody>
      </p:sp>
      <p:sp>
        <p:nvSpPr>
          <p:cNvPr id="14" name="Rectangle 13"/>
          <p:cNvSpPr/>
          <p:nvPr/>
        </p:nvSpPr>
        <p:spPr>
          <a:xfrm>
            <a:off x="685800" y="5029200"/>
            <a:ext cx="2560320"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58952" y="5065776"/>
            <a:ext cx="2414016" cy="640080"/>
          </a:xfrm>
          <a:prstGeom prst="rect">
            <a:avLst/>
          </a:prstGeom>
          <a:noFill/>
        </p:spPr>
        <p:txBody>
          <a:bodyPr wrap="square" lIns="0" tIns="0" bIns="0">
            <a:spAutoFit/>
          </a:bodyPr>
          <a:lstStyle/>
          <a:p>
            <a:pPr>
              <a:defRPr sz="1050" b="1">
                <a:solidFill>
                  <a:srgbClr val="1E3A8A"/>
                </a:solidFill>
                <a:latin typeface="Microsoft YaHei"/>
              </a:defRPr>
            </a:pPr>
            <a:r>
              <a:t>L1. 框架意图接入层</a:t>
            </a:r>
          </a:p>
          <a:p>
            <a:pPr>
              <a:spcBef>
                <a:spcPts val="100"/>
              </a:spcBef>
              <a:defRPr sz="950">
                <a:solidFill>
                  <a:srgbClr val="0F172A"/>
                </a:solidFill>
                <a:latin typeface="Microsoft YaHei"/>
              </a:defRPr>
            </a:pPr>
            <a:r>
              <a:t>vLLM / SGLang 统一接口</a:t>
            </a:r>
          </a:p>
          <a:p>
            <a:pPr>
              <a:spcBef>
                <a:spcPts val="100"/>
              </a:spcBef>
              <a:defRPr sz="900">
                <a:solidFill>
                  <a:srgbClr val="475569"/>
                </a:solidFill>
                <a:latin typeface="Microsoft YaHei"/>
              </a:defRPr>
            </a:pPr>
            <a:r>
              <a:t>前缀复用与重算收益请求</a:t>
            </a:r>
          </a:p>
        </p:txBody>
      </p:sp>
      <p:sp>
        <p:nvSpPr>
          <p:cNvPr id="16" name="Rectangle 15"/>
          <p:cNvSpPr/>
          <p:nvPr/>
        </p:nvSpPr>
        <p:spPr>
          <a:xfrm>
            <a:off x="3429000" y="5029200"/>
            <a:ext cx="2560320"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502152" y="5065776"/>
            <a:ext cx="2414016" cy="640080"/>
          </a:xfrm>
          <a:prstGeom prst="rect">
            <a:avLst/>
          </a:prstGeom>
          <a:noFill/>
        </p:spPr>
        <p:txBody>
          <a:bodyPr wrap="square" lIns="0" tIns="0" bIns="0">
            <a:spAutoFit/>
          </a:bodyPr>
          <a:lstStyle/>
          <a:p>
            <a:pPr>
              <a:defRPr sz="1050" b="1">
                <a:solidFill>
                  <a:srgbClr val="1E3A8A"/>
                </a:solidFill>
                <a:latin typeface="Microsoft YaHei"/>
              </a:defRPr>
            </a:pPr>
            <a:r>
              <a:t>L2. KV 语义治理层</a:t>
            </a:r>
          </a:p>
          <a:p>
            <a:pPr>
              <a:spcBef>
                <a:spcPts val="100"/>
              </a:spcBef>
              <a:defRPr sz="950">
                <a:solidFill>
                  <a:srgbClr val="0F172A"/>
                </a:solidFill>
                <a:latin typeface="Microsoft YaHei"/>
              </a:defRPr>
            </a:pPr>
            <a:r>
              <a:t>KVSemantic 语义目录</a:t>
            </a:r>
          </a:p>
          <a:p>
            <a:pPr>
              <a:spcBef>
                <a:spcPts val="100"/>
              </a:spcBef>
              <a:defRPr sz="900">
                <a:solidFill>
                  <a:srgbClr val="475569"/>
                </a:solidFill>
                <a:latin typeface="Microsoft YaHei"/>
              </a:defRPr>
            </a:pPr>
            <a:r>
              <a:t>多租户隔离与 Lease 租约</a:t>
            </a:r>
          </a:p>
        </p:txBody>
      </p:sp>
      <p:sp>
        <p:nvSpPr>
          <p:cNvPr id="18" name="Rectangle 17"/>
          <p:cNvSpPr/>
          <p:nvPr/>
        </p:nvSpPr>
        <p:spPr>
          <a:xfrm>
            <a:off x="6172200" y="5029200"/>
            <a:ext cx="2560320"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245352" y="5065776"/>
            <a:ext cx="2414016" cy="640080"/>
          </a:xfrm>
          <a:prstGeom prst="rect">
            <a:avLst/>
          </a:prstGeom>
          <a:noFill/>
        </p:spPr>
        <p:txBody>
          <a:bodyPr wrap="square" lIns="0" tIns="0" bIns="0">
            <a:spAutoFit/>
          </a:bodyPr>
          <a:lstStyle/>
          <a:p>
            <a:pPr>
              <a:defRPr sz="1050" b="1">
                <a:solidFill>
                  <a:srgbClr val="1E3A8A"/>
                </a:solidFill>
                <a:latin typeface="Microsoft YaHei"/>
              </a:defRPr>
            </a:pPr>
            <a:r>
              <a:t>L3. 决策与编译层</a:t>
            </a:r>
          </a:p>
          <a:p>
            <a:pPr>
              <a:spcBef>
                <a:spcPts val="100"/>
              </a:spcBef>
              <a:defRPr sz="950">
                <a:solidFill>
                  <a:srgbClr val="0F172A"/>
                </a:solidFill>
                <a:latin typeface="Microsoft YaHei"/>
              </a:defRPr>
            </a:pPr>
            <a:r>
              <a:t>动态选路与成本评估引擎</a:t>
            </a:r>
          </a:p>
          <a:p>
            <a:pPr>
              <a:spcBef>
                <a:spcPts val="100"/>
              </a:spcBef>
              <a:defRPr sz="900">
                <a:solidFill>
                  <a:srgbClr val="475569"/>
                </a:solidFill>
                <a:latin typeface="Microsoft YaHei"/>
              </a:defRPr>
            </a:pPr>
            <a:r>
              <a:t>异步流水与描述符批量编译</a:t>
            </a:r>
          </a:p>
        </p:txBody>
      </p:sp>
      <p:sp>
        <p:nvSpPr>
          <p:cNvPr id="20" name="Rectangle 19"/>
          <p:cNvSpPr/>
          <p:nvPr/>
        </p:nvSpPr>
        <p:spPr>
          <a:xfrm>
            <a:off x="8915400" y="5029200"/>
            <a:ext cx="2560320" cy="713232"/>
          </a:xfrm>
          <a:prstGeom prst="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8988552" y="5065776"/>
            <a:ext cx="2414016" cy="640080"/>
          </a:xfrm>
          <a:prstGeom prst="rect">
            <a:avLst/>
          </a:prstGeom>
          <a:noFill/>
        </p:spPr>
        <p:txBody>
          <a:bodyPr wrap="square" lIns="0" tIns="0" bIns="0">
            <a:spAutoFit/>
          </a:bodyPr>
          <a:lstStyle/>
          <a:p>
            <a:pPr>
              <a:defRPr sz="1050" b="1">
                <a:solidFill>
                  <a:srgbClr val="047857"/>
                </a:solidFill>
                <a:latin typeface="Microsoft YaHei"/>
              </a:defRPr>
            </a:pPr>
            <a:r>
              <a:t>L4. 硬件极速执行层</a:t>
            </a:r>
          </a:p>
          <a:p>
            <a:pPr>
              <a:spcBef>
                <a:spcPts val="100"/>
              </a:spcBef>
              <a:defRPr sz="950">
                <a:solidFill>
                  <a:srgbClr val="0F172A"/>
                </a:solidFill>
                <a:latin typeface="Microsoft YaHei"/>
              </a:defRPr>
            </a:pPr>
            <a:r>
              <a:t>UBMEM / URMA 直达</a:t>
            </a:r>
          </a:p>
          <a:p>
            <a:pPr>
              <a:spcBef>
                <a:spcPts val="100"/>
              </a:spcBef>
              <a:defRPr sz="900">
                <a:solidFill>
                  <a:srgbClr val="475569"/>
                </a:solidFill>
                <a:latin typeface="Microsoft YaHei"/>
              </a:defRPr>
            </a:pPr>
            <a:r>
              <a:t>微秒总线与 Host 零拷贝</a:t>
            </a:r>
          </a:p>
        </p:txBody>
      </p:sp>
      <p:sp>
        <p:nvSpPr>
          <p:cNvPr id="22" name="Rectangle 21"/>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架构升级价值：</a:t>
            </a:r>
            <a:r>
              <a:rPr sz="1150" b="0">
                <a:solidFill>
                  <a:srgbClr val="0F172A"/>
                </a:solidFill>
                <a:latin typeface="Microsoft YaHei"/>
              </a:rPr>
              <a:t>通过构建具备模型语义感知的统一异构存储池，以 </a:t>
            </a:r>
            <a:r>
              <a:rPr sz="1150" b="1">
                <a:solidFill>
                  <a:srgbClr val="DC2626"/>
                </a:solidFill>
                <a:latin typeface="Microsoft YaHei"/>
              </a:rPr>
              <a:t>拓扑亲和传输消除网络拥塞、Host CPU 零数据拷贝打破计算瓶颈、UBMEM 总线直达压缩控制面开销</a:t>
            </a:r>
            <a:r>
              <a:rPr sz="1150" b="0">
                <a:solidFill>
                  <a:srgbClr val="0F172A"/>
                </a:solidFill>
                <a:latin typeface="Microsoft YaHei"/>
              </a:rPr>
              <a:t>，全面释放国产芯片的硬件互联与多级存储潜能。</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针对开源不足的方案优势 (2/2)：前置动态收益决策与数据访问安全屏障</a:t>
            </a:r>
          </a:p>
          <a:p>
            <a:pPr>
              <a:spcBef>
                <a:spcPts val="200"/>
              </a:spcBef>
              <a:defRPr sz="1000">
                <a:solidFill>
                  <a:srgbClr val="475569"/>
                </a:solidFill>
                <a:latin typeface="Microsoft YaHei"/>
              </a:defRPr>
            </a:pPr>
            <a:r>
              <a:t>避免盲目拉取与性能回退，保障多租户隔离与 0 错误消费</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06 / 10 页</a:t>
            </a:r>
          </a:p>
        </p:txBody>
      </p:sp>
      <p:sp>
        <p:nvSpPr>
          <p:cNvPr id="4" name="Rectangle 3"/>
          <p:cNvSpPr/>
          <p:nvPr/>
        </p:nvSpPr>
        <p:spPr>
          <a:xfrm>
            <a:off x="548640" y="1060704"/>
            <a:ext cx="3511296" cy="3584448"/>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85800" y="1152144"/>
            <a:ext cx="3236976" cy="3401568"/>
          </a:xfrm>
          <a:prstGeom prst="rect">
            <a:avLst/>
          </a:prstGeom>
          <a:noFill/>
        </p:spPr>
        <p:txBody>
          <a:bodyPr wrap="square" lIns="0" tIns="0" rIns="0" bIns="0">
            <a:spAutoFit/>
          </a:bodyPr>
          <a:lstStyle/>
          <a:p>
            <a:pPr>
              <a:defRPr sz="1300" b="1">
                <a:solidFill>
                  <a:srgbClr val="1D4ED8"/>
                </a:solidFill>
                <a:latin typeface="Microsoft YaHei"/>
              </a:defRPr>
            </a:pPr>
            <a:r>
              <a:t>优势一：前置动态收益决策引擎</a:t>
            </a:r>
          </a:p>
          <a:p>
            <a:pPr>
              <a:spcBef>
                <a:spcPts val="200"/>
              </a:spcBef>
              <a:spcAft>
                <a:spcPts val="400"/>
              </a:spcAft>
              <a:defRPr sz="1050" b="1">
                <a:solidFill>
                  <a:srgbClr val="475569"/>
                </a:solidFill>
                <a:latin typeface="Microsoft YaHei"/>
              </a:defRPr>
            </a:pPr>
            <a:r>
              <a:t>基于实时网络与算力开销的动态选路</a:t>
            </a:r>
          </a:p>
          <a:p>
            <a:pPr>
              <a:lnSpc>
                <a:spcPct val="122000"/>
              </a:lnSpc>
              <a:spcBef>
                <a:spcPts val="500"/>
              </a:spcBef>
              <a:defRPr sz="1200" b="1">
                <a:solidFill>
                  <a:srgbClr val="0F172A"/>
                </a:solidFill>
                <a:latin typeface="Microsoft YaHei"/>
              </a:defRPr>
            </a:pPr>
            <a:r>
              <a:t>★ 收益判定逻辑：</a:t>
            </a:r>
            <a:r>
              <a:rPr sz="1150" b="0">
                <a:solidFill>
                  <a:srgbClr val="475569"/>
                </a:solidFill>
                <a:latin typeface="Microsoft YaHei"/>
              </a:rPr>
              <a:t>拉取与加载总开销 &lt; 本地直接重算耗时（仅在获取明确净加速收益时执行加载，否则主动回退至本地重算）。</a:t>
            </a:r>
          </a:p>
          <a:p>
            <a:pPr>
              <a:lnSpc>
                <a:spcPct val="122000"/>
              </a:lnSpc>
              <a:spcBef>
                <a:spcPts val="500"/>
              </a:spcBef>
              <a:defRPr sz="1200" b="1">
                <a:solidFill>
                  <a:srgbClr val="0F172A"/>
                </a:solidFill>
                <a:latin typeface="Microsoft YaHei"/>
              </a:defRPr>
            </a:pPr>
            <a:r>
              <a:t>★ 前置决策优势：</a:t>
            </a:r>
            <a:r>
              <a:rPr sz="1150" b="0">
                <a:solidFill>
                  <a:srgbClr val="475569"/>
                </a:solidFill>
                <a:latin typeface="Microsoft YaHei"/>
              </a:rPr>
              <a:t>查表阶段即完成成本评估。若网络拥塞慢于重算，主动返回重算决策，零硬件描述符申请、零队列浪费、NPU 零空转。</a:t>
            </a:r>
          </a:p>
          <a:p>
            <a:pPr>
              <a:lnSpc>
                <a:spcPct val="122000"/>
              </a:lnSpc>
              <a:spcBef>
                <a:spcPts val="500"/>
              </a:spcBef>
              <a:defRPr sz="1200" b="1">
                <a:solidFill>
                  <a:srgbClr val="0F172A"/>
                </a:solidFill>
                <a:latin typeface="Microsoft YaHei"/>
              </a:defRPr>
            </a:pPr>
            <a:r>
              <a:t>★ 对比被动丢弃：</a:t>
            </a:r>
            <a:r>
              <a:rPr sz="1150" b="0">
                <a:solidFill>
                  <a:srgbClr val="475569"/>
                </a:solidFill>
                <a:latin typeface="Microsoft YaHei"/>
              </a:rPr>
              <a:t>开源在出队末端超时被动丢弃，浪费已分配资源；本项目前置入口决策 100% 保障业务服务质量。</a:t>
            </a:r>
          </a:p>
        </p:txBody>
      </p:sp>
      <p:sp>
        <p:nvSpPr>
          <p:cNvPr id="6" name="Rectangle 5"/>
          <p:cNvSpPr/>
          <p:nvPr/>
        </p:nvSpPr>
        <p:spPr>
          <a:xfrm>
            <a:off x="4288536" y="1060704"/>
            <a:ext cx="3511296" cy="358444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425696" y="1152144"/>
            <a:ext cx="3236976" cy="3401568"/>
          </a:xfrm>
          <a:prstGeom prst="rect">
            <a:avLst/>
          </a:prstGeom>
          <a:noFill/>
        </p:spPr>
        <p:txBody>
          <a:bodyPr wrap="square" lIns="0" tIns="0" rIns="0" bIns="0">
            <a:spAutoFit/>
          </a:bodyPr>
          <a:lstStyle/>
          <a:p>
            <a:pPr>
              <a:defRPr sz="1300" b="1">
                <a:solidFill>
                  <a:srgbClr val="1E3A8A"/>
                </a:solidFill>
                <a:latin typeface="Microsoft YaHei"/>
              </a:defRPr>
            </a:pPr>
            <a:r>
              <a:t>优势二：双 Stream 物理流水重叠</a:t>
            </a:r>
          </a:p>
          <a:p>
            <a:pPr>
              <a:spcBef>
                <a:spcPts val="200"/>
              </a:spcBef>
              <a:spcAft>
                <a:spcPts val="400"/>
              </a:spcAft>
              <a:defRPr sz="1050" b="1">
                <a:solidFill>
                  <a:srgbClr val="475569"/>
                </a:solidFill>
                <a:latin typeface="Microsoft YaHei"/>
              </a:defRPr>
            </a:pPr>
            <a:r>
              <a:t>AICore 计算与 URMA 传输解耦</a:t>
            </a:r>
          </a:p>
          <a:p>
            <a:pPr>
              <a:lnSpc>
                <a:spcPct val="122000"/>
              </a:lnSpc>
              <a:spcBef>
                <a:spcPts val="500"/>
              </a:spcBef>
              <a:defRPr sz="1200" b="1">
                <a:solidFill>
                  <a:srgbClr val="0F172A"/>
                </a:solidFill>
                <a:latin typeface="Microsoft YaHei"/>
              </a:defRPr>
            </a:pPr>
            <a:r>
              <a:t>★ 物理解耦流水：</a:t>
            </a:r>
            <a:r>
              <a:rPr sz="1150" b="0">
                <a:solidFill>
                  <a:srgbClr val="475569"/>
                </a:solidFill>
                <a:latin typeface="Microsoft YaHei"/>
              </a:rPr>
              <a:t>NPU AICore 执行第 L 层 GEMM（矩阵计算），URMA DMA 在后台异步预取第 L+1 层 KV，运行在独立硬件 Stream。</a:t>
            </a:r>
          </a:p>
          <a:p>
            <a:pPr>
              <a:lnSpc>
                <a:spcPct val="122000"/>
              </a:lnSpc>
              <a:spcBef>
                <a:spcPts val="500"/>
              </a:spcBef>
              <a:defRPr sz="1200" b="1">
                <a:solidFill>
                  <a:srgbClr val="0F172A"/>
                </a:solidFill>
                <a:latin typeface="Microsoft YaHei"/>
              </a:defRPr>
            </a:pPr>
            <a:r>
              <a:t>★ 快速融合 Kernel：</a:t>
            </a:r>
            <a:r>
              <a:rPr sz="1150" b="0">
                <a:solidFill>
                  <a:srgbClr val="475569"/>
                </a:solidFill>
                <a:latin typeface="Microsoft YaHei"/>
              </a:rPr>
              <a:t>利用 FlashAttention 在线归一化结合律，微秒级完成拉取数据与本地重算结果的合并。</a:t>
            </a:r>
          </a:p>
          <a:p>
            <a:pPr>
              <a:lnSpc>
                <a:spcPct val="122000"/>
              </a:lnSpc>
              <a:spcBef>
                <a:spcPts val="500"/>
              </a:spcBef>
              <a:defRPr sz="1200" b="1">
                <a:solidFill>
                  <a:srgbClr val="0F172A"/>
                </a:solidFill>
                <a:latin typeface="Microsoft YaHei"/>
              </a:defRPr>
            </a:pPr>
            <a:r>
              <a:t>★ 隐藏 ≥60% 传输：</a:t>
            </a:r>
            <a:r>
              <a:rPr sz="1150" b="0">
                <a:solidFill>
                  <a:srgbClr val="475569"/>
                </a:solidFill>
                <a:latin typeface="Microsoft YaHei"/>
              </a:rPr>
              <a:t>全模型 32 层流水全掩盖，跨节点网络传输耗时完全隐藏在矩阵计算耗时包络内！</a:t>
            </a:r>
          </a:p>
        </p:txBody>
      </p:sp>
      <p:sp>
        <p:nvSpPr>
          <p:cNvPr id="8" name="Rectangle 7"/>
          <p:cNvSpPr/>
          <p:nvPr/>
        </p:nvSpPr>
        <p:spPr>
          <a:xfrm>
            <a:off x="8028432" y="1060704"/>
            <a:ext cx="3511296" cy="3584448"/>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65592" y="1152144"/>
            <a:ext cx="3236976" cy="3401568"/>
          </a:xfrm>
          <a:prstGeom prst="rect">
            <a:avLst/>
          </a:prstGeom>
          <a:noFill/>
        </p:spPr>
        <p:txBody>
          <a:bodyPr wrap="square" lIns="0" tIns="0" rIns="0" bIns="0">
            <a:spAutoFit/>
          </a:bodyPr>
          <a:lstStyle/>
          <a:p>
            <a:pPr>
              <a:defRPr sz="1300" b="1">
                <a:solidFill>
                  <a:srgbClr val="047857"/>
                </a:solidFill>
                <a:latin typeface="Microsoft YaHei"/>
              </a:defRPr>
            </a:pPr>
            <a:r>
              <a:t>优势三：数据访问安全与多卡同步</a:t>
            </a:r>
          </a:p>
          <a:p>
            <a:pPr>
              <a:spcBef>
                <a:spcPts val="200"/>
              </a:spcBef>
              <a:spcAft>
                <a:spcPts val="400"/>
              </a:spcAft>
              <a:defRPr sz="1050" b="1">
                <a:solidFill>
                  <a:srgbClr val="475569"/>
                </a:solidFill>
                <a:latin typeface="Microsoft YaHei"/>
              </a:defRPr>
            </a:pPr>
            <a:r>
              <a:t>严格语义权限校验与租约机制</a:t>
            </a:r>
          </a:p>
          <a:p>
            <a:pPr>
              <a:lnSpc>
                <a:spcPct val="122000"/>
              </a:lnSpc>
              <a:spcBef>
                <a:spcPts val="500"/>
              </a:spcBef>
              <a:defRPr sz="1200" b="1">
                <a:solidFill>
                  <a:srgbClr val="0F172A"/>
                </a:solidFill>
                <a:latin typeface="Microsoft YaHei"/>
              </a:defRPr>
            </a:pPr>
            <a:r>
              <a:t>★ 租户安全隔离：</a:t>
            </a:r>
            <a:r>
              <a:rPr sz="1150" b="0">
                <a:solidFill>
                  <a:srgbClr val="475569"/>
                </a:solidFill>
                <a:latin typeface="Microsoft YaHei"/>
              </a:rPr>
              <a:t>引入显式访问凭证与语义身份，严格校验租户权限与内存视图，杜绝越权读取。</a:t>
            </a:r>
          </a:p>
          <a:p>
            <a:pPr>
              <a:lnSpc>
                <a:spcPct val="122000"/>
              </a:lnSpc>
              <a:spcBef>
                <a:spcPts val="500"/>
              </a:spcBef>
              <a:defRPr sz="1200" b="1">
                <a:solidFill>
                  <a:srgbClr val="0F172A"/>
                </a:solidFill>
                <a:latin typeface="Microsoft YaHei"/>
              </a:defRPr>
            </a:pPr>
            <a:r>
              <a:t>★ 一致性与租约校验：</a:t>
            </a:r>
            <a:r>
              <a:rPr sz="1150" b="0">
                <a:solidFill>
                  <a:srgbClr val="475569"/>
                </a:solidFill>
                <a:latin typeface="Microsoft YaHei"/>
              </a:rPr>
              <a:t>在消费前严格校验模型架构、词表、提示词模板及租约有效性，杜绝未写完、已过期或失效的缓存数据被错误读取。</a:t>
            </a:r>
          </a:p>
          <a:p>
            <a:pPr>
              <a:lnSpc>
                <a:spcPct val="122000"/>
              </a:lnSpc>
              <a:spcBef>
                <a:spcPts val="500"/>
              </a:spcBef>
              <a:defRPr sz="1200" b="1">
                <a:solidFill>
                  <a:srgbClr val="0F172A"/>
                </a:solidFill>
                <a:latin typeface="Microsoft YaHei"/>
              </a:defRPr>
            </a:pPr>
            <a:r>
              <a:t>★ 多卡原子保序：</a:t>
            </a:r>
            <a:r>
              <a:rPr sz="1150" b="0">
                <a:solidFill>
                  <a:srgbClr val="475569"/>
                </a:solidFill>
                <a:latin typeface="Microsoft YaHei"/>
              </a:rPr>
              <a:t>支持张量并行多卡原子并发选路，消除跨卡到达时间差导致的集合通信死等。</a:t>
            </a:r>
          </a:p>
        </p:txBody>
      </p:sp>
      <p:sp>
        <p:nvSpPr>
          <p:cNvPr id="10" name="Rectangle 9"/>
          <p:cNvSpPr/>
          <p:nvPr/>
        </p:nvSpPr>
        <p:spPr>
          <a:xfrm>
            <a:off x="548640" y="4736592"/>
            <a:ext cx="11094415" cy="111556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85800" y="4782312"/>
            <a:ext cx="10820095" cy="228600"/>
          </a:xfrm>
          <a:prstGeom prst="rect">
            <a:avLst/>
          </a:prstGeom>
          <a:noFill/>
        </p:spPr>
        <p:txBody>
          <a:bodyPr wrap="none" lIns="0" tIns="0" rIns="0" bIns="0">
            <a:spAutoFit/>
          </a:bodyPr>
          <a:lstStyle/>
          <a:p>
            <a:pPr>
              <a:defRPr sz="1150" b="1">
                <a:solidFill>
                  <a:srgbClr val="1E3A8A"/>
                </a:solidFill>
                <a:latin typeface="Microsoft YaHei"/>
              </a:defRPr>
            </a:pPr>
            <a:r>
              <a:t>【AICore + URMA 双 Stream 硬件物理流水与安全挂接时序】</a:t>
            </a:r>
          </a:p>
        </p:txBody>
      </p:sp>
      <p:sp>
        <p:nvSpPr>
          <p:cNvPr id="12" name="Rectangle 11"/>
          <p:cNvSpPr/>
          <p:nvPr/>
        </p:nvSpPr>
        <p:spPr>
          <a:xfrm>
            <a:off x="685800" y="5029200"/>
            <a:ext cx="5303520" cy="713232"/>
          </a:xfrm>
          <a:prstGeom prst="rect">
            <a:avLst/>
          </a:prstGeom>
          <a:solidFill>
            <a:srgbClr val="EFF6FF"/>
          </a:solidFill>
          <a:ln w="1270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49808" y="5065776"/>
            <a:ext cx="5175504" cy="640080"/>
          </a:xfrm>
          <a:prstGeom prst="rect">
            <a:avLst/>
          </a:prstGeom>
          <a:noFill/>
        </p:spPr>
        <p:txBody>
          <a:bodyPr wrap="square" lIns="0" tIns="0" rIns="0" bIns="0">
            <a:spAutoFit/>
          </a:bodyPr>
          <a:lstStyle/>
          <a:p>
            <a:pPr>
              <a:defRPr sz="950" b="1">
                <a:solidFill>
                  <a:srgbClr val="1E3A8A"/>
                </a:solidFill>
                <a:latin typeface="Consolas"/>
              </a:defRPr>
            </a:pPr>
            <a:r>
              <a:t>Stream 1 (AICore 算力): [ Layer L GEMM 矩阵计算耗时包络 ]</a:t>
            </a:r>
          </a:p>
          <a:p>
            <a:pPr>
              <a:spcBef>
                <a:spcPts val="200"/>
              </a:spcBef>
              <a:defRPr sz="950">
                <a:solidFill>
                  <a:srgbClr val="1D4ED8"/>
                </a:solidFill>
                <a:latin typeface="Consolas"/>
              </a:defRPr>
            </a:pPr>
            <a:r>
              <a:t>Stream 2 (URMA 传输): [ L+1 KV 异步预取 ] ➔ [ 在线快速融合 ] (隐藏 ≥60%)</a:t>
            </a:r>
          </a:p>
        </p:txBody>
      </p:sp>
      <p:sp>
        <p:nvSpPr>
          <p:cNvPr id="14" name="Rectangle 13"/>
          <p:cNvSpPr/>
          <p:nvPr/>
        </p:nvSpPr>
        <p:spPr>
          <a:xfrm>
            <a:off x="6217920" y="5029200"/>
            <a:ext cx="5303520" cy="713232"/>
          </a:xfrm>
          <a:prstGeom prst="rect">
            <a:avLst/>
          </a:prstGeom>
          <a:solidFill>
            <a:srgbClr val="ECFDF5"/>
          </a:solidFill>
          <a:ln w="1270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291072" y="5065776"/>
            <a:ext cx="5157216" cy="640080"/>
          </a:xfrm>
          <a:prstGeom prst="rect">
            <a:avLst/>
          </a:prstGeom>
          <a:noFill/>
        </p:spPr>
        <p:txBody>
          <a:bodyPr wrap="square" lIns="0" tIns="0" rIns="0" bIns="0">
            <a:spAutoFit/>
          </a:bodyPr>
          <a:lstStyle/>
          <a:p>
            <a:pPr>
              <a:defRPr sz="1000" b="1">
                <a:solidFill>
                  <a:srgbClr val="047857"/>
                </a:solidFill>
                <a:latin typeface="Microsoft YaHei"/>
              </a:defRPr>
            </a:pPr>
            <a:r>
              <a:t>数据安全校验: [ 语义与权限严格校验 ] ➔ [ 就绪状态检查 ]</a:t>
            </a:r>
          </a:p>
          <a:p>
            <a:pPr>
              <a:spcBef>
                <a:spcPts val="200"/>
              </a:spcBef>
              <a:defRPr sz="950">
                <a:solidFill>
                  <a:srgbClr val="0F172A"/>
                </a:solidFill>
                <a:latin typeface="Microsoft YaHei"/>
              </a:defRPr>
            </a:pPr>
            <a:r>
              <a:t>租约生命周期: [ 显式租约安全防护 ] ➔ 杜绝脏数据，错误消费为 0</a:t>
            </a:r>
          </a:p>
        </p:txBody>
      </p:sp>
      <p:sp>
        <p:nvSpPr>
          <p:cNvPr id="16" name="Rectangle 15"/>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可靠性与性能保障：</a:t>
            </a:r>
            <a:r>
              <a:rPr sz="1150" b="0">
                <a:solidFill>
                  <a:srgbClr val="0F172A"/>
                </a:solidFill>
                <a:latin typeface="Microsoft YaHei"/>
              </a:rPr>
              <a:t>相比开源方案的盲目拉取与事后被动丢弃，本项目通过 </a:t>
            </a:r>
            <a:r>
              <a:rPr sz="1150" b="1">
                <a:solidFill>
                  <a:srgbClr val="DC2626"/>
                </a:solidFill>
                <a:latin typeface="Microsoft YaHei"/>
              </a:rPr>
              <a:t>前置量化决策确保每次加载均获正向收益</a:t>
            </a:r>
            <a:r>
              <a:rPr sz="1150" b="0">
                <a:solidFill>
                  <a:srgbClr val="0F172A"/>
                </a:solidFill>
                <a:latin typeface="Microsoft YaHei"/>
              </a:rPr>
              <a:t>，利用 </a:t>
            </a:r>
            <a:r>
              <a:rPr sz="1150" b="1">
                <a:solidFill>
                  <a:srgbClr val="DC2626"/>
                </a:solidFill>
                <a:latin typeface="Microsoft YaHei"/>
              </a:rPr>
              <a:t>双硬件 Stream 重叠隐藏网络时延</a:t>
            </a:r>
            <a:r>
              <a:rPr sz="1150" b="0">
                <a:solidFill>
                  <a:srgbClr val="0F172A"/>
                </a:solidFill>
                <a:latin typeface="Microsoft YaHei"/>
              </a:rPr>
              <a:t>，并以 </a:t>
            </a:r>
            <a:r>
              <a:rPr sz="1150" b="1">
                <a:solidFill>
                  <a:srgbClr val="DC2626"/>
                </a:solidFill>
                <a:latin typeface="Microsoft YaHei"/>
              </a:rPr>
              <a:t>严格的语义校验与租约机制实现 0 错误消费与多卡安全协同</a:t>
            </a:r>
            <a:r>
              <a:rPr sz="1150" b="0">
                <a:solidFill>
                  <a:srgbClr val="0F172A"/>
                </a:solidFill>
                <a:latin typeface="Microsoft YaHei"/>
              </a:rPr>
              <a: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软硬件协同关键技术：从底层微架构到上层状态管理的全栈协同</a:t>
            </a:r>
          </a:p>
          <a:p>
            <a:pPr>
              <a:spcBef>
                <a:spcPts val="200"/>
              </a:spcBef>
              <a:defRPr sz="1000">
                <a:solidFill>
                  <a:srgbClr val="475569"/>
                </a:solidFill>
                <a:latin typeface="Microsoft YaHei"/>
              </a:defRPr>
            </a:pPr>
            <a:r>
              <a:t>构建“语义驱动、总线直达、双流重叠、硬件隔离”的软硬件协同技术体系</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07 / 10 页</a:t>
            </a:r>
          </a:p>
        </p:txBody>
      </p:sp>
      <p:sp>
        <p:nvSpPr>
          <p:cNvPr id="4" name="Rectangle 3"/>
          <p:cNvSpPr/>
          <p:nvPr/>
        </p:nvSpPr>
        <p:spPr>
          <a:xfrm>
            <a:off x="548640" y="1097280"/>
            <a:ext cx="5440680" cy="2240280"/>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70432"/>
            <a:ext cx="5221224" cy="2093976"/>
          </a:xfrm>
          <a:prstGeom prst="rect">
            <a:avLst/>
          </a:prstGeom>
          <a:noFill/>
        </p:spPr>
        <p:txBody>
          <a:bodyPr wrap="square" lIns="0" tIns="0" rIns="0" bIns="0">
            <a:spAutoFit/>
          </a:bodyPr>
          <a:lstStyle/>
          <a:p>
            <a:pPr>
              <a:defRPr sz="1250" b="1">
                <a:solidFill>
                  <a:srgbClr val="1D4ED8"/>
                </a:solidFill>
                <a:latin typeface="Microsoft YaHei"/>
              </a:defRPr>
            </a:pPr>
            <a:r>
              <a:t>协同技术一：语义驱动物理拓扑映射</a:t>
            </a:r>
          </a:p>
          <a:p>
            <a:pPr>
              <a:spcBef>
                <a:spcPts val="100"/>
              </a:spcBef>
              <a:spcAft>
                <a:spcPts val="200"/>
              </a:spcAft>
              <a:defRPr sz="1000" b="1">
                <a:solidFill>
                  <a:srgbClr val="475569"/>
                </a:solidFill>
                <a:latin typeface="Microsoft YaHei"/>
              </a:defRPr>
            </a:pPr>
            <a:r>
              <a:t>[LLM 语义 ➔ 硬件网络拓扑协同]</a:t>
            </a:r>
          </a:p>
          <a:p>
            <a:pPr>
              <a:lnSpc>
                <a:spcPct val="122000"/>
              </a:lnSpc>
              <a:spcBef>
                <a:spcPts val="600"/>
              </a:spcBef>
              <a:defRPr sz="1200" b="1">
                <a:solidFill>
                  <a:srgbClr val="0F172A"/>
                </a:solidFill>
                <a:latin typeface="Microsoft YaHei"/>
              </a:defRPr>
            </a:pPr>
            <a:r>
              <a:t>• 硬件拓扑现状：</a:t>
            </a:r>
            <a:r>
              <a:rPr sz="1150" b="0">
                <a:solidFill>
                  <a:srgbClr val="475569"/>
                </a:solidFill>
                <a:latin typeface="Microsoft YaHei"/>
              </a:rPr>
              <a:t>现代计算集群包含 HCCS、PCIe、URMA 与 NVMe SSD 等异构互联体系。</a:t>
            </a:r>
          </a:p>
          <a:p>
            <a:pPr>
              <a:lnSpc>
                <a:spcPct val="122000"/>
              </a:lnSpc>
              <a:spcBef>
                <a:spcPts val="600"/>
              </a:spcBef>
              <a:defRPr sz="1200" b="1">
                <a:solidFill>
                  <a:srgbClr val="0F172A"/>
                </a:solidFill>
                <a:latin typeface="Microsoft YaHei"/>
              </a:defRPr>
            </a:pPr>
            <a:r>
              <a:t>• 语义亲和映射：</a:t>
            </a:r>
            <a:r>
              <a:rPr sz="1150" b="0">
                <a:solidFill>
                  <a:srgbClr val="475569"/>
                </a:solidFill>
                <a:latin typeface="Microsoft YaHei"/>
              </a:rPr>
              <a:t>通过 KVSemanticIdentity 将 Layer 与 TP Rank 精准映射至直连硬件物理队列。</a:t>
            </a:r>
          </a:p>
          <a:p>
            <a:pPr>
              <a:lnSpc>
                <a:spcPct val="122000"/>
              </a:lnSpc>
              <a:spcBef>
                <a:spcPts val="600"/>
              </a:spcBef>
              <a:defRPr sz="1200" b="1">
                <a:solidFill>
                  <a:srgbClr val="0F172A"/>
                </a:solidFill>
                <a:latin typeface="Microsoft YaHei"/>
              </a:defRPr>
            </a:pPr>
            <a:r>
              <a:t>• 消除 Incast 拥塞：</a:t>
            </a:r>
            <a:r>
              <a:rPr sz="1150" b="0">
                <a:solidFill>
                  <a:srgbClr val="475569"/>
                </a:solidFill>
                <a:latin typeface="Microsoft YaHei"/>
              </a:rPr>
              <a:t>同 Prompt / Layer KV 局域汇聚，压减 80% 跨机架流量消除拥塞。</a:t>
            </a:r>
          </a:p>
        </p:txBody>
      </p:sp>
      <p:sp>
        <p:nvSpPr>
          <p:cNvPr id="6" name="Rectangle 5"/>
          <p:cNvSpPr/>
          <p:nvPr/>
        </p:nvSpPr>
        <p:spPr>
          <a:xfrm>
            <a:off x="6202375" y="1097280"/>
            <a:ext cx="5440680" cy="2240280"/>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6312103" y="1170432"/>
            <a:ext cx="5221224" cy="2093976"/>
          </a:xfrm>
          <a:prstGeom prst="rect">
            <a:avLst/>
          </a:prstGeom>
          <a:noFill/>
        </p:spPr>
        <p:txBody>
          <a:bodyPr wrap="square" lIns="0" tIns="0" rIns="0" bIns="0">
            <a:spAutoFit/>
          </a:bodyPr>
          <a:lstStyle/>
          <a:p>
            <a:pPr>
              <a:defRPr sz="1250" b="1">
                <a:solidFill>
                  <a:srgbClr val="1E3A8A"/>
                </a:solidFill>
                <a:latin typeface="Microsoft YaHei"/>
              </a:defRPr>
            </a:pPr>
            <a:r>
              <a:t>协同技术二：双 Stream 物理流水重叠</a:t>
            </a:r>
          </a:p>
          <a:p>
            <a:pPr>
              <a:spcBef>
                <a:spcPts val="100"/>
              </a:spcBef>
              <a:spcAft>
                <a:spcPts val="200"/>
              </a:spcAft>
              <a:defRPr sz="1000" b="1">
                <a:solidFill>
                  <a:srgbClr val="475569"/>
                </a:solidFill>
                <a:latin typeface="Microsoft YaHei"/>
              </a:defRPr>
            </a:pPr>
            <a:r>
              <a:t>[算力 Stream ➔ 传输 Stream 协同]</a:t>
            </a:r>
          </a:p>
          <a:p>
            <a:pPr>
              <a:lnSpc>
                <a:spcPct val="122000"/>
              </a:lnSpc>
              <a:spcBef>
                <a:spcPts val="600"/>
              </a:spcBef>
              <a:defRPr sz="1200" b="1">
                <a:solidFill>
                  <a:srgbClr val="0F172A"/>
                </a:solidFill>
                <a:latin typeface="Microsoft YaHei"/>
              </a:defRPr>
            </a:pPr>
            <a:r>
              <a:t>• 硬件 Stream 解耦：</a:t>
            </a:r>
            <a:r>
              <a:rPr sz="1150" b="0">
                <a:solidFill>
                  <a:srgbClr val="475569"/>
                </a:solidFill>
                <a:latin typeface="Microsoft YaHei"/>
              </a:rPr>
              <a:t>NPU 内部 AICore 矩阵单元与 URMA DMA 引擎运行在独立硬件 Stream。</a:t>
            </a:r>
          </a:p>
          <a:p>
            <a:pPr>
              <a:lnSpc>
                <a:spcPct val="122000"/>
              </a:lnSpc>
              <a:spcBef>
                <a:spcPts val="600"/>
              </a:spcBef>
              <a:defRPr sz="1200" b="1">
                <a:solidFill>
                  <a:srgbClr val="0F172A"/>
                </a:solidFill>
                <a:latin typeface="Microsoft YaHei"/>
              </a:defRPr>
            </a:pPr>
            <a:r>
              <a:t>• FlashAttention 融合：</a:t>
            </a:r>
            <a:r>
              <a:rPr sz="1150" b="0">
                <a:solidFill>
                  <a:srgbClr val="475569"/>
                </a:solidFill>
                <a:latin typeface="Microsoft YaHei"/>
              </a:rPr>
              <a:t>计算第 L 层 GEMM 时 DMA 预取第 L+1 层 KV，利用 LogSumExp 在线合并。</a:t>
            </a:r>
          </a:p>
          <a:p>
            <a:pPr>
              <a:lnSpc>
                <a:spcPct val="122000"/>
              </a:lnSpc>
              <a:spcBef>
                <a:spcPts val="600"/>
              </a:spcBef>
              <a:defRPr sz="1200" b="1">
                <a:solidFill>
                  <a:srgbClr val="0F172A"/>
                </a:solidFill>
                <a:latin typeface="Microsoft YaHei"/>
              </a:defRPr>
            </a:pPr>
            <a:r>
              <a:t>• 隐藏 ≥60% 传输耗时：</a:t>
            </a:r>
            <a:r>
              <a:rPr sz="1150" b="0">
                <a:solidFill>
                  <a:srgbClr val="475569"/>
                </a:solidFill>
                <a:latin typeface="Microsoft YaHei"/>
              </a:rPr>
              <a:t>全模型 32 层流水全掩盖，把网络时延完全压缩进算力耗时包络！</a:t>
            </a:r>
          </a:p>
        </p:txBody>
      </p:sp>
      <p:sp>
        <p:nvSpPr>
          <p:cNvPr id="8" name="Rectangle 7"/>
          <p:cNvSpPr/>
          <p:nvPr/>
        </p:nvSpPr>
        <p:spPr>
          <a:xfrm>
            <a:off x="548640" y="3502152"/>
            <a:ext cx="5440680" cy="2240280"/>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 y="3575304"/>
            <a:ext cx="5221224" cy="2093976"/>
          </a:xfrm>
          <a:prstGeom prst="rect">
            <a:avLst/>
          </a:prstGeom>
          <a:noFill/>
        </p:spPr>
        <p:txBody>
          <a:bodyPr wrap="square" lIns="0" tIns="0" rIns="0" bIns="0">
            <a:spAutoFit/>
          </a:bodyPr>
          <a:lstStyle/>
          <a:p>
            <a:pPr>
              <a:defRPr sz="1250" b="1">
                <a:solidFill>
                  <a:srgbClr val="1E3A8A"/>
                </a:solidFill>
                <a:latin typeface="Microsoft YaHei"/>
              </a:defRPr>
            </a:pPr>
            <a:r>
              <a:t>协同技术三：硬件 QoS 队列与零数据拷贝</a:t>
            </a:r>
          </a:p>
          <a:p>
            <a:pPr>
              <a:spcBef>
                <a:spcPts val="100"/>
              </a:spcBef>
              <a:spcAft>
                <a:spcPts val="200"/>
              </a:spcAft>
              <a:defRPr sz="1000" b="1">
                <a:solidFill>
                  <a:srgbClr val="475569"/>
                </a:solidFill>
                <a:latin typeface="Microsoft YaHei"/>
              </a:defRPr>
            </a:pPr>
            <a:r>
              <a:t>[网卡 QoS 队列 ➔ Host 零拷贝协同]</a:t>
            </a:r>
          </a:p>
          <a:p>
            <a:pPr>
              <a:lnSpc>
                <a:spcPct val="122000"/>
              </a:lnSpc>
              <a:spcBef>
                <a:spcPts val="600"/>
              </a:spcBef>
              <a:defRPr sz="1200" b="1">
                <a:solidFill>
                  <a:srgbClr val="0F172A"/>
                </a:solidFill>
                <a:latin typeface="Microsoft YaHei"/>
              </a:defRPr>
            </a:pPr>
            <a:r>
              <a:t>• 物理 QoS 队列隔离：</a:t>
            </a:r>
            <a:r>
              <a:rPr sz="1150" b="0">
                <a:solidFill>
                  <a:srgbClr val="475569"/>
                </a:solidFill>
                <a:latin typeface="Microsoft YaHei"/>
              </a:rPr>
              <a:t>Layer 0 及前台读绑定至 URMA 高优队列，后台迁移绑定低优队列。</a:t>
            </a:r>
          </a:p>
          <a:p>
            <a:pPr>
              <a:lnSpc>
                <a:spcPct val="122000"/>
              </a:lnSpc>
              <a:spcBef>
                <a:spcPts val="600"/>
              </a:spcBef>
              <a:defRPr sz="1200" b="1">
                <a:solidFill>
                  <a:srgbClr val="0F172A"/>
                </a:solidFill>
                <a:latin typeface="Microsoft YaHei"/>
              </a:defRPr>
            </a:pPr>
            <a:r>
              <a:t>• CPU 不参与数据搬运：</a:t>
            </a:r>
            <a:r>
              <a:rPr sz="1150" b="0">
                <a:solidFill>
                  <a:srgbClr val="475569"/>
                </a:solidFill>
                <a:latin typeface="Microsoft YaHei"/>
              </a:rPr>
              <a:t>控制面下发描述符后，数据搬运 100% 硬件 DMA 执行，消除 CPU 内存拷贝。</a:t>
            </a:r>
          </a:p>
          <a:p>
            <a:pPr>
              <a:lnSpc>
                <a:spcPct val="122000"/>
              </a:lnSpc>
              <a:spcBef>
                <a:spcPts val="600"/>
              </a:spcBef>
              <a:defRPr sz="1200" b="1">
                <a:solidFill>
                  <a:srgbClr val="0F172A"/>
                </a:solidFill>
                <a:latin typeface="Microsoft YaHei"/>
              </a:defRPr>
            </a:pPr>
            <a:r>
              <a:t>• TPOT 抖动 &lt; 3%：</a:t>
            </a:r>
            <a:r>
              <a:rPr sz="1150" b="0">
                <a:solidFill>
                  <a:srgbClr val="475569"/>
                </a:solidFill>
                <a:latin typeface="Microsoft YaHei"/>
              </a:rPr>
              <a:t>后台进行大规模 SSD 迁移时，前台实时 Decode（解码生成）的 TPOT 抖动严格 &lt; 3%。</a:t>
            </a:r>
          </a:p>
        </p:txBody>
      </p:sp>
      <p:sp>
        <p:nvSpPr>
          <p:cNvPr id="10" name="Rectangle 9"/>
          <p:cNvSpPr/>
          <p:nvPr/>
        </p:nvSpPr>
        <p:spPr>
          <a:xfrm>
            <a:off x="6202375" y="3502152"/>
            <a:ext cx="5440680" cy="2240280"/>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312103" y="3575304"/>
            <a:ext cx="5221224" cy="2093976"/>
          </a:xfrm>
          <a:prstGeom prst="rect">
            <a:avLst/>
          </a:prstGeom>
          <a:noFill/>
        </p:spPr>
        <p:txBody>
          <a:bodyPr wrap="square" lIns="0" tIns="0" rIns="0" bIns="0">
            <a:spAutoFit/>
          </a:bodyPr>
          <a:lstStyle/>
          <a:p>
            <a:pPr>
              <a:defRPr sz="1250" b="1">
                <a:solidFill>
                  <a:srgbClr val="047857"/>
                </a:solidFill>
                <a:latin typeface="Microsoft YaHei"/>
              </a:defRPr>
            </a:pPr>
            <a:r>
              <a:t>协同技术四：UBMEM 微秒级共享内存</a:t>
            </a:r>
          </a:p>
          <a:p>
            <a:pPr>
              <a:spcBef>
                <a:spcPts val="100"/>
              </a:spcBef>
              <a:spcAft>
                <a:spcPts val="200"/>
              </a:spcAft>
              <a:defRPr sz="1000" b="1">
                <a:solidFill>
                  <a:srgbClr val="475569"/>
                </a:solidFill>
                <a:latin typeface="Microsoft YaHei"/>
              </a:defRPr>
            </a:pPr>
            <a:r>
              <a:t>[总线级共享内存 ➔ 微秒控制面协同]</a:t>
            </a:r>
          </a:p>
          <a:p>
            <a:pPr>
              <a:lnSpc>
                <a:spcPct val="122000"/>
              </a:lnSpc>
              <a:spcBef>
                <a:spcPts val="600"/>
              </a:spcBef>
              <a:defRPr sz="1200" b="1">
                <a:solidFill>
                  <a:srgbClr val="0F172A"/>
                </a:solidFill>
                <a:latin typeface="Microsoft YaHei"/>
              </a:defRPr>
            </a:pPr>
            <a:r>
              <a:t>• 总线级内存映射：</a:t>
            </a:r>
            <a:r>
              <a:rPr sz="1150" b="0">
                <a:solidFill>
                  <a:srgbClr val="475569"/>
                </a:solidFill>
                <a:latin typeface="Microsoft YaHei"/>
              </a:rPr>
              <a:t>基于 UBMEM 将全局 PrefixDirectory 直接映射至共享内存空间。</a:t>
            </a:r>
          </a:p>
          <a:p>
            <a:pPr>
              <a:lnSpc>
                <a:spcPct val="122000"/>
              </a:lnSpc>
              <a:spcBef>
                <a:spcPts val="600"/>
              </a:spcBef>
              <a:defRPr sz="1200" b="1">
                <a:solidFill>
                  <a:srgbClr val="0F172A"/>
                </a:solidFill>
                <a:latin typeface="Microsoft YaHei"/>
              </a:defRPr>
            </a:pPr>
            <a:r>
              <a:t>• 微秒级指令直达：</a:t>
            </a:r>
            <a:r>
              <a:rPr sz="1150" b="0">
                <a:solidFill>
                  <a:srgbClr val="475569"/>
                </a:solidFill>
                <a:latin typeface="Microsoft YaHei"/>
              </a:rPr>
              <a:t>通过硬件 Load / Store / Atomic 指令直读，消除传统 RPC 栈开销。</a:t>
            </a:r>
          </a:p>
          <a:p>
            <a:pPr>
              <a:lnSpc>
                <a:spcPct val="122000"/>
              </a:lnSpc>
              <a:spcBef>
                <a:spcPts val="600"/>
              </a:spcBef>
              <a:defRPr sz="1200" b="1">
                <a:solidFill>
                  <a:srgbClr val="0F172A"/>
                </a:solidFill>
                <a:latin typeface="Microsoft YaHei"/>
              </a:defRPr>
            </a:pPr>
            <a:r>
              <a:t>• 时延压缩至 &lt; 5 µs：</a:t>
            </a:r>
            <a:r>
              <a:rPr sz="1150" b="0">
                <a:solidFill>
                  <a:srgbClr val="475569"/>
                </a:solidFill>
                <a:latin typeface="Microsoft YaHei"/>
              </a:rPr>
              <a:t>控制面时延从上百微秒压缩至 5 µs 内，微秒级驱动 URMA 正文搬运。</a:t>
            </a:r>
          </a:p>
        </p:txBody>
      </p:sp>
      <p:sp>
        <p:nvSpPr>
          <p:cNvPr id="12" name="Rectangle 11"/>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软硬件协同深度：</a:t>
            </a:r>
            <a:r>
              <a:rPr sz="1150" b="0">
                <a:solidFill>
                  <a:srgbClr val="0F172A"/>
                </a:solidFill>
                <a:latin typeface="Microsoft YaHei"/>
              </a:rPr>
              <a:t>底层的硬件性能优势必须依赖上层的深度协同才能充分释放；本项目通过 </a:t>
            </a:r>
            <a:r>
              <a:rPr sz="1150" b="1">
                <a:solidFill>
                  <a:srgbClr val="DC2626"/>
                </a:solidFill>
                <a:latin typeface="Microsoft YaHei"/>
              </a:rPr>
              <a:t>拓扑映射、双流掩盖、QoS 硬件隔离与微秒级总线直通</a:t>
            </a:r>
            <a:r>
              <a:rPr sz="1150" b="0">
                <a:solidFill>
                  <a:srgbClr val="0F172A"/>
                </a:solidFill>
                <a:latin typeface="Microsoft YaHei"/>
              </a:rPr>
              <a:t>，打通了从硬件底层原语到端到端推理性能的完整加速通路。</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业务指标量化分析 (1/2)：30%～90% 前缀复用测算模型与完整计算推导方法</a:t>
            </a:r>
          </a:p>
          <a:p>
            <a:pPr>
              <a:spcBef>
                <a:spcPts val="200"/>
              </a:spcBef>
              <a:defRPr sz="1000">
                <a:solidFill>
                  <a:srgbClr val="475569"/>
                </a:solidFill>
                <a:latin typeface="Microsoft YaHei"/>
              </a:defRPr>
            </a:pPr>
            <a:r>
              <a:t>严格给出正价值消费率 c 的 4 级条件漏斗乘积公式、TTFT 计算方法与 7.24 ms 顺序增量分解过程</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08 / 10 页</a:t>
            </a:r>
          </a:p>
        </p:txBody>
      </p:sp>
      <p:sp>
        <p:nvSpPr>
          <p:cNvPr id="4" name="Rectangle 3"/>
          <p:cNvSpPr/>
          <p:nvPr/>
        </p:nvSpPr>
        <p:spPr>
          <a:xfrm>
            <a:off x="548640" y="1060704"/>
            <a:ext cx="6263640" cy="4791456"/>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40080" y="1133856"/>
            <a:ext cx="6099048" cy="2487168"/>
          </a:xfrm>
          <a:prstGeom prst="rect">
            <a:avLst/>
          </a:prstGeom>
          <a:noFill/>
        </p:spPr>
        <p:txBody>
          <a:bodyPr wrap="square" lIns="0" tIns="0" rIns="0" bIns="0">
            <a:spAutoFit/>
          </a:bodyPr>
          <a:lstStyle/>
          <a:p>
            <a:pPr>
              <a:defRPr sz="1150" b="1">
                <a:solidFill>
                  <a:srgbClr val="1E3A8A"/>
                </a:solidFill>
                <a:latin typeface="Microsoft YaHei"/>
              </a:defRPr>
            </a:pPr>
            <a:r>
              <a:t>1. 端到端 TTFT 数学建模与 c 的 4 级条件漏斗推导 (1K Token)</a:t>
            </a:r>
          </a:p>
          <a:p>
            <a:pPr>
              <a:spcBef>
                <a:spcPts val="200"/>
              </a:spcBef>
              <a:defRPr sz="950" b="1">
                <a:solidFill>
                  <a:srgbClr val="1D4ED8"/>
                </a:solidFill>
                <a:latin typeface="Consolas"/>
              </a:defRPr>
            </a:pPr>
            <a:r>
              <a:t>【核心计算公式】 TTFT_est = T_other + T_fixed + T_prefill × (1 - c) + T_load × c</a:t>
            </a:r>
          </a:p>
          <a:p>
            <a:pPr>
              <a:spcBef>
                <a:spcPts val="200"/>
              </a:spcBef>
              <a:defRPr sz="950" b="1">
                <a:solidFill>
                  <a:srgbClr val="047857"/>
                </a:solidFill>
                <a:latin typeface="Consolas"/>
              </a:defRPr>
            </a:pPr>
            <a:r>
              <a:t>【正价值消费率 c 计算方法】 c = r × u = r × (u1 × u2 × u3 × u4)  [4 级条件漏斗连乘]</a:t>
            </a:r>
          </a:p>
          <a:p>
            <a:pPr>
              <a:lnSpc>
                <a:spcPct val="116000"/>
              </a:lnSpc>
              <a:spcBef>
                <a:spcPts val="200"/>
              </a:spcBef>
              <a:defRPr sz="950" b="1">
                <a:solidFill>
                  <a:srgbClr val="0F172A"/>
                </a:solidFill>
                <a:latin typeface="Microsoft YaHei"/>
              </a:defRPr>
            </a:pPr>
            <a:r>
              <a:t>• u1 语义与候选保持 (90%➔97%)：</a:t>
            </a:r>
            <a:r>
              <a:rPr sz="919" b="0">
                <a:solidFill>
                  <a:srgbClr val="475569"/>
                </a:solidFill>
                <a:latin typeface="Microsoft YaHei"/>
              </a:rPr>
              <a:t>统一语义身份 + 缓存感知路由 + 全局生命周期治理</a:t>
            </a:r>
          </a:p>
          <a:p>
            <a:pPr>
              <a:lnSpc>
                <a:spcPct val="116000"/>
              </a:lnSpc>
              <a:spcBef>
                <a:spcPts val="200"/>
              </a:spcBef>
              <a:defRPr sz="950" b="1">
                <a:solidFill>
                  <a:srgbClr val="0F172A"/>
                </a:solidFill>
                <a:latin typeface="Microsoft YaHei"/>
              </a:defRPr>
            </a:pPr>
            <a:r>
              <a:t>• u2 资格与租约通过 (95%➔99%)：</a:t>
            </a:r>
            <a:r>
              <a:rPr sz="919" b="0">
                <a:solidFill>
                  <a:srgbClr val="475569"/>
                </a:solidFill>
                <a:latin typeface="Microsoft YaHei"/>
              </a:rPr>
              <a:t>共享内存元数据快路径 + 显式租约机制 + 多卡状态同步</a:t>
            </a:r>
          </a:p>
          <a:p>
            <a:pPr>
              <a:lnSpc>
                <a:spcPct val="116000"/>
              </a:lnSpc>
              <a:spcBef>
                <a:spcPts val="200"/>
              </a:spcBef>
              <a:defRPr sz="950" b="1">
                <a:solidFill>
                  <a:srgbClr val="0F172A"/>
                </a:solidFill>
                <a:latin typeface="Microsoft YaHei"/>
              </a:defRPr>
            </a:pPr>
            <a:r>
              <a:t>• u3 实际路径成功 (95%➔99%)：</a:t>
            </a:r>
            <a:r>
              <a:rPr sz="919" b="0">
                <a:solidFill>
                  <a:srgbClr val="475569"/>
                </a:solidFill>
                <a:latin typeface="Microsoft YaHei"/>
              </a:rPr>
              <a:t>硬件能力感知矩阵 + 芯片直达传输 + 有界平滑回退</a:t>
            </a:r>
          </a:p>
          <a:p>
            <a:pPr>
              <a:lnSpc>
                <a:spcPct val="116000"/>
              </a:lnSpc>
              <a:spcBef>
                <a:spcPts val="200"/>
              </a:spcBef>
              <a:defRPr sz="950" b="1">
                <a:solidFill>
                  <a:srgbClr val="0F172A"/>
                </a:solidFill>
                <a:latin typeface="Microsoft YaHei"/>
              </a:defRPr>
            </a:pPr>
            <a:r>
              <a:t>• u4 正收益判定比 (98%➔99%)：</a:t>
            </a:r>
            <a:r>
              <a:rPr sz="919" b="0">
                <a:solidFill>
                  <a:srgbClr val="475569"/>
                </a:solidFill>
                <a:latin typeface="Microsoft YaHei"/>
              </a:rPr>
              <a:t>动态决策评估引擎 + 实时队列观测与自适应熔断</a:t>
            </a:r>
          </a:p>
          <a:p>
            <a:pPr>
              <a:lnSpc>
                <a:spcPct val="116000"/>
              </a:lnSpc>
              <a:spcBef>
                <a:spcPts val="200"/>
              </a:spcBef>
              <a:defRPr sz="950" b="1">
                <a:solidFill>
                  <a:srgbClr val="0F172A"/>
                </a:solidFill>
                <a:latin typeface="Microsoft YaHei"/>
              </a:defRPr>
            </a:pPr>
            <a:r>
              <a:t>• 综合转化率 u 与时延预算：</a:t>
            </a:r>
            <a:r>
              <a:rPr sz="919" b="0">
                <a:solidFill>
                  <a:srgbClr val="475569"/>
                </a:solidFill>
                <a:latin typeface="Microsoft YaHei"/>
              </a:rPr>
              <a:t>u: 开源 79.60% ➔ 本项目 94.12%; T_fixed: 1.6 ➔ 0.575ms; T_load: 10.0 ➔ 4.5ms</a:t>
            </a:r>
          </a:p>
        </p:txBody>
      </p:sp>
      <p:graphicFrame>
        <p:nvGraphicFramePr>
          <p:cNvPr id="6" name="Table 5"/>
          <p:cNvGraphicFramePr>
            <a:graphicFrameLocks noGrp="1"/>
          </p:cNvGraphicFramePr>
          <p:nvPr/>
        </p:nvGraphicFramePr>
        <p:xfrm>
          <a:off x="685800" y="3621024"/>
          <a:ext cx="5989320" cy="2139696"/>
        </p:xfrm>
        <a:graphic>
          <a:graphicData uri="http://schemas.openxmlformats.org/drawingml/2006/table">
            <a:tbl>
              <a:tblPr firstRow="1" bandRow="1">
                <a:tableStyleId>{5C22544A-7EE6-4342-B048-85BDC9FD1C3A}</a:tableStyleId>
              </a:tblPr>
              <a:tblGrid>
                <a:gridCol w="1188720"/>
                <a:gridCol w="685800"/>
                <a:gridCol w="868680"/>
                <a:gridCol w="685800"/>
                <a:gridCol w="868680"/>
                <a:gridCol w="868680"/>
                <a:gridCol w="822960"/>
              </a:tblGrid>
              <a:tr h="427939">
                <a:tc>
                  <a:txBody>
                    <a:bodyPr wrap="none" lIns="18288" rIns="18288" tIns="36576" bIns="36576"/>
                    <a:lstStyle/>
                    <a:p>
                      <a:pPr algn="ctr">
                        <a:defRPr sz="1000" b="1">
                          <a:solidFill>
                            <a:srgbClr val="FFFFFF"/>
                          </a:solidFill>
                          <a:latin typeface="Microsoft YaHei"/>
                        </a:defRPr>
                      </a:pPr>
                      <a:r>
                        <a:t>复用场景 r</a:t>
                      </a:r>
                    </a:p>
                  </a:txBody>
                  <a:tcPr>
                    <a:solidFill>
                      <a:srgbClr val="1E3A8A"/>
                    </a:solidFill>
                  </a:tcPr>
                </a:tc>
                <a:tc>
                  <a:txBody>
                    <a:bodyPr wrap="none" lIns="18288" rIns="18288" tIns="36576" bIns="36576"/>
                    <a:lstStyle/>
                    <a:p>
                      <a:pPr algn="ctr">
                        <a:defRPr sz="1000" b="1">
                          <a:solidFill>
                            <a:srgbClr val="FFFFFF"/>
                          </a:solidFill>
                          <a:latin typeface="Microsoft YaHei"/>
                        </a:defRPr>
                      </a:pPr>
                      <a:r>
                        <a:t>开源 c</a:t>
                      </a:r>
                    </a:p>
                  </a:txBody>
                  <a:tcPr>
                    <a:solidFill>
                      <a:srgbClr val="1E3A8A"/>
                    </a:solidFill>
                  </a:tcPr>
                </a:tc>
                <a:tc>
                  <a:txBody>
                    <a:bodyPr wrap="none" lIns="18288" rIns="18288" tIns="36576" bIns="36576"/>
                    <a:lstStyle/>
                    <a:p>
                      <a:pPr algn="ctr">
                        <a:defRPr sz="1000" b="1">
                          <a:solidFill>
                            <a:srgbClr val="FFFFFF"/>
                          </a:solidFill>
                          <a:latin typeface="Microsoft YaHei"/>
                        </a:defRPr>
                      </a:pPr>
                      <a:r>
                        <a:t>开源 TTFT</a:t>
                      </a:r>
                    </a:p>
                  </a:txBody>
                  <a:tcPr>
                    <a:solidFill>
                      <a:srgbClr val="1E3A8A"/>
                    </a:solidFill>
                  </a:tcPr>
                </a:tc>
                <a:tc>
                  <a:txBody>
                    <a:bodyPr wrap="none" lIns="18288" rIns="18288" tIns="36576" bIns="36576"/>
                    <a:lstStyle/>
                    <a:p>
                      <a:pPr algn="ctr">
                        <a:defRPr sz="1000" b="1">
                          <a:solidFill>
                            <a:srgbClr val="FFFFFF"/>
                          </a:solidFill>
                          <a:latin typeface="Microsoft YaHei"/>
                        </a:defRPr>
                      </a:pPr>
                      <a:r>
                        <a:t>本项目 c</a:t>
                      </a:r>
                    </a:p>
                  </a:txBody>
                  <a:tcPr>
                    <a:solidFill>
                      <a:srgbClr val="1E3A8A"/>
                    </a:solidFill>
                  </a:tcPr>
                </a:tc>
                <a:tc>
                  <a:txBody>
                    <a:bodyPr wrap="none" lIns="18288" rIns="18288" tIns="36576" bIns="36576"/>
                    <a:lstStyle/>
                    <a:p>
                      <a:pPr algn="ctr">
                        <a:defRPr sz="1000" b="1">
                          <a:solidFill>
                            <a:srgbClr val="FFFFFF"/>
                          </a:solidFill>
                          <a:latin typeface="Microsoft YaHei"/>
                        </a:defRPr>
                      </a:pPr>
                      <a:r>
                        <a:t>本项目 TTFT</a:t>
                      </a:r>
                    </a:p>
                  </a:txBody>
                  <a:tcPr>
                    <a:solidFill>
                      <a:srgbClr val="1E3A8A"/>
                    </a:solidFill>
                  </a:tcPr>
                </a:tc>
                <a:tc>
                  <a:txBody>
                    <a:bodyPr wrap="none" lIns="18288" rIns="18288" tIns="36576" bIns="36576"/>
                    <a:lstStyle/>
                    <a:p>
                      <a:pPr algn="ctr">
                        <a:defRPr sz="1000" b="1">
                          <a:solidFill>
                            <a:srgbClr val="FFFFFF"/>
                          </a:solidFill>
                          <a:latin typeface="Microsoft YaHei"/>
                        </a:defRPr>
                      </a:pPr>
                      <a:r>
                        <a:t>TTFT 改善</a:t>
                      </a:r>
                    </a:p>
                  </a:txBody>
                  <a:tcPr>
                    <a:solidFill>
                      <a:srgbClr val="1E3A8A"/>
                    </a:solidFill>
                  </a:tcPr>
                </a:tc>
                <a:tc>
                  <a:txBody>
                    <a:bodyPr wrap="none" lIns="18288" rIns="18288" tIns="36576" bIns="36576"/>
                    <a:lstStyle/>
                    <a:p>
                      <a:pPr algn="ctr">
                        <a:defRPr sz="1000" b="1">
                          <a:solidFill>
                            <a:srgbClr val="FFFFFF"/>
                          </a:solidFill>
                          <a:latin typeface="Microsoft YaHei"/>
                        </a:defRPr>
                      </a:pPr>
                      <a:r>
                        <a:t>净省耗时</a:t>
                      </a:r>
                    </a:p>
                  </a:txBody>
                  <a:tcPr>
                    <a:solidFill>
                      <a:srgbClr val="1E3A8A"/>
                    </a:solidFill>
                  </a:tcPr>
                </a:tc>
              </a:tr>
              <a:tr h="427939">
                <a:tc>
                  <a:txBody>
                    <a:bodyPr wrap="square" lIns="18288" rIns="18288" tIns="36576" bIns="36576"/>
                    <a:lstStyle/>
                    <a:p>
                      <a:pPr algn="ctr">
                        <a:defRPr sz="1000" b="1">
                          <a:solidFill>
                            <a:srgbClr val="0F172A"/>
                          </a:solidFill>
                          <a:latin typeface="Microsoft YaHei"/>
                        </a:defRPr>
                      </a:pPr>
                      <a:r>
                        <a:t>30% 日常/短RAG</a:t>
                      </a:r>
                    </a:p>
                  </a:txBody>
                  <a:tcPr>
                    <a:solidFill>
                      <a:srgbClr val="FFFFFF"/>
                    </a:solidFill>
                  </a:tcPr>
                </a:tc>
                <a:tc>
                  <a:txBody>
                    <a:bodyPr wrap="square" lIns="18288" rIns="18288" tIns="36576" bIns="36576"/>
                    <a:lstStyle/>
                    <a:p>
                      <a:pPr algn="ctr">
                        <a:defRPr sz="1000">
                          <a:solidFill>
                            <a:srgbClr val="0F172A"/>
                          </a:solidFill>
                          <a:latin typeface="Microsoft YaHei"/>
                        </a:defRPr>
                      </a:pPr>
                      <a:r>
                        <a:t>23.9%</a:t>
                      </a:r>
                    </a:p>
                  </a:txBody>
                  <a:tcPr>
                    <a:solidFill>
                      <a:srgbClr val="FFFFFF"/>
                    </a:solidFill>
                  </a:tcPr>
                </a:tc>
                <a:tc>
                  <a:txBody>
                    <a:bodyPr wrap="square" lIns="18288" rIns="18288" tIns="36576" bIns="36576"/>
                    <a:lstStyle/>
                    <a:p>
                      <a:pPr algn="ctr">
                        <a:defRPr sz="1000">
                          <a:solidFill>
                            <a:srgbClr val="0F172A"/>
                          </a:solidFill>
                          <a:latin typeface="Microsoft YaHei"/>
                        </a:defRPr>
                      </a:pPr>
                      <a:r>
                        <a:t>57.66 ms</a:t>
                      </a:r>
                    </a:p>
                  </a:txBody>
                  <a:tcPr>
                    <a:solidFill>
                      <a:srgbClr val="FFFFFF"/>
                    </a:solidFill>
                  </a:tcPr>
                </a:tc>
                <a:tc>
                  <a:txBody>
                    <a:bodyPr wrap="square" lIns="18288" rIns="18288" tIns="36576" bIns="36576"/>
                    <a:lstStyle/>
                    <a:p>
                      <a:pPr algn="ctr">
                        <a:defRPr sz="1000">
                          <a:solidFill>
                            <a:srgbClr val="0F172A"/>
                          </a:solidFill>
                          <a:latin typeface="Microsoft YaHei"/>
                        </a:defRPr>
                      </a:pPr>
                      <a:r>
                        <a:t>28.2%</a:t>
                      </a:r>
                    </a:p>
                  </a:txBody>
                  <a:tcPr>
                    <a:solidFill>
                      <a:srgbClr val="FFFFFF"/>
                    </a:solidFill>
                  </a:tcPr>
                </a:tc>
                <a:tc>
                  <a:txBody>
                    <a:bodyPr wrap="square" lIns="18288" rIns="18288" tIns="36576" bIns="36576"/>
                    <a:lstStyle/>
                    <a:p>
                      <a:pPr algn="ctr">
                        <a:defRPr sz="1000">
                          <a:solidFill>
                            <a:srgbClr val="0F172A"/>
                          </a:solidFill>
                          <a:latin typeface="Microsoft YaHei"/>
                        </a:defRPr>
                      </a:pPr>
                      <a:r>
                        <a:t>52.90 ms</a:t>
                      </a:r>
                    </a:p>
                  </a:txBody>
                  <a:tcPr>
                    <a:solidFill>
                      <a:srgbClr val="FFFFFF"/>
                    </a:solidFill>
                  </a:tcPr>
                </a:tc>
                <a:tc>
                  <a:txBody>
                    <a:bodyPr wrap="square" lIns="18288" rIns="18288" tIns="36576" bIns="36576"/>
                    <a:lstStyle/>
                    <a:p>
                      <a:pPr algn="ctr">
                        <a:defRPr sz="1000" b="1">
                          <a:solidFill>
                            <a:srgbClr val="0F172A"/>
                          </a:solidFill>
                          <a:latin typeface="Microsoft YaHei"/>
                        </a:defRPr>
                      </a:pPr>
                      <a:r>
                        <a:t>8.2%</a:t>
                      </a:r>
                    </a:p>
                  </a:txBody>
                  <a:tcPr>
                    <a:solidFill>
                      <a:srgbClr val="FFFFFF"/>
                    </a:solidFill>
                  </a:tcPr>
                </a:tc>
                <a:tc>
                  <a:txBody>
                    <a:bodyPr wrap="square" lIns="18288" rIns="18288" tIns="36576" bIns="36576"/>
                    <a:lstStyle/>
                    <a:p>
                      <a:pPr algn="ctr">
                        <a:defRPr sz="1000" b="1">
                          <a:solidFill>
                            <a:srgbClr val="0F172A"/>
                          </a:solidFill>
                          <a:latin typeface="Microsoft YaHei"/>
                        </a:defRPr>
                      </a:pPr>
                      <a:r>
                        <a:t>4.76 ms</a:t>
                      </a:r>
                    </a:p>
                  </a:txBody>
                  <a:tcPr>
                    <a:solidFill>
                      <a:srgbClr val="FFFFFF"/>
                    </a:solidFill>
                  </a:tcPr>
                </a:tc>
              </a:tr>
              <a:tr h="427939">
                <a:tc>
                  <a:txBody>
                    <a:bodyPr wrap="square" lIns="18288" rIns="18288" tIns="36576" bIns="36576"/>
                    <a:lstStyle/>
                    <a:p>
                      <a:pPr algn="ctr">
                        <a:defRPr sz="1000" b="1">
                          <a:solidFill>
                            <a:srgbClr val="0F172A"/>
                          </a:solidFill>
                          <a:latin typeface="Microsoft YaHei"/>
                        </a:defRPr>
                      </a:pPr>
                      <a:r>
                        <a:t>50% 典型Agent</a:t>
                      </a:r>
                    </a:p>
                  </a:txBody>
                  <a:tcPr>
                    <a:solidFill>
                      <a:srgbClr val="F1F5F9"/>
                    </a:solidFill>
                  </a:tcPr>
                </a:tc>
                <a:tc>
                  <a:txBody>
                    <a:bodyPr wrap="square" lIns="18288" rIns="18288" tIns="36576" bIns="36576"/>
                    <a:lstStyle/>
                    <a:p>
                      <a:pPr algn="ctr">
                        <a:defRPr sz="1000">
                          <a:solidFill>
                            <a:srgbClr val="0F172A"/>
                          </a:solidFill>
                          <a:latin typeface="Microsoft YaHei"/>
                        </a:defRPr>
                      </a:pPr>
                      <a:r>
                        <a:t>39.8%</a:t>
                      </a:r>
                    </a:p>
                  </a:txBody>
                  <a:tcPr>
                    <a:solidFill>
                      <a:srgbClr val="F1F5F9"/>
                    </a:solidFill>
                  </a:tcPr>
                </a:tc>
                <a:tc>
                  <a:txBody>
                    <a:bodyPr wrap="square" lIns="18288" rIns="18288" tIns="36576" bIns="36576"/>
                    <a:lstStyle/>
                    <a:p>
                      <a:pPr algn="ctr">
                        <a:defRPr sz="1000">
                          <a:solidFill>
                            <a:srgbClr val="0F172A"/>
                          </a:solidFill>
                          <a:latin typeface="Microsoft YaHei"/>
                        </a:defRPr>
                      </a:pPr>
                      <a:r>
                        <a:t>49.70 ms</a:t>
                      </a:r>
                    </a:p>
                  </a:txBody>
                  <a:tcPr>
                    <a:solidFill>
                      <a:srgbClr val="F1F5F9"/>
                    </a:solidFill>
                  </a:tcPr>
                </a:tc>
                <a:tc>
                  <a:txBody>
                    <a:bodyPr wrap="square" lIns="18288" rIns="18288" tIns="36576" bIns="36576"/>
                    <a:lstStyle/>
                    <a:p>
                      <a:pPr algn="ctr">
                        <a:defRPr sz="1000">
                          <a:solidFill>
                            <a:srgbClr val="0F172A"/>
                          </a:solidFill>
                          <a:latin typeface="Microsoft YaHei"/>
                        </a:defRPr>
                      </a:pPr>
                      <a:r>
                        <a:t>47.1%</a:t>
                      </a:r>
                    </a:p>
                  </a:txBody>
                  <a:tcPr>
                    <a:solidFill>
                      <a:srgbClr val="F1F5F9"/>
                    </a:solidFill>
                  </a:tcPr>
                </a:tc>
                <a:tc>
                  <a:txBody>
                    <a:bodyPr wrap="square" lIns="18288" rIns="18288" tIns="36576" bIns="36576"/>
                    <a:lstStyle/>
                    <a:p>
                      <a:pPr algn="ctr">
                        <a:defRPr sz="1000">
                          <a:solidFill>
                            <a:srgbClr val="0F172A"/>
                          </a:solidFill>
                          <a:latin typeface="Microsoft YaHei"/>
                        </a:defRPr>
                      </a:pPr>
                      <a:r>
                        <a:t>42.46 ms</a:t>
                      </a:r>
                    </a:p>
                  </a:txBody>
                  <a:tcPr>
                    <a:solidFill>
                      <a:srgbClr val="F1F5F9"/>
                    </a:solidFill>
                  </a:tcPr>
                </a:tc>
                <a:tc>
                  <a:txBody>
                    <a:bodyPr wrap="square" lIns="18288" rIns="18288" tIns="36576" bIns="36576"/>
                    <a:lstStyle/>
                    <a:p>
                      <a:pPr algn="ctr">
                        <a:defRPr sz="1000" b="1">
                          <a:solidFill>
                            <a:srgbClr val="1D4ED8"/>
                          </a:solidFill>
                          <a:latin typeface="Microsoft YaHei"/>
                        </a:defRPr>
                      </a:pPr>
                      <a:r>
                        <a:t>14.6%</a:t>
                      </a:r>
                    </a:p>
                  </a:txBody>
                  <a:tcPr>
                    <a:solidFill>
                      <a:srgbClr val="F1F5F9"/>
                    </a:solidFill>
                  </a:tcPr>
                </a:tc>
                <a:tc>
                  <a:txBody>
                    <a:bodyPr wrap="square" lIns="18288" rIns="18288" tIns="36576" bIns="36576"/>
                    <a:lstStyle/>
                    <a:p>
                      <a:pPr algn="ctr">
                        <a:defRPr sz="1000" b="1">
                          <a:solidFill>
                            <a:srgbClr val="0F172A"/>
                          </a:solidFill>
                          <a:latin typeface="Microsoft YaHei"/>
                        </a:defRPr>
                      </a:pPr>
                      <a:r>
                        <a:t>7.24 ms</a:t>
                      </a:r>
                    </a:p>
                  </a:txBody>
                  <a:tcPr>
                    <a:solidFill>
                      <a:srgbClr val="F1F5F9"/>
                    </a:solidFill>
                  </a:tcPr>
                </a:tc>
              </a:tr>
              <a:tr h="427939">
                <a:tc>
                  <a:txBody>
                    <a:bodyPr wrap="square" lIns="18288" rIns="18288" tIns="36576" bIns="36576"/>
                    <a:lstStyle/>
                    <a:p>
                      <a:pPr algn="ctr">
                        <a:defRPr sz="1000" b="1">
                          <a:solidFill>
                            <a:srgbClr val="0F172A"/>
                          </a:solidFill>
                          <a:latin typeface="Microsoft YaHei"/>
                        </a:defRPr>
                      </a:pPr>
                      <a:r>
                        <a:t>70% 长系统词/代码</a:t>
                      </a:r>
                    </a:p>
                  </a:txBody>
                  <a:tcPr>
                    <a:solidFill>
                      <a:srgbClr val="FFFFFF"/>
                    </a:solidFill>
                  </a:tcPr>
                </a:tc>
                <a:tc>
                  <a:txBody>
                    <a:bodyPr wrap="square" lIns="18288" rIns="18288" tIns="36576" bIns="36576"/>
                    <a:lstStyle/>
                    <a:p>
                      <a:pPr algn="ctr">
                        <a:defRPr sz="1000">
                          <a:solidFill>
                            <a:srgbClr val="0F172A"/>
                          </a:solidFill>
                          <a:latin typeface="Microsoft YaHei"/>
                        </a:defRPr>
                      </a:pPr>
                      <a:r>
                        <a:t>55.7%</a:t>
                      </a:r>
                    </a:p>
                  </a:txBody>
                  <a:tcPr>
                    <a:solidFill>
                      <a:srgbClr val="FFFFFF"/>
                    </a:solidFill>
                  </a:tcPr>
                </a:tc>
                <a:tc>
                  <a:txBody>
                    <a:bodyPr wrap="square" lIns="18288" rIns="18288" tIns="36576" bIns="36576"/>
                    <a:lstStyle/>
                    <a:p>
                      <a:pPr algn="ctr">
                        <a:defRPr sz="1000">
                          <a:solidFill>
                            <a:srgbClr val="0F172A"/>
                          </a:solidFill>
                          <a:latin typeface="Microsoft YaHei"/>
                        </a:defRPr>
                      </a:pPr>
                      <a:r>
                        <a:t>41.74 ms</a:t>
                      </a:r>
                    </a:p>
                  </a:txBody>
                  <a:tcPr>
                    <a:solidFill>
                      <a:srgbClr val="FFFFFF"/>
                    </a:solidFill>
                  </a:tcPr>
                </a:tc>
                <a:tc>
                  <a:txBody>
                    <a:bodyPr wrap="square" lIns="18288" rIns="18288" tIns="36576" bIns="36576"/>
                    <a:lstStyle/>
                    <a:p>
                      <a:pPr algn="ctr">
                        <a:defRPr sz="1000">
                          <a:solidFill>
                            <a:srgbClr val="0F172A"/>
                          </a:solidFill>
                          <a:latin typeface="Microsoft YaHei"/>
                        </a:defRPr>
                      </a:pPr>
                      <a:r>
                        <a:t>65.9%</a:t>
                      </a:r>
                    </a:p>
                  </a:txBody>
                  <a:tcPr>
                    <a:solidFill>
                      <a:srgbClr val="FFFFFF"/>
                    </a:solidFill>
                  </a:tcPr>
                </a:tc>
                <a:tc>
                  <a:txBody>
                    <a:bodyPr wrap="square" lIns="18288" rIns="18288" tIns="36576" bIns="36576"/>
                    <a:lstStyle/>
                    <a:p>
                      <a:pPr algn="ctr">
                        <a:defRPr sz="1000">
                          <a:solidFill>
                            <a:srgbClr val="0F172A"/>
                          </a:solidFill>
                          <a:latin typeface="Microsoft YaHei"/>
                        </a:defRPr>
                      </a:pPr>
                      <a:r>
                        <a:t>32.01 ms</a:t>
                      </a:r>
                    </a:p>
                  </a:txBody>
                  <a:tcPr>
                    <a:solidFill>
                      <a:srgbClr val="FFFFFF"/>
                    </a:solidFill>
                  </a:tcPr>
                </a:tc>
                <a:tc>
                  <a:txBody>
                    <a:bodyPr wrap="square" lIns="18288" rIns="18288" tIns="36576" bIns="36576"/>
                    <a:lstStyle/>
                    <a:p>
                      <a:pPr algn="ctr">
                        <a:defRPr sz="1000" b="1">
                          <a:solidFill>
                            <a:srgbClr val="0F172A"/>
                          </a:solidFill>
                          <a:latin typeface="Microsoft YaHei"/>
                        </a:defRPr>
                      </a:pPr>
                      <a:r>
                        <a:t>23.3%</a:t>
                      </a:r>
                    </a:p>
                  </a:txBody>
                  <a:tcPr>
                    <a:solidFill>
                      <a:srgbClr val="FFFFFF"/>
                    </a:solidFill>
                  </a:tcPr>
                </a:tc>
                <a:tc>
                  <a:txBody>
                    <a:bodyPr wrap="square" lIns="18288" rIns="18288" tIns="36576" bIns="36576"/>
                    <a:lstStyle/>
                    <a:p>
                      <a:pPr algn="ctr">
                        <a:defRPr sz="1000" b="1">
                          <a:solidFill>
                            <a:srgbClr val="0F172A"/>
                          </a:solidFill>
                          <a:latin typeface="Microsoft YaHei"/>
                        </a:defRPr>
                      </a:pPr>
                      <a:r>
                        <a:t>9.73 ms</a:t>
                      </a:r>
                    </a:p>
                  </a:txBody>
                  <a:tcPr>
                    <a:solidFill>
                      <a:srgbClr val="FFFFFF"/>
                    </a:solidFill>
                  </a:tcPr>
                </a:tc>
              </a:tr>
              <a:tr h="427940">
                <a:tc>
                  <a:txBody>
                    <a:bodyPr wrap="square" lIns="18288" rIns="18288" tIns="36576" bIns="36576"/>
                    <a:lstStyle/>
                    <a:p>
                      <a:pPr algn="ctr">
                        <a:defRPr sz="1000" b="1">
                          <a:solidFill>
                            <a:srgbClr val="0F172A"/>
                          </a:solidFill>
                          <a:latin typeface="Microsoft YaHei"/>
                        </a:defRPr>
                      </a:pPr>
                      <a:r>
                        <a:t>90% 固定重度库</a:t>
                      </a:r>
                    </a:p>
                  </a:txBody>
                  <a:tcPr>
                    <a:solidFill>
                      <a:srgbClr val="F1F5F9"/>
                    </a:solidFill>
                  </a:tcPr>
                </a:tc>
                <a:tc>
                  <a:txBody>
                    <a:bodyPr wrap="square" lIns="18288" rIns="18288" tIns="36576" bIns="36576"/>
                    <a:lstStyle/>
                    <a:p>
                      <a:pPr algn="ctr">
                        <a:defRPr sz="1000">
                          <a:solidFill>
                            <a:srgbClr val="0F172A"/>
                          </a:solidFill>
                          <a:latin typeface="Microsoft YaHei"/>
                        </a:defRPr>
                      </a:pPr>
                      <a:r>
                        <a:t>71.6%</a:t>
                      </a:r>
                    </a:p>
                  </a:txBody>
                  <a:tcPr>
                    <a:solidFill>
                      <a:srgbClr val="F1F5F9"/>
                    </a:solidFill>
                  </a:tcPr>
                </a:tc>
                <a:tc>
                  <a:txBody>
                    <a:bodyPr wrap="square" lIns="18288" rIns="18288" tIns="36576" bIns="36576"/>
                    <a:lstStyle/>
                    <a:p>
                      <a:pPr algn="ctr">
                        <a:defRPr sz="1000">
                          <a:solidFill>
                            <a:srgbClr val="0F172A"/>
                          </a:solidFill>
                          <a:latin typeface="Microsoft YaHei"/>
                        </a:defRPr>
                      </a:pPr>
                      <a:r>
                        <a:t>33.78 ms</a:t>
                      </a:r>
                    </a:p>
                  </a:txBody>
                  <a:tcPr>
                    <a:solidFill>
                      <a:srgbClr val="F1F5F9"/>
                    </a:solidFill>
                  </a:tcPr>
                </a:tc>
                <a:tc>
                  <a:txBody>
                    <a:bodyPr wrap="square" lIns="18288" rIns="18288" tIns="36576" bIns="36576"/>
                    <a:lstStyle/>
                    <a:p>
                      <a:pPr algn="ctr">
                        <a:defRPr sz="1000">
                          <a:solidFill>
                            <a:srgbClr val="0F172A"/>
                          </a:solidFill>
                          <a:latin typeface="Microsoft YaHei"/>
                        </a:defRPr>
                      </a:pPr>
                      <a:r>
                        <a:t>84.7%</a:t>
                      </a:r>
                    </a:p>
                  </a:txBody>
                  <a:tcPr>
                    <a:solidFill>
                      <a:srgbClr val="F1F5F9"/>
                    </a:solidFill>
                  </a:tcPr>
                </a:tc>
                <a:tc>
                  <a:txBody>
                    <a:bodyPr wrap="square" lIns="18288" rIns="18288" tIns="36576" bIns="36576"/>
                    <a:lstStyle/>
                    <a:p>
                      <a:pPr algn="ctr">
                        <a:defRPr sz="1000">
                          <a:solidFill>
                            <a:srgbClr val="0F172A"/>
                          </a:solidFill>
                          <a:latin typeface="Microsoft YaHei"/>
                        </a:defRPr>
                      </a:pPr>
                      <a:r>
                        <a:t>21.56 ms</a:t>
                      </a:r>
                    </a:p>
                  </a:txBody>
                  <a:tcPr>
                    <a:solidFill>
                      <a:srgbClr val="F1F5F9"/>
                    </a:solidFill>
                  </a:tcPr>
                </a:tc>
                <a:tc>
                  <a:txBody>
                    <a:bodyPr wrap="square" lIns="18288" rIns="18288" tIns="36576" bIns="36576"/>
                    <a:lstStyle/>
                    <a:p>
                      <a:pPr algn="ctr">
                        <a:defRPr sz="1000" b="1">
                          <a:solidFill>
                            <a:srgbClr val="1D4ED8"/>
                          </a:solidFill>
                          <a:latin typeface="Microsoft YaHei"/>
                        </a:defRPr>
                      </a:pPr>
                      <a:r>
                        <a:t>36.2%</a:t>
                      </a:r>
                    </a:p>
                  </a:txBody>
                  <a:tcPr>
                    <a:solidFill>
                      <a:srgbClr val="F1F5F9"/>
                    </a:solidFill>
                  </a:tcPr>
                </a:tc>
                <a:tc>
                  <a:txBody>
                    <a:bodyPr wrap="square" lIns="18288" rIns="18288" tIns="36576" bIns="36576"/>
                    <a:lstStyle/>
                    <a:p>
                      <a:pPr algn="ctr">
                        <a:defRPr sz="1000" b="1">
                          <a:solidFill>
                            <a:srgbClr val="0F172A"/>
                          </a:solidFill>
                          <a:latin typeface="Microsoft YaHei"/>
                        </a:defRPr>
                      </a:pPr>
                      <a:r>
                        <a:t>12.22 ms</a:t>
                      </a:r>
                    </a:p>
                  </a:txBody>
                  <a:tcPr>
                    <a:solidFill>
                      <a:srgbClr val="F1F5F9"/>
                    </a:solidFill>
                  </a:tcPr>
                </a:tc>
              </a:tr>
            </a:tbl>
          </a:graphicData>
        </a:graphic>
      </p:graphicFrame>
      <p:sp>
        <p:nvSpPr>
          <p:cNvPr id="7" name="Rectangle 6"/>
          <p:cNvSpPr/>
          <p:nvPr/>
        </p:nvSpPr>
        <p:spPr>
          <a:xfrm>
            <a:off x="7025335" y="1060704"/>
            <a:ext cx="4617720" cy="4791456"/>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162495" y="1133856"/>
            <a:ext cx="4343400" cy="457200"/>
          </a:xfrm>
          <a:prstGeom prst="rect">
            <a:avLst/>
          </a:prstGeom>
          <a:noFill/>
        </p:spPr>
        <p:txBody>
          <a:bodyPr wrap="square" lIns="0" tIns="0" rIns="0" bIns="0">
            <a:spAutoFit/>
          </a:bodyPr>
          <a:lstStyle/>
          <a:p>
            <a:pPr>
              <a:defRPr sz="1200" b="1">
                <a:solidFill>
                  <a:srgbClr val="1D4ED8"/>
                </a:solidFill>
                <a:latin typeface="Microsoft YaHei"/>
              </a:defRPr>
            </a:pPr>
            <a:r>
              <a:t>2. 50% 场景 7.24 ms 收益顺序增量计算过程</a:t>
            </a:r>
          </a:p>
          <a:p>
            <a:pPr>
              <a:spcBef>
                <a:spcPts val="100"/>
              </a:spcBef>
              <a:defRPr sz="950">
                <a:solidFill>
                  <a:srgbClr val="475569"/>
                </a:solidFill>
                <a:latin typeface="Microsoft YaHei"/>
              </a:defRPr>
            </a:pPr>
            <a:r>
              <a:t>严密三步增量归因计算公式，确立研发投资优先级</a:t>
            </a:r>
          </a:p>
        </p:txBody>
      </p:sp>
      <p:graphicFrame>
        <p:nvGraphicFramePr>
          <p:cNvPr id="9" name="Table 8"/>
          <p:cNvGraphicFramePr>
            <a:graphicFrameLocks noGrp="1"/>
          </p:cNvGraphicFramePr>
          <p:nvPr/>
        </p:nvGraphicFramePr>
        <p:xfrm>
          <a:off x="7162495" y="1609344"/>
          <a:ext cx="4343400" cy="2148840"/>
        </p:xfrm>
        <a:graphic>
          <a:graphicData uri="http://schemas.openxmlformats.org/drawingml/2006/table">
            <a:tbl>
              <a:tblPr firstRow="1" bandRow="1">
                <a:tableStyleId>{5C22544A-7EE6-4342-B048-85BDC9FD1C3A}</a:tableStyleId>
              </a:tblPr>
              <a:tblGrid>
                <a:gridCol w="1325880"/>
                <a:gridCol w="502920"/>
                <a:gridCol w="594360"/>
                <a:gridCol w="1920240"/>
              </a:tblGrid>
              <a:tr h="537210">
                <a:tc>
                  <a:txBody>
                    <a:bodyPr wrap="square" lIns="36576" rIns="36576" tIns="27432" bIns="27432"/>
                    <a:lstStyle/>
                    <a:p>
                      <a:pPr algn="ctr">
                        <a:defRPr sz="950" b="1">
                          <a:solidFill>
                            <a:srgbClr val="FFFFFF"/>
                          </a:solidFill>
                          <a:latin typeface="Microsoft YaHei"/>
                        </a:defRPr>
                      </a:pPr>
                      <a:r>
                        <a:t>收益归因环节</a:t>
                      </a:r>
                    </a:p>
                  </a:txBody>
                  <a:tcPr>
                    <a:solidFill>
                      <a:srgbClr val="1E3A8A"/>
                    </a:solidFill>
                  </a:tcPr>
                </a:tc>
                <a:tc>
                  <a:txBody>
                    <a:bodyPr wrap="square" lIns="36576" rIns="36576" tIns="27432" bIns="27432"/>
                    <a:lstStyle/>
                    <a:p>
                      <a:pPr algn="ctr">
                        <a:defRPr sz="950" b="1">
                          <a:solidFill>
                            <a:srgbClr val="FFFFFF"/>
                          </a:solidFill>
                          <a:latin typeface="Microsoft YaHei"/>
                        </a:defRPr>
                      </a:pPr>
                      <a:r>
                        <a:t>占比</a:t>
                      </a:r>
                    </a:p>
                  </a:txBody>
                  <a:tcPr>
                    <a:solidFill>
                      <a:srgbClr val="1E3A8A"/>
                    </a:solidFill>
                  </a:tcPr>
                </a:tc>
                <a:tc>
                  <a:txBody>
                    <a:bodyPr wrap="square" lIns="36576" rIns="36576" tIns="27432" bIns="27432"/>
                    <a:lstStyle/>
                    <a:p>
                      <a:pPr algn="ctr">
                        <a:defRPr sz="950" b="1">
                          <a:solidFill>
                            <a:srgbClr val="FFFFFF"/>
                          </a:solidFill>
                          <a:latin typeface="Microsoft YaHei"/>
                        </a:defRPr>
                      </a:pPr>
                      <a:r>
                        <a:t>节省</a:t>
                      </a:r>
                    </a:p>
                  </a:txBody>
                  <a:tcPr>
                    <a:solidFill>
                      <a:srgbClr val="1E3A8A"/>
                    </a:solidFill>
                  </a:tcPr>
                </a:tc>
                <a:tc>
                  <a:txBody>
                    <a:bodyPr wrap="square" lIns="36576" rIns="36576" tIns="27432" bIns="27432"/>
                    <a:lstStyle/>
                    <a:p>
                      <a:pPr algn="ctr">
                        <a:defRPr sz="950" b="1">
                          <a:solidFill>
                            <a:srgbClr val="FFFFFF"/>
                          </a:solidFill>
                          <a:latin typeface="Microsoft YaHei"/>
                        </a:defRPr>
                      </a:pPr>
                      <a:r>
                        <a:t>精确计算公式与技术措施</a:t>
                      </a:r>
                    </a:p>
                  </a:txBody>
                  <a:tcPr>
                    <a:solidFill>
                      <a:srgbClr val="1E3A8A"/>
                    </a:solidFill>
                  </a:tcPr>
                </a:tc>
              </a:tr>
              <a:tr h="537210">
                <a:tc>
                  <a:txBody>
                    <a:bodyPr wrap="square" lIns="36576" rIns="36576" tIns="27432" bIns="27432"/>
                    <a:lstStyle/>
                    <a:p>
                      <a:pPr algn="ctr">
                        <a:lnSpc>
                          <a:spcPct val="118000"/>
                        </a:lnSpc>
                        <a:defRPr sz="900" b="1">
                          <a:solidFill>
                            <a:srgbClr val="1E3A8A"/>
                          </a:solidFill>
                          <a:latin typeface="Microsoft YaHei"/>
                        </a:defRPr>
                      </a:pPr>
                      <a:r>
                        <a:t>Step 1: 控制面开销节省</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14%</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1.03 ms</a:t>
                      </a:r>
                    </a:p>
                  </a:txBody>
                  <a:tcPr>
                    <a:solidFill>
                      <a:srgbClr val="FFFFFF"/>
                    </a:solidFill>
                  </a:tcPr>
                </a:tc>
                <a:tc>
                  <a:txBody>
                    <a:bodyPr wrap="square" lIns="36576" rIns="36576" tIns="27432" bIns="27432"/>
                    <a:lstStyle/>
                    <a:p>
                      <a:pPr>
                        <a:lnSpc>
                          <a:spcPct val="118000"/>
                        </a:lnSpc>
                        <a:defRPr sz="900">
                          <a:solidFill>
                            <a:srgbClr val="0F172A"/>
                          </a:solidFill>
                          <a:latin typeface="Microsoft YaHei"/>
                        </a:defRPr>
                      </a:pPr>
                      <a:r>
                        <a:t>Δ1 = 1.600 - 0.575 ms (快路径)</a:t>
                      </a:r>
                      <a:br/>
                      <a:r>
                        <a:t>共享内存查表与描述符直发</a:t>
                      </a:r>
                    </a:p>
                  </a:txBody>
                  <a:tcPr>
                    <a:solidFill>
                      <a:srgbClr val="FFFFFF"/>
                    </a:solidFill>
                  </a:tcPr>
                </a:tc>
              </a:tr>
              <a:tr h="537210">
                <a:tc>
                  <a:txBody>
                    <a:bodyPr wrap="square" lIns="36576" rIns="36576" tIns="27432" bIns="27432"/>
                    <a:lstStyle/>
                    <a:p>
                      <a:pPr algn="ctr">
                        <a:lnSpc>
                          <a:spcPct val="118000"/>
                        </a:lnSpc>
                        <a:defRPr sz="900" b="1">
                          <a:solidFill>
                            <a:srgbClr val="1E3A8A"/>
                          </a:solidFill>
                          <a:latin typeface="Microsoft YaHei"/>
                        </a:defRPr>
                      </a:pPr>
                      <a:r>
                        <a:t>Step 2: 正价值转化提升</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50%</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3.63 ms</a:t>
                      </a:r>
                    </a:p>
                  </a:txBody>
                  <a:tcPr>
                    <a:solidFill>
                      <a:srgbClr val="FFFFFF"/>
                    </a:solidFill>
                  </a:tcPr>
                </a:tc>
                <a:tc>
                  <a:txBody>
                    <a:bodyPr wrap="square" lIns="36576" rIns="36576" tIns="27432" bIns="27432"/>
                    <a:lstStyle/>
                    <a:p>
                      <a:pPr>
                        <a:lnSpc>
                          <a:spcPct val="118000"/>
                        </a:lnSpc>
                        <a:defRPr sz="900">
                          <a:solidFill>
                            <a:srgbClr val="0F172A"/>
                          </a:solidFill>
                          <a:latin typeface="Microsoft YaHei"/>
                        </a:defRPr>
                      </a:pPr>
                      <a:r>
                        <a:t>Δ2 = (47.06%-39.80%) × (60-10ms)</a:t>
                      </a:r>
                      <a:br/>
                      <a:r>
                        <a:t>统一语义身份，大幅减少校验失败</a:t>
                      </a:r>
                    </a:p>
                  </a:txBody>
                  <a:tcPr>
                    <a:solidFill>
                      <a:srgbClr val="FFFFFF"/>
                    </a:solidFill>
                  </a:tcPr>
                </a:tc>
              </a:tr>
              <a:tr h="537210">
                <a:tc>
                  <a:txBody>
                    <a:bodyPr wrap="square" lIns="36576" rIns="36576" tIns="27432" bIns="27432"/>
                    <a:lstStyle/>
                    <a:p>
                      <a:pPr algn="ctr">
                        <a:lnSpc>
                          <a:spcPct val="118000"/>
                        </a:lnSpc>
                        <a:defRPr sz="900" b="1">
                          <a:solidFill>
                            <a:srgbClr val="1E3A8A"/>
                          </a:solidFill>
                          <a:latin typeface="Microsoft YaHei"/>
                        </a:defRPr>
                      </a:pPr>
                      <a:r>
                        <a:t>Step 3: 低长尾数据传输</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36%</a:t>
                      </a:r>
                    </a:p>
                  </a:txBody>
                  <a:tcPr>
                    <a:solidFill>
                      <a:srgbClr val="FFFFFF"/>
                    </a:solidFill>
                  </a:tcPr>
                </a:tc>
                <a:tc>
                  <a:txBody>
                    <a:bodyPr wrap="square" lIns="36576" rIns="36576" tIns="27432" bIns="27432"/>
                    <a:lstStyle/>
                    <a:p>
                      <a:pPr algn="ctr">
                        <a:lnSpc>
                          <a:spcPct val="118000"/>
                        </a:lnSpc>
                        <a:defRPr sz="900" b="1">
                          <a:solidFill>
                            <a:srgbClr val="0F172A"/>
                          </a:solidFill>
                          <a:latin typeface="Microsoft YaHei"/>
                        </a:defRPr>
                      </a:pPr>
                      <a:r>
                        <a:t>2.59 ms</a:t>
                      </a:r>
                    </a:p>
                  </a:txBody>
                  <a:tcPr>
                    <a:solidFill>
                      <a:srgbClr val="FFFFFF"/>
                    </a:solidFill>
                  </a:tcPr>
                </a:tc>
                <a:tc>
                  <a:txBody>
                    <a:bodyPr wrap="square" lIns="36576" rIns="36576" tIns="27432" bIns="27432"/>
                    <a:lstStyle/>
                    <a:p>
                      <a:pPr>
                        <a:lnSpc>
                          <a:spcPct val="118000"/>
                        </a:lnSpc>
                        <a:defRPr sz="900">
                          <a:solidFill>
                            <a:srgbClr val="0F172A"/>
                          </a:solidFill>
                          <a:latin typeface="Microsoft YaHei"/>
                        </a:defRPr>
                      </a:pPr>
                      <a:r>
                        <a:t>Δ3 = 47.06% × (10.0 - 4.5ms)</a:t>
                      </a:r>
                      <a:br/>
                      <a:r>
                        <a:t>URMA 正文直达与 QoS 隔离压减排队</a:t>
                      </a:r>
                    </a:p>
                  </a:txBody>
                  <a:tcPr>
                    <a:solidFill>
                      <a:srgbClr val="FFFFFF"/>
                    </a:solidFill>
                  </a:tcPr>
                </a:tc>
              </a:tr>
            </a:tbl>
          </a:graphicData>
        </a:graphic>
      </p:graphicFrame>
      <p:sp>
        <p:nvSpPr>
          <p:cNvPr id="10" name="Rectangle 9"/>
          <p:cNvSpPr/>
          <p:nvPr/>
        </p:nvSpPr>
        <p:spPr>
          <a:xfrm>
            <a:off x="7162495" y="4169664"/>
            <a:ext cx="4343400" cy="1572768"/>
          </a:xfrm>
          <a:prstGeom prst="rect">
            <a:avLst/>
          </a:prstGeom>
          <a:solidFill>
            <a:srgbClr val="FFFFFF"/>
          </a:solidFill>
          <a:ln w="1270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253935" y="4224528"/>
            <a:ext cx="4160520" cy="1463040"/>
          </a:xfrm>
          <a:prstGeom prst="rect">
            <a:avLst/>
          </a:prstGeom>
          <a:noFill/>
        </p:spPr>
        <p:txBody>
          <a:bodyPr wrap="square" lIns="0" tIns="0" rIns="0" bIns="0">
            <a:spAutoFit/>
          </a:bodyPr>
          <a:lstStyle/>
          <a:p>
            <a:pPr>
              <a:defRPr sz="1050" b="1">
                <a:solidFill>
                  <a:srgbClr val="1E3A8A"/>
                </a:solidFill>
                <a:latin typeface="Microsoft YaHei"/>
              </a:defRPr>
            </a:pPr>
            <a:r>
              <a:t>【3. 盈亏平衡前缀长度门槛 (Breakeven Analysis)】</a:t>
            </a:r>
          </a:p>
          <a:p>
            <a:pPr>
              <a:spcBef>
                <a:spcPts val="200"/>
              </a:spcBef>
              <a:defRPr sz="950" b="1">
                <a:solidFill>
                  <a:srgbClr val="1D4ED8"/>
                </a:solidFill>
                <a:latin typeface="Consolas"/>
              </a:defRPr>
            </a:pPr>
            <a:r>
              <a:t>• 临界公式: p_min = T_fixed / (T_prefill - T_load)</a:t>
            </a:r>
          </a:p>
          <a:p>
            <a:pPr>
              <a:lnSpc>
                <a:spcPct val="120000"/>
              </a:lnSpc>
              <a:spcBef>
                <a:spcPts val="200"/>
              </a:spcBef>
              <a:defRPr sz="900">
                <a:solidFill>
                  <a:srgbClr val="475569"/>
                </a:solidFill>
                <a:latin typeface="Microsoft YaHei"/>
              </a:defRPr>
            </a:pPr>
            <a:r>
              <a:t>• 开源组合门槛: 1.6 / (60 - 10) = 3.2% (1K 需 32 tokens)</a:t>
            </a:r>
            <a:br/>
            <a:r>
              <a:t>• 本项目门槛:   0.575 / (60 - 4.5) = 1.0% (1K 仅需 10 tokens 即正收益)</a:t>
            </a:r>
            <a:br/>
            <a:r>
              <a:t>• 业务意义: 极低固定开销与直达传输让超短前缀亦能获得净加速！</a:t>
            </a:r>
          </a:p>
        </p:txBody>
      </p:sp>
      <p:sp>
        <p:nvSpPr>
          <p:cNvPr id="12" name="Rectangle 11"/>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量化归因洞察：</a:t>
            </a:r>
            <a:r>
              <a:rPr sz="1150" b="0">
                <a:solidFill>
                  <a:srgbClr val="0F172A"/>
                </a:solidFill>
                <a:latin typeface="Microsoft YaHei"/>
              </a:rPr>
              <a:t>数学模型与增量归因计算表明，控制面加速是必要基础，而 </a:t>
            </a:r>
            <a:r>
              <a:rPr sz="1150" b="1">
                <a:solidFill>
                  <a:srgbClr val="DC2626"/>
                </a:solidFill>
                <a:latin typeface="Microsoft YaHei"/>
              </a:rPr>
              <a:t>86% 的主要收益来自于正价值转化率提升与低长尾传输</a:t>
            </a:r>
            <a:r>
              <a:rPr sz="1150" b="0">
                <a:solidFill>
                  <a:srgbClr val="0F172A"/>
                </a:solidFill>
                <a:latin typeface="Microsoft YaHei"/>
              </a:rPr>
              <a:t>；业务前缀复用率越高，</a:t>
            </a:r>
            <a:r>
              <a:rPr sz="1150" b="1">
                <a:solidFill>
                  <a:srgbClr val="DC2626"/>
                </a:solidFill>
                <a:latin typeface="Microsoft YaHei"/>
              </a:rPr>
              <a:t>软硬件深度协同带来的端到端时延收益越显著</a:t>
            </a:r>
            <a:r>
              <a:rPr sz="1150" b="0">
                <a:solidFill>
                  <a:srgbClr val="0F172A"/>
                </a:solidFill>
                <a:latin typeface="Microsoft YaHei"/>
              </a:rPr>
              <a:t>！*(注: 理论测算模型)*</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业务指标量化分析 (2/2)：P99 尾部时延稳定性保障、关键技术达成途径与综合成本对账</a:t>
            </a:r>
          </a:p>
          <a:p>
            <a:pPr>
              <a:spcBef>
                <a:spcPts val="200"/>
              </a:spcBef>
              <a:defRPr sz="1000">
                <a:solidFill>
                  <a:srgbClr val="475569"/>
                </a:solidFill>
                <a:latin typeface="Microsoft YaHei"/>
              </a:defRPr>
            </a:pPr>
            <a:r>
              <a:t>关注高并发混压下的 P99 确定性保障与单次有效推理请求综合成本降低 ≥35%</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09 / 10 页</a:t>
            </a:r>
          </a:p>
        </p:txBody>
      </p:sp>
      <p:sp>
        <p:nvSpPr>
          <p:cNvPr id="4" name="Rectangle 3"/>
          <p:cNvSpPr/>
          <p:nvPr/>
        </p:nvSpPr>
        <p:spPr>
          <a:xfrm>
            <a:off x="548640" y="1060704"/>
            <a:ext cx="3511296" cy="2029968"/>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 y="1133856"/>
            <a:ext cx="3291840" cy="1883664"/>
          </a:xfrm>
          <a:prstGeom prst="rect">
            <a:avLst/>
          </a:prstGeom>
          <a:noFill/>
        </p:spPr>
        <p:txBody>
          <a:bodyPr wrap="square" lIns="0" tIns="0" rIns="0" bIns="0">
            <a:spAutoFit/>
          </a:bodyPr>
          <a:lstStyle/>
          <a:p>
            <a:pPr>
              <a:defRPr sz="1250" b="1">
                <a:solidFill>
                  <a:srgbClr val="1D4ED8"/>
                </a:solidFill>
                <a:latin typeface="Microsoft YaHei"/>
              </a:defRPr>
            </a:pPr>
            <a:r>
              <a:t>指标一：P99 尾部时延稳定性保障</a:t>
            </a:r>
          </a:p>
          <a:p>
            <a:pPr>
              <a:spcBef>
                <a:spcPts val="100"/>
              </a:spcBef>
              <a:spcAft>
                <a:spcPts val="200"/>
              </a:spcAft>
              <a:defRPr sz="1000" b="1">
                <a:solidFill>
                  <a:srgbClr val="475569"/>
                </a:solidFill>
                <a:latin typeface="Microsoft YaHei"/>
              </a:defRPr>
            </a:pPr>
            <a:r>
              <a:t>保障高并发与多任务混压下的时延确定性</a:t>
            </a:r>
          </a:p>
          <a:p>
            <a:pPr>
              <a:spcBef>
                <a:spcPts val="200"/>
              </a:spcBef>
              <a:defRPr sz="1100" b="1">
                <a:solidFill>
                  <a:srgbClr val="1E3A8A"/>
                </a:solidFill>
                <a:latin typeface="Microsoft YaHei"/>
              </a:defRPr>
            </a:pPr>
            <a:r>
              <a:t>✔ P99 TTFT 改善 ≥20%：</a:t>
            </a:r>
            <a:r>
              <a:rPr sz="1050" b="0">
                <a:solidFill>
                  <a:srgbClr val="475569"/>
                </a:solidFill>
                <a:latin typeface="Microsoft YaHei"/>
              </a:rPr>
              <a:t>URMA 硬件高优 QoS 队列隔离与前台带宽保留</a:t>
            </a:r>
          </a:p>
          <a:p>
            <a:pPr>
              <a:spcBef>
                <a:spcPts val="200"/>
              </a:spcBef>
              <a:defRPr sz="1100" b="1">
                <a:solidFill>
                  <a:srgbClr val="1E3A8A"/>
                </a:solidFill>
                <a:latin typeface="Microsoft YaHei"/>
              </a:defRPr>
            </a:pPr>
            <a:r>
              <a:t>✔ P99 TPOT 抖动 &lt; 3%：</a:t>
            </a:r>
            <a:r>
              <a:rPr sz="1050" b="0">
                <a:solidFill>
                  <a:srgbClr val="475569"/>
                </a:solidFill>
                <a:latin typeface="Microsoft YaHei"/>
              </a:rPr>
              <a:t>AICore 与 URMA 双 Stream 解耦流水 + 快速注意力在线融合</a:t>
            </a:r>
          </a:p>
          <a:p>
            <a:pPr>
              <a:spcBef>
                <a:spcPts val="200"/>
              </a:spcBef>
              <a:defRPr sz="1100" b="1">
                <a:solidFill>
                  <a:srgbClr val="1E3A8A"/>
                </a:solidFill>
                <a:latin typeface="Microsoft YaHei"/>
              </a:defRPr>
            </a:pPr>
            <a:r>
              <a:t>✔ 传输 P99 膨胀 ≤ 2.0 倍：</a:t>
            </a:r>
            <a:r>
              <a:rPr sz="1050" b="0">
                <a:solidFill>
                  <a:srgbClr val="475569"/>
                </a:solidFill>
                <a:latin typeface="Microsoft YaHei"/>
              </a:rPr>
              <a:t>实时时延观测、队列深度监控与自适应重算熔断</a:t>
            </a:r>
          </a:p>
        </p:txBody>
      </p:sp>
      <p:sp>
        <p:nvSpPr>
          <p:cNvPr id="6" name="Rectangle 5"/>
          <p:cNvSpPr/>
          <p:nvPr/>
        </p:nvSpPr>
        <p:spPr>
          <a:xfrm>
            <a:off x="4288536" y="1060704"/>
            <a:ext cx="3511296" cy="2029968"/>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4398264" y="1133856"/>
            <a:ext cx="3291840" cy="1883664"/>
          </a:xfrm>
          <a:prstGeom prst="rect">
            <a:avLst/>
          </a:prstGeom>
          <a:noFill/>
        </p:spPr>
        <p:txBody>
          <a:bodyPr wrap="square" lIns="0" tIns="0" rIns="0" bIns="0">
            <a:spAutoFit/>
          </a:bodyPr>
          <a:lstStyle/>
          <a:p>
            <a:pPr>
              <a:defRPr sz="1250" b="1">
                <a:solidFill>
                  <a:srgbClr val="1E3A8A"/>
                </a:solidFill>
                <a:latin typeface="Microsoft YaHei"/>
              </a:defRPr>
            </a:pPr>
            <a:r>
              <a:t>指标二：单次有效请求成本降低</a:t>
            </a:r>
          </a:p>
          <a:p>
            <a:pPr>
              <a:spcBef>
                <a:spcPts val="100"/>
              </a:spcBef>
              <a:spcAft>
                <a:spcPts val="200"/>
              </a:spcAft>
              <a:defRPr sz="1000" b="1">
                <a:solidFill>
                  <a:srgbClr val="475569"/>
                </a:solidFill>
                <a:latin typeface="Microsoft YaHei"/>
              </a:defRPr>
            </a:pPr>
            <a:r>
              <a:t>综合成本 = 全生命周期算力与硬件投入 / 达标请求数</a:t>
            </a:r>
          </a:p>
          <a:p>
            <a:pPr>
              <a:spcBef>
                <a:spcPts val="200"/>
              </a:spcBef>
              <a:defRPr sz="1100" b="1">
                <a:solidFill>
                  <a:srgbClr val="1E3A8A"/>
                </a:solidFill>
                <a:latin typeface="Microsoft YaHei"/>
              </a:defRPr>
            </a:pPr>
            <a:r>
              <a:t>✔ 有效请求成本 ↓≥35%：</a:t>
            </a:r>
            <a:r>
              <a:rPr sz="1050" b="0">
                <a:solidFill>
                  <a:srgbClr val="475569"/>
                </a:solidFill>
                <a:latin typeface="Microsoft YaHei"/>
              </a:rPr>
              <a:t>CPU 零数据拷贝，单机推理解算密度提升 40%</a:t>
            </a:r>
          </a:p>
          <a:p>
            <a:pPr>
              <a:spcBef>
                <a:spcPts val="200"/>
              </a:spcBef>
              <a:defRPr sz="1100" b="1">
                <a:solidFill>
                  <a:srgbClr val="1E3A8A"/>
                </a:solidFill>
                <a:latin typeface="Microsoft YaHei"/>
              </a:defRPr>
            </a:pPr>
            <a:r>
              <a:t>✔ NPU 算力浪费压降：</a:t>
            </a:r>
            <a:r>
              <a:rPr sz="1050" b="0">
                <a:solidFill>
                  <a:srgbClr val="475569"/>
                </a:solidFill>
                <a:latin typeface="Microsoft YaHei"/>
              </a:rPr>
              <a:t>前置动态收益评估引擎，无收益时主动转本地重算</a:t>
            </a:r>
          </a:p>
          <a:p>
            <a:pPr>
              <a:spcBef>
                <a:spcPts val="200"/>
              </a:spcBef>
              <a:defRPr sz="1100" b="1">
                <a:solidFill>
                  <a:srgbClr val="1E3A8A"/>
                </a:solidFill>
                <a:latin typeface="Microsoft YaHei"/>
              </a:defRPr>
            </a:pPr>
            <a:r>
              <a:t>✔ 按时达标合格率提升：</a:t>
            </a:r>
            <a:r>
              <a:rPr sz="1050" b="0">
                <a:solidFill>
                  <a:srgbClr val="475569"/>
                </a:solidFill>
                <a:latin typeface="Microsoft YaHei"/>
              </a:rPr>
              <a:t>压制长尾时延抖动，使满足延时要求的有效请求比例由 95% 提升至 98%</a:t>
            </a:r>
          </a:p>
        </p:txBody>
      </p:sp>
      <p:sp>
        <p:nvSpPr>
          <p:cNvPr id="8" name="Rectangle 7"/>
          <p:cNvSpPr/>
          <p:nvPr/>
        </p:nvSpPr>
        <p:spPr>
          <a:xfrm>
            <a:off x="8028432" y="1060704"/>
            <a:ext cx="3511296" cy="2029968"/>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138160" y="1133856"/>
            <a:ext cx="3291840" cy="1883664"/>
          </a:xfrm>
          <a:prstGeom prst="rect">
            <a:avLst/>
          </a:prstGeom>
          <a:noFill/>
        </p:spPr>
        <p:txBody>
          <a:bodyPr wrap="square" lIns="0" tIns="0" rIns="0" bIns="0">
            <a:spAutoFit/>
          </a:bodyPr>
          <a:lstStyle/>
          <a:p>
            <a:pPr>
              <a:defRPr sz="1250" b="1">
                <a:solidFill>
                  <a:srgbClr val="047857"/>
                </a:solidFill>
                <a:latin typeface="Microsoft YaHei"/>
              </a:defRPr>
            </a:pPr>
            <a:r>
              <a:t>指标三：多级存储扩展与数据安全</a:t>
            </a:r>
          </a:p>
          <a:p>
            <a:pPr>
              <a:spcBef>
                <a:spcPts val="100"/>
              </a:spcBef>
              <a:spcAft>
                <a:spcPts val="200"/>
              </a:spcAft>
              <a:defRPr sz="1000" b="1">
                <a:solidFill>
                  <a:srgbClr val="475569"/>
                </a:solidFill>
                <a:latin typeface="Microsoft YaHei"/>
              </a:defRPr>
            </a:pPr>
            <a:r>
              <a:t>支持多级存储容量扩展与缓存读取安全隔离</a:t>
            </a:r>
          </a:p>
          <a:p>
            <a:pPr>
              <a:spcBef>
                <a:spcPts val="200"/>
              </a:spcBef>
              <a:defRPr sz="1100" b="1">
                <a:solidFill>
                  <a:srgbClr val="1E3A8A"/>
                </a:solidFill>
                <a:latin typeface="Microsoft YaHei"/>
              </a:defRPr>
            </a:pPr>
            <a:r>
              <a:t>✔ HBM 有效容量 ↑≥30%：</a:t>
            </a:r>
            <a:r>
              <a:rPr sz="1050" b="0">
                <a:solidFill>
                  <a:srgbClr val="475569"/>
                </a:solidFill>
                <a:latin typeface="Microsoft YaHei"/>
              </a:rPr>
              <a:t>显存与 SSD 直通 DMA 建立大容量扩展池</a:t>
            </a:r>
          </a:p>
          <a:p>
            <a:pPr>
              <a:spcBef>
                <a:spcPts val="200"/>
              </a:spcBef>
              <a:defRPr sz="1100" b="1">
                <a:solidFill>
                  <a:srgbClr val="1E3A8A"/>
                </a:solidFill>
                <a:latin typeface="Microsoft YaHei"/>
              </a:defRPr>
            </a:pPr>
            <a:r>
              <a:t>✔ 错误消费事故率 = 0：</a:t>
            </a:r>
            <a:r>
              <a:rPr sz="1050" b="0">
                <a:solidFill>
                  <a:srgbClr val="475569"/>
                </a:solidFill>
                <a:latin typeface="Microsoft YaHei"/>
              </a:rPr>
              <a:t>严格语义一致性校验与显式租约安全屏障</a:t>
            </a:r>
          </a:p>
          <a:p>
            <a:pPr>
              <a:spcBef>
                <a:spcPts val="200"/>
              </a:spcBef>
              <a:defRPr sz="1100" b="1">
                <a:solidFill>
                  <a:srgbClr val="1E3A8A"/>
                </a:solidFill>
                <a:latin typeface="Microsoft YaHei"/>
              </a:defRPr>
            </a:pPr>
            <a:r>
              <a:t>✔ 负收益 / 迟到加载 &lt; 1%：</a:t>
            </a:r>
            <a:r>
              <a:rPr sz="1050" b="0">
                <a:solidFill>
                  <a:srgbClr val="475569"/>
                </a:solidFill>
                <a:latin typeface="Microsoft YaHei"/>
              </a:rPr>
              <a:t>多卡状态原子并发组选路，消除跨卡等待</a:t>
            </a:r>
          </a:p>
        </p:txBody>
      </p:sp>
      <p:graphicFrame>
        <p:nvGraphicFramePr>
          <p:cNvPr id="10" name="Table 9"/>
          <p:cNvGraphicFramePr>
            <a:graphicFrameLocks noGrp="1"/>
          </p:cNvGraphicFramePr>
          <p:nvPr/>
        </p:nvGraphicFramePr>
        <p:xfrm>
          <a:off x="548640" y="3182112"/>
          <a:ext cx="11094415" cy="2688336"/>
        </p:xfrm>
        <a:graphic>
          <a:graphicData uri="http://schemas.openxmlformats.org/drawingml/2006/table">
            <a:tbl>
              <a:tblPr firstRow="1" bandRow="1">
                <a:tableStyleId>{5C22544A-7EE6-4342-B048-85BDC9FD1C3A}</a:tableStyleId>
              </a:tblPr>
              <a:tblGrid>
                <a:gridCol w="1828800"/>
                <a:gridCol w="2926080"/>
                <a:gridCol w="3108960"/>
                <a:gridCol w="3230575"/>
              </a:tblGrid>
              <a:tr h="672084">
                <a:tc>
                  <a:txBody>
                    <a:bodyPr wrap="square" lIns="54864" rIns="54864" tIns="36576" bIns="36576"/>
                    <a:lstStyle/>
                    <a:p>
                      <a:pPr algn="ctr">
                        <a:defRPr sz="1050" b="1">
                          <a:solidFill>
                            <a:srgbClr val="FFFFFF"/>
                          </a:solidFill>
                          <a:latin typeface="Microsoft YaHei"/>
                        </a:defRPr>
                      </a:pPr>
                      <a:r>
                        <a:t>TCO 核心对账维度</a:t>
                      </a:r>
                    </a:p>
                  </a:txBody>
                  <a:tcPr>
                    <a:solidFill>
                      <a:srgbClr val="1E3A8A"/>
                    </a:solidFill>
                  </a:tcPr>
                </a:tc>
                <a:tc>
                  <a:txBody>
                    <a:bodyPr wrap="square" lIns="54864" rIns="54864" tIns="36576" bIns="36576"/>
                    <a:lstStyle/>
                    <a:p>
                      <a:pPr algn="ctr">
                        <a:defRPr sz="1050" b="1">
                          <a:solidFill>
                            <a:srgbClr val="FFFFFF"/>
                          </a:solidFill>
                          <a:latin typeface="Microsoft YaHei"/>
                        </a:defRPr>
                      </a:pPr>
                      <a:r>
                        <a:t>传统开源方案现状 (Open Source)</a:t>
                      </a:r>
                    </a:p>
                  </a:txBody>
                  <a:tcPr>
                    <a:solidFill>
                      <a:srgbClr val="1E3A8A"/>
                    </a:solidFill>
                  </a:tcPr>
                </a:tc>
                <a:tc>
                  <a:txBody>
                    <a:bodyPr wrap="square" lIns="54864" rIns="54864" tIns="36576" bIns="36576"/>
                    <a:lstStyle/>
                    <a:p>
                      <a:pPr algn="ctr">
                        <a:defRPr sz="1050" b="1">
                          <a:solidFill>
                            <a:srgbClr val="FFFFFF"/>
                          </a:solidFill>
                          <a:latin typeface="Microsoft YaHei"/>
                        </a:defRPr>
                      </a:pPr>
                      <a:r>
                        <a:t>本项目软硬件协同方案 (Unified KV)</a:t>
                      </a:r>
                    </a:p>
                  </a:txBody>
                  <a:tcPr>
                    <a:solidFill>
                      <a:srgbClr val="1E3A8A"/>
                    </a:solidFill>
                  </a:tcPr>
                </a:tc>
                <a:tc>
                  <a:txBody>
                    <a:bodyPr wrap="square" lIns="54864" rIns="54864" tIns="36576" bIns="36576"/>
                    <a:lstStyle/>
                    <a:p>
                      <a:pPr algn="ctr">
                        <a:defRPr sz="1050" b="1">
                          <a:solidFill>
                            <a:srgbClr val="FFFFFF"/>
                          </a:solidFill>
                          <a:latin typeface="Microsoft YaHei"/>
                        </a:defRPr>
                      </a:pPr>
                      <a:r>
                        <a:t>客户业务价值产出 (ROI 改善逻辑)</a:t>
                      </a:r>
                    </a:p>
                  </a:txBody>
                  <a:tcPr>
                    <a:solidFill>
                      <a:srgbClr val="1E3A8A"/>
                    </a:solidFill>
                  </a:tcPr>
                </a:tc>
              </a:tr>
              <a:tr h="672084">
                <a:tc>
                  <a:txBody>
                    <a:bodyPr wrap="square" lIns="54864" rIns="54864" tIns="36576" bIns="36576"/>
                    <a:lstStyle/>
                    <a:p>
                      <a:pPr algn="ctr">
                        <a:lnSpc>
                          <a:spcPct val="122000"/>
                        </a:lnSpc>
                        <a:defRPr sz="1000" b="1">
                          <a:solidFill>
                            <a:srgbClr val="1E3A8A"/>
                          </a:solidFill>
                          <a:latin typeface="Microsoft YaHei"/>
                        </a:defRPr>
                      </a:pPr>
                      <a:r>
                        <a:t>1. NPU 算力利用</a:t>
                      </a:r>
                      <a:br/>
                      <a:r>
                        <a:t>(Compute Efficiency)</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高并发下排队超时被动丢弃</a:t>
                      </a:r>
                      <a:br/>
                      <a:r>
                        <a:t>• 重复 Prefill 挤占前台算力</a:t>
                      </a:r>
                      <a:br/>
                      <a:r>
                        <a:t>• 慢节点引发 NPU 计算等待</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前置动态收益判定，零描述符浪费</a:t>
                      </a:r>
                      <a:br/>
                      <a:r>
                        <a:t>• 50% 场景每请求省 4.36 ms Prefill</a:t>
                      </a:r>
                      <a:br/>
                      <a:r>
                        <a:t>• 算力流与传输流解耦流水重叠</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消除无效拉取与重复计算</a:t>
                      </a:r>
                      <a:br/>
                      <a:r>
                        <a:t>• 释放 NPU 算力专注有效生成</a:t>
                      </a:r>
                      <a:br/>
                      <a:r>
                        <a:t>• 相同集群规模支撑更高业务 QPS</a:t>
                      </a:r>
                    </a:p>
                  </a:txBody>
                  <a:tcPr>
                    <a:solidFill>
                      <a:srgbClr val="FFFFFF"/>
                    </a:solidFill>
                  </a:tcPr>
                </a:tc>
              </a:tr>
              <a:tr h="672084">
                <a:tc>
                  <a:txBody>
                    <a:bodyPr wrap="square" lIns="54864" rIns="54864" tIns="36576" bIns="36576"/>
                    <a:lstStyle/>
                    <a:p>
                      <a:pPr algn="ctr">
                        <a:lnSpc>
                          <a:spcPct val="122000"/>
                        </a:lnSpc>
                        <a:defRPr sz="1000" b="1">
                          <a:solidFill>
                            <a:srgbClr val="1E3A8A"/>
                          </a:solidFill>
                          <a:latin typeface="Microsoft YaHei"/>
                        </a:defRPr>
                      </a:pPr>
                      <a:r>
                        <a:t>2. 服务器硬件投入</a:t>
                      </a:r>
                      <a:br/>
                      <a:r>
                        <a:t>(Server &amp; Memory)</a:t>
                      </a:r>
                    </a:p>
                  </a:txBody>
                  <a:tcPr>
                    <a:solidFill>
                      <a:srgbClr val="F1F5F9"/>
                    </a:solidFill>
                  </a:tcPr>
                </a:tc>
                <a:tc>
                  <a:txBody>
                    <a:bodyPr wrap="square" lIns="54864" rIns="54864" tIns="36576" bIns="36576"/>
                    <a:lstStyle/>
                    <a:p>
                      <a:pPr>
                        <a:lnSpc>
                          <a:spcPct val="122000"/>
                        </a:lnSpc>
                        <a:defRPr sz="1000">
                          <a:solidFill>
                            <a:srgbClr val="0F172A"/>
                          </a:solidFill>
                          <a:latin typeface="Microsoft YaHei"/>
                        </a:defRPr>
                      </a:pPr>
                      <a:r>
                        <a:t>• 依赖昂贵 Host 大容量 CPU / DRAM 中转</a:t>
                      </a:r>
                      <a:br/>
                      <a:r>
                        <a:t>• 单节点解算密度受制于 CPU 性能瓶颈</a:t>
                      </a:r>
                      <a:br/>
                      <a:r>
                        <a:t>• HBM 显存孤岛与 OOM 抢占</a:t>
                      </a:r>
                    </a:p>
                  </a:txBody>
                  <a:tcPr>
                    <a:solidFill>
                      <a:srgbClr val="F1F5F9"/>
                    </a:solidFill>
                  </a:tcPr>
                </a:tc>
                <a:tc>
                  <a:txBody>
                    <a:bodyPr wrap="square" lIns="54864" rIns="54864" tIns="36576" bIns="36576"/>
                    <a:lstStyle/>
                    <a:p>
                      <a:pPr>
                        <a:lnSpc>
                          <a:spcPct val="122000"/>
                        </a:lnSpc>
                        <a:defRPr sz="1000">
                          <a:solidFill>
                            <a:srgbClr val="0F172A"/>
                          </a:solidFill>
                          <a:latin typeface="Microsoft YaHei"/>
                        </a:defRPr>
                      </a:pPr>
                      <a:r>
                        <a:t>• CPU 不参与数据搬运，零内存拷贝</a:t>
                      </a:r>
                      <a:br/>
                      <a:r>
                        <a:t>• HBM ↔ SSD Direct PCIe DMA 直达</a:t>
                      </a:r>
                      <a:br/>
                      <a:r>
                        <a:t>• 消除 CPU 内存拷贝与序列化损耗</a:t>
                      </a:r>
                    </a:p>
                  </a:txBody>
                  <a:tcPr>
                    <a:solidFill>
                      <a:srgbClr val="F1F5F9"/>
                    </a:solidFill>
                  </a:tcPr>
                </a:tc>
                <a:tc>
                  <a:txBody>
                    <a:bodyPr wrap="square" lIns="54864" rIns="54864" tIns="36576" bIns="36576"/>
                    <a:lstStyle/>
                    <a:p>
                      <a:pPr>
                        <a:lnSpc>
                          <a:spcPct val="122000"/>
                        </a:lnSpc>
                        <a:defRPr sz="1000">
                          <a:solidFill>
                            <a:srgbClr val="0F172A"/>
                          </a:solidFill>
                          <a:latin typeface="Microsoft YaHei"/>
                        </a:defRPr>
                      </a:pPr>
                      <a:r>
                        <a:t>• 消除 Host CPU 与大内存中转依赖</a:t>
                      </a:r>
                      <a:br/>
                      <a:r>
                        <a:t>• 单机硬件配置大幅简化</a:t>
                      </a:r>
                      <a:br/>
                      <a:r>
                        <a:t>• 降低服务器采购与能耗运维成本</a:t>
                      </a:r>
                    </a:p>
                  </a:txBody>
                  <a:tcPr>
                    <a:solidFill>
                      <a:srgbClr val="F1F5F9"/>
                    </a:solidFill>
                  </a:tcPr>
                </a:tc>
              </a:tr>
              <a:tr h="672084">
                <a:tc>
                  <a:txBody>
                    <a:bodyPr wrap="square" lIns="54864" rIns="54864" tIns="36576" bIns="36576"/>
                    <a:lstStyle/>
                    <a:p>
                      <a:pPr algn="ctr">
                        <a:lnSpc>
                          <a:spcPct val="122000"/>
                        </a:lnSpc>
                        <a:defRPr sz="1000" b="1">
                          <a:solidFill>
                            <a:srgbClr val="1E3A8A"/>
                          </a:solidFill>
                          <a:latin typeface="Microsoft YaHei"/>
                        </a:defRPr>
                      </a:pPr>
                      <a:r>
                        <a:t>3. 业务按时达标率</a:t>
                      </a:r>
                      <a:br/>
                      <a:r>
                        <a:t>(SLO Compliance Rate)</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仅保 P50，P99 尾延迟显著上升</a:t>
                      </a:r>
                      <a:br/>
                      <a:r>
                        <a:t>• 尾部超时引发客户端重试风暴</a:t>
                      </a:r>
                      <a:br/>
                      <a:r>
                        <a:t>• 达标率受长尾影响通常受限于 95% 左右</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硬件 QoS 优先级队列与动态拥塞控制</a:t>
                      </a:r>
                      <a:br/>
                      <a:r>
                        <a:t>• 传输 P99 膨胀控制在 2.0 倍以内</a:t>
                      </a:r>
                      <a:br/>
                      <a:r>
                        <a:t>• 杜绝负收益拉取与时延恶化</a:t>
                      </a:r>
                    </a:p>
                  </a:txBody>
                  <a:tcPr>
                    <a:solidFill>
                      <a:srgbClr val="FFFFFF"/>
                    </a:solidFill>
                  </a:tcPr>
                </a:tc>
                <a:tc>
                  <a:txBody>
                    <a:bodyPr wrap="square" lIns="54864" rIns="54864" tIns="36576" bIns="36576"/>
                    <a:lstStyle/>
                    <a:p>
                      <a:pPr>
                        <a:lnSpc>
                          <a:spcPct val="122000"/>
                        </a:lnSpc>
                        <a:defRPr sz="1000">
                          <a:solidFill>
                            <a:srgbClr val="0F172A"/>
                          </a:solidFill>
                          <a:latin typeface="Microsoft YaHei"/>
                        </a:defRPr>
                      </a:pPr>
                      <a:r>
                        <a:t>• 压制长尾时延抖动，减少超时重试</a:t>
                      </a:r>
                      <a:br/>
                      <a:r>
                        <a:t>• 延时达标率显著提升至 98%</a:t>
                      </a:r>
                      <a:br/>
                      <a:r>
                        <a:t>• 显著降低单次有效推理请求综合成本</a:t>
                      </a:r>
                    </a:p>
                  </a:txBody>
                  <a:tcPr>
                    <a:solidFill>
                      <a:srgbClr val="FFFFFF"/>
                    </a:solidFill>
                  </a:tcPr>
                </a:tc>
              </a:tr>
            </a:tbl>
          </a:graphicData>
        </a:graphic>
      </p:graphicFrame>
      <p:sp>
        <p:nvSpPr>
          <p:cNvPr id="11" name="Rectangle 10"/>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综合价值对账：</a:t>
            </a:r>
            <a:r>
              <a:rPr sz="1150" b="0">
                <a:solidFill>
                  <a:srgbClr val="0F172A"/>
                </a:solidFill>
                <a:latin typeface="Microsoft YaHei"/>
              </a:rPr>
              <a:t>项目以 </a:t>
            </a:r>
            <a:r>
              <a:rPr sz="1150" b="1">
                <a:solidFill>
                  <a:srgbClr val="DC2626"/>
                </a:solidFill>
                <a:latin typeface="Microsoft YaHei"/>
              </a:rPr>
              <a:t>“SLO 达标请求产出”</a:t>
            </a:r>
            <a:r>
              <a:rPr sz="1150" b="0">
                <a:solidFill>
                  <a:srgbClr val="0F172A"/>
                </a:solidFill>
                <a:latin typeface="Microsoft YaHei"/>
              </a:rPr>
              <a:t> 和 </a:t>
            </a:r>
            <a:r>
              <a:rPr sz="1150" b="1">
                <a:solidFill>
                  <a:srgbClr val="DC2626"/>
                </a:solidFill>
                <a:latin typeface="Microsoft YaHei"/>
              </a:rPr>
              <a:t>“单次有效请求综合成本 ↓≥35%”</a:t>
            </a:r>
            <a:r>
              <a:rPr sz="1150" b="0">
                <a:solidFill>
                  <a:srgbClr val="0F172A"/>
                </a:solidFill>
                <a:latin typeface="Microsoft YaHei"/>
              </a:rPr>
              <a:t> 作为核心验收依据，通过 </a:t>
            </a:r>
            <a:r>
              <a:rPr sz="1150" b="1">
                <a:solidFill>
                  <a:srgbClr val="DC2626"/>
                </a:solidFill>
                <a:latin typeface="Microsoft YaHei"/>
              </a:rPr>
              <a:t>释放 NPU 算力、简化服务器硬件配置与收敛长尾抖动</a:t>
            </a:r>
            <a:r>
              <a:rPr sz="1150" b="0">
                <a:solidFill>
                  <a:srgbClr val="0F172A"/>
                </a:solidFill>
                <a:latin typeface="Microsoft YaHei"/>
              </a:rPr>
              <a:t>，实现业务 ROI 投资回报与系统效能的最大化。</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TextBox 1"/>
          <p:cNvSpPr txBox="1"/>
          <p:nvPr/>
        </p:nvSpPr>
        <p:spPr>
          <a:xfrm>
            <a:off x="548640" y="219456"/>
            <a:ext cx="11094415" cy="749808"/>
          </a:xfrm>
          <a:prstGeom prst="rect">
            <a:avLst/>
          </a:prstGeom>
          <a:noFill/>
        </p:spPr>
        <p:txBody>
          <a:bodyPr wrap="square" lIns="0" tIns="0" rIns="0" bIns="0">
            <a:spAutoFit/>
          </a:bodyPr>
          <a:lstStyle/>
          <a:p>
            <a:pPr>
              <a:defRPr sz="1900" b="1">
                <a:solidFill>
                  <a:srgbClr val="1E3A8A"/>
                </a:solidFill>
                <a:latin typeface="Microsoft YaHei"/>
              </a:defRPr>
            </a:pPr>
            <a:r>
              <a:t>交付节奏与原型验证规划：以原型测试摸清技术边界，以阶段门禁控制研发风险</a:t>
            </a:r>
          </a:p>
          <a:p>
            <a:pPr>
              <a:spcBef>
                <a:spcPts val="200"/>
              </a:spcBef>
              <a:defRPr sz="1000">
                <a:solidFill>
                  <a:srgbClr val="475569"/>
                </a:solidFill>
                <a:latin typeface="Microsoft YaHei"/>
              </a:defRPr>
            </a:pPr>
            <a:r>
              <a:t>规划 4～5 周敏捷验证，包含 8 项核心验证 (PVT) 与 3 项可行性证伪 (CVT)，按 E0～E3 门禁逐级推进</a:t>
            </a:r>
          </a:p>
        </p:txBody>
      </p:sp>
      <p:sp>
        <p:nvSpPr>
          <p:cNvPr id="3" name="TextBox 2"/>
          <p:cNvSpPr txBox="1"/>
          <p:nvPr/>
        </p:nvSpPr>
        <p:spPr>
          <a:xfrm>
            <a:off x="10241280" y="219456"/>
            <a:ext cx="1401775" cy="320040"/>
          </a:xfrm>
          <a:prstGeom prst="rect">
            <a:avLst/>
          </a:prstGeom>
          <a:noFill/>
        </p:spPr>
        <p:txBody>
          <a:bodyPr wrap="none" lIns="0" tIns="0" rIns="0" bIns="0">
            <a:spAutoFit/>
          </a:bodyPr>
          <a:lstStyle/>
          <a:p>
            <a:pPr algn="r">
              <a:defRPr sz="1100" b="1">
                <a:solidFill>
                  <a:srgbClr val="1D4ED8"/>
                </a:solidFill>
                <a:latin typeface="Microsoft YaHei"/>
              </a:defRPr>
            </a:pPr>
            <a:r>
              <a:t>第 10 / 10 页</a:t>
            </a:r>
          </a:p>
        </p:txBody>
      </p:sp>
      <p:sp>
        <p:nvSpPr>
          <p:cNvPr id="4" name="Rectangle 3"/>
          <p:cNvSpPr/>
          <p:nvPr/>
        </p:nvSpPr>
        <p:spPr>
          <a:xfrm>
            <a:off x="548640" y="1060704"/>
            <a:ext cx="2633472" cy="43891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03504" y="1115568"/>
            <a:ext cx="2523744" cy="329184"/>
          </a:xfrm>
          <a:prstGeom prst="rect">
            <a:avLst/>
          </a:prstGeom>
          <a:noFill/>
        </p:spPr>
        <p:txBody>
          <a:bodyPr wrap="none" lIns="0" tIns="0" rIns="0" bIns="0">
            <a:spAutoFit/>
          </a:bodyPr>
          <a:lstStyle/>
          <a:p>
            <a:pPr algn="ctr">
              <a:defRPr sz="1100" b="1">
                <a:solidFill>
                  <a:srgbClr val="FFFFFF"/>
                </a:solidFill>
                <a:latin typeface="Microsoft YaHei"/>
              </a:defRPr>
            </a:pPr>
            <a:r>
              <a:t>W0 (第 1 周) 业务收益与传输底座</a:t>
            </a:r>
          </a:p>
        </p:txBody>
      </p:sp>
      <p:sp>
        <p:nvSpPr>
          <p:cNvPr id="6" name="Rectangle 5"/>
          <p:cNvSpPr/>
          <p:nvPr/>
        </p:nvSpPr>
        <p:spPr>
          <a:xfrm>
            <a:off x="3364992" y="1060704"/>
            <a:ext cx="2633472" cy="43891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419856" y="1115568"/>
            <a:ext cx="2523744" cy="329184"/>
          </a:xfrm>
          <a:prstGeom prst="rect">
            <a:avLst/>
          </a:prstGeom>
          <a:noFill/>
        </p:spPr>
        <p:txBody>
          <a:bodyPr wrap="none" lIns="0" tIns="0" rIns="0" bIns="0">
            <a:spAutoFit/>
          </a:bodyPr>
          <a:lstStyle/>
          <a:p>
            <a:pPr algn="ctr">
              <a:defRPr sz="1100" b="1">
                <a:solidFill>
                  <a:srgbClr val="FFFFFF"/>
                </a:solidFill>
                <a:latin typeface="Microsoft YaHei"/>
              </a:defRPr>
            </a:pPr>
            <a:r>
              <a:t>W1 (第 2~3 周) 语义编译与决策选路</a:t>
            </a:r>
          </a:p>
        </p:txBody>
      </p:sp>
      <p:sp>
        <p:nvSpPr>
          <p:cNvPr id="8" name="Rectangle 7"/>
          <p:cNvSpPr/>
          <p:nvPr/>
        </p:nvSpPr>
        <p:spPr>
          <a:xfrm>
            <a:off x="6181344" y="1060704"/>
            <a:ext cx="2633472" cy="438912"/>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236208" y="1115568"/>
            <a:ext cx="2523744" cy="329184"/>
          </a:xfrm>
          <a:prstGeom prst="rect">
            <a:avLst/>
          </a:prstGeom>
          <a:noFill/>
        </p:spPr>
        <p:txBody>
          <a:bodyPr wrap="none" lIns="0" tIns="0" rIns="0" bIns="0">
            <a:spAutoFit/>
          </a:bodyPr>
          <a:lstStyle/>
          <a:p>
            <a:pPr algn="ctr">
              <a:defRPr sz="1100" b="1">
                <a:solidFill>
                  <a:srgbClr val="FFFFFF"/>
                </a:solidFill>
                <a:latin typeface="Microsoft YaHei"/>
              </a:defRPr>
            </a:pPr>
            <a:r>
              <a:t>W2 (第 3~4 周) 分层容量与资格安全</a:t>
            </a:r>
          </a:p>
        </p:txBody>
      </p:sp>
      <p:sp>
        <p:nvSpPr>
          <p:cNvPr id="10" name="Rectangle 9"/>
          <p:cNvSpPr/>
          <p:nvPr/>
        </p:nvSpPr>
        <p:spPr>
          <a:xfrm>
            <a:off x="8997696" y="1060704"/>
            <a:ext cx="2633472" cy="438912"/>
          </a:xfrm>
          <a:prstGeom prst="rect">
            <a:avLst/>
          </a:prstGeom>
          <a:solidFill>
            <a:srgbClr val="04785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052560" y="1115568"/>
            <a:ext cx="2523744" cy="329184"/>
          </a:xfrm>
          <a:prstGeom prst="rect">
            <a:avLst/>
          </a:prstGeom>
          <a:noFill/>
        </p:spPr>
        <p:txBody>
          <a:bodyPr wrap="none" lIns="0" tIns="0" rIns="0" bIns="0">
            <a:spAutoFit/>
          </a:bodyPr>
          <a:lstStyle/>
          <a:p>
            <a:pPr algn="ctr">
              <a:defRPr sz="1100" b="1">
                <a:solidFill>
                  <a:srgbClr val="FFFFFF"/>
                </a:solidFill>
                <a:latin typeface="Microsoft YaHei"/>
              </a:defRPr>
            </a:pPr>
            <a:r>
              <a:t>W3 (第 4~5 周) 全链路混压总门禁</a:t>
            </a:r>
          </a:p>
        </p:txBody>
      </p:sp>
      <p:sp>
        <p:nvSpPr>
          <p:cNvPr id="12" name="Rectangle 11"/>
          <p:cNvSpPr/>
          <p:nvPr/>
        </p:nvSpPr>
        <p:spPr>
          <a:xfrm>
            <a:off x="548640" y="1572768"/>
            <a:ext cx="2633472" cy="3090672"/>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58368" y="1645920"/>
            <a:ext cx="2414016" cy="2944368"/>
          </a:xfrm>
          <a:prstGeom prst="rect">
            <a:avLst/>
          </a:prstGeom>
          <a:noFill/>
        </p:spPr>
        <p:txBody>
          <a:bodyPr wrap="square" lIns="0" tIns="0" rIns="0" bIns="0">
            <a:spAutoFit/>
          </a:bodyPr>
          <a:lstStyle/>
          <a:p>
            <a:pPr>
              <a:spcAft>
                <a:spcPts val="200"/>
              </a:spcAft>
              <a:defRPr sz="1150" b="1">
                <a:solidFill>
                  <a:srgbClr val="1E3A8A"/>
                </a:solidFill>
                <a:latin typeface="Microsoft YaHei"/>
              </a:defRPr>
            </a:pPr>
            <a:r>
              <a:t>业务收益与传输底座 (E0 / E1 阶段)</a:t>
            </a:r>
          </a:p>
          <a:p>
            <a:pPr>
              <a:lnSpc>
                <a:spcPct val="118000"/>
              </a:lnSpc>
              <a:spcBef>
                <a:spcPts val="400"/>
              </a:spcBef>
              <a:defRPr sz="1100" b="1">
                <a:solidFill>
                  <a:srgbClr val="0F172A"/>
                </a:solidFill>
                <a:latin typeface="Microsoft YaHei"/>
              </a:defRPr>
            </a:pPr>
            <a:r>
              <a:t>▶ 业务收益上限评估 (PVT-00)：</a:t>
            </a:r>
            <a:r>
              <a:rPr sz="1050" b="0">
                <a:solidFill>
                  <a:srgbClr val="475569"/>
                </a:solidFill>
                <a:latin typeface="Microsoft YaHei"/>
              </a:rPr>
              <a:t>评估目标业务流量 Saved-Prefill（首字预计算节省）上限，探明复用分布。</a:t>
            </a:r>
          </a:p>
          <a:p>
            <a:pPr>
              <a:lnSpc>
                <a:spcPct val="118000"/>
              </a:lnSpc>
              <a:spcBef>
                <a:spcPts val="400"/>
              </a:spcBef>
              <a:defRPr sz="1100" b="1">
                <a:solidFill>
                  <a:srgbClr val="0F172A"/>
                </a:solidFill>
                <a:latin typeface="Microsoft YaHei"/>
              </a:defRPr>
            </a:pPr>
            <a:r>
              <a:t>▶ 零数据拷贝底座 (PVT-01)：</a:t>
            </a:r>
            <a:r>
              <a:rPr sz="1050" b="0">
                <a:solidFill>
                  <a:srgbClr val="475569"/>
                </a:solidFill>
                <a:latin typeface="Microsoft YaHei"/>
              </a:rPr>
              <a:t>验证 HBM / DDR / SSD 真实可达性，建立 CapabilityMatrix（硬件能力矩阵）。</a:t>
            </a:r>
          </a:p>
          <a:p>
            <a:pPr>
              <a:lnSpc>
                <a:spcPct val="118000"/>
              </a:lnSpc>
              <a:spcBef>
                <a:spcPts val="400"/>
              </a:spcBef>
              <a:defRPr sz="1100" b="1">
                <a:solidFill>
                  <a:srgbClr val="0F172A"/>
                </a:solidFill>
                <a:latin typeface="Microsoft YaHei"/>
              </a:defRPr>
            </a:pPr>
            <a:r>
              <a:t>▶ E0/E1 阶段目标：</a:t>
            </a:r>
            <a:r>
              <a:rPr sz="1050" b="0">
                <a:solidFill>
                  <a:srgbClr val="475569"/>
                </a:solidFill>
                <a:latin typeface="Microsoft YaHei"/>
              </a:rPr>
              <a:t>确认业务具备复用收益空间，底层硬件通信路径与观测闭环打通。</a:t>
            </a:r>
          </a:p>
        </p:txBody>
      </p:sp>
      <p:sp>
        <p:nvSpPr>
          <p:cNvPr id="14" name="Rectangle 13"/>
          <p:cNvSpPr/>
          <p:nvPr/>
        </p:nvSpPr>
        <p:spPr>
          <a:xfrm>
            <a:off x="3364992" y="1572768"/>
            <a:ext cx="2633472" cy="3090672"/>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474720" y="1645920"/>
            <a:ext cx="2414016" cy="2944368"/>
          </a:xfrm>
          <a:prstGeom prst="rect">
            <a:avLst/>
          </a:prstGeom>
          <a:noFill/>
        </p:spPr>
        <p:txBody>
          <a:bodyPr wrap="square" lIns="0" tIns="0" rIns="0" bIns="0">
            <a:spAutoFit/>
          </a:bodyPr>
          <a:lstStyle/>
          <a:p>
            <a:pPr>
              <a:spcAft>
                <a:spcPts val="200"/>
              </a:spcAft>
              <a:defRPr sz="1150" b="1">
                <a:solidFill>
                  <a:srgbClr val="1D4ED8"/>
                </a:solidFill>
                <a:latin typeface="Microsoft YaHei"/>
              </a:defRPr>
            </a:pPr>
            <a:r>
              <a:t>语义编译与选路决策 (E1 / E2 阶段)</a:t>
            </a:r>
          </a:p>
          <a:p>
            <a:pPr>
              <a:lnSpc>
                <a:spcPct val="118000"/>
              </a:lnSpc>
              <a:spcBef>
                <a:spcPts val="400"/>
              </a:spcBef>
              <a:defRPr sz="1100" b="1">
                <a:solidFill>
                  <a:srgbClr val="0F172A"/>
                </a:solidFill>
                <a:latin typeface="Microsoft YaHei"/>
              </a:defRPr>
            </a:pPr>
            <a:r>
              <a:t>▶ 异步流水编译 (PVT-02)：</a:t>
            </a:r>
            <a:r>
              <a:rPr sz="1050" b="0">
                <a:solidFill>
                  <a:srgbClr val="475569"/>
                </a:solidFill>
                <a:latin typeface="Microsoft YaHei"/>
              </a:rPr>
              <a:t>异构框架 Layout 编译器与异步流水验证，算力与传输重叠率 ≥60%。</a:t>
            </a:r>
          </a:p>
          <a:p>
            <a:pPr>
              <a:lnSpc>
                <a:spcPct val="118000"/>
              </a:lnSpc>
              <a:spcBef>
                <a:spcPts val="400"/>
              </a:spcBef>
              <a:defRPr sz="1100" b="1">
                <a:solidFill>
                  <a:srgbClr val="0F172A"/>
                </a:solidFill>
                <a:latin typeface="Microsoft YaHei"/>
              </a:defRPr>
            </a:pPr>
            <a:r>
              <a:t>▶ 共享总线快路径 (PVT-03)：</a:t>
            </a:r>
            <a:r>
              <a:rPr sz="1050" b="0">
                <a:solidFill>
                  <a:srgbClr val="475569"/>
                </a:solidFill>
                <a:latin typeface="Microsoft YaHei"/>
              </a:rPr>
              <a:t>验证 UBMEM 元数据快路径与容错边界，完整查询 P99 &lt; 5 µs。</a:t>
            </a:r>
          </a:p>
          <a:p>
            <a:pPr>
              <a:lnSpc>
                <a:spcPct val="118000"/>
              </a:lnSpc>
              <a:spcBef>
                <a:spcPts val="400"/>
              </a:spcBef>
              <a:defRPr sz="1100" b="1">
                <a:solidFill>
                  <a:srgbClr val="0F172A"/>
                </a:solidFill>
                <a:latin typeface="Microsoft YaHei"/>
              </a:defRPr>
            </a:pPr>
            <a:r>
              <a:t>▶ 动态决策引擎 (PVT-04)：</a:t>
            </a:r>
            <a:r>
              <a:rPr sz="1050" b="0">
                <a:solidFill>
                  <a:srgbClr val="475569"/>
                </a:solidFill>
                <a:latin typeface="Microsoft YaHei"/>
              </a:rPr>
              <a:t>验证 QueryPlan 微秒级选路与成本预估，决策准确率 &gt; 95%。</a:t>
            </a:r>
          </a:p>
        </p:txBody>
      </p:sp>
      <p:sp>
        <p:nvSpPr>
          <p:cNvPr id="16" name="Rectangle 15"/>
          <p:cNvSpPr/>
          <p:nvPr/>
        </p:nvSpPr>
        <p:spPr>
          <a:xfrm>
            <a:off x="6181344" y="1572768"/>
            <a:ext cx="2633472" cy="3090672"/>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291072" y="1645920"/>
            <a:ext cx="2414016" cy="2944368"/>
          </a:xfrm>
          <a:prstGeom prst="rect">
            <a:avLst/>
          </a:prstGeom>
          <a:noFill/>
        </p:spPr>
        <p:txBody>
          <a:bodyPr wrap="square" lIns="0" tIns="0" rIns="0" bIns="0">
            <a:spAutoFit/>
          </a:bodyPr>
          <a:lstStyle/>
          <a:p>
            <a:pPr>
              <a:spcAft>
                <a:spcPts val="200"/>
              </a:spcAft>
              <a:defRPr sz="1150" b="1">
                <a:solidFill>
                  <a:srgbClr val="1E3A8A"/>
                </a:solidFill>
                <a:latin typeface="Microsoft YaHei"/>
              </a:defRPr>
            </a:pPr>
            <a:r>
              <a:t>分层容量与消费资格 (E2 阶段)</a:t>
            </a:r>
          </a:p>
          <a:p>
            <a:pPr>
              <a:lnSpc>
                <a:spcPct val="118000"/>
              </a:lnSpc>
              <a:spcBef>
                <a:spcPts val="400"/>
              </a:spcBef>
              <a:defRPr sz="1100" b="1">
                <a:solidFill>
                  <a:srgbClr val="0F172A"/>
                </a:solidFill>
                <a:latin typeface="Microsoft YaHei"/>
              </a:defRPr>
            </a:pPr>
            <a:r>
              <a:t>▶ HBM-SSD 直达 (PVT-05)：</a:t>
            </a:r>
            <a:r>
              <a:rPr sz="1050" b="0">
                <a:solidFill>
                  <a:srgbClr val="475569"/>
                </a:solidFill>
                <a:latin typeface="Microsoft YaHei"/>
              </a:rPr>
              <a:t>验证 Direct PCIe DMA 容量主路径，确立 DDR 辅助缓冲角色退出准则。</a:t>
            </a:r>
          </a:p>
          <a:p>
            <a:pPr>
              <a:lnSpc>
                <a:spcPct val="118000"/>
              </a:lnSpc>
              <a:spcBef>
                <a:spcPts val="400"/>
              </a:spcBef>
              <a:defRPr sz="1100" b="1">
                <a:solidFill>
                  <a:srgbClr val="0F172A"/>
                </a:solidFill>
                <a:latin typeface="Microsoft YaHei"/>
              </a:defRPr>
            </a:pPr>
            <a:r>
              <a:t>▶ 0 错误消费校验 (PVT-06)：</a:t>
            </a:r>
            <a:r>
              <a:rPr sz="1050" b="0">
                <a:solidFill>
                  <a:srgbClr val="475569"/>
                </a:solidFill>
                <a:latin typeface="Microsoft YaHei"/>
              </a:rPr>
              <a:t>验证语义一致性资格校验与多卡状态同步，错误消费精确为 0。</a:t>
            </a:r>
          </a:p>
          <a:p>
            <a:pPr>
              <a:lnSpc>
                <a:spcPct val="118000"/>
              </a:lnSpc>
              <a:spcBef>
                <a:spcPts val="400"/>
              </a:spcBef>
              <a:defRPr sz="1100" b="1">
                <a:solidFill>
                  <a:srgbClr val="0F172A"/>
                </a:solidFill>
                <a:latin typeface="Microsoft YaHei"/>
              </a:defRPr>
            </a:pPr>
            <a:r>
              <a:t>▶ E2 阶段目标：</a:t>
            </a:r>
            <a:r>
              <a:rPr sz="1050" b="0">
                <a:solidFill>
                  <a:srgbClr val="475569"/>
                </a:solidFill>
                <a:latin typeface="Microsoft YaHei"/>
              </a:rPr>
              <a:t>多介质分层扩容净收益成立，多租户隔离与消费安全 100% 达标。</a:t>
            </a:r>
          </a:p>
        </p:txBody>
      </p:sp>
      <p:sp>
        <p:nvSpPr>
          <p:cNvPr id="18" name="Rectangle 17"/>
          <p:cNvSpPr/>
          <p:nvPr/>
        </p:nvSpPr>
        <p:spPr>
          <a:xfrm>
            <a:off x="8997696" y="1572768"/>
            <a:ext cx="2633472" cy="3090672"/>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07424" y="1645920"/>
            <a:ext cx="2414016" cy="2944368"/>
          </a:xfrm>
          <a:prstGeom prst="rect">
            <a:avLst/>
          </a:prstGeom>
          <a:noFill/>
        </p:spPr>
        <p:txBody>
          <a:bodyPr wrap="square" lIns="0" tIns="0" rIns="0" bIns="0">
            <a:spAutoFit/>
          </a:bodyPr>
          <a:lstStyle/>
          <a:p>
            <a:pPr>
              <a:spcAft>
                <a:spcPts val="200"/>
              </a:spcAft>
              <a:defRPr sz="1150" b="1">
                <a:solidFill>
                  <a:srgbClr val="047857"/>
                </a:solidFill>
                <a:latin typeface="Microsoft YaHei"/>
              </a:defRPr>
            </a:pPr>
            <a:r>
              <a:t>全链路混压与架构证伪 (E3 阶段)</a:t>
            </a:r>
          </a:p>
          <a:p>
            <a:pPr>
              <a:lnSpc>
                <a:spcPct val="118000"/>
              </a:lnSpc>
              <a:spcBef>
                <a:spcPts val="400"/>
              </a:spcBef>
              <a:defRPr sz="1100" b="1">
                <a:solidFill>
                  <a:srgbClr val="0F172A"/>
                </a:solidFill>
                <a:latin typeface="Microsoft YaHei"/>
              </a:defRPr>
            </a:pPr>
            <a:r>
              <a:t>▶ 混压全链路门禁 (PVT-07)：</a:t>
            </a:r>
            <a:r>
              <a:rPr sz="1050" b="0">
                <a:solidFill>
                  <a:srgbClr val="475569"/>
                </a:solidFill>
                <a:latin typeface="Microsoft YaHei"/>
              </a:rPr>
              <a:t>前后台混压端到端最小闭环验证，保障前台 TPOT 干扰 &lt; 3%。</a:t>
            </a:r>
          </a:p>
          <a:p>
            <a:pPr>
              <a:lnSpc>
                <a:spcPct val="118000"/>
              </a:lnSpc>
              <a:spcBef>
                <a:spcPts val="400"/>
              </a:spcBef>
              <a:defRPr sz="1100" b="1">
                <a:solidFill>
                  <a:srgbClr val="0F172A"/>
                </a:solidFill>
                <a:latin typeface="Microsoft YaHei"/>
              </a:defRPr>
            </a:pPr>
            <a:r>
              <a:t>▶ 3 项可行性证伪 (CVT)：</a:t>
            </a:r>
            <a:r>
              <a:rPr sz="1050" b="0">
                <a:solidFill>
                  <a:srgbClr val="475569"/>
                </a:solidFill>
                <a:latin typeface="Microsoft YaHei"/>
              </a:rPr>
              <a:t>CVT-01 多播、CVT-02 原子迁移、CVT-03 DPU 卸载证伪，确立纯软主路径。</a:t>
            </a:r>
          </a:p>
          <a:p>
            <a:pPr>
              <a:lnSpc>
                <a:spcPct val="118000"/>
              </a:lnSpc>
              <a:spcBef>
                <a:spcPts val="400"/>
              </a:spcBef>
              <a:defRPr sz="1100" b="1">
                <a:solidFill>
                  <a:srgbClr val="0F172A"/>
                </a:solidFill>
                <a:latin typeface="Microsoft YaHei"/>
              </a:defRPr>
            </a:pPr>
            <a:r>
              <a:t>▶ E3 阶段目标：</a:t>
            </a:r>
            <a:r>
              <a:rPr sz="1050" b="0">
                <a:solidFill>
                  <a:srgbClr val="475569"/>
                </a:solidFill>
                <a:latin typeface="Microsoft YaHei"/>
              </a:rPr>
              <a:t>在真实混压下实现 P99 TTFT 降低 ≥20%、单位成本降低 ≥35%，释放后续研发投入。</a:t>
            </a:r>
          </a:p>
        </p:txBody>
      </p:sp>
      <p:sp>
        <p:nvSpPr>
          <p:cNvPr id="20" name="Rectangle 19"/>
          <p:cNvSpPr/>
          <p:nvPr/>
        </p:nvSpPr>
        <p:spPr>
          <a:xfrm>
            <a:off x="548640" y="4736592"/>
            <a:ext cx="11094415" cy="1115568"/>
          </a:xfrm>
          <a:prstGeom prst="rect">
            <a:avLst/>
          </a:prstGeom>
          <a:solidFill>
            <a:srgbClr val="FEF3C7"/>
          </a:solidFill>
          <a:ln w="12700">
            <a:solidFill>
              <a:srgbClr val="FDE68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85800" y="4782312"/>
            <a:ext cx="10820095" cy="1024128"/>
          </a:xfrm>
          <a:prstGeom prst="rect">
            <a:avLst/>
          </a:prstGeom>
          <a:noFill/>
        </p:spPr>
        <p:txBody>
          <a:bodyPr wrap="square" lIns="0" tIns="0" rIns="0" bIns="0">
            <a:spAutoFit/>
          </a:bodyPr>
          <a:lstStyle/>
          <a:p>
            <a:pPr>
              <a:defRPr sz="1150" b="1">
                <a:solidFill>
                  <a:srgbClr val="B45309"/>
                </a:solidFill>
                <a:latin typeface="Microsoft YaHei"/>
              </a:defRPr>
            </a:pPr>
            <a:r>
              <a:t>【严密 No-Go 止损与分阶段资源释放机制（安全可控立项）】</a:t>
            </a:r>
          </a:p>
          <a:p>
            <a:pPr>
              <a:lnSpc>
                <a:spcPct val="122000"/>
              </a:lnSpc>
              <a:spcBef>
                <a:spcPts val="300"/>
              </a:spcBef>
              <a:defRPr sz="1050">
                <a:solidFill>
                  <a:srgbClr val="0F172A"/>
                </a:solidFill>
                <a:latin typeface="Microsoft YaHei"/>
              </a:defRPr>
            </a:pPr>
            <a:r>
              <a:t>1. W0 止损: 若目标业务自然前缀复用空间 &lt; 15%，或底层硬件 URMA 路径不可达，立即终止全池研发，退回单机框架适配。</a:t>
            </a:r>
          </a:p>
          <a:p>
            <a:pPr>
              <a:lnSpc>
                <a:spcPct val="122000"/>
              </a:lnSpc>
              <a:spcBef>
                <a:spcPts val="300"/>
              </a:spcBef>
              <a:defRPr sz="1050">
                <a:solidFill>
                  <a:srgbClr val="0F172A"/>
                </a:solidFill>
                <a:latin typeface="Microsoft YaHei"/>
              </a:defRPr>
            </a:pPr>
            <a:r>
              <a:t>2. W1 止损: 若 UBMEM 控制面 P99 &gt; 20 µs 或动态选路准确率 &lt; 85%，放弃跨节点选路，缩项为本地只读共享缓存。</a:t>
            </a:r>
          </a:p>
          <a:p>
            <a:pPr>
              <a:lnSpc>
                <a:spcPct val="122000"/>
              </a:lnSpc>
              <a:spcBef>
                <a:spcPts val="300"/>
              </a:spcBef>
              <a:defRPr sz="1050">
                <a:solidFill>
                  <a:srgbClr val="0F172A"/>
                </a:solidFill>
                <a:latin typeface="Microsoft YaHei"/>
              </a:defRPr>
            </a:pPr>
            <a:r>
              <a:t>3. W2/W3 止损: 若 HBM ↔ SSD DMA 时延劣于重算，或混压下 P99 TPOT 抖动 &gt; 5%，停止全介质分层，维持 HBM 独立管理并安全止损！</a:t>
            </a:r>
          </a:p>
        </p:txBody>
      </p:sp>
      <p:sp>
        <p:nvSpPr>
          <p:cNvPr id="22" name="Rectangle 21"/>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Rectangle 22"/>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立项实施建议：</a:t>
            </a:r>
            <a:r>
              <a:rPr sz="1150" b="0">
                <a:solidFill>
                  <a:srgbClr val="0F172A"/>
                </a:solidFill>
                <a:latin typeface="Microsoft YaHei"/>
              </a:rPr>
              <a:t>建议采取 </a:t>
            </a:r>
            <a:r>
              <a:rPr sz="1150" b="1">
                <a:solidFill>
                  <a:srgbClr val="DC2626"/>
                </a:solidFill>
                <a:latin typeface="Microsoft YaHei"/>
              </a:rPr>
              <a:t>“分阶段验证、按门禁推进”</a:t>
            </a:r>
            <a:r>
              <a:rPr sz="1150" b="0">
                <a:solidFill>
                  <a:srgbClr val="0F172A"/>
                </a:solidFill>
                <a:latin typeface="Microsoft YaHei"/>
              </a:rPr>
              <a:t> 的立项策略：先开展为期 </a:t>
            </a:r>
            <a:r>
              <a:rPr sz="1150" b="1">
                <a:solidFill>
                  <a:srgbClr val="DC2626"/>
                </a:solidFill>
                <a:latin typeface="Microsoft YaHei"/>
              </a:rPr>
              <a:t>4～5 周的原型验证工作以摸清关键技术边界并获取实测数据支撑</a:t>
            </a:r>
            <a:r>
              <a:rPr sz="1150" b="0">
                <a:solidFill>
                  <a:srgbClr val="0F172A"/>
                </a:solidFill>
                <a:latin typeface="Microsoft YaHei"/>
              </a:rPr>
              <a:t>，严格依据 </a:t>
            </a:r>
            <a:r>
              <a:rPr sz="1150" b="1">
                <a:solidFill>
                  <a:srgbClr val="DC2626"/>
                </a:solidFill>
                <a:latin typeface="Microsoft YaHei"/>
              </a:rPr>
              <a:t>E0～E3 阶段判定标准</a:t>
            </a:r>
            <a:r>
              <a:rPr sz="1150" b="0">
                <a:solidFill>
                  <a:srgbClr val="0F172A"/>
                </a:solidFill>
                <a:latin typeface="Microsoft YaHei"/>
              </a:rPr>
              <a:t> 逐级推进研发投入；若核心假设不满足则 </a:t>
            </a:r>
            <a:r>
              <a:rPr sz="1150" b="1">
                <a:solidFill>
                  <a:srgbClr val="DC2626"/>
                </a:solidFill>
                <a:latin typeface="Microsoft YaHei"/>
              </a:rPr>
              <a:t>启动安全止损与方案缩项</a:t>
            </a:r>
            <a:r>
              <a:rPr sz="1150" b="0">
                <a:solidFill>
                  <a:srgbClr val="0F172A"/>
                </a:solidFill>
                <a:latin typeface="Microsoft YaHei"/>
              </a:rPr>
              <a:t>，有效规避研发风险。</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8FAFC"/>
        </a:solidFill>
        <a:effectLst/>
      </p:bgPr>
    </p:bg>
    <p:spTree>
      <p:nvGrpSpPr>
        <p:cNvPr id="1" name=""/>
        <p:cNvGrpSpPr/>
        <p:nvPr/>
      </p:nvGrpSpPr>
      <p:grpSpPr/>
      <p:sp>
        <p:nvSpPr>
          <p:cNvPr id="2" name="Rectangle 1"/>
          <p:cNvSpPr/>
          <p:nvPr/>
        </p:nvSpPr>
        <p:spPr>
          <a:xfrm>
            <a:off x="548640" y="731520"/>
            <a:ext cx="11094415" cy="1645920"/>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ectangle 2"/>
          <p:cNvSpPr/>
          <p:nvPr/>
        </p:nvSpPr>
        <p:spPr>
          <a:xfrm>
            <a:off x="548640" y="731520"/>
            <a:ext cx="91440" cy="1645920"/>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868680" y="896112"/>
            <a:ext cx="10515600" cy="1316736"/>
          </a:xfrm>
          <a:prstGeom prst="rect">
            <a:avLst/>
          </a:prstGeom>
          <a:noFill/>
        </p:spPr>
        <p:txBody>
          <a:bodyPr wrap="square" lIns="0" tIns="0" rIns="0" bIns="0">
            <a:spAutoFit/>
          </a:bodyPr>
          <a:lstStyle/>
          <a:p>
            <a:pPr>
              <a:defRPr sz="2400" b="1">
                <a:solidFill>
                  <a:srgbClr val="1E3A8A"/>
                </a:solidFill>
                <a:latin typeface="Microsoft YaHei"/>
              </a:defRPr>
            </a:pPr>
            <a:r>
              <a:t>谢谢观看 · 敬请各位领导与评审专家批评指正</a:t>
            </a:r>
          </a:p>
          <a:p>
            <a:pPr>
              <a:spcBef>
                <a:spcPts val="600"/>
              </a:spcBef>
              <a:defRPr sz="1200" b="1">
                <a:solidFill>
                  <a:srgbClr val="1D4ED8"/>
                </a:solidFill>
                <a:latin typeface="Microsoft YaHei"/>
              </a:defRPr>
            </a:pPr>
            <a:r>
              <a:t>Questions &amp; Answers (Q &amp; A) · 统一异构 KVCache 存储池总体架构与关键技术立项汇报</a:t>
            </a:r>
          </a:p>
          <a:p>
            <a:pPr>
              <a:spcBef>
                <a:spcPts val="300"/>
              </a:spcBef>
              <a:defRPr sz="1050">
                <a:solidFill>
                  <a:srgbClr val="475569"/>
                </a:solidFill>
                <a:latin typeface="Microsoft YaHei"/>
              </a:defRPr>
            </a:pPr>
            <a:r>
              <a:t>汇报团队：统一内存与存储系统架构团队        立项原则：以客观实测数据为依据，安全可控推进研发落地</a:t>
            </a:r>
          </a:p>
        </p:txBody>
      </p:sp>
      <p:sp>
        <p:nvSpPr>
          <p:cNvPr id="5" name="Rectangle 4"/>
          <p:cNvSpPr/>
          <p:nvPr/>
        </p:nvSpPr>
        <p:spPr>
          <a:xfrm>
            <a:off x="548640" y="2542032"/>
            <a:ext cx="5440680" cy="1719072"/>
          </a:xfrm>
          <a:prstGeom prst="rect">
            <a:avLst/>
          </a:prstGeom>
          <a:solidFill>
            <a:srgbClr val="EFF6FF"/>
          </a:solidFill>
          <a:ln w="15240">
            <a:solidFill>
              <a:srgbClr val="BFDBF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685800" y="2633472"/>
            <a:ext cx="5166360" cy="1536192"/>
          </a:xfrm>
          <a:prstGeom prst="rect">
            <a:avLst/>
          </a:prstGeom>
          <a:noFill/>
        </p:spPr>
        <p:txBody>
          <a:bodyPr wrap="square" lIns="0" tIns="0" rIns="0" bIns="0">
            <a:spAutoFit/>
          </a:bodyPr>
          <a:lstStyle/>
          <a:p>
            <a:pPr>
              <a:defRPr sz="1250" b="1">
                <a:solidFill>
                  <a:srgbClr val="1D4ED8"/>
                </a:solidFill>
                <a:latin typeface="Microsoft YaHei"/>
              </a:defRPr>
            </a:pPr>
            <a:r>
              <a:t>共识一：原厂软硬件深度协同</a:t>
            </a:r>
          </a:p>
          <a:p>
            <a:pPr>
              <a:spcBef>
                <a:spcPts val="100"/>
              </a:spcBef>
              <a:spcAft>
                <a:spcPts val="300"/>
              </a:spcAft>
              <a:defRPr sz="1000" b="1">
                <a:solidFill>
                  <a:srgbClr val="475569"/>
                </a:solidFill>
                <a:latin typeface="Microsoft YaHei"/>
              </a:defRPr>
            </a:pPr>
            <a:r>
              <a:t>[打破通用开源性能天花板]</a:t>
            </a:r>
          </a:p>
          <a:p>
            <a:pPr>
              <a:lnSpc>
                <a:spcPct val="122000"/>
              </a:lnSpc>
              <a:spcBef>
                <a:spcPts val="200"/>
              </a:spcBef>
              <a:defRPr sz="1100">
                <a:solidFill>
                  <a:srgbClr val="0F172A"/>
                </a:solidFill>
                <a:latin typeface="Microsoft YaHei"/>
              </a:defRPr>
            </a:pPr>
            <a:r>
              <a:t>立足国产芯片专属互联（HCCS / UBMEM / URMA），打通底层通信原语到模型状态管理的完整加速通路，充分释放硬件互联与多级存储潜能。</a:t>
            </a:r>
          </a:p>
        </p:txBody>
      </p:sp>
      <p:sp>
        <p:nvSpPr>
          <p:cNvPr id="7" name="Rectangle 6"/>
          <p:cNvSpPr/>
          <p:nvPr/>
        </p:nvSpPr>
        <p:spPr>
          <a:xfrm>
            <a:off x="6202375" y="2542032"/>
            <a:ext cx="5440680" cy="1719072"/>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6339535" y="2633472"/>
            <a:ext cx="5166360" cy="1536192"/>
          </a:xfrm>
          <a:prstGeom prst="rect">
            <a:avLst/>
          </a:prstGeom>
          <a:noFill/>
        </p:spPr>
        <p:txBody>
          <a:bodyPr wrap="square" lIns="0" tIns="0" rIns="0" bIns="0">
            <a:spAutoFit/>
          </a:bodyPr>
          <a:lstStyle/>
          <a:p>
            <a:pPr>
              <a:defRPr sz="1250" b="1">
                <a:solidFill>
                  <a:srgbClr val="1E3A8A"/>
                </a:solidFill>
                <a:latin typeface="Microsoft YaHei"/>
              </a:defRPr>
            </a:pPr>
            <a:r>
              <a:t>共识二：前置动态收益决策</a:t>
            </a:r>
          </a:p>
          <a:p>
            <a:pPr>
              <a:spcBef>
                <a:spcPts val="100"/>
              </a:spcBef>
              <a:spcAft>
                <a:spcPts val="300"/>
              </a:spcAft>
              <a:defRPr sz="1000" b="1">
                <a:solidFill>
                  <a:srgbClr val="475569"/>
                </a:solidFill>
                <a:latin typeface="Microsoft YaHei"/>
              </a:defRPr>
            </a:pPr>
            <a:r>
              <a:t>[确保每次加载获明确净收益]</a:t>
            </a:r>
          </a:p>
          <a:p>
            <a:pPr>
              <a:lnSpc>
                <a:spcPct val="122000"/>
              </a:lnSpc>
              <a:spcBef>
                <a:spcPts val="200"/>
              </a:spcBef>
              <a:defRPr sz="1100">
                <a:solidFill>
                  <a:srgbClr val="0F172A"/>
                </a:solidFill>
                <a:latin typeface="Microsoft YaHei"/>
              </a:defRPr>
            </a:pPr>
            <a:r>
              <a:t>在查表阶段即完成成本量化预估，若网络拥塞慢于重算则主动回退至本地重算；算力流与传输流解耦流水重叠，隐藏 ≥60% 网络跨节点传输耗时。</a:t>
            </a:r>
          </a:p>
        </p:txBody>
      </p:sp>
      <p:sp>
        <p:nvSpPr>
          <p:cNvPr id="9" name="Rectangle 8"/>
          <p:cNvSpPr/>
          <p:nvPr/>
        </p:nvSpPr>
        <p:spPr>
          <a:xfrm>
            <a:off x="548640" y="4407408"/>
            <a:ext cx="5440680" cy="1719072"/>
          </a:xfrm>
          <a:prstGeom prst="rect">
            <a:avLst/>
          </a:prstGeom>
          <a:solidFill>
            <a:srgbClr val="FFFFFF"/>
          </a:solidFill>
          <a:ln w="15240">
            <a:solidFill>
              <a:srgbClr val="E2E8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685800" y="4498848"/>
            <a:ext cx="5166360" cy="1536192"/>
          </a:xfrm>
          <a:prstGeom prst="rect">
            <a:avLst/>
          </a:prstGeom>
          <a:noFill/>
        </p:spPr>
        <p:txBody>
          <a:bodyPr wrap="square" lIns="0" tIns="0" rIns="0" bIns="0">
            <a:spAutoFit/>
          </a:bodyPr>
          <a:lstStyle/>
          <a:p>
            <a:pPr>
              <a:defRPr sz="1250" b="1">
                <a:solidFill>
                  <a:srgbClr val="1E3A8A"/>
                </a:solidFill>
                <a:latin typeface="Microsoft YaHei"/>
              </a:defRPr>
            </a:pPr>
            <a:r>
              <a:t>共识三：生产级安全与多卡一致性</a:t>
            </a:r>
          </a:p>
          <a:p>
            <a:pPr>
              <a:spcBef>
                <a:spcPts val="100"/>
              </a:spcBef>
              <a:spcAft>
                <a:spcPts val="300"/>
              </a:spcAft>
              <a:defRPr sz="1000" b="1">
                <a:solidFill>
                  <a:srgbClr val="475569"/>
                </a:solidFill>
                <a:latin typeface="Microsoft YaHei"/>
              </a:defRPr>
            </a:pPr>
            <a:r>
              <a:t>[杜绝错误消费与死锁风险]</a:t>
            </a:r>
          </a:p>
          <a:p>
            <a:pPr>
              <a:lnSpc>
                <a:spcPct val="122000"/>
              </a:lnSpc>
              <a:spcBef>
                <a:spcPts val="200"/>
              </a:spcBef>
              <a:defRPr sz="1100">
                <a:solidFill>
                  <a:srgbClr val="0F172A"/>
                </a:solidFill>
                <a:latin typeface="Microsoft YaHei"/>
              </a:defRPr>
            </a:pPr>
            <a:r>
              <a:t>引入严格的多维语义身份与显式租约机制，彻底消除半写、陈旧或失效缓存被错误读取；张量并行 (TP=8) 多卡原子保序，杜绝集合通信死等。</a:t>
            </a:r>
          </a:p>
        </p:txBody>
      </p:sp>
      <p:sp>
        <p:nvSpPr>
          <p:cNvPr id="11" name="Rectangle 10"/>
          <p:cNvSpPr/>
          <p:nvPr/>
        </p:nvSpPr>
        <p:spPr>
          <a:xfrm>
            <a:off x="6202375" y="4407408"/>
            <a:ext cx="5440680" cy="1719072"/>
          </a:xfrm>
          <a:prstGeom prst="rect">
            <a:avLst/>
          </a:prstGeom>
          <a:solidFill>
            <a:srgbClr val="ECFDF5"/>
          </a:solidFill>
          <a:ln w="15240">
            <a:solidFill>
              <a:srgbClr val="A7F3D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6339535" y="4498848"/>
            <a:ext cx="5166360" cy="1536192"/>
          </a:xfrm>
          <a:prstGeom prst="rect">
            <a:avLst/>
          </a:prstGeom>
          <a:noFill/>
        </p:spPr>
        <p:txBody>
          <a:bodyPr wrap="square" lIns="0" tIns="0" rIns="0" bIns="0">
            <a:spAutoFit/>
          </a:bodyPr>
          <a:lstStyle/>
          <a:p>
            <a:pPr>
              <a:defRPr sz="1250" b="1">
                <a:solidFill>
                  <a:srgbClr val="047857"/>
                </a:solidFill>
                <a:latin typeface="Microsoft YaHei"/>
              </a:defRPr>
            </a:pPr>
            <a:r>
              <a:t>共识四：阶段门禁与安全止损</a:t>
            </a:r>
          </a:p>
          <a:p>
            <a:pPr>
              <a:spcBef>
                <a:spcPts val="100"/>
              </a:spcBef>
              <a:spcAft>
                <a:spcPts val="300"/>
              </a:spcAft>
              <a:defRPr sz="1000" b="1">
                <a:solidFill>
                  <a:srgbClr val="475569"/>
                </a:solidFill>
                <a:latin typeface="Microsoft YaHei"/>
              </a:defRPr>
            </a:pPr>
            <a:r>
              <a:t>[4~5 周敏捷验证控制风险]</a:t>
            </a:r>
          </a:p>
          <a:p>
            <a:pPr>
              <a:lnSpc>
                <a:spcPct val="122000"/>
              </a:lnSpc>
              <a:spcBef>
                <a:spcPts val="200"/>
              </a:spcBef>
              <a:defRPr sz="1100">
                <a:solidFill>
                  <a:srgbClr val="0F172A"/>
                </a:solidFill>
                <a:latin typeface="Microsoft YaHei"/>
              </a:defRPr>
            </a:pPr>
            <a:r>
              <a:t>先以 4～5 周原型测试摸清技术边界，严格依据 E0～E3 阶段判定标准逐级推进研发投入；设立严密 No-Go 止损机制，若无显著增量则安全缩项。</a:t>
            </a:r>
          </a:p>
        </p:txBody>
      </p:sp>
      <p:sp>
        <p:nvSpPr>
          <p:cNvPr id="13" name="Rectangle 12"/>
          <p:cNvSpPr/>
          <p:nvPr/>
        </p:nvSpPr>
        <p:spPr>
          <a:xfrm>
            <a:off x="548640" y="5943600"/>
            <a:ext cx="11094415" cy="676656"/>
          </a:xfrm>
          <a:prstGeom prst="rect">
            <a:avLst/>
          </a:prstGeom>
          <a:solidFill>
            <a:srgbClr val="FFFFFF"/>
          </a:solidFill>
          <a:ln w="19050">
            <a:solidFill>
              <a:srgbClr val="1D4ED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548640" y="5943600"/>
            <a:ext cx="73152" cy="676656"/>
          </a:xfrm>
          <a:prstGeom prst="rect">
            <a:avLst/>
          </a:prstGeom>
          <a:solidFill>
            <a:srgbClr val="1D4ED8"/>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713232" y="5998464"/>
            <a:ext cx="10820095" cy="566928"/>
          </a:xfrm>
          <a:prstGeom prst="rect">
            <a:avLst/>
          </a:prstGeom>
          <a:noFill/>
        </p:spPr>
        <p:txBody>
          <a:bodyPr wrap="square" lIns="0" tIns="0" rIns="0" bIns="0">
            <a:spAutoFit/>
          </a:bodyPr>
          <a:lstStyle/>
          <a:p>
            <a:pPr>
              <a:lnSpc>
                <a:spcPct val="125000"/>
              </a:lnSpc>
            </a:pPr>
            <a:r>
              <a:rPr sz="1200" b="1">
                <a:solidFill>
                  <a:srgbClr val="1D4ED8"/>
                </a:solidFill>
                <a:latin typeface="Microsoft YaHei"/>
              </a:rPr>
              <a:t>【核心结论】 </a:t>
            </a:r>
            <a:r>
              <a:rPr sz="1200" b="1">
                <a:solidFill>
                  <a:srgbClr val="1E3A8A"/>
                </a:solidFill>
                <a:latin typeface="Microsoft YaHei"/>
              </a:rPr>
              <a:t>立项建议与交流：</a:t>
            </a:r>
            <a:r>
              <a:rPr sz="1150" b="0">
                <a:solidFill>
                  <a:srgbClr val="0F172A"/>
                </a:solidFill>
                <a:latin typeface="Microsoft YaHei"/>
              </a:rPr>
              <a:t>建议评审委员会批准启动第一阶段 </a:t>
            </a:r>
            <a:r>
              <a:rPr sz="1150" b="1">
                <a:solidFill>
                  <a:srgbClr val="DC2626"/>
                </a:solidFill>
                <a:latin typeface="Microsoft YaHei"/>
              </a:rPr>
              <a:t>4～5 周敏捷原型验证</a:t>
            </a:r>
            <a:r>
              <a:rPr sz="1150" b="0">
                <a:solidFill>
                  <a:srgbClr val="0F172A"/>
                </a:solidFill>
                <a:latin typeface="Microsoft YaHei"/>
              </a:rPr>
              <a:t>，以客观实测数据为依据安全可控推进研发！</a:t>
            </a:r>
            <a:r>
              <a:rPr sz="1150" b="1">
                <a:solidFill>
                  <a:srgbClr val="1D4ED8"/>
                </a:solidFill>
                <a:latin typeface="Microsoft YaHei"/>
              </a:rPr>
              <a:t>欢迎各位领导与评审专家提问与交流 (Q &amp; A)。</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