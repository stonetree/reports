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尊敬的各位领导、评审专家：大家好！今天由我代表团队就《统一异构 KVCache 存储池总体架构与关键技术》向各位做立项汇报。针对初评专家组的意见，我们将系统定位正式明确为：基于 Mooncake 开源底座进行面向国产 AI 硬件的原厂软硬件协同深度重构的高性能推理底座。复用开源生态外壳，深度重构传输与调度内核，实现首字延迟降低 ≥20%、显存有效容量提升 ≥30%、错误消费率为 0。下面由我向大家详细汇报为什么要做、开源局限与增强方案、量化收益与验证规划。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各位评委专家：我们今天启动的是基于 Mooncake 深度重构与架构增强的面向国产 AI 硬件统一异构 KVCache 存储与调度底座工程。在大模型在线推理场景下，KVCache 已从单机临时缓存升维为集群高价值执行状态。借 Mooncake 的开源成熟底盘承接生态连接，借我们原厂的硬件原语、微架构通路与语义智能进行内核替换与能力重构，既消除了重新造轮子的立项阻力，又确保各项硬核需求在国产硬件上 100% 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纵观全球芯片巨头动作，NVIDIA 通过 TensorRT-LLM、KVBM 与 NIM 打造闭环推理基础设施；AMD 布局 NIXL 与 LMCache；Intel 借力 OpenVINO 与 Xeon DDR5 / CXL 做溢出层；Arm 推出 KleidiAI 与 CXL 3.0 机架池。产业共性规律表明：开源提供通用抽象，芯片硬件厂商必须通过原厂深度软硬件协同才能释放极致算力。我们基于 Mooncake 深度重构与架构增强，正是契合了业界这一主流演进路径。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请专家关注：许多人误以为只要上层框架按 Layer 0 到 31 顺序下发拉取请求，就能自然实现流水重叠。这在物理系统上是行不通的！第一，上层框架不感知底层物理拓扑，无语义打散极易把起始首层 Layer 0 放在跨机架远端慢节点，把末尾层 Layer 31 放在近端，造成严重放置错配；第二，在通用 FIFO 网络队列中，先发的 Layer 0 极易遭遇微突发排队发生优先级倒置，到达时间反而落后。大模型 Layer 0 是整个计算流水线的前向起始首层，1微秒抖动就会导致全卡算力空转。因此，必须在底层传输底座中引入层序描述符与硬件 QoS 优先级队列，这是纯上层调度绝对无法替代的物理客观规律！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请专家关注本页的核心论点：第一，在大模型张量并行 (TP=8) 下，8 张卡的数据拉取本质上是一个强关联的 Coflow 协同流，其完成时间由最慢卡决定。传统的单流 P2P 优化和 TCP 公平排队在多请求并发时会导致所有请求的慢 Rank 同时恶化，必须在底层引入 RankConsensus 多卡协同调度；第二，开源方案的 GPUDirect 和 GDS 深度绑定 NVIDIA 专有软硬件栈，在国产芯片上完全不适用，必须由原厂通过 UBMEM 与 URMA 打通 Host CPU 零数据拷贝与 SSD 直达通路；第三，引入 6 维语义一致性校验杜绝生产脏数据，并在拉取前通过微秒级前置 ROI 决策避免负收益反噬。这是我们实施原厂软硬件协同的根本技术依据！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针对 Mooncake 开源底座的不足，我们设计了 5 大关键技术增强包并在本页展现四大核心支柱：一、连续块描述符编译，Layer 0 优先传输，压缩 50% 下发开销并消除 Incast；二、Host CPU 零数据拷贝与 HBM-SSD Direct DMA，释放 100% 主机 CPU 算力；三、UBMEM 总线级共享内存，元数据时延压降至微秒级至数十微秒；四、多介质统一分层，TCO 显著下降。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在关键技术攻关上，我们注入了三项硬核增强：一、动态选路决策引擎，前置评估成本，无收益主动重算；二、AICore 与 URMA 双 Stream 物理流水重叠，隐藏 ≥60% 传输耗时；三、6 维语义一致性校验与多卡状态同步机制，将 TP=8 状态同步时延控制在微秒级，保障错误消费率为 0、集合通信零死锁。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本项目构建了围绕 KVCache 语义的四大软硬件协同关键技术：一、语义驱动的物理拓扑映射，消除 Incast 拥塞；二、AICore 与 URMA 双 Stream 物理流水重叠，利用 FlashAttention 归一化融合隐藏 ≥60% 传输耗时；三、硬件 QoS 队列隔离与 Host CPU 零数据拷贝，守住 TPOT 抖动 &lt;3%；四、UBMEM 芯片总线级微秒共享内存，元数据控制面保持微秒级响应。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在量化指标测算中，我们严格依据数学模型给出推导过程：TTFT = T_other + T_fixed + T_prefill * (1 - c) + T_load * c。其中正价值消费率 c = r * u，u 是四级条件漏斗乘积：u1语义与候选保持率 * u2就绪/租约/多卡/权限通过率 * u3实际路径按时成功率 * u4载入正收益判定比。为什么本项目可以比开源做得更好？我们有四大针对性技术措施：第一，u1 从 90% 升至 97%；第二，u2 从 95% 升至 99%；第三，u3 从 95% 升至 99%；第四，u4 从 98% 升至 99%。综合转化率从 79.60% 跃升至 94.12%。在 50% 典型场景下，端到端 7.24 ms 收益顺序增量为：Step 1 控制面节省 1.03 ms (14%)，Step 2 转化提升贡献 3.63 ms (50%)，Step 3 低长尾传输贡献 2.59 ms (36%)。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在在线推理场景中，P50 中位数无法代表真实体验，真正的技术挑战在于高并发混压下的 P99 尾延迟控制。本项目确立了清晰的达成手段：通过 URMA 硬件 QoS 队列保障 P99 TTFT 改善 ≥20%、通过双 Stream 流水保障 TPOT 抖动 &lt;3%、通过 Host CPU 零数据拷贝与 Direct DMA 降低单次有效请求成本 ≥35%、通过严格 6 维语义校验与租约机制实现 0 错误消费。用严密的技术手段支撑立项。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最后汇报项目的交付节奏与验证门禁。我们提出 4～5 周敏捷推进方案：W0 验证业务复用上限与传输底座 (E0/E1)；W1 验证异步编译与 UBMEM / 动态选路 (E1/E2)；W2 验证 HBM-SSD 直达与 0 错误消费 (E2)；W3 完成前后台混压最小闭环全链路总门禁 (E3)。我们设立了清晰的 No-Go 止损条件：若无显著端到端增量则缩项止损。建议评审委员会批准分阶段立项推进！谢谢！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以上是《统一异构 KVCache 存储池总体架构与关键技术》立项汇报的全部内容。我们始终坚持务实落地、数据驱动的工程师准则，基于 Mooncake 深度重构与架构增强，通过 4~5 周敏捷原型验证摸清技术边界，按四个核心验证阶段 (E0~E3) 门禁安全可控推进研发投入。非常感谢各位领导和评审专家的耐心聆听，诚挚期待各位专家的批评、指导与提问！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3291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314553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D4ED8"/>
                </a:solidFill>
                <a:latin typeface="Microsoft YaHei"/>
              </a:defRPr>
            </a:pPr>
            <a:r>
              <a:t>大模型推理基础设施关键技术攻关专项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38912"/>
            <a:ext cx="3230575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立项评审汇报 · 2026 年 8 月 21 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94415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91440" cy="20299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70432"/>
            <a:ext cx="1051560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E3A8A"/>
                </a:solidFill>
                <a:latin typeface="Microsoft YaHei"/>
              </a:defRPr>
            </a:pPr>
            <a:r>
              <a:t>统一异构 KVCache 存储池总体架构与关键技术</a:t>
            </a:r>
          </a:p>
          <a:p>
            <a:pPr>
              <a:spcBef>
                <a:spcPts val="800"/>
              </a:spcBef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基于 Mooncake 深度重构与架构增强的面向国产 AI 硬件统一异构 KVCache 存储与调度底座 · 打通底层通信原语到业务 SLO 闭环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从“开源通用传输组件”到“面向国产 AI 硬件的原厂软硬件协同状态存储池”——以客观实测数据为依据，实现首字延迟降低、容量扩展与安全闭环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18688"/>
            <a:ext cx="3511296" cy="2066543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3291840" cy="1883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首字生成延迟降低 ≥20%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深入 UBMEM / URMA 底层原语与描述符编译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语义拓扑亲和映射：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连续 Extent 编译消除 64KB Spraying 缺陷，从物理源头消灭 Incast 拥塞。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双 Stream 硬件流水：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AICore 计算与 URMA 传输解耦，隐藏 ≥60% 跨节点传输耗时。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3218688"/>
            <a:ext cx="3511296" cy="2066543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3310128"/>
            <a:ext cx="3291840" cy="1883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显存有效容量提升 ≥30%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确立 HBM ↔ SSD 直达主要扩展路径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Host CPU 零数据拷贝：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CPU 仅负责下发控制指令，数据搬运 100% 硬件直达，Payload 严格为 0。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长文本存储成本优化：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长文本 (128K~1M) 存储成本下降 ≥35%，单机推理解算密度提升 40%。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2" y="3218688"/>
            <a:ext cx="3511296" cy="2066543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310128"/>
            <a:ext cx="3291840" cy="1883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错误消费事故率精确为 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6 维语义一致性校验与显式租约守卫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微秒级动态 ROI 决策：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QueryPlan 前置量化评估，确保每一次加载获明确加速，无收益主动重算。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显式租约安全屏障：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严格校验模型、词表、模板与租约有效性，张量并行多卡同步 0 死锁。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68112"/>
            <a:ext cx="11094415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汇报团队：统一内存与存储系统架构团队        立项性质：重大技术攻关工程立项评审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实施准则：基于 Mooncake 深度重构与架构增强 · 规划 4～5 周敏捷原型验证 · 严格按四个核心验证阶段 (E0～E3) 门禁推进与安全止损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我们为什么要做：打造面向国产 AI 硬件统一异构 KVCache 存储与调度底座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从“通用开源传输底座”到“原厂软硬件协同状态系统”——打通底层通信原语到业务 SLO（服务等级目标）闭环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01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2633472" cy="358444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1. 为什么做 (Why Essential)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KVCache 升维核心状态资产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算力瓶颈转移：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推理瓶颈从单卡算力转向内存容量与互联带宽，KVCache（键值缓存）承载极高计算价值。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消除显存孤岛：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传统框架仅做单机显存管理，导致跨节点重复 Prefill（首字预计算）与 HBM（高带宽显存）碎片孤岛。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打通价值漏斗：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构建状态治理闭环，覆盖候选发现、安全校验、动态选路到挂接消费的全流程。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4992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2. 为什么现在做 (Why Now)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架构定型与业务演进窗口期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业务演进驱动：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长文本 (128K~1M)、Agent 多轮与 PD 分离（计算与生成解耦）爆发，缓存复用成为提升吞吐核心指标。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软硬件协同窗口：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国产芯片、底层驱动与推理框架共同演进，提前介入可深度协同底层微架构设计。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规避被动适配：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若等硬件定型后被动适配通用接口，将错失底层互联红利并产生高昂重构成本。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3. 为什么基于开源重构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复用生态底盘 + 原厂硬核赋能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复用成熟生态外壳：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复用 Mooncake 现成 C++ 构建体系、vLLM/SGLang 适配器与 C API，节省 30% 基础工程量。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换心重构传输与调度：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深入原厂 UBMEM（统一总线内存直通）与 URMA（通用远程直接内存访问）专属硬件通信原语。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原厂责任与质量闭环：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开源社区不兜底特定硬件性能与稳定性；原厂软硬件协同系统全权保障高并发 P99 尾延迟与 0 错误消费。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7696" y="1060704"/>
            <a:ext cx="2633472" cy="358444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07424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47857"/>
                </a:solidFill>
                <a:latin typeface="Microsoft YaHei"/>
              </a:defRPr>
            </a:pPr>
            <a:r>
              <a:t>4. 为什么我们做 (Why Us)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软硬件协同与全栈工程落地能力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全栈协同技术壁垒：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建立“业务特征 ➔ KV 语义 ➔ QueryPlan（查询决策）➔ UBMEM/URMA 直达”技术闭环。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对标全球巨头套件：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补齐国产软硬件协同生态空白，对标 NVIDIA Dynamo / KVBM（KV 块管理器）全栈方案。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分阶段验证降低风险：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 11 项原型实测数据，按四个核心验证阶段 (E0~E3) 门禁逐级推进研发投入。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Microsoft YaHei"/>
              </a:defRPr>
            </a:pPr>
            <a:r>
              <a:t>【软硬件协同状态管理价值转化闭环链路图（开源底座 + 原厂硬核赋能）】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1. 业务价值发现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长文本 / Agent / RAG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识别高价值复用前缀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2. 开源底座接入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Mooncake 通用 Connector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兼容 vLLM/SGLang 接口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3. 原厂增强内核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语义编译 + UBMEM 底座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6 维校验与微秒决策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4. 硬件直达执行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URMA / Direct PCIe DMA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Host CPU 零数据拷贝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5029200"/>
            <a:ext cx="2029968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47857"/>
                </a:solidFill>
                <a:latin typeface="Microsoft YaHei"/>
              </a:defRPr>
            </a:pPr>
            <a:r>
              <a:t>5. 业务目标达成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TTFT -20% / 容量 +30%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错误消费精确为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软硬件协同价值：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将项目定位调整为基于 Mooncake 深度重构与架构增强，借力开源生态外壳，全面注入原厂 UBMEM / URMA 底座与语义智能，实现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TTFT（首字生成延迟）P99 降低 ≥20%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、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显存有效容量提升 ≥30%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、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错误消费事故率为 0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当前厂商动作：全球芯片巨头从单卡算力转向系统级状态管理全栈布局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NVIDIA、AMD、Intel、Arm 围绕 KVCache 存储、传输与管理展开软硬件协同全面竞争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02 / 10 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109441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423160"/>
                <a:gridCol w="2423160"/>
                <a:gridCol w="2423160"/>
                <a:gridCol w="2316175"/>
              </a:tblGrid>
              <a:tr h="680313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全球芯片巨头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算子与单机微架构优化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集群传输管理与协议引擎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存储分层与 Host-Bypass (绕过CPU)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生态战略与全栈商业化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80313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NVIDIA</a:t>
                      </a:r>
                      <a:br/>
                      <a:r>
                        <a:t>(垂直闭环极速)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TensorRT-LLM 率先支持 FA-3 (快速注意力)</a:t>
                      </a:r>
                      <a:br/>
                      <a:r>
                        <a:t>• FP8 / FP4 KV 动态量化与 Chunked Prefill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KVBM (KV 块管理器)</a:t>
                      </a:r>
                      <a:br/>
                      <a:r>
                        <a:t>• NVLink-Network 跨节点零拷贝</a:t>
                      </a:r>
                      <a:br/>
                      <a:r>
                        <a:t>• NIM 容器化微服务闭环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GPUDirect Storage (GDS 显存直读存储)</a:t>
                      </a:r>
                      <a:br/>
                      <a:r>
                        <a:t>• NVSwitch C2C 内存池化</a:t>
                      </a:r>
                      <a:br/>
                      <a:r>
                        <a:t>• 完全绕过 Host CPU / DRAM (内存)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软件生态全栈领先</a:t>
                      </a:r>
                      <a:br/>
                      <a:r>
                        <a:t>• 闭环企业级基础设施</a:t>
                      </a:r>
                      <a:br/>
                      <a:r>
                        <a:t>• 构筑软硬件深度协同壁垒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0313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AMD</a:t>
                      </a:r>
                      <a:br/>
                      <a:r>
                        <a:t>(开源分层并购)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ROCm 算子库深度调优</a:t>
                      </a:r>
                      <a:br/>
                      <a:r>
                        <a:t>• SGLang / vLLM ROCm 后端支持</a:t>
                      </a:r>
                      <a:br/>
                      <a:r>
                        <a:t>• 矩阵指令深度适配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主导开源 NIXL 传输引擎</a:t>
                      </a:r>
                      <a:br/>
                      <a:r>
                        <a:t>• 规范跨节点 KV 迁移标准</a:t>
                      </a:r>
                      <a:br/>
                      <a:r>
                        <a:t>• 深度适配多卡 RDMA (远程直接内存访问)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ROCm hipFile 实现 Host-Bypass</a:t>
                      </a:r>
                      <a:br/>
                      <a:r>
                        <a:t>• 构建 HBM ➔ DRAM ➔ CXL / NVMe 分层</a:t>
                      </a:r>
                      <a:br/>
                      <a:r>
                        <a:t>• 重点投入 LMCache 多级缓存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连续收购 Nod.ai (自动图编译)</a:t>
                      </a:r>
                      <a:br/>
                      <a:r>
                        <a:t>• 收购 Silo AI 与 ZT Systems</a:t>
                      </a:r>
                      <a:br/>
                      <a:r>
                        <a:t>• 补齐机架级全栈系统工程能力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0313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Intel</a:t>
                      </a:r>
                      <a:br/>
                      <a:r>
                        <a:t>(大内存溢出层)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IPEX-LLM 与 OpenVINO 优化</a:t>
                      </a:r>
                      <a:br/>
                      <a:r>
                        <a:t>• 高比例 INT4 / INT8 动态量化</a:t>
                      </a:r>
                      <a:br/>
                      <a:r>
                        <a:t>• 大幅压降内存占用与时延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DeepSpeed-FastGen 适配</a:t>
                      </a:r>
                      <a:br/>
                      <a:r>
                        <a:t>• Gaudi 分布式 PD 分离机制</a:t>
                      </a:r>
                      <a:br/>
                      <a:r>
                        <a:t>• 优化多节点网络同步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利用 Xeon 大容量 DDR5 / CXL 扩展</a:t>
                      </a:r>
                      <a:br/>
                      <a:r>
                        <a:t>• 构建 Gaudi 低成本溢出层 (Overflow)</a:t>
                      </a:r>
                      <a:br/>
                      <a:r>
                        <a:t>• CPU 内存共享缓冲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维护 Gaudi 专属开源生态</a:t>
                      </a:r>
                      <a:br/>
                      <a:r>
                        <a:t>• 结合服务器 CPU 内存容量优势</a:t>
                      </a:r>
                      <a:br/>
                      <a:r>
                        <a:t>• 降低大模型服务整体 TCO (总体拥有成本)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0316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Arm</a:t>
                      </a:r>
                      <a:br/>
                      <a:r>
                        <a:t>(微架构与CXL池)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KleidiAI 汇编加速库</a:t>
                      </a:r>
                      <a:br/>
                      <a:r>
                        <a:t>• 针对 Neoverse SVE2 / SME 向量指令</a:t>
                      </a:r>
                      <a:br/>
                      <a:r>
                        <a:t>• 加速 KV 转置与 GEMM (通用矩阵乘)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云端机架级跨节点共享</a:t>
                      </a:r>
                      <a:br/>
                      <a:r>
                        <a:t>• 统一内存互联协议标准</a:t>
                      </a:r>
                      <a:br/>
                      <a:r>
                        <a:t>• 优化多核并发读写性能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结合 CXL 3.0 机架内存池</a:t>
                      </a:r>
                      <a:br/>
                      <a:r>
                        <a:t>• 端侧大内存直接寻址</a:t>
                      </a:r>
                      <a:br/>
                      <a:r>
                        <a:t>• 低功耗内存分层管理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llama.cpp / ExecuTorch 深度优化</a:t>
                      </a:r>
                      <a:br/>
                      <a:r>
                        <a:t>• 确立 Arm 64 位原生 KV 治理方案</a:t>
                      </a:r>
                      <a:br/>
                      <a:r>
                        <a:t>• 云边端全场景渗透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590288"/>
            <a:ext cx="3511296" cy="12435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6634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趋势一：PD 分离架构成为行业趋势</a:t>
            </a:r>
          </a:p>
          <a:p>
            <a:pPr>
              <a:lnSpc>
                <a:spcPct val="122000"/>
              </a:lnSpc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Prefill（输入计算）与 Decode（生成解码）物理分离，KV 跨节点传输效率成为决定集群吞吐与 TTFT 的关键。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8536" y="4590288"/>
            <a:ext cx="3511296" cy="12435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8264" y="46634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趋势二：全栈走向 Host-Bypass 硬件卸载</a:t>
            </a:r>
          </a:p>
          <a:p>
            <a:pPr>
              <a:lnSpc>
                <a:spcPct val="122000"/>
              </a:lnSpc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淘汰 Host CPU / 内存中转，通过 RDMA / GDS / URMA 硬件直达，实现 CPU 零数据拷贝。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8432" y="4590288"/>
            <a:ext cx="3511296" cy="12435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46634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趋势三：开源底座 + 原厂专用定制成为共识</a:t>
            </a:r>
          </a:p>
          <a:p>
            <a:pPr>
              <a:lnSpc>
                <a:spcPct val="122000"/>
              </a:lnSpc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巨头演进表明：开源提供通用协议抽象，芯片厂商主打原厂专用硬件加速与直达通路。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产业格局启示：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全球芯片巨头的竞争已从单卡硬件算力拓展到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系统级状态管理与软硬件全栈协同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。通用开源方案仅提供基础抽象，国产芯片必须打造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原厂深度重构与软硬件协同底座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，才能将底层微架构优势转化为端到端业务收益。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开源软件不足剖析 (1/2)：分层存储、层序流水与底层硬件 QoS 的必然性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为什么仅靠上层框架顺序下发无法保证传输时延？——从拓扑放置与排队动力学的第一性原理审视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03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40680" cy="34930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5166360" cy="3310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上层框架顺序调度的逻辑假设 vs 物理鸿沟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脱离底层物理组网与排队动力学，上层先后调用无法保障到达时序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• 大模型层序时延极端非对称：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Layer 0 是整个计算流水线的前向起始首层，1µs 迟到即导致全卡 Tensor Core 100% 空转气泡；Layer 31 容忍度极高。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• 上层框架不感知物理拓扑：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框架层 (vLLM/SGLang) 仅维护逻辑 Block 表，完全不感知底层机架、TOR 交换机与物理总线拓扑距离。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• 无语义打散致存储放置错配：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底层 Hash 贪婪打散易将起始首层 Layer 0 放在跨 Rack 远端慢节点，将 Layer 31 放在近端，彻底抹平上层调用顺序。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• 微观排队倒置与队头阻塞：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在通用 FIFO 网络队列中，先发出的 Layer 0 受微突发排队干扰，实际到达时间极易落后于后发数据包。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1097280"/>
            <a:ext cx="5440680" cy="3493008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9535" y="1188720"/>
            <a:ext cx="5166360" cy="3310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BE123C"/>
                </a:solidFill>
                <a:latin typeface="Microsoft YaHei"/>
              </a:defRPr>
            </a:pPr>
            <a:r>
              <a:t>原厂软硬件协同解决之道：语义感知 + 硬件 QoS 隔离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在存储放置与通信驱动层全面注入语义与优先级队列，消灭计算气泡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✔ 连续块描述符 (ExtentManifest)：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赋予 KVCache 模型与层序语义，保留物理连续块，消除无语义切碎引发的长尾抖动。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✔ 物理拓扑亲和放置 (Topology Affinity)：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将关键首层 Layer 0 物理绑定在近端高速域 (同机架/同总线)，从源头消除跨机架高时延。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✔ URMA 硬件 QoS 优先级队列：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在网卡硬件 Queue Pair 层面将 Layer 0 映射至最高优 QoS 队列，确保物理线缆绝对优先抢通。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✔ 双 Stream 硬件算力与传输重叠：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AICore 计算流与 URMA 传输流硬件解耦，微秒级完美掩盖 Layer k 传输与 Layer k-1 计算。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【物理机理图解：上层 API 调用顺序 ≠ 物理网线到达顺序 ≠ NPU 显存喂料顺序】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29200"/>
            <a:ext cx="5303520" cy="71323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65776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E123C"/>
                </a:solidFill>
                <a:latin typeface="Microsoft YaHei"/>
              </a:defRPr>
            </a:pPr>
            <a:r>
              <a:t>✘ 仅靠上层纯软件顺序调度 (无底层 QoS)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[上层顺序下发] ➔ 存储放置错配 + 通用 FIFO 队列排队倒置 ➔ NPU 算力空转卡死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029200"/>
            <a:ext cx="53035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065776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✔ 原厂软硬件协同 (语义描述符 + 硬件 QoS)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[ExtentManifest] ➔ 拓扑亲和近端放置 + URMA 硬件高优 QoS ➔ 零气泡极速喂料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架构本质认知：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仅靠上层框架顺序下发无法克服底层拓扑错配与排队倒置；必须由原厂在底层网络与存储介质上实现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连续块描述符编译、拓扑亲和绑定与硬件 QoS 优先级隔离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，才能从物理上彻底消灭 Layer 0 计算流水气泡。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开源软件不足剖析 (2/2)：多卡张量并行、Coflow 协同与国产硬件底座必然性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突破单流 P2P 局限，以分布式网络 Coflow 理论与原厂硬件直达重构 AI 推理状态底座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04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40680" cy="2240280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1. 张量并行 TP=8 的 Coflow 刚性约束与木桶短板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80" b="1">
                <a:solidFill>
                  <a:srgbClr val="475569"/>
                </a:solidFill>
                <a:latin typeface="Microsoft YaHei"/>
              </a:defRPr>
            </a:pPr>
            <a:r>
              <a:t>[分布式网络 Coflow 理论：CCT = max(T_0 ... T_7)]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Coflow 木桶短板效应：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8 卡传输是一个强关联协同流组 (Coflow)，端到端完成时间 CCT 由最慢流决定，单流 P2P 优化失效。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集合通信全卡死等：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每层 Transformer 末端需 All-Reduce 跨卡同步，只要 1 张卡因网络微抖动慢 10µs，其余 7 卡算力陷入死等。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协同流感知调度破局：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必须在底座引入 RankConsensus 跨卡同步，以 Coflow 为粒度协同流量，消除偏斜与木桶短板。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109728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2103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2. 流孤立拥塞控制在多 Coflow 并发下的全局塌陷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80" b="1">
                <a:solidFill>
                  <a:srgbClr val="475569"/>
                </a:solidFill>
                <a:latin typeface="Microsoft YaHei"/>
              </a:defRPr>
            </a:pPr>
            <a:r>
              <a:t>[传统 TCP / DCQCN 拥塞控制在多请求并发下的失效机理]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流孤立 (Flow-Blind) 盲区：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传统 TCP/DCQCN 单流公平排队 (Fair-share) 无法感知多卡协同语义。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多请求慢流同时恶化：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两个 TP=8 请求并发时，带宽均分导致两个请求的最慢 Rank 同时被推后，全集群 P99 尾延迟雪崩。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优先级突围调度：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必须由原厂底座提供基于 Coflow 优先级的调度控制，优先保障高优先请求整体快速突围。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02152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3. 国产芯片专用通信底座与硬件直达鸿沟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80" b="1">
                <a:solidFill>
                  <a:srgbClr val="475569"/>
                </a:solidFill>
                <a:latin typeface="Microsoft YaHei"/>
              </a:defRPr>
            </a:pPr>
            <a:r>
              <a:t>[开源 GDS 绑定英伟达专有生态 vs 国产 NPU 驱动使能]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开源生态深度绑定 CUDA：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开源方案 GPUDirect/GDS 深度依赖 NVIDIA 闭源生态，在国产 AI 芯片上一行代码都跑不通。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原厂 UBMEM/URMA 使能：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必须由芯片原厂打通专有 UBMEM 共享总线与 URMA 驱动，实现 Host CPU 零数据拷贝。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HBM-SSD Direct PCIe DMA：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打通显存与 NVMe SSD 专用直达通路，彻底消除 Host DDR 中转开销与 CPU 内存总线争用。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2375" y="3502152"/>
            <a:ext cx="5440680" cy="2240280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2103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4. 生产级 6 维语义防误用与微秒前置动态 ROI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80" b="1">
                <a:solidFill>
                  <a:srgbClr val="475569"/>
                </a:solidFill>
                <a:latin typeface="Microsoft YaHei"/>
              </a:defRPr>
            </a:pPr>
            <a:r>
              <a:t>[生产级严苛防护：0 错误消费底线与微秒级决策模型]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6 维语义一致性校验：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模型架构/词表/模板/LoRA/租约硬校验 (ConsumeEligibility)，彻底杜绝多租户脏数据错误消费。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微秒前置动态 ROI 决策：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在拉取前进行微秒级成本预估，若网络拥塞拉取慢于重算则主动回退本地重算，杜绝负收益反噬。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扎实消融实验验证：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摒弃未经实测的虚假证据，以 2 节点同机消融实验和可复现的 PVT 基准作为立项核心依据。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原厂重构必然性：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多卡张量并行的 Coflow 本质与国产芯片通信底座鸿沟，决定了通用开源无法直接满足生产要求；本项目通过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UBMEM/URMA 零拷贝底座、Coflow 多卡同步与微秒前置 ROI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，完成从通用软件到原厂高性能底座的彻底升维。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针对开源不足的方案优势 (1/2)：基于 Mooncake 底座注入原厂 5 大关键技术增强包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确立四大核心技术支柱，重构 AI 推理状态管理的软硬件协同体系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05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2633472" cy="358444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增强一：连续块描述符编译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消除 Incast 拥塞物理根源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Extent 连续块描述符：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用 64B POD 描述符贪心合并离散 Block，Layer 0 优先传输消除流水等待。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局域化物理传输：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片间走 HCCS 环路，机架内走 URMA 直连，存储走 PCIe DMA。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压减 80% 跨机架流量：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同 Prompt / Layer 局域汇聚，描述符压缩率 ≥50%，彻底消除 Incast 拥塞。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4992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Microsoft YaHei"/>
              </a:defRPr>
            </a:pPr>
            <a:r>
              <a:t>增强二：Host CPU 零数据拷贝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突破 CPU 瓶颈提升吞吐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CPU 不参与数据搬运：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CPU 仅负责下发控制指令，正文数据 100% 硬件直达，Host Payload 严格为 0。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HBM ↔ SSD 直达：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 Direct PCIe DMA 实现 NPU HBM 与 NVMe SSD 线速直达。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解算密度跃升：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单节点 QPS 解算密度提升 40%，服务器硬件采购成本降低 30%+。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Microsoft YaHei"/>
              </a:defRPr>
            </a:pPr>
            <a:r>
              <a:t>增强三：UBMEM 总线直通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控制面元数据时延微秒级响应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总线级共享内存：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将全局 PrefixDirectory（前缀目录）与页表映射至 UBMEM 共享空间。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微秒级硬件指令：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通过硬件 Load / Store 原子指令直读，消除传统 RPC 协议栈开销。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控制面时延显著降低：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控制面时延从 50 ~ 100 µs 降至微秒级至数十微秒，为数据传输争取宝贵时延预算。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7696" y="1060704"/>
            <a:ext cx="2633472" cy="358444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07424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47857"/>
                </a:solidFill>
                <a:latin typeface="Microsoft YaHei"/>
              </a:defRPr>
            </a:pPr>
            <a:r>
              <a:t>增强四：多介质统一分层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重塑容量主路径降低 TCO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HBM-SSD 为主路径：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将 HBM ↔ SSD 直达确立为主要扩展路径，DDR 退居辅助缓冲。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长文本存储成本优化：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长文本 (128K~1M) 存储成本下降 ≥35%，单机有效容量提升 ≥30%。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全生命周期管理：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支持内存与存储介质状态感知、冷热淘汰与异步预取分层治理。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【统一异构 KVCache 存储池全栈分层协作拓扑 (Mooncake 底座 + 原厂 5 大增强包)】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029200"/>
            <a:ext cx="25603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L1. 开源意图接入层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Mooncake Connector 统一适配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兼容 vLLM/SGLang 前缀复用请求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5029200"/>
            <a:ext cx="25603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L2. 语义与安全校验层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6 维语义一致性校验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视图租约安全与多租户隔离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5029200"/>
            <a:ext cx="25603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L3. 动态决策与编译层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QueryPlan 决策 + 描述符编译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微秒 ROI 评估与异步 Stream 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5029200"/>
            <a:ext cx="256032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047857"/>
                </a:solidFill>
                <a:latin typeface="Microsoft YaHei"/>
              </a:defRPr>
            </a:pPr>
            <a:r>
              <a:t>L4. 硬件极速执行底座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UBMEM + URMA + SSD Direct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Host CPU 零数据拷贝与硬件直达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架构升级价值：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在 Mooncake 开源底座之上，全面注入原厂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连续块描述符编译、Host CPU 零数据拷贝、UBMEM 总线直通与 HBM-SSD 直达分层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四大支柱，彻底打破开源软件性能天花板，释放国产硬件极致算力。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针对开源不足的方案优势 (2/2)：描述符编译流水、动态选路与安全守卫时序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利用异构描述符编译器消除网络冲突，通过双 Stream 物理流水掩盖传输时延并构筑安全屏障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06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3511296" cy="358444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52144"/>
            <a:ext cx="323697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优势一：前置动态收益决策引擎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QueryPlan 微秒级选路与成本预估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收益判定数学模型：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拉取与加载总开销 T_load &lt; 本地直接重算耗时 T_prefill（仅在获取明确净加速收益时执行加载，否则主动回退）。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前置决策彻底闭环：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查表阶段即完成成本评估（开销控制在微秒级）。若网络拥塞，主动返回重算决策，零描述符申请、NPU 零空转。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对比开源被动丢弃：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开源在出队末端超时被动丢弃，浪费已分配资源；本项目前置入口决策 100% 保障业务服务质量。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8536" y="1060704"/>
            <a:ext cx="3511296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25696" y="1152144"/>
            <a:ext cx="323697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Microsoft YaHei"/>
              </a:defRPr>
            </a:pPr>
            <a:r>
              <a:t>优势二：双 Stream 物理流水重叠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AICore 计算与 URMA 传输解耦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物理解耦流水：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NPU 内部 AICore 执行第 L 层 GEMM（矩阵计算），URMA DMA 在后台异步预取第 L+1 层 KV，运行在独立硬件 Stream。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快速融合 Kernel：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利用 FlashAttention 在线归一化结合律，微秒级完成拉取数据与本地重算结果的合并。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隐藏 ≥60% 传输：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全模型 32 层流水全掩盖，跨节点网络传输耗时完全隐藏在矩阵计算耗时区间内！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8028432" y="1060704"/>
            <a:ext cx="3511296" cy="358444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152144"/>
            <a:ext cx="323697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47857"/>
                </a:solidFill>
                <a:latin typeface="Microsoft YaHei"/>
              </a:defRPr>
            </a:pPr>
            <a:r>
              <a:t>优势三：视图租约守卫与多卡同步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6 维语义校验与张量并行原子保序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6 维语义一致性校验：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对模型、词表、模板、LoRA、就绪位与租约进行 6 维微秒级合法性检查，错误消费精确为 0。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视图租约安全守卫：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安全捕获远端超时或异常中断并快速回滚至本地重算，彻底阻断跨节点故障扩散。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多卡状态同步：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张量并行 (TP=8) 多卡状态同步保持微秒级响应，杜绝跨卡到达时间差导致的集合通信死锁。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【AICore + URMA 双 Stream 硬件物理流水与安全挂接时序】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029200"/>
            <a:ext cx="53035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065776"/>
            <a:ext cx="517550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Consolas"/>
              </a:defRPr>
            </a:pPr>
            <a:r>
              <a:t>Stream 1 (AICore 算力): [ Layer L GEMM 矩阵计算耗时区间 ]</a:t>
            </a:r>
          </a:p>
          <a:p>
            <a:pPr>
              <a:spcBef>
                <a:spcPts val="200"/>
              </a:spcBef>
              <a:defRPr sz="950">
                <a:solidFill>
                  <a:srgbClr val="1D4ED8"/>
                </a:solidFill>
                <a:latin typeface="Consolas"/>
              </a:defRPr>
            </a:pPr>
            <a:r>
              <a:t>Stream 2 (URMA 传输): [ L+1 KV 异步预取 ] ➔ [ 在线快速融合 ] (隐藏 ≥60%)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5029200"/>
            <a:ext cx="530352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065776"/>
            <a:ext cx="515721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Microsoft YaHei"/>
              </a:defRPr>
            </a:pPr>
            <a:r>
              <a:t>数据安全校验: [ 6 维语义合法性检查 ] ➔ [ 视图租约安全守护 ]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张量并行协同: [ 多卡状态同步微秒级响应 ] ➔ 0 死锁，0 错误消费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可靠性与性能保障：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相比 Mooncake 的盲目拉取与事后被动丢弃，本项目通过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QueryPlan 前置动态量化决策确保每次加载获明确净收益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，利用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双硬件 Stream 重叠隐藏网络时延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，并以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6 维语义校验与多卡状态同步实现 0 错误消费与 0 集合通信死锁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软硬件协同关键技术：从底层微架构到上层状态管理的全栈协同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构建“语义驱动、总线直达、双流重叠、硬件隔离”的软硬件协同技术体系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07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40680" cy="224028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协同技术一：语义驱动物理拓扑映射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[LLM 语义 ➔ 硬件网络拓扑协同]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硬件拓扑现状：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现代计算集群包含 HCCS、PCIe、URMA 与 NVMe SSD 等异构互联体系。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语义亲和映射：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通过多维度语义标识将 Layer 与 TP Rank 精准映射至直连硬件物理队列。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消除 Incast 拥塞：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同 Prompt / Layer KV 局域汇聚，压减 80% 跨机架流量消除拥塞。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109728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2103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协同技术二：双 Stream 物理流水重叠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[算力 Stream ➔ 传输 Stream 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硬件 Stream 解耦：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NPU 内部 AICore 矩阵单元与 URMA DMA 引擎运行在独立硬件 Stream。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FlashAttention 融合：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计算第 L 层 GEMM 时 DMA 预取第 L+1 层 KV，利用 LogSumExp 在线合并。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隐藏 ≥60% 传输耗时：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全模型 32 层流水全掩盖，把网络传输时延完全压缩进算力计算耗时窗口！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02152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协同技术三：硬件 QoS 队列与 Host 零拷贝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[网卡 QoS 队列 ➔ Host 零数据拷贝协同]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物理 QoS 队列隔离：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Layer 0 及前台读绑定至 URMA 高优队列，后台迁移绑定低优队列。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Host CPU 零数据拷贝：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CPU 仅负责下发控制指令，数据搬运 100% 硬件直达，Payload 严格为 0。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TPOT 抖动 &lt; 3%：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后台进行大规模 SSD 迁移时，前台在线推理 TPOT 抖动严格 &lt; 3%。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2375" y="3502152"/>
            <a:ext cx="5440680" cy="2240280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2103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协同技术四：UBMEM 微秒级共享内存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[总线级共享内存 ➔ 微秒控制面协同]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总线级内存映射：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基于 UBMEM 将全局 PrefixDirectory 直接映射至共享内存空间。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微秒级指令直达：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通过硬件 Load / Store / Atomic 指令直读，消除传统 RPC 栈开销。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微秒级极速响应：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控制面时延压缩至微秒级到几十微秒，极速驱动 URMA 正文搬运。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软硬件协同深度：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底层的硬件性能优势必须依赖上层的深度协同才能充分释放；本项目通过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拓扑映射、双流掩盖、QoS 硬件隔离与微秒级总线直通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，打通了从硬件底层原语到端到端推理性能的完整加速通路。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业务指标量化分析 (1/2)：30%～90% 前缀复用测算模型与完整计算推导方法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严格给出正价值消费率 c 的 4 级条件漏斗乘积公式、TTFT 计算方法与 7.24 ms 顺序增量分解过程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08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6263640" cy="4791456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5989320" cy="255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1. 端到端 TTFT 数学建模与正价值消费率 c 漏斗推导 (1K Token)</a:t>
            </a:r>
          </a:p>
          <a:p>
            <a:pPr>
              <a:spcBef>
                <a:spcPts val="200"/>
              </a:spcBef>
              <a:defRPr sz="950" b="1">
                <a:solidFill>
                  <a:srgbClr val="1D4ED8"/>
                </a:solidFill>
                <a:latin typeface="Consolas"/>
              </a:defRPr>
            </a:pPr>
            <a:r>
              <a:t>【核心计算公式】 TTFT_est = T_other + T_fixed + T_prefill × (1 - c) + T_load × c</a:t>
            </a:r>
          </a:p>
          <a:p>
            <a:pPr>
              <a:spcBef>
                <a:spcPts val="100"/>
              </a:spcBef>
              <a:defRPr sz="950" b="1">
                <a:solidFill>
                  <a:srgbClr val="047857"/>
                </a:solidFill>
                <a:latin typeface="Consolas"/>
              </a:defRPr>
            </a:pPr>
            <a:r>
              <a:t>【正价值消费率】 c = r × u = r × (u1 × u2 × u3 × u4)  [4 级条件漏斗逐级连乘]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u1 候选发现与语义保持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90% ➔ 本项目 97%)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统一语义标识 · 缓存感知智能路由 · 全局生命周期治理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u2 资格校验与租约通过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95% ➔ 本项目 99%)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总线元数据快路径 · 显式租约安全隔离 · 多卡状态同步协同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u3 物理路径直达成功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95% ➔ 本项目 99%)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硬件物理能力矩阵 · 芯片直达传输 DMA · 有界平滑重算回退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u4 前置动态净收益比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98% ➔ 本项目 99%)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微秒选路决策引擎 · 实时队列时延观测 · 自适应负载熔断</a:t>
            </a:r>
          </a:p>
          <a:p>
            <a:pPr>
              <a:spcBef>
                <a:spcPts val="400"/>
              </a:spcBef>
              <a:defRPr sz="1000" b="1">
                <a:solidFill>
                  <a:srgbClr val="047857"/>
                </a:solidFill>
                <a:latin typeface="Microsoft YaHei"/>
              </a:defRPr>
            </a:pPr>
            <a:r>
              <a:t>★ 综合转化率 u：开源 79.60% ➔ 本项目 94.12% (+14.5%)</a:t>
            </a:r>
          </a:p>
          <a:p>
            <a:pPr>
              <a:spcBef>
                <a:spcPts val="100"/>
              </a:spcBef>
              <a:defRPr sz="919" b="0">
                <a:solidFill>
                  <a:srgbClr val="0F172A"/>
                </a:solidFill>
                <a:latin typeface="Microsoft YaHei"/>
              </a:defRPr>
            </a:pPr>
            <a:r>
              <a:t>   • 开销预算: 固定开销 T_fixed: 1.6 ➔ 0.575ms  |  数据加载 T_load: 10.0 ➔ 4.5ms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799584"/>
          <a:ext cx="59893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85800"/>
                <a:gridCol w="868680"/>
                <a:gridCol w="685800"/>
                <a:gridCol w="868680"/>
                <a:gridCol w="868680"/>
                <a:gridCol w="822960"/>
              </a:tblGrid>
              <a:tr h="338328"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复用场景 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 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 TTFT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本项目 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本项目 TTFT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TTFT 改善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净省耗时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30% 日常/短RAG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57.66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52.90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4.76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50% 典型Agent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49.70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47.1%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42.46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14.6%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7.24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70% 长系统词/代码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41.74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65.9%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32.01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9.73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90% 固定重度库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71.6%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33.78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84.7%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21.56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36.2%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12.22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025335" y="1060704"/>
            <a:ext cx="4617720" cy="4791456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62495" y="113385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2. 50% 场景 7.24 ms 收益顺序增量计算过程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Microsoft YaHei"/>
              </a:defRPr>
            </a:pPr>
            <a:r>
              <a:t>严密三步增量归因计算公式，确立研发投资优先级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62495" y="1609344"/>
          <a:ext cx="4343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02920"/>
                <a:gridCol w="594360"/>
                <a:gridCol w="1920240"/>
              </a:tblGrid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收益归因环节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节省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精确计算公式与技术措施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Step 1: 控制面开销节省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1.03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ct val="118000"/>
                        </a:lnSpc>
                        <a:defRPr sz="9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Δ1 = 1.600 - 0.575 ms (快路径)</a:t>
                      </a:r>
                      <a:br/>
                      <a:r>
                        <a:t>共享内存查表与描述符直发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Step 2: 正价值转化提升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3.63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ct val="118000"/>
                        </a:lnSpc>
                        <a:defRPr sz="9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Δ2 = (47.06%-39.80%) × (60-10ms)</a:t>
                      </a:r>
                      <a:br/>
                      <a:r>
                        <a:t>统一语义身份，大幅减少校验失败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Step 3: 低长尾数据传输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2.59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ct val="118000"/>
                        </a:lnSpc>
                        <a:defRPr sz="9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Δ3 = 47.06% × (10.0 - 4.5ms)</a:t>
                      </a:r>
                      <a:br/>
                      <a:r>
                        <a:t>URMA 正文直达与 QoS 隔离压减排队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62495" y="4169664"/>
            <a:ext cx="4343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3935" y="4224528"/>
            <a:ext cx="4160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【3. 盈亏平衡前缀长度门槛 (Breakeven Analysis)】</a:t>
            </a:r>
          </a:p>
          <a:p>
            <a:pPr>
              <a:spcBef>
                <a:spcPts val="200"/>
              </a:spcBef>
              <a:defRPr sz="950" b="1">
                <a:solidFill>
                  <a:srgbClr val="1D4ED8"/>
                </a:solidFill>
                <a:latin typeface="Consolas"/>
              </a:defRPr>
            </a:pPr>
            <a:r>
              <a:t>• 临界公式: p_min = T_fixed / (T_prefill - T_load)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• 原生 Mooncake 门槛: 1.6 / (60 - 10) = 3.2% (1K 需 32 tokens)</a:t>
            </a:r>
            <a:br/>
            <a:r>
              <a:t>• 本项目方案门槛:   0.575 / (60 - 4.5) = 1.0% (1K 仅需 10 tokens 即正收益)</a:t>
            </a:r>
            <a:br/>
            <a:r>
              <a:t>• 业务意义: 极低固定开销与直达传输让超短前缀亦能获得净加速！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量化归因洞察：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数学模型与增量归因计算表明，控制面加速是必要基础，而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86% 的主要收益来自于正价值转化率提升与低长尾传输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；业务前缀复用率越高，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软硬件深度协同带来的端到端时延收益越显著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！*(注: 理论测算模型)*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业务指标量化分析 (2/2)：P99 尾部时延稳定性保障、关键技术达成途径与综合成本对账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关注高并发混压下的 P99 确定性保障与单次有效推理请求综合成本降低 ≥35%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09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3511296" cy="202996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336499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指标一：P99 尾部时延稳定性保障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保障高并发与多任务混压下的时延确定性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P99 TTFT 改善 ≥20%：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URMA 硬件高优 QoS 队列与前台带宽保留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P99 TPOT 抖动 &lt; 3%：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算力与传输双流解耦 + 注意力在线融合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传输 P99 膨胀 ≤ 2.0x：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实时时延观测、队列监控与自适应熔断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8536" y="1060704"/>
            <a:ext cx="3511296" cy="20299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1115568"/>
            <a:ext cx="336499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指标二：单次有效请求成本降低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综合成本 = 全生命周期算力与硬件投入 / 达标请求数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有效请求成本 ↓≥35%：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CPU 零数据拷贝，单机计算密度提升 40%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NPU 算力浪费压降：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动态选路决策引擎，无收益时主动转本地重算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按时达标率显著提升：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压制长尾抖动，SLO 达标率由 95% 提至 98%</a:t>
            </a:r>
          </a:p>
        </p:txBody>
      </p:sp>
      <p:sp>
        <p:nvSpPr>
          <p:cNvPr id="8" name="Rectangle 7"/>
          <p:cNvSpPr/>
          <p:nvPr/>
        </p:nvSpPr>
        <p:spPr>
          <a:xfrm>
            <a:off x="8028432" y="1060704"/>
            <a:ext cx="3511296" cy="202996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1584" y="1115568"/>
            <a:ext cx="336499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指标三：多级存储扩展与数据安全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支持多级存储容量扩展与缓存读取安全隔离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HBM 有效容量 ↑≥30%：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显存与 SSD 直通 DMA 建立大容量扩展池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错误消费事故率 = 0：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6 维语义一致性校验与显式租约安全屏障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负收益/迟到加载 &lt; 1%：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张量并行多卡状态同步协同，消除跨卡死锁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182112"/>
          <a:ext cx="110944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108960"/>
                <a:gridCol w="3230575"/>
              </a:tblGrid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TCO 核心对账维度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原生 Mooncake 现状 (Baseline)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软硬件协同方案 (Unified KV)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客户业务价值产出 (ROI 改善逻辑)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lnSpc>
                          <a:spcPct val="122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1. NPU 算力利用</a:t>
                      </a:r>
                      <a:br/>
                      <a:r>
                        <a:t>(Compute Efficiency)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高并发下排队超时被动丢弃</a:t>
                      </a:r>
                      <a:br/>
                      <a:r>
                        <a:t>• 重复 Prefill 挤占前台算力</a:t>
                      </a:r>
                      <a:br/>
                      <a:r>
                        <a:t>• 慢节点引发 NPU 计算等待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前置动态收益判定，零描述符浪费</a:t>
                      </a:r>
                      <a:br/>
                      <a:r>
                        <a:t>• 50% 场景每请求省 4.36 ms Prefill</a:t>
                      </a:r>
                      <a:br/>
                      <a:r>
                        <a:t>• 算力流与传输流解耦流水重叠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消除无效拉取与重复计算</a:t>
                      </a:r>
                      <a:br/>
                      <a:r>
                        <a:t>• 释放 NPU 算力专注有效生成</a:t>
                      </a:r>
                      <a:br/>
                      <a:r>
                        <a:t>• 相同集群规模支撑更高业务 QPS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lnSpc>
                          <a:spcPct val="122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2. 服务器硬件投入</a:t>
                      </a:r>
                      <a:br/>
                      <a:r>
                        <a:t>(Server &amp; Memory)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依赖昂贵 Host 大容量 CPU / DRAM 中转</a:t>
                      </a:r>
                      <a:br/>
                      <a:r>
                        <a:t>• 单节点解算密度受制于 CPU 性能瓶颈</a:t>
                      </a:r>
                      <a:br/>
                      <a:r>
                        <a:t>• HBM 显存孤岛与 OOM 抢占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CPU 不参与数据搬运，零内存拷贝</a:t>
                      </a:r>
                      <a:br/>
                      <a:r>
                        <a:t>• HBM ↔ SSD Direct PCIe DMA 直达</a:t>
                      </a:r>
                      <a:br/>
                      <a:r>
                        <a:t>• 消除 CPU 内存拷贝与序列化损耗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 Host CPU 与大内存中转依赖</a:t>
                      </a:r>
                      <a:br/>
                      <a:r>
                        <a:t>• 单机硬件配置大幅简化</a:t>
                      </a:r>
                      <a:br/>
                      <a:r>
                        <a:t>• 降低服务器采购与能耗运维成本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lnSpc>
                          <a:spcPct val="122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3. 业务按时达标率</a:t>
                      </a:r>
                      <a:br/>
                      <a:r>
                        <a:t>(SLO Compliance Rate)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仅保 P50，P99 尾延迟显著上升</a:t>
                      </a:r>
                      <a:br/>
                      <a:r>
                        <a:t>• 尾部超时引发客户端重试风暴</a:t>
                      </a:r>
                      <a:br/>
                      <a:r>
                        <a:t>• 达标率受长尾影响通常受限于 95% 左右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硬件 QoS 优先级队列与动态拥塞控制</a:t>
                      </a:r>
                      <a:br/>
                      <a:r>
                        <a:t>• 传输 P99 膨胀控制在 2.0 倍以内</a:t>
                      </a:r>
                      <a:br/>
                      <a:r>
                        <a:t>• 杜绝负收益拉取与时延恶化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压制长尾时延抖动，减少超时重试</a:t>
                      </a:r>
                      <a:br/>
                      <a:r>
                        <a:t>• 延时达标率显著提升至 98%</a:t>
                      </a:r>
                      <a:br/>
                      <a:r>
                        <a:t>• 显著降低单次有效推理请求综合成本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综合价值对账：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项目以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“SLO 达标请求产出”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和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“单次有效请求综合成本 ↓≥35%”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作为核心验收依据，通过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释放 NPU 算力、简化服务器硬件配置与收敛长尾抖动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，实现业务 ROI 投资回报与系统效能的最大化。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交付节奏与原型验证规划：以原型测试摸清技术边界，以阶段门禁控制研发风险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规划 4～5 周敏捷验证，包含 10 项必做验证 (PVT) 与 1 项可行性证伪 (CVT)，按四个核心验证阶段 (E0～E3) 门禁逐级推进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10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263347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W0 (第 1 周) 业务收益与传输底座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4992" y="1060704"/>
            <a:ext cx="263347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9856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W1 (第 2~3 周) 语义编译与决策选路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060704"/>
            <a:ext cx="263347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W2 (第 3~4 周) 分层容量与资格安全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7696" y="1060704"/>
            <a:ext cx="2633472" cy="43891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W3 (第 4~5 周) 全链路混压总门禁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572768"/>
            <a:ext cx="2633472" cy="3090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业务收益与传输底座 (E0 / E1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业务复用上限 (PVT-00)：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评估 Saved-Prefill 节省上限与复用分布。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零数据拷贝底座 (PVT-01)：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验证 HBM/DDR/SSD 可达性与硬件能力。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DPU 双轨协同 (PVT-09)：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DPU 卸载加速与 &lt;500µs 无缝降级。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1572768"/>
            <a:ext cx="2633472" cy="3090672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语义编译与选路决策 (E1 / E2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异步流水编译 (PVT-02)：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异构 Layout 编译，算力传输重叠 ≥60%。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远端直读边界 (PVT-03)：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测定重读边界，ViewGuard 容错回滚。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动态选路决策 (PVT-04)：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验证微秒级选路决策，决策准确率 &gt; 90%。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572768"/>
            <a:ext cx="2633472" cy="3090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分层容量与消费资格 (E1 / E2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HBM-SSD 直达 (PVT-05)：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Direct DMA 容量主路径与 DDR 退出准则。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0 错误消费 (PVT-06)：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6 维语义校验与多卡同步，0 错误消费。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组播分发验证 (PVT-08)：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1-to-N 软件中继组播，源端带宽降 ≥60%。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7696" y="1572768"/>
            <a:ext cx="2633472" cy="3090672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47857"/>
                </a:solidFill>
                <a:latin typeface="Microsoft YaHei"/>
              </a:defRPr>
            </a:pPr>
            <a:r>
              <a:t>全链路混压与架构证伪 (E3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混压全链路门禁 (PVT-07)：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前后台混压全链路验证，TPOT 干扰 &lt; 3%。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软件 RCU 证伪 (CVT-01)：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验证软件 RCU 显存整理，证伪专用芯片。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E3 阶段目标：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真实混压下 TTFT 降 ≥20%、成本降 ≥35%。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82312"/>
            <a:ext cx="10820095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B45309"/>
                </a:solidFill>
                <a:latin typeface="Microsoft YaHei"/>
              </a:defRPr>
            </a:pPr>
            <a:r>
              <a:t>【严密 No-Go 止损与分阶段资源释放机制（安全可控立项）】</a:t>
            </a:r>
          </a:p>
          <a:p>
            <a:pPr>
              <a:lnSpc>
                <a:spcPct val="122000"/>
              </a:lnSpc>
              <a:spcBef>
                <a:spcPts val="4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1. W0 止损: 若目标业务自然前缀复用空间 &lt; 15%，或底层硬件 URMA 路径不可达，立即终止全池研发，退回单机框架适配。</a:t>
            </a:r>
          </a:p>
          <a:p>
            <a:pPr>
              <a:lnSpc>
                <a:spcPct val="122000"/>
              </a:lnSpc>
              <a:spcBef>
                <a:spcPts val="4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2. W1 止损: 若 UBMEM 控制面 P99 &gt; 20 µs 或动态选路准确率 &lt; 85%，放弃跨节点选路，缩项为本地只读共享缓存。</a:t>
            </a:r>
          </a:p>
          <a:p>
            <a:pPr>
              <a:lnSpc>
                <a:spcPct val="122000"/>
              </a:lnSpc>
              <a:spcBef>
                <a:spcPts val="4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3. W2/W3 止损: 若 HBM ↔ SSD DMA 时延劣于重算，或混压下 P99 TPOT 抖动 &gt; 5%，停止全介质分层，维持 HBM 独立管理并安全止损！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立项实施建议：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建议采取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“分阶段验证、按门禁推进”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的立项策略：先开展为期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4～5 周的原型验证工作以摸清关键技术边界并获取实测数据支撑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，严格依据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四个核心验证阶段 (E0～E3) 判定标准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逐级推进研发投入；若核心假设不满足则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启动安全止损与方案缩项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，有效规避研发风险。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11094415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1645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96112"/>
            <a:ext cx="1051560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谢谢观看 · 敬请各位领导与评审专家批评指正</a:t>
            </a:r>
          </a:p>
          <a:p>
            <a:pPr>
              <a:spcBef>
                <a:spcPts val="6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Questions &amp; Answers (Q &amp; A) · 统一异构 KVCache 存储池总体架构与关键技术立项汇报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汇报团队：统一内存与存储系统架构团队        立项原则：以客观实测数据为依据，安全可控推进研发落地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42032"/>
            <a:ext cx="5440680" cy="1719072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共识一：基于 Mooncake 开源底盘深度重构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[打破通用开源性能天花板]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复用 Mooncake 现成生态接口与连接器，深度重构传输与调度内核，将 38 项核心需求转化为 5 大增强工程包，充分释放国产硬件互联与存储潜能。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2375" y="2542032"/>
            <a:ext cx="544068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9535" y="2633472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共识二：前置动态收益决策与双流重叠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[确保每次加载获明确净收益]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在查表阶段即完成成本量化预估，若网络拥塞慢于重算则主动回退至本地重算；算力流与传输流解耦流水重叠，隐藏 ≥60% 网络跨节点传输耗时。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07408"/>
            <a:ext cx="544068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498848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共识三：生产级 6 维校验与多卡原子保序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[杜绝错误消费与死锁风险]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引入 6 维语义检查与显式租约守卫，彻底消除脏数据错误消费；张量并行 (TP=8) 多卡状态同步协同，杜绝集合通信死锁。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2375" y="4407408"/>
            <a:ext cx="5440680" cy="1719072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9535" y="4498848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共识四：阶段门禁与安全止损机制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[4~5 周敏捷验证控制风险]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先以 4～5 周原型测试摸清技术边界，严格依据四个核心验证阶段 (E0～E3) 判定标准逐级推进研发投入；设立严密 No-Go 止损机制，若无显著增量则安全缩项。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立项建议与交流：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建议评审委员会批准启动第一阶段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4～5 周敏捷原型验证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，以客观实测数据为依据安全可控推进研发！</a:t>
            </a:r>
            <a:r>
              <a:rPr sz="1150" b="1">
                <a:solidFill>
                  <a:srgbClr val="1D4ED8"/>
                </a:solidFill>
                <a:latin typeface="Microsoft YaHei"/>
              </a:rPr>
              <a:t>欢迎各位领导与评审专家提问与交流 (Q &amp; A)。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