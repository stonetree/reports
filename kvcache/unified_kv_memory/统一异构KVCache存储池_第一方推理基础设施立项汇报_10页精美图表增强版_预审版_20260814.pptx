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我们为什么要做：打造面向国产 AI 硬件的第一方推理状态基础设施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从“框架内临时 Buffer”到“集群级高价值状态资产”——打通软硬件协同从硬件原语到业务 SLO 的闭环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01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1. 为什么做 (Why Essential)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KVCache 升维核心状态资产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算力瓶颈转移：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推理瓶颈从单卡算力转向内存容量与互联带宽，KVCache 承载极高计算价值。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消除显存孤岛：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传统框架局部管理 Cache，导致跨节点重复 Prefill 与 HBM 显存碎片孤岛。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打通价值漏斗：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状态治理闭环候选发现、安全校验、动态选路到挂接消费的全流程。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2. 为什么现在做 (Why Now)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架构定型与业务演进窗口期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业务演进倒逼：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 ~ 1M)、Agent 多轮与 PD 分离爆发，复用成为吞吐第一指标。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软硬件定型窗口：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国产芯片、驱动与推理框架共同演进，提前介入可深度反哺芯片设计。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规避被动适配：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若等硬件定型后被动适配，将错失微架构深度红利并产生高昂重构成本。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3. 为什么独立做 (Why Independent)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第一方责任不可向开源外包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专属微架构使能：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开源仅使用通用接口；本项目深入 UBMEM / URMA 等第一方专属原语。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跨版本认证闭环：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开源社区不承担特定芯片的 Day-0 交付、驱动协同与跨版本回归责任。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SLA 与正确性兜底：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高并发 P99 安全包络与 0 错误消费责任必须由第一方系统全面兜底。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4. 为什么我们做 (Why Us)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硬件厂商独特闭环生态标杆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全栈协同技术壁垒：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建立“业务价值 ➔ KV 语义 ➔ QueryPlan ➔ UBMEM / URMA 直达”闭环。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对标全球巨头套件：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补齐国产第一方空白，打造对标 NVIDIA Dynamo / KVBM / NIM 全栈基石。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可验证投资策略：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以 8 项原型 (PVT-00 ~ PVT-07) 购买事实，按 E0 ~ E3 门禁逐级释放投入。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【第一方基础设施价值转化闭环链路图】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1. 业务价值发现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长文本 / Agent / RAG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识别高价值复用前缀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2. KV 语义治理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Layer / TP Rank 身份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严格权限与租约校验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07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3. PVT-04 动态选路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QueryPlan 微秒决策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正收益判定保全 SLO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4. 硬件极速搬运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URMA / PCIe 直达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零触碰双流重叠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5029200"/>
            <a:ext cx="2029968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5. 客户 SLO 闭环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TTFT -20% / 容量 +30%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错误消费精确为 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第一方战略定位：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“能力可以组合，第一方责任不能外包！” 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本项目打造软硬件深度协同的统一异构 KVCache 存储池，实现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TTFT P99 降低 ≥20%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HBM 有效容量提升 ≥30%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错误消费率精确为 0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当前厂商动作：全球芯片巨头从单卡算力转向系统级状态管理全栈布局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NVIDIA、AMD、Intel、Arm 围绕 KVCache 存储、传输与管理展开软硬协同全面竞争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02 / 10 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60704"/>
          <a:ext cx="11094415" cy="3547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423160"/>
                <a:gridCol w="2423160"/>
                <a:gridCol w="2423160"/>
                <a:gridCol w="2316175"/>
              </a:tblGrid>
              <a:tr h="709574"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全球芯片巨头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算子与单机微架构优化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集群传输管理与协议引擎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存储分层与 Host-Bypass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生态战略与全栈商业化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9574">
                <a:tc>
                  <a:txBody>
                    <a:bodyPr wrap="square" lIns="73152" rIns="73152"/>
                    <a:lstStyle/>
                    <a:p>
                      <a:pPr algn="ctr">
                        <a:lnSpc>
                          <a:spcPct val="120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NVIDIA</a:t>
                      </a:r>
                      <a:br/>
                      <a:r>
                        <a:t>(垂直闭环极速)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TensorRT-LLM 率先支持 FA-3</a:t>
                      </a:r>
                      <a:br/>
                      <a:r>
                        <a:t>• FP8 / FP4 KV 动态量化与 Chunked Prefill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KVBM (KV Block Manager)</a:t>
                      </a:r>
                      <a:br/>
                      <a:r>
                        <a:t>• NVLink-Network 跨节点零拷贝</a:t>
                      </a:r>
                      <a:br/>
                      <a:r>
                        <a:t>• NIM 容器化微服务闭环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GPUDirect Storage (GDS) 直达</a:t>
                      </a:r>
                      <a:br/>
                      <a:r>
                        <a:t>• NVSwitch C2C 内存池化</a:t>
                      </a:r>
                      <a:br/>
                      <a:r>
                        <a:t>• 完全绕过 Host CPU / DRAM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软件生态全栈领先</a:t>
                      </a:r>
                      <a:br/>
                      <a:r>
                        <a:t>• 闭环企业级基础设施</a:t>
                      </a:r>
                      <a:br/>
                      <a:r>
                        <a:t>• 软硬协同第一技术护城河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9574">
                <a:tc>
                  <a:txBody>
                    <a:bodyPr wrap="square" lIns="73152" rIns="73152"/>
                    <a:lstStyle/>
                    <a:p>
                      <a:pPr algn="ctr">
                        <a:lnSpc>
                          <a:spcPct val="120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AMD</a:t>
                      </a:r>
                      <a:br/>
                      <a:r>
                        <a:t>(开源分层并购)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算子库深度调优</a:t>
                      </a:r>
                      <a:br/>
                      <a:r>
                        <a:t>• SGLang / vLLM ROCm 后端支持</a:t>
                      </a:r>
                      <a:br/>
                      <a:r>
                        <a:t>• 矩阵指令深度适配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主导开源 NIXL 传输引擎</a:t>
                      </a:r>
                      <a:br/>
                      <a:r>
                        <a:t>• 规范跨节点 KV 迁移标准</a:t>
                      </a:r>
                      <a:br/>
                      <a:r>
                        <a:t>• 深度适配多卡 RDMA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hipFile 实现 Host-Bypass</a:t>
                      </a:r>
                      <a:br/>
                      <a:r>
                        <a:t>• 构建 HBM ➔ DRAM ➔ CXL / NVMe</a:t>
                      </a:r>
                      <a:br/>
                      <a:r>
                        <a:t>• 重点投入 LMCache 多级缓存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连续收购 Nod.ai (自动图编译)</a:t>
                      </a:r>
                      <a:br/>
                      <a:r>
                        <a:t>• 收购 Silo AI 与 ZT Systems</a:t>
                      </a:r>
                      <a:br/>
                      <a:r>
                        <a:t>• 补齐机架全栈系统工程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9574">
                <a:tc>
                  <a:txBody>
                    <a:bodyPr wrap="square" lIns="73152" rIns="73152"/>
                    <a:lstStyle/>
                    <a:p>
                      <a:pPr algn="ctr">
                        <a:lnSpc>
                          <a:spcPct val="120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Intel</a:t>
                      </a:r>
                      <a:br/>
                      <a:r>
                        <a:t>(大内存溢出层)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IPEX-LLM 与 OpenVINO 优化</a:t>
                      </a:r>
                      <a:br/>
                      <a:r>
                        <a:t>• 高比例 INT4 / INT8 动态量化</a:t>
                      </a:r>
                      <a:br/>
                      <a:r>
                        <a:t>• 大幅压降内存占用与时延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DeepSpeed-FastGen 适配</a:t>
                      </a:r>
                      <a:br/>
                      <a:r>
                        <a:t>• Gaudi 分布式 PD 分离机制</a:t>
                      </a:r>
                      <a:br/>
                      <a:r>
                        <a:t>• 优化多节点网络同步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利用 Xeon 大容量 DDR5 / CXL</a:t>
                      </a:r>
                      <a:br/>
                      <a:r>
                        <a:t>• 构建 Gaudi 低成本溢出层 (Overflow)</a:t>
                      </a:r>
                      <a:br/>
                      <a:r>
                        <a:t>• CPU 内存共享缓冲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维护 Gaudi 专属开源生态</a:t>
                      </a:r>
                      <a:br/>
                      <a:r>
                        <a:t>• 结合服务器 CPU 内存优势</a:t>
                      </a:r>
                      <a:br/>
                      <a:r>
                        <a:t>• 降低大模型服务整体 TCO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9576">
                <a:tc>
                  <a:txBody>
                    <a:bodyPr wrap="square" lIns="73152" rIns="73152"/>
                    <a:lstStyle/>
                    <a:p>
                      <a:pPr algn="ctr">
                        <a:lnSpc>
                          <a:spcPct val="120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Arm</a:t>
                      </a:r>
                      <a:br/>
                      <a:r>
                        <a:t>(微架构与CXL池)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KleidiAI 汇编加速库</a:t>
                      </a:r>
                      <a:br/>
                      <a:r>
                        <a:t>• 针对 Neoverse SVE2 / SME 指令</a:t>
                      </a:r>
                      <a:br/>
                      <a:r>
                        <a:t>• 加速 KV 转置与 GEMM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云端机架级跨节点共享</a:t>
                      </a:r>
                      <a:br/>
                      <a:r>
                        <a:t>• 统一内存互联协议标准</a:t>
                      </a:r>
                      <a:br/>
                      <a:r>
                        <a:t>• 优化多核并发读写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结合 CXL 3.0 机架内存池</a:t>
                      </a:r>
                      <a:br/>
                      <a:r>
                        <a:t>• 端侧大内存直接寻址</a:t>
                      </a:r>
                      <a:br/>
                      <a:r>
                        <a:t>• 低功耗内存分层管理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pPr>
                        <a:lnSpc>
                          <a:spcPct val="120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llama.cpp / ExecuTorch 深度优化</a:t>
                      </a:r>
                      <a:br/>
                      <a:r>
                        <a:t>• 确立 Arm 64 位原生 KV 治理</a:t>
                      </a:r>
                      <a:br/>
                      <a:r>
                        <a:t>• 云边端全场景渗透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736592"/>
            <a:ext cx="3511296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809744"/>
            <a:ext cx="329184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趋势一：PD 分离架构成为事实标准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Prefill 与 Decode 物理分离，KV 跨节点传输效率成为决定集群吞吐与 TTFT 的第一指标。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4736592"/>
            <a:ext cx="3511296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4809744"/>
            <a:ext cx="329184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趋势二：全栈走向 Host-Bypass 硬件卸载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全面淘汰 CPU DRAM 中转，通过 RDMA / GDS / URMA 纯硬件直达，坚守 Host 零触碰铁律。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8432" y="4736592"/>
            <a:ext cx="3511296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809744"/>
            <a:ext cx="329184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趋势三：第一方自研底座成为战略护城河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巨头全栈闭环演进表明：国产芯片必须建立自研第一方底座，将微架构转化为真实业务收益。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产业格局启示：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AI 芯片巨头竞争已从硬件器件演进为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系统软件与状态管理全栈闭环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。国产芯片必须建立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第一方自研底座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，才能将硬件优势转化为客户真实业务收益！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(1/2)：Mooncake 原始设计优势与真实定位取舍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FAST '25 64KB Slice Spraying 模式的设计意图、吞吐亮点与客观工程边界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03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5440680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Mooncake (FAST '25) 4 大原始设计意图与优势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面向长文本 KVCache 巨大体积与闲置内存的优秀去中心化设计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多轨网卡带宽聚合：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切片多网卡并发喷射 (Slice Spraying)，1-to-1 专网测得 87 GB/s+ 吞吐。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集群闲置存储负载均衡：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类似 RAID-0 条带化理念，将 KV 块散落数十个 Worker，均衡利用闲置内存。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保持通用性与模型解耦：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KVCache 抽象为二进制切片 (Opaque Bytes)，与具体 LLM 模型架构解耦。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契合硬件 DMA 颗粒度：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切片尺寸契合 PCIe TLP 与 RDMA QP 最佳线速 DMA 吞吐颗粒度。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60704"/>
            <a:ext cx="5440680" cy="3584448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535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BE123C"/>
                </a:solidFill>
                <a:latin typeface="Microsoft YaHei"/>
              </a:defRPr>
            </a:pPr>
            <a:r>
              <a:t>客观工程局限：无语义抽象带来的 4 大结构性代价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侧重后台写吞吐打满，在生产集群前台读 (Load) 阶段引发尾部时延上升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“后台写”与“前台读”严重非对称：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写属后台吞吐路径；但读属前台 TTFT 关键路径，单节点慢导致整层算力等待。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无语义导致无法感知层级依赖：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不感知 Layer 0 ~ 31 依赖，Layer 0 切片遇慢网卡引发 NPU 计算流水等待。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同一层 KV 跨节点切碎致长尾抖动：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同一层 KV 散落各节点，加载时延取决于最慢节点（木桶短板效应）。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开源定位无法承载企业级高可用：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开源主干对多租户配额、高可用 HA 仅保留 Stub 空桩，无法兜底生产 SLA。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【性能非对称性机理图解：为什么后台写吞吐打满，不能代表前台读 TTFT 优秀？】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✔ 后台写路径 (Offload - 吞吐优先)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[Producer 显存] ➔ 64 KB 切片喷射 ➔ 8 轨网卡 ➔ 87 GB/s+ (写满无阻)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BE123C"/>
                </a:solidFill>
                <a:latin typeface="Microsoft YaHei"/>
              </a:defRPr>
            </a:pPr>
            <a:r>
              <a:t>✘ 前台读路径 (Load - 时延与 P99 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[Consumer 拉取] ➔ 多节点并发回传 ➔ ToR 拥塞 + 木桶短板 ➔ P99 尾延迟上升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客观定位结论：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Mooncake 是优秀的去中心化传输组件；但通用无语义抽象决定了其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无法解决前台读阶段的长尾抖动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，必须由第一方底座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深度咬合国产硬件物理原语与 SLA 闭环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(2/2)：代码级预埋点、社区真实反馈与供应链安全风险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源码行级证据穿透“单流 P50 局限”，揭示生产集群 Mesh 争抢与开源供应链长期演进隐患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04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1. 物理机理与社区反馈：Incast 拥塞与尾延迟尖峰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[网络物理机理与 vLLM 社区反馈证据]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Incast 交换机拥塞：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多节点同时向单端口回传切片，ToR Buffer 瞬间承压引发排队风暴。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社区真实反馈：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云厂商在 vLLM PR #10502 / #10884 反馈 100+ 节点混压下 P99 尾延迟恶化。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论文测试边界：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FAST '25 仅公布 1-to-1 直连 P50 中位数，未覆盖 Full Mesh 高并发争抢。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2. 代码架构与层级缺失：types.h 无模型层级定义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[源码分析：模型层级感知缺失与多 TP 孤立排队]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types.h 零层级：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Request 结构体仅含 offset / length，零 layer_id，无法感知模型计算次序。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Layer 0 阻塞风险：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切片若遇慢网卡延迟 10 µs，后续 NPU GEMM 计算流水陷入等待。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多 TP 孤立排队：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store_py_parallel_read 仅追加 _tp_0/1 后缀孤立排队导致卡间屏障等待。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3. 调度策略与被动补救：RFC #2519 出队 Drop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[源码分析：排队拥塞后的被动补丁与资源开销]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admission_queue：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RFC #2519 在 pickForDispatch 出队末端计算超时丢弃。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multi_rail 令牌桶：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为缓解切片到达倾斜 (Skew) 与 Incast，源码预埋软件令牌桶限速。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开销损耗与算力等待：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出队末端被动丢弃时，已支付锁与内存注册开销全部浪费，算力已空等。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4. 商业演进与代码留白：月之暗面 K3 闭源趋势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[开源供应链安全与第一方自研底座必然性]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商业演进策略分化：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月之暗面推进 Kimi / K3 商业化呈现“开源基础版、闭源企业版”。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核心 HA 模块留白：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mooncake-store 大规模 HA (ETCD / Redis) 与多租户配额主干仅保留 Stub。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供应链可控必然性：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直接依赖开源面临千卡版本闭源风险；必须自研深度绑定国产 NPU 底座。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开源局限结论：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代码预埋补丁与社区反馈（100+ 节点 P99 恶化）证实：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开源软件无法根治物理缺陷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，必须构建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100% 自主可控的第一方底座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(1/2)：从无语义传输盘到 LLM 语义化异构内存池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确立四大核心技术支柱，重构 AI 推理状态管理的软硬件物理咬合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05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支柱一：拓扑亲和映射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消除 Incast 拥塞物理根源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语义与拓扑绑定：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KVSemanticIdentity 绑定 Model / Layer / TP Rank。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局域化物理传输：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片间走 HCCS 环路，机架内走 URMA 直连，存储走 PCIe DMA。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压减 80% 流量：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局域汇聚，源头消除 N-to-1 Incast 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支柱二：Host 零触碰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突破 CPU Wall 性能瓶颈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Touch Budget = 0：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正文搬运 100% 旁路 Host CPU / DRAM，坚守零触碰铁律。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 ↔ SSD 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Direct PCIe DMA 实现 NPU HBM 与 SSD 线速搬运。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解算密度跃升：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单节点 QPS 解算密度提升 40%，服务器硬件 Capex 降低 30%+。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支柱三：UBMEM 总线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控制面元数据时延 &lt; 5 µs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总线级共享内存：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 PrefixDirectory 与 block_table 映射至 UBMEM 空间。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微秒级硬件指令：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原子指令直读，消除 RPC 栈开销。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时延压降 20 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 50 ~ 100 µs 压降至 &lt; 5 µs，争取宝贵预算。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支柱四：多介质统一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重塑容量主路径降低 TCO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HBM-SSD 为主路径：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 HBM ↔ SSD 直达确立为主路径，DDR 退居辅助缓冲。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长文本存储平民化：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 存储 TCO 下降 ≥35%，容量提升 ≥30%。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全生命周期管理：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支持内存/存储介质状态感知、冷热淘汰与异步预取分层治理。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【统一异构 KVCache 存储池全栈分层协作拓扑】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24140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L1. 框架意图接入层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vLLM / SGLang 统一接口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前缀复用与重算收益请求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5065776"/>
            <a:ext cx="24140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L2. KV 语义治理层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KVSemantic 语义目录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多租户隔离与 Lease 租约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5065776"/>
            <a:ext cx="24140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L3. 决策与编译层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PVT-04 动态决策引擎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DAG 异步流水批量编译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5029200"/>
            <a:ext cx="25603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5065776"/>
            <a:ext cx="24140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L4. 极速硬件执行层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UBMEM / URMA 直达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微秒总线与硬件零触碰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范式跃迁结论：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本项目将无语义 Slice 打散盘升华为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LLM 语义化异构内存池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拓扑亲和、Host 零触碰与 UBMEM 微秒总线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构筑软硬件核心壁垒！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(2/2)：前置动态 ROI 决策与零信任可靠性屏障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避免盲目拉取与负收益开销，保障金融级多租户隔离与 0 错误消费事故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06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优势一：前置动态 ROI 决策引擎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PVT-04 QueryPlan &amp; CostEvaluator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判定公式：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SavedRecompute &gt; DirQuery + DataLoad + Attach + Sync + Interference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前置决策优势：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查表阶段即完成成本评估。若网络拥塞慢于重算，主动返回 RECOMPUTE，零硬件描述符申请、零队列浪费、NPU 零空转。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对比 RFC #2519：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开源在出队末端被动 Drop 白白浪费锁开销；本项目前置入口决策 100% 保全业务 SLO。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25696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优势二：双 Stream 物理流水重叠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AICore 计算与 URMA 传输解耦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物理解耦流水：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AICore 执行第 L 层 GEMM 计算，URMA DMA 在后台异步预取第 L+1 层 KV，运行在独立硬件 Stream。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FA 融合 Kernel：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利用在线 LogSumExp 归一化结合律，微秒级完成前段拉取与后段重算的 Attention 结果极速合并。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隐藏 ≥60% 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层流水全掩盖，跨节点传输时间完全隐藏在矩阵计算耗时包络内！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优势三：零信任可靠性屏障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AttachHandle 凭证与 Lease 租约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金融级安全隔离：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引入 AttachHandle 显式凭证与 SemanticIdentity，严格校验租户权限与内存视图。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0 错误消费屏障：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引入 ConsumeEligibility 就绪屏障与 Lease 租约，彻底消除半写、陈旧、脏块被错误消费。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多 TP 原子保序：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支持多 TP Rank 原子并发组选路，消除跨卡到达时间差导致的 All-Reduce 死等。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【AICore + URMA 双 Stream 硬件物理流水与零信任挂接时序】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65776"/>
            <a:ext cx="51755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Consolas"/>
              </a:defRPr>
            </a:pPr>
            <a:r>
              <a:t>Stream 1 (AICore 算力): [ Layer L GEMM 计算耗时包络 ]</a:t>
            </a:r>
          </a:p>
          <a:p>
            <a:pPr>
              <a:spcBef>
                <a:spcPts val="200"/>
              </a:spcBef>
              <a:defRPr sz="950">
                <a:solidFill>
                  <a:srgbClr val="1D4ED8"/>
                </a:solidFill>
                <a:latin typeface="Consolas"/>
              </a:defRPr>
            </a:pPr>
            <a:r>
              <a:t>Stream 2 (URMA 传输): [ L+1 KV 预取 ] ➔ [ 在线融合 ] (隐藏 ≥60%)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065776"/>
            <a:ext cx="51572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零信任凭证流: [ AttachHandle 验权 ] ➔ [ 就绪屏障防护 ]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租约安全管理: [ Lease 租约防护 ] ➔ 杜绝脏块，错误消费为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关键竞争力结论：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开源方案是“盲目传输、超时被动丢弃”，本项目是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“前置价值计算、物理流水掩盖、金融级零信任安全闭环”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，彻底消除负收益与脏数据消费事故！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软硬件协同关键技术：从底层微架构到上层状态管理的全栈协同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构建“语义驱动、总线直达、双流重叠、硬件隔离”的国产软硬件融合示范标杆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07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协同技术一：语义驱动物理拓扑映射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[LLM 语义 ➔ 硬件网络拓扑协同]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硬件拓扑现状：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现代集群包含 HCCS、PCIe、URMA 与 NVMe SSD 等异构互联体系。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语义亲和映射：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KVSemanticIdentity 将 Layer 与 TP Rank 精准映射至直连硬件队列。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 Incast 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KV 局域汇聚，压减 80% 跨机架流量消除拥塞。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协同技术二：双 Stream 物理流水重叠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[算力 Stream ➔ 传输 Stream 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 Stream 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矩阵单元与 URMA DMA 引擎运行在独立硬件 Stream。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FlashAttention 融合：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计算第 L 层 GEMM 时 DMA 预取第 L+1 层 KV，LogSumExp 在线合并。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隐藏 ≥60% 传输耗时：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层流水全掩盖，把网络时延完全压缩进算力耗时包络！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协同技术三：硬件 QoS 队列与零触碰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[网卡 QoS 队列 ➔ 零 CPU 触碰协同]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物理 QoS 队列隔离：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及前台读绑定至 URMA 高优队列，后台迁移绑定低优队列。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Touch Budget = 0：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控制面下发描述符后，数据搬运 100% 硬件 DMA 执行，消除 CPU Wall。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后台进行大规模 SSD 迁移时，前台实时 Decode 的 TPOT 抖动严格 &lt; 3%。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协同技术四：UBMEM 微秒级共享内存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[总线级共享内存 ➔ 微秒原子控制面]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总线级内存映射：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基于 UBMEM 将全局 PrefixDirectory 直接映射至共享内存空间。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微秒级指令直达：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/ Atomic 指令直读，消除传统 RPC 栈开销。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时延压缩至 &lt; 5 µs：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控制面时延从上百微秒压缩至 5 µs 内，微秒级驱动 URMA 正文搬运。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软硬协同壁垒：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深层软硬协同无法通过通用开源中间件简单拼装实现；本项目四大协同维度构建了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国产 AI Infra 的核心技术护城河与不可替代性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(1/2)：30%～90% 前缀复用测算模型与完整计算推导方法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依据报告第 6 部分：严格给出 c 的 4 级漏斗计算公式、TTFT 计算方法与 7.24 ms 顺序增量分解过程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08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6263640" cy="4791456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6099048" cy="2487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1. 端到端 TTFT 数学建模与 c 的 4 级条件漏斗推导 (1K Token)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【核心计算公式】 TTFT_est = T_other + T_fixed + T_prefill × (1 - c) + T_load × c</a:t>
            </a:r>
          </a:p>
          <a:p>
            <a:pPr>
              <a:spcBef>
                <a:spcPts val="200"/>
              </a:spcBef>
              <a:defRPr sz="950" b="1">
                <a:solidFill>
                  <a:srgbClr val="047857"/>
                </a:solidFill>
                <a:latin typeface="Consolas"/>
              </a:defRPr>
            </a:pPr>
            <a:r>
              <a:t>【正价值消费率 c 计算方法】 c = r × u = r × (u1 × u2 × u3 × u4)  [4 级条件漏斗连乘]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u1 语义与候选保持 (90%➔97%)：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统一语义身份 + 缓存感知路由 + 生命周期治理 (PVT-00/02)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u2 资格与租约通过 (95%➔99%)：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UBMEM 元数据快路径 + 显式租约屏障 + 多卡保序 (PVT-03/06)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u3 实际路径成功 (95%➔99%)：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CapabilityMatrix 硬件感知 + URMA 直达 + 有界回退 (PVT-01/07)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u4 正收益判定比 (98%➔99%)：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PVT-04 动态 ROI 引擎 + 实时队列观测与自适应熔断 (PVT-04)</a:t>
            </a:r>
          </a:p>
          <a:p>
            <a:pPr>
              <a:lnSpc>
                <a:spcPct val="116000"/>
              </a:lnSpc>
              <a:spcBef>
                <a:spcPts val="200"/>
              </a:spcBef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t>• 综合转化率 u 与时延预算：</a:t>
            </a:r>
            <a:r>
              <a:rPr sz="919" b="0">
                <a:solidFill>
                  <a:srgbClr val="475569"/>
                </a:solidFill>
                <a:latin typeface="Microsoft YaHei"/>
              </a:rPr>
              <a:t>u: 开源 79.60% ➔ 本项目 94.12%; T_fixed: 1.6 ➔ 0.575ms; T_load: 10.0 ➔ 4.5ms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621024"/>
          <a:ext cx="598932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85800"/>
                <a:gridCol w="868680"/>
                <a:gridCol w="685800"/>
                <a:gridCol w="868680"/>
                <a:gridCol w="868680"/>
                <a:gridCol w="822960"/>
              </a:tblGrid>
              <a:tr h="427939"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复用场景 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TTFT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TTFT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TTFT 改善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净省耗时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27939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30% 日常/短RAG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57.66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52.90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4.76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7939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 典型Agent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49.70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47.1%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42.46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14.6%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7.24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7939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70% 长系统词/代码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41.74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65.9%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32.01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9.73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7940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90% 固定重度库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71.6%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33.78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84.7%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21.56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36.2%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12.22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025335" y="1060704"/>
            <a:ext cx="4617720" cy="4791456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62495" y="113385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2. 50% 场景 7.24 ms 收益顺序增量计算过程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Microsoft YaHei"/>
              </a:defRPr>
            </a:pPr>
            <a:r>
              <a:t>严密三步增量归因计算公式，确立研发投资优先级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62495" y="1609344"/>
          <a:ext cx="4343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502920"/>
                <a:gridCol w="594360"/>
                <a:gridCol w="1920240"/>
              </a:tblGrid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收益归因环节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精确计算公式与技术措施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1: 控制面开销节省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1.03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Δ1 = 1.600 - 0.575 ms (快路径)</a:t>
                      </a:r>
                      <a:br/>
                      <a:r>
                        <a:t>UBMEM 共享内存查表与描述符直发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2: 正价值转化提升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Δ2 = (47.06%-39.80%) × (60-10ms)</a:t>
                      </a:r>
                      <a:br/>
                      <a:r>
                        <a:t>统一语义身份，大幅减少校验失败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3: 低长尾数据传输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Δ3 = 47.06% × (10.0 - 4.5ms)</a:t>
                      </a:r>
                      <a:br/>
                      <a:r>
                        <a:t>URMA 正文直达与 QoS 隔离压减排队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62495" y="4169664"/>
            <a:ext cx="4343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3935" y="4224528"/>
            <a:ext cx="4160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【3. 盈亏平衡前缀长度门槛 (Breakeven Analysis)】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• 临界公式: p_min = T_fixed / (T_prefill - T_load)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• 开源组合门槛: 1.6 / (60 - 10) = 3.2% (1K 需 32 tokens)</a:t>
            </a:r>
            <a:br/>
            <a:r>
              <a:t>• 本项目门槛:   0.575 / (60 - 4.5) = 1.0% (1K 仅需 10 tokens 即正收益)</a:t>
            </a:r>
            <a:br/>
            <a:r>
              <a:t>• 业务意义: 极低固定开销与直达传输让超短前缀亦能获得净加速！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量化测算结论：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元数据加速是必要基础，但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主要收益 (86%) 来自高转化与低长尾有界传输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；业务复用度越高，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第一方软硬件协同优势越能被指数级放大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！*(注: 测算模型)*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(2/2)：P99 尾延迟安全包络、关键达成途径与 TCO 对账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拒绝单流 P50 局限，以高并发混压下的 P99 确定性守护与综合成本降低 ≥35% 为唯一交付标准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09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202996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33856"/>
            <a:ext cx="3291840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指标一：P99 尾延迟安全包络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保障高并发与混压下的时延稳定性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P99 TTFT 改善 ≥20%：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URMA 硬件高优 QoS 队列隔离与前台带宽保留 (PVT-01)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P99 TPOT 抖动 &lt; 3%：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AICore 与 URMA 双 Stream 解耦流水 + FA 融合 (PVT-02)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传输 P99 膨胀 ≤ 2.0 倍：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实时时延观测、队列深度监控与自适应重算熔断 (PVT-07)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202996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8264" y="1133856"/>
            <a:ext cx="3291840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指标二：单位合格请求 TCO 显著优化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TCO = 全生命周期总成本 / SLO 合格请求数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单位请求成本 ↓≥35%：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Host Touch Budget = 0，单机解算密度提升 40% (PVT-01)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NPU 算力浪费压降：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PVT-04 前置动态 ROI 评估引擎，无收益转重算 (PVT-04)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服务目标合格率提升：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尾部时延收敛将合格率由 95% 升至 98%，纯增收 3.1%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202996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133856"/>
            <a:ext cx="3291840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指标三：有效容量与零信任可靠性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建立海量溢出池与 0 错误消费屏障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HBM 有效容量 ↑≥30%：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HBM ↔ SSD Direct PCIe DMA 建立分层溢出池 (PVT-05)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错误消费事故率 = 0：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AttachHandle 凭证与 Lease 租约就绪屏障防护 (PVT-06)</a:t>
            </a:r>
          </a:p>
          <a:p>
            <a:pPr>
              <a:spcBef>
                <a:spcPts val="200"/>
              </a:spcBef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✔ 负收益 / 迟到加载 &lt; 1%：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多 TP Rank 原子并发组选路，消除跨卡等待 (PVT-04)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182112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108960"/>
                <a:gridCol w="3230575"/>
              </a:tblGrid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TCO 核心对账维度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传统开源粗放方案现状 (Open Source)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本项目第一方软硬件协同方案 (Unified KV)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客户业务端到端价值产出 (ROI)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1. NPU 算力利用</a:t>
                      </a:r>
                      <a:br/>
                      <a:r>
                        <a:t>(Compute Efficiency)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高并发下排队超时被动丢弃</a:t>
                      </a:r>
                      <a:br/>
                      <a:r>
                        <a:t>• 重复 Prefill 挤占前台算力</a:t>
                      </a:r>
                      <a:br/>
                      <a:r>
                        <a:t>• 慢节点引发 NPU 周期等待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PVT-04 前置动态 ROI 判定，零描述符浪费</a:t>
                      </a:r>
                      <a:br/>
                      <a:r>
                        <a:t>• 50% 场景每请求省 4.36 ms Prefill</a:t>
                      </a:r>
                      <a:br/>
                      <a:r>
                        <a:t>• 算力流与传输流解耦流水重叠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每日千万请求节省 96.8 NPU 卡时</a:t>
                      </a:r>
                      <a:br/>
                      <a:r>
                        <a:t>• 算力利用率大幅释放</a:t>
                      </a:r>
                      <a:br/>
                      <a:r>
                        <a:t>• 相同卡数支撑更高业务 QPS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2. 服务器硬件投入</a:t>
                      </a:r>
                      <a:br/>
                      <a:r>
                        <a:t>(Server &amp; Memory)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依赖昂贵 Host 大容量 CPU / DRAM 中转</a:t>
                      </a:r>
                      <a:br/>
                      <a:r>
                        <a:t>• 单节点解算密度受制于 CPU Wall</a:t>
                      </a:r>
                      <a:br/>
                      <a:r>
                        <a:t>• HBM 显存孤岛与 OOM 抢占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Host Payload Touch Budget = 0 铁律</a:t>
                      </a:r>
                      <a:br/>
                      <a:r>
                        <a:t>• HBM ↔ SSD Direct PCIe DMA 直达</a:t>
                      </a:r>
                      <a:br/>
                      <a:r>
                        <a:t>• 消除 CPU 内存拷贝与序列化损耗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单机 Host CPU / 内存配置大幅简化</a:t>
                      </a:r>
                      <a:br/>
                      <a:r>
                        <a:t>• 服务器硬件 Capex 降低 30% ~ 40%</a:t>
                      </a:r>
                      <a:br/>
                      <a:r>
                        <a:t>• 能耗 Opex 下降 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3. 服务目标合格率</a:t>
                      </a:r>
                      <a:br/>
                      <a:r>
                        <a:t>(SLO Qualified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仅保 P50，P99 尾延迟显著上升</a:t>
                      </a:r>
                      <a:br/>
                      <a:r>
                        <a:t>• 尾部超时引发客户端重试风暴</a:t>
                      </a:r>
                      <a:br/>
                      <a:r>
                        <a:t>• 业务合格率徘徊在 95% 左右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硬件 QoS 队列与拥塞安全包络控制</a:t>
                      </a:r>
                      <a:br/>
                      <a:r>
                        <a:t>• 传输 P99 膨胀控制在 2.0 倍以内</a:t>
                      </a:r>
                      <a:br/>
                      <a:r>
                        <a:t>• 杜绝负收益拉取与时延恶化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服务合格率由 95% 提升至 98%</a:t>
                      </a:r>
                      <a:br/>
                      <a:r>
                        <a:t>• 直接带来 3.1% 纯经济收益</a:t>
                      </a:r>
                      <a:br/>
                      <a:r>
                        <a:t>• 单位合格请求综合 TCO 降低 ≥35%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对账交付标准：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“合格业务事务产出”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“全生命周期单位成本 ↓≥35%”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作为终极对账口径，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杜绝只算单流带宽不算端到端 TCO 的粗放评估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交付节奏与原型验证门禁：以原型验证购买事实，以阶段门禁控制投资风险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4～5 周 W0～W3 敏捷推进，8 大必做 PVT + 3 项 CVT 证伪，按 Go / No-Go 逐级释放资源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10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W0 (第 1 周) 业务与传输底座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9856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W1 (第 2~3 周) 语义编译与决策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W2 (第 3~4 周) 分层容量与资格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W3 (第 4~5 周) 混压薄闭环门禁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业务空间与传输底座 (E0 / E1 门禁)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PVT-00 业务收益评估：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评估目标业务流量 Saved-Prefill 上限，冻结复用分布。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PVT-01 零触碰底座：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HBM / DDR / SSD 真实可达性，建立 CapabilityMatrix。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E0/E1 准入门槛：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确认业务具备复用空间，底层硬件路径与真实观测闭环。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2" y="1572768"/>
            <a:ext cx="2633472" cy="30906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语义编译与选路决策 (E1 / E2 门禁)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PVT-02 DAG 流水编译：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异构框架 Layout 编译器与异步 DAG 验证，重叠率 ≥60%。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PVT-03 UBMEM 边界：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UBMEM 元数据快路径，完整查询 P99 &lt; 5 µs。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PVT-04 动态决策引擎：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QueryPlan 微秒选路，动态决策准确率 &gt; 95%。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分层容量与消费资格 (E2 门禁)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PVT-05 HBM-SSD 直达：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Direct PCIe DMA 容量主路径，DDR 角色退出准则。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PVT-06 0 错误消费校验：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验证 ConsumeEligibility，错误与陈旧消费精确为 0。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E2 准入门槛：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多介质净收益成立，租户隔离与消费安全 100% 达标。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7696" y="1572768"/>
            <a:ext cx="2633472" cy="30906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07424" y="1645920"/>
            <a:ext cx="241401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47857"/>
                </a:solidFill>
                <a:latin typeface="Microsoft YaHei"/>
              </a:defRPr>
            </a:pPr>
            <a:r>
              <a:t>薄闭环验收与总门禁 (E3 最终门禁)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PVT-07 混压薄闭环：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前后台混压端到端薄闭环与 SemanticQoS 干扰包络验证。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3 项 CVT 条件证伪：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CVT-01 多播、CVT-02 原子迁移、CVT-03 DPU 卸载证伪。</a:t>
            </a:r>
          </a:p>
          <a:p>
            <a:pPr>
              <a:lnSpc>
                <a:spcPct val="118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▶ E3 投资释放门禁：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相对开源在 P99 TTFT 与单位成本上形成显著收益，释放资源。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82312"/>
            <a:ext cx="1082009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Microsoft YaHei"/>
              </a:defRPr>
            </a:pPr>
            <a:r>
              <a:t>【严密 No-Go 止损与分阶段资源释放机制（安全可控立项）】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0F172A"/>
                </a:solidFill>
                <a:latin typeface="Microsoft YaHei"/>
              </a:defRPr>
            </a:pPr>
            <a:r>
              <a:t>1. W0 止损: 若目标业务自然前缀复用空间 &lt; 15%，或底层硬件 URMA 路径不可达，立即终止全池研发，退回单机框架适配。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0F172A"/>
                </a:solidFill>
                <a:latin typeface="Microsoft YaHei"/>
              </a:defRPr>
            </a:pPr>
            <a:r>
              <a:t>2. W1 止损: 若 UBMEM 控制面 P99 &gt; 20 µs 或 PVT-04 动态选路准确率 &lt; 85%，放弃跨节点选路，缩项为本地只读共享缓存。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0F172A"/>
                </a:solidFill>
                <a:latin typeface="Microsoft YaHei"/>
              </a:defRPr>
            </a:pPr>
            <a:r>
              <a:t>3. W2/W3 止损: 若 HBM ↔ SSD DMA 时延劣于重算，或混压下 P99 TPOT 抖动 &gt; 5%，停止全介质分层，维持 HBM 独立管理并安全止损！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立项决策建议：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建议评审委员会批准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“有条件、分阶段”立项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：先以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周原型验证购买关键事实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，按 E0～E3 逐级释放投资，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若假设不成立则安全止损缩项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