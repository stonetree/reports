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78df008ec834ba5" /><Relationship Type="http://schemas.openxmlformats.org/officeDocument/2006/relationships/extended-properties" Target="/docProps/app.xml" Id="R79d7e79cb43e4094" /><Relationship Type="http://schemas.openxmlformats.org/officeDocument/2006/relationships/officeDocument" Target="/ppt/presentation.xml" Id="Rd89bd6419fc54805" /></Relationships>
</file>

<file path=ppt/presentation.xml><?xml version="1.0" encoding="utf-8"?>
<p:presentation xmlns:p="http://schemas.openxmlformats.org/presentationml/2006/main">
  <p:sldMasterIdLst>
    <p:sldMasterId xmlns:r="http://schemas.openxmlformats.org/officeDocument/2006/relationships" id="2147483648" r:id="R8a229a5f9be84ce9"/>
  </p:sldMasterIdLst>
  <p:notesMasterIdLst>
    <p:notesMasterId xmlns:r="http://schemas.openxmlformats.org/officeDocument/2006/relationships" r:id="R5a7bcbf7dbcf4bc3"/>
  </p:notesMasterIdLst>
  <p:sldIdLst>
    <p:sldId xmlns:r="http://schemas.openxmlformats.org/officeDocument/2006/relationships" id="256" r:id="Rbdb54671aa7c4416"/>
    <p:sldId xmlns:r="http://schemas.openxmlformats.org/officeDocument/2006/relationships" id="257" r:id="Rf622fc4b28ee4182"/>
    <p:sldId xmlns:r="http://schemas.openxmlformats.org/officeDocument/2006/relationships" id="258" r:id="R6c5bcccb4fcb47d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0f5d386d9f84d35" /><Relationship Type="http://schemas.openxmlformats.org/officeDocument/2006/relationships/slideMaster" Target="/ppt/slideMasters/slideMaster1.xml" Id="R8a229a5f9be84ce9" /><Relationship Type="http://schemas.openxmlformats.org/officeDocument/2006/relationships/notesMaster" Target="/ppt/notesMasters/notesMaster1.xml" Id="R5a7bcbf7dbcf4bc3" /><Relationship Type="http://schemas.openxmlformats.org/officeDocument/2006/relationships/presProps" Target="/ppt/presProps.xml" Id="Rf2f45b1bab8a47c0" /><Relationship Type="http://schemas.openxmlformats.org/officeDocument/2006/relationships/tableStyles" Target="/ppt/tableStyles.xml" Id="Rcff61a78f5304a9e" /><Relationship Type="http://schemas.openxmlformats.org/officeDocument/2006/relationships/slide" Target="/ppt/slides/slide1.xml" Id="Rbdb54671aa7c4416" /><Relationship Type="http://schemas.openxmlformats.org/officeDocument/2006/relationships/slide" Target="/ppt/slides/slide2.xml" Id="Rf622fc4b28ee4182" /><Relationship Type="http://schemas.openxmlformats.org/officeDocument/2006/relationships/slide" Target="/ppt/slides/slide3.xml" Id="R6c5bcccb4fcb47d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cff235ee6814a8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34c49cace324b10" /><Relationship Type="http://schemas.openxmlformats.org/officeDocument/2006/relationships/notesMaster" Target="/ppt/notesMasters/notesMaster1.xml" Id="Rc6362e130cde4b57" /></Relationships>
</file>

<file path=ppt/notesSlides/_rels/notesSlide2.xml.rels>&#65279;<?xml version="1.0" encoding="utf-8"?><Relationships xmlns="http://schemas.openxmlformats.org/package/2006/relationships"><Relationship Type="http://schemas.openxmlformats.org/officeDocument/2006/relationships/slide" Target="/ppt/slides/slide2.xml" Id="R25cfad7d1fd3468e" /><Relationship Type="http://schemas.openxmlformats.org/officeDocument/2006/relationships/notesMaster" Target="/ppt/notesMasters/notesMaster1.xml" Id="Rdd46a441f5374a50" /></Relationships>
</file>

<file path=ppt/notesSlides/_rels/notesSlide3.xml.rels>&#65279;<?xml version="1.0" encoding="utf-8"?><Relationships xmlns="http://schemas.openxmlformats.org/package/2006/relationships"><Relationship Type="http://schemas.openxmlformats.org/officeDocument/2006/relationships/slide" Target="/ppt/slides/slide3.xml" Id="R11895d6866de47fa" /><Relationship Type="http://schemas.openxmlformats.org/officeDocument/2006/relationships/notesMaster" Target="/ppt/notesMasters/notesMaster1.xml" Id="R80c788401f1f4d7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一页先讲清为什么值得做KVC优化。在共享长前缀、多轮对话等场景中，缓存复用可以避免重新计算已有上下文，减少首字等待。缓存命中并不意味着请求可以立即开始生成，前面还有查找、控制处理、数据提交和加载。这些开销较大时，复用收益会被抵消，甚至可能慢于本地重算。我们的工作因此聚焦两个方面：控制面减少查询和处理等待，数据面减少加载和提交等待，同时观察后台搬运是否影响前台逐字生成。本页右侧预留真实对照图，后续可选一个代表模型和输入长度展示缓存复用与本地重算的首字时延。没有同条件原始记录前不填写数值，不把局部检索改善或主机通信带宽当作在线系统收益。</a:t>
            </a:r>
          </a:p>
          <a:p xmlns:a="http://schemas.openxmlformats.org/drawingml/2006/main">
            <a:r>
              <a:t>来源：统一异构KVCache存储池_关键技术汇报_两轮评审修订版_V10_20261008.pptx（第1、4、9、10、11页）；模型与参数说明V10。原文件未修改。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二页说明我们沿哪些方向开展探索。控制面优先关注前缀检索和元数据处理，减少查询往返及排队等待；数据传输通路重点核对设备之间的数据实际经过哪里，测清不同通道和拓扑条件下的有效能力；数据组织与流水则针对离散小块提交和首层等待，探索连续块合并、批量提交与按层计算传输衔接。选路和资源控制用于处理拉取可能慢于重算、后台搬运可能挤占前台资源的情况。这里列出的是工作方向，不代表所有机制已实现或已经得到在线收益。右侧预留同条件路径耗时分解，以便后续用实际数据解释控制处理和数据搬运分别占多少。最终按可重复收益、适用场景和实现代价选择开发范围。</a:t>
            </a:r>
          </a:p>
          <a:p xmlns:a="http://schemas.openxmlformats.org/drawingml/2006/main">
            <a:r>
              <a:t>来源：统一异构KVCache存储池_关键技术汇报_两轮评审修订版_V10_20261008.pptx（第1、4、9、10、11页）；模型与参数说明V10。原文件未修改。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后一页把近期工作收敛为三周验证。第一周固定基线和配置，复核已有检索、通信记录，测清各环节开销；第二周围绕代表场景验证单项优化，包括控制面检索、实际业务块传输、批量提交和流水，同时比较拉取与重算的使用边界；第三周复跑重点场景，开展少量组合和前后台混压对照，记录可重复性、实现代价、退化点以及后台是否持续完成搬运。三周产出应是场景化的收益证据和开发取舍，不能用测试表填写数量或任务完成比例代替技术结论。阶段结束决定进入正式开发、补充验证或暂缓。只有技术可行性、开发范围和资源确认后，才转入三个月正式开发。这里用相对周次表达工作安排，不把未经核对的样例进展当成完成状态。</a:t>
            </a:r>
          </a:p>
          <a:p xmlns:a="http://schemas.openxmlformats.org/drawingml/2006/main">
            <a:r>
              <a:t>来源：统一异构KVCache存储池_关键技术汇报_两轮评审修订版_V10_20261008.pptx（第1、4、9、10、11页）；模型与参数说明V10。原文件未修改。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316622e06134f2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88a9309d6344f7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192f541fa8c484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6743eb53f8d482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a00e964cb1b46b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c2b83c196bb4fc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965F539-2B84-4B15-BACE-383D3879BB4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BAF39B3-D5D7-40BA-B063-19AE534ED24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91E9BAF-05EC-4AE9-9925-8B1A716ECAF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EC46B81-E18C-4E17-894C-EC6FE5A3948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5471B0F-8102-45FC-BB61-E0F360DC4C1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AB0F90A-D837-42D2-922B-DBE809C713D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E47F1BD-F4C4-49B3-80AE-E00F5B18393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6B03AB8-4AF0-4A9E-B3B8-D8825EA69F8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F20116-557E-4A94-8A60-26BEAD80893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506BF16-4291-45FC-82C6-B87A0A397BC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34cf0b9acb64ee9" /><Relationship Type="http://schemas.openxmlformats.org/officeDocument/2006/relationships/slideLayout" Target="/ppt/slideLayouts/slideLayout1.xml" Id="R044c878d8c134744" /><Relationship Type="http://schemas.openxmlformats.org/officeDocument/2006/relationships/slideLayout" Target="/ppt/slideLayouts/slideLayout2.xml" Id="Rfe0b0c3807954a27" /><Relationship Type="http://schemas.openxmlformats.org/officeDocument/2006/relationships/slideLayout" Target="/ppt/slideLayouts/slideLayout3.xml" Id="Ra956e99783b14470" /><Relationship Type="http://schemas.openxmlformats.org/officeDocument/2006/relationships/slideLayout" Target="/ppt/slideLayouts/slideLayout4.xml" Id="R99c1396a345b457e" /><Relationship Type="http://schemas.openxmlformats.org/officeDocument/2006/relationships/slideLayout" Target="/ppt/slideLayouts/slideLayout5.xml" Id="R245239030d7146f1" /><Relationship Type="http://schemas.openxmlformats.org/officeDocument/2006/relationships/slideLayout" Target="/ppt/slideLayouts/slideLayout6.xml" Id="R0e5646a77d3d4e9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44c878d8c134744"/>
    <p:sldLayoutId xmlns:r="http://schemas.openxmlformats.org/officeDocument/2006/relationships" id="2147483650" r:id="Rfe0b0c3807954a27"/>
    <p:sldLayoutId xmlns:r="http://schemas.openxmlformats.org/officeDocument/2006/relationships" id="2147483651" r:id="Ra956e99783b14470"/>
    <p:sldLayoutId xmlns:r="http://schemas.openxmlformats.org/officeDocument/2006/relationships" id="2147483652" r:id="R99c1396a345b457e"/>
    <p:sldLayoutId xmlns:r="http://schemas.openxmlformats.org/officeDocument/2006/relationships" id="2147483653" r:id="R245239030d7146f1"/>
    <p:sldLayoutId xmlns:r="http://schemas.openxmlformats.org/officeDocument/2006/relationships" id="2147483654" r:id="R0e5646a77d3d4e9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5deedac3e9c434a" /><Relationship Type="http://schemas.openxmlformats.org/officeDocument/2006/relationships/notesSlide" Target="/ppt/notesSlides/notesSlide1.xml" Id="Rc447ffe9441f499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79e746710974f02" /><Relationship Type="http://schemas.openxmlformats.org/officeDocument/2006/relationships/notesSlide" Target="/ppt/notesSlides/notesSlide2.xml" Id="R04b567519b03496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0b4cae9aa974833" /><Relationship Type="http://schemas.openxmlformats.org/officeDocument/2006/relationships/notesSlide" Target="/ppt/notesSlides/notesSlide3.xml" Id="Rb508ff7de82b495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19AF25B-6B94-458C-9B05-275D19D26B0A}"/>
              </a:ext>
            </a:extLst>
          </p:cNvPr>
          <p:cNvSpPr>
            <a:spLocks xmlns:a="http://schemas.openxmlformats.org/drawingml/2006/main" noGrp="1"/>
          </p:cNvSpPr>
          <p:nvPr/>
        </p:nvSpPr>
        <p:spPr>
          <a:xfrm xmlns:a="http://schemas.openxmlformats.org/drawingml/2006/main">
            <a:off x="457200" y="323850"/>
            <a:ext cx="11239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00" b="1">
                <a:solidFill>
                  <a:srgbClr val="1E3A8A"/>
                </a:solidFill>
                <a:latin typeface="Microsoft YaHei"/>
                <a:ea typeface="Microsoft YaHei"/>
                <a:cs typeface="Microsoft YaHei"/>
              </a:defRPr>
            </a:defPPr>
          </a:lstStyle>
          <a:p xmlns:a="http://schemas.openxmlformats.org/drawingml/2006/main">
            <a:pPr algn="l">
              <a:defRPr sz="2700" b="1">
                <a:solidFill>
                  <a:srgbClr val="1E3A8A"/>
                </a:solidFill>
                <a:latin typeface="Microsoft YaHei"/>
                <a:ea typeface="Microsoft YaHei"/>
                <a:cs typeface="Microsoft YaHei"/>
              </a:defRPr>
            </a:pPr>
            <a:r>
              <a:rPr sz="2700" b="1">
                <a:solidFill>
                  <a:srgbClr val="1E3A8A"/>
                </a:solidFill>
                <a:latin typeface="Microsoft YaHei"/>
                <a:ea typeface="Microsoft YaHei"/>
                <a:cs typeface="Microsoft YaHei"/>
              </a:rPr>
              <a:t>KVC 优化的价值与工作切入点</a:t>
            </a:r>
          </a:p>
        </p:txBody>
      </p:sp>
      <p:sp>
        <p:nvSpPr>
          <p:cNvPr id="2" name="">
            <a:extLst xmlns:a="http://schemas.openxmlformats.org/drawingml/2006/main">
              <a:ext uri="{FF2B5EF4-FFF2-40B4-BE49-F238E27FC236}">
                <a16:creationId xmlns:a16="http://schemas.microsoft.com/office/drawing/2014/main" id="{F746FF25-A715-4D12-A0C7-3139D7C172DD}"/>
              </a:ext>
            </a:extLst>
          </p:cNvPr>
          <p:cNvSpPr>
            <a:spLocks xmlns:a="http://schemas.openxmlformats.org/drawingml/2006/main" noGrp="1"/>
          </p:cNvSpPr>
          <p:nvPr/>
        </p:nvSpPr>
        <p:spPr>
          <a:xfrm xmlns:a="http://schemas.openxmlformats.org/drawingml/2006/main">
            <a:off x="457200" y="9334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475569"/>
                </a:solidFill>
                <a:latin typeface="Microsoft YaHei"/>
                <a:ea typeface="Microsoft YaHei"/>
                <a:cs typeface="Microsoft YaHei"/>
              </a:defRPr>
            </a:defPPr>
          </a:lstStyle>
          <a:p xmlns:a="http://schemas.openxmlformats.org/drawingml/2006/main">
            <a:pPr algn="l">
              <a:defRPr sz="1500" b="0">
                <a:solidFill>
                  <a:srgbClr val="475569"/>
                </a:solidFill>
                <a:latin typeface="Microsoft YaHei"/>
                <a:ea typeface="Microsoft YaHei"/>
                <a:cs typeface="Microsoft YaHei"/>
              </a:defRPr>
            </a:pPr>
            <a:r>
              <a:rPr sz="1500" b="0">
                <a:solidFill>
                  <a:srgbClr val="475569"/>
                </a:solidFill>
                <a:latin typeface="Microsoft YaHei"/>
                <a:ea typeface="Microsoft YaHei"/>
                <a:cs typeface="Microsoft YaHei"/>
              </a:rPr>
              <a:t>KVC（大模型注意力键值缓存）复用历史计算状态，减少重复预计算</a:t>
            </a:r>
          </a:p>
        </p:txBody>
      </p:sp>
      <p:sp>
        <p:nvSpPr>
          <p:cNvPr id="3" name="">
            <a:extLst xmlns:a="http://schemas.openxmlformats.org/drawingml/2006/main">
              <a:ext uri="{FF2B5EF4-FFF2-40B4-BE49-F238E27FC236}">
                <a16:creationId xmlns:a16="http://schemas.microsoft.com/office/drawing/2014/main" id="{90C36243-CE46-415F-B267-B72E07C9D8CA}"/>
              </a:ext>
            </a:extLst>
          </p:cNvPr>
          <p:cNvSpPr>
            <a:spLocks xmlns:a="http://schemas.openxmlformats.org/drawingml/2006/main" noGrp="1"/>
          </p:cNvSpPr>
          <p:nvPr/>
        </p:nvSpPr>
        <p:spPr>
          <a:xfrm xmlns:a="http://schemas.openxmlformats.org/drawingml/2006/main">
            <a:off x="457200" y="1495425"/>
            <a:ext cx="11277600" cy="19050"/>
          </a:xfrm>
          <a:prstGeom xmlns:a="http://schemas.openxmlformats.org/drawingml/2006/main" prst="rect">
            <a:avLst/>
          </a:prstGeom>
          <a:solidFill xmlns:a="http://schemas.openxmlformats.org/drawingml/2006/main">
            <a:srgbClr val="1E3A8A"/>
          </a:solidFill>
          <a:ln xmlns:a="http://schemas.openxmlformats.org/drawingml/2006/main" w="12383">
            <a:solidFill>
              <a:srgbClr val="1E3A8A"/>
            </a:solidFill>
            <a:prstDash val="solid"/>
          </a:ln>
        </p:spPr>
      </p:sp>
      <p:sp>
        <p:nvSpPr>
          <p:cNvPr id="4" name="">
            <a:extLst xmlns:a="http://schemas.openxmlformats.org/drawingml/2006/main">
              <a:ext uri="{FF2B5EF4-FFF2-40B4-BE49-F238E27FC236}">
                <a16:creationId xmlns:a16="http://schemas.microsoft.com/office/drawing/2014/main" id="{371F9E10-5832-4DB3-95D7-BB94B36F5C77}"/>
              </a:ext>
            </a:extLst>
          </p:cNvPr>
          <p:cNvSpPr>
            <a:spLocks xmlns:a="http://schemas.openxmlformats.org/drawingml/2006/main" noGrp="1"/>
          </p:cNvSpPr>
          <p:nvPr/>
        </p:nvSpPr>
        <p:spPr>
          <a:xfrm xmlns:a="http://schemas.openxmlformats.org/drawingml/2006/main">
            <a:off x="457200" y="643890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475569"/>
                </a:solidFill>
                <a:latin typeface="Microsoft YaHei"/>
                <a:ea typeface="Microsoft YaHei"/>
                <a:cs typeface="Microsoft YaHei"/>
              </a:defRPr>
            </a:defPPr>
          </a:lstStyle>
          <a:p xmlns:a="http://schemas.openxmlformats.org/drawingml/2006/main">
            <a:pPr algn="l">
              <a:defRPr sz="1125" b="0">
                <a:solidFill>
                  <a:srgbClr val="475569"/>
                </a:solidFill>
                <a:latin typeface="Microsoft YaHei"/>
                <a:ea typeface="Microsoft YaHei"/>
                <a:cs typeface="Microsoft YaHei"/>
              </a:defRPr>
            </a:pPr>
            <a:r>
              <a:rPr sz="1125" b="0">
                <a:solidFill>
                  <a:srgbClr val="475569"/>
                </a:solidFill>
                <a:latin typeface="Microsoft YaHei"/>
                <a:ea typeface="Microsoft YaHei"/>
                <a:cs typeface="Microsoft YaHei"/>
              </a:rPr>
              <a:t>KVC 工作汇报 · 2026-10-15</a:t>
            </a:r>
          </a:p>
        </p:txBody>
      </p:sp>
      <p:sp>
        <p:nvSpPr>
          <p:cNvPr id="5" name="">
            <a:extLst xmlns:a="http://schemas.openxmlformats.org/drawingml/2006/main">
              <a:ext uri="{FF2B5EF4-FFF2-40B4-BE49-F238E27FC236}">
                <a16:creationId xmlns:a16="http://schemas.microsoft.com/office/drawing/2014/main" id="{3226E1A3-EB03-47E4-A9CC-30F219FB5C0F}"/>
              </a:ext>
            </a:extLst>
          </p:cNvPr>
          <p:cNvSpPr>
            <a:spLocks xmlns:a="http://schemas.openxmlformats.org/drawingml/2006/main" noGrp="1"/>
          </p:cNvSpPr>
          <p:nvPr/>
        </p:nvSpPr>
        <p:spPr>
          <a:xfrm xmlns:a="http://schemas.openxmlformats.org/drawingml/2006/main">
            <a:off x="1127760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00" b="0">
                <a:solidFill>
                  <a:srgbClr val="475569"/>
                </a:solidFill>
                <a:latin typeface="Microsoft YaHei"/>
                <a:ea typeface="Microsoft YaHei"/>
                <a:cs typeface="Microsoft YaHei"/>
              </a:defRPr>
            </a:defPPr>
          </a:lstStyle>
          <a:p xmlns:a="http://schemas.openxmlformats.org/drawingml/2006/main">
            <a:pPr algn="r">
              <a:defRPr sz="1200" b="0">
                <a:solidFill>
                  <a:srgbClr val="475569"/>
                </a:solidFill>
                <a:latin typeface="Microsoft YaHei"/>
                <a:ea typeface="Microsoft YaHei"/>
                <a:cs typeface="Microsoft YaHei"/>
              </a:defRPr>
            </a:pPr>
            <a:r>
              <a:rPr sz="1200" b="0">
                <a:solidFill>
                  <a:srgbClr val="475569"/>
                </a:solidFill>
                <a:latin typeface="Microsoft YaHei"/>
                <a:ea typeface="Microsoft YaHei"/>
                <a:cs typeface="Microsoft YaHei"/>
              </a:rPr>
              <a:t>01</a:t>
            </a:r>
          </a:p>
        </p:txBody>
      </p:sp>
      <p:sp>
        <p:nvSpPr>
          <p:cNvPr id="6" name="">
            <a:extLst xmlns:a="http://schemas.openxmlformats.org/drawingml/2006/main">
              <a:ext uri="{FF2B5EF4-FFF2-40B4-BE49-F238E27FC236}">
                <a16:creationId xmlns:a16="http://schemas.microsoft.com/office/drawing/2014/main" id="{8AD8187A-23B3-4518-B990-DCF1F591CE1C}"/>
              </a:ext>
            </a:extLst>
          </p:cNvPr>
          <p:cNvSpPr>
            <a:spLocks xmlns:a="http://schemas.openxmlformats.org/drawingml/2006/main" noGrp="1"/>
          </p:cNvSpPr>
          <p:nvPr/>
        </p:nvSpPr>
        <p:spPr>
          <a:xfrm xmlns:a="http://schemas.openxmlformats.org/drawingml/2006/main">
            <a:off x="457200" y="1819275"/>
            <a:ext cx="657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1D4ED8"/>
                </a:solidFill>
                <a:latin typeface="Microsoft YaHei"/>
                <a:ea typeface="Microsoft YaHei"/>
                <a:cs typeface="Microsoft YaHei"/>
              </a:defRPr>
            </a:defPPr>
          </a:lstStyle>
          <a:p xmlns:a="http://schemas.openxmlformats.org/drawingml/2006/main">
            <a:pPr algn="l">
              <a:defRPr sz="2025" b="1">
                <a:solidFill>
                  <a:srgbClr val="1D4ED8"/>
                </a:solidFill>
                <a:latin typeface="Microsoft YaHei"/>
                <a:ea typeface="Microsoft YaHei"/>
                <a:cs typeface="Microsoft YaHei"/>
              </a:defRPr>
            </a:pPr>
            <a:r>
              <a:rPr sz="2025" b="1">
                <a:solidFill>
                  <a:srgbClr val="1D4ED8"/>
                </a:solidFill>
                <a:latin typeface="Microsoft YaHei"/>
                <a:ea typeface="Microsoft YaHei"/>
                <a:cs typeface="Microsoft YaHei"/>
              </a:rPr>
              <a:t>缓存复用的价值</a:t>
            </a:r>
          </a:p>
        </p:txBody>
      </p:sp>
      <p:sp>
        <p:nvSpPr>
          <p:cNvPr id="7" name="">
            <a:extLst xmlns:a="http://schemas.openxmlformats.org/drawingml/2006/main">
              <a:ext uri="{FF2B5EF4-FFF2-40B4-BE49-F238E27FC236}">
                <a16:creationId xmlns:a16="http://schemas.microsoft.com/office/drawing/2014/main" id="{1E62E8DF-265F-4C1B-A13A-8C3B1FBFD3F1}"/>
              </a:ext>
            </a:extLst>
          </p:cNvPr>
          <p:cNvSpPr>
            <a:spLocks xmlns:a="http://schemas.openxmlformats.org/drawingml/2006/main" noGrp="1"/>
          </p:cNvSpPr>
          <p:nvPr/>
        </p:nvSpPr>
        <p:spPr>
          <a:xfrm xmlns:a="http://schemas.openxmlformats.org/drawingml/2006/main">
            <a:off x="457200" y="2238375"/>
            <a:ext cx="6762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0F172A"/>
                </a:solidFill>
                <a:latin typeface="Microsoft YaHei"/>
                <a:ea typeface="Microsoft YaHei"/>
                <a:cs typeface="Microsoft YaHei"/>
              </a:defRPr>
            </a:defPPr>
          </a:lstStyle>
          <a:p xmlns:a="http://schemas.openxmlformats.org/drawingml/2006/main">
            <a:pPr algn="l">
              <a:defRPr sz="1725" b="0">
                <a:solidFill>
                  <a:srgbClr val="0F172A"/>
                </a:solidFill>
                <a:latin typeface="Microsoft YaHei"/>
                <a:ea typeface="Microsoft YaHei"/>
                <a:cs typeface="Microsoft YaHei"/>
              </a:defRPr>
            </a:pPr>
            <a:r>
              <a:rPr sz="1725" b="0">
                <a:solidFill>
                  <a:srgbClr val="0F172A"/>
                </a:solidFill>
                <a:latin typeface="Microsoft YaHei"/>
                <a:ea typeface="Microsoft YaHei"/>
                <a:cs typeface="Microsoft YaHei"/>
              </a:rPr>
              <a:t>共享长前缀、多轮对话等场景可复用已有缓存，</a:t>
            </a:r>
          </a:p>
          <a:p xmlns:a="http://schemas.openxmlformats.org/drawingml/2006/main">
            <a:pPr algn="l">
              <a:defRPr sz="1725" b="0">
                <a:solidFill>
                  <a:srgbClr val="0F172A"/>
                </a:solidFill>
                <a:latin typeface="Microsoft YaHei"/>
                <a:ea typeface="Microsoft YaHei"/>
                <a:cs typeface="Microsoft YaHei"/>
              </a:defRPr>
            </a:pPr>
            <a:r>
              <a:rPr sz="1725" b="0">
                <a:solidFill>
                  <a:srgbClr val="0F172A"/>
                </a:solidFill>
                <a:latin typeface="Microsoft YaHei"/>
                <a:ea typeface="Microsoft YaHei"/>
                <a:cs typeface="Microsoft YaHei"/>
              </a:rPr>
              <a:t>减少重复计算，缩短首字等待。</a:t>
            </a:r>
          </a:p>
        </p:txBody>
      </p:sp>
      <p:sp>
        <p:nvSpPr>
          <p:cNvPr id="8" name="">
            <a:extLst xmlns:a="http://schemas.openxmlformats.org/drawingml/2006/main">
              <a:ext uri="{FF2B5EF4-FFF2-40B4-BE49-F238E27FC236}">
                <a16:creationId xmlns:a16="http://schemas.microsoft.com/office/drawing/2014/main" id="{8A3E524D-1CD1-4A17-8409-8E4344F4855B}"/>
              </a:ext>
            </a:extLst>
          </p:cNvPr>
          <p:cNvSpPr>
            <a:spLocks xmlns:a="http://schemas.openxmlformats.org/drawingml/2006/main" noGrp="1"/>
          </p:cNvSpPr>
          <p:nvPr/>
        </p:nvSpPr>
        <p:spPr>
          <a:xfrm xmlns:a="http://schemas.openxmlformats.org/drawingml/2006/main">
            <a:off x="457200" y="3124200"/>
            <a:ext cx="657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1D4ED8"/>
                </a:solidFill>
                <a:latin typeface="Microsoft YaHei"/>
                <a:ea typeface="Microsoft YaHei"/>
                <a:cs typeface="Microsoft YaHei"/>
              </a:defRPr>
            </a:defPPr>
          </a:lstStyle>
          <a:p xmlns:a="http://schemas.openxmlformats.org/drawingml/2006/main">
            <a:pPr algn="l">
              <a:defRPr sz="2025" b="1">
                <a:solidFill>
                  <a:srgbClr val="1D4ED8"/>
                </a:solidFill>
                <a:latin typeface="Microsoft YaHei"/>
                <a:ea typeface="Microsoft YaHei"/>
                <a:cs typeface="Microsoft YaHei"/>
              </a:defRPr>
            </a:pPr>
            <a:r>
              <a:rPr sz="2025" b="1">
                <a:solidFill>
                  <a:srgbClr val="1D4ED8"/>
                </a:solidFill>
                <a:latin typeface="Microsoft YaHei"/>
                <a:ea typeface="Microsoft YaHei"/>
                <a:cs typeface="Microsoft YaHei"/>
              </a:rPr>
              <a:t>为什么还需要优化</a:t>
            </a:r>
          </a:p>
        </p:txBody>
      </p:sp>
      <p:sp>
        <p:nvSpPr>
          <p:cNvPr id="9" name="">
            <a:extLst xmlns:a="http://schemas.openxmlformats.org/drawingml/2006/main">
              <a:ext uri="{FF2B5EF4-FFF2-40B4-BE49-F238E27FC236}">
                <a16:creationId xmlns:a16="http://schemas.microsoft.com/office/drawing/2014/main" id="{CEDF7E0A-6782-4845-B34B-11204117FCC4}"/>
              </a:ext>
            </a:extLst>
          </p:cNvPr>
          <p:cNvSpPr>
            <a:spLocks xmlns:a="http://schemas.openxmlformats.org/drawingml/2006/main" noGrp="1"/>
          </p:cNvSpPr>
          <p:nvPr/>
        </p:nvSpPr>
        <p:spPr>
          <a:xfrm xmlns:a="http://schemas.openxmlformats.org/drawingml/2006/main">
            <a:off x="457200" y="3543300"/>
            <a:ext cx="6762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0F172A"/>
                </a:solidFill>
                <a:latin typeface="Microsoft YaHei"/>
                <a:ea typeface="Microsoft YaHei"/>
                <a:cs typeface="Microsoft YaHei"/>
              </a:defRPr>
            </a:defPPr>
          </a:lstStyle>
          <a:p xmlns:a="http://schemas.openxmlformats.org/drawingml/2006/main">
            <a:pPr algn="l">
              <a:defRPr sz="1725" b="0">
                <a:solidFill>
                  <a:srgbClr val="0F172A"/>
                </a:solidFill>
                <a:latin typeface="Microsoft YaHei"/>
                <a:ea typeface="Microsoft YaHei"/>
                <a:cs typeface="Microsoft YaHei"/>
              </a:defRPr>
            </a:pPr>
            <a:r>
              <a:rPr sz="1725" b="0">
                <a:solidFill>
                  <a:srgbClr val="0F172A"/>
                </a:solidFill>
                <a:latin typeface="Microsoft YaHei"/>
                <a:ea typeface="Microsoft YaHei"/>
                <a:cs typeface="Microsoft YaHei"/>
              </a:rPr>
              <a:t>缓存命中后仍要查找、提交和加载数据；</a:t>
            </a:r>
          </a:p>
          <a:p xmlns:a="http://schemas.openxmlformats.org/drawingml/2006/main">
            <a:pPr algn="l">
              <a:defRPr sz="1725" b="0">
                <a:solidFill>
                  <a:srgbClr val="0F172A"/>
                </a:solidFill>
                <a:latin typeface="Microsoft YaHei"/>
                <a:ea typeface="Microsoft YaHei"/>
                <a:cs typeface="Microsoft YaHei"/>
              </a:defRPr>
            </a:pPr>
            <a:r>
              <a:rPr sz="1725" b="0">
                <a:solidFill>
                  <a:srgbClr val="0F172A"/>
                </a:solidFill>
                <a:latin typeface="Microsoft YaHei"/>
                <a:ea typeface="Microsoft YaHei"/>
                <a:cs typeface="Microsoft YaHei"/>
              </a:rPr>
              <a:t>这些额外开销会抵消复用收益。</a:t>
            </a:r>
          </a:p>
        </p:txBody>
      </p:sp>
      <p:sp>
        <p:nvSpPr>
          <p:cNvPr id="10" name="">
            <a:extLst xmlns:a="http://schemas.openxmlformats.org/drawingml/2006/main">
              <a:ext uri="{FF2B5EF4-FFF2-40B4-BE49-F238E27FC236}">
                <a16:creationId xmlns:a16="http://schemas.microsoft.com/office/drawing/2014/main" id="{091BD71A-2F13-44BE-A9F3-252EEFE983FA}"/>
              </a:ext>
            </a:extLst>
          </p:cNvPr>
          <p:cNvSpPr>
            <a:spLocks xmlns:a="http://schemas.openxmlformats.org/drawingml/2006/main" noGrp="1"/>
          </p:cNvSpPr>
          <p:nvPr/>
        </p:nvSpPr>
        <p:spPr>
          <a:xfrm xmlns:a="http://schemas.openxmlformats.org/drawingml/2006/main">
            <a:off x="457200" y="4429125"/>
            <a:ext cx="657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1D4ED8"/>
                </a:solidFill>
                <a:latin typeface="Microsoft YaHei"/>
                <a:ea typeface="Microsoft YaHei"/>
                <a:cs typeface="Microsoft YaHei"/>
              </a:defRPr>
            </a:defPPr>
          </a:lstStyle>
          <a:p xmlns:a="http://schemas.openxmlformats.org/drawingml/2006/main">
            <a:pPr algn="l">
              <a:defRPr sz="2025" b="1">
                <a:solidFill>
                  <a:srgbClr val="1D4ED8"/>
                </a:solidFill>
                <a:latin typeface="Microsoft YaHei"/>
                <a:ea typeface="Microsoft YaHei"/>
                <a:cs typeface="Microsoft YaHei"/>
              </a:defRPr>
            </a:pPr>
            <a:r>
              <a:rPr sz="2025" b="1">
                <a:solidFill>
                  <a:srgbClr val="1D4ED8"/>
                </a:solidFill>
                <a:latin typeface="Microsoft YaHei"/>
                <a:ea typeface="Microsoft YaHei"/>
                <a:cs typeface="Microsoft YaHei"/>
              </a:rPr>
              <a:t>我们的工作切入点</a:t>
            </a:r>
          </a:p>
        </p:txBody>
      </p:sp>
      <p:sp>
        <p:nvSpPr>
          <p:cNvPr id="11" name="">
            <a:extLst xmlns:a="http://schemas.openxmlformats.org/drawingml/2006/main">
              <a:ext uri="{FF2B5EF4-FFF2-40B4-BE49-F238E27FC236}">
                <a16:creationId xmlns:a16="http://schemas.microsoft.com/office/drawing/2014/main" id="{1CFAC95C-7E28-4FCD-BB9B-18D64A3CBA0B}"/>
              </a:ext>
            </a:extLst>
          </p:cNvPr>
          <p:cNvSpPr>
            <a:spLocks xmlns:a="http://schemas.openxmlformats.org/drawingml/2006/main" noGrp="1"/>
          </p:cNvSpPr>
          <p:nvPr/>
        </p:nvSpPr>
        <p:spPr>
          <a:xfrm xmlns:a="http://schemas.openxmlformats.org/drawingml/2006/main">
            <a:off x="457200" y="4848225"/>
            <a:ext cx="6762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0">
                <a:solidFill>
                  <a:srgbClr val="0F172A"/>
                </a:solidFill>
                <a:latin typeface="Microsoft YaHei"/>
                <a:ea typeface="Microsoft YaHei"/>
                <a:cs typeface="Microsoft YaHei"/>
              </a:defRPr>
            </a:defPPr>
          </a:lstStyle>
          <a:p xmlns:a="http://schemas.openxmlformats.org/drawingml/2006/main">
            <a:pPr algn="l">
              <a:defRPr sz="1725" b="0">
                <a:solidFill>
                  <a:srgbClr val="0F172A"/>
                </a:solidFill>
                <a:latin typeface="Microsoft YaHei"/>
                <a:ea typeface="Microsoft YaHei"/>
                <a:cs typeface="Microsoft YaHei"/>
              </a:defRPr>
            </a:pPr>
            <a:r>
              <a:rPr sz="1725" b="0">
                <a:solidFill>
                  <a:srgbClr val="0F172A"/>
                </a:solidFill>
                <a:latin typeface="Microsoft YaHei"/>
                <a:ea typeface="Microsoft YaHei"/>
                <a:cs typeface="Microsoft YaHei"/>
              </a:rPr>
              <a:t>控制面减少查询等待，数据面减少加载等待；</a:t>
            </a:r>
          </a:p>
          <a:p xmlns:a="http://schemas.openxmlformats.org/drawingml/2006/main">
            <a:pPr algn="l">
              <a:defRPr sz="1725" b="0">
                <a:solidFill>
                  <a:srgbClr val="0F172A"/>
                </a:solidFill>
                <a:latin typeface="Microsoft YaHei"/>
                <a:ea typeface="Microsoft YaHei"/>
                <a:cs typeface="Microsoft YaHei"/>
              </a:defRPr>
            </a:pPr>
            <a:r>
              <a:rPr sz="1725" b="0">
                <a:solidFill>
                  <a:srgbClr val="0F172A"/>
                </a:solidFill>
                <a:latin typeface="Microsoft YaHei"/>
                <a:ea typeface="Microsoft YaHei"/>
                <a:cs typeface="Microsoft YaHei"/>
              </a:rPr>
              <a:t>同时关注后台搬运对前台生成的影响。</a:t>
            </a:r>
          </a:p>
        </p:txBody>
      </p:sp>
      <p:sp>
        <p:nvSpPr>
          <p:cNvPr id="12" name="">
            <a:extLst xmlns:a="http://schemas.openxmlformats.org/drawingml/2006/main">
              <a:ext uri="{FF2B5EF4-FFF2-40B4-BE49-F238E27FC236}">
                <a16:creationId xmlns:a16="http://schemas.microsoft.com/office/drawing/2014/main" id="{7EF396A9-7AD9-4505-9357-E62B7BAF6CF5}"/>
              </a:ext>
            </a:extLst>
          </p:cNvPr>
          <p:cNvSpPr>
            <a:spLocks xmlns:a="http://schemas.openxmlformats.org/drawingml/2006/main" noGrp="1"/>
          </p:cNvSpPr>
          <p:nvPr/>
        </p:nvSpPr>
        <p:spPr>
          <a:xfrm xmlns:a="http://schemas.openxmlformats.org/drawingml/2006/main">
            <a:off x="7658100" y="1819275"/>
            <a:ext cx="4076700" cy="3676650"/>
          </a:xfrm>
          <a:prstGeom xmlns:a="http://schemas.openxmlformats.org/drawingml/2006/main" prst="rect">
            <a:avLst/>
          </a:prstGeom>
          <a:solidFill xmlns:a="http://schemas.openxmlformats.org/drawingml/2006/main">
            <a:srgbClr val="F8FAFC"/>
          </a:solidFill>
          <a:ln xmlns:a="http://schemas.openxmlformats.org/drawingml/2006/main" w="12383">
            <a:solidFill>
              <a:srgbClr val="94A3B8"/>
            </a:solidFill>
            <a:prstDash val="dash"/>
          </a:ln>
        </p:spPr>
      </p:sp>
      <p:sp>
        <p:nvSpPr>
          <p:cNvPr id="13" name="">
            <a:extLst xmlns:a="http://schemas.openxmlformats.org/drawingml/2006/main">
              <a:ext uri="{FF2B5EF4-FFF2-40B4-BE49-F238E27FC236}">
                <a16:creationId xmlns:a16="http://schemas.microsoft.com/office/drawing/2014/main" id="{9CA7F223-4DC1-426F-9E91-97A36FDFEA5C}"/>
              </a:ext>
            </a:extLst>
          </p:cNvPr>
          <p:cNvSpPr>
            <a:spLocks xmlns:a="http://schemas.openxmlformats.org/drawingml/2006/main" noGrp="1"/>
          </p:cNvSpPr>
          <p:nvPr/>
        </p:nvSpPr>
        <p:spPr>
          <a:xfrm xmlns:a="http://schemas.openxmlformats.org/drawingml/2006/main">
            <a:off x="7829550" y="2152650"/>
            <a:ext cx="3733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475569"/>
                </a:solidFill>
                <a:latin typeface="Microsoft YaHei"/>
                <a:ea typeface="Microsoft YaHei"/>
                <a:cs typeface="Microsoft YaHei"/>
              </a:defRPr>
            </a:defPPr>
          </a:lstStyle>
          <a:p xmlns:a="http://schemas.openxmlformats.org/drawingml/2006/main">
            <a:pPr algn="ctr">
              <a:defRPr sz="1800" b="1">
                <a:solidFill>
                  <a:srgbClr val="475569"/>
                </a:solidFill>
                <a:latin typeface="Microsoft YaHei"/>
                <a:ea typeface="Microsoft YaHei"/>
                <a:cs typeface="Microsoft YaHei"/>
              </a:defRPr>
            </a:pPr>
            <a:r>
              <a:rPr sz="1800" b="1">
                <a:solidFill>
                  <a:srgbClr val="475569"/>
                </a:solidFill>
                <a:latin typeface="Microsoft YaHei"/>
                <a:ea typeface="Microsoft YaHei"/>
                <a:cs typeface="Microsoft YaHei"/>
              </a:rPr>
              <a:t>数据图占位</a:t>
            </a:r>
          </a:p>
        </p:txBody>
      </p:sp>
      <p:sp>
        <p:nvSpPr>
          <p:cNvPr id="14" name="">
            <a:extLst xmlns:a="http://schemas.openxmlformats.org/drawingml/2006/main">
              <a:ext uri="{FF2B5EF4-FFF2-40B4-BE49-F238E27FC236}">
                <a16:creationId xmlns:a16="http://schemas.microsoft.com/office/drawing/2014/main" id="{087DE523-3673-4180-89F0-1110C6A38D87}"/>
              </a:ext>
            </a:extLst>
          </p:cNvPr>
          <p:cNvSpPr>
            <a:spLocks xmlns:a="http://schemas.openxmlformats.org/drawingml/2006/main" noGrp="1"/>
          </p:cNvSpPr>
          <p:nvPr/>
        </p:nvSpPr>
        <p:spPr>
          <a:xfrm xmlns:a="http://schemas.openxmlformats.org/drawingml/2006/main">
            <a:off x="7886700" y="2724150"/>
            <a:ext cx="3619500" cy="2486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0">
                <a:solidFill>
                  <a:srgbClr val="475569"/>
                </a:solidFill>
                <a:latin typeface="Microsoft YaHei"/>
                <a:ea typeface="Microsoft YaHei"/>
                <a:cs typeface="Microsoft YaHei"/>
              </a:defRPr>
            </a:defPPr>
          </a:lstStyle>
          <a:p xmlns:a="http://schemas.openxmlformats.org/drawingml/2006/main">
            <a:pPr algn="ctr">
              <a:defRPr sz="1575" b="0">
                <a:solidFill>
                  <a:srgbClr val="475569"/>
                </a:solidFill>
                <a:latin typeface="Microsoft YaHei"/>
                <a:ea typeface="Microsoft YaHei"/>
                <a:cs typeface="Microsoft YaHei"/>
              </a:defRPr>
            </a:pPr>
            <a:r>
              <a:rPr sz="1575" b="0">
                <a:solidFill>
                  <a:srgbClr val="475569"/>
                </a:solidFill>
                <a:latin typeface="Microsoft YaHei"/>
                <a:ea typeface="Microsoft YaHei"/>
                <a:cs typeface="Microsoft YaHei"/>
              </a:rPr>
              <a:t>缓存复用与本地重算</a:t>
            </a:r>
          </a:p>
          <a:p xmlns:a="http://schemas.openxmlformats.org/drawingml/2006/main">
            <a:pPr algn="ctr">
              <a:defRPr sz="1575" b="0">
                <a:solidFill>
                  <a:srgbClr val="475569"/>
                </a:solidFill>
                <a:latin typeface="Microsoft YaHei"/>
                <a:ea typeface="Microsoft YaHei"/>
                <a:cs typeface="Microsoft YaHei"/>
              </a:defRPr>
            </a:pPr>
            <a:r>
              <a:rPr sz="1575" b="0">
                <a:solidFill>
                  <a:srgbClr val="475569"/>
                </a:solidFill>
                <a:latin typeface="Microsoft YaHei"/>
                <a:ea typeface="Microsoft YaHei"/>
                <a:cs typeface="Microsoft YaHei"/>
              </a:rPr>
              <a:t>代表场景首字时延对照</a:t>
            </a:r>
          </a:p>
          <a:p xmlns:a="http://schemas.openxmlformats.org/drawingml/2006/main">
            <a:r>
              <a:t/>
            </a:r>
          </a:p>
          <a:p xmlns:a="http://schemas.openxmlformats.org/drawingml/2006/main">
            <a:pPr algn="ctr">
              <a:defRPr sz="1575" b="0">
                <a:solidFill>
                  <a:srgbClr val="475569"/>
                </a:solidFill>
                <a:latin typeface="Microsoft YaHei"/>
                <a:ea typeface="Microsoft YaHei"/>
                <a:cs typeface="Microsoft YaHei"/>
              </a:defRPr>
            </a:pPr>
            <a:r>
              <a:rPr sz="1575" b="0">
                <a:solidFill>
                  <a:srgbClr val="475569"/>
                </a:solidFill>
                <a:latin typeface="Microsoft YaHei"/>
                <a:ea typeface="Microsoft YaHei"/>
                <a:cs typeface="Microsoft YaHei"/>
              </a:rPr>
              <a:t>待补：同条件实测数据</a:t>
            </a:r>
          </a:p>
        </p:txBody>
      </p:sp>
      <p:sp>
        <p:nvSpPr>
          <p:cNvPr id="15" name="">
            <a:extLst xmlns:a="http://schemas.openxmlformats.org/drawingml/2006/main">
              <a:ext uri="{FF2B5EF4-FFF2-40B4-BE49-F238E27FC236}">
                <a16:creationId xmlns:a16="http://schemas.microsoft.com/office/drawing/2014/main" id="{B1858CB4-073F-450F-9F5A-5C3A66554AFE}"/>
              </a:ext>
            </a:extLst>
          </p:cNvPr>
          <p:cNvSpPr>
            <a:spLocks xmlns:a="http://schemas.openxmlformats.org/drawingml/2006/main" noGrp="1"/>
          </p:cNvSpPr>
          <p:nvPr/>
        </p:nvSpPr>
        <p:spPr>
          <a:xfrm xmlns:a="http://schemas.openxmlformats.org/drawingml/2006/main">
            <a:off x="457200" y="5838825"/>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1E3A8A"/>
                </a:solidFill>
                <a:latin typeface="Microsoft YaHei"/>
                <a:ea typeface="Microsoft YaHei"/>
                <a:cs typeface="Microsoft YaHei"/>
              </a:defRPr>
            </a:defPPr>
          </a:lstStyle>
          <a:p xmlns:a="http://schemas.openxmlformats.org/drawingml/2006/main">
            <a:pPr algn="l">
              <a:defRPr sz="1800" b="1">
                <a:solidFill>
                  <a:srgbClr val="1E3A8A"/>
                </a:solidFill>
                <a:latin typeface="Microsoft YaHei"/>
                <a:ea typeface="Microsoft YaHei"/>
                <a:cs typeface="Microsoft YaHei"/>
              </a:defRPr>
            </a:pPr>
            <a:r>
              <a:rPr sz="1800" b="1">
                <a:solidFill>
                  <a:srgbClr val="1E3A8A"/>
                </a:solidFill>
                <a:latin typeface="Microsoft YaHei"/>
                <a:ea typeface="Microsoft YaHei"/>
                <a:cs typeface="Microsoft YaHei"/>
              </a:rPr>
              <a:t>收益判断：节省的计算时间，应超过查询、加载等新增开销。</a:t>
            </a:r>
          </a:p>
        </p:txBody>
      </p:sp>
    </p:spTree>
    <p:extLst>
      <p:ext uri="{BB962C8B-B14F-4D97-AF65-F5344CB8AC3E}">
        <p14:creationId xmlns:p14="http://schemas.microsoft.com/office/powerpoint/2010/main" val="103352762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6447B2C-E02A-41D2-8489-1340CCBBD3FF}"/>
              </a:ext>
            </a:extLst>
          </p:cNvPr>
          <p:cNvSpPr>
            <a:spLocks xmlns:a="http://schemas.openxmlformats.org/drawingml/2006/main" noGrp="1"/>
          </p:cNvSpPr>
          <p:nvPr/>
        </p:nvSpPr>
        <p:spPr>
          <a:xfrm xmlns:a="http://schemas.openxmlformats.org/drawingml/2006/main">
            <a:off x="457200" y="323850"/>
            <a:ext cx="11239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00" b="1">
                <a:solidFill>
                  <a:srgbClr val="1E3A8A"/>
                </a:solidFill>
                <a:latin typeface="Microsoft YaHei"/>
                <a:ea typeface="Microsoft YaHei"/>
                <a:cs typeface="Microsoft YaHei"/>
              </a:defRPr>
            </a:defPPr>
          </a:lstStyle>
          <a:p xmlns:a="http://schemas.openxmlformats.org/drawingml/2006/main">
            <a:pPr algn="l">
              <a:defRPr sz="2700" b="1">
                <a:solidFill>
                  <a:srgbClr val="1E3A8A"/>
                </a:solidFill>
                <a:latin typeface="Microsoft YaHei"/>
                <a:ea typeface="Microsoft YaHei"/>
                <a:cs typeface="Microsoft YaHei"/>
              </a:defRPr>
            </a:pPr>
            <a:r>
              <a:rPr sz="2700" b="1">
                <a:solidFill>
                  <a:srgbClr val="1E3A8A"/>
                </a:solidFill>
                <a:latin typeface="Microsoft YaHei"/>
                <a:ea typeface="Microsoft YaHei"/>
                <a:cs typeface="Microsoft YaHei"/>
              </a:rPr>
              <a:t>KVC 时延优化的技术探索方向</a:t>
            </a:r>
          </a:p>
        </p:txBody>
      </p:sp>
      <p:sp>
        <p:nvSpPr>
          <p:cNvPr id="2" name="">
            <a:extLst xmlns:a="http://schemas.openxmlformats.org/drawingml/2006/main">
              <a:ext uri="{FF2B5EF4-FFF2-40B4-BE49-F238E27FC236}">
                <a16:creationId xmlns:a16="http://schemas.microsoft.com/office/drawing/2014/main" id="{99331E71-E43E-42C2-B5EE-A39E9761AC70}"/>
              </a:ext>
            </a:extLst>
          </p:cNvPr>
          <p:cNvSpPr>
            <a:spLocks xmlns:a="http://schemas.openxmlformats.org/drawingml/2006/main" noGrp="1"/>
          </p:cNvSpPr>
          <p:nvPr/>
        </p:nvSpPr>
        <p:spPr>
          <a:xfrm xmlns:a="http://schemas.openxmlformats.org/drawingml/2006/main">
            <a:off x="457200" y="9334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475569"/>
                </a:solidFill>
                <a:latin typeface="Microsoft YaHei"/>
                <a:ea typeface="Microsoft YaHei"/>
                <a:cs typeface="Microsoft YaHei"/>
              </a:defRPr>
            </a:defPPr>
          </a:lstStyle>
          <a:p xmlns:a="http://schemas.openxmlformats.org/drawingml/2006/main">
            <a:pPr algn="l">
              <a:defRPr sz="1500" b="0">
                <a:solidFill>
                  <a:srgbClr val="475569"/>
                </a:solidFill>
                <a:latin typeface="Microsoft YaHei"/>
                <a:ea typeface="Microsoft YaHei"/>
                <a:cs typeface="Microsoft YaHei"/>
              </a:defRPr>
            </a:pPr>
            <a:r>
              <a:rPr sz="1500" b="0">
                <a:solidFill>
                  <a:srgbClr val="475569"/>
                </a:solidFill>
                <a:latin typeface="Microsoft YaHei"/>
                <a:ea typeface="Microsoft YaHei"/>
                <a:cs typeface="Microsoft YaHei"/>
              </a:rPr>
              <a:t>围绕缓存查找与加载路径，减少在线推理等待</a:t>
            </a:r>
          </a:p>
        </p:txBody>
      </p:sp>
      <p:sp>
        <p:nvSpPr>
          <p:cNvPr id="3" name="">
            <a:extLst xmlns:a="http://schemas.openxmlformats.org/drawingml/2006/main">
              <a:ext uri="{FF2B5EF4-FFF2-40B4-BE49-F238E27FC236}">
                <a16:creationId xmlns:a16="http://schemas.microsoft.com/office/drawing/2014/main" id="{B90A3C05-2900-4397-A5E6-CC92F72D6E49}"/>
              </a:ext>
            </a:extLst>
          </p:cNvPr>
          <p:cNvSpPr>
            <a:spLocks xmlns:a="http://schemas.openxmlformats.org/drawingml/2006/main" noGrp="1"/>
          </p:cNvSpPr>
          <p:nvPr/>
        </p:nvSpPr>
        <p:spPr>
          <a:xfrm xmlns:a="http://schemas.openxmlformats.org/drawingml/2006/main">
            <a:off x="457200" y="1495425"/>
            <a:ext cx="11277600" cy="19050"/>
          </a:xfrm>
          <a:prstGeom xmlns:a="http://schemas.openxmlformats.org/drawingml/2006/main" prst="rect">
            <a:avLst/>
          </a:prstGeom>
          <a:solidFill xmlns:a="http://schemas.openxmlformats.org/drawingml/2006/main">
            <a:srgbClr val="1E3A8A"/>
          </a:solidFill>
          <a:ln xmlns:a="http://schemas.openxmlformats.org/drawingml/2006/main" w="12383">
            <a:solidFill>
              <a:srgbClr val="1E3A8A"/>
            </a:solidFill>
            <a:prstDash val="solid"/>
          </a:ln>
        </p:spPr>
      </p:sp>
      <p:sp>
        <p:nvSpPr>
          <p:cNvPr id="4" name="">
            <a:extLst xmlns:a="http://schemas.openxmlformats.org/drawingml/2006/main">
              <a:ext uri="{FF2B5EF4-FFF2-40B4-BE49-F238E27FC236}">
                <a16:creationId xmlns:a16="http://schemas.microsoft.com/office/drawing/2014/main" id="{B19D0DAB-2618-451D-A1B5-B1DA40D4C7C2}"/>
              </a:ext>
            </a:extLst>
          </p:cNvPr>
          <p:cNvSpPr>
            <a:spLocks xmlns:a="http://schemas.openxmlformats.org/drawingml/2006/main" noGrp="1"/>
          </p:cNvSpPr>
          <p:nvPr/>
        </p:nvSpPr>
        <p:spPr>
          <a:xfrm xmlns:a="http://schemas.openxmlformats.org/drawingml/2006/main">
            <a:off x="457200" y="643890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475569"/>
                </a:solidFill>
                <a:latin typeface="Microsoft YaHei"/>
                <a:ea typeface="Microsoft YaHei"/>
                <a:cs typeface="Microsoft YaHei"/>
              </a:defRPr>
            </a:defPPr>
          </a:lstStyle>
          <a:p xmlns:a="http://schemas.openxmlformats.org/drawingml/2006/main">
            <a:pPr algn="l">
              <a:defRPr sz="1125" b="0">
                <a:solidFill>
                  <a:srgbClr val="475569"/>
                </a:solidFill>
                <a:latin typeface="Microsoft YaHei"/>
                <a:ea typeface="Microsoft YaHei"/>
                <a:cs typeface="Microsoft YaHei"/>
              </a:defRPr>
            </a:pPr>
            <a:r>
              <a:rPr sz="1125" b="0">
                <a:solidFill>
                  <a:srgbClr val="475569"/>
                </a:solidFill>
                <a:latin typeface="Microsoft YaHei"/>
                <a:ea typeface="Microsoft YaHei"/>
                <a:cs typeface="Microsoft YaHei"/>
              </a:rPr>
              <a:t>KVC 工作汇报 · 2026-10-15</a:t>
            </a:r>
          </a:p>
        </p:txBody>
      </p:sp>
      <p:sp>
        <p:nvSpPr>
          <p:cNvPr id="5" name="">
            <a:extLst xmlns:a="http://schemas.openxmlformats.org/drawingml/2006/main">
              <a:ext uri="{FF2B5EF4-FFF2-40B4-BE49-F238E27FC236}">
                <a16:creationId xmlns:a16="http://schemas.microsoft.com/office/drawing/2014/main" id="{38F164B9-EB62-426F-8A1D-88D7020351F3}"/>
              </a:ext>
            </a:extLst>
          </p:cNvPr>
          <p:cNvSpPr>
            <a:spLocks xmlns:a="http://schemas.openxmlformats.org/drawingml/2006/main" noGrp="1"/>
          </p:cNvSpPr>
          <p:nvPr/>
        </p:nvSpPr>
        <p:spPr>
          <a:xfrm xmlns:a="http://schemas.openxmlformats.org/drawingml/2006/main">
            <a:off x="1127760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00" b="0">
                <a:solidFill>
                  <a:srgbClr val="475569"/>
                </a:solidFill>
                <a:latin typeface="Microsoft YaHei"/>
                <a:ea typeface="Microsoft YaHei"/>
                <a:cs typeface="Microsoft YaHei"/>
              </a:defRPr>
            </a:defPPr>
          </a:lstStyle>
          <a:p xmlns:a="http://schemas.openxmlformats.org/drawingml/2006/main">
            <a:pPr algn="r">
              <a:defRPr sz="1200" b="0">
                <a:solidFill>
                  <a:srgbClr val="475569"/>
                </a:solidFill>
                <a:latin typeface="Microsoft YaHei"/>
                <a:ea typeface="Microsoft YaHei"/>
                <a:cs typeface="Microsoft YaHei"/>
              </a:defRPr>
            </a:pPr>
            <a:r>
              <a:rPr sz="1200" b="0">
                <a:solidFill>
                  <a:srgbClr val="475569"/>
                </a:solidFill>
                <a:latin typeface="Microsoft YaHei"/>
                <a:ea typeface="Microsoft YaHei"/>
                <a:cs typeface="Microsoft YaHei"/>
              </a:rPr>
              <a:t>02</a:t>
            </a:r>
          </a:p>
        </p:txBody>
      </p:sp>
      <p:graphicFrame>
        <p:nvGraphicFramePr>
          <p:cNvPr id="6" name="">
            <a:extLst xmlns:a="http://schemas.openxmlformats.org/drawingml/2006/main">
              <a:ext uri="{FF2B5EF4-FFF2-40B4-BE49-F238E27FC236}">
                <a16:creationId xmlns:a16="http://schemas.microsoft.com/office/drawing/2014/main" id="{20D8F381-2B16-4E52-9EA6-D7AA4F3AA124}"/>
              </a:ext>
            </a:extLst>
          </p:cNvPr>
          <p:cNvGraphicFramePr/>
          <p:nvPr/>
        </p:nvGraphicFramePr>
        <p:xfrm>
          <a:off xmlns:a="http://schemas.openxmlformats.org/drawingml/2006/main" x="457200" y="1809750"/>
          <a:ext xmlns:a="http://schemas.openxmlformats.org/drawingml/2006/main" cx="7886700" cy="3810000"/>
        </p:xfrm>
        <a:graphic xmlns:a="http://schemas.openxmlformats.org/drawingml/2006/main">
          <a:graphicData uri="http://schemas.openxmlformats.org/drawingml/2006/table">
            <a:tbl>
              <a:tblPr/>
              <a:tblGrid>
                <a:gridCol w="1876425"/>
                <a:gridCol w="3952875"/>
                <a:gridCol w="2057400"/>
              </a:tblGrid>
              <a:tr h="762000">
                <a:tc>
                  <a:txBody>
                    <a:bodyPr wrap="square" lIns="133350" tIns="114300" rIns="133350" bIns="114300">
                      <a:noAutofit/>
                    </a:bodyPr>
                    <a:lstStyle/>
                    <a:p>
                      <a:r>
                        <a:rPr sz="1575" b="1">
                          <a:solidFill>
                            <a:srgbClr val="FFFFFF"/>
                          </a:solidFill>
                          <a:latin typeface="Microsoft YaHei"/>
                          <a:ea typeface="Microsoft YaHei"/>
                          <a:cs typeface="Microsoft YaHei"/>
                        </a:rPr>
                        <a:t>探索方向</a:t>
                      </a:r>
                    </a:p>
                  </a:txBody>
                  <a:tcPr marL="91440" marR="91440" marT="45720" marB="45720" anchor="ctr">
                    <a:solidFill>
                      <a:srgbClr val="1E3A8A"/>
                    </a:solidFill>
                  </a:tcPr>
                </a:tc>
                <a:tc>
                  <a:txBody>
                    <a:bodyPr wrap="square" lIns="133350" tIns="114300" rIns="133350" bIns="114300">
                      <a:noAutofit/>
                    </a:bodyPr>
                    <a:lstStyle/>
                    <a:p>
                      <a:r>
                        <a:rPr sz="1575" b="1">
                          <a:solidFill>
                            <a:srgbClr val="FFFFFF"/>
                          </a:solidFill>
                          <a:latin typeface="Microsoft YaHei"/>
                          <a:ea typeface="Microsoft YaHei"/>
                          <a:cs typeface="Microsoft YaHei"/>
                        </a:rPr>
                        <a:t>当前工作内容</a:t>
                      </a:r>
                    </a:p>
                  </a:txBody>
                  <a:tcPr marL="91440" marR="91440" marT="45720" marB="45720" anchor="ctr">
                    <a:solidFill>
                      <a:srgbClr val="1E3A8A"/>
                    </a:solidFill>
                  </a:tcPr>
                </a:tc>
                <a:tc>
                  <a:txBody>
                    <a:bodyPr wrap="square" lIns="133350" tIns="114300" rIns="133350" bIns="114300">
                      <a:noAutofit/>
                    </a:bodyPr>
                    <a:lstStyle/>
                    <a:p>
                      <a:r>
                        <a:rPr sz="1575" b="1">
                          <a:solidFill>
                            <a:srgbClr val="FFFFFF"/>
                          </a:solidFill>
                          <a:latin typeface="Microsoft YaHei"/>
                          <a:ea typeface="Microsoft YaHei"/>
                          <a:cs typeface="Microsoft YaHei"/>
                        </a:rPr>
                        <a:t>希望减少的开销</a:t>
                      </a:r>
                    </a:p>
                  </a:txBody>
                  <a:tcPr marL="91440" marR="91440" marT="45720" marB="45720" anchor="ctr">
                    <a:solidFill>
                      <a:srgbClr val="1E3A8A"/>
                    </a:solidFill>
                  </a:tcPr>
                </a:tc>
              </a:tr>
              <a:tr h="762000">
                <a:tc>
                  <a:txBody>
                    <a:bodyPr wrap="square" lIns="133350" tIns="114300" rIns="133350" bIns="114300">
                      <a:noAutofit/>
                    </a:bodyPr>
                    <a:lstStyle/>
                    <a:p>
                      <a:r>
                        <a:rPr sz="1650" b="1">
                          <a:solidFill>
                            <a:srgbClr val="0F172A"/>
                          </a:solidFill>
                          <a:latin typeface="Microsoft YaHei"/>
                          <a:ea typeface="Microsoft YaHei"/>
                          <a:cs typeface="Microsoft YaHei"/>
                        </a:rPr>
                        <a:t>控制面检索</a:t>
                      </a:r>
                    </a:p>
                  </a:txBody>
                  <a:tcPr marL="91440" marR="91440" marT="45720" marB="45720" anchor="ctr">
                    <a:solidFill>
                      <a:srgbClr val="FFFFFF"/>
                    </a:solidFill>
                  </a:tcPr>
                </a:tc>
                <a:tc>
                  <a:txBody>
                    <a:bodyPr wrap="square" lIns="133350" tIns="114300" rIns="133350" bIns="114300">
                      <a:noAutofit/>
                    </a:bodyPr>
                    <a:lstStyle/>
                    <a:p>
                      <a:r>
                        <a:rPr sz="1650" b="0">
                          <a:solidFill>
                            <a:srgbClr val="0F172A"/>
                          </a:solidFill>
                          <a:latin typeface="Microsoft YaHei"/>
                          <a:ea typeface="Microsoft YaHei"/>
                          <a:cs typeface="Microsoft YaHei"/>
                        </a:rPr>
                        <a:t>共享内存检索；减少查询往返</a:t>
                      </a:r>
                    </a:p>
                    <a:p>
                      <a:r>
                        <a:rPr sz="1650" b="0">
                          <a:solidFill>
                            <a:srgbClr val="0F172A"/>
                          </a:solidFill>
                          <a:latin typeface="Microsoft YaHei"/>
                          <a:ea typeface="Microsoft YaHei"/>
                          <a:cs typeface="Microsoft YaHei"/>
                        </a:rPr>
                        <a:t>与元数据处理等待</a:t>
                      </a:r>
                    </a:p>
                  </a:txBody>
                  <a:tcPr marL="91440" marR="91440" marT="45720" marB="45720" anchor="ctr">
                    <a:solidFill>
                      <a:srgbClr val="FFFFFF"/>
                    </a:solidFill>
                  </a:tcPr>
                </a:tc>
                <a:tc>
                  <a:txBody>
                    <a:bodyPr wrap="square" lIns="133350" tIns="114300" rIns="133350" bIns="114300">
                      <a:noAutofit/>
                    </a:bodyPr>
                    <a:lstStyle/>
                    <a:p>
                      <a:r>
                        <a:rPr sz="1650" b="0">
                          <a:solidFill>
                            <a:srgbClr val="0F172A"/>
                          </a:solidFill>
                          <a:latin typeface="Microsoft YaHei"/>
                          <a:ea typeface="Microsoft YaHei"/>
                          <a:cs typeface="Microsoft YaHei"/>
                        </a:rPr>
                        <a:t>查询及排队等待</a:t>
                      </a:r>
                    </a:p>
                  </a:txBody>
                  <a:tcPr marL="91440" marR="91440" marT="45720" marB="45720" anchor="ctr">
                    <a:solidFill>
                      <a:srgbClr val="FFFFFF"/>
                    </a:solidFill>
                  </a:tcPr>
                </a:tc>
              </a:tr>
              <a:tr h="762000">
                <a:tc>
                  <a:txBody>
                    <a:bodyPr wrap="square" lIns="133350" tIns="114300" rIns="133350" bIns="114300">
                      <a:noAutofit/>
                    </a:bodyPr>
                    <a:lstStyle/>
                    <a:p>
                      <a:r>
                        <a:rPr sz="1650" b="1">
                          <a:solidFill>
                            <a:srgbClr val="0F172A"/>
                          </a:solidFill>
                          <a:latin typeface="Microsoft YaHei"/>
                          <a:ea typeface="Microsoft YaHei"/>
                          <a:cs typeface="Microsoft YaHei"/>
                        </a:rPr>
                        <a:t>数据传输通路</a:t>
                      </a:r>
                    </a:p>
                  </a:txBody>
                  <a:tcPr marL="91440" marR="91440" marT="45720" marB="45720" anchor="ctr">
                    <a:solidFill>
                      <a:srgbClr val="F8FAFC"/>
                    </a:solidFill>
                  </a:tcPr>
                </a:tc>
                <a:tc>
                  <a:txBody>
                    <a:bodyPr wrap="square" lIns="133350" tIns="114300" rIns="133350" bIns="114300">
                      <a:noAutofit/>
                    </a:bodyPr>
                    <a:lstStyle/>
                    <a:p>
                      <a:r>
                        <a:rPr sz="1650" b="0">
                          <a:solidFill>
                            <a:srgbClr val="0F172A"/>
                          </a:solidFill>
                          <a:latin typeface="Microsoft YaHei"/>
                          <a:ea typeface="Microsoft YaHei"/>
                          <a:cs typeface="Microsoft YaHei"/>
                        </a:rPr>
                        <a:t>核对设备直达路径；</a:t>
                      </a:r>
                    </a:p>
                    <a:p>
                      <a:r>
                        <a:rPr sz="1650" b="0">
                          <a:solidFill>
                            <a:srgbClr val="0F172A"/>
                          </a:solidFill>
                          <a:latin typeface="Microsoft YaHei"/>
                          <a:ea typeface="Microsoft YaHei"/>
                          <a:cs typeface="Microsoft YaHei"/>
                        </a:rPr>
                        <a:t>比较通道与拓扑配置</a:t>
                      </a:r>
                    </a:p>
                  </a:txBody>
                  <a:tcPr marL="91440" marR="91440" marT="45720" marB="45720" anchor="ctr">
                    <a:solidFill>
                      <a:srgbClr val="F8FAFC"/>
                    </a:solidFill>
                  </a:tcPr>
                </a:tc>
                <a:tc>
                  <a:txBody>
                    <a:bodyPr wrap="square" lIns="133350" tIns="114300" rIns="133350" bIns="114300">
                      <a:noAutofit/>
                    </a:bodyPr>
                    <a:lstStyle/>
                    <a:p>
                      <a:r>
                        <a:rPr sz="1650" b="0">
                          <a:solidFill>
                            <a:srgbClr val="0F172A"/>
                          </a:solidFill>
                          <a:latin typeface="Microsoft YaHei"/>
                          <a:ea typeface="Microsoft YaHei"/>
                          <a:cs typeface="Microsoft YaHei"/>
                        </a:rPr>
                        <a:t>正文搬运与中转</a:t>
                      </a:r>
                    </a:p>
                  </a:txBody>
                  <a:tcPr marL="91440" marR="91440" marT="45720" marB="45720" anchor="ctr">
                    <a:solidFill>
                      <a:srgbClr val="F8FAFC"/>
                    </a:solidFill>
                  </a:tcPr>
                </a:tc>
              </a:tr>
              <a:tr h="762000">
                <a:tc>
                  <a:txBody>
                    <a:bodyPr wrap="square" lIns="133350" tIns="114300" rIns="133350" bIns="114300">
                      <a:noAutofit/>
                    </a:bodyPr>
                    <a:lstStyle/>
                    <a:p>
                      <a:r>
                        <a:rPr sz="1650" b="1">
                          <a:solidFill>
                            <a:srgbClr val="0F172A"/>
                          </a:solidFill>
                          <a:latin typeface="Microsoft YaHei"/>
                          <a:ea typeface="Microsoft YaHei"/>
                          <a:cs typeface="Microsoft YaHei"/>
                        </a:rPr>
                        <a:t>数据组织与流水</a:t>
                      </a:r>
                    </a:p>
                  </a:txBody>
                  <a:tcPr marL="91440" marR="91440" marT="45720" marB="45720" anchor="ctr">
                    <a:solidFill>
                      <a:srgbClr val="FFFFFF"/>
                    </a:solidFill>
                  </a:tcPr>
                </a:tc>
                <a:tc>
                  <a:txBody>
                    <a:bodyPr wrap="square" lIns="133350" tIns="114300" rIns="133350" bIns="114300">
                      <a:noAutofit/>
                    </a:bodyPr>
                    <a:lstStyle/>
                    <a:p>
                      <a:r>
                        <a:rPr sz="1650" b="0">
                          <a:solidFill>
                            <a:srgbClr val="0F172A"/>
                          </a:solidFill>
                          <a:latin typeface="Microsoft YaHei"/>
                          <a:ea typeface="Microsoft YaHei"/>
                          <a:cs typeface="Microsoft YaHei"/>
                        </a:rPr>
                        <a:t>连续块合并、批量提交；</a:t>
                      </a:r>
                    </a:p>
                    <a:p>
                      <a:r>
                        <a:rPr sz="1650" b="0">
                          <a:solidFill>
                            <a:srgbClr val="0F172A"/>
                          </a:solidFill>
                          <a:latin typeface="Microsoft YaHei"/>
                          <a:ea typeface="Microsoft YaHei"/>
                          <a:cs typeface="Microsoft YaHei"/>
                        </a:rPr>
                        <a:t>按层衔接传输与计算</a:t>
                      </a:r>
                    </a:p>
                  </a:txBody>
                  <a:tcPr marL="91440" marR="91440" marT="45720" marB="45720" anchor="ctr">
                    <a:solidFill>
                      <a:srgbClr val="FFFFFF"/>
                    </a:solidFill>
                  </a:tcPr>
                </a:tc>
                <a:tc>
                  <a:txBody>
                    <a:bodyPr wrap="square" lIns="133350" tIns="114300" rIns="133350" bIns="114300">
                      <a:noAutofit/>
                    </a:bodyPr>
                    <a:lstStyle/>
                    <a:p>
                      <a:r>
                        <a:rPr sz="1650" b="0">
                          <a:solidFill>
                            <a:srgbClr val="0F172A"/>
                          </a:solidFill>
                          <a:latin typeface="Microsoft YaHei"/>
                          <a:ea typeface="Microsoft YaHei"/>
                          <a:cs typeface="Microsoft YaHei"/>
                        </a:rPr>
                        <a:t>提交与首层等待</a:t>
                      </a:r>
                    </a:p>
                  </a:txBody>
                  <a:tcPr marL="91440" marR="91440" marT="45720" marB="45720" anchor="ctr">
                    <a:solidFill>
                      <a:srgbClr val="FFFFFF"/>
                    </a:solidFill>
                  </a:tcPr>
                </a:tc>
              </a:tr>
              <a:tr h="762000">
                <a:tc>
                  <a:txBody>
                    <a:bodyPr wrap="square" lIns="133350" tIns="114300" rIns="133350" bIns="114300">
                      <a:noAutofit/>
                    </a:bodyPr>
                    <a:lstStyle/>
                    <a:p>
                      <a:r>
                        <a:rPr sz="1650" b="1">
                          <a:solidFill>
                            <a:srgbClr val="0F172A"/>
                          </a:solidFill>
                          <a:latin typeface="Microsoft YaHei"/>
                          <a:ea typeface="Microsoft YaHei"/>
                          <a:cs typeface="Microsoft YaHei"/>
                        </a:rPr>
                        <a:t>选路与资源控制</a:t>
                      </a:r>
                    </a:p>
                  </a:txBody>
                  <a:tcPr marL="91440" marR="91440" marT="45720" marB="45720" anchor="ctr">
                    <a:solidFill>
                      <a:srgbClr val="F8FAFC"/>
                    </a:solidFill>
                  </a:tcPr>
                </a:tc>
                <a:tc>
                  <a:txBody>
                    <a:bodyPr wrap="square" lIns="133350" tIns="114300" rIns="133350" bIns="114300">
                      <a:noAutofit/>
                    </a:bodyPr>
                    <a:lstStyle/>
                    <a:p>
                      <a:r>
                        <a:rPr sz="1650" b="0">
                          <a:solidFill>
                            <a:srgbClr val="0F172A"/>
                          </a:solidFill>
                          <a:latin typeface="Microsoft YaHei"/>
                          <a:ea typeface="Microsoft YaHei"/>
                          <a:cs typeface="Microsoft YaHei"/>
                        </a:rPr>
                        <a:t>比较拉取与重算成本；</a:t>
                      </a:r>
                    </a:p>
                    <a:p>
                      <a:r>
                        <a:rPr sz="1650" b="0">
                          <a:solidFill>
                            <a:srgbClr val="0F172A"/>
                          </a:solidFill>
                          <a:latin typeface="Microsoft YaHei"/>
                          <a:ea typeface="Microsoft YaHei"/>
                          <a:cs typeface="Microsoft YaHei"/>
                        </a:rPr>
                        <a:t>控制前后台共享资源竞争</a:t>
                      </a:r>
                    </a:p>
                  </a:txBody>
                  <a:tcPr marL="91440" marR="91440" marT="45720" marB="45720" anchor="ctr">
                    <a:solidFill>
                      <a:srgbClr val="F8FAFC"/>
                    </a:solidFill>
                  </a:tcPr>
                </a:tc>
                <a:tc>
                  <a:txBody>
                    <a:bodyPr wrap="square" lIns="133350" tIns="114300" rIns="133350" bIns="114300">
                      <a:noAutofit/>
                    </a:bodyPr>
                    <a:lstStyle/>
                    <a:p>
                      <a:r>
                        <a:rPr sz="1650" b="0">
                          <a:solidFill>
                            <a:srgbClr val="0F172A"/>
                          </a:solidFill>
                          <a:latin typeface="Microsoft YaHei"/>
                          <a:ea typeface="Microsoft YaHei"/>
                          <a:cs typeface="Microsoft YaHei"/>
                        </a:rPr>
                        <a:t>无效拉取</a:t>
                      </a:r>
                    </a:p>
                    <a:p>
                      <a:r>
                        <a:rPr sz="1650" b="0">
                          <a:solidFill>
                            <a:srgbClr val="0F172A"/>
                          </a:solidFill>
                          <a:latin typeface="Microsoft YaHei"/>
                          <a:ea typeface="Microsoft YaHei"/>
                          <a:cs typeface="Microsoft YaHei"/>
                        </a:rPr>
                        <a:t>与生成干扰</a:t>
                      </a:r>
                    </a:p>
                  </a:txBody>
                  <a:tcPr marL="91440" marR="91440" marT="45720" marB="45720" anchor="ctr">
                    <a:solidFill>
                      <a:srgbClr val="F8FAFC"/>
                    </a:solidFill>
                  </a:tcPr>
                </a:tc>
              </a:tr>
            </a:tbl>
          </a:graphicData>
        </a:graphic>
      </p:graphicFrame>
      <p:sp>
        <p:nvSpPr>
          <p:cNvPr id="7" name="">
            <a:extLst xmlns:a="http://schemas.openxmlformats.org/drawingml/2006/main">
              <a:ext uri="{FF2B5EF4-FFF2-40B4-BE49-F238E27FC236}">
                <a16:creationId xmlns:a16="http://schemas.microsoft.com/office/drawing/2014/main" id="{29A466CD-4A37-465F-B031-799D466E58E5}"/>
              </a:ext>
            </a:extLst>
          </p:cNvPr>
          <p:cNvSpPr>
            <a:spLocks xmlns:a="http://schemas.openxmlformats.org/drawingml/2006/main" noGrp="1"/>
          </p:cNvSpPr>
          <p:nvPr/>
        </p:nvSpPr>
        <p:spPr>
          <a:xfrm xmlns:a="http://schemas.openxmlformats.org/drawingml/2006/main">
            <a:off x="8648700" y="1809750"/>
            <a:ext cx="3086100" cy="3810000"/>
          </a:xfrm>
          <a:prstGeom xmlns:a="http://schemas.openxmlformats.org/drawingml/2006/main" prst="rect">
            <a:avLst/>
          </a:prstGeom>
          <a:solidFill xmlns:a="http://schemas.openxmlformats.org/drawingml/2006/main">
            <a:srgbClr val="F8FAFC"/>
          </a:solidFill>
          <a:ln xmlns:a="http://schemas.openxmlformats.org/drawingml/2006/main" w="12383">
            <a:solidFill>
              <a:srgbClr val="94A3B8"/>
            </a:solidFill>
            <a:prstDash val="dash"/>
          </a:ln>
        </p:spPr>
      </p:sp>
      <p:sp>
        <p:nvSpPr>
          <p:cNvPr id="8" name="">
            <a:extLst xmlns:a="http://schemas.openxmlformats.org/drawingml/2006/main">
              <a:ext uri="{FF2B5EF4-FFF2-40B4-BE49-F238E27FC236}">
                <a16:creationId xmlns:a16="http://schemas.microsoft.com/office/drawing/2014/main" id="{87A5BDE6-5125-4D06-8FAB-E26DC0ECE030}"/>
              </a:ext>
            </a:extLst>
          </p:cNvPr>
          <p:cNvSpPr>
            <a:spLocks xmlns:a="http://schemas.openxmlformats.org/drawingml/2006/main" noGrp="1"/>
          </p:cNvSpPr>
          <p:nvPr/>
        </p:nvSpPr>
        <p:spPr>
          <a:xfrm xmlns:a="http://schemas.openxmlformats.org/drawingml/2006/main">
            <a:off x="8820150" y="2143125"/>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00" b="1">
                <a:solidFill>
                  <a:srgbClr val="475569"/>
                </a:solidFill>
                <a:latin typeface="Microsoft YaHei"/>
                <a:ea typeface="Microsoft YaHei"/>
                <a:cs typeface="Microsoft YaHei"/>
              </a:defRPr>
            </a:defPPr>
          </a:lstStyle>
          <a:p xmlns:a="http://schemas.openxmlformats.org/drawingml/2006/main">
            <a:pPr algn="ctr">
              <a:defRPr sz="1800" b="1">
                <a:solidFill>
                  <a:srgbClr val="475569"/>
                </a:solidFill>
                <a:latin typeface="Microsoft YaHei"/>
                <a:ea typeface="Microsoft YaHei"/>
                <a:cs typeface="Microsoft YaHei"/>
              </a:defRPr>
            </a:pPr>
            <a:r>
              <a:rPr sz="1800" b="1">
                <a:solidFill>
                  <a:srgbClr val="475569"/>
                </a:solidFill>
                <a:latin typeface="Microsoft YaHei"/>
                <a:ea typeface="Microsoft YaHei"/>
                <a:cs typeface="Microsoft YaHei"/>
              </a:rPr>
              <a:t>数据表 / 图占位</a:t>
            </a:r>
          </a:p>
        </p:txBody>
      </p:sp>
      <p:sp>
        <p:nvSpPr>
          <p:cNvPr id="9" name="">
            <a:extLst xmlns:a="http://schemas.openxmlformats.org/drawingml/2006/main">
              <a:ext uri="{FF2B5EF4-FFF2-40B4-BE49-F238E27FC236}">
                <a16:creationId xmlns:a16="http://schemas.microsoft.com/office/drawing/2014/main" id="{15686038-2917-4E06-96C1-AAC7003BE5EC}"/>
              </a:ext>
            </a:extLst>
          </p:cNvPr>
          <p:cNvSpPr>
            <a:spLocks xmlns:a="http://schemas.openxmlformats.org/drawingml/2006/main" noGrp="1"/>
          </p:cNvSpPr>
          <p:nvPr/>
        </p:nvSpPr>
        <p:spPr>
          <a:xfrm xmlns:a="http://schemas.openxmlformats.org/drawingml/2006/main">
            <a:off x="8877300" y="2714625"/>
            <a:ext cx="2628900"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75" b="0">
                <a:solidFill>
                  <a:srgbClr val="475569"/>
                </a:solidFill>
                <a:latin typeface="Microsoft YaHei"/>
                <a:ea typeface="Microsoft YaHei"/>
                <a:cs typeface="Microsoft YaHei"/>
              </a:defRPr>
            </a:defPPr>
          </a:lstStyle>
          <a:p xmlns:a="http://schemas.openxmlformats.org/drawingml/2006/main">
            <a:pPr algn="ctr">
              <a:defRPr sz="1575" b="0">
                <a:solidFill>
                  <a:srgbClr val="475569"/>
                </a:solidFill>
                <a:latin typeface="Microsoft YaHei"/>
                <a:ea typeface="Microsoft YaHei"/>
                <a:cs typeface="Microsoft YaHei"/>
              </a:defRPr>
            </a:pPr>
            <a:r>
              <a:rPr sz="1575" b="0">
                <a:solidFill>
                  <a:srgbClr val="475569"/>
                </a:solidFill>
                <a:latin typeface="Microsoft YaHei"/>
                <a:ea typeface="Microsoft YaHei"/>
                <a:cs typeface="Microsoft YaHei"/>
              </a:rPr>
              <a:t>优化前后路径耗时分解</a:t>
            </a:r>
          </a:p>
          <a:p xmlns:a="http://schemas.openxmlformats.org/drawingml/2006/main">
            <a:r>
              <a:t/>
            </a:r>
          </a:p>
          <a:p xmlns:a="http://schemas.openxmlformats.org/drawingml/2006/main">
            <a:pPr algn="ctr">
              <a:defRPr sz="1575" b="0">
                <a:solidFill>
                  <a:srgbClr val="475569"/>
                </a:solidFill>
                <a:latin typeface="Microsoft YaHei"/>
                <a:ea typeface="Microsoft YaHei"/>
                <a:cs typeface="Microsoft YaHei"/>
              </a:defRPr>
            </a:pPr>
            <a:r>
              <a:rPr sz="1575" b="0">
                <a:solidFill>
                  <a:srgbClr val="475569"/>
                </a:solidFill>
                <a:latin typeface="Microsoft YaHei"/>
                <a:ea typeface="Microsoft YaHei"/>
                <a:cs typeface="Microsoft YaHei"/>
              </a:rPr>
              <a:t>查询 · 提交 · 传输 · 同步</a:t>
            </a:r>
          </a:p>
          <a:p xmlns:a="http://schemas.openxmlformats.org/drawingml/2006/main">
            <a:r>
              <a:t/>
            </a:r>
          </a:p>
          <a:p xmlns:a="http://schemas.openxmlformats.org/drawingml/2006/main">
            <a:pPr algn="ctr">
              <a:defRPr sz="1575" b="0">
                <a:solidFill>
                  <a:srgbClr val="475569"/>
                </a:solidFill>
                <a:latin typeface="Microsoft YaHei"/>
                <a:ea typeface="Microsoft YaHei"/>
                <a:cs typeface="Microsoft YaHei"/>
              </a:defRPr>
            </a:pPr>
            <a:r>
              <a:rPr sz="1575" b="0">
                <a:solidFill>
                  <a:srgbClr val="475569"/>
                </a:solidFill>
                <a:latin typeface="Microsoft YaHei"/>
                <a:ea typeface="Microsoft YaHei"/>
                <a:cs typeface="Microsoft YaHei"/>
              </a:rPr>
              <a:t>待补：同条件实测数据</a:t>
            </a:r>
          </a:p>
        </p:txBody>
      </p:sp>
      <p:sp>
        <p:nvSpPr>
          <p:cNvPr id="10" name="">
            <a:extLst xmlns:a="http://schemas.openxmlformats.org/drawingml/2006/main">
              <a:ext uri="{FF2B5EF4-FFF2-40B4-BE49-F238E27FC236}">
                <a16:creationId xmlns:a16="http://schemas.microsoft.com/office/drawing/2014/main" id="{47995F9F-82A9-4F43-9315-1A62EE724266}"/>
              </a:ext>
            </a:extLst>
          </p:cNvPr>
          <p:cNvSpPr>
            <a:spLocks xmlns:a="http://schemas.openxmlformats.org/drawingml/2006/main" noGrp="1"/>
          </p:cNvSpPr>
          <p:nvPr/>
        </p:nvSpPr>
        <p:spPr>
          <a:xfrm xmlns:a="http://schemas.openxmlformats.org/drawingml/2006/main">
            <a:off x="457200" y="5867400"/>
            <a:ext cx="1127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1E3A8A"/>
                </a:solidFill>
                <a:latin typeface="Microsoft YaHei"/>
                <a:ea typeface="Microsoft YaHei"/>
                <a:cs typeface="Microsoft YaHei"/>
              </a:defRPr>
            </a:defPPr>
          </a:lstStyle>
          <a:p xmlns:a="http://schemas.openxmlformats.org/drawingml/2006/main">
            <a:pPr algn="l">
              <a:defRPr sz="1800" b="1">
                <a:solidFill>
                  <a:srgbClr val="1E3A8A"/>
                </a:solidFill>
                <a:latin typeface="Microsoft YaHei"/>
                <a:ea typeface="Microsoft YaHei"/>
                <a:cs typeface="Microsoft YaHei"/>
              </a:defRPr>
            </a:pPr>
            <a:r>
              <a:rPr sz="1800" b="1">
                <a:solidFill>
                  <a:srgbClr val="1E3A8A"/>
                </a:solidFill>
                <a:latin typeface="Microsoft YaHei"/>
                <a:ea typeface="Microsoft YaHei"/>
                <a:cs typeface="Microsoft YaHei"/>
              </a:rPr>
              <a:t>以实际收益和适用条件确定后续开发范围</a:t>
            </a:r>
          </a:p>
        </p:txBody>
      </p:sp>
    </p:spTree>
    <p:extLst>
      <p:ext uri="{BB962C8B-B14F-4D97-AF65-F5344CB8AC3E}">
        <p14:creationId xmlns:p14="http://schemas.microsoft.com/office/powerpoint/2010/main" val="35186814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DA247D4-253D-4637-9C80-31023837FBC8}"/>
              </a:ext>
            </a:extLst>
          </p:cNvPr>
          <p:cNvSpPr>
            <a:spLocks xmlns:a="http://schemas.openxmlformats.org/drawingml/2006/main" noGrp="1"/>
          </p:cNvSpPr>
          <p:nvPr/>
        </p:nvSpPr>
        <p:spPr>
          <a:xfrm xmlns:a="http://schemas.openxmlformats.org/drawingml/2006/main">
            <a:off x="457200" y="323850"/>
            <a:ext cx="11239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700" b="1">
                <a:solidFill>
                  <a:srgbClr val="1E3A8A"/>
                </a:solidFill>
                <a:latin typeface="Microsoft YaHei"/>
                <a:ea typeface="Microsoft YaHei"/>
                <a:cs typeface="Microsoft YaHei"/>
              </a:defRPr>
            </a:defPPr>
          </a:lstStyle>
          <a:p xmlns:a="http://schemas.openxmlformats.org/drawingml/2006/main">
            <a:pPr algn="l">
              <a:defRPr sz="2700" b="1">
                <a:solidFill>
                  <a:srgbClr val="1E3A8A"/>
                </a:solidFill>
                <a:latin typeface="Microsoft YaHei"/>
                <a:ea typeface="Microsoft YaHei"/>
                <a:cs typeface="Microsoft YaHei"/>
              </a:defRPr>
            </a:pPr>
            <a:r>
              <a:rPr sz="2700" b="1">
                <a:solidFill>
                  <a:srgbClr val="1E3A8A"/>
                </a:solidFill>
                <a:latin typeface="Microsoft YaHei"/>
                <a:ea typeface="Microsoft YaHei"/>
                <a:cs typeface="Microsoft YaHei"/>
              </a:rPr>
              <a:t>后续三周验证与阶段决策</a:t>
            </a:r>
          </a:p>
        </p:txBody>
      </p:sp>
      <p:sp>
        <p:nvSpPr>
          <p:cNvPr id="2" name="">
            <a:extLst xmlns:a="http://schemas.openxmlformats.org/drawingml/2006/main">
              <a:ext uri="{FF2B5EF4-FFF2-40B4-BE49-F238E27FC236}">
                <a16:creationId xmlns:a16="http://schemas.microsoft.com/office/drawing/2014/main" id="{40581C17-4EEB-4AC2-B937-AAD9D2A8D73A}"/>
              </a:ext>
            </a:extLst>
          </p:cNvPr>
          <p:cNvSpPr>
            <a:spLocks xmlns:a="http://schemas.openxmlformats.org/drawingml/2006/main" noGrp="1"/>
          </p:cNvSpPr>
          <p:nvPr/>
        </p:nvSpPr>
        <p:spPr>
          <a:xfrm xmlns:a="http://schemas.openxmlformats.org/drawingml/2006/main">
            <a:off x="457200" y="9334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475569"/>
                </a:solidFill>
                <a:latin typeface="Microsoft YaHei"/>
                <a:ea typeface="Microsoft YaHei"/>
                <a:cs typeface="Microsoft YaHei"/>
              </a:defRPr>
            </a:defPPr>
          </a:lstStyle>
          <a:p xmlns:a="http://schemas.openxmlformats.org/drawingml/2006/main">
            <a:pPr algn="l">
              <a:defRPr sz="1500" b="0">
                <a:solidFill>
                  <a:srgbClr val="475569"/>
                </a:solidFill>
                <a:latin typeface="Microsoft YaHei"/>
                <a:ea typeface="Microsoft YaHei"/>
                <a:cs typeface="Microsoft YaHei"/>
              </a:defRPr>
            </a:pPr>
            <a:r>
              <a:rPr sz="1500" b="0">
                <a:solidFill>
                  <a:srgbClr val="475569"/>
                </a:solidFill>
                <a:latin typeface="Microsoft YaHei"/>
                <a:ea typeface="Microsoft YaHei"/>
                <a:cs typeface="Microsoft YaHei"/>
              </a:rPr>
              <a:t>先形成可重复的在线收益证据，再确定正式开发范围</a:t>
            </a:r>
          </a:p>
        </p:txBody>
      </p:sp>
      <p:sp>
        <p:nvSpPr>
          <p:cNvPr id="3" name="">
            <a:extLst xmlns:a="http://schemas.openxmlformats.org/drawingml/2006/main">
              <a:ext uri="{FF2B5EF4-FFF2-40B4-BE49-F238E27FC236}">
                <a16:creationId xmlns:a16="http://schemas.microsoft.com/office/drawing/2014/main" id="{7E597D59-EBDB-420E-A6C3-6EF73FE2EC9A}"/>
              </a:ext>
            </a:extLst>
          </p:cNvPr>
          <p:cNvSpPr>
            <a:spLocks xmlns:a="http://schemas.openxmlformats.org/drawingml/2006/main" noGrp="1"/>
          </p:cNvSpPr>
          <p:nvPr/>
        </p:nvSpPr>
        <p:spPr>
          <a:xfrm xmlns:a="http://schemas.openxmlformats.org/drawingml/2006/main">
            <a:off x="457200" y="1495425"/>
            <a:ext cx="11277600" cy="19050"/>
          </a:xfrm>
          <a:prstGeom xmlns:a="http://schemas.openxmlformats.org/drawingml/2006/main" prst="rect">
            <a:avLst/>
          </a:prstGeom>
          <a:solidFill xmlns:a="http://schemas.openxmlformats.org/drawingml/2006/main">
            <a:srgbClr val="1E3A8A"/>
          </a:solidFill>
          <a:ln xmlns:a="http://schemas.openxmlformats.org/drawingml/2006/main" w="12383">
            <a:solidFill>
              <a:srgbClr val="1E3A8A"/>
            </a:solidFill>
            <a:prstDash val="solid"/>
          </a:ln>
        </p:spPr>
      </p:sp>
      <p:sp>
        <p:nvSpPr>
          <p:cNvPr id="4" name="">
            <a:extLst xmlns:a="http://schemas.openxmlformats.org/drawingml/2006/main">
              <a:ext uri="{FF2B5EF4-FFF2-40B4-BE49-F238E27FC236}">
                <a16:creationId xmlns:a16="http://schemas.microsoft.com/office/drawing/2014/main" id="{F9BE0107-D11F-4A18-AA5F-90D9B626E6A6}"/>
              </a:ext>
            </a:extLst>
          </p:cNvPr>
          <p:cNvSpPr>
            <a:spLocks xmlns:a="http://schemas.openxmlformats.org/drawingml/2006/main" noGrp="1"/>
          </p:cNvSpPr>
          <p:nvPr/>
        </p:nvSpPr>
        <p:spPr>
          <a:xfrm xmlns:a="http://schemas.openxmlformats.org/drawingml/2006/main">
            <a:off x="457200" y="6438900"/>
            <a:ext cx="1028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475569"/>
                </a:solidFill>
                <a:latin typeface="Microsoft YaHei"/>
                <a:ea typeface="Microsoft YaHei"/>
                <a:cs typeface="Microsoft YaHei"/>
              </a:defRPr>
            </a:defPPr>
          </a:lstStyle>
          <a:p xmlns:a="http://schemas.openxmlformats.org/drawingml/2006/main">
            <a:pPr algn="l">
              <a:defRPr sz="1125" b="0">
                <a:solidFill>
                  <a:srgbClr val="475569"/>
                </a:solidFill>
                <a:latin typeface="Microsoft YaHei"/>
                <a:ea typeface="Microsoft YaHei"/>
                <a:cs typeface="Microsoft YaHei"/>
              </a:defRPr>
            </a:pPr>
            <a:r>
              <a:rPr sz="1125" b="0">
                <a:solidFill>
                  <a:srgbClr val="475569"/>
                </a:solidFill>
                <a:latin typeface="Microsoft YaHei"/>
                <a:ea typeface="Microsoft YaHei"/>
                <a:cs typeface="Microsoft YaHei"/>
              </a:rPr>
              <a:t>KVC 工作汇报 · 2026-10-15</a:t>
            </a:r>
          </a:p>
        </p:txBody>
      </p:sp>
      <p:sp>
        <p:nvSpPr>
          <p:cNvPr id="5" name="">
            <a:extLst xmlns:a="http://schemas.openxmlformats.org/drawingml/2006/main">
              <a:ext uri="{FF2B5EF4-FFF2-40B4-BE49-F238E27FC236}">
                <a16:creationId xmlns:a16="http://schemas.microsoft.com/office/drawing/2014/main" id="{9A962BAC-342F-41AE-ACBE-7E46DE2B68AB}"/>
              </a:ext>
            </a:extLst>
          </p:cNvPr>
          <p:cNvSpPr>
            <a:spLocks xmlns:a="http://schemas.openxmlformats.org/drawingml/2006/main" noGrp="1"/>
          </p:cNvSpPr>
          <p:nvPr/>
        </p:nvSpPr>
        <p:spPr>
          <a:xfrm xmlns:a="http://schemas.openxmlformats.org/drawingml/2006/main">
            <a:off x="1127760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200" b="0">
                <a:solidFill>
                  <a:srgbClr val="475569"/>
                </a:solidFill>
                <a:latin typeface="Microsoft YaHei"/>
                <a:ea typeface="Microsoft YaHei"/>
                <a:cs typeface="Microsoft YaHei"/>
              </a:defRPr>
            </a:defPPr>
          </a:lstStyle>
          <a:p xmlns:a="http://schemas.openxmlformats.org/drawingml/2006/main">
            <a:pPr algn="r">
              <a:defRPr sz="1200" b="0">
                <a:solidFill>
                  <a:srgbClr val="475569"/>
                </a:solidFill>
                <a:latin typeface="Microsoft YaHei"/>
                <a:ea typeface="Microsoft YaHei"/>
                <a:cs typeface="Microsoft YaHei"/>
              </a:defRPr>
            </a:pPr>
            <a:r>
              <a:rPr sz="1200" b="0">
                <a:solidFill>
                  <a:srgbClr val="475569"/>
                </a:solidFill>
                <a:latin typeface="Microsoft YaHei"/>
                <a:ea typeface="Microsoft YaHei"/>
                <a:cs typeface="Microsoft YaHei"/>
              </a:rPr>
              <a:t>03</a:t>
            </a:r>
          </a:p>
        </p:txBody>
      </p:sp>
      <p:graphicFrame>
        <p:nvGraphicFramePr>
          <p:cNvPr id="6" name="">
            <a:extLst xmlns:a="http://schemas.openxmlformats.org/drawingml/2006/main">
              <a:ext uri="{FF2B5EF4-FFF2-40B4-BE49-F238E27FC236}">
                <a16:creationId xmlns:a16="http://schemas.microsoft.com/office/drawing/2014/main" id="{11E6D4EF-EA4B-428D-A021-708B8B789CBD}"/>
              </a:ext>
            </a:extLst>
          </p:cNvPr>
          <p:cNvGraphicFramePr/>
          <p:nvPr/>
        </p:nvGraphicFramePr>
        <p:xfrm>
          <a:off xmlns:a="http://schemas.openxmlformats.org/drawingml/2006/main" x="457200" y="1809750"/>
          <a:ext xmlns:a="http://schemas.openxmlformats.org/drawingml/2006/main" cx="11277600" cy="3295650"/>
        </p:xfrm>
        <a:graphic xmlns:a="http://schemas.openxmlformats.org/drawingml/2006/main">
          <a:graphicData uri="http://schemas.openxmlformats.org/drawingml/2006/table">
            <a:tbl>
              <a:tblPr/>
              <a:tblGrid>
                <a:gridCol w="2095500"/>
                <a:gridCol w="6324600"/>
                <a:gridCol w="2857500"/>
              </a:tblGrid>
              <a:tr h="823913">
                <a:tc>
                  <a:txBody>
                    <a:bodyPr wrap="square" lIns="133350" tIns="114300" rIns="133350" bIns="114300">
                      <a:noAutofit/>
                    </a:bodyPr>
                    <a:lstStyle/>
                    <a:p>
                      <a:r>
                        <a:rPr sz="1575" b="1">
                          <a:solidFill>
                            <a:srgbClr val="FFFFFF"/>
                          </a:solidFill>
                          <a:latin typeface="Microsoft YaHei"/>
                          <a:ea typeface="Microsoft YaHei"/>
                          <a:cs typeface="Microsoft YaHei"/>
                        </a:rPr>
                        <a:t>阶段</a:t>
                      </a:r>
                    </a:p>
                  </a:txBody>
                  <a:tcPr marL="91440" marR="91440" marT="45720" marB="45720" anchor="ctr">
                    <a:solidFill>
                      <a:srgbClr val="1E3A8A"/>
                    </a:solidFill>
                  </a:tcPr>
                </a:tc>
                <a:tc>
                  <a:txBody>
                    <a:bodyPr wrap="square" lIns="133350" tIns="114300" rIns="133350" bIns="114300">
                      <a:noAutofit/>
                    </a:bodyPr>
                    <a:lstStyle/>
                    <a:p>
                      <a:r>
                        <a:rPr sz="1575" b="1">
                          <a:solidFill>
                            <a:srgbClr val="FFFFFF"/>
                          </a:solidFill>
                          <a:latin typeface="Microsoft YaHei"/>
                          <a:ea typeface="Microsoft YaHei"/>
                          <a:cs typeface="Microsoft YaHei"/>
                        </a:rPr>
                        <a:t>重点工作</a:t>
                      </a:r>
                    </a:p>
                  </a:txBody>
                  <a:tcPr marL="91440" marR="91440" marT="45720" marB="45720" anchor="ctr">
                    <a:solidFill>
                      <a:srgbClr val="1E3A8A"/>
                    </a:solidFill>
                  </a:tcPr>
                </a:tc>
                <a:tc>
                  <a:txBody>
                    <a:bodyPr wrap="square" lIns="133350" tIns="114300" rIns="133350" bIns="114300">
                      <a:noAutofit/>
                    </a:bodyPr>
                    <a:lstStyle/>
                    <a:p>
                      <a:r>
                        <a:rPr sz="1575" b="1">
                          <a:solidFill>
                            <a:srgbClr val="FFFFFF"/>
                          </a:solidFill>
                          <a:latin typeface="Microsoft YaHei"/>
                          <a:ea typeface="Microsoft YaHei"/>
                          <a:cs typeface="Microsoft YaHei"/>
                        </a:rPr>
                        <a:t>预期产出</a:t>
                      </a:r>
                    </a:p>
                  </a:txBody>
                  <a:tcPr marL="91440" marR="91440" marT="45720" marB="45720" anchor="ctr">
                    <a:solidFill>
                      <a:srgbClr val="1E3A8A"/>
                    </a:solidFill>
                  </a:tcPr>
                </a:tc>
              </a:tr>
              <a:tr h="823913">
                <a:tc>
                  <a:txBody>
                    <a:bodyPr wrap="square" lIns="133350" tIns="114300" rIns="133350" bIns="114300">
                      <a:noAutofit/>
                    </a:bodyPr>
                    <a:lstStyle/>
                    <a:p>
                      <a:r>
                        <a:rPr sz="1725" b="1">
                          <a:solidFill>
                            <a:srgbClr val="0F172A"/>
                          </a:solidFill>
                          <a:latin typeface="Microsoft YaHei"/>
                          <a:ea typeface="Microsoft YaHei"/>
                          <a:cs typeface="Microsoft YaHei"/>
                        </a:rPr>
                        <a:t>第 1 周</a:t>
                      </a:r>
                    </a:p>
                    <a:p>
                      <a:r>
                        <a:rPr sz="1725" b="1">
                          <a:solidFill>
                            <a:srgbClr val="0F172A"/>
                          </a:solidFill>
                          <a:latin typeface="Microsoft YaHei"/>
                          <a:ea typeface="Microsoft YaHei"/>
                          <a:cs typeface="Microsoft YaHei"/>
                        </a:rPr>
                        <a:t>基线与瓶颈</a:t>
                      </a:r>
                    </a:p>
                  </a:txBody>
                  <a:tcPr marL="91440" marR="91440" marT="45720" marB="45720" anchor="ctr">
                    <a:solidFill>
                      <a:srgbClr val="FFFFFF"/>
                    </a:solidFill>
                  </a:tcPr>
                </a:tc>
                <a:tc>
                  <a:txBody>
                    <a:bodyPr wrap="square" lIns="133350" tIns="114300" rIns="133350" bIns="114300">
                      <a:noAutofit/>
                    </a:bodyPr>
                    <a:lstStyle/>
                    <a:p>
                      <a:r>
                        <a:rPr sz="1725" b="0">
                          <a:solidFill>
                            <a:srgbClr val="0F172A"/>
                          </a:solidFill>
                          <a:latin typeface="Microsoft YaHei"/>
                          <a:ea typeface="Microsoft YaHei"/>
                          <a:cs typeface="Microsoft YaHei"/>
                        </a:rPr>
                        <a:t>复核已有检索与通信结果，固定比较条件；</a:t>
                      </a:r>
                    </a:p>
                    <a:p>
                      <a:r>
                        <a:rPr sz="1725" b="0">
                          <a:solidFill>
                            <a:srgbClr val="0F172A"/>
                          </a:solidFill>
                          <a:latin typeface="Microsoft YaHei"/>
                          <a:ea typeface="Microsoft YaHei"/>
                          <a:cs typeface="Microsoft YaHei"/>
                        </a:rPr>
                        <a:t>补齐查询、提交、传输等关键路径测量</a:t>
                      </a:r>
                    </a:p>
                  </a:txBody>
                  <a:tcPr marL="91440" marR="91440" marT="45720" marB="45720" anchor="ctr">
                    <a:solidFill>
                      <a:srgbClr val="FFFFFF"/>
                    </a:solidFill>
                  </a:tcPr>
                </a:tc>
                <a:tc>
                  <a:txBody>
                    <a:bodyPr wrap="square" lIns="133350" tIns="114300" rIns="133350" bIns="114300">
                      <a:noAutofit/>
                    </a:bodyPr>
                    <a:lstStyle/>
                    <a:p>
                      <a:r>
                        <a:rPr sz="1725" b="0">
                          <a:solidFill>
                            <a:srgbClr val="0F172A"/>
                          </a:solidFill>
                          <a:latin typeface="Microsoft YaHei"/>
                          <a:ea typeface="Microsoft YaHei"/>
                          <a:cs typeface="Microsoft YaHei"/>
                        </a:rPr>
                        <a:t>可追溯对照数据</a:t>
                      </a:r>
                    </a:p>
                    <a:p>
                      <a:r>
                        <a:rPr sz="1725" b="0">
                          <a:solidFill>
                            <a:srgbClr val="0F172A"/>
                          </a:solidFill>
                          <a:latin typeface="Microsoft YaHei"/>
                          <a:ea typeface="Microsoft YaHei"/>
                          <a:cs typeface="Microsoft YaHei"/>
                        </a:rPr>
                        <a:t>与瓶颈分解</a:t>
                      </a:r>
                    </a:p>
                  </a:txBody>
                  <a:tcPr marL="91440" marR="91440" marT="45720" marB="45720" anchor="ctr">
                    <a:solidFill>
                      <a:srgbClr val="FFFFFF"/>
                    </a:solidFill>
                  </a:tcPr>
                </a:tc>
              </a:tr>
              <a:tr h="823913">
                <a:tc>
                  <a:txBody>
                    <a:bodyPr wrap="square" lIns="133350" tIns="114300" rIns="133350" bIns="114300">
                      <a:noAutofit/>
                    </a:bodyPr>
                    <a:lstStyle/>
                    <a:p>
                      <a:r>
                        <a:rPr sz="1725" b="1">
                          <a:solidFill>
                            <a:srgbClr val="0F172A"/>
                          </a:solidFill>
                          <a:latin typeface="Microsoft YaHei"/>
                          <a:ea typeface="Microsoft YaHei"/>
                          <a:cs typeface="Microsoft YaHei"/>
                        </a:rPr>
                        <a:t>第 2 周</a:t>
                      </a:r>
                    </a:p>
                    <a:p>
                      <a:r>
                        <a:rPr sz="1725" b="1">
                          <a:solidFill>
                            <a:srgbClr val="0F172A"/>
                          </a:solidFill>
                          <a:latin typeface="Microsoft YaHei"/>
                          <a:ea typeface="Microsoft YaHei"/>
                          <a:cs typeface="Microsoft YaHei"/>
                        </a:rPr>
                        <a:t>单项与边界</a:t>
                      </a:r>
                    </a:p>
                  </a:txBody>
                  <a:tcPr marL="91440" marR="91440" marT="45720" marB="45720" anchor="ctr">
                    <a:solidFill>
                      <a:srgbClr val="F8FAFC"/>
                    </a:solidFill>
                  </a:tcPr>
                </a:tc>
                <a:tc>
                  <a:txBody>
                    <a:bodyPr wrap="square" lIns="133350" tIns="114300" rIns="133350" bIns="114300">
                      <a:noAutofit/>
                    </a:bodyPr>
                    <a:lstStyle/>
                    <a:p>
                      <a:r>
                        <a:rPr sz="1725" b="0">
                          <a:solidFill>
                            <a:srgbClr val="0F172A"/>
                          </a:solidFill>
                          <a:latin typeface="Microsoft YaHei"/>
                          <a:ea typeface="Microsoft YaHei"/>
                          <a:cs typeface="Microsoft YaHei"/>
                        </a:rPr>
                        <a:t>验证控制面、业务块传输与批量流水；</a:t>
                      </a:r>
                    </a:p>
                    <a:p>
                      <a:r>
                        <a:rPr sz="1725" b="0">
                          <a:solidFill>
                            <a:srgbClr val="0F172A"/>
                          </a:solidFill>
                          <a:latin typeface="Microsoft YaHei"/>
                          <a:ea typeface="Microsoft YaHei"/>
                          <a:cs typeface="Microsoft YaHei"/>
                        </a:rPr>
                        <a:t>比较不同复用与负载下的收益和代价</a:t>
                      </a:r>
                    </a:p>
                  </a:txBody>
                  <a:tcPr marL="91440" marR="91440" marT="45720" marB="45720" anchor="ctr">
                    <a:solidFill>
                      <a:srgbClr val="F8FAFC"/>
                    </a:solidFill>
                  </a:tcPr>
                </a:tc>
                <a:tc>
                  <a:txBody>
                    <a:bodyPr wrap="square" lIns="133350" tIns="114300" rIns="133350" bIns="114300">
                      <a:noAutofit/>
                    </a:bodyPr>
                    <a:lstStyle/>
                    <a:p>
                      <a:r>
                        <a:rPr sz="1725" b="0">
                          <a:solidFill>
                            <a:srgbClr val="0F172A"/>
                          </a:solidFill>
                          <a:latin typeface="Microsoft YaHei"/>
                          <a:ea typeface="Microsoft YaHei"/>
                          <a:cs typeface="Microsoft YaHei"/>
                        </a:rPr>
                        <a:t>代表场景收益</a:t>
                      </a:r>
                    </a:p>
                    <a:p>
                      <a:r>
                        <a:rPr sz="1725" b="0">
                          <a:solidFill>
                            <a:srgbClr val="0F172A"/>
                          </a:solidFill>
                          <a:latin typeface="Microsoft YaHei"/>
                          <a:ea typeface="Microsoft YaHei"/>
                          <a:cs typeface="Microsoft YaHei"/>
                        </a:rPr>
                        <a:t>与适用边界</a:t>
                      </a:r>
                    </a:p>
                  </a:txBody>
                  <a:tcPr marL="91440" marR="91440" marT="45720" marB="45720" anchor="ctr">
                    <a:solidFill>
                      <a:srgbClr val="F8FAFC"/>
                    </a:solidFill>
                  </a:tcPr>
                </a:tc>
              </a:tr>
              <a:tr h="823913">
                <a:tc>
                  <a:txBody>
                    <a:bodyPr wrap="square" lIns="133350" tIns="114300" rIns="133350" bIns="114300">
                      <a:noAutofit/>
                    </a:bodyPr>
                    <a:lstStyle/>
                    <a:p>
                      <a:r>
                        <a:rPr sz="1725" b="1">
                          <a:solidFill>
                            <a:srgbClr val="0F172A"/>
                          </a:solidFill>
                          <a:latin typeface="Microsoft YaHei"/>
                          <a:ea typeface="Microsoft YaHei"/>
                          <a:cs typeface="Microsoft YaHei"/>
                        </a:rPr>
                        <a:t>第 3 周</a:t>
                      </a:r>
                    </a:p>
                    <a:p>
                      <a:r>
                        <a:rPr sz="1725" b="1">
                          <a:solidFill>
                            <a:srgbClr val="0F172A"/>
                          </a:solidFill>
                          <a:latin typeface="Microsoft YaHei"/>
                          <a:ea typeface="Microsoft YaHei"/>
                          <a:cs typeface="Microsoft YaHei"/>
                        </a:rPr>
                        <a:t>复验与取舍</a:t>
                      </a:r>
                    </a:p>
                  </a:txBody>
                  <a:tcPr marL="91440" marR="91440" marT="45720" marB="45720" anchor="ctr">
                    <a:solidFill>
                      <a:srgbClr val="FFFFFF"/>
                    </a:solidFill>
                  </a:tcPr>
                </a:tc>
                <a:tc>
                  <a:txBody>
                    <a:bodyPr wrap="square" lIns="133350" tIns="114300" rIns="133350" bIns="114300">
                      <a:noAutofit/>
                    </a:bodyPr>
                    <a:lstStyle/>
                    <a:p>
                      <a:r>
                        <a:rPr sz="1725" b="0">
                          <a:solidFill>
                            <a:srgbClr val="0F172A"/>
                          </a:solidFill>
                          <a:latin typeface="Microsoft YaHei"/>
                          <a:ea typeface="Microsoft YaHei"/>
                          <a:cs typeface="Microsoft YaHei"/>
                        </a:rPr>
                        <a:t>复跑重点场景，开展少量组合与混压对照；</a:t>
                      </a:r>
                    </a:p>
                    <a:p>
                      <a:r>
                        <a:rPr sz="1725" b="0">
                          <a:solidFill>
                            <a:srgbClr val="0F172A"/>
                          </a:solidFill>
                          <a:latin typeface="Microsoft YaHei"/>
                          <a:ea typeface="Microsoft YaHei"/>
                          <a:cs typeface="Microsoft YaHei"/>
                        </a:rPr>
                        <a:t>同时记录无收益、退化及后台搬运进度</a:t>
                      </a:r>
                    </a:p>
                  </a:txBody>
                  <a:tcPr marL="91440" marR="91440" marT="45720" marB="45720" anchor="ctr">
                    <a:solidFill>
                      <a:srgbClr val="FFFFFF"/>
                    </a:solidFill>
                  </a:tcPr>
                </a:tc>
                <a:tc>
                  <a:txBody>
                    <a:bodyPr wrap="square" lIns="133350" tIns="114300" rIns="133350" bIns="114300">
                      <a:noAutofit/>
                    </a:bodyPr>
                    <a:lstStyle/>
                    <a:p>
                      <a:r>
                        <a:rPr sz="1725" b="0">
                          <a:solidFill>
                            <a:srgbClr val="0F172A"/>
                          </a:solidFill>
                          <a:latin typeface="Microsoft YaHei"/>
                          <a:ea typeface="Microsoft YaHei"/>
                          <a:cs typeface="Microsoft YaHei"/>
                        </a:rPr>
                        <a:t>开发范围建议</a:t>
                      </a:r>
                    </a:p>
                    <a:p>
                      <a:r>
                        <a:rPr sz="1725" b="0">
                          <a:solidFill>
                            <a:srgbClr val="0F172A"/>
                          </a:solidFill>
                          <a:latin typeface="Microsoft YaHei"/>
                          <a:ea typeface="Microsoft YaHei"/>
                          <a:cs typeface="Microsoft YaHei"/>
                        </a:rPr>
                        <a:t>与阶段判断</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1723FFC3-EBEA-416A-8188-C106FB755B3E}"/>
              </a:ext>
            </a:extLst>
          </p:cNvPr>
          <p:cNvSpPr>
            <a:spLocks xmlns:a="http://schemas.openxmlformats.org/drawingml/2006/main" noGrp="1"/>
          </p:cNvSpPr>
          <p:nvPr/>
        </p:nvSpPr>
        <p:spPr>
          <a:xfrm xmlns:a="http://schemas.openxmlformats.org/drawingml/2006/main">
            <a:off x="457200" y="541020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1D4ED8"/>
                </a:solidFill>
                <a:latin typeface="Microsoft YaHei"/>
                <a:ea typeface="Microsoft YaHei"/>
                <a:cs typeface="Microsoft YaHei"/>
              </a:defRPr>
            </a:defPPr>
          </a:lstStyle>
          <a:p xmlns:a="http://schemas.openxmlformats.org/drawingml/2006/main">
            <a:pPr algn="l">
              <a:defRPr sz="1875" b="1">
                <a:solidFill>
                  <a:srgbClr val="1D4ED8"/>
                </a:solidFill>
                <a:latin typeface="Microsoft YaHei"/>
                <a:ea typeface="Microsoft YaHei"/>
                <a:cs typeface="Microsoft YaHei"/>
              </a:defRPr>
            </a:pPr>
            <a:r>
              <a:rPr sz="1875" b="1">
                <a:solidFill>
                  <a:srgbClr val="1D4ED8"/>
                </a:solidFill>
                <a:latin typeface="Microsoft YaHei"/>
                <a:ea typeface="Microsoft YaHei"/>
                <a:cs typeface="Microsoft YaHei"/>
              </a:rPr>
              <a:t>阶段决策</a:t>
            </a:r>
          </a:p>
        </p:txBody>
      </p:sp>
      <p:sp>
        <p:nvSpPr>
          <p:cNvPr id="8" name="">
            <a:extLst xmlns:a="http://schemas.openxmlformats.org/drawingml/2006/main">
              <a:ext uri="{FF2B5EF4-FFF2-40B4-BE49-F238E27FC236}">
                <a16:creationId xmlns:a16="http://schemas.microsoft.com/office/drawing/2014/main" id="{509E4C6C-47D7-4E28-9C79-BC8B4A3D3EFF}"/>
              </a:ext>
            </a:extLst>
          </p:cNvPr>
          <p:cNvSpPr>
            <a:spLocks xmlns:a="http://schemas.openxmlformats.org/drawingml/2006/main" noGrp="1"/>
          </p:cNvSpPr>
          <p:nvPr/>
        </p:nvSpPr>
        <p:spPr>
          <a:xfrm xmlns:a="http://schemas.openxmlformats.org/drawingml/2006/main">
            <a:off x="2476500" y="5410200"/>
            <a:ext cx="9258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1E3A8A"/>
                </a:solidFill>
                <a:latin typeface="Microsoft YaHei"/>
                <a:ea typeface="Microsoft YaHei"/>
                <a:cs typeface="Microsoft YaHei"/>
              </a:defRPr>
            </a:defPPr>
          </a:lstStyle>
          <a:p xmlns:a="http://schemas.openxmlformats.org/drawingml/2006/main">
            <a:pPr algn="l">
              <a:defRPr sz="2025" b="1">
                <a:solidFill>
                  <a:srgbClr val="1E3A8A"/>
                </a:solidFill>
                <a:latin typeface="Microsoft YaHei"/>
                <a:ea typeface="Microsoft YaHei"/>
                <a:cs typeface="Microsoft YaHei"/>
              </a:defRPr>
            </a:pPr>
            <a:r>
              <a:rPr sz="2025" b="1">
                <a:solidFill>
                  <a:srgbClr val="1E3A8A"/>
                </a:solidFill>
                <a:latin typeface="Microsoft YaHei"/>
                <a:ea typeface="Microsoft YaHei"/>
                <a:cs typeface="Microsoft YaHei"/>
              </a:rPr>
              <a:t>进入正式开发  /  补充验证  /  暂缓</a:t>
            </a:r>
          </a:p>
        </p:txBody>
      </p:sp>
      <p:sp>
        <p:nvSpPr>
          <p:cNvPr id="9" name="">
            <a:extLst xmlns:a="http://schemas.openxmlformats.org/drawingml/2006/main">
              <a:ext uri="{FF2B5EF4-FFF2-40B4-BE49-F238E27FC236}">
                <a16:creationId xmlns:a16="http://schemas.microsoft.com/office/drawing/2014/main" id="{8CB8F2E3-6B66-4114-977B-D1B93A998C25}"/>
              </a:ext>
            </a:extLst>
          </p:cNvPr>
          <p:cNvSpPr>
            <a:spLocks xmlns:a="http://schemas.openxmlformats.org/drawingml/2006/main" noGrp="1"/>
          </p:cNvSpPr>
          <p:nvPr/>
        </p:nvSpPr>
        <p:spPr>
          <a:xfrm xmlns:a="http://schemas.openxmlformats.org/drawingml/2006/main">
            <a:off x="457200" y="5934075"/>
            <a:ext cx="11277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475569"/>
                </a:solidFill>
                <a:latin typeface="Microsoft YaHei"/>
                <a:ea typeface="Microsoft YaHei"/>
                <a:cs typeface="Microsoft YaHei"/>
              </a:defRPr>
            </a:defPPr>
          </a:lstStyle>
          <a:p xmlns:a="http://schemas.openxmlformats.org/drawingml/2006/main">
            <a:pPr algn="l">
              <a:defRPr sz="1650" b="0">
                <a:solidFill>
                  <a:srgbClr val="475569"/>
                </a:solidFill>
                <a:latin typeface="Microsoft YaHei"/>
                <a:ea typeface="Microsoft YaHei"/>
                <a:cs typeface="Microsoft YaHei"/>
              </a:defRPr>
            </a:pPr>
            <a:r>
              <a:rPr sz="1650" b="0">
                <a:solidFill>
                  <a:srgbClr val="475569"/>
                </a:solidFill>
                <a:latin typeface="Microsoft YaHei"/>
                <a:ea typeface="Microsoft YaHei"/>
                <a:cs typeface="Microsoft YaHei"/>
              </a:rPr>
              <a:t>技术可行性明确、范围与资源确认后，再转入三个月正式开发。</a:t>
            </a:r>
          </a:p>
        </p:txBody>
      </p:sp>
    </p:spTree>
    <p:extLst>
      <p:ext uri="{BB962C8B-B14F-4D97-AF65-F5344CB8AC3E}">
        <p14:creationId xmlns:p14="http://schemas.microsoft.com/office/powerpoint/2010/main" val="18346778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2026-10-13T11:45:57.7330000Z</dcterms:created>
  <dcterms:modified xsi:type="dcterms:W3CDTF">2026-10-13T11:45:57.7330000Z</dcterms:modified>
</coreProperties>
</file>