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38b0cf94cb40bd" /><Relationship Type="http://schemas.openxmlformats.org/officeDocument/2006/relationships/extended-properties" Target="/docProps/app.xml" Id="R05e182b34f3d4850" /><Relationship Type="http://schemas.openxmlformats.org/officeDocument/2006/relationships/officeDocument" Target="/ppt/presentation.xml" Id="Rf0186ad923e641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4a534c0fbc4ab6"/>
  </p:sldMasterIdLst>
  <p:notesMasterIdLst>
    <p:notesMasterId xmlns:r="http://schemas.openxmlformats.org/officeDocument/2006/relationships" r:id="Rbcd8c6d19c7047cc"/>
  </p:notesMasterIdLst>
  <p:sldIdLst>
    <p:sldId xmlns:r="http://schemas.openxmlformats.org/officeDocument/2006/relationships" id="256" r:id="Rb3c01f01a9df44b9"/>
    <p:sldId xmlns:r="http://schemas.openxmlformats.org/officeDocument/2006/relationships" id="257" r:id="Rd062e77199b547a2"/>
    <p:sldId xmlns:r="http://schemas.openxmlformats.org/officeDocument/2006/relationships" id="258" r:id="Rfa9b2ad6cf7e40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cf3275cfcf47e1" /><Relationship Type="http://schemas.openxmlformats.org/officeDocument/2006/relationships/slideMaster" Target="/ppt/slideMasters/slideMaster1.xml" Id="R9e4a534c0fbc4ab6" /><Relationship Type="http://schemas.openxmlformats.org/officeDocument/2006/relationships/notesMaster" Target="/ppt/notesMasters/notesMaster1.xml" Id="Rbcd8c6d19c7047cc" /><Relationship Type="http://schemas.openxmlformats.org/officeDocument/2006/relationships/presProps" Target="/ppt/presProps.xml" Id="R2c37b9a5e5e4452c" /><Relationship Type="http://schemas.openxmlformats.org/officeDocument/2006/relationships/tableStyles" Target="/ppt/tableStyles.xml" Id="Rb9c482bfbe35441c" /><Relationship Type="http://schemas.openxmlformats.org/officeDocument/2006/relationships/slide" Target="/ppt/slides/slide1.xml" Id="Rb3c01f01a9df44b9" /><Relationship Type="http://schemas.openxmlformats.org/officeDocument/2006/relationships/slide" Target="/ppt/slides/slide2.xml" Id="Rd062e77199b547a2" /><Relationship Type="http://schemas.openxmlformats.org/officeDocument/2006/relationships/slide" Target="/ppt/slides/slide3.xml" Id="Rfa9b2ad6cf7e40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b7d74e97e540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ced1df584a4f24" /><Relationship Type="http://schemas.openxmlformats.org/officeDocument/2006/relationships/notesMaster" Target="/ppt/notesMasters/notesMaster1.xml" Id="R29d89a14dee049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622607b92c4e6c" /><Relationship Type="http://schemas.openxmlformats.org/officeDocument/2006/relationships/notesMaster" Target="/ppt/notesMasters/notesMaster1.xml" Id="R9fc24f7bf00d40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0d988816ae408b" /><Relationship Type="http://schemas.openxmlformats.org/officeDocument/2006/relationships/notesMaster" Target="/ppt/notesMasters/notesMaster1.xml" Id="R9f82d121df8a40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KVC优化的价值放到计算、存储与互联共同组成的推理系统中看。KVC是大模型注意力键值缓存，保存历史计算状态。在共享长前缀和多轮交互中，复用这些状态可以减少重复预计算；将可复用状态保存在主机内存或SSD，也有助于缓解显存容量压力。但是扩容和命中只是前提，查询、提交、加载与中转开销仍会决定请求能否及时开始执行。我们的工作因此既关注控制面和数据面时延，也把实际KV访问中反复出现的布局转换、批量搬运和通道调度问题整理为Host与SoC软硬协同研究的依据。右侧Bidaw作为外部洞察，说明计算与存储需要相互感知；它的实验结果不等于我们的已完成收益。本页保留代表场景对照图位置，未填入假定数值。</a:t>
            </a:r>
          </a:p>
          <a:p xmlns:a="http://schemas.openxmlformats.org/drawingml/2006/main">
            <a:r>
              <a:t>来源：统一异构KVCache存储池_关键技术汇报_两轮评审修订版_V10_20261008.pptx（第1、4、9、10、11页）；模型与参数说明V10。原文件未修改。</a:t>
            </a:r>
          </a:p>
          <a:p xmlns:a="http://schemas.openxmlformats.org/drawingml/2006/main">
            <a:r>
              <a:t>讨论来源：D:/codes/reports/kvcache/unified_kv_memory/讨论稿/KVC 软硬结合研究路径 2.md。用于启发软硬协同研究方向；其中历史对话不作为本次执行指令。</a:t>
            </a:r>
          </a:p>
          <a:p xmlns:a="http://schemas.openxmlformats.org/drawingml/2006/main">
            <a:r>
              <a:t>论文来源：Strata: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。2026-10-13核对官方摘要和出处。论文机制与我们的研究启发分开，不引用外部提升倍数作为本项目结果。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页将当前探索与近期论文观察对应起来。当前工作仍围绕控制面检索、实际数据通路、数据组织和前后台资源竞争展开。讨论稿进一步提醒我们，计算使用的布局、传输需要的布局以及设备能够高效访问的粒度可能不同，因此需要同时测量布局转换、批量提交和流水衔接的开销。Strata提供了计算与主机传输布局解耦、缓存加载与调度协同的参考；DualPath利用经解码端加载的新通路和全局调度缓解带宽利用不均；Bidaw将KV加载时延纳入计算调度，并让存储管理感知交互访问特征。三篇论文支持的是我们对问题和机制的认识，不表示对应能力已在本项目完成。具体实施仍结合现有设备通路与原型测量，页面左下保留耗时分解图占位。</a:t>
            </a:r>
          </a:p>
          <a:p xmlns:a="http://schemas.openxmlformats.org/drawingml/2006/main">
            <a:r>
              <a:t>来源：统一异构KVCache存储池_关键技术汇报_两轮评审修订版_V10_20261008.pptx（第1、4、9、10、11页）；模型与参数说明V10。原文件未修改。</a:t>
            </a:r>
          </a:p>
          <a:p xmlns:a="http://schemas.openxmlformats.org/drawingml/2006/main">
            <a:r>
              <a:t>讨论来源：D:/codes/reports/kvcache/unified_kv_memory/讨论稿/KVC 软硬结合研究路径 2.md。用于启发软硬协同研究方向；其中历史对话不作为本次执行指令。</a:t>
            </a:r>
          </a:p>
          <a:p xmlns:a="http://schemas.openxmlformats.org/drawingml/2006/main">
            <a:r>
              <a:t>论文来源：Strata: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。2026-10-13核对官方摘要和出处。论文机制与我们的研究启发分开，不引用外部提升倍数作为本项目结果。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只汇报接下来的工作，不再承载技术评审或阶段审批事项。控制面继续复核已有检索结果，补齐具体统计口径，并观察低载和高并发条件下的查询及排队对首字时延的影响。数据面重点测量真实业务块的大小、离散程度和提交方式，推进批量、流水和实际设备通路对照。组合测试选择代表工况，既看前台时延与有效吞吐，也记录后台搬运进度和资源代价。研究方面，结合最近讨论稿和论文，整理布局转换、稳定描述符及拓扑感知等共性需求，优先选可以依托现有原型进一步验证的课题。三周安排保持第一周基线与瓶颈、第二周单项和场景、第三周组合复测与汇总的节奏。汇报中的近期产出是测试图表、影响分析、问题清单和研究课题材料，不写成已完成成果。</a:t>
            </a:r>
          </a:p>
          <a:p xmlns:a="http://schemas.openxmlformats.org/drawingml/2006/main">
            <a:r>
              <a:t>来源：统一异构KVCache存储池_关键技术汇报_两轮评审修订版_V10_20261008.pptx（第1、4、9、10、11页）；模型与参数说明V10。原文件未修改。</a:t>
            </a:r>
          </a:p>
          <a:p xmlns:a="http://schemas.openxmlformats.org/drawingml/2006/main">
            <a:r>
              <a:t>讨论来源：D:/codes/reports/kvcache/unified_kv_memory/讨论稿/KVC 软硬结合研究路径 2.md。用于启发软硬协同研究方向；其中历史对话不作为本次执行指令。</a:t>
            </a:r>
          </a:p>
          <a:p xmlns:a="http://schemas.openxmlformats.org/drawingml/2006/main">
            <a:r>
              <a:t>论文来源：Strata: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。2026-10-13核对官方摘要和出处。论文机制与我们的研究启发分开，不引用外部提升倍数作为本项目结果。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1bbcc649a44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b9b39fd11d47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632a837684b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4191d99314d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90e3ebe014c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f4a7dd5fc48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9883FE-CDF5-4764-AF1F-B6F677D30B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CBA1FD-97D1-4D7D-BDDE-42FBB41B7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A30A116-CCB6-4851-93C8-C0FCA4FE00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D5CCFB-9196-4752-B3DA-23D9FE954C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1919E1-4A7C-4D37-9BBD-3CCA6ACD9E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67B9F7-83F0-4F53-B497-50C550A36B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66CEC9-78C8-4E01-9A5A-47B4116E61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AB6F99-C2E7-40A3-8375-16EFB5A8E2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9C87EF-FF3E-4E76-A3A6-2309B26ACB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0C5D2D-D6E1-4F4D-B688-B89B93D054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cd4307ba784683" /><Relationship Type="http://schemas.openxmlformats.org/officeDocument/2006/relationships/slideLayout" Target="/ppt/slideLayouts/slideLayout1.xml" Id="Reedc5fb928da4e7c" /><Relationship Type="http://schemas.openxmlformats.org/officeDocument/2006/relationships/slideLayout" Target="/ppt/slideLayouts/slideLayout2.xml" Id="Rffd76e4ae6da4783" /><Relationship Type="http://schemas.openxmlformats.org/officeDocument/2006/relationships/slideLayout" Target="/ppt/slideLayouts/slideLayout3.xml" Id="R1e0d8e13944b4a41" /><Relationship Type="http://schemas.openxmlformats.org/officeDocument/2006/relationships/slideLayout" Target="/ppt/slideLayouts/slideLayout4.xml" Id="Rc42410b935aa4827" /><Relationship Type="http://schemas.openxmlformats.org/officeDocument/2006/relationships/slideLayout" Target="/ppt/slideLayouts/slideLayout5.xml" Id="Ra22eda62cb494d99" /><Relationship Type="http://schemas.openxmlformats.org/officeDocument/2006/relationships/slideLayout" Target="/ppt/slideLayouts/slideLayout6.xml" Id="R794de6f0f69542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dc5fb928da4e7c"/>
    <p:sldLayoutId xmlns:r="http://schemas.openxmlformats.org/officeDocument/2006/relationships" id="2147483650" r:id="Rffd76e4ae6da4783"/>
    <p:sldLayoutId xmlns:r="http://schemas.openxmlformats.org/officeDocument/2006/relationships" id="2147483651" r:id="R1e0d8e13944b4a41"/>
    <p:sldLayoutId xmlns:r="http://schemas.openxmlformats.org/officeDocument/2006/relationships" id="2147483652" r:id="Rc42410b935aa4827"/>
    <p:sldLayoutId xmlns:r="http://schemas.openxmlformats.org/officeDocument/2006/relationships" id="2147483653" r:id="Ra22eda62cb494d99"/>
    <p:sldLayoutId xmlns:r="http://schemas.openxmlformats.org/officeDocument/2006/relationships" id="2147483654" r:id="R794de6f0f69542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988842fd34615" /><Relationship Type="http://schemas.openxmlformats.org/officeDocument/2006/relationships/notesSlide" Target="/ppt/notesSlides/notesSlide1.xml" Id="R695a0cb4a30540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29c0c4d1d46d3" /><Relationship Type="http://schemas.openxmlformats.org/officeDocument/2006/relationships/notesSlide" Target="/ppt/notesSlides/notesSlide2.xml" Id="R544fc0889df94b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7a6ebbbae34e54" /><Relationship Type="http://schemas.openxmlformats.org/officeDocument/2006/relationships/notesSlide" Target="/ppt/notesSlides/notesSlide3.xml" Id="R9ba96107cf0a44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6A59C-88F7-48DC-8253-E24F367C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KVC 优化的价值与工作切入点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A5A31-353D-4152-8120-1A45C732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长上下文与多轮交互，使历史计算状态的复用、存放和高效获取更加重要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F17AC-B211-4E34-992C-4CF320A1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12383">
            <a:solidFill>
              <a:srgbClr val="1E3A8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633DC-CCE0-47C3-B6E0-AB1D69CD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3A154-146B-49D4-84CF-FD7020E7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BDEC4-F9B2-409D-BEC6-EBF0265A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减少重复计算，改善响应速度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BE691-BFDC-473B-AE11-F2C03C7B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700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共享长前缀、多轮对话可复用已有计算状态，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减少重复预计算，缩短首字等待。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00F4D-A408-46B4-BBB3-6090A9BE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扩展有效缓存容量，缓解显存压力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ADAA6-BD2A-4E4C-8852-90973362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71825"/>
            <a:ext cx="700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结合显存、主机内存与 SSD 保存可复用状态，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减少缓存淘汰后的重算，支撑更长上下文。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3C2E6-D489-4AB6-AD58-CFD9EFEB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提高算力、内存与互联资源的使用效率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9BD84-43D7-438A-8CC2-A2967ACC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700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减少查询等待、主机中转与无效搬运，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让更多资源用于有效推理请求。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6E398-9957-4194-A7EA-B3B21D73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为 Host / SoC 软硬协同提供研究依据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F46B2-36E3-4A5A-87F2-C7172D62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24475"/>
            <a:ext cx="700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从实际 KV 访问中提炼布局转换、批量搬运、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通道调度等共性需求，寻找值得优化的底层能力。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1614C-9BB3-44D1-8782-975F44AD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24025"/>
            <a:ext cx="39243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383">
            <a:solidFill>
              <a:srgbClr val="94A3B8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D52C5-7233-4B01-94F7-71ADEB08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621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数据图占位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ED5553-943E-4765-88CE-E27610EF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86025"/>
            <a:ext cx="34671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代表场景：缓存复用 vs 本地重算</a:t>
            </a:r>
          </a:p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首字时延与加载开销对照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待补同条件实测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38C66-5B70-44A8-857E-D18A1ACA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近期洞察：计算与存储需要协同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232A18-0188-4B1D-ABD6-A626E35C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81575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Bidaw 将缓存加载时延纳入请求调度，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说明扩容之后，还要解决数据何时到达、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计算何时开始的问题。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EDE7C-9CC1-406E-B861-C190B2A0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81700"/>
            <a:ext cx="392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Bidaw · FAST 2026</a:t>
            </a:r>
          </a:p>
        </p:txBody>
      </p:sp>
    </p:spTree>
    <p:extLst>
      <p:ext uri="{BB962C8B-B14F-4D97-AF65-F5344CB8AC3E}">
        <p14:creationId xmlns:p14="http://schemas.microsoft.com/office/powerpoint/2010/main" val="21195310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DF639-A39F-4C61-BBA9-10A325B9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技术探索方向与近期论文洞察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F5496-C9A6-4899-A619-EDECFF76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围绕控制处理、数据搬运与执行时序，推进当前优化并梳理共性软硬件能力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5CFBC-8E65-4521-81EC-E0814F08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12383">
            <a:solidFill>
              <a:srgbClr val="1E3A8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1CD5E-49C7-4E81-9A04-0001209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3FA5E-D056-4672-8B03-883975F3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312FD-F767-44EC-9651-BEA9C5381111}"/>
              </a:ext>
            </a:extLst>
          </p:cNvPr>
          <p:cNvGraphicFramePr/>
          <p:nvPr/>
        </p:nvGraphicFramePr>
        <p:xfrm>
          <a:off xmlns:a="http://schemas.openxmlformats.org/drawingml/2006/main" x="457200" y="1733550"/>
          <a:ext xmlns:a="http://schemas.openxmlformats.org/drawingml/2006/main" cx="75819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581650"/>
              </a:tblGrid>
              <a:tr h="65913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探索方向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当前探索重点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</a:tr>
              <a:tr h="65913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控制面检索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共享内存检索，减少查询往返；</a:t>
                      </a:r>
                    </a:p>
                    <a:p>
                      <a:r>
                        <a:rPr sz="15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跟踪查询次数、处理与排队开销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913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数据通路与通道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核对设备直达路径，比较拓扑与多通道；</a:t>
                      </a:r>
                    </a:p>
                    <a:p>
                      <a:r>
                        <a:rPr sz="15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减少主机中转，提高实际有效带宽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5913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数据布局与流水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连续块合并、批量提交与按层流水；</a:t>
                      </a:r>
                    </a:p>
                    <a:p>
                      <a:r>
                        <a:rPr sz="15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关注计算布局与传输布局的转换开销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913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选路与资源控制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结合复用程度、路径成本选择拉取或重算；</a:t>
                      </a:r>
                    </a:p>
                    <a:p>
                      <a:r>
                        <a:rPr sz="1575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控制后台搬运对前台生成的影响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4EB86-7F2A-4281-BBCC-D746408C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75819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383">
            <a:solidFill>
              <a:srgbClr val="94A3B8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B2D05-B26C-4940-92FA-11D47B41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数据图占位：查询、提交、传输、同步耗时对照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B671B-D113-4400-A73A-D9441E6F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论文观察 → 对当前工作的启发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0D6F0-815C-4603-B359-8E6695A6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0275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Strata · OSDI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16391-8585-471B-A23B-49B9F5EE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335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计算布局与传输布局解耦，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用大块传输并配合缓存感知调度。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625B6-185B-4F2A-972F-229B68C2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33725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启发：同时优化布局、批量与流水。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351BD-5120-4E16-9292-6CA72FC2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DualPath · SIGCOMM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06DC8-B078-4376-B199-15E61474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76675"/>
            <a:ext cx="335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增加经解码端加载的通路，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配合全局调度利用闲置带宽。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47B82-D753-46F3-8BEC-171A1474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启发：关注拓扑和各通道实际负载。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BD0CB-58C7-40AD-8D97-1AE73536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48225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Bidaw · FAST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3B5A4-E150-4BE2-8B42-06545939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00650"/>
            <a:ext cx="335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将 KV 加载时延纳入请求调度，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同时改进分层缓存的管理。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4BD0A-70A1-4C3F-B470-1D8A50A3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81675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启发：把存储状态与执行时序联动。</a:t>
            </a:r>
          </a:p>
        </p:txBody>
      </p:sp>
    </p:spTree>
    <p:extLst>
      <p:ext uri="{BB962C8B-B14F-4D97-AF65-F5344CB8AC3E}">
        <p14:creationId xmlns:p14="http://schemas.microsoft.com/office/powerpoint/2010/main" val="1978841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7173A-9534-40D3-AF24-0CA41F8C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下一步工作安排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0F8F6-8F08-4691-8E19-18E596F1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继续推进控制面与数据面时延优化，补充业务场景测试和软硬结合研究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52B46-8B50-4394-82E0-BFCF593F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12383">
            <a:solidFill>
              <a:srgbClr val="1E3A8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AB765-8786-4BB8-8038-CB68A07D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A87E0-82FB-434A-A2BE-AA978A94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56479-50CF-468A-B6AE-E08764CEDB18}"/>
              </a:ext>
            </a:extLst>
          </p:cNvPr>
          <p:cNvGraphicFramePr/>
          <p:nvPr/>
        </p:nvGraphicFramePr>
        <p:xfrm>
          <a:off xmlns:a="http://schemas.openxmlformats.org/drawingml/2006/main" x="457200" y="1733550"/>
          <a:ext xmlns:a="http://schemas.openxmlformats.org/drawingml/2006/main" cx="112776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6477000"/>
                <a:gridCol w="2847975"/>
              </a:tblGrid>
              <a:tr h="68199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工作方向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近期工作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计划形成的材料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</a:tr>
              <a:tr h="68199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控制面优化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复核检索基线与统计口径；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补低载和高并发下的查询、排队及首字时延对照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检索前后对照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及在线影响分析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数据面优化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比较业务块大小、连续程度与提交方式；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推进批量、流水及设备通路的对照测试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加载耗时分解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及代表场景测试图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8199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组合与混压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在代表工况组合有效机制；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观察前台时延、有效吞吐与后台搬运进度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组合结果、资源代价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及问题清单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软硬结合研究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梳理布局转换、稳定描述符和拓扑感知需求；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对照论文，优先选择可通过现有原型验证的课题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共性能力对照表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及候选研究课题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1A87F-3806-4CDA-A9CD-8BC4790A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三周推进安排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5DFD3-F26B-4CB7-9FF9-ABD0626E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 1 周：基线与瓶颈测量     第 2 周：单项优化与场景对照     第 3 周：组合复测与结果汇总</a:t>
            </a:r>
          </a:p>
        </p:txBody>
      </p:sp>
    </p:spTree>
    <p:extLst>
      <p:ext uri="{BB962C8B-B14F-4D97-AF65-F5344CB8AC3E}">
        <p14:creationId xmlns:p14="http://schemas.microsoft.com/office/powerpoint/2010/main" val="1255860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2026-10-13T11:57:50.9370000Z</dcterms:created>
  <dcterms:modified xsi:type="dcterms:W3CDTF">2026-10-13T11:57:50.9370000Z</dcterms:modified>
</coreProperties>
</file>