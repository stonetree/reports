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a38e7ad798d4b12" /><Relationship Type="http://schemas.openxmlformats.org/officeDocument/2006/relationships/extended-properties" Target="/docProps/app.xml" Id="R7281853b028446f7" /><Relationship Type="http://schemas.openxmlformats.org/officeDocument/2006/relationships/officeDocument" Target="/ppt/presentation.xml" Id="R3bc51a451bf641e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da3176482bb4635"/>
  </p:sldMasterIdLst>
  <p:notesMasterIdLst>
    <p:notesMasterId xmlns:r="http://schemas.openxmlformats.org/officeDocument/2006/relationships" r:id="Rd01c502794a44d3c"/>
  </p:notesMasterIdLst>
  <p:sldIdLst>
    <p:sldId xmlns:r="http://schemas.openxmlformats.org/officeDocument/2006/relationships" id="256" r:id="R48883e61a15e4abd"/>
    <p:sldId xmlns:r="http://schemas.openxmlformats.org/officeDocument/2006/relationships" id="257" r:id="R5a1bb179b2f1408a"/>
    <p:sldId xmlns:r="http://schemas.openxmlformats.org/officeDocument/2006/relationships" id="258" r:id="R55ffdadbeeb24f6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d0fdc80a12c4bd0" /><Relationship Type="http://schemas.openxmlformats.org/officeDocument/2006/relationships/slideMaster" Target="/ppt/slideMasters/slideMaster1.xml" Id="R4da3176482bb4635" /><Relationship Type="http://schemas.openxmlformats.org/officeDocument/2006/relationships/notesMaster" Target="/ppt/notesMasters/notesMaster1.xml" Id="Rd01c502794a44d3c" /><Relationship Type="http://schemas.openxmlformats.org/officeDocument/2006/relationships/presProps" Target="/ppt/presProps.xml" Id="R53c1f703ce494a54" /><Relationship Type="http://schemas.openxmlformats.org/officeDocument/2006/relationships/tableStyles" Target="/ppt/tableStyles.xml" Id="R7f88b592806b4781" /><Relationship Type="http://schemas.openxmlformats.org/officeDocument/2006/relationships/slide" Target="/ppt/slides/slide1.xml" Id="R48883e61a15e4abd" /><Relationship Type="http://schemas.openxmlformats.org/officeDocument/2006/relationships/slide" Target="/ppt/slides/slide2.xml" Id="R5a1bb179b2f1408a" /><Relationship Type="http://schemas.openxmlformats.org/officeDocument/2006/relationships/slide" Target="/ppt/slides/slide3.xml" Id="R55ffdadbeeb24f6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7479da5127f45c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b787d4ae0c14cf8" /><Relationship Type="http://schemas.openxmlformats.org/officeDocument/2006/relationships/notesMaster" Target="/ppt/notesMasters/notesMaster1.xml" Id="R0524ed1cf8cb4c9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43fbf78784a4de6" /><Relationship Type="http://schemas.openxmlformats.org/officeDocument/2006/relationships/notesMaster" Target="/ppt/notesMasters/notesMaster1.xml" Id="R913d1a48e98f4b1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44f113b948145f3" /><Relationship Type="http://schemas.openxmlformats.org/officeDocument/2006/relationships/notesMaster" Target="/ppt/notesMasters/notesMaster1.xml" Id="R2f73769b60714ce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按最近讨论的递进关系说明KVC的软硬协同价值。逻辑KV需要先表示为物理布局，再放置到特定介质，经过实际访问路径，最后被计算使用。每个转换环节都可能改变业务性能：布局影响小传输、描述符和有效带宽；介质放置影响工作集容量、通道利用和换入换出；访问方式影响搬运字节、中转和总线竞争；执行衔接影响首层就绪、计算停顿和前后台干扰。收益成立依赖相应开销确实进入关键路径或限制系统容量，不能简单把带宽改善比例等同首字时延改善。Host是主机侧，SoC是片上系统；DMA为设备直接内存访问，NUMA为不同处理器访问内存代价不同的组织方式，CXL为支持内存语义的互联。TTFT是首字响应时间，TPOT是每个输出Token耗时，有效QPS是满足服务目标的每秒完成请求数。</a:t>
            </a:r>
          </a:p>
          <a:p xmlns:a="http://schemas.openxmlformats.org/drawingml/2006/main">
            <a:r>
              <a:t>内容依据：D:/codes/reports/kvcache/unified_kv_memory/讨论稿/KVC 软硬结合研究方向.md；KVC 软硬结合研究路径 2.md；ChatGPT对话“KVC底层优化价值”（6ac856aa-d94c-83e8-a0dc-6db23cb47568）；V10关键技术汇报。讨论材料用于研究框架，不作为已完成成果。</a:t>
            </a:r>
          </a:p>
          <a:p xmlns:a="http://schemas.openxmlformats.org/drawingml/2006/main">
            <a:r>
              <a:t>Strata: Hierarchical Context Caching for Long Context Language Model Serving，OSDI 2026，https://www.usenix.org/conference/osdi26/presentation/xie-zhiqiang ；Bidaw: Enhancing Key-Value Caching for Interactive LLM Serving via Bidirectional Computation–Storage Awareness，FAST 2026，https://www.usenix.org/conference/fast26/presentation/hu-shipeng ；DualPath: Accelerating Agentic LLM Inference by Harvesting Disaggregated KV-Cache Storage I/O，SIGCOMM 2026，https://conferences.sigcomm.org/sigcomm/2026/program/papers/ 。官方页面机制信息于本次汇报修订过程中核对，外部论文数字未移作本项目结果。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把每个方向展开为软件和硬件机制、适用场景、微观变化与收益指标。元数据优化的主要收益窗口是高复用、快加载、查询处在同步路径的请求，以及控制服务接近饱和的高并发工况，不据此承诺一般生成路径的TPOT。布局和批量搬运主要面向碎片化KV恢复；放置和多通道利用针对负载不均、跨域访问或容量约束；直达和按层流水面向外部恢复及生成中的逐层召回，后者才可能直接改善单字生成停顿。动态选路减少低复用和拥塞下不划算的拉取，前后台控制面向混压时共享资源竞争。三篇论文提供机制观察：Strata解耦布局并协同调度；DualPath改变数据通路利用闲置带宽；Bidaw使调度感知加载时延。表格是待验证的收益推演，不是已测增益，也没有填写数值目标。</a:t>
            </a:r>
          </a:p>
          <a:p xmlns:a="http://schemas.openxmlformats.org/drawingml/2006/main">
            <a:r>
              <a:t>内容依据：D:/codes/reports/kvcache/unified_kv_memory/讨论稿/KVC 软硬结合研究方向.md；KVC 软硬结合研究路径 2.md；ChatGPT对话“KVC底层优化价值”（6ac856aa-d94c-83e8-a0dc-6db23cb47568）；V10关键技术汇报。讨论材料用于研究框架，不作为已完成成果。</a:t>
            </a:r>
          </a:p>
          <a:p xmlns:a="http://schemas.openxmlformats.org/drawingml/2006/main">
            <a:r>
              <a:t>Strata: Hierarchical Context Caching for Long Context Language Model Serving，OSDI 2026，https://www.usenix.org/conference/osdi26/presentation/xie-zhiqiang ；Bidaw: Enhancing Key-Value Caching for Interactive LLM Serving via Bidirectional Computation–Storage Awareness，FAST 2026，https://www.usenix.org/conference/fast26/presentation/hu-shipeng ；DualPath: Accelerating Agentic LLM Inference by Harvesting Disaggregated KV-Cache Storage I/O，SIGCOMM 2026，https://conferences.sigcomm.org/sigcomm/2026/program/papers/ 。官方页面机制信息于本次汇报修订过程中核对，外部论文数字未移作本项目结果。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后续工作仍是定期进展汇报的安排，不设置阶段审批或开发门禁。控制面补齐检索、注册、提交与排队分解，并对照低载和高并发场景；数据面比较块粒度、连续性、设备路径及流水，观察加载等待和逐层召回停顿；组合与混压测试同时看前台指标、后台进度和资源代价。软硬研究使用第一页的递进关系，把反复出现的瓶颈对应到布局转换、稳定描述符、地址与拓扑、队列和完成通知等能力。以现有设备和原型为起点，分清软件参数调整、已有硬件能力利用，以及真正需要进一步体系结构研究的问题。三周保持第一周基线与瓶颈、第二周单项与场景、第三周组合与汇总的推进节奏，形成可解释的数据图表与课题线索。</a:t>
            </a:r>
          </a:p>
          <a:p xmlns:a="http://schemas.openxmlformats.org/drawingml/2006/main">
            <a:r>
              <a:t>内容依据：D:/codes/reports/kvcache/unified_kv_memory/讨论稿/KVC 软硬结合研究方向.md；KVC 软硬结合研究路径 2.md；ChatGPT对话“KVC底层优化价值”（6ac856aa-d94c-83e8-a0dc-6db23cb47568）；V10关键技术汇报。讨论材料用于研究框架，不作为已完成成果。</a:t>
            </a:r>
          </a:p>
          <a:p xmlns:a="http://schemas.openxmlformats.org/drawingml/2006/main">
            <a:r>
              <a:t>Strata: Hierarchical Context Caching for Long Context Language Model Serving，OSDI 2026，https://www.usenix.org/conference/osdi26/presentation/xie-zhiqiang ；Bidaw: Enhancing Key-Value Caching for Interactive LLM Serving via Bidirectional Computation–Storage Awareness，FAST 2026，https://www.usenix.org/conference/fast26/presentation/hu-shipeng ；DualPath: Accelerating Agentic LLM Inference by Harvesting Disaggregated KV-Cache Storage I/O，SIGCOMM 2026，https://conferences.sigcomm.org/sigcomm/2026/program/papers/ 。官方页面机制信息于本次汇报修订过程中核对，外部论文数字未移作本项目结果。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2ec7235299a4b3e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303a54a14c44b7c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a4aee7e51d2457a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5e48c6b571f45a7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4737874e2e14eca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460711aa5d9491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AC861CF-311A-47ED-9140-171E57A0340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913905DF-860B-4B56-981A-CA866984D1B0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969048DD-BC2F-4136-A758-00E82EE088F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79F4128-C000-4AC1-AC44-718C1D6995A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DD796C56-730D-496A-9897-4EF32EA5FEA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CFA48059-AF51-4A80-B44D-8D9D0FDE596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83AA0C01-8F63-4E9D-9F08-34889466C79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87537B17-118C-4F58-91DE-6420067A6FFF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491252DB-054E-47A3-BFF2-BD5D0493D83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E387F1EB-993C-492E-8789-2F318CF579E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3750535cf5e4aac" /><Relationship Type="http://schemas.openxmlformats.org/officeDocument/2006/relationships/slideLayout" Target="/ppt/slideLayouts/slideLayout1.xml" Id="R702893253cbb4f27" /><Relationship Type="http://schemas.openxmlformats.org/officeDocument/2006/relationships/slideLayout" Target="/ppt/slideLayouts/slideLayout2.xml" Id="Rb4b1a0d456b541fc" /><Relationship Type="http://schemas.openxmlformats.org/officeDocument/2006/relationships/slideLayout" Target="/ppt/slideLayouts/slideLayout3.xml" Id="R9e741563bb56438a" /><Relationship Type="http://schemas.openxmlformats.org/officeDocument/2006/relationships/slideLayout" Target="/ppt/slideLayouts/slideLayout4.xml" Id="Rb3f5b768d8884d74" /><Relationship Type="http://schemas.openxmlformats.org/officeDocument/2006/relationships/slideLayout" Target="/ppt/slideLayouts/slideLayout5.xml" Id="R3cc5ec769de34acd" /><Relationship Type="http://schemas.openxmlformats.org/officeDocument/2006/relationships/slideLayout" Target="/ppt/slideLayouts/slideLayout6.xml" Id="R36a277e0790f45c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02893253cbb4f27"/>
    <p:sldLayoutId xmlns:r="http://schemas.openxmlformats.org/officeDocument/2006/relationships" id="2147483650" r:id="Rb4b1a0d456b541fc"/>
    <p:sldLayoutId xmlns:r="http://schemas.openxmlformats.org/officeDocument/2006/relationships" id="2147483651" r:id="R9e741563bb56438a"/>
    <p:sldLayoutId xmlns:r="http://schemas.openxmlformats.org/officeDocument/2006/relationships" id="2147483652" r:id="Rb3f5b768d8884d74"/>
    <p:sldLayoutId xmlns:r="http://schemas.openxmlformats.org/officeDocument/2006/relationships" id="2147483653" r:id="R3cc5ec769de34acd"/>
    <p:sldLayoutId xmlns:r="http://schemas.openxmlformats.org/officeDocument/2006/relationships" id="2147483654" r:id="R36a277e0790f45c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76dcf88dd8f406b" /><Relationship Type="http://schemas.openxmlformats.org/officeDocument/2006/relationships/notesSlide" Target="/ppt/notesSlides/notesSlide1.xml" Id="R19193dbdcd60430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28125bac9b241f0" /><Relationship Type="http://schemas.openxmlformats.org/officeDocument/2006/relationships/notesSlide" Target="/ppt/notesSlides/notesSlide2.xml" Id="R6169ad25906e454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0c9ed1ede284deb" /><Relationship Type="http://schemas.openxmlformats.org/officeDocument/2006/relationships/notesSlide" Target="/ppt/notesSlides/notesSlide3.xml" Id="Ra1842a788ae0443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50C070A-D196-4C3C-B153-41084F042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3A8A"/>
          </a:solidFill>
          <a:ln xmlns:a="http://schemas.openxmlformats.org/drawingml/2006/main" w="9525">
            <a:solidFill>
              <a:srgbClr val="1E3A8A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B06040E-7EA9-48A1-99C5-6ED4CF0EF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"/>
            <a:ext cx="112776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KVC 的软硬协同价值：从计算状态到物理执行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83F9D4F-7EC9-4F12-9814-F88C771C9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77000"/>
            <a:ext cx="102870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92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92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2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KVC 工作汇报 · 2026-10-15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3CAA869-1F5D-4DEE-A36A-BF37A9429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77000"/>
            <a:ext cx="4572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r">
              <a:defRPr sz="92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92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2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F9022D9-79C0-41B7-AD9B-25EFAB085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14400"/>
            <a:ext cx="11277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10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10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0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KVC（大模型注意力键值缓存）把可复用计算状态与内存、存储、互联和执行方式联系起来。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5DC0A3E-B270-4DA6-BE77-431D78E62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00150"/>
            <a:ext cx="11277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10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10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0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软件决定缓存如何表示、放置与使用；底层布局、通道和访问机制决定这些选择能否转化为业务收益。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D343114-968B-43F5-8AD2-8D377F966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38325"/>
            <a:ext cx="1905000" cy="695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DC1B6EC-087F-4585-9895-47E5F8196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43100"/>
            <a:ext cx="17526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200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200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rPr>
              <a:t>逻辑 KV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53DE3D8-20D1-437B-91DA-D59AC5545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228850"/>
            <a:ext cx="1771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1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1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前缀 · Token · 模型层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DD0254E-DAA3-414D-9B1F-013044DA7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0275" y="1571625"/>
            <a:ext cx="76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100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100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00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rPr>
              <a:t>表示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86352A9-3F73-43DA-AF0F-706C892AA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2047875"/>
            <a:ext cx="361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575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575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031651B-9E0C-4F3A-8ECE-C1E0882F3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1838325"/>
            <a:ext cx="1905000" cy="695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135F812-5EF3-4A33-B41B-CFFFEC7D2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1943100"/>
            <a:ext cx="17526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200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200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rPr>
              <a:t>物理布局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50E66A3-CA0A-477E-9455-FCBEFC4A7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7025" y="2228850"/>
            <a:ext cx="1771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1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1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块粒度 · 连续性 · 层序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4E381AF-7E79-43F6-9D25-36E1B82DB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1571625"/>
            <a:ext cx="76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100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100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00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rPr>
              <a:t>放置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6914E6E-4F3C-459B-BC93-B4ECB6B98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2047875"/>
            <a:ext cx="361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575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575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1EE3FB9-9104-4A78-AA5E-7CA0E1627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1838325"/>
            <a:ext cx="1905000" cy="695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62D0F96-6958-4FF8-85C6-F707153F1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1943100"/>
            <a:ext cx="17526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200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200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rPr>
              <a:t>物理介质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554EB5A-57BB-490C-A645-2C21127D5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0175" y="2228850"/>
            <a:ext cx="1771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1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1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显存 · DDR · CXL · SSD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C08CA87-71AF-441C-9EC1-3E5EA6C69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1571625"/>
            <a:ext cx="76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100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100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00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rPr>
              <a:t>访问语义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C4E4527-82DF-4964-8056-84E1045DA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2047875"/>
            <a:ext cx="361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575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575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B6FA16C-F250-435C-A1EF-E789898D1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1838325"/>
            <a:ext cx="1905000" cy="695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1D6A6E2-A570-4BD3-A8C5-30B31126D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1943100"/>
            <a:ext cx="17526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200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200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rPr>
              <a:t>数据路径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19FA656-B476-4ADF-BFB0-C77045BA9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2228850"/>
            <a:ext cx="1771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1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1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批量搬运 · 直读 · 中转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D05DBBE-BE08-48DA-89F7-8D74904D0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9725" y="1571625"/>
            <a:ext cx="76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100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100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00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rPr>
              <a:t>执行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09F83B6-B936-4E68-90C7-63D11C706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047875"/>
            <a:ext cx="361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575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575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8B778AA-59AA-43D4-AFDC-D88393B30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1838325"/>
            <a:ext cx="1905000" cy="695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8F66BDA-748C-4ACD-98EE-23D6AFCF5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1943100"/>
            <a:ext cx="17526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200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200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rPr>
              <a:t>计算消费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E25DDE8-479D-4AC6-8BD6-7401CFBEC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96475" y="2228850"/>
            <a:ext cx="1771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1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1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加速器执行 · 按层就绪</a:t>
            </a:r>
          </a:p>
        </p:txBody>
      </p:sp>
      <p:graphicFrame>
        <p:nvGraphicFrame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61923E5-3496-4465-8818-F8933632C810}"/>
              </a:ext>
            </a:extLst>
          </p:cNvPr>
          <p:cNvGraphicFramePr/>
          <p:nvPr/>
        </p:nvGraphicFramePr>
        <p:xfrm>
          <a:off xmlns:a="http://schemas.openxmlformats.org/drawingml/2006/main" x="457200" y="2790825"/>
          <a:ext xmlns:a="http://schemas.openxmlformats.org/drawingml/2006/main" cx="11277600" cy="2381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809750"/>
                <a:gridCol w="4029075"/>
                <a:gridCol w="2895600"/>
                <a:gridCol w="2543175"/>
              </a:tblGrid>
              <a:tr h="476250">
                <a:tc>
                  <a:txBody>
                    <a:bodyPr wrap="square" lIns="114300" tIns="76200" rIns="114300" bIns="76200">
                      <a:noAutofit/>
                    </a:bodyPr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连接环节</a:t>
                      </a:r>
                    </a:p>
                  </a:txBody>
                  <a:tcPr marL="91440" marR="91440" marT="45720" marB="45720" anchor="ctr">
                    <a:solidFill>
                      <a:srgbClr val="1E3A8A"/>
                    </a:solidFill>
                  </a:tcPr>
                </a:tc>
                <a:tc>
                  <a:txBody>
                    <a:bodyPr wrap="square" lIns="114300" tIns="76200" rIns="114300" bIns="76200">
                      <a:noAutofit/>
                    </a:bodyPr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软件机制与底层能力</a:t>
                      </a:r>
                    </a:p>
                  </a:txBody>
                  <a:tcPr marL="91440" marR="91440" marT="45720" marB="45720" anchor="ctr">
                    <a:solidFill>
                      <a:srgbClr val="1E3A8A"/>
                    </a:solidFill>
                  </a:tcPr>
                </a:tc>
                <a:tc>
                  <a:txBody>
                    <a:bodyPr wrap="square" lIns="114300" tIns="76200" rIns="114300" bIns="76200">
                      <a:noAutofit/>
                    </a:bodyPr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改变的物理开销</a:t>
                      </a:r>
                    </a:p>
                  </a:txBody>
                  <a:tcPr marL="91440" marR="91440" marT="45720" marB="45720" anchor="ctr">
                    <a:solidFill>
                      <a:srgbClr val="1E3A8A"/>
                    </a:solidFill>
                  </a:tcPr>
                </a:tc>
                <a:tc>
                  <a:txBody>
                    <a:bodyPr wrap="square" lIns="114300" tIns="76200" rIns="114300" bIns="76200">
                      <a:noAutofit/>
                    </a:bodyPr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关联业务指标</a:t>
                      </a:r>
                    </a:p>
                  </a:txBody>
                  <a:tcPr marL="91440" marR="91440" marT="45720" marB="45720" anchor="ctr">
                    <a:solidFill>
                      <a:srgbClr val="1E3A8A"/>
                    </a:solidFill>
                  </a:tcPr>
                </a:tc>
              </a:tr>
              <a:tr h="476250">
                <a:tc>
                  <a:txBody>
                    <a:bodyPr wrap="square" lIns="114300" tIns="76200" rIns="114300" bIns="76200">
                      <a:noAutofit/>
                    </a:bodyPr>
                    <a:lstStyle/>
                    <a:p>
                      <a:pPr algn="l"/>
                      <a:r>
                        <a:rPr sz="1100" b="1">
                          <a:solidFill>
                            <a:srgbClr val="0F17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逻辑 KV → 物理布局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76200" rIns="114300" bIns="76200">
                      <a:noAutofit/>
                    </a:bodyPr>
                    <a:lstStyle/>
                    <a:p>
                      <a:pPr algn="l"/>
                      <a:r>
                        <a:rPr sz="1100" b="0">
                          <a:solidFill>
                            <a:srgbClr val="0F17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布局转换、连续块合并</a:t>
                      </a:r>
                    </a:p>
                    <a:p>
                      <a:pPr algn="l"/>
                      <a:r>
                        <a:rPr sz="1100" b="0">
                          <a:solidFill>
                            <a:srgbClr val="0F17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对接 DMA 批量搬运与地址生成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76200" rIns="114300" bIns="76200">
                      <a:noAutofit/>
                    </a:bodyPr>
                    <a:lstStyle/>
                    <a:p>
                      <a:pPr algn="l"/>
                      <a:r>
                        <a:rPr sz="1100" b="0">
                          <a:solidFill>
                            <a:srgbClr val="0F17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小传输次数、描述符数量</a:t>
                      </a:r>
                    </a:p>
                    <a:p>
                      <a:pPr algn="l"/>
                      <a:r>
                        <a:rPr sz="1100" b="0">
                          <a:solidFill>
                            <a:srgbClr val="0F17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有效带宽与转换耗时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76200" rIns="114300" bIns="76200">
                      <a:noAutofit/>
                    </a:bodyPr>
                    <a:lstStyle/>
                    <a:p>
                      <a:pPr algn="l"/>
                      <a:r>
                        <a:rPr sz="1100" b="0">
                          <a:solidFill>
                            <a:srgbClr val="0F17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TTFT、有效 QPS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476250">
                <a:tc>
                  <a:txBody>
                    <a:bodyPr wrap="square" lIns="114300" tIns="76200" rIns="114300" bIns="76200">
                      <a:noAutofit/>
                    </a:bodyPr>
                    <a:lstStyle/>
                    <a:p>
                      <a:pPr algn="l"/>
                      <a:r>
                        <a:rPr sz="1100" b="1">
                          <a:solidFill>
                            <a:srgbClr val="0F17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物理布局 → 物理介质</a:t>
                      </a:r>
                    </a:p>
                  </a:txBody>
                  <a:tcPr marL="91440" marR="91440" marT="45720" marB="4572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 lIns="114300" tIns="76200" rIns="114300" bIns="76200">
                      <a:noAutofit/>
                    </a:bodyPr>
                    <a:lstStyle/>
                    <a:p>
                      <a:pPr algn="l"/>
                      <a:r>
                        <a:rPr sz="1100" b="0">
                          <a:solidFill>
                            <a:srgbClr val="0F17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分层放置、NUMA 亲和与按带宽分片</a:t>
                      </a:r>
                    </a:p>
                    <a:p>
                      <a:pPr algn="l"/>
                      <a:r>
                        <a:rPr sz="1100" b="0">
                          <a:solidFill>
                            <a:srgbClr val="0F17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匹配内存通道和介质特征</a:t>
                      </a:r>
                    </a:p>
                  </a:txBody>
                  <a:tcPr marL="91440" marR="91440" marT="45720" marB="4572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 lIns="114300" tIns="76200" rIns="114300" bIns="76200">
                      <a:noAutofit/>
                    </a:bodyPr>
                    <a:lstStyle/>
                    <a:p>
                      <a:pPr algn="l"/>
                      <a:r>
                        <a:rPr sz="1100" b="0">
                          <a:solidFill>
                            <a:srgbClr val="0F17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可用容量、通道负载</a:t>
                      </a:r>
                    </a:p>
                    <a:p>
                      <a:pPr algn="l"/>
                      <a:r>
                        <a:rPr sz="1100" b="0">
                          <a:solidFill>
                            <a:srgbClr val="0F17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远端访问与换入换出</a:t>
                      </a:r>
                    </a:p>
                  </a:txBody>
                  <a:tcPr marL="91440" marR="91440" marT="45720" marB="4572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 lIns="114300" tIns="76200" rIns="114300" bIns="76200">
                      <a:noAutofit/>
                    </a:bodyPr>
                    <a:lstStyle/>
                    <a:p>
                      <a:pPr algn="l"/>
                      <a:r>
                        <a:rPr sz="1100" b="0">
                          <a:solidFill>
                            <a:srgbClr val="0F17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有效 QPS、可承载上下文</a:t>
                      </a:r>
                    </a:p>
                    <a:p>
                      <a:pPr algn="l"/>
                      <a:r>
                        <a:rPr sz="1100" b="0">
                          <a:solidFill>
                            <a:srgbClr val="0F17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单次请求成本</a:t>
                      </a:r>
                    </a:p>
                  </a:txBody>
                  <a:tcPr marL="91440" marR="91440" marT="45720" marB="45720" anchor="ctr">
                    <a:solidFill>
                      <a:srgbClr val="F8FAFC"/>
                    </a:solidFill>
                  </a:tcPr>
                </a:tc>
              </a:tr>
              <a:tr h="476250">
                <a:tc>
                  <a:txBody>
                    <a:bodyPr wrap="square" lIns="114300" tIns="76200" rIns="114300" bIns="76200">
                      <a:noAutofit/>
                    </a:bodyPr>
                    <a:lstStyle/>
                    <a:p>
                      <a:pPr algn="l"/>
                      <a:r>
                        <a:rPr sz="1100" b="1">
                          <a:solidFill>
                            <a:srgbClr val="0F17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物理介质 → 数据路径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76200" rIns="114300" bIns="76200">
                      <a:noAutofit/>
                    </a:bodyPr>
                    <a:lstStyle/>
                    <a:p>
                      <a:pPr algn="l"/>
                      <a:r>
                        <a:rPr sz="1100" b="0">
                          <a:solidFill>
                            <a:srgbClr val="0F17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设备直达、按需读取与地址映射</a:t>
                      </a:r>
                    </a:p>
                    <a:p>
                      <a:pPr algn="l"/>
                      <a:r>
                        <a:rPr sz="1100" b="0">
                          <a:solidFill>
                            <a:srgbClr val="0F17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匹配访问粒度和互联拓扑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76200" rIns="114300" bIns="76200">
                      <a:noAutofit/>
                    </a:bodyPr>
                    <a:lstStyle/>
                    <a:p>
                      <a:pPr algn="l"/>
                      <a:r>
                        <a:rPr sz="1100" b="0">
                          <a:solidFill>
                            <a:srgbClr val="0F17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实际搬运字节、中转次数</a:t>
                      </a:r>
                    </a:p>
                    <a:p>
                      <a:pPr algn="l"/>
                      <a:r>
                        <a:rPr sz="1100" b="0">
                          <a:solidFill>
                            <a:srgbClr val="0F17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主机内存与总线竞争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76200" rIns="114300" bIns="76200">
                      <a:noAutofit/>
                    </a:bodyPr>
                    <a:lstStyle/>
                    <a:p>
                      <a:pPr algn="l"/>
                      <a:r>
                        <a:rPr sz="1100" b="0">
                          <a:solidFill>
                            <a:srgbClr val="0F17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TTFT；逐层访问场景的 TPOT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476250">
                <a:tc>
                  <a:txBody>
                    <a:bodyPr wrap="square" lIns="114300" tIns="76200" rIns="114300" bIns="76200">
                      <a:noAutofit/>
                    </a:bodyPr>
                    <a:lstStyle/>
                    <a:p>
                      <a:pPr algn="l"/>
                      <a:r>
                        <a:rPr sz="1100" b="1">
                          <a:solidFill>
                            <a:srgbClr val="0F17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数据路径 → 计算消费</a:t>
                      </a:r>
                    </a:p>
                  </a:txBody>
                  <a:tcPr marL="91440" marR="91440" marT="45720" marB="4572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 lIns="114300" tIns="76200" rIns="114300" bIns="76200">
                      <a:noAutofit/>
                    </a:bodyPr>
                    <a:lstStyle/>
                    <a:p>
                      <a:pPr algn="l"/>
                      <a:r>
                        <a:rPr sz="1100" b="0">
                          <a:solidFill>
                            <a:srgbClr val="0F17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按层预取、异步流水与完成通知</a:t>
                      </a:r>
                    </a:p>
                    <a:p>
                      <a:pPr algn="l"/>
                      <a:r>
                        <a:rPr sz="1100" b="0">
                          <a:solidFill>
                            <a:srgbClr val="0F17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配合队列优先级和前后台限流</a:t>
                      </a:r>
                    </a:p>
                  </a:txBody>
                  <a:tcPr marL="91440" marR="91440" marT="45720" marB="4572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 lIns="114300" tIns="76200" rIns="114300" bIns="76200">
                      <a:noAutofit/>
                    </a:bodyPr>
                    <a:lstStyle/>
                    <a:p>
                      <a:pPr algn="l"/>
                      <a:r>
                        <a:rPr sz="1100" b="0">
                          <a:solidFill>
                            <a:srgbClr val="0F17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首层等待、计算停顿</a:t>
                      </a:r>
                    </a:p>
                    <a:p>
                      <a:pPr algn="l"/>
                      <a:r>
                        <a:rPr sz="1100" b="0">
                          <a:solidFill>
                            <a:srgbClr val="0F17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前后台资源干扰</a:t>
                      </a:r>
                    </a:p>
                  </a:txBody>
                  <a:tcPr marL="91440" marR="91440" marT="45720" marB="4572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 lIns="114300" tIns="76200" rIns="114300" bIns="76200">
                      <a:noAutofit/>
                    </a:bodyPr>
                    <a:lstStyle/>
                    <a:p>
                      <a:pPr algn="l"/>
                      <a:r>
                        <a:rPr sz="1100" b="0">
                          <a:solidFill>
                            <a:srgbClr val="0F17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TTFT、TPOT</a:t>
                      </a:r>
                    </a:p>
                    <a:p>
                      <a:pPr algn="l"/>
                      <a:r>
                        <a:rPr sz="1100" b="0">
                          <a:solidFill>
                            <a:srgbClr val="0F17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尾时延与有效 QPS</a:t>
                      </a:r>
                    </a:p>
                  </a:txBody>
                  <a:tcPr marL="91440" marR="91440" marT="45720" marB="45720" anchor="ctr"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F98B498-48C0-4349-8C3C-E05876A25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381625"/>
            <a:ext cx="7048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200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rPr>
              <a:t>研究价值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783D25E-C824-4254-AFDF-C170B9E16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705475"/>
            <a:ext cx="7200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10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10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0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以 KVC 为贯穿对象，把硬件特性、软件机制与业务指标放在同一条链中分析，</a:t>
            </a:r>
          </a:p>
          <a:p xmlns:a="http://schemas.openxmlformats.org/drawingml/2006/main">
            <a:pPr algn="l">
              <a:defRPr sz="110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0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既寻找当前时延瓶颈，也提炼布局转换、批量数据搬运和拓扑调度等底层研究课题。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90FE1C0-E6FE-4225-BCFC-4A961173B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5400675"/>
            <a:ext cx="3752850" cy="790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94A3B8"/>
            </a:solidFill>
            <a:prstDash val="dash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FA997FC-6D6F-43E1-BDEC-B7140C393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5524500"/>
            <a:ext cx="34861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100" b="1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100" b="1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00" b="1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数据图占位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3144AA0-A2AA-4DBE-8A0C-BA0298571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5810250"/>
            <a:ext cx="34099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1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1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物理开销与业务指标的同条件对照</a:t>
            </a:r>
          </a:p>
        </p:txBody>
      </p:sp>
    </p:spTree>
    <p:extLst>
      <p:ext uri="{BB962C8B-B14F-4D97-AF65-F5344CB8AC3E}">
        <p14:creationId xmlns:p14="http://schemas.microsoft.com/office/powerpoint/2010/main" val="19298228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B76427E-324A-4620-BA5D-5BF8FDCCE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3A8A"/>
          </a:solidFill>
          <a:ln xmlns:a="http://schemas.openxmlformats.org/drawingml/2006/main" w="9525">
            <a:solidFill>
              <a:srgbClr val="1E3A8A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A294B33-CAF1-4A25-87A2-9CBAEACF0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"/>
            <a:ext cx="112776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技术探索方向：从物理机制推演到收益场景与指标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FA3046A-2382-4BC4-ADB8-DDFF2372B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77000"/>
            <a:ext cx="102870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92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92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2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KVC 工作汇报 · 2026-10-15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BED534E-2668-4906-8916-CC9DC4BAD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77000"/>
            <a:ext cx="4572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r">
              <a:defRPr sz="92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92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2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9E1DC82-0579-4FBE-BE68-6095B96EE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23925"/>
            <a:ext cx="11277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10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10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0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TTFT：首字响应时间；TPOT：每个输出 Token 耗时；有效 QPS：满足服务目标的每秒完成请求数。</a:t>
            </a:r>
          </a:p>
        </p:txBody>
      </p:sp>
      <p:graphicFrame>
        <p:nvGraphicFrame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D1F980C-BF1F-494A-98D2-36F13DD98E2A}"/>
              </a:ext>
            </a:extLst>
          </p:cNvPr>
          <p:cNvGraphicFramePr/>
          <p:nvPr/>
        </p:nvGraphicFramePr>
        <p:xfrm>
          <a:off xmlns:a="http://schemas.openxmlformats.org/drawingml/2006/main" x="457200" y="1333500"/>
          <a:ext xmlns:a="http://schemas.openxmlformats.org/drawingml/2006/main" cx="11277600" cy="3333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466850"/>
                <a:gridCol w="2514600"/>
                <a:gridCol w="2066925"/>
                <a:gridCol w="3038475"/>
                <a:gridCol w="2190750"/>
              </a:tblGrid>
              <a:tr h="555625">
                <a:tc>
                  <a:txBody>
                    <a:bodyPr wrap="square" lIns="114300" tIns="76200" rIns="114300" bIns="76200">
                      <a:noAutofit/>
                    </a:bodyPr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优化方向</a:t>
                      </a:r>
                    </a:p>
                  </a:txBody>
                  <a:tcPr marL="91440" marR="91440" marT="45720" marB="45720" anchor="ctr">
                    <a:solidFill>
                      <a:srgbClr val="1E3A8A"/>
                    </a:solidFill>
                  </a:tcPr>
                </a:tc>
                <a:tc>
                  <a:txBody>
                    <a:bodyPr wrap="square" lIns="114300" tIns="76200" rIns="114300" bIns="76200">
                      <a:noAutofit/>
                    </a:bodyPr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软件 / 硬件机制</a:t>
                      </a:r>
                    </a:p>
                  </a:txBody>
                  <a:tcPr marL="91440" marR="91440" marT="45720" marB="45720" anchor="ctr">
                    <a:solidFill>
                      <a:srgbClr val="1E3A8A"/>
                    </a:solidFill>
                  </a:tcPr>
                </a:tc>
                <a:tc>
                  <a:txBody>
                    <a:bodyPr wrap="square" lIns="114300" tIns="76200" rIns="114300" bIns="76200">
                      <a:noAutofit/>
                    </a:bodyPr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收益场景</a:t>
                      </a:r>
                    </a:p>
                  </a:txBody>
                  <a:tcPr marL="91440" marR="91440" marT="45720" marB="45720" anchor="ctr">
                    <a:solidFill>
                      <a:srgbClr val="1E3A8A"/>
                    </a:solidFill>
                  </a:tcPr>
                </a:tc>
                <a:tc>
                  <a:txBody>
                    <a:bodyPr wrap="square" lIns="114300" tIns="76200" rIns="114300" bIns="76200">
                      <a:noAutofit/>
                    </a:bodyPr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微观变化与收益传导</a:t>
                      </a:r>
                    </a:p>
                  </a:txBody>
                  <a:tcPr marL="91440" marR="91440" marT="45720" marB="45720" anchor="ctr">
                    <a:solidFill>
                      <a:srgbClr val="1E3A8A"/>
                    </a:solidFill>
                  </a:tcPr>
                </a:tc>
                <a:tc>
                  <a:txBody>
                    <a:bodyPr wrap="square" lIns="114300" tIns="76200" rIns="114300" bIns="76200">
                      <a:noAutofit/>
                    </a:bodyPr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收益指标</a:t>
                      </a:r>
                    </a:p>
                  </a:txBody>
                  <a:tcPr marL="91440" marR="91440" marT="45720" marB="45720" anchor="ctr">
                    <a:solidFill>
                      <a:srgbClr val="1E3A8A"/>
                    </a:solidFill>
                  </a:tcPr>
                </a:tc>
              </a:tr>
              <a:tr h="555625">
                <a:tc>
                  <a:txBody>
                    <a:bodyPr wrap="square" lIns="114300" tIns="76200" rIns="114300" bIns="76200">
                      <a:noAutofit/>
                    </a:bodyPr>
                    <a:lstStyle/>
                    <a:p>
                      <a:pPr algn="l"/>
                      <a:r>
                        <a:rPr sz="1100" b="1">
                          <a:solidFill>
                            <a:srgbClr val="0F17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元数据快路径</a:t>
                      </a:r>
                    </a:p>
                    <a:p>
                      <a:pPr algn="l"/>
                      <a:r>
                        <a:rPr sz="1100" b="1">
                          <a:solidFill>
                            <a:srgbClr val="0F17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与稳定描述符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76200" rIns="114300" bIns="76200">
                      <a:noAutofit/>
                    </a:bodyPr>
                    <a:lstStyle/>
                    <a:p>
                      <a:pPr algn="l"/>
                      <a:r>
                        <a:rPr sz="1100" b="0">
                          <a:solidFill>
                            <a:srgbClr val="0F17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共享内存检索、批量查询；</a:t>
                      </a:r>
                    </a:p>
                    <a:p>
                      <a:pPr algn="l"/>
                      <a:r>
                        <a:rPr sz="1100" b="0">
                          <a:solidFill>
                            <a:srgbClr val="0F17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复用注册信息和地址描述符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76200" rIns="114300" bIns="76200">
                      <a:noAutofit/>
                    </a:bodyPr>
                    <a:lstStyle/>
                    <a:p>
                      <a:pPr algn="l"/>
                      <a:r>
                        <a:rPr sz="1100" b="0">
                          <a:solidFill>
                            <a:srgbClr val="0F17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高复用且加载快；</a:t>
                      </a:r>
                    </a:p>
                    <a:p>
                      <a:pPr algn="l"/>
                      <a:r>
                        <a:rPr sz="1100" b="0">
                          <a:solidFill>
                            <a:srgbClr val="0F17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查询服务接近饱和的高并发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76200" rIns="114300" bIns="76200">
                      <a:noAutofit/>
                    </a:bodyPr>
                    <a:lstStyle/>
                    <a:p>
                      <a:pPr algn="l"/>
                      <a:r>
                        <a:rPr sz="1100" b="0">
                          <a:solidFill>
                            <a:srgbClr val="0F17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查询往返、注册和处理开销减少</a:t>
                      </a:r>
                    </a:p>
                    <a:p>
                      <a:pPr algn="l"/>
                      <a:r>
                        <a:rPr sz="1100" b="0">
                          <a:solidFill>
                            <a:srgbClr val="0F17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→ 同步等待与控制面排队减少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76200" rIns="114300" bIns="76200">
                      <a:noAutofit/>
                    </a:bodyPr>
                    <a:lstStyle/>
                    <a:p>
                      <a:pPr algn="l"/>
                      <a:r>
                        <a:rPr sz="1100" b="0">
                          <a:solidFill>
                            <a:srgbClr val="0F17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缩短 TTFT、P99 TTFT</a:t>
                      </a:r>
                    </a:p>
                    <a:p>
                      <a:pPr algn="l"/>
                      <a:r>
                        <a:rPr sz="1100" b="0">
                          <a:solidFill>
                            <a:srgbClr val="0F17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提高有效 QPS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55625">
                <a:tc>
                  <a:txBody>
                    <a:bodyPr wrap="square" lIns="114300" tIns="76200" rIns="114300" bIns="76200">
                      <a:noAutofit/>
                    </a:bodyPr>
                    <a:lstStyle/>
                    <a:p>
                      <a:pPr algn="l"/>
                      <a:r>
                        <a:rPr sz="1100" b="1">
                          <a:solidFill>
                            <a:srgbClr val="0F17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布局转换</a:t>
                      </a:r>
                    </a:p>
                    <a:p>
                      <a:pPr algn="l"/>
                      <a:r>
                        <a:rPr sz="1100" b="1">
                          <a:solidFill>
                            <a:srgbClr val="0F17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与批量搬运</a:t>
                      </a:r>
                    </a:p>
                  </a:txBody>
                  <a:tcPr marL="91440" marR="91440" marT="45720" marB="4572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 lIns="114300" tIns="76200" rIns="114300" bIns="76200">
                      <a:noAutofit/>
                    </a:bodyPr>
                    <a:lstStyle/>
                    <a:p>
                      <a:pPr algn="l"/>
                      <a:r>
                        <a:rPr sz="1100" b="0">
                          <a:solidFill>
                            <a:srgbClr val="0F17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计算 / 传输布局解耦；</a:t>
                      </a:r>
                    </a:p>
                    <a:p>
                      <a:pPr algn="l"/>
                      <a:r>
                        <a:rPr sz="1100" b="0">
                          <a:solidFill>
                            <a:srgbClr val="0F17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连续块聚合、批量 DMA 提交</a:t>
                      </a:r>
                    </a:p>
                  </a:txBody>
                  <a:tcPr marL="91440" marR="91440" marT="45720" marB="4572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 lIns="114300" tIns="76200" rIns="114300" bIns="76200">
                      <a:noAutofit/>
                    </a:bodyPr>
                    <a:lstStyle/>
                    <a:p>
                      <a:pPr algn="l"/>
                      <a:r>
                        <a:rPr sz="1100" b="0">
                          <a:solidFill>
                            <a:srgbClr val="0F17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长前缀恢复；</a:t>
                      </a:r>
                    </a:p>
                    <a:p>
                      <a:pPr algn="l"/>
                      <a:r>
                        <a:rPr sz="1100" b="0">
                          <a:solidFill>
                            <a:srgbClr val="0F17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KV 碎片多、小传输密集</a:t>
                      </a:r>
                    </a:p>
                  </a:txBody>
                  <a:tcPr marL="91440" marR="91440" marT="45720" marB="4572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 lIns="114300" tIns="76200" rIns="114300" bIns="76200">
                      <a:noAutofit/>
                    </a:bodyPr>
                    <a:lstStyle/>
                    <a:p>
                      <a:pPr algn="l"/>
                      <a:r>
                        <a:rPr sz="1100" b="0">
                          <a:solidFill>
                            <a:srgbClr val="0F17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小 I/O、描述符和提交次数减少</a:t>
                      </a:r>
                    </a:p>
                    <a:p>
                      <a:pPr algn="l"/>
                      <a:r>
                        <a:rPr sz="1100" b="0">
                          <a:solidFill>
                            <a:srgbClr val="0F17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→ 有效带宽提高，加载等待缩短</a:t>
                      </a:r>
                    </a:p>
                  </a:txBody>
                  <a:tcPr marL="91440" marR="91440" marT="45720" marB="4572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 lIns="114300" tIns="76200" rIns="114300" bIns="76200">
                      <a:noAutofit/>
                    </a:bodyPr>
                    <a:lstStyle/>
                    <a:p>
                      <a:pPr algn="l"/>
                      <a:r>
                        <a:rPr sz="1100" b="0">
                          <a:solidFill>
                            <a:srgbClr val="0F17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缩短 TTFT</a:t>
                      </a:r>
                    </a:p>
                    <a:p>
                      <a:pPr algn="l"/>
                      <a:r>
                        <a:rPr sz="1100" b="0">
                          <a:solidFill>
                            <a:srgbClr val="0F17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提高有效 QPS</a:t>
                      </a:r>
                    </a:p>
                  </a:txBody>
                  <a:tcPr marL="91440" marR="91440" marT="45720" marB="45720" anchor="ctr">
                    <a:solidFill>
                      <a:srgbClr val="F8FAFC"/>
                    </a:solidFill>
                  </a:tcPr>
                </a:tc>
              </a:tr>
              <a:tr h="555625">
                <a:tc>
                  <a:txBody>
                    <a:bodyPr wrap="square" lIns="114300" tIns="76200" rIns="114300" bIns="76200">
                      <a:noAutofit/>
                    </a:bodyPr>
                    <a:lstStyle/>
                    <a:p>
                      <a:pPr algn="l"/>
                      <a:r>
                        <a:rPr sz="1100" b="1">
                          <a:solidFill>
                            <a:srgbClr val="0F17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放置策略</a:t>
                      </a:r>
                    </a:p>
                    <a:p>
                      <a:pPr algn="l"/>
                      <a:r>
                        <a:rPr sz="1100" b="1">
                          <a:solidFill>
                            <a:srgbClr val="0F17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与多通道利用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76200" rIns="114300" bIns="76200">
                      <a:noAutofit/>
                    </a:bodyPr>
                    <a:lstStyle/>
                    <a:p>
                      <a:pPr algn="l"/>
                      <a:r>
                        <a:rPr sz="1100" b="0">
                          <a:solidFill>
                            <a:srgbClr val="0F17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分层放置、亲和分配与带宽分片；</a:t>
                      </a:r>
                    </a:p>
                    <a:p>
                      <a:pPr algn="l"/>
                      <a:r>
                        <a:rPr sz="1100" b="0">
                          <a:solidFill>
                            <a:srgbClr val="0F17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拓扑感知选路、通道负载均衡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76200" rIns="114300" bIns="76200">
                      <a:noAutofit/>
                    </a:bodyPr>
                    <a:lstStyle/>
                    <a:p>
                      <a:pPr algn="l"/>
                      <a:r>
                        <a:rPr sz="1100" b="0">
                          <a:solidFill>
                            <a:srgbClr val="0F17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多内存通道、多网卡；</a:t>
                      </a:r>
                    </a:p>
                    <a:p>
                      <a:pPr algn="l"/>
                      <a:r>
                        <a:rPr sz="1100" b="0">
                          <a:solidFill>
                            <a:srgbClr val="0F17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链路负载不均或容量受限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76200" rIns="114300" bIns="76200">
                      <a:noAutofit/>
                    </a:bodyPr>
                    <a:lstStyle/>
                    <a:p>
                      <a:pPr algn="l"/>
                      <a:r>
                        <a:rPr sz="1100" b="0">
                          <a:solidFill>
                            <a:srgbClr val="0F17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跨域访问和热点通道排队减少</a:t>
                      </a:r>
                    </a:p>
                    <a:p>
                      <a:pPr algn="l"/>
                      <a:r>
                        <a:rPr sz="1100" b="0">
                          <a:solidFill>
                            <a:srgbClr val="0F17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→ 可用容量与聚合带宽更充分利用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76200" rIns="114300" bIns="76200">
                      <a:noAutofit/>
                    </a:bodyPr>
                    <a:lstStyle/>
                    <a:p>
                      <a:pPr algn="l"/>
                      <a:r>
                        <a:rPr sz="1100" b="0">
                          <a:solidFill>
                            <a:srgbClr val="0F17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缩短 TTFT、尾时延</a:t>
                      </a:r>
                    </a:p>
                    <a:p>
                      <a:pPr algn="l"/>
                      <a:r>
                        <a:rPr sz="1100" b="0">
                          <a:solidFill>
                            <a:srgbClr val="0F17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提高有效 QPS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55625">
                <a:tc>
                  <a:txBody>
                    <a:bodyPr wrap="square" lIns="114300" tIns="76200" rIns="114300" bIns="76200">
                      <a:noAutofit/>
                    </a:bodyPr>
                    <a:lstStyle/>
                    <a:p>
                      <a:pPr algn="l"/>
                      <a:r>
                        <a:rPr sz="1100" b="1">
                          <a:solidFill>
                            <a:srgbClr val="0F17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按需直达</a:t>
                      </a:r>
                    </a:p>
                    <a:p>
                      <a:pPr algn="l"/>
                      <a:r>
                        <a:rPr sz="1100" b="1">
                          <a:solidFill>
                            <a:srgbClr val="0F17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与按层流水</a:t>
                      </a:r>
                    </a:p>
                  </a:txBody>
                  <a:tcPr marL="91440" marR="91440" marT="45720" marB="4572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 lIns="114300" tIns="76200" rIns="114300" bIns="76200">
                      <a:noAutofit/>
                    </a:bodyPr>
                    <a:lstStyle/>
                    <a:p>
                      <a:pPr algn="l"/>
                      <a:r>
                        <a:rPr sz="1100" b="0">
                          <a:solidFill>
                            <a:srgbClr val="0F17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设备 DMA 减少主机中转；</a:t>
                      </a:r>
                    </a:p>
                    <a:p>
                      <a:pPr algn="l"/>
                      <a:r>
                        <a:rPr sz="1100" b="0">
                          <a:solidFill>
                            <a:srgbClr val="0F17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按需访问、预取与计算重叠</a:t>
                      </a:r>
                    </a:p>
                  </a:txBody>
                  <a:tcPr marL="91440" marR="91440" marT="45720" marB="4572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 lIns="114300" tIns="76200" rIns="114300" bIns="76200">
                      <a:noAutofit/>
                    </a:bodyPr>
                    <a:lstStyle/>
                    <a:p>
                      <a:pPr algn="l"/>
                      <a:r>
                        <a:rPr sz="1100" b="0">
                          <a:solidFill>
                            <a:srgbClr val="0F17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外部 KV 恢复；</a:t>
                      </a:r>
                    </a:p>
                    <a:p>
                      <a:pPr algn="l"/>
                      <a:r>
                        <a:rPr sz="1100" b="0">
                          <a:solidFill>
                            <a:srgbClr val="0F17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生成中需要逐层召回的场景</a:t>
                      </a:r>
                    </a:p>
                  </a:txBody>
                  <a:tcPr marL="91440" marR="91440" marT="45720" marB="4572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 lIns="114300" tIns="76200" rIns="114300" bIns="76200">
                      <a:noAutofit/>
                    </a:bodyPr>
                    <a:lstStyle/>
                    <a:p>
                      <a:pPr algn="l"/>
                      <a:r>
                        <a:rPr sz="1100" b="0">
                          <a:solidFill>
                            <a:srgbClr val="0F17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中转、无效搬运和首层等待减少</a:t>
                      </a:r>
                    </a:p>
                    <a:p>
                      <a:pPr algn="l"/>
                      <a:r>
                        <a:rPr sz="1100" b="0">
                          <a:solidFill>
                            <a:srgbClr val="0F17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→ 数据等待与计算停顿减少</a:t>
                      </a:r>
                    </a:p>
                  </a:txBody>
                  <a:tcPr marL="91440" marR="91440" marT="45720" marB="4572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 lIns="114300" tIns="76200" rIns="114300" bIns="76200">
                      <a:noAutofit/>
                    </a:bodyPr>
                    <a:lstStyle/>
                    <a:p>
                      <a:pPr algn="l"/>
                      <a:r>
                        <a:rPr sz="1100" b="0">
                          <a:solidFill>
                            <a:srgbClr val="0F17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缩短 TTFT</a:t>
                      </a:r>
                    </a:p>
                    <a:p>
                      <a:pPr algn="l"/>
                      <a:r>
                        <a:rPr sz="1100" b="0">
                          <a:solidFill>
                            <a:srgbClr val="0F17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逐层召回场景改善 TPOT</a:t>
                      </a:r>
                    </a:p>
                  </a:txBody>
                  <a:tcPr marL="91440" marR="91440" marT="45720" marB="45720" anchor="ctr">
                    <a:solidFill>
                      <a:srgbClr val="F8FAFC"/>
                    </a:solidFill>
                  </a:tcPr>
                </a:tc>
              </a:tr>
              <a:tr h="555625">
                <a:tc>
                  <a:txBody>
                    <a:bodyPr wrap="square" lIns="114300" tIns="76200" rIns="114300" bIns="76200">
                      <a:noAutofit/>
                    </a:bodyPr>
                    <a:lstStyle/>
                    <a:p>
                      <a:pPr algn="l"/>
                      <a:r>
                        <a:rPr sz="1100" b="1">
                          <a:solidFill>
                            <a:srgbClr val="0F17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动态选路</a:t>
                      </a:r>
                    </a:p>
                    <a:p>
                      <a:pPr algn="l"/>
                      <a:r>
                        <a:rPr sz="1100" b="1">
                          <a:solidFill>
                            <a:srgbClr val="0F17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与前后台控制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76200" rIns="114300" bIns="76200">
                      <a:noAutofit/>
                    </a:bodyPr>
                    <a:lstStyle/>
                    <a:p>
                      <a:pPr algn="l"/>
                      <a:r>
                        <a:rPr sz="1100" b="0">
                          <a:solidFill>
                            <a:srgbClr val="0F17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加载 / 重算成本比较；</a:t>
                      </a:r>
                    </a:p>
                    <a:p>
                      <a:pPr algn="l"/>
                      <a:r>
                        <a:rPr sz="1100" b="0">
                          <a:solidFill>
                            <a:srgbClr val="0F17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优先级队列、限速与退避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76200" rIns="114300" bIns="76200">
                      <a:noAutofit/>
                    </a:bodyPr>
                    <a:lstStyle/>
                    <a:p>
                      <a:pPr algn="l"/>
                      <a:r>
                        <a:rPr sz="1100" b="0">
                          <a:solidFill>
                            <a:srgbClr val="0F17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低复用、拥塞链路；</a:t>
                      </a:r>
                    </a:p>
                    <a:p>
                      <a:pPr algn="l"/>
                      <a:r>
                        <a:rPr sz="1100" b="0">
                          <a:solidFill>
                            <a:srgbClr val="0F17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前台推理与后台搬运混压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76200" rIns="114300" bIns="76200">
                      <a:noAutofit/>
                    </a:bodyPr>
                    <a:lstStyle/>
                    <a:p>
                      <a:pPr algn="l"/>
                      <a:r>
                        <a:rPr sz="1100" b="0">
                          <a:solidFill>
                            <a:srgbClr val="0F17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不划算的拉取与共享资源竞争减少</a:t>
                      </a:r>
                    </a:p>
                    <a:p>
                      <a:pPr algn="l"/>
                      <a:r>
                        <a:rPr sz="1100" b="0">
                          <a:solidFill>
                            <a:srgbClr val="0F17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→ 请求等待和生成干扰降低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76200" rIns="114300" bIns="76200">
                      <a:noAutofit/>
                    </a:bodyPr>
                    <a:lstStyle/>
                    <a:p>
                      <a:pPr algn="l"/>
                      <a:r>
                        <a:rPr sz="1100" b="0">
                          <a:solidFill>
                            <a:srgbClr val="0F17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改善 TTFT、TPOT 与 P99</a:t>
                      </a:r>
                    </a:p>
                    <a:p>
                      <a:pPr algn="l"/>
                      <a:r>
                        <a:rPr sz="1100" b="0">
                          <a:solidFill>
                            <a:srgbClr val="0F17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提高有效 QPS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991F465-65EE-4E02-BBFE-B2BF3651D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857750"/>
            <a:ext cx="36576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200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rPr>
              <a:t>Strata · OSDI 2026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511DDE0-4514-44C2-86D4-90AF78929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53025"/>
            <a:ext cx="36576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10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10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0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计算与传输布局解耦，以大块传输配合缓存感知调度。</a:t>
            </a:r>
          </a:p>
          <a:p xmlns:a="http://schemas.openxmlformats.org/drawingml/2006/main">
            <a:pPr algn="l">
              <a:defRPr sz="110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0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启发：布局与批量搬运要结合执行流水优化。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006A3EB-4A85-4AE4-AEFE-538B00B1B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4857750"/>
            <a:ext cx="36576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200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rPr>
              <a:t>DualPath · SIGCOMM 2026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FE41CA0-0EA4-4597-87FB-1C78C771A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5153025"/>
            <a:ext cx="36576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10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10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0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增加经解码端加载的通路，并用全局调度利用闲置带宽。</a:t>
            </a:r>
          </a:p>
          <a:p xmlns:a="http://schemas.openxmlformats.org/drawingml/2006/main">
            <a:pPr algn="l">
              <a:defRPr sz="110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0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启发：按真实拓扑和通道负载组织 KV 数据路径。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CC49095-0450-4C05-9572-7888FB678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4857750"/>
            <a:ext cx="36576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200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rPr>
              <a:t>Bidaw · FAST 2026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A2094AB-2DC7-4D13-9FCE-B34ADB172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5153025"/>
            <a:ext cx="36576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10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10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0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将 KV 加载时延纳入请求调度，并协同分层缓存管理。</a:t>
            </a:r>
          </a:p>
          <a:p xmlns:a="http://schemas.openxmlformats.org/drawingml/2006/main">
            <a:pPr algn="l">
              <a:defRPr sz="110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0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启发：缓存物理位置需要与计算执行时序联动。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6AE9899-5283-44B6-9962-81A74DF98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819775"/>
            <a:ext cx="112776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94A3B8"/>
            </a:solidFill>
            <a:prstDash val="dash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C98A5DD-AD5F-4E84-BD32-BAFCFEA0E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819775"/>
            <a:ext cx="11010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100" b="1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100" b="1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00" b="1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数据图占位：指定优化开关前后的物理开销与 TTFT / TPOT 对照</a:t>
            </a:r>
          </a:p>
        </p:txBody>
      </p:sp>
    </p:spTree>
    <p:extLst>
      <p:ext uri="{BB962C8B-B14F-4D97-AF65-F5344CB8AC3E}">
        <p14:creationId xmlns:p14="http://schemas.microsoft.com/office/powerpoint/2010/main" val="33530532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4EFBA83-B1D6-443C-A85C-A0F7B5B72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3A8A"/>
          </a:solidFill>
          <a:ln xmlns:a="http://schemas.openxmlformats.org/drawingml/2006/main" w="9525">
            <a:solidFill>
              <a:srgbClr val="1E3A8A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5020DC1-0C4A-4060-81E2-5F7F2158D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"/>
            <a:ext cx="112776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下一步工作安排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156FBDA-9FAD-4B25-BC52-3AF4F9CD6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77000"/>
            <a:ext cx="102870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92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92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2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KVC 工作汇报 · 2026-10-15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2211CB7-A901-4EC9-BCB3-6CA787A3A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77000"/>
            <a:ext cx="4572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r">
              <a:defRPr sz="92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92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2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412F663-6289-4975-856C-F3E18F201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23925"/>
            <a:ext cx="11277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10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10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0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推进现有控制面、数据面原型测试，并把发现的物理瓶颈整理为软硬协同研究课题。</a:t>
            </a:r>
          </a:p>
        </p:txBody>
      </p:sp>
      <p:graphicFrame>
        <p:nvGraphicFrame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A0A9986-3231-4D1E-A21F-8CC5330E95F8}"/>
              </a:ext>
            </a:extLst>
          </p:cNvPr>
          <p:cNvGraphicFramePr/>
          <p:nvPr/>
        </p:nvGraphicFramePr>
        <p:xfrm>
          <a:off xmlns:a="http://schemas.openxmlformats.org/drawingml/2006/main" x="457200" y="1333500"/>
          <a:ext xmlns:a="http://schemas.openxmlformats.org/drawingml/2006/main" cx="11277600" cy="30289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619250"/>
                <a:gridCol w="4524375"/>
                <a:gridCol w="2238375"/>
                <a:gridCol w="2895600"/>
              </a:tblGrid>
              <a:tr h="605790">
                <a:tc>
                  <a:txBody>
                    <a:bodyPr wrap="square" lIns="114300" tIns="76200" rIns="114300" bIns="76200">
                      <a:noAutofit/>
                    </a:bodyPr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工作方向</a:t>
                      </a:r>
                    </a:p>
                  </a:txBody>
                  <a:tcPr marL="91440" marR="91440" marT="45720" marB="45720" anchor="ctr">
                    <a:solidFill>
                      <a:srgbClr val="1E3A8A"/>
                    </a:solidFill>
                  </a:tcPr>
                </a:tc>
                <a:tc>
                  <a:txBody>
                    <a:bodyPr wrap="square" lIns="114300" tIns="76200" rIns="114300" bIns="76200">
                      <a:noAutofit/>
                    </a:bodyPr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近期工作</a:t>
                      </a:r>
                    </a:p>
                  </a:txBody>
                  <a:tcPr marL="91440" marR="91440" marT="45720" marB="45720" anchor="ctr">
                    <a:solidFill>
                      <a:srgbClr val="1E3A8A"/>
                    </a:solidFill>
                  </a:tcPr>
                </a:tc>
                <a:tc>
                  <a:txBody>
                    <a:bodyPr wrap="square" lIns="114300" tIns="76200" rIns="114300" bIns="76200">
                      <a:noAutofit/>
                    </a:bodyPr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重点工况</a:t>
                      </a:r>
                    </a:p>
                  </a:txBody>
                  <a:tcPr marL="91440" marR="91440" marT="45720" marB="45720" anchor="ctr">
                    <a:solidFill>
                      <a:srgbClr val="1E3A8A"/>
                    </a:solidFill>
                  </a:tcPr>
                </a:tc>
                <a:tc>
                  <a:txBody>
                    <a:bodyPr wrap="square" lIns="114300" tIns="76200" rIns="114300" bIns="76200">
                      <a:noAutofit/>
                    </a:bodyPr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观察指标与交付</a:t>
                      </a:r>
                    </a:p>
                  </a:txBody>
                  <a:tcPr marL="91440" marR="91440" marT="45720" marB="45720" anchor="ctr">
                    <a:solidFill>
                      <a:srgbClr val="1E3A8A"/>
                    </a:solidFill>
                  </a:tcPr>
                </a:tc>
              </a:tr>
              <a:tr h="605790">
                <a:tc>
                  <a:txBody>
                    <a:bodyPr wrap="square" lIns="114300" tIns="76200" rIns="114300" bIns="76200">
                      <a:noAutofit/>
                    </a:bodyPr>
                    <a:lstStyle/>
                    <a:p>
                      <a:pPr algn="l"/>
                      <a:r>
                        <a:rPr sz="1100" b="1">
                          <a:solidFill>
                            <a:srgbClr val="0F17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控制面优化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76200" rIns="114300" bIns="76200">
                      <a:noAutofit/>
                    </a:bodyPr>
                    <a:lstStyle/>
                    <a:p>
                      <a:pPr algn="l"/>
                      <a:r>
                        <a:rPr sz="1100" b="0">
                          <a:solidFill>
                            <a:srgbClr val="0F17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复核检索基线与统计口径；</a:t>
                      </a:r>
                    </a:p>
                    <a:p>
                      <a:pPr algn="l"/>
                      <a:r>
                        <a:rPr sz="1100" b="0">
                          <a:solidFill>
                            <a:srgbClr val="0F17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补充查询、注册、提交和排队的耗时分解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76200" rIns="114300" bIns="76200">
                      <a:noAutofit/>
                    </a:bodyPr>
                    <a:lstStyle/>
                    <a:p>
                      <a:pPr algn="l"/>
                      <a:r>
                        <a:rPr sz="1100" b="0">
                          <a:solidFill>
                            <a:srgbClr val="0F17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低载、高复用快加载；</a:t>
                      </a:r>
                    </a:p>
                    <a:p>
                      <a:pPr algn="l"/>
                      <a:r>
                        <a:rPr sz="1100" b="0">
                          <a:solidFill>
                            <a:srgbClr val="0F17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控制服务接近饱和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76200" rIns="114300" bIns="76200">
                      <a:noAutofit/>
                    </a:bodyPr>
                    <a:lstStyle/>
                    <a:p>
                      <a:pPr algn="l"/>
                      <a:r>
                        <a:rPr sz="1100" b="0">
                          <a:solidFill>
                            <a:srgbClr val="0F17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查询 / 提交开销、TTFT、P99</a:t>
                      </a:r>
                    </a:p>
                    <a:p>
                      <a:pPr algn="l"/>
                      <a:r>
                        <a:rPr sz="1100" b="0">
                          <a:solidFill>
                            <a:srgbClr val="0F17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检索对照与在线影响分析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05790">
                <a:tc>
                  <a:txBody>
                    <a:bodyPr wrap="square" lIns="114300" tIns="76200" rIns="114300" bIns="76200">
                      <a:noAutofit/>
                    </a:bodyPr>
                    <a:lstStyle/>
                    <a:p>
                      <a:pPr algn="l"/>
                      <a:r>
                        <a:rPr sz="1100" b="1">
                          <a:solidFill>
                            <a:srgbClr val="0F17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数据面优化</a:t>
                      </a:r>
                    </a:p>
                  </a:txBody>
                  <a:tcPr marL="91440" marR="91440" marT="45720" marB="4572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 lIns="114300" tIns="76200" rIns="114300" bIns="76200">
                      <a:noAutofit/>
                    </a:bodyPr>
                    <a:lstStyle/>
                    <a:p>
                      <a:pPr algn="l"/>
                      <a:r>
                        <a:rPr sz="1100" b="0">
                          <a:solidFill>
                            <a:srgbClr val="0F17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比较业务块粒度、连续程度和提交方式；</a:t>
                      </a:r>
                    </a:p>
                    <a:p>
                      <a:pPr algn="l"/>
                      <a:r>
                        <a:rPr sz="1100" b="0">
                          <a:solidFill>
                            <a:srgbClr val="0F17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对照直达、中转与按层流水的实际开销</a:t>
                      </a:r>
                    </a:p>
                  </a:txBody>
                  <a:tcPr marL="91440" marR="91440" marT="45720" marB="4572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 lIns="114300" tIns="76200" rIns="114300" bIns="76200">
                      <a:noAutofit/>
                    </a:bodyPr>
                    <a:lstStyle/>
                    <a:p>
                      <a:pPr algn="l"/>
                      <a:r>
                        <a:rPr sz="1100" b="0">
                          <a:solidFill>
                            <a:srgbClr val="0F17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长前缀、碎片化 KV；</a:t>
                      </a:r>
                    </a:p>
                    <a:p>
                      <a:pPr algn="l"/>
                      <a:r>
                        <a:rPr sz="1100" b="0">
                          <a:solidFill>
                            <a:srgbClr val="0F17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多通道与逐层召回</a:t>
                      </a:r>
                    </a:p>
                  </a:txBody>
                  <a:tcPr marL="91440" marR="91440" marT="45720" marB="4572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 lIns="114300" tIns="76200" rIns="114300" bIns="76200">
                      <a:noAutofit/>
                    </a:bodyPr>
                    <a:lstStyle/>
                    <a:p>
                      <a:pPr algn="l"/>
                      <a:r>
                        <a:rPr sz="1100" b="0">
                          <a:solidFill>
                            <a:srgbClr val="0F17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搬运字节、有效带宽、首层等待</a:t>
                      </a:r>
                    </a:p>
                    <a:p>
                      <a:pPr algn="l"/>
                      <a:r>
                        <a:rPr sz="1100" b="0">
                          <a:solidFill>
                            <a:srgbClr val="0F17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加载分解及 TTFT / TPOT 对照</a:t>
                      </a:r>
                    </a:p>
                  </a:txBody>
                  <a:tcPr marL="91440" marR="91440" marT="45720" marB="45720" anchor="ctr">
                    <a:solidFill>
                      <a:srgbClr val="F8FAFC"/>
                    </a:solidFill>
                  </a:tcPr>
                </a:tc>
              </a:tr>
              <a:tr h="605790">
                <a:tc>
                  <a:txBody>
                    <a:bodyPr wrap="square" lIns="114300" tIns="76200" rIns="114300" bIns="76200">
                      <a:noAutofit/>
                    </a:bodyPr>
                    <a:lstStyle/>
                    <a:p>
                      <a:pPr algn="l"/>
                      <a:r>
                        <a:rPr sz="1100" b="1">
                          <a:solidFill>
                            <a:srgbClr val="0F17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组合与混压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76200" rIns="114300" bIns="76200">
                      <a:noAutofit/>
                    </a:bodyPr>
                    <a:lstStyle/>
                    <a:p>
                      <a:pPr algn="l"/>
                      <a:r>
                        <a:rPr sz="1100" b="0">
                          <a:solidFill>
                            <a:srgbClr val="0F17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在代表工况组合有效机制；</a:t>
                      </a:r>
                    </a:p>
                    <a:p>
                      <a:pPr algn="l"/>
                      <a:r>
                        <a:rPr sz="1100" b="0">
                          <a:solidFill>
                            <a:srgbClr val="0F17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记录前台推理与后台搬运的实际通路和资源使用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76200" rIns="114300" bIns="76200">
                      <a:noAutofit/>
                    </a:bodyPr>
                    <a:lstStyle/>
                    <a:p>
                      <a:pPr algn="l"/>
                      <a:r>
                        <a:rPr sz="1100" b="0">
                          <a:solidFill>
                            <a:srgbClr val="0F17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正常 / 拥塞网络；</a:t>
                      </a:r>
                    </a:p>
                    <a:p>
                      <a:pPr algn="l"/>
                      <a:r>
                        <a:rPr sz="1100" b="0">
                          <a:solidFill>
                            <a:srgbClr val="0F17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纯前台与固定后台负载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76200" rIns="114300" bIns="76200">
                      <a:noAutofit/>
                    </a:bodyPr>
                    <a:lstStyle/>
                    <a:p>
                      <a:pPr algn="l"/>
                      <a:r>
                        <a:rPr sz="1100" b="0">
                          <a:solidFill>
                            <a:srgbClr val="0F17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TTFT、TPOT、有效 QPS</a:t>
                      </a:r>
                    </a:p>
                    <a:p>
                      <a:pPr algn="l"/>
                      <a:r>
                        <a:rPr sz="1100" b="0">
                          <a:solidFill>
                            <a:srgbClr val="0F17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后台进度及资源代价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05790">
                <a:tc>
                  <a:txBody>
                    <a:bodyPr wrap="square" lIns="114300" tIns="76200" rIns="114300" bIns="76200">
                      <a:noAutofit/>
                    </a:bodyPr>
                    <a:lstStyle/>
                    <a:p>
                      <a:pPr algn="l"/>
                      <a:r>
                        <a:rPr sz="1100" b="1">
                          <a:solidFill>
                            <a:srgbClr val="0F17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软硬协同研究</a:t>
                      </a:r>
                    </a:p>
                  </a:txBody>
                  <a:tcPr marL="91440" marR="91440" marT="45720" marB="4572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 lIns="114300" tIns="76200" rIns="114300" bIns="76200">
                      <a:noAutofit/>
                    </a:bodyPr>
                    <a:lstStyle/>
                    <a:p>
                      <a:pPr algn="l"/>
                      <a:r>
                        <a:rPr sz="1100" b="0">
                          <a:solidFill>
                            <a:srgbClr val="0F17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按表示、放置、访问和执行梳理瓶颈；</a:t>
                      </a:r>
                    </a:p>
                    <a:p>
                      <a:pPr algn="l"/>
                      <a:r>
                        <a:rPr sz="1100" b="0">
                          <a:solidFill>
                            <a:srgbClr val="0F17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评估布局转换、稳定描述符、拓扑与队列能力</a:t>
                      </a:r>
                    </a:p>
                  </a:txBody>
                  <a:tcPr marL="91440" marR="91440" marT="45720" marB="4572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 lIns="114300" tIns="76200" rIns="114300" bIns="76200">
                      <a:noAutofit/>
                    </a:bodyPr>
                    <a:lstStyle/>
                    <a:p>
                      <a:pPr algn="l"/>
                      <a:r>
                        <a:rPr sz="1100" b="0">
                          <a:solidFill>
                            <a:srgbClr val="0F17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依托现有设备和原型；</a:t>
                      </a:r>
                    </a:p>
                    <a:p>
                      <a:pPr algn="l"/>
                      <a:r>
                        <a:rPr sz="1100" b="0">
                          <a:solidFill>
                            <a:srgbClr val="0F17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对应具体访问粒度与消费方式</a:t>
                      </a:r>
                    </a:p>
                  </a:txBody>
                  <a:tcPr marL="91440" marR="91440" marT="45720" marB="4572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 lIns="114300" tIns="76200" rIns="114300" bIns="76200">
                      <a:noAutofit/>
                    </a:bodyPr>
                    <a:lstStyle/>
                    <a:p>
                      <a:pPr algn="l"/>
                      <a:r>
                        <a:rPr sz="1100" b="0">
                          <a:solidFill>
                            <a:srgbClr val="0F17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机制—物理开销—业务指标映射</a:t>
                      </a:r>
                    </a:p>
                    <a:p>
                      <a:pPr algn="l"/>
                      <a:r>
                        <a:rPr sz="1100" b="0">
                          <a:solidFill>
                            <a:srgbClr val="0F17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共性能力清单与候选课题</a:t>
                      </a:r>
                    </a:p>
                  </a:txBody>
                  <a:tcPr marL="91440" marR="91440" marT="45720" marB="45720" anchor="ctr"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34E9DEA-D517-4B43-9667-CE6A3B7B5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629150"/>
            <a:ext cx="112776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200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rPr>
              <a:t>三周推进安排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49231DD-0E57-4A21-A484-6C087BEA9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095875"/>
            <a:ext cx="36576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200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rPr>
              <a:t>第 1 周：基线与瓶颈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886E94E-9CB1-49AC-A733-89427AEFB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476875"/>
            <a:ext cx="3657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10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10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0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统一比较条件，复核检索与通信记录；</a:t>
            </a:r>
          </a:p>
          <a:p xmlns:a="http://schemas.openxmlformats.org/drawingml/2006/main">
            <a:pPr algn="l">
              <a:defRPr sz="110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0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测清查询、提交、搬运和同步分别耗时多少。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0C74A65-AA72-4C1F-B9F5-8B84FA946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5095875"/>
            <a:ext cx="36576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200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rPr>
              <a:t>第 2 周：单项与场景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CFA7D91-066C-467B-8FA3-03051E595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5476875"/>
            <a:ext cx="3657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10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10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0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分别切换优化机制，测试代表场景；</a:t>
            </a:r>
          </a:p>
          <a:p xmlns:a="http://schemas.openxmlformats.org/drawingml/2006/main">
            <a:pPr algn="l">
              <a:defRPr sz="110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0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把物理开销变化与请求时延、吞吐对应起来。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AAED915-F2DC-4D59-A6A6-D82C48AD6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5095875"/>
            <a:ext cx="36576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200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rPr>
              <a:t>第 3 周：组合与汇总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BE92C4C-1349-409B-BDD9-5F4B05ABE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5476875"/>
            <a:ext cx="3657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10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10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0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复测重点结果，补充组合和混压对照；</a:t>
            </a:r>
          </a:p>
          <a:p xmlns:a="http://schemas.openxmlformats.org/drawingml/2006/main">
            <a:pPr algn="l">
              <a:defRPr sz="110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0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汇总收益场景、资源代价、问题和研究线索。</a:t>
            </a:r>
          </a:p>
        </p:txBody>
      </p:sp>
    </p:spTree>
    <p:extLst>
      <p:ext uri="{BB962C8B-B14F-4D97-AF65-F5344CB8AC3E}">
        <p14:creationId xmlns:p14="http://schemas.microsoft.com/office/powerpoint/2010/main" val="158782938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2026-10-13T12:17:19.5390000Z</dcterms:created>
  <dcterms:modified xsi:type="dcterms:W3CDTF">2026-10-13T12:17:19.5390000Z</dcterms:modified>
</coreProperties>
</file>