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e4d20a060e4aa3" /><Relationship Type="http://schemas.openxmlformats.org/officeDocument/2006/relationships/extended-properties" Target="/docProps/app.xml" Id="R149111199ee74e8d" /><Relationship Type="http://schemas.openxmlformats.org/officeDocument/2006/relationships/officeDocument" Target="/ppt/presentation.xml" Id="Rf6ec2123f1e742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fe9e0785524e5f"/>
  </p:sldMasterIdLst>
  <p:notesMasterIdLst>
    <p:notesMasterId xmlns:r="http://schemas.openxmlformats.org/officeDocument/2006/relationships" r:id="R8d494ef67ff14aea"/>
  </p:notesMasterIdLst>
  <p:sldIdLst>
    <p:sldId xmlns:r="http://schemas.openxmlformats.org/officeDocument/2006/relationships" id="256" r:id="Rd0dea2da82ef4eb1"/>
    <p:sldId xmlns:r="http://schemas.openxmlformats.org/officeDocument/2006/relationships" id="257" r:id="R78f3ad3729e74123"/>
    <p:sldId xmlns:r="http://schemas.openxmlformats.org/officeDocument/2006/relationships" id="258" r:id="R9ba71dbbb2c44c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79c93100934666" /><Relationship Type="http://schemas.openxmlformats.org/officeDocument/2006/relationships/slideMaster" Target="/ppt/slideMasters/slideMaster1.xml" Id="R5bfe9e0785524e5f" /><Relationship Type="http://schemas.openxmlformats.org/officeDocument/2006/relationships/notesMaster" Target="/ppt/notesMasters/notesMaster1.xml" Id="R8d494ef67ff14aea" /><Relationship Type="http://schemas.openxmlformats.org/officeDocument/2006/relationships/presProps" Target="/ppt/presProps.xml" Id="Rd066b4dc41b74c5d" /><Relationship Type="http://schemas.openxmlformats.org/officeDocument/2006/relationships/tableStyles" Target="/ppt/tableStyles.xml" Id="R3d4d98356e644236" /><Relationship Type="http://schemas.openxmlformats.org/officeDocument/2006/relationships/slide" Target="/ppt/slides/slide1.xml" Id="Rd0dea2da82ef4eb1" /><Relationship Type="http://schemas.openxmlformats.org/officeDocument/2006/relationships/slide" Target="/ppt/slides/slide2.xml" Id="R78f3ad3729e74123" /><Relationship Type="http://schemas.openxmlformats.org/officeDocument/2006/relationships/slide" Target="/ppt/slides/slide3.xml" Id="R9ba71dbbb2c44c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912212cce942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0b50223e834a2f" /><Relationship Type="http://schemas.openxmlformats.org/officeDocument/2006/relationships/notesMaster" Target="/ppt/notesMasters/notesMaster1.xml" Id="R08c4fbbd80d24c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04afba2c4a40ce" /><Relationship Type="http://schemas.openxmlformats.org/officeDocument/2006/relationships/notesMaster" Target="/ppt/notesMasters/notesMaster1.xml" Id="R03234eaad4ee4c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e5637101a7424a" /><Relationship Type="http://schemas.openxmlformats.org/officeDocument/2006/relationships/notesMaster" Target="/ppt/notesMasters/notesMaster1.xml" Id="R1bc8c5339af441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保留逻辑KV、物理布局、物理介质、数据路径和计算消费的递进关系，取消大表格，用论文原图和四段收益传导说明软硬协同。DirectKV的红色路径先将CPU驻留KV复制到HBM暂存，绿色路径让GPU内核直接读取CPU固定页内存，展示物理路径和执行方式可以一起改变。它的主要评测平台是GH200/NVLink-C2C；图内900GB/s等链路参数来自论文，不是我们当前环境实测。主机CPU不执行正文拷贝也不等于绕过主机DDR。右侧仍分别解释表示、放置、访问语义与执行如何影响小传输、有效带宽、工作集容量、中转、首层等待和生成停顿，并关联TTFT、TPOT、尾时延、有效QPS和请求成本。KVC研究因而能够把硬件特性、软件优化和业务指标联系在同一条可分析的链上。</a:t>
            </a:r>
          </a:p>
          <a:p xmlns:a="http://schemas.openxmlformats.org/drawingml/2006/main">
            <a:r>
              <a:t>内容依据：D:/codes/reports/kvcache/unified_kv_memory/讨论稿/KVC 软硬结合研究方向.md；KVC 软硬结合研究路径 2.md；ChatGPT对话“KVC底层优化价值”（6ac856aa-d94c-83e8-a0dc-6db23cb47568）；V10关键技术汇报。讨论材料用于研究框架，不作为已完成成果。</a:t>
            </a:r>
          </a:p>
          <a:p xmlns:a="http://schemas.openxmlformats.org/drawingml/2006/main">
            <a:r>
              <a:t>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。官方页面机制信息于本次汇报修订过程中核对，外部论文数字未移作本项目结果。</a:t>
            </a:r>
          </a:p>
          <a:p xmlns:a="http://schemas.openxmlformats.org/drawingml/2006/main">
            <a:r>
              <a:t>图片均来自本地论文解构的原图，未重绘、未裁切：DirectKV原文Fig.1，OSDI2026，No Buffer, No Bottleneck: Efficient Zero-Copy KV Cache Offloading for Long-Context LLMs，https://www.usenix.org/conference/osdi26/presentation/luo ；Strata原文Fig.6，PDF第7页；DualPath原文Fig.4，PDF第5页。原始论文PDF与图注已对照核查。DirectKV仅作为GH200/NVLink-C2C硬件场景的机制示例，主机DDR仍在路径中，图上带宽参数不是本项目实测。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页用两张论文机制图补充优化方向。Strata的图六直接展示GPU计算布局和主机传输布局可以不同；连续传输仍须与计算消费时序衔接。DualPath的图四展示数据可以先经预填充端或解码端进入，再在引擎间交付，从而利用不同物理通道。下方五方向矩阵沿用前版已确认内容，继续说明每条软件与硬件机制对应的业务场景、微观变化和TTFT、TPOT、尾时延、有效吞吐。元数据快路径重点面向短同步路径或控制服务接近饱和的工况；直达和流水改善TPOT仍限于逐层召回等数据等待进入生成关键路径的场景。Bidaw关于加载时延进入调度的洞察仍作为选路与资源控制方向的参考。外部论文图片只提供机制依据，不表示本项目已经实现同样通路或取得论文收益。</a:t>
            </a:r>
          </a:p>
          <a:p xmlns:a="http://schemas.openxmlformats.org/drawingml/2006/main">
            <a:r>
              <a:t>内容依据：D:/codes/reports/kvcache/unified_kv_memory/讨论稿/KVC 软硬结合研究方向.md；KVC 软硬结合研究路径 2.md；ChatGPT对话“KVC底层优化价值”（6ac856aa-d94c-83e8-a0dc-6db23cb47568）；V10关键技术汇报。讨论材料用于研究框架，不作为已完成成果。</a:t>
            </a:r>
          </a:p>
          <a:p xmlns:a="http://schemas.openxmlformats.org/drawingml/2006/main">
            <a:r>
              <a:t>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。官方页面机制信息于本次汇报修订过程中核对，外部论文数字未移作本项目结果。</a:t>
            </a:r>
          </a:p>
          <a:p xmlns:a="http://schemas.openxmlformats.org/drawingml/2006/main">
            <a:r>
              <a:t>图片均来自本地论文解构的原图，未重绘、未裁切：DirectKV原文Fig.1，OSDI2026，No Buffer, No Bottleneck: Efficient Zero-Copy KV Cache Offloading for Long-Context LLMs，https://www.usenix.org/conference/osdi26/presentation/luo ；Strata原文Fig.6，PDF第7页；DualPath原文Fig.4，PDF第5页。原始论文PDF与图注已对照核查。DirectKV仅作为GH200/NVLink-C2C硬件场景的机制示例，主机DDR仍在路径中，图上带宽参数不是本项目实测。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工作仍是定期进展汇报的安排，不设置阶段审批或开发门禁。控制面补齐检索、注册、提交与排队分解，并对照低载和高并发场景；数据面比较块粒度、连续性、设备路径及流水，观察加载等待和逐层召回停顿；组合与混压测试同时看前台指标、后台进度和资源代价。软硬研究使用第一页的递进关系，把反复出现的瓶颈对应到布局转换、稳定描述符、地址与拓扑、队列和完成通知等能力。以现有设备和原型为起点，分清软件参数调整、已有硬件能力利用，以及真正需要进一步体系结构研究的问题。三周保持第一周基线与瓶颈、第二周单项与场景、第三周组合与汇总的推进节奏，形成可解释的数据图表与课题线索。</a:t>
            </a:r>
          </a:p>
          <a:p xmlns:a="http://schemas.openxmlformats.org/drawingml/2006/main">
            <a:r>
              <a:t>内容依据：D:/codes/reports/kvcache/unified_kv_memory/讨论稿/KVC 软硬结合研究方向.md；KVC 软硬结合研究路径 2.md；ChatGPT对话“KVC底层优化价值”（6ac856aa-d94c-83e8-a0dc-6db23cb47568）；V10关键技术汇报。讨论材料用于研究框架，不作为已完成成果。</a:t>
            </a:r>
          </a:p>
          <a:p xmlns:a="http://schemas.openxmlformats.org/drawingml/2006/main">
            <a:r>
              <a:t>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。官方页面机制信息于本次汇报修订过程中核对，外部论文数字未移作本项目结果。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921fe0a7f4e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6b8c719d648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cf2bbdfae4a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3f009c1b0945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a763c1ed549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2e98d100974c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A3956D-813E-40CE-BCE5-8F2F2FC6F0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5C1128-408F-4AEA-90CE-96688BAEC2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DE89AC-5EEE-433C-997A-5D0A0E8D0C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CDE8CC-7B05-4981-A067-4E447D85CC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9E5761-2592-48E8-B932-4DAA01A296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6AD0BB-1228-403C-B6A3-9440BF3D1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E72998-E418-441D-8FA9-6A35512FCD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517D09-1765-4131-AF74-B330BDEF31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C2869A-016F-4C2E-B852-46F7DBFAE3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CA0DE4-9E41-43F7-A9A9-D7F3E09F81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81bf5d4d3946d1" /><Relationship Type="http://schemas.openxmlformats.org/officeDocument/2006/relationships/slideLayout" Target="/ppt/slideLayouts/slideLayout1.xml" Id="R01d8f70017f944bf" /><Relationship Type="http://schemas.openxmlformats.org/officeDocument/2006/relationships/slideLayout" Target="/ppt/slideLayouts/slideLayout2.xml" Id="R75c53e23ca8541cd" /><Relationship Type="http://schemas.openxmlformats.org/officeDocument/2006/relationships/slideLayout" Target="/ppt/slideLayouts/slideLayout3.xml" Id="R46958706cd4e433d" /><Relationship Type="http://schemas.openxmlformats.org/officeDocument/2006/relationships/slideLayout" Target="/ppt/slideLayouts/slideLayout4.xml" Id="R4cd317e5cf8c4242" /><Relationship Type="http://schemas.openxmlformats.org/officeDocument/2006/relationships/slideLayout" Target="/ppt/slideLayouts/slideLayout5.xml" Id="R6914fd101c0c49ed" /><Relationship Type="http://schemas.openxmlformats.org/officeDocument/2006/relationships/slideLayout" Target="/ppt/slideLayouts/slideLayout6.xml" Id="R3e9df2207d6143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d8f70017f944bf"/>
    <p:sldLayoutId xmlns:r="http://schemas.openxmlformats.org/officeDocument/2006/relationships" id="2147483650" r:id="R75c53e23ca8541cd"/>
    <p:sldLayoutId xmlns:r="http://schemas.openxmlformats.org/officeDocument/2006/relationships" id="2147483651" r:id="R46958706cd4e433d"/>
    <p:sldLayoutId xmlns:r="http://schemas.openxmlformats.org/officeDocument/2006/relationships" id="2147483652" r:id="R4cd317e5cf8c4242"/>
    <p:sldLayoutId xmlns:r="http://schemas.openxmlformats.org/officeDocument/2006/relationships" id="2147483653" r:id="R6914fd101c0c49ed"/>
    <p:sldLayoutId xmlns:r="http://schemas.openxmlformats.org/officeDocument/2006/relationships" id="2147483654" r:id="R3e9df2207d6143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123d9567a34877" /><Relationship Type="http://schemas.openxmlformats.org/officeDocument/2006/relationships/image" Target="/ppt/media/image.png" Id="Rc06273d38861437f" /><Relationship Type="http://schemas.openxmlformats.org/officeDocument/2006/relationships/notesSlide" Target="/ppt/notesSlides/notesSlide1.xml" Id="Ra26347f3a4f84e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9c163c1eaa420c" /><Relationship Type="http://schemas.openxmlformats.org/officeDocument/2006/relationships/image" Target="/ppt/media/image2.png" Id="Rcacbc3f8d1bc48a1" /><Relationship Type="http://schemas.openxmlformats.org/officeDocument/2006/relationships/image" Target="/ppt/media/image3.png" Id="R42f113a4e1024958" /><Relationship Type="http://schemas.openxmlformats.org/officeDocument/2006/relationships/notesSlide" Target="/ppt/notesSlides/notesSlide2.xml" Id="R223fdee752a54a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028317f367485d" /><Relationship Type="http://schemas.openxmlformats.org/officeDocument/2006/relationships/notesSlide" Target="/ppt/notesSlides/notesSlide3.xml" Id="R74b5cd7451424a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D99990-1AEC-4559-9A16-383FFA8D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E71E3-1D72-4E63-BFF4-1B114B32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KVC 的软硬协同价值：从计算状态到物理执行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C98B9-82E4-448D-9FBC-738FBF0B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DF8F1-0CDF-4823-82AB-44933768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9D268-228D-4E48-9CD5-26E1E703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KVC（大模型注意力键值缓存）把可复用计算状态与内存、存储、互联和执行方式联系起来。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33B0E-4306-472E-8B6D-37DFD43B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软件决定缓存如何表示、放置与使用；底层布局、通道和访问机制决定这些选择能否转化为业务收益。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C4913-93A1-43BF-9E0D-EE041415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逻辑 KV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36243-EFE5-44CA-897F-674415F4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62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前缀 · Token · 模型层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E533C-E437-4638-80BD-EE3C8808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390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表示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F24C2-029D-4F1E-87FE-399E3159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859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70642-4686-457A-AACD-7841FFF3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85925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物理布局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3612B-D566-4DFF-A662-C21388C1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62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块粒度 · 连续性 · 层序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CECF3-DBEE-41BB-B3CC-663EA545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390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放置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9E453-E3AE-41BF-8FD9-5B0FF9C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859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D2DEE-AEDB-493B-90C4-513C7A55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85925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物理介质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61BD7-7443-4D21-9A65-E76F4EB6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962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显存 · DDR · CXL · SSD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779B5-50B7-4D09-BAF4-9946385B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390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访问语义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A656B-DCB2-4936-8F0B-999F2863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859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2A50A-4AB7-4D74-99CA-46D20EF8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85925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数据路径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B16F9C-ABEF-4BA2-A51A-FF88C4DB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62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批量搬运 · 直读 · 中转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B4609-0C9C-4701-B93A-D80BEB40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390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EE893-A0E4-4DBF-AC06-AAC859D7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859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E2B227-BAA2-402E-89E2-BBA30DDD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85925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计算消费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17E0D6-E048-4C24-8BCE-39FE14BC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962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加速器执行 · 按层就绪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75336F-912B-4592-8BA0-796328EDE1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273d38861437f"/>
          <a:stretch xmlns:a="http://schemas.openxmlformats.org/drawingml/2006/main"/>
        </p:blipFill>
        <p:spPr>
          <a:xfrm xmlns:a="http://schemas.openxmlformats.org/drawingml/2006/main">
            <a:off x="923784" y="2409825"/>
            <a:ext cx="6115332" cy="347662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305A70-C944-46F3-BBDE-24C5E926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7048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DirectKV · OSDI 2026 · 原文 Fig.1（GH200 平台）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10DF48-DDBF-4F2C-8094-55B99C98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7048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红：先拷入显存暂存；绿：内核直读主机内存。主机 DDR 仍参与访问。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555A76-7D7E-4973-AD31-10BDEA24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38400"/>
            <a:ext cx="3886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表示 → 布局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5A5913-1FE3-4A22-8956-2CD6B13C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33675"/>
            <a:ext cx="3886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块合并、布局转换对接 DMA 批量搬运与地址生成；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减少小传输和描述符，影响有效带宽、TTFT 与有效 QPS。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DE0B51-8B80-459A-A702-1E9FB8C7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81375"/>
            <a:ext cx="3886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放置 → 介质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215D46-D220-4DDE-8EBB-046F8F8C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76650"/>
            <a:ext cx="3886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分层放置、亲和分配匹配介质与通道；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影响容量、远端访问及换入换出，关联有效 QPS、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可承载上下文与单次请求成本。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304DED-C058-45CD-81EC-95AF073A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24350"/>
            <a:ext cx="3886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访问语义 → 数据路径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5BA784-762E-4A3B-A754-E5E7FAE0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19625"/>
            <a:ext cx="3886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直达、按需读取与地址映射减少搬运字节、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中转次数及内存 / 总线竞争；关联 TTFT，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以及逐层访问场景的 TPOT。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C4DDB5-B244-422A-ADD7-F686AB85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67325"/>
            <a:ext cx="3886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执行 → 计算消费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F63494-3F5C-423C-816B-2E16C0D0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62600"/>
            <a:ext cx="3886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按层预取、流水与队列优先级减少首层等待、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计算停顿和前后台干扰；关联 TTFT、TPOT、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尾时延与有效 QPS。</a:t>
            </a:r>
          </a:p>
        </p:txBody>
      </p:sp>
    </p:spTree>
    <p:extLst>
      <p:ext uri="{BB962C8B-B14F-4D97-AF65-F5344CB8AC3E}">
        <p14:creationId xmlns:p14="http://schemas.microsoft.com/office/powerpoint/2010/main" val="7803653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BBA9C-6C57-4931-9F06-7D3A30AB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504E6-7D89-4D9A-854D-489E4127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技术探索方向：从物理机制推演到收益场景与指标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37B5C-315C-4151-A0C9-3D574FF7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7A2E1-34A3-41E1-8117-64EBECE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1D115-3FF0-45A6-936E-E4000650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TTFT：首字响应时间；TPOT：每个输出 Token 耗时；有效 QPS：满足服务目标的每秒完成请求数。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9B307-D8C2-462C-A61E-29C76318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28725"/>
            <a:ext cx="548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布局解耦：匹配计算和传输的不同粒度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FB664-2478-45FC-876F-2446DC72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28725"/>
            <a:ext cx="548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双路径加载：按拓扑利用闲置通道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384DF-7E85-4DC9-8543-291950A044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bc3f8d1bc48a1"/>
          <a:stretch xmlns:a="http://schemas.openxmlformats.org/drawingml/2006/main"/>
        </p:blipFill>
        <p:spPr>
          <a:xfrm xmlns:a="http://schemas.openxmlformats.org/drawingml/2006/main">
            <a:off x="615582" y="1495425"/>
            <a:ext cx="5169635" cy="15049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91491-9B15-4D50-B717-161B32A564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113a4e1024958"/>
          <a:stretch xmlns:a="http://schemas.openxmlformats.org/drawingml/2006/main"/>
        </p:blipFill>
        <p:spPr>
          <a:xfrm xmlns:a="http://schemas.openxmlformats.org/drawingml/2006/main">
            <a:off x="6481188" y="1495425"/>
            <a:ext cx="5020825" cy="1504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BAFBF-93F8-4BB5-8B8E-ACC6B3CC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48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Strata · OSDI 2026 · Fig.6：GPU 按层计算，主机按页组织传输。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33881-588B-4788-A427-CCF8ED95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548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DualPath · SIGCOMM 2026 · Fig.4：从预填充端或解码端加载 KV。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A29D0-6B1F-45B8-B96E-42AF02FC3DAA}"/>
              </a:ext>
            </a:extLst>
          </p:cNvPr>
          <p:cNvGraphicFramePr/>
          <p:nvPr/>
        </p:nvGraphicFramePr>
        <p:xfrm>
          <a:off xmlns:a="http://schemas.openxmlformats.org/drawingml/2006/main" x="457200" y="3333750"/>
          <a:ext xmlns:a="http://schemas.openxmlformats.org/drawingml/2006/main" cx="112776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2514600"/>
                <a:gridCol w="2066925"/>
                <a:gridCol w="3038475"/>
                <a:gridCol w="2190750"/>
              </a:tblGrid>
              <a:tr h="4667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优化方向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 / 硬件机制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收益场景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微观变化与收益传导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收益指标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</a:tr>
              <a:tr h="4667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元数据快路径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与稳定描述符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共享内存检索、批量查询；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复用注册信息和地址描述符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高复用且加载快；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查询服务接近饱和的高并发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查询往返、注册和处理开销减少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同步等待与控制面排队减少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TTFT、P99 TTFT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布局转换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与批量搬运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 / 传输布局解耦；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连续块聚合、批量 DMA 提交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长前缀恢复；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碎片多、小传输密集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 I/O、描述符和提交次数减少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有效带宽提高，加载等待缩短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放置策略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与多通道利用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分层放置、亲和分配与带宽分片；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拓扑感知选路、通道负载均衡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多内存通道、多网卡；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链路负载不均或容量受限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跨域访问和热点通道排队减少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可用容量与聚合带宽更充分利用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TTFT、尾时延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按需直达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与按层流水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 DMA 减少主机中转；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按需访问、预取与计算重叠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 KV 恢复；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生成中需要逐层召回的场景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中转、无效搬运和首层等待减少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数据等待与计算停顿减少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逐层召回场景改善 TPOT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动态选路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与前后台控制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 / 重算成本比较；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优先级队列、限速与退避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低复用、拥塞链路；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前台推理与后台搬运混压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不划算的拉取与共享资源竞争减少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请求等待和生成干扰降低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 TTFT、TPOT 与 P99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85269-D4A1-4492-941D-BB5C660E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4A3B8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CDF0D-CC63-48BE-A071-DADEC3D2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101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实测图表占位：优化开关前后的物理开销与 TTFT / TPOT 对照</a:t>
            </a:r>
          </a:p>
        </p:txBody>
      </p:sp>
    </p:spTree>
    <p:extLst>
      <p:ext uri="{BB962C8B-B14F-4D97-AF65-F5344CB8AC3E}">
        <p14:creationId xmlns:p14="http://schemas.microsoft.com/office/powerpoint/2010/main" val="14710829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33446-C75C-4293-8857-B96776C3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B7C2F-54AD-47A8-B929-C2A4D9E6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下一步工作安排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DC5DE-2F65-49A8-B53F-5E0F25C5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50E76-91F6-4658-AD2F-978E2166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14C30-8E04-4631-A5CF-40819167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推进现有控制面、数据面原型测试，并把发现的物理瓶颈整理为软硬协同研究课题。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EEAE3-1A79-465D-8397-93A5A68756DF}"/>
              </a:ext>
            </a:extLst>
          </p:cNvPr>
          <p:cNvGraphicFramePr/>
          <p:nvPr/>
        </p:nvGraphicFramePr>
        <p:xfrm>
          <a:off xmlns:a="http://schemas.openxmlformats.org/drawingml/2006/main" x="457200" y="1333500"/>
          <a:ext xmlns:a="http://schemas.openxmlformats.org/drawingml/2006/main" cx="112776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524375"/>
                <a:gridCol w="2238375"/>
                <a:gridCol w="2895600"/>
              </a:tblGrid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工作方向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近期工作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重点工况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观察指标与交付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</a:tr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控制面优化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复核检索基线与统计口径；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补充查询、注册、提交和排队的耗时分解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低载、高复用快加载；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控制服务接近饱和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 / 提交开销、TTFT、P99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检索对照与在线影响分析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数据面优化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比较业务块粒度、连续程度和提交方式；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对照直达、中转与按层流水的实际开销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长前缀、碎片化 KV；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多通道与逐层召回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搬运字节、有效带宽、首层等待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加载分解及 TTFT / TPOT 对照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组合与混压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在代表工况组合有效机制；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记录前台推理与后台搬运的实际通路和资源使用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 / 拥塞网络；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纯前台与固定后台负载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TTFT、TPOT、有效 QPS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后台进度及资源代价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软硬协同研究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按表示、放置、访问和执行梳理瓶颈；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评估布局转换、稳定描述符、拓扑与队列能力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依托现有设备和原型；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对应具体访问粒度与消费方式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机制—物理开销—业务指标映射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共性能力清单与候选课题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36383-CCA0-465C-BE31-448371AA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三周推进安排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B3835-2DB0-4070-A7A0-B7E7520B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第 1 周：基线与瓶颈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A10B9-350A-4D0A-A7E1-53C9E999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统一比较条件，复核检索与通信记录；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测清查询、提交、搬运和同步分别耗时多少。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0ACBC-CC62-4F31-B346-B786560B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958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第 2 周：单项与场景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0A829-BE45-4744-9584-7EB0EF3F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768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分别切换优化机制，测试代表场景；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把物理开销变化与请求时延、吞吐对应起来。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1438F-5A1B-4D84-AD23-95CD1043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958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第 3 周：组合与汇总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41560-9D42-41FC-9051-5012CE15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复测重点结果，补充组合和混压对照；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汇总收益场景、资源代价、问题和研究线索。</a:t>
            </a:r>
          </a:p>
        </p:txBody>
      </p:sp>
    </p:spTree>
    <p:extLst>
      <p:ext uri="{BB962C8B-B14F-4D97-AF65-F5344CB8AC3E}">
        <p14:creationId xmlns:p14="http://schemas.microsoft.com/office/powerpoint/2010/main" val="1741655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2026-10-13T12:42:26.0970000Z</dcterms:created>
  <dcterms:modified xsi:type="dcterms:W3CDTF">2026-10-13T12:42:26.0970000Z</dcterms:modified>
</coreProperties>
</file>