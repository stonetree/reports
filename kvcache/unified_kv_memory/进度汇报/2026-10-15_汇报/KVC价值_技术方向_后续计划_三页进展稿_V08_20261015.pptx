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843d2ebecf4607" /><Relationship Type="http://schemas.openxmlformats.org/officeDocument/2006/relationships/extended-properties" Target="/docProps/app.xml" Id="R0f2db23ccc204dc1" /><Relationship Type="http://schemas.openxmlformats.org/officeDocument/2006/relationships/officeDocument" Target="/ppt/presentation.xml" Id="Rd349549587bb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04eb7167e7453d"/>
  </p:sldMasterIdLst>
  <p:notesMasterIdLst>
    <p:notesMasterId xmlns:r="http://schemas.openxmlformats.org/officeDocument/2006/relationships" r:id="Rcd5ee732591c4a57"/>
  </p:notesMasterIdLst>
  <p:sldIdLst>
    <p:sldId xmlns:r="http://schemas.openxmlformats.org/officeDocument/2006/relationships" id="256" r:id="Re8157f2146ab4672"/>
    <p:sldId xmlns:r="http://schemas.openxmlformats.org/officeDocument/2006/relationships" id="257" r:id="R29e15c1bb1b04a23"/>
    <p:sldId xmlns:r="http://schemas.openxmlformats.org/officeDocument/2006/relationships" id="258" r:id="Rc8d5cea7dd2c4a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87531c89924d19" /><Relationship Type="http://schemas.openxmlformats.org/officeDocument/2006/relationships/slideMaster" Target="/ppt/slideMasters/slideMaster1.xml" Id="Rf004eb7167e7453d" /><Relationship Type="http://schemas.openxmlformats.org/officeDocument/2006/relationships/notesMaster" Target="/ppt/notesMasters/notesMaster1.xml" Id="Rcd5ee732591c4a57" /><Relationship Type="http://schemas.openxmlformats.org/officeDocument/2006/relationships/presProps" Target="/ppt/presProps.xml" Id="Rd3cbab1f0ece4cd8" /><Relationship Type="http://schemas.openxmlformats.org/officeDocument/2006/relationships/tableStyles" Target="/ppt/tableStyles.xml" Id="R6f662cb409254c3b" /><Relationship Type="http://schemas.openxmlformats.org/officeDocument/2006/relationships/slide" Target="/ppt/slides/slide1.xml" Id="Re8157f2146ab4672" /><Relationship Type="http://schemas.openxmlformats.org/officeDocument/2006/relationships/slide" Target="/ppt/slides/slide2.xml" Id="R29e15c1bb1b04a23" /><Relationship Type="http://schemas.openxmlformats.org/officeDocument/2006/relationships/slide" Target="/ppt/slides/slide3.xml" Id="Rc8d5cea7dd2c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27cbb12d21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cb5832a054a84" /><Relationship Type="http://schemas.openxmlformats.org/officeDocument/2006/relationships/notesMaster" Target="/ppt/notesMasters/notesMaster1.xml" Id="R040a86671bec41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c22ea6918491b" /><Relationship Type="http://schemas.openxmlformats.org/officeDocument/2006/relationships/notesMaster" Target="/ppt/notesMasters/notesMaster1.xml" Id="Rc33890b6915f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1a2cec3b114fc1" /><Relationship Type="http://schemas.openxmlformats.org/officeDocument/2006/relationships/notesMaster" Target="/ppt/notesMasters/notesMaster1.xml" Id="Re5da4676d4de4e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页重新以KVC的业务、系统和软硬协同价值组织内容。Beluga原文图八直接展示用户请求、命中与未命中、全局KV索引、控制消息和KV正文的读写关系，比上一版通用拷贝图更贴近本次汇报主题。这里借用的是外部论文的架构示例，不表示本项目已经采用CXL或实现图中全部路径。我们的关注点是同一份KV如何表示、放置、访问并被计算消费，以及每个环节改变哪些物理开销：表示影响提交和有效带宽，放置影响容量和访问成本，访问影响中转与搬运字节，执行影响首层等待与生成停顿。业务指标仍包括首字时延、逐字生成耗时、有效吞吐和资源成本；收益需要在相关开销进入关键路径或限制容量的场景下验证。页面保留11号正文，不填造性能数字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  <a:p xmlns:a="http://schemas.openxmlformats.org/drawingml/2006/main">
            <a:r>
              <a:t>图片来源：Beluga: A CXL-Based Memory Architecture for Scalable and Efficient LLM KVCache Management，本地PDF Fig.8/PDF第16页及Fig.14/PDF第22页；Strata Fig.6/PDF第7页。全部图片来自本地论文解构，嵌入原始图像；Beluga图仅去除页眉/重复图注及外围空白，机制与坐标区域完整保留，未重绘。Beluga Fig.14为64B请求与64B应答的RPC微基准，并非KV查询端到端时延，也不是本项目实测。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保留Strata布局原图，并补齐为什么布局会造成性能问题。GPU计算按层取KV，而恢复前缀时需要跨层取相同页面；若直接按计算布局逐片搬运，就产生大量离散小传输，增多提交与描述符处理，降低实际链路利用率并延长首字等待。布局解耦不是单纯放大匹配页，而是让计算布局和传输布局分别匹配自己的需求。右图换为Beluga的Host侧RPC微基准，对照64B请求及应答在不同队列深度和客户端线程条件下的平均时延与吞吐，用于衔接后续共享内存检索和控制消息优化。RPC传输时延不等于完整前缀查询时延，论文数据不作为本项目成果。下方五条方向到机制、场景、微观变化与业务指标的推演内容保持不变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  <a:p xmlns:a="http://schemas.openxmlformats.org/drawingml/2006/main">
            <a:r>
              <a:t>图片来源：Beluga: A CXL-Based Memory Architecture for Scalable and Efficient LLM KVCache Management，本地PDF Fig.8/PDF第16页及Fig.14/PDF第22页；Strata Fig.6/PDF第7页。全部图片来自本地论文解构，嵌入原始图像；Beluga图仅去除页眉/重复图注及外围空白，机制与坐标区域完整保留，未重绘。Beluga Fig.14为64B请求与64B应答的RPC微基准，并非KV查询端到端时延，也不是本项目实测。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工作仍是定期进展汇报的安排，不设置阶段审批或开发门禁。控制面补齐检索、注册、提交与排队分解，并对照低载和高并发场景；数据面比较块粒度、连续性、设备路径及流水，观察加载等待和逐层召回停顿；组合与混压测试同时看前台指标、后台进度和资源代价。软硬研究使用第一页的递进关系，把反复出现的瓶颈对应到布局转换、稳定描述符、地址与拓扑、队列和完成通知等能力。以现有设备和原型为起点，分清软件参数调整、已有硬件能力利用，以及真正需要进一步体系结构研究的问题。三周保持第一周基线与瓶颈、第二周单项与场景、第三周组合与汇总的推进节奏，形成可解释的数据图表与课题线索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5aeca1da746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3591bb46540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183ab2d004f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d4259c6884a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4eb3fb3ad4b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859627035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3A923D-7E8C-41D3-BA4F-B369D1101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2B8618-34B7-4F45-8CA1-E9282F08A5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ACA415-DA79-4A98-A336-06B98F2A9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F80A82-5BD5-41B4-AF33-6AC96952C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3A6865-E9D3-4069-9D55-9DD6320816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C8287F-5B94-49A2-82F4-82BC179A5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1E695C-C4D7-4AB6-B108-7F28D66DC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451759-EA5F-4ABD-8A4C-8D034F3C1F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B880CD-0080-40D1-AFD4-A3560BFF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658AB-66F5-4279-9657-2D9F422769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fc94736914cad" /><Relationship Type="http://schemas.openxmlformats.org/officeDocument/2006/relationships/slideLayout" Target="/ppt/slideLayouts/slideLayout1.xml" Id="Rb5918ae496ca420b" /><Relationship Type="http://schemas.openxmlformats.org/officeDocument/2006/relationships/slideLayout" Target="/ppt/slideLayouts/slideLayout2.xml" Id="R95a84a8768ed4167" /><Relationship Type="http://schemas.openxmlformats.org/officeDocument/2006/relationships/slideLayout" Target="/ppt/slideLayouts/slideLayout3.xml" Id="R8c494b756c384acc" /><Relationship Type="http://schemas.openxmlformats.org/officeDocument/2006/relationships/slideLayout" Target="/ppt/slideLayouts/slideLayout4.xml" Id="R17d06e995b1d41a9" /><Relationship Type="http://schemas.openxmlformats.org/officeDocument/2006/relationships/slideLayout" Target="/ppt/slideLayouts/slideLayout5.xml" Id="R7d91b076238644d7" /><Relationship Type="http://schemas.openxmlformats.org/officeDocument/2006/relationships/slideLayout" Target="/ppt/slideLayouts/slideLayout6.xml" Id="Rae349772294e4b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918ae496ca420b"/>
    <p:sldLayoutId xmlns:r="http://schemas.openxmlformats.org/officeDocument/2006/relationships" id="2147483650" r:id="R95a84a8768ed4167"/>
    <p:sldLayoutId xmlns:r="http://schemas.openxmlformats.org/officeDocument/2006/relationships" id="2147483651" r:id="R8c494b756c384acc"/>
    <p:sldLayoutId xmlns:r="http://schemas.openxmlformats.org/officeDocument/2006/relationships" id="2147483652" r:id="R17d06e995b1d41a9"/>
    <p:sldLayoutId xmlns:r="http://schemas.openxmlformats.org/officeDocument/2006/relationships" id="2147483653" r:id="R7d91b076238644d7"/>
    <p:sldLayoutId xmlns:r="http://schemas.openxmlformats.org/officeDocument/2006/relationships" id="2147483654" r:id="Rae349772294e4b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cbef9cb4b4a0c" /><Relationship Type="http://schemas.openxmlformats.org/officeDocument/2006/relationships/image" Target="/ppt/media/image.png" Id="R655c861abf2a4af3" /><Relationship Type="http://schemas.openxmlformats.org/officeDocument/2006/relationships/notesSlide" Target="/ppt/notesSlides/notesSlide1.xml" Id="Rf655cc7cd659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ac79b66744da2" /><Relationship Type="http://schemas.openxmlformats.org/officeDocument/2006/relationships/image" Target="/ppt/media/image2.png" Id="R56d02c731a044269" /><Relationship Type="http://schemas.openxmlformats.org/officeDocument/2006/relationships/image" Target="/ppt/media/image3.png" Id="Rad10616748db45ea" /><Relationship Type="http://schemas.openxmlformats.org/officeDocument/2006/relationships/notesSlide" Target="/ppt/notesSlides/notesSlide2.xml" Id="R84b35af77677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0b0aae1544077" /><Relationship Type="http://schemas.openxmlformats.org/officeDocument/2006/relationships/notesSlide" Target="/ppt/notesSlides/notesSlide3.xml" Id="Rd70814050ed946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00B4A-E4D1-4C69-AEF3-EFCF1D2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FEDC6-DF9C-4360-B2E8-0F1F43BE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的软硬协同价值：把缓存复用落实到物理访问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71B9-AB74-4BC5-88C8-0E7E7CC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51592-10E6-4C1E-A1F2-ED6DDD5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0A33-641E-40CB-86DD-536423BC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KVC（大模型注意力键值缓存）的复用收益，由缓存查找、存放、加载与计算共同决定。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1016D-FF5E-4B61-A4CF-317CD48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业务价值：减少重复计算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23350-8EB3-432E-8EE0-90C0633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共享长前缀、多轮对话复用已有 KV，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减少预计算，缩短首字等待；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把算力用于更多有效请求。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50B66-3B65-4872-A4A0-2C0902B4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系统价值：扩展可用缓存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964BC-00B0-4B5E-9199-83B2581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结合显存、主机内存和外部存储，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保留更多可复用状态，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支撑更长上下文与更高并发。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E5456-42A7-4B67-99E2-A9382E68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软硬协同：改变物理开销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6DF6A-883F-4345-9669-37310FC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围绕索引访问、布局、介质和通路，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减少查询、提交、中转与等待；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将硬件能力关联到业务效果。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7C50D-2088-480C-9F74-5DBA024D2B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c861abf2a4af3"/>
          <a:srcRect xmlns:a="http://schemas.openxmlformats.org/drawingml/2006/main" l="16667" t="9690" r="15152" b="12209"/>
          <a:stretch xmlns:a="http://schemas.openxmlformats.org/drawingml/2006/main"/>
        </p:blipFill>
        <p:spPr>
          <a:xfrm xmlns:a="http://schemas.openxmlformats.org/drawingml/2006/main">
            <a:off x="3429000" y="1381125"/>
            <a:ext cx="8305800" cy="3333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538C5-9590-4642-84C9-0D621145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830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Beluga · 原文 Fig.8：全局 KV 索引与缓存正文加载分开组织（外部论文架构）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6F885-A990-498E-9590-184E25F7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逻辑 KV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304D5-FCB9-41FD-BA98-796959B8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E1407-5584-4F6D-AFE8-6FA24D9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292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物理布局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1F17D-6C50-461F-94CC-E1C79B86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197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7D61E-363B-46DA-BD6C-A77533E2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物理介质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581B0-F814-4383-8708-3C450B3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197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02D49-7533-4D06-B86B-C63E4D0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292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A91B3-4D0B-4049-9A77-3AF06C6A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3CB9F-5E53-4B41-84A7-6C400564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292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计算消费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2EBC5-0C01-4F41-AC1F-96AC4AE5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表示：布局与块粒度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AC6BF-F73C-4E60-9DA7-3E54FF35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7217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提交次数 / 有效带宽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TTFT、有效 QPS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07FD8-5D7C-4797-88FF-EE0F8510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放置：介质与通道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5FADF-8A48-47C2-BFFD-462935A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97217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容量 / 访问成本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上下文、有效 QPS、成本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11266-B653-4263-B9F2-DF829EF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769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访问：直达与映射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8BA0AB-E497-4D34-B8D7-335F2F2D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7217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中转次数 / 搬运字节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TTFT、逐层访问 TPOT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6020BB-5914-4ADA-83A4-CBB1AF71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769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执行：预取与流水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72C4B-D6A6-4E0B-9A6D-BDE7AFF7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97217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首层等待 / 生成停顿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TTFT、TPOT、尾时延</a:t>
            </a:r>
          </a:p>
        </p:txBody>
      </p:sp>
    </p:spTree>
    <p:extLst>
      <p:ext uri="{BB962C8B-B14F-4D97-AF65-F5344CB8AC3E}">
        <p14:creationId xmlns:p14="http://schemas.microsoft.com/office/powerpoint/2010/main" val="2139032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47524-F30B-436D-9859-BB924CEE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072FD-320D-4610-89DC-C4F5D92D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技术探索方向：从物理机制推演到收益场景与指标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F004F-627A-455C-BA17-2BB1250E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053C2-2D67-48C1-9CF0-166F29E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2D157-B44E-431B-A1CD-B235D295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TTFT：首字响应时间；TPOT：每个输出 Token 耗时；有效 QPS：满足服务目标的每秒完成请求数。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C33FA-15DA-48C1-9107-BEF8EA23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数据面：布局差异会放大加载开销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EA743-CF31-4EA2-B413-845597E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2872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控制面：Host 信令时延与并发处理能力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07AAA-A8BE-4C97-A3F1-6179EBF96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02c731a04426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95425"/>
            <a:ext cx="5486400" cy="1381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57377-AFFC-467A-904A-CBDEDFACC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0616748db45ea"/>
          <a:srcRect xmlns:a="http://schemas.openxmlformats.org/drawingml/2006/main" l="0" t="0" r="0" b="13930"/>
          <a:stretch xmlns:a="http://schemas.openxmlformats.org/drawingml/2006/main"/>
        </p:blipFill>
        <p:spPr>
          <a:xfrm xmlns:a="http://schemas.openxmlformats.org/drawingml/2006/main">
            <a:off x="6248400" y="1495425"/>
            <a:ext cx="5486400" cy="1657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BDC55-542E-4013-87FD-3EA2ABA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Strata · OSDI 2026 · Fig.6：GPU 按层计算，主机按页组织。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CA978-18D4-40BC-AF1E-397AC67E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548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GPU 按层保存 KV，恢复一个前缀却要跨多层读取，容易形成大量离散小传输。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直接沿用计算布局搬运，会增加提交开销、降低链路利用率，拉长加载等待与 TTFT。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7194C-9429-4B1D-8B8D-1F08FA6A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90875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Beluga · Fig.14：64 B 请求 / 应答的 RPC 时延与吞吐（外部论文）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4146-C8C2-4191-9AD9-806871CB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该对照启发我们关注 Host 侧查询与控制消息开销，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把单次处理时延和高并发吞吐共同纳入控制面优化。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8BD76-DE3F-4BE3-9A16-7561498FBE46}"/>
              </a:ext>
            </a:extLst>
          </p:cNvPr>
          <p:cNvGraphicFramePr/>
          <p:nvPr/>
        </p:nvGraphicFramePr>
        <p:xfrm>
          <a:off xmlns:a="http://schemas.openxmlformats.org/drawingml/2006/main" x="457200" y="3810000"/>
          <a:ext xmlns:a="http://schemas.openxmlformats.org/drawingml/2006/main" cx="112776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2514600"/>
                <a:gridCol w="2066925"/>
                <a:gridCol w="3038475"/>
                <a:gridCol w="2190750"/>
              </a:tblGrid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 / 硬件机制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收益场景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微观变化与收益传导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元数据快路径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与稳定描述符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共享内存检索、批量查询；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复用注册信息和地址描述符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高复用且加载快；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查询服务接近饱和的高并发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查询往返、注册和处理开销减少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同步等待与控制面排队减少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TTFT、P99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与批量搬运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/ 传输布局解耦；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连续块聚合、批量 DMA 提交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碎片多、小传输密集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 I/O、描述符和提交次数减少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有效带宽提高，加载等待缩短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放置策略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与多通道利用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分层放置、亲和分配与带宽分片；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拓扑感知选路、通道负载均衡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多内存通道、多网卡；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链路负载不均或容量受限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跨域访问和热点通道排队减少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可用容量与聚合带宽更充分利用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TTFT、尾时延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按需直达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与按层流水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DMA 减少主机中转；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按需访问、预取与计算重叠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KV 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生成中需要逐层召回的场景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中转、无效搬运和首层等待减少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数据等待与计算停顿减少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逐层召回场景改善 TPOT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动态选路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与前后台控制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 / 重算成本比较；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优先级队列、限速与退避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低复用、拥塞链路；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前台推理与后台搬运混压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不划算的拉取与共享资源竞争减少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请求等待和生成干扰降低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 TTFT、TPOT 与 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65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1CB60-8926-456A-BABC-6C2C7EC1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347DE-0509-4C1E-9E56-77D99391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下一步工作安排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BD361-B068-4F81-9508-EC08A7E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F4D1F-0C83-4FD0-92D8-B54F49F2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32906-9179-4F64-BD17-3014570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推进现有控制面、数据面原型测试，并把发现的物理瓶颈整理为软硬协同研究课题。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32FAB-A3B3-4906-8DD0-568390188F9C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524375"/>
                <a:gridCol w="2238375"/>
                <a:gridCol w="2895600"/>
              </a:tblGrid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近期工作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重点工况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观察指标与交付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复核检索基线与统计口径；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补充查询、注册、提交和排队的耗时分解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低载、高复用快加载；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控制服务接近饱和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/ 提交开销、TTFT、P99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检索对照与在线影响分析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数据面优化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比较业务块粒度、连续程度和提交方式；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对照直达、中转与按层流水的实际开销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长前缀、碎片化 KV；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多通道与逐层召回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搬运字节、有效带宽、首层等待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加载分解及 TTFT / TPOT 对照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组合与混压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在代表工况组合有效机制；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记录前台推理与后台搬运的实际通路和资源使用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 / 拥塞网络；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纯前台与固定后台负载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TTFT、TPOT、有效 QPS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后台进度及资源代价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软硬协同研究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按表示、放置、访问和执行梳理瓶颈；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评估布局转换、稳定描述符、拓扑与队列能力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依托现有设备和原型；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对应具体访问粒度与消费方式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机制—物理开销—业务指标映射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共性能力清单与候选课题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FE219-DBDA-454E-B7CE-A3C5FB9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三周推进安排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89FAC-F261-45AE-8D13-DEC921A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1 周：基线与瓶颈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49E07-4B02-469B-A04A-32EDA1F3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统一比较条件，复核检索与通信记录；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测清查询、提交、搬运和同步分别耗时多少。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88C41-88E6-4A67-AE33-E25D4A4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2 周：单项与场景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62522-F071-4C2E-9016-21ABC4D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分别切换优化机制，测试代表场景；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把物理开销变化与请求时延、吞吐对应起来。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569B9-1319-4F17-BCA1-70D4850D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3 周：组合与汇总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27A78-60D7-4800-B938-9CACDE31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复测重点结果，补充组合和混压对照；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汇总收益场景、资源代价、问题和研究线索。</a:t>
            </a:r>
          </a:p>
        </p:txBody>
      </p:sp>
    </p:spTree>
    <p:extLst>
      <p:ext uri="{BB962C8B-B14F-4D97-AF65-F5344CB8AC3E}">
        <p14:creationId xmlns:p14="http://schemas.microsoft.com/office/powerpoint/2010/main" val="1004283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2026-10-13T12:59:43.2450000Z</dcterms:created>
  <dcterms:modified xsi:type="dcterms:W3CDTF">2026-10-13T12:59:43.2450000Z</dcterms:modified>
</coreProperties>
</file>