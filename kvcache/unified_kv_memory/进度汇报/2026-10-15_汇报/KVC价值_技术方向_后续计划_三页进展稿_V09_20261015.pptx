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bc956d7ff745a7" /><Relationship Type="http://schemas.openxmlformats.org/officeDocument/2006/relationships/extended-properties" Target="/docProps/app.xml" Id="R1dc5e0095b894d41" /><Relationship Type="http://schemas.openxmlformats.org/officeDocument/2006/relationships/officeDocument" Target="/ppt/presentation.xml" Id="Rcc7eedd865504c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3b17186f5b4a2b"/>
  </p:sldMasterIdLst>
  <p:notesMasterIdLst>
    <p:notesMasterId xmlns:r="http://schemas.openxmlformats.org/officeDocument/2006/relationships" r:id="Rd2efabbc410544a0"/>
  </p:notesMasterIdLst>
  <p:sldIdLst>
    <p:sldId xmlns:r="http://schemas.openxmlformats.org/officeDocument/2006/relationships" id="256" r:id="R61c9d53bc4fe4674"/>
    <p:sldId xmlns:r="http://schemas.openxmlformats.org/officeDocument/2006/relationships" id="257" r:id="R0f674db2cb364113"/>
    <p:sldId xmlns:r="http://schemas.openxmlformats.org/officeDocument/2006/relationships" id="258" r:id="R343e6404101d48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4fe65941584ec4" /><Relationship Type="http://schemas.openxmlformats.org/officeDocument/2006/relationships/slideMaster" Target="/ppt/slideMasters/slideMaster1.xml" Id="R0c3b17186f5b4a2b" /><Relationship Type="http://schemas.openxmlformats.org/officeDocument/2006/relationships/notesMaster" Target="/ppt/notesMasters/notesMaster1.xml" Id="Rd2efabbc410544a0" /><Relationship Type="http://schemas.openxmlformats.org/officeDocument/2006/relationships/presProps" Target="/ppt/presProps.xml" Id="Rb21c2fa3a0d444d2" /><Relationship Type="http://schemas.openxmlformats.org/officeDocument/2006/relationships/tableStyles" Target="/ppt/tableStyles.xml" Id="Rf30c4b8e8ffe4b78" /><Relationship Type="http://schemas.openxmlformats.org/officeDocument/2006/relationships/slide" Target="/ppt/slides/slide1.xml" Id="R61c9d53bc4fe4674" /><Relationship Type="http://schemas.openxmlformats.org/officeDocument/2006/relationships/slide" Target="/ppt/slides/slide2.xml" Id="R0f674db2cb364113" /><Relationship Type="http://schemas.openxmlformats.org/officeDocument/2006/relationships/slide" Target="/ppt/slides/slide3.xml" Id="R343e6404101d48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aa782ee80c45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75c0f21ac6440f" /><Relationship Type="http://schemas.openxmlformats.org/officeDocument/2006/relationships/notesMaster" Target="/ppt/notesMasters/notesMaster1.xml" Id="R6d542f9ac53c47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873985ecc74a40" /><Relationship Type="http://schemas.openxmlformats.org/officeDocument/2006/relationships/notesMaster" Target="/ppt/notesMasters/notesMaster1.xml" Id="R91a047e205c14b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dd839ce3cd4484" /><Relationship Type="http://schemas.openxmlformats.org/officeDocument/2006/relationships/notesMaster" Target="/ppt/notesMasters/notesMaster1.xml" Id="R2f673e738a8844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页改为自绘总览，以同一份KV状态在软件与硬件之间的流转为中心，不借用任何单篇论文架构作为项目全貌。上方说明复用识别、布局组织、分层放置、访问调度与计算消费等软件机制；中间用可编辑图形表示逻辑KV、块聚合、存储层级、Host I/O与加速器消费；下方把查询提交、搬运字节、有效带宽、资源竞争和等待停顿等物理开销关联到响应速度、服务能力与资源效率。图中的HBM、DDR/CXL与SSD是可研究的存储层级，并非已经实现的全部设备路径。DMA为设备直接内存访问，NUMA为不同处理器访问内存代价不同的组织方式，QoS为资源优先级与限流。业务收益取决于相应开销进入关键路径或限制系统容量，不把局部带宽提高直接写成同等比例在线收益。</a:t>
            </a:r>
          </a:p>
          <a:p xmlns:a="http://schemas.openxmlformats.org/drawingml/2006/main">
            <a:r>
              <a:t>内容依据：D:/codes/reports/kvcache/unified_kv_memory/讨论稿/KVC 软硬结合研究方向.md；KVC 软硬结合研究路径 2.md；ChatGPT对话“KVC底层优化价值”（6ac856aa-d94c-83e8-a0dc-6db23cb47568）；V10关键技术汇报。讨论材料用于研究框架，不作为已完成成果。</a:t>
            </a:r>
          </a:p>
          <a:p xmlns:a="http://schemas.openxmlformats.org/drawingml/2006/main">
            <a:r>
              <a:t>第一页为根据本次汇报主线自绘的可编辑KVC价值示意图，不对应某一论文或已实现架构。第二页左侧为根据Strata Fig.6及原文§3.1/§4的布局、传输粒度与开销关系重绘的机制示意，不是按实测时间比例绘制，也不声称任意布局转换都会加速。右侧保留Beluga Fig.14（PDF第22页）原始数据图，仅裁去重复图注。64B RPC是控制事务传输微基准，并非完整元数据查询。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页左侧用相同KV有效载荷的两种事务组织方式直接展示性能来源。计算布局中前缀A的数据在不同层间离散，逐片读取会反复提交并产生链路空隙；把传输对象按页聚合后，可减少提交与等待。示意中两行蓝色有效载荷总长度相同，橙色提交段和空隙减少，表达机制方向，不按真实时间比例，也不能忽略布局转换、聚合和硬件能力的代价。右侧保留Beluga的64B RPC微基准。依据Little定律，同等平均在途并发C下，控制事务完成时间L缩短可支持更高的事务完成率C/L；这里讨论的是控制事务吞吐，不能把RPC往返时延直接当作串行CPU服务时间。转换到在线请求时，还需要每请求控制次数相近、控制面确为瓶颈，以及计算和正文加载没有先限制吞吐。满足这些条件后，控制处理能力增加才可能减少排队、改善P99首字时延及有效QPS。</a:t>
            </a:r>
          </a:p>
          <a:p xmlns:a="http://schemas.openxmlformats.org/drawingml/2006/main">
            <a:r>
              <a:t>内容依据：D:/codes/reports/kvcache/unified_kv_memory/讨论稿/KVC 软硬结合研究方向.md；KVC 软硬结合研究路径 2.md；ChatGPT对话“KVC底层优化价值”（6ac856aa-d94c-83e8-a0dc-6db23cb47568）；V10关键技术汇报。讨论材料用于研究框架，不作为已完成成果。</a:t>
            </a:r>
          </a:p>
          <a:p xmlns:a="http://schemas.openxmlformats.org/drawingml/2006/main">
            <a:r>
              <a:t>Strata: Hierarchical Context Caching for Long Context Language Model Serving，OSDI 2026，https://www.usenix.org/conference/osdi26/presentation/xie-zhiqiang ；Bidaw: Enhancing Key-Value Caching for Interactive LLM Serving via Bidirectional Computation–Storage Awareness，FAST 2026，https://www.usenix.org/conference/fast26/presentation/hu-shipeng ；DualPath: Accelerating Agentic LLM Inference by Harvesting Disaggregated KV-Cache Storage I/O，SIGCOMM 2026，https://conferences.sigcomm.org/sigcomm/2026/program/papers/ 。官方页面机制信息于本次汇报修订过程中核对，外部论文数字未移作本项目结果。</a:t>
            </a:r>
          </a:p>
          <a:p xmlns:a="http://schemas.openxmlformats.org/drawingml/2006/main">
            <a:r>
              <a:t>第一页为根据本次汇报主线自绘的可编辑KVC价值示意图，不对应某一论文或已实现架构。第二页左侧为根据Strata Fig.6及原文§3.1/§4的布局、传输粒度与开销关系重绘的机制示意，不是按实测时间比例绘制，也不声称任意布局转换都会加速。右侧保留Beluga Fig.14（PDF第22页）原始数据图，仅裁去重复图注。64B RPC是控制事务传输微基准，并非完整元数据查询。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后续工作仍是定期进展汇报的安排，不设置阶段审批或开发门禁。控制面补齐检索、注册、提交与排队分解，并对照低载和高并发场景；数据面比较块粒度、连续性、设备路径及流水，观察加载等待和逐层召回停顿；组合与混压测试同时看前台指标、后台进度和资源代价。软硬研究使用第一页的递进关系，把反复出现的瓶颈对应到布局转换、稳定描述符、地址与拓扑、队列和完成通知等能力。以现有设备和原型为起点，分清软件参数调整、已有硬件能力利用，以及真正需要进一步体系结构研究的问题。三周保持第一周基线与瓶颈、第二周单项与场景、第三周组合与汇总的推进节奏，形成可解释的数据图表与课题线索。</a:t>
            </a:r>
          </a:p>
          <a:p xmlns:a="http://schemas.openxmlformats.org/drawingml/2006/main">
            <a:r>
              <a:t>内容依据：D:/codes/reports/kvcache/unified_kv_memory/讨论稿/KVC 软硬结合研究方向.md；KVC 软硬结合研究路径 2.md；ChatGPT对话“KVC底层优化价值”（6ac856aa-d94c-83e8-a0dc-6db23cb47568）；V10关键技术汇报。讨论材料用于研究框架，不作为已完成成果。</a:t>
            </a:r>
          </a:p>
          <a:p xmlns:a="http://schemas.openxmlformats.org/drawingml/2006/main">
            <a:r>
              <a:t>Strata: Hierarchical Context Caching for Long Context Language Model Serving，OSDI 2026，https://www.usenix.org/conference/osdi26/presentation/xie-zhiqiang ；Bidaw: Enhancing Key-Value Caching for Interactive LLM Serving via Bidirectional Computation–Storage Awareness，FAST 2026，https://www.usenix.org/conference/fast26/presentation/hu-shipeng ；DualPath: Accelerating Agentic LLM Inference by Harvesting Disaggregated KV-Cache Storage I/O，SIGCOMM 2026，https://conferences.sigcomm.org/sigcomm/2026/program/papers/ 。官方页面机制信息于本次汇报修订过程中核对，外部论文数字未移作本项目结果。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054dba3d5d4e0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df5b531c75452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fbab40c05b4c3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2af9fc2fa5449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f28c921178481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f97c1ca7b047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4479BD-755A-4B20-8608-331749DA18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C895208-28DA-45FE-975B-E5A6D72B6DC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8E214B9-E25A-41BB-8F78-66D1670839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3228DE-32FC-414A-8C66-4A6D6F1150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16B0011-9D03-4427-89C3-6A7A3A9785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45FC956-199C-49B9-823D-53ACA44B6B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2DD883B-DA6F-407F-878D-06DFAF5D19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E9F303B-CBF6-4B55-8CAB-70AD603512C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EA92A8-56B1-4551-833B-2106D100F2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B8797F9-CA5F-4F59-88B7-94ED9C1770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c5339b03dc458b" /><Relationship Type="http://schemas.openxmlformats.org/officeDocument/2006/relationships/slideLayout" Target="/ppt/slideLayouts/slideLayout1.xml" Id="R023ef0714f1c4d37" /><Relationship Type="http://schemas.openxmlformats.org/officeDocument/2006/relationships/slideLayout" Target="/ppt/slideLayouts/slideLayout2.xml" Id="Red9be33060524fe5" /><Relationship Type="http://schemas.openxmlformats.org/officeDocument/2006/relationships/slideLayout" Target="/ppt/slideLayouts/slideLayout3.xml" Id="Rd586cf61ac274733" /><Relationship Type="http://schemas.openxmlformats.org/officeDocument/2006/relationships/slideLayout" Target="/ppt/slideLayouts/slideLayout4.xml" Id="R47b8be56713c4465" /><Relationship Type="http://schemas.openxmlformats.org/officeDocument/2006/relationships/slideLayout" Target="/ppt/slideLayouts/slideLayout5.xml" Id="Rad70ae07156a43fa" /><Relationship Type="http://schemas.openxmlformats.org/officeDocument/2006/relationships/slideLayout" Target="/ppt/slideLayouts/slideLayout6.xml" Id="R7638e2e26d734f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3ef0714f1c4d37"/>
    <p:sldLayoutId xmlns:r="http://schemas.openxmlformats.org/officeDocument/2006/relationships" id="2147483650" r:id="Red9be33060524fe5"/>
    <p:sldLayoutId xmlns:r="http://schemas.openxmlformats.org/officeDocument/2006/relationships" id="2147483651" r:id="Rd586cf61ac274733"/>
    <p:sldLayoutId xmlns:r="http://schemas.openxmlformats.org/officeDocument/2006/relationships" id="2147483652" r:id="R47b8be56713c4465"/>
    <p:sldLayoutId xmlns:r="http://schemas.openxmlformats.org/officeDocument/2006/relationships" id="2147483653" r:id="Rad70ae07156a43fa"/>
    <p:sldLayoutId xmlns:r="http://schemas.openxmlformats.org/officeDocument/2006/relationships" id="2147483654" r:id="R7638e2e26d734f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e976a55be24a24" /><Relationship Type="http://schemas.openxmlformats.org/officeDocument/2006/relationships/notesSlide" Target="/ppt/notesSlides/notesSlide1.xml" Id="R28c594b1eee340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615b13d2474446" /><Relationship Type="http://schemas.openxmlformats.org/officeDocument/2006/relationships/image" Target="/ppt/media/image.png" Id="Rf3ca17f6b22545bd" /><Relationship Type="http://schemas.openxmlformats.org/officeDocument/2006/relationships/notesSlide" Target="/ppt/notesSlides/notesSlide2.xml" Id="Rd471caa3200244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fd0bb32edb46fd" /><Relationship Type="http://schemas.openxmlformats.org/officeDocument/2006/relationships/notesSlide" Target="/ppt/notesSlides/notesSlide3.xml" Id="Rb131cecab11048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D7B650EA-654D-4B81-B85E-0C69FBA8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B3D12-9C1D-4DA2-A8DD-5F2535AF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KVC 优化价值：连接软件机制、Host 能力与业务效果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7213D0-4904-402B-9510-A997DF23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287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KVC 工作汇报 · 2026-10-15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8E001E-C029-439B-B3FC-5656A7C1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D53138-357B-48D4-A965-038C90DD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144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以可复用的 KV 计算状态为对象，沿“表示—放置—访问—执行”寻找软硬协同优化点。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0072CB-0BAE-45CE-90CC-9433D605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软件机制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E51BBF-A297-4621-B0D5-F6CA50C7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90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复用识别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198523-48BC-4A56-BC06-1F744FA6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前缀匹配 / 元数据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66F292-6D5E-4FD3-A146-2BB98D0F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676400"/>
            <a:ext cx="190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布局组织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FC6529-179E-4F5D-9CC6-2FF7C552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526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连续块 / 批量提交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596B61-27C2-493D-978E-7EE62F62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76400"/>
            <a:ext cx="190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分层放置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DC2F4E-EF78-42C2-B81D-9FEC05F8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526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热度 / 容量 / 拓扑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BFE242-6FAE-4497-8D62-3704736C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676400"/>
            <a:ext cx="190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访问与调度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C68119-A875-421B-BF58-DDC95B84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526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直达 / 预取 / QoS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9CC4A6-4B1A-4866-98D2-109BDA63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676400"/>
            <a:ext cx="190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计算消费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608382-3ED5-45F0-A751-4AD8B54A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9526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按层就绪 / 流水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BE073F-3D29-42C9-AA4E-F239C6FD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409825"/>
            <a:ext cx="12668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E325EC-837D-44D6-9423-E5ABC336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12668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CF0817-1A92-47BD-936B-BDFD3F4E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43175"/>
            <a:ext cx="12668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422BA-F991-4F8D-B102-288D8C8F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KV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07D6D2-9F74-4F47-B4D1-B58CEDF7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105150"/>
            <a:ext cx="142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EFE53B-F2BE-446C-8640-3BF378F4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05150"/>
            <a:ext cx="142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354587-3E53-4430-ACA7-536F083F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05150"/>
            <a:ext cx="142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53A931-87DC-481B-A039-B8917DF2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05150"/>
            <a:ext cx="142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1D498A-8466-4F1E-85D4-7EEB5331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105150"/>
            <a:ext cx="1428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688482-C599-4473-9B2F-D53D4AC3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共享前缀 / 会话历史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B82895-2FC8-4A11-A7A2-26D2380F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8132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7DCBC2-5046-4F7D-BDBD-E89060E4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670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7AB0C7-4CBE-4824-8207-76E9B326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571750"/>
            <a:ext cx="3714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B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C6CC30-79E9-44E1-846B-ABA07783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590800"/>
            <a:ext cx="371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L0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DB5A7C-644F-4CF2-B9A5-8FDCF4B9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71750"/>
            <a:ext cx="3714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23610C-A9BB-4073-B750-31759797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90800"/>
            <a:ext cx="371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L1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1142BC-1942-44FA-A3BF-8BBEE0AE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571750"/>
            <a:ext cx="3714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46E34C-5C1F-4B69-9664-77985E88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590800"/>
            <a:ext cx="371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2BF243-5F02-4322-91B5-5371CFD8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9241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C09C6E-FEDD-4E72-89AB-68DC1100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238500"/>
            <a:ext cx="3714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B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1A5B9B-A0A9-4DC7-95A4-81DFDB25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257550"/>
            <a:ext cx="371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L0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F0F0D3-27DE-416E-9CEF-40F5C7F7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38500"/>
            <a:ext cx="3714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C75F3D-9172-43B4-B20E-06FF756F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57550"/>
            <a:ext cx="371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L1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8B59F8-80AF-43A5-9530-DF6D14BD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238500"/>
            <a:ext cx="3714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A223516-B57B-423D-84AA-E4EF3C11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257550"/>
            <a:ext cx="371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58FCA3-2AB5-4AA6-8203-2AB1A6EE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7147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保持复用粒度，聚合搬运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991F3DA-0C08-40F3-9F01-22AA880B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8132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65418E8-B9B0-4F18-B9B5-1F153111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670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1F609A5-A29F-48EA-AB15-33E0367C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495550"/>
            <a:ext cx="16573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5C67E6C-4728-4A69-A855-8FAAB0D6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52700"/>
            <a:ext cx="85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CC9F9F7-C823-4E3D-8604-7ACF2FE6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524125"/>
            <a:ext cx="1362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HBM / 显存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CA9339E-6343-437D-90FC-277C44F6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895600"/>
            <a:ext cx="16573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B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419B702-7502-4A2A-B9F7-FB2A7D55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52750"/>
            <a:ext cx="85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24AB231-86B2-42FB-8098-FDFE1CA2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924175"/>
            <a:ext cx="1362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DDR / CXL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2A34AD5-4193-44E6-BD98-E0C20807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295650"/>
            <a:ext cx="16573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C5FD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17428F3-E3BC-4072-B77E-7664BE1F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52800"/>
            <a:ext cx="857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53E2CB9-13CD-4430-AF49-F9ACF992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324225"/>
            <a:ext cx="1362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SSD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1DC8782-5623-4408-B1FC-B3D73ACA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481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介质 / 通道 / NUMA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522D51A-0223-4A5D-AB04-A99ACA27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8132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7782990-36A8-42A2-B4A3-3944DF31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8670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10AA422-28CE-40C2-8C44-25F6231A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533650"/>
            <a:ext cx="11811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D1C9542-AD11-41A3-A9E5-DEA6492F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6479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E38B32B-B24B-4BAF-9FE9-D7E5650B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64795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28A539D-DF2D-40A5-9A9F-12529DB5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457450"/>
            <a:ext cx="285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40BE71C-9DFC-44A3-92D1-6AB2D95D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267075"/>
            <a:ext cx="285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9906FBC-66A5-47FF-822B-6578DE6E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74891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B1013C9-C6C2-4D9A-85CB-44B0F909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4891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4E26F85-8FB0-4AD6-B70A-EA652D8E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57450"/>
            <a:ext cx="285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6BC695D-3BB6-456C-8D9B-EDDE961C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67075"/>
            <a:ext cx="285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27E2D43-9834-42B4-B494-43CAFE6D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84988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B001F4B-EB73-4BC6-9CCA-D505C414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4988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D1D30C9-0B3E-4C0A-AE84-3C07D732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457450"/>
            <a:ext cx="285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6D6604E-5696-4A0F-9971-DB63EB23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267075"/>
            <a:ext cx="285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3ADDE2C-EBDD-455A-9676-F09C9729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95084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CD4287B-3297-4879-BB8B-5B9FE53D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95084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C25C0E5-0E66-4E7A-840E-D4ACA110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457450"/>
            <a:ext cx="285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4117926-FCDC-4057-A8D0-37FBA677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267075"/>
            <a:ext cx="285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06C00EF-2788-474E-83B7-B0B33424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05181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B9671BA-DA25-4E91-9A5C-21E2E927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05181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6A07E9A-85A4-4B8E-A343-27860BED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457450"/>
            <a:ext cx="285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FFD744C-E317-479A-A880-B96691D4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267075"/>
            <a:ext cx="285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B3D0F9E-1A12-424A-85F6-87B29BE1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1527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98B89B2-C21C-411E-84EC-171F9C37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152775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CBE07E9-6A93-49B4-AE52-984F7309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457450"/>
            <a:ext cx="285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BB03888-9A17-4529-BF16-FC37F7B5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267075"/>
            <a:ext cx="285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08A73CB-394E-4F6B-BAB2-11ED0DD9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00325"/>
            <a:ext cx="1047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Host I/O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05201F3-A571-4B50-A1A8-8C1060FC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924175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257BE3E-B57E-45F4-A01C-418E10F6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24175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43EBBAE-A69E-461A-920D-B0E44F47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924175"/>
            <a:ext cx="18097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D6CBBEF-B3E0-47E9-A081-CF60665B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419475"/>
            <a:ext cx="16097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2A7A313-2A0E-425B-8F17-84192252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571875"/>
            <a:ext cx="16097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88CEC79-0E15-41A0-A06C-52A59D10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576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DMA / 地址映射 / 队列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0B7FA62-24E9-4853-87E2-0C3D65D0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8132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27C600C-991B-487A-9224-7150366F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670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DD908CA-E086-4A7E-81F1-0F24B831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400300"/>
            <a:ext cx="1238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378C513-6D89-460C-A437-1D1A8799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5146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FCD06FA-6B70-434F-B234-4FAE9686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5146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5AED423-D0F2-4E75-B57B-D9AB6F8F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324100"/>
            <a:ext cx="285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6EFBB41-B667-47DC-A02C-593B0195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467100"/>
            <a:ext cx="285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CC0E4E9-7DA3-4166-A65F-5E9932FF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68224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C3D9899-8B8A-4784-986A-9EFA4D51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68224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BCEC717-63DA-45D0-B9DE-BD13020F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7980" y="2324100"/>
            <a:ext cx="285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10CC0FF-A20A-44DA-A3A4-EE51BD60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7980" y="3467100"/>
            <a:ext cx="285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F07481A-9896-4643-A66B-392A67E1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84988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DE549D1-4669-4A07-9A8E-6B4BCDE0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84988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9E2B492-2225-47A5-A85E-A78C43C1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9910" y="2324100"/>
            <a:ext cx="285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8F6612E-2138-478A-9763-E81F2BC5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9910" y="3467100"/>
            <a:ext cx="285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28346F0-C1C3-4EA2-BA4D-FB841986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01752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3C23C77-FD8E-41F2-BF74-EABF0ADF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01752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B904448-0847-4821-A50B-9AEB1D2F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1840" y="2324100"/>
            <a:ext cx="285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102CAD3-99B5-46CA-8F09-88926DA4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1840" y="3467100"/>
            <a:ext cx="285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4F93692-4357-4691-8D21-68E6DFB9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18516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17E5FA0-F61D-4B48-85EF-7CC3D8F9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18516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3BF8FCC-677D-4C17-98CE-C6F4AD3B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3770" y="2324100"/>
            <a:ext cx="285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9501E3C-E327-468C-974F-79664A49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3770" y="3467100"/>
            <a:ext cx="285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2E0E71E-60E9-4C0F-9F93-462A924C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3528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B8912A4-0BC9-4100-998A-01FB10E8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352800"/>
            <a:ext cx="76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4730883-A18E-4C3B-BD22-83D4183E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324100"/>
            <a:ext cx="285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ED8F317-A1DD-4C03-AC70-7DD8E297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467100"/>
            <a:ext cx="285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7495C15-2374-4772-BA24-A789A7FC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466975"/>
            <a:ext cx="1104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GPU / NPU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6CDE5DD-5A72-4708-A29F-17E4A48A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78130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C5FD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0D863AD-1F30-4413-A9B5-A5F08FA9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278130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C5FD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1BBC2A1-6BA6-43E3-A5A5-8987A8AC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2781300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C5FD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86C2B9A-A631-4467-8B8B-4D656184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3038475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C5FD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CDC5157-3E15-4BA2-8D6D-95BFA09B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3038475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C5FD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DB321F0-31B1-43DE-A8B9-6592B155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3275" y="3038475"/>
            <a:ext cx="20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C5FD"/>
          </a:solidFill>
          <a:ln xmlns:a="http://schemas.openxmlformats.org/drawingml/2006/main" w="9525">
            <a:solidFill>
              <a:srgbClr val="93C5FD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30413A9-E4A8-4C0A-9113-F36E52E7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7433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减少等待，及时开始计算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6949D37-72F4-4C81-A359-12E0791E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190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逻辑 KV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84EF807-4CBD-49F4-A6D8-3C82C7D4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5767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099D797-59C5-4362-901F-206B075C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67200"/>
            <a:ext cx="190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物理布局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984BEF4-6E73-47BD-90A5-4C7DC015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25767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DF01666-E53C-4CD8-BDB1-CA265A38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67200"/>
            <a:ext cx="190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物理介质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87B01258-B754-4C52-950E-4E32A1D8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5767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A1AC7EE-7D03-4079-B244-552DE577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67200"/>
            <a:ext cx="190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数据路径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94237295-1395-4933-9940-AD83FF29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25767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0D01B976-2AE0-434A-843A-1D0A1AF0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267200"/>
            <a:ext cx="1905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计算消费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1CCCE157-5D5C-45F4-9929-081E0C1E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57725"/>
            <a:ext cx="1127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物理开销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2CA29C04-BFCD-4D3B-9215-47B399CD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91100"/>
            <a:ext cx="1127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查询与提交次数      ·      实际搬运字节      ·      有效带宽与通道竞争      ·      首层等待与计算停顿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5D0ADE5-42B7-46CB-A90A-C0623AF8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73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响应速度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847B94E9-4B40-4EE3-BF53-C3265FCE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365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减少关键路径等待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49292FB7-78AE-419E-9B10-5FF64388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57900"/>
            <a:ext cx="365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TTFT / TPOT / P99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2BDF523B-EBD1-4C6A-956E-EACCE72E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673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服务能力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56F6E707-A361-4E07-9DCE-D0490DC6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772150"/>
            <a:ext cx="365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复用计算、释放有效容量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BE03CFFE-E6D3-4D9B-A2D7-FD1B10F9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057900"/>
            <a:ext cx="365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有效 QPS / 可承载上下文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822B9976-A45E-4EC9-916A-084CE664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467350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资源效率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917E80EB-8FA7-40EC-BB81-F12D18C1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772150"/>
            <a:ext cx="365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减少重算与无效搬运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3490B3BA-9A53-43A7-8783-85D05A99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057900"/>
            <a:ext cx="365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算力 / 内存 / 互联成本</a:t>
            </a:r>
          </a:p>
        </p:txBody>
      </p:sp>
    </p:spTree>
    <p:extLst>
      <p:ext uri="{BB962C8B-B14F-4D97-AF65-F5344CB8AC3E}">
        <p14:creationId xmlns:p14="http://schemas.microsoft.com/office/powerpoint/2010/main" val="7341205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7D062A4-283A-46F0-B665-870391800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B2305-3708-431C-B72B-10E48CA8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技术探索方向：布局开销与控制面吞吐的收益传导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519FC0-F969-49B0-917E-28CD50CA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287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KVC 工作汇报 · 2026-10-15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CFD1E0-B546-42C4-B973-5D499DDA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0B669-C019-4505-9506-F9D5AC6D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42975"/>
            <a:ext cx="5486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数据面：同量 KV，不同布局带来不同的提交与等待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A94E39-40B0-4FD8-929B-9517D661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942975"/>
            <a:ext cx="5486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控制面：微秒级开销怎样影响吞吐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C894F6-0A97-4D0F-B1BE-A7229DA8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66825"/>
            <a:ext cx="548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按计算布局逐片搬运：同一前缀跨层离散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0A6CC4-69FF-4F66-B3EA-0B065944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2575"/>
            <a:ext cx="4667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B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3078B0-AD4D-4021-936D-097CB915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2575"/>
            <a:ext cx="466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A0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DC6EE4-A2B0-412B-A107-BD53E666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52575"/>
            <a:ext cx="4667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973D39-2EC4-49D4-B7A5-65D58087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52575"/>
            <a:ext cx="466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B0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96A05D-28A3-4547-8362-492CDF8C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552575"/>
            <a:ext cx="4667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B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4AF941-125C-47EF-83C2-5BDC1662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552575"/>
            <a:ext cx="466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A1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02517D-BF8D-480A-9BF7-EDA78484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1552575"/>
            <a:ext cx="4667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AE0975-7322-45FE-800A-805DC7FD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1552575"/>
            <a:ext cx="466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B1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0240C6-CF1A-40D8-8B97-F3653573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552575"/>
            <a:ext cx="4667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B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BAFE09-9BA8-434F-9B34-B924FA6A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552575"/>
            <a:ext cx="466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A2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03464C-F587-4B7E-805C-888FE5CB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552575"/>
            <a:ext cx="4667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81CFD-88F1-4E74-AE10-29B27923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552575"/>
            <a:ext cx="466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B2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AC6363-3228-4667-9FD2-87225013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1562100"/>
            <a:ext cx="2028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A：待恢复 KV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EBDEB8-E5A2-4410-826C-D6BE8C31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95475"/>
            <a:ext cx="3333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FB4F74-6593-4063-B606-765E737AF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95475"/>
            <a:ext cx="8096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117C9E-A03A-4916-8A31-D133F160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971675"/>
            <a:ext cx="238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C43ADA-2A45-4D5D-953C-865CE26F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1895475"/>
            <a:ext cx="3333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3F210B-F938-4B34-8674-BFEC6FE9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895475"/>
            <a:ext cx="8096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7381BF-BC9E-435C-8772-1CBA464C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971675"/>
            <a:ext cx="238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7F41DF-87B2-4153-83E0-E3055103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895475"/>
            <a:ext cx="3333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42A1F3-688B-4D9F-B18C-9B7F0CEF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895475"/>
            <a:ext cx="8096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848457-B19A-49C1-BA03-0E3F3C9F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7642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恢复就绪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7D91EC-83BB-4C82-BADD-85EE5628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28850"/>
            <a:ext cx="548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按页聚合后批量搬运：同一前缀连续组织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E655D3-00C0-4F4E-A57B-31EB9A0C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4667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B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0B5745-B574-4572-90F1-CA664647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466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A0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3AA470-8D9B-4FC9-ABE5-E16F160E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514600"/>
            <a:ext cx="4667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B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62BE5B-7F03-40A1-9DDF-4AFF868F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514600"/>
            <a:ext cx="466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A1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B922DC-88A2-4BC7-864D-284C8362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14600"/>
            <a:ext cx="4667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B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E576AD-9BA3-4841-A58C-9E6495D8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14600"/>
            <a:ext cx="466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A2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EB7E79-66C4-47E0-B1DE-2CFD04FC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5336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↓ 连续块 / 批量提交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1A48D4-14BD-4F88-931C-869E1F93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67025"/>
            <a:ext cx="3333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CF2D33-8753-40F2-9E90-E99874FC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67025"/>
            <a:ext cx="24288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98253D-6DFA-4730-8F8A-AC0AEB43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47975"/>
            <a:ext cx="1028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恢复就绪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2C100A-2660-4F7C-992F-BA299EFE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33725"/>
            <a:ext cx="548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橙：提交；蓝：等量 KV 搬运；间隙：等待。机制示意，非实测时间轴。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ADC8CC5-A8D7-4175-ACA8-CC99C54E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81375"/>
            <a:ext cx="5486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离散搬运增加提交与等待，聚合搬运减少这部分开销；</a:t>
            </a:r>
          </a:p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净收益还需扣除布局转换成本，才能判断 TTFT 的实际改善。</a:t>
            </a:r>
          </a:p>
        </p:txBody>
      </p:sp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81B4EC-F6EB-4475-B510-3E566429DC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ca17f6b22545bd"/>
          <a:srcRect xmlns:a="http://schemas.openxmlformats.org/drawingml/2006/main" l="0" t="0" r="0" b="13930"/>
          <a:stretch xmlns:a="http://schemas.openxmlformats.org/drawingml/2006/main"/>
        </p:blipFill>
        <p:spPr>
          <a:xfrm xmlns:a="http://schemas.openxmlformats.org/drawingml/2006/main">
            <a:off x="6248400" y="1228725"/>
            <a:ext cx="5486400" cy="1562100"/>
          </a:xfrm>
          <a:prstGeom xmlns:a="http://schemas.openxmlformats.org/drawingml/2006/main" prst="rect">
            <a:avLst/>
          </a:prstGeom>
        </p:spPr>
      </p:pic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810446-51FD-414A-BDC5-31F8EAF5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76550"/>
            <a:ext cx="548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Beluga · Fig.14：64 B 控制事务微基准，并非完整目录查询（外部论文）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E0B1786-2E40-4BF1-ACCC-C3B6AAFB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43250"/>
            <a:ext cx="5486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每次控制事务快几微秒 → 同等并发下，控制吞吐提高。</a:t>
            </a:r>
          </a:p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控制面是瓶颈时 → 排队减少 → P99 TTFT / 有效 QPS 改善。</a:t>
            </a:r>
          </a:p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实际增益还取决于每请求控制次数、算力与 KV 加载瓶颈。</a:t>
            </a:r>
          </a:p>
        </p:txBody>
      </p:sp>
      <p:graphicFrame>
        <p:nvGraphicFrame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1E572A0-5FF0-4641-B03F-CDFE7A85ECB1}"/>
              </a:ext>
            </a:extLst>
          </p:cNvPr>
          <p:cNvGraphicFramePr/>
          <p:nvPr/>
        </p:nvGraphicFramePr>
        <p:xfrm>
          <a:off xmlns:a="http://schemas.openxmlformats.org/drawingml/2006/main" x="457200" y="3810000"/>
          <a:ext xmlns:a="http://schemas.openxmlformats.org/drawingml/2006/main" cx="112776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66850"/>
                <a:gridCol w="2514600"/>
                <a:gridCol w="2066925"/>
                <a:gridCol w="3038475"/>
                <a:gridCol w="2190750"/>
              </a:tblGrid>
              <a:tr h="419100"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优化方向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软件 / 硬件机制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收益场景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微观变化与收益传导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收益指标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</a:tr>
              <a:tr h="419100"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元数据快路径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与稳定描述符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共享内存检索、批量查询；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复用注册信息和地址描述符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高复用且加载快；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查询服务接近饱和的高并发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查询往返、注册和处理开销减少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→ 同步等待与控制面排队减少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缩短 TTFT、P99 TTFT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提高有效 QPS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布局转换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与批量搬运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 / 传输布局解耦；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连续块聚合、批量 DMA 提交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长前缀恢复；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KV 碎片多、小传输密集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 I/O、描述符和提交次数减少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→ 有效带宽提高，加载等待缩短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缩短 TTFT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提高有效 QPS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419100"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放置策略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与多通道利用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分层放置、亲和分配与带宽分片；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拓扑感知选路、通道负载均衡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多内存通道、多网卡；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链路负载不均或容量受限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跨域访问和热点通道排队减少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→ 可用容量与聚合带宽更充分利用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缩短 TTFT、尾时延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提高有效 QPS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按需直达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与按层流水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 DMA 减少主机中转；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按需访问、预取与计算重叠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 KV 恢复；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生成中需要逐层召回的场景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中转、无效搬运和首层等待减少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→ 数据等待与计算停顿减少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缩短 TTFT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逐层召回场景改善 TPOT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419100"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动态选路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与前后台控制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加载 / 重算成本比较；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优先级队列、限速与退避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低复用、拥塞链路；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前台推理与后台搬运混压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不划算的拉取与共享资源竞争减少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→ 请求等待和生成干扰降低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28575" rIns="114300" bIns="28575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改善 TTFT、TPOT 与 P99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提高有效 QPS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37090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C1C218-C0F6-4232-A2FD-D36765C0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9525">
            <a:solidFill>
              <a:srgbClr val="1E3A8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D49B66-F2DB-48CF-BEC0-5D4DCF82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下一步工作安排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700A8-EC56-4253-AAD8-8309767A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287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KVC 工作汇报 · 2026-10-15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CF5F36-6A47-47AE-A3CC-EA60BAC0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57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EAF0EF-381B-43D7-8FB4-11FF3FF2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23925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推进现有控制面、数据面原型测试，并把发现的物理瓶颈整理为软硬协同研究课题。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CE9FD2-1AC2-4EB9-AFB1-80CAFD354A42}"/>
              </a:ext>
            </a:extLst>
          </p:cNvPr>
          <p:cNvGraphicFramePr/>
          <p:nvPr/>
        </p:nvGraphicFramePr>
        <p:xfrm>
          <a:off xmlns:a="http://schemas.openxmlformats.org/drawingml/2006/main" x="457200" y="1333500"/>
          <a:ext xmlns:a="http://schemas.openxmlformats.org/drawingml/2006/main" cx="11277600" cy="3028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4524375"/>
                <a:gridCol w="2238375"/>
                <a:gridCol w="2895600"/>
              </a:tblGrid>
              <a:tr h="60579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工作方向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近期工作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重点工况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观察指标与交付</a:t>
                      </a:r>
                    </a:p>
                  </a:txBody>
                  <a:tcPr marL="91440" marR="91440" marT="45720" marB="45720" anchor="ctr">
                    <a:solidFill>
                      <a:srgbClr val="1E3A8A"/>
                    </a:solidFill>
                  </a:tcPr>
                </a:tc>
              </a:tr>
              <a:tr h="60579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控制面优化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复核检索基线与统计口径；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补充查询、注册、提交和排队的耗时分解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低载、高复用快加载；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控制服务接近饱和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 / 提交开销、TTFT、P99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检索对照与在线影响分析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数据面优化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比较业务块粒度、连续程度和提交方式；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对照直达、中转与按层流水的实际开销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长前缀、碎片化 KV；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多通道与逐层召回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搬运字节、有效带宽、首层等待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加载分解及 TTFT / TPOT 对照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  <a:tr h="60579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组合与混压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在代表工况组合有效机制；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记录前台推理与后台搬运的实际通路和资源使用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正常 / 拥塞网络；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纯前台与固定后台负载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TTFT、TPOT、有效 QPS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后台进度及资源代价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软硬协同研究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按表示、放置、访问和执行梳理瓶颈；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评估布局转换、稳定描述符、拓扑与队列能力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依托现有设备和原型；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对应具体访问粒度与消费方式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 lIns="114300" tIns="57150" rIns="114300" bIns="57150">
                      <a:noAutofit/>
                    </a:bodyPr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机制—物理开销—业务指标映射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共性能力清单与候选课题</a:t>
                      </a:r>
                    </a:p>
                  </a:txBody>
                  <a:tcPr marL="91440" marR="91440" marT="45720" marB="4572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D9C9BC-A1E4-4FE6-A24A-7E1594FC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29150"/>
            <a:ext cx="1127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三周推进安排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4A2302-8540-42A0-8809-A4875CE0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第 1 周：基线与瓶颈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08D757-9F85-4B00-A0D6-AB643564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76875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统一比较条件，复核检索与通信记录；</a:t>
            </a:r>
          </a:p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测清查询、提交、搬运和同步分别耗时多少。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929136-9265-4E0E-A241-843FD026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09587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第 2 周：单项与场景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E9B313-940E-484F-A3A3-4E2604F7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76875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分别切换优化机制，测试代表场景；</a:t>
            </a:r>
          </a:p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把物理开销变化与请求时延、吞吐对应起来。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0F959A-A790-4644-BFCE-8EFCDE31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9587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第 3 周：组合与汇总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DE137D-27E1-4492-8C21-4FF0A27F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476875"/>
            <a:ext cx="365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复测重点结果，补充组合和混压对照；</a:t>
            </a:r>
          </a:p>
          <a:p xmlns:a="http://schemas.openxmlformats.org/drawingml/2006/main">
            <a:pPr algn="l">
              <a:def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汇总收益场景、资源代价、问题和研究线索。</a:t>
            </a:r>
          </a:p>
        </p:txBody>
      </p:sp>
    </p:spTree>
    <p:extLst>
      <p:ext uri="{BB962C8B-B14F-4D97-AF65-F5344CB8AC3E}">
        <p14:creationId xmlns:p14="http://schemas.microsoft.com/office/powerpoint/2010/main" val="13980609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2026-10-13T13:22:40.1400000Z</dcterms:created>
  <dcterms:modified xsi:type="dcterms:W3CDTF">2026-10-13T13:22:40.1400000Z</dcterms:modified>
</coreProperties>
</file>