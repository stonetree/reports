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08c0b7690e4e32" /><Relationship Type="http://schemas.openxmlformats.org/officeDocument/2006/relationships/extended-properties" Target="/docProps/app.xml" Id="Rab8fcd3afaa4415b" /><Relationship Type="http://schemas.openxmlformats.org/officeDocument/2006/relationships/officeDocument" Target="/ppt/presentation.xml" Id="R5b9b01a7d47646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374673f9bf4327"/>
  </p:sldMasterIdLst>
  <p:notesMasterIdLst>
    <p:notesMasterId xmlns:r="http://schemas.openxmlformats.org/officeDocument/2006/relationships" r:id="Rb6bb6648d2eb495c"/>
  </p:notesMasterIdLst>
  <p:sldIdLst>
    <p:sldId xmlns:r="http://schemas.openxmlformats.org/officeDocument/2006/relationships" id="256" r:id="Rf323a9940fc74d1a"/>
    <p:sldId xmlns:r="http://schemas.openxmlformats.org/officeDocument/2006/relationships" id="257" r:id="Rb3f0c19c1f6e430e"/>
    <p:sldId xmlns:r="http://schemas.openxmlformats.org/officeDocument/2006/relationships" id="258" r:id="Rb91f0117d17e41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900257f1174c45" /><Relationship Type="http://schemas.openxmlformats.org/officeDocument/2006/relationships/slideMaster" Target="/ppt/slideMasters/slideMaster1.xml" Id="R9e374673f9bf4327" /><Relationship Type="http://schemas.openxmlformats.org/officeDocument/2006/relationships/notesMaster" Target="/ppt/notesMasters/notesMaster1.xml" Id="Rb6bb6648d2eb495c" /><Relationship Type="http://schemas.openxmlformats.org/officeDocument/2006/relationships/presProps" Target="/ppt/presProps.xml" Id="Re1970a354dc3420a" /><Relationship Type="http://schemas.openxmlformats.org/officeDocument/2006/relationships/tableStyles" Target="/ppt/tableStyles.xml" Id="R7bf5240f54f0428b" /><Relationship Type="http://schemas.openxmlformats.org/officeDocument/2006/relationships/slide" Target="/ppt/slides/slide1.xml" Id="Rf323a9940fc74d1a" /><Relationship Type="http://schemas.openxmlformats.org/officeDocument/2006/relationships/slide" Target="/ppt/slides/slide2.xml" Id="Rb3f0c19c1f6e430e" /><Relationship Type="http://schemas.openxmlformats.org/officeDocument/2006/relationships/slide" Target="/ppt/slides/slide3.xml" Id="Rb91f0117d17e41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2fdb679c2d4b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c7d22a344e4666" /><Relationship Type="http://schemas.openxmlformats.org/officeDocument/2006/relationships/notesMaster" Target="/ppt/notesMasters/notesMaster1.xml" Id="R099a131638014c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b68c382e144883" /><Relationship Type="http://schemas.openxmlformats.org/officeDocument/2006/relationships/notesMaster" Target="/ppt/notesMasters/notesMaster1.xml" Id="Ree46cda1dc9641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369e8654ba49c0" /><Relationship Type="http://schemas.openxmlformats.org/officeDocument/2006/relationships/notesMaster" Target="/ppt/notesMasters/notesMaster1.xml" Id="Rcc4a4e8203864e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按最近讨论的递进关系说明KVC的软硬协同价值。逻辑KV需要先表示为物理布局，再放置到特定介质，经过实际访问路径，最后被计算使用。每个转换环节都可能改变业务性能：布局影响小传输、描述符和有效带宽；介质放置影响工作集容量、通道利用和换入换出；访问方式影响搬运字节、中转和总线竞争；执行衔接影响首层就绪、计算停顿和前后台干扰。收益成立依赖相应开销确实进入关键路径或限制系统容量，不能简单把带宽改善比例等同首字时延改善。Host是主机侧，SoC是片上系统；DMA为设备直接内存访问，NUMA为不同处理器访问内存代价不同的组织方式，CXL为支持内存语义的互联。TTFT是首字响应时间，TPOT是每个输出Token耗时，有效QPS是满足服务目标的每秒完成请求数。</a:t>
            </a:r>
          </a:p>
          <a:p xmlns:a="http://schemas.openxmlformats.org/drawingml/2006/main">
            <a:r>
              <a:t>内容依据：D:/codes/reports/kvcache/unified_kv_memory/讨论稿/KVC 软硬结合研究方向.md；KVC 软硬结合研究路径 2.md；ChatGPT对话“KVC底层优化价值”（6ac856aa-d94c-83e8-a0dc-6db23cb47568）；V10关键技术汇报。讨论材料用于研究框架，不作为已完成成果。</a:t>
            </a:r>
          </a:p>
          <a:p xmlns:a="http://schemas.openxmlformats.org/drawingml/2006/main">
            <a:r>
              <a:t>Strata: Hierarchical Context Caching for Long Context Language Model Serving，OSDI 2026，https://www.usenix.org/conference/osdi26/presentation/xie-zhiqiang ；Bidaw: Enhancing Key-Value Caching for Interactive LLM Serving via Bidirectional Computation–Storage Awareness，FAST 2026，https://www.usenix.org/conference/fast26/presentation/hu-shipeng ；DualPath: Accelerating Agentic LLM Inference by Harvesting Disaggregated KV-Cache Storage I/O，SIGCOMM 2026，https://conferences.sigcomm.org/sigcomm/2026/program/papers/ 。官方页面机制信息于本次汇报修订过程中核对，外部论文数字未移作本项目结果。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左侧恢复Strata Fig.6完整原图。GPU按层组织KV，符合逐层计算；如果Host和磁盘沿用相同布局，单个上下文的跨层数据会分散，读取会成为多笔小I/O。Strata将Host/磁盘布局改为page-first，通过GPU辅助I/O保持GPU端原有布局，避免要求计算侧也采用传输布局。旁边两幅可编辑图来自原论文Fig.13与§5.3.5，全部数据按原值保留：平均TTFT为5.03秒和2.42秒，生成吞吐为27.43和36.41 Token/s。实验是DeepSeek-V3、8张H20、page size 32、请求到达率12 req/s的磁盘缓存工况；对应平均TTFT约2.1倍改善、输出Token吞吐约1.3倍提高。它说明布局解耦可转化为端到端收益，不能推广为所有Host-GPU传输或本项目已经取得的结果。原图见本地Strata PDF第13页Fig.13、Fig.6与§4.2.1。右侧仍是Beluga Fig.14的64B RPC微基准。相同平均在途并发C下，控制事务时间L缩短可提高事务完成率C/L；当控制面成为瓶颈且每请求控制次数相近，才可能减少排队并改善P99 TTFT和有效QPS。RPC往返时间不是串行CPU服务时间，计算与KV加载也可能先限制系统收益。</a:t>
            </a:r>
          </a:p>
          <a:p xmlns:a="http://schemas.openxmlformats.org/drawingml/2006/main">
            <a:r>
              <a:t>内容依据：D:/codes/reports/kvcache/unified_kv_memory/讨论稿/KVC 软硬结合研究方向.md；KVC 软硬结合研究路径 2.md；ChatGPT对话“KVC底层优化价值”（6ac856aa-d94c-83e8-a0dc-6db23cb47568）；V10关键技术汇报。讨论材料用于研究框架，不作为已完成成果。</a:t>
            </a:r>
          </a:p>
          <a:p xmlns:a="http://schemas.openxmlformats.org/drawingml/2006/main">
            <a:r>
              <a:t>Strata: Hierarchical Context Caching for Long Context Language Model Serving，OSDI 2026，https://www.usenix.org/conference/osdi26/presentation/xie-zhiqiang ；Bidaw: Enhancing Key-Value Caching for Interactive LLM Serving via Bidirectional Computation–Storage Awareness，FAST 2026，https://www.usenix.org/conference/fast26/presentation/hu-shipeng ；DualPath: Accelerating Agentic LLM Inference by Harvesting Disaggregated KV-Cache Storage I/O，SIGCOMM 2026，https://conferences.sigcomm.org/sigcomm/2026/program/papers/ 。官方页面机制信息于本次汇报修订过程中核对，外部论文数字未移作本项目结果。</a:t>
            </a:r>
          </a:p>
          <a:p xmlns:a="http://schemas.openxmlformats.org/drawingml/2006/main">
            <a:r>
              <a:t>本版第一页恢复V05表格；第二页Strata Fig.6使用未修改的原始图文件，Fig.13按原值重绘为两幅原生图表，实验条件与外部结果属性均在页内标注。右侧Beluga Fig.14原始图仅裁去重复图注。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续工作仍是定期进展汇报的安排，不设置阶段审批或开发门禁。控制面补齐检索、注册、提交与排队分解，并对照低载和高并发场景；数据面比较块粒度、连续性、设备路径及流水，观察加载等待和逐层召回停顿；组合与混压测试同时看前台指标、后台进度和资源代价。软硬研究使用第一页的递进关系，把反复出现的瓶颈对应到布局转换、稳定描述符、地址与拓扑、队列和完成通知等能力。以现有设备和原型为起点，分清软件参数调整、已有硬件能力利用，以及真正需要进一步体系结构研究的问题。三周保持第一周基线与瓶颈、第二周单项与场景、第三周组合与汇总的推进节奏，形成可解释的数据图表与课题线索。</a:t>
            </a:r>
          </a:p>
          <a:p xmlns:a="http://schemas.openxmlformats.org/drawingml/2006/main">
            <a:r>
              <a:t>内容依据：D:/codes/reports/kvcache/unified_kv_memory/讨论稿/KVC 软硬结合研究方向.md；KVC 软硬结合研究路径 2.md；ChatGPT对话“KVC底层优化价值”（6ac856aa-d94c-83e8-a0dc-6db23cb47568）；V10关键技术汇报。讨论材料用于研究框架，不作为已完成成果。</a:t>
            </a:r>
          </a:p>
          <a:p xmlns:a="http://schemas.openxmlformats.org/drawingml/2006/main">
            <a:r>
              <a:t>Strata: Hierarchical Context Caching for Long Context Language Model Serving，OSDI 2026，https://www.usenix.org/conference/osdi26/presentation/xie-zhiqiang ；Bidaw: Enhancing Key-Value Caching for Interactive LLM Serving via Bidirectional Computation–Storage Awareness，FAST 2026，https://www.usenix.org/conference/fast26/presentation/hu-shipeng ；DualPath: Accelerating Agentic LLM Inference by Harvesting Disaggregated KV-Cache Storage I/O，SIGCOMM 2026，https://conferences.sigcomm.org/sigcomm/2026/program/papers/ 。官方页面机制信息于本次汇报修订过程中核对，外部论文数字未移作本项目结果。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6f68be5864a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678563ef0142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29a7476cf047d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97420b0adb4c5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dfcf6a835e4fc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fc6ba6871346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9DA554-D9FE-4E1D-B90C-05DD139791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8BB9502-F6D0-44BA-A789-8E3BBBB004F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05B572C-3AF5-45C0-8611-19E6D0BC95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463295-B27D-4E26-986A-45C232BFB5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EF9BC7C-61AB-4087-8929-0C25DC2CCA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1A2FC4-B247-4564-B516-4E87EBAEC6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C9DCC1-E971-474F-9FDF-96DF29C15E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35BBD76-2B16-4CB3-BB0C-70AF3804860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32FA34-F5F3-4808-A323-0E55CCCA47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1879F6-1A58-4A49-82E5-6C729A99FC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d4ff00d13449b0" /><Relationship Type="http://schemas.openxmlformats.org/officeDocument/2006/relationships/slideLayout" Target="/ppt/slideLayouts/slideLayout1.xml" Id="R134d33720cc64498" /><Relationship Type="http://schemas.openxmlformats.org/officeDocument/2006/relationships/slideLayout" Target="/ppt/slideLayouts/slideLayout2.xml" Id="R021e0bf1ce664934" /><Relationship Type="http://schemas.openxmlformats.org/officeDocument/2006/relationships/slideLayout" Target="/ppt/slideLayouts/slideLayout3.xml" Id="Re1f3951c31f94128" /><Relationship Type="http://schemas.openxmlformats.org/officeDocument/2006/relationships/slideLayout" Target="/ppt/slideLayouts/slideLayout4.xml" Id="R860d7cb008e14fb4" /><Relationship Type="http://schemas.openxmlformats.org/officeDocument/2006/relationships/slideLayout" Target="/ppt/slideLayouts/slideLayout5.xml" Id="Rd85aaf996c4e4372" /><Relationship Type="http://schemas.openxmlformats.org/officeDocument/2006/relationships/slideLayout" Target="/ppt/slideLayouts/slideLayout6.xml" Id="Ra146675140fe40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4d33720cc64498"/>
    <p:sldLayoutId xmlns:r="http://schemas.openxmlformats.org/officeDocument/2006/relationships" id="2147483650" r:id="R021e0bf1ce664934"/>
    <p:sldLayoutId xmlns:r="http://schemas.openxmlformats.org/officeDocument/2006/relationships" id="2147483651" r:id="Re1f3951c31f94128"/>
    <p:sldLayoutId xmlns:r="http://schemas.openxmlformats.org/officeDocument/2006/relationships" id="2147483652" r:id="R860d7cb008e14fb4"/>
    <p:sldLayoutId xmlns:r="http://schemas.openxmlformats.org/officeDocument/2006/relationships" id="2147483653" r:id="Rd85aaf996c4e4372"/>
    <p:sldLayoutId xmlns:r="http://schemas.openxmlformats.org/officeDocument/2006/relationships" id="2147483654" r:id="Ra146675140fe40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ba54e6a0b242a7" /><Relationship Type="http://schemas.openxmlformats.org/officeDocument/2006/relationships/notesSlide" Target="/ppt/notesSlides/notesSlide1.xml" Id="R35bff9a8cc9e42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6b8e1cb3894596" /><Relationship Type="http://schemas.openxmlformats.org/officeDocument/2006/relationships/image" Target="/ppt/media/image.png" Id="Reb6539cd72f94ddd" /><Relationship Type="http://schemas.openxmlformats.org/officeDocument/2006/relationships/chart" Target="/ppt/slides/charts/chart1.xml" Id="R13ae3fe2baa74d85" /><Relationship Type="http://schemas.openxmlformats.org/officeDocument/2006/relationships/chart" Target="/ppt/slides/charts/chart2.xml" Id="R443c7eee1d3c4f33" /><Relationship Type="http://schemas.openxmlformats.org/officeDocument/2006/relationships/image" Target="/ppt/media/image2.png" Id="R559377645d364f52" /><Relationship Type="http://schemas.openxmlformats.org/officeDocument/2006/relationships/notesSlide" Target="/ppt/notesSlides/notesSlide2.xml" Id="Ra31ea1134b1348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40b33ea7754d6d" /><Relationship Type="http://schemas.openxmlformats.org/officeDocument/2006/relationships/notesSlide" Target="/ppt/notesSlides/notesSlide3.xml" Id="R80b4b330c0fc4fe2" /></Relationships>
</file>

<file path=ppt/slides/charts/chart1.xml><?xml version="1.0" encoding="utf-8"?>
<ns0:chartSpace xmlns:ns0="http://schemas.openxmlformats.org/drawingml/2006/chart" xmlns:ns1="http://schemas.openxmlformats.org/drawingml/2006/main">
  <ns0:lang val="en-US"/>
  <ns0:chart>
    <ns0:plotArea>
      <ns0:barChart>
        <ns0:barDir val="bar"/>
        <ns0:grouping val="clustered"/>
        <ns0:varyColors val="0"/>
        <ns0:ser>
          <ns0:idx val="0"/>
          <ns0:order val="0"/>
          <ns0:tx>
            <ns0:v>平均 TTFT / s ↓</ns0:v>
          </ns0:tx>
          <ns0:spPr>
            <ns1:solidFill>
              <ns1:srgbClr val="1F77B4"/>
            </ns1:solidFill>
          </ns0:spPr>
          <ns0:dPt>
            <ns0:idx val="0"/>
            <ns0:invertIfNegative val="0"/>
            <ns0:spPr>
              <ns1:solidFill>
                <ns1:srgbClr val="FF7F0E"/>
              </ns1:solidFill>
            </ns0:spPr>
          </ns0:dPt>
          <ns0:dPt>
            <ns0:idx val="1"/>
            <ns0:invertIfNegative val="0"/>
            <ns0:spPr>
              <ns1:solidFill>
                <ns1:srgbClr val="1F77B4"/>
              </ns1:solidFill>
            </ns0:spPr>
          </ns0:dPt>
          <ns0:cat>
            <ns0:strLit>
              <ns0:ptCount val="2"/>
              <ns0:pt idx="0">
                <ns0:v>按页</ns0:v>
              </ns0:pt>
              <ns0:pt idx="1">
                <ns0:v>原始</ns0:v>
              </ns0:pt>
            </ns0:strLit>
          </ns0:cat>
          <ns0:val>
            <ns0:numLit>
              <ns0:formatCode>0.00</ns0:formatCode>
              <ns0:ptCount val="2"/>
              <ns0:pt idx="0">
                <ns0:v>2.42</ns0:v>
              </ns0:pt>
              <ns0:pt idx="1">
                <ns0:v>5.03</ns0:v>
              </ns0:pt>
            </ns0:numLit>
          </ns0:val>
        </ns0:ser>
        <ns0:dLbls>
          <ns0:numFmt formatCode="0.00" sourceLinked="0"/>
          <ns0:txPr>
            <ns1:bodyPr anchorCtr="1"/>
            <ns1:lstStyle/>
            <ns1:p>
              <ns1:pPr>
                <ns1:defRPr sz="1100">
                  <ns1:solidFill>
                    <ns1:srgbClr val="FFFFFF"/>
                  </ns1:solidFill>
                  <ns1:latin typeface="Microsoft YaHei"/>
                  <ns1:ea typeface="Microsoft YaHei"/>
                  <ns1:cs typeface="Microsoft YaHei"/>
                </ns1:defRPr>
              </ns1:pPr>
            </ns1:p>
          </ns0:txPr>
          <ns0:dLblPos val="inEnd"/>
          <ns0:showLegendKey val="0"/>
          <ns0:showVal val="0"/>
          <ns0:showCatName val="0"/>
          <ns0:showSerName val="0"/>
          <ns0:showPercent val="0"/>
          <ns0:showBubbleSize val="0"/>
          <ns0:showLeaderLines val="0"/>
        </ns0:dLbls>
        <ns0:gapWidth val="55"/>
        <ns0:axId val="48650112"/>
        <ns0:axId val="48672768"/>
      </ns0:barChart>
      <ns0:catAx>
        <ns0:axId val="48650112"/>
        <ns0:scaling>
          <ns0:orientation val="minMax"/>
        </ns0:scaling>
        <ns0:delete val="0"/>
        <ns0:axPos val="l"/>
        <ns0:numFmt formatCode="General"/>
        <ns0:majorTickMark val="none"/>
        <ns0:minorTickMark val="none"/>
        <ns0:tickLblPos val="nextTo"/>
        <ns0:spPr>
          <ns1:ln w="0">
            <ns1:noFill/>
          </ns1:ln>
        </ns0:spPr>
        <ns0:txPr>
          <ns1:bodyPr anchorCtr="1"/>
          <ns1:lstStyle/>
          <ns1:p>
            <ns1:pPr>
              <ns1:defRPr sz="1100">
                <ns1:solidFill>
                  <ns1:srgbClr val="475569"/>
                </ns1:solidFill>
                <ns1:latin typeface="Microsoft YaHei"/>
                <ns1:ea typeface="Microsoft YaHei"/>
                <ns1:cs typeface="Microsoft YaHei"/>
              </ns1:defRPr>
            </ns1:pPr>
          </ns1:p>
        </ns0:txPr>
        <ns0:crossAx val="48672768"/>
        <ns0:tickLblSkip val="1"/>
      </ns0:catAx>
      <ns0:valAx>
        <ns0:axId val="48672768"/>
        <ns0:scaling>
          <ns0:orientation val="minMax"/>
          <ns0:max val="7.4"/>
          <ns0:min val="0"/>
        </ns0:scaling>
        <ns0:delete val="1"/>
        <ns0:axPos val="b"/>
        <ns0:numFmt formatCode="0.00"/>
        <ns0:majorTickMark val="none"/>
        <ns0:minorTickMark val="none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100">
                <ns1:solidFill>
                  <ns1:srgbClr val="666666"/>
                </ns1:solidFill>
                <ns1:latin typeface="Microsoft YaHei"/>
                <ns1:ea typeface="Microsoft YaHei"/>
                <ns1:cs typeface="Microsoft YaHei"/>
              </ns1:defRPr>
            </ns1:pPr>
          </ns1:p>
        </ns0:txPr>
        <ns0:crossAx val="48650112"/>
        <ns0:crossBetween val="between"/>
      </ns0:valAx>
      <ns0:spPr>
        <ns1:solidFill>
          <ns1:srgbClr val="FFFFFF"/>
        </ns1:solidFill>
        <ns1:ln w="0">
          <ns1:noFill/>
        </ns1:ln>
      </ns0:spPr>
    </ns0:plotArea>
    <ns0:plotVisOnly val="1"/>
  </ns0:chart>
  <ns0:spPr>
    <ns1:solidFill>
      <ns1:srgbClr val="FFFFFF"/>
    </ns1:solidFill>
    <ns1:ln w="0">
      <ns1:noFill/>
    </ns1:ln>
  </ns0:spPr>
</ns0:chartSpace>
</file>

<file path=ppt/slides/charts/chart2.xml><?xml version="1.0" encoding="utf-8"?>
<ns0:chartSpace xmlns:ns0="http://schemas.openxmlformats.org/drawingml/2006/chart" xmlns:ns1="http://schemas.openxmlformats.org/drawingml/2006/main">
  <ns0:lang val="en-US"/>
  <ns0:chart>
    <ns0:plotArea>
      <ns0:barChart>
        <ns0:barDir val="bar"/>
        <ns0:grouping val="clustered"/>
        <ns0:varyColors val="0"/>
        <ns0:ser>
          <ns0:idx val="0"/>
          <ns0:order val="0"/>
          <ns0:tx>
            <ns0:v>生成吞吐 / Token/s ↑</ns0:v>
          </ns0:tx>
          <ns0:spPr>
            <ns1:solidFill>
              <ns1:srgbClr val="1F77B4"/>
            </ns1:solidFill>
          </ns0:spPr>
          <ns0:dPt>
            <ns0:idx val="0"/>
            <ns0:invertIfNegative val="0"/>
            <ns0:spPr>
              <ns1:solidFill>
                <ns1:srgbClr val="FF7F0E"/>
              </ns1:solidFill>
            </ns0:spPr>
          </ns0:dPt>
          <ns0:dPt>
            <ns0:idx val="1"/>
            <ns0:invertIfNegative val="0"/>
            <ns0:spPr>
              <ns1:solidFill>
                <ns1:srgbClr val="1F77B4"/>
              </ns1:solidFill>
            </ns0:spPr>
          </ns0:dPt>
          <ns0:cat>
            <ns0:strLit>
              <ns0:ptCount val="2"/>
              <ns0:pt idx="0">
                <ns0:v>按页</ns0:v>
              </ns0:pt>
              <ns0:pt idx="1">
                <ns0:v>原始</ns0:v>
              </ns0:pt>
            </ns0:strLit>
          </ns0:cat>
          <ns0:val>
            <ns0:numLit>
              <ns0:formatCode>0.00</ns0:formatCode>
              <ns0:ptCount val="2"/>
              <ns0:pt idx="0">
                <ns0:v>36.41</ns0:v>
              </ns0:pt>
              <ns0:pt idx="1">
                <ns0:v>27.43</ns0:v>
              </ns0:pt>
            </ns0:numLit>
          </ns0:val>
        </ns0:ser>
        <ns0:dLbls>
          <ns0:numFmt formatCode="0.00" sourceLinked="0"/>
          <ns0:txPr>
            <ns1:bodyPr anchorCtr="1"/>
            <ns1:lstStyle/>
            <ns1:p>
              <ns1:pPr>
                <ns1:defRPr sz="1100">
                  <ns1:solidFill>
                    <ns1:srgbClr val="FFFFFF"/>
                  </ns1:solidFill>
                  <ns1:latin typeface="Microsoft YaHei"/>
                  <ns1:ea typeface="Microsoft YaHei"/>
                  <ns1:cs typeface="Microsoft YaHei"/>
                </ns1:defRPr>
              </ns1:pPr>
            </ns1:p>
          </ns0:txPr>
          <ns0:dLblPos val="inEnd"/>
          <ns0:showLegendKey val="0"/>
          <ns0:showVal val="0"/>
          <ns0:showCatName val="0"/>
          <ns0:showSerName val="0"/>
          <ns0:showPercent val="0"/>
          <ns0:showBubbleSize val="0"/>
          <ns0:showLeaderLines val="0"/>
        </ns0:dLbls>
        <ns0:gapWidth val="55"/>
        <ns0:axId val="48650112"/>
        <ns0:axId val="48672768"/>
      </ns0:barChart>
      <ns0:catAx>
        <ns0:axId val="48650112"/>
        <ns0:scaling>
          <ns0:orientation val="minMax"/>
        </ns0:scaling>
        <ns0:delete val="0"/>
        <ns0:axPos val="l"/>
        <ns0:numFmt formatCode="General"/>
        <ns0:majorTickMark val="none"/>
        <ns0:minorTickMark val="none"/>
        <ns0:tickLblPos val="nextTo"/>
        <ns0:spPr>
          <ns1:ln w="0">
            <ns1:noFill/>
          </ns1:ln>
        </ns0:spPr>
        <ns0:txPr>
          <ns1:bodyPr anchorCtr="1"/>
          <ns1:lstStyle/>
          <ns1:p>
            <ns1:pPr>
              <ns1:defRPr sz="1100">
                <ns1:solidFill>
                  <ns1:srgbClr val="475569"/>
                </ns1:solidFill>
                <ns1:latin typeface="Microsoft YaHei"/>
                <ns1:ea typeface="Microsoft YaHei"/>
                <ns1:cs typeface="Microsoft YaHei"/>
              </ns1:defRPr>
            </ns1:pPr>
          </ns1:p>
        </ns0:txPr>
        <ns0:crossAx val="48672768"/>
        <ns0:tickLblSkip val="1"/>
      </ns0:catAx>
      <ns0:valAx>
        <ns0:axId val="48672768"/>
        <ns0:scaling>
          <ns0:orientation val="minMax"/>
          <ns0:max val="70"/>
          <ns0:min val="0"/>
        </ns0:scaling>
        <ns0:delete val="1"/>
        <ns0:axPos val="b"/>
        <ns0:numFmt formatCode="0.00"/>
        <ns0:majorTickMark val="none"/>
        <ns0:minorTickMark val="none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100">
                <ns1:solidFill>
                  <ns1:srgbClr val="666666"/>
                </ns1:solidFill>
                <ns1:latin typeface="Microsoft YaHei"/>
                <ns1:ea typeface="Microsoft YaHei"/>
                <ns1:cs typeface="Microsoft YaHei"/>
              </ns1:defRPr>
            </ns1:pPr>
          </ns1:p>
        </ns0:txPr>
        <ns0:crossAx val="48650112"/>
        <ns0:crossBetween val="between"/>
      </ns0:valAx>
      <ns0:spPr>
        <ns1:solidFill>
          <ns1:srgbClr val="FFFFFF"/>
        </ns1:solidFill>
        <ns1:ln w="0">
          <ns1:noFill/>
        </ns1:ln>
      </ns0:spPr>
    </ns0:plotArea>
    <ns0:plotVisOnly val="1"/>
  </ns0:chart>
  <ns0:spPr>
    <ns1:solidFill>
      <ns1:srgbClr val="FFFFFF"/>
    </ns1:solidFill>
    <ns1:ln w="0">
      <ns1:noFill/>
    </ns1:ln>
  </ns0:spPr>
</ns0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DC5F4E-0CA3-41E8-9C35-4A8B4A00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04EB2-D5B6-4794-A254-70F382B0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KVC 的软硬协同价值：从计算状态到物理执行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E3F25-EACB-4FB5-9CC2-363126D2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KVC 工作汇报 · 2026-10-15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EBF5A-C17F-4BFD-AE7C-CDDB6025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7EF17-2936-467C-8A11-79A2A831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KVC（大模型注意力键值缓存）把可复用计算状态与内存、存储、互联和执行方式联系起来。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C1A42-BAA3-45DC-9F93-11064899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软件决定缓存如何表示、放置与使用；底层布局、通道和访问机制决定这些选择能否转化为业务收益。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70E5A-7D46-41A8-AF67-5E3DE893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1905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F68EC-3984-42D4-9A26-DB9078F8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175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逻辑 KV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2D629-F953-4CF0-A079-50513F6F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288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前缀 · Token · 模型层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5609E-D117-4EB2-B6C7-8D8FCCA7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5716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表示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85703-9FE2-4A0B-B52F-446A7CF5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3D016-01EA-4BDC-A10F-798703C2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38325"/>
            <a:ext cx="1905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ECFD4A-86C7-4EDC-896B-C1003D87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43100"/>
            <a:ext cx="175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物理布局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F0D25-412F-46DC-80A3-DDE460E3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288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块粒度 · 连续性 · 层序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BF7A5-C673-4FDE-A71F-D10CA3B6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5716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放置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E9792-1531-4A5A-A2E2-A331C568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478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658735-B510-4882-BDAD-5E4D5AD0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38325"/>
            <a:ext cx="1905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6DD385-052E-48BB-AFB4-D8ACCA33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175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物理介质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E8FCB0-D58E-4422-B64F-F6F3B2F1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2288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显存 · DDR · CXL · SSD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44503-110D-4248-985D-1EF1D34F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5716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访问语义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B00377-657C-4637-BE18-63B6FA3C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478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12F697-A2C9-4022-9ACC-BCC2DB47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38325"/>
            <a:ext cx="1905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4C4D65-2204-4273-A214-DC12F50C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43100"/>
            <a:ext cx="175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数据路径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C7F2F6-5D36-4FDC-9AAD-EB0AFBF1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288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批量搬运 · 直读 · 中转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FE6E9C-29FD-4C67-91DF-8FC42FF1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5716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849DFE-CC6C-42AA-9A23-E9B28F5E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478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473D82-25E7-4974-AE8B-44C77838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838325"/>
            <a:ext cx="1905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A827DA-8BB8-450F-AD0F-DC23B16A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43100"/>
            <a:ext cx="175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计算消费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EC3DDF-03DC-4BC7-BAF6-E25CDBC8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2288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加速器执行 · 按层就绪</a:t>
            </a:r>
          </a:p>
        </p:txBody>
      </p:sp>
      <p:graphicFrame>
        <p:nvGraphicFrame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56F422-5FEE-4A06-818C-57874005CDAA}"/>
              </a:ext>
            </a:extLst>
          </p:cNvPr>
          <p:cNvGraphicFramePr/>
          <p:nvPr/>
        </p:nvGraphicFramePr>
        <p:xfrm>
          <a:off xmlns:a="http://schemas.openxmlformats.org/drawingml/2006/main" x="457200" y="2790825"/>
          <a:ext xmlns:a="http://schemas.openxmlformats.org/drawingml/2006/main" cx="112776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029075"/>
                <a:gridCol w="2895600"/>
                <a:gridCol w="2543175"/>
              </a:tblGrid>
              <a:tr h="4762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连接环节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软件机制与底层能力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改变的物理开销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关联业务指标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</a:tr>
              <a:tr h="4762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逻辑 KV → 物理布局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布局转换、连续块合并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对接 DMA 批量搬运与地址生成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小传输次数、描述符数量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有效带宽与转换耗时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TTFT、有效 QPS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物理布局 → 物理介质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分层放置、NUMA 亲和与按带宽分片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匹配内存通道和介质特征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可用容量、通道负载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远端访问与换入换出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 QPS、可承载上下文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单次请求成本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762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物理介质 → 数据路径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设备直达、按需读取与地址映射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匹配访问粒度和互联拓扑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实际搬运字节、中转次数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主机内存与总线竞争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TTFT；逐层访问场景的 TPOT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数据路径 → 计算消费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按层预取、异步流水与完成通知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配合队列优先级和前后台限流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首层等待、计算停顿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前后台资源干扰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TTFT、TPOT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尾时延与有效 QPS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B6DF98-1D7F-45D3-B78D-4E879A0D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704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研究价值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E52095-890D-429B-A322-28428878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05475"/>
            <a:ext cx="720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以 KVC 为贯穿对象，把硬件特性、软件机制与业务指标放在同一条链中分析，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既寻找当前时延瓶颈，也提炼布局转换、批量数据搬运和拓扑调度等底层研究课题。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8FB00C-2AC5-4E89-99F0-35ECF71D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00675"/>
            <a:ext cx="37528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94A3B8"/>
            </a:solidFill>
            <a:prstDash val="dash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606B90-E353-47E5-8BA5-3E15FCDF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24500"/>
            <a:ext cx="3486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数据图占位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BEFEE4-2D30-4014-AF1E-3CD1FD65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810250"/>
            <a:ext cx="340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物理开销与业务指标的同条件对照</a:t>
            </a:r>
          </a:p>
        </p:txBody>
      </p:sp>
    </p:spTree>
    <p:extLst>
      <p:ext uri="{BB962C8B-B14F-4D97-AF65-F5344CB8AC3E}">
        <p14:creationId xmlns:p14="http://schemas.microsoft.com/office/powerpoint/2010/main" val="19961325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55D4EE-3A82-4C73-813D-4D4D413A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63054-287B-4865-8857-85C18D60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技术探索方向：布局开销与控制面吞吐的收益传导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FC9DA-C156-4430-A122-4EC24C77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KVC 工作汇报 · 2026-10-15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7A080-1BDE-4853-A18B-5C772C32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9DD2B-0B56-4BDF-BF22-27930F5E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42975"/>
            <a:ext cx="5486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数据面：计算 / 传输布局解耦，减少碎片 I/O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15BE6-7F26-4FB4-B1C4-EF123AA7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942975"/>
            <a:ext cx="5486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控制面：微秒级开销怎样影响吞吐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C8BAB-EF19-4C85-B7A7-70AC70C594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539cd72f94ddd"/>
          <a:stretch xmlns:a="http://schemas.openxmlformats.org/drawingml/2006/main"/>
        </p:blipFill>
        <p:spPr>
          <a:xfrm xmlns:a="http://schemas.openxmlformats.org/drawingml/2006/main">
            <a:off x="457200" y="1452665"/>
            <a:ext cx="3238500" cy="94277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02743-7182-4277-A80F-7E919829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22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GPU：按层计算    CPU / Host：按页传输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04DF9-6296-4262-AE6D-984806DC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190625"/>
            <a:ext cx="2133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平均 TTFT / s ↓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C90A65BF-E902-4993-B276-BE476F2D6828}"/>
              </a:ext>
            </a:extLst>
          </p:cNvPr>
          <p:cNvGraphicFramePr/>
          <p:nvPr/>
        </p:nvGraphicFramePr>
        <p:xfrm>
          <a:off xmlns:a="http://schemas.openxmlformats.org/drawingml/2006/main" x="3810000" y="1390650"/>
          <a:ext xmlns:a="http://schemas.openxmlformats.org/drawingml/2006/main" cx="2133600" cy="72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ae3fe2baa74d85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99643-21CA-4879-9458-EC7791D2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76450"/>
            <a:ext cx="2133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生成吞吐 / Token/s ↑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70F3D4FC-7C72-427C-B27A-161B265C6112}"/>
              </a:ext>
            </a:extLst>
          </p:cNvPr>
          <p:cNvGraphicFramePr/>
          <p:nvPr/>
        </p:nvGraphicFramePr>
        <p:xfrm>
          <a:off xmlns:a="http://schemas.openxmlformats.org/drawingml/2006/main" x="3810000" y="2276475"/>
          <a:ext xmlns:a="http://schemas.openxmlformats.org/drawingml/2006/main" cx="2133600" cy="72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3c7eee1d3c4f33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50A6BE-49AA-44D0-93DB-B9C690F1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55257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5.03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38D88-9C3C-41EE-8D79-A679265B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78117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2.42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FD52E-4DB7-48A1-BDBA-AA8748ED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384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27.43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49ABC-1B30-4F5A-B675-44218CC9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670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36.41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B161C-1EC0-4600-9013-71800099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548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GPU 按层布局利于计算；Host 沿用会让跨层 KV 读取分散。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按页聚合形成连续 I/O，减少碎片传输与提交，缩短加载等待。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AA5AB-650F-4CEB-954E-5E4ADC44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8050"/>
            <a:ext cx="548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Strata Fig.6 原图、Fig.13 数据重绘（外部论文，非本项目实测）</a:t>
            </a:r>
          </a:p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Fig.13：DeepSeek-V3 · 8×H20 · page size 32 · 12 req/s · 磁盘缓存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69DEB2-7486-4491-BA33-A9D5801CDC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377645d364f52"/>
          <a:srcRect xmlns:a="http://schemas.openxmlformats.org/drawingml/2006/main" l="0" t="0" r="0" b="13930"/>
          <a:stretch xmlns:a="http://schemas.openxmlformats.org/drawingml/2006/main"/>
        </p:blipFill>
        <p:spPr>
          <a:xfrm xmlns:a="http://schemas.openxmlformats.org/drawingml/2006/main">
            <a:off x="6248400" y="1228725"/>
            <a:ext cx="5486400" cy="15621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3AB57D-2F36-4D93-8C43-0FE97B36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548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Beluga · Fig.14：64 B 控制事务微基准，并非完整目录查询（外部论文）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CB901-30B4-4666-80E3-8BBEE20D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5486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每次控制事务快几微秒 → 同等并发下，控制吞吐提高。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控制面是瓶颈时 → 排队减少 → P99 TTFT / 有效 QPS 改善。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实际增益还取决于每请求控制次数、算力与 KV 加载瓶颈。</a:t>
            </a:r>
          </a:p>
        </p:txBody>
      </p:sp>
      <p:graphicFrame>
        <p:nvGraphicFrame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104110-6D4E-49E4-B72C-A314FD994B26}"/>
              </a:ext>
            </a:extLst>
          </p:cNvPr>
          <p:cNvGraphicFramePr/>
          <p:nvPr/>
        </p:nvGraphicFramePr>
        <p:xfrm>
          <a:off xmlns:a="http://schemas.openxmlformats.org/drawingml/2006/main" x="457200" y="3810000"/>
          <a:ext xmlns:a="http://schemas.openxmlformats.org/drawingml/2006/main" cx="112776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66850"/>
                <a:gridCol w="2514600"/>
                <a:gridCol w="2066925"/>
                <a:gridCol w="3038475"/>
                <a:gridCol w="2190750"/>
              </a:tblGrid>
              <a:tr h="419100"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优化方向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 / 硬件机制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收益场景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微观变化与收益传导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收益指标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</a:tr>
              <a:tr h="419100"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元数据快路径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与稳定描述符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共享内存检索、批量查询；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复用注册信息和地址描述符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高复用且加载快；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查询服务接近饱和的高并发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查询往返、注册和处理开销减少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同步等待与控制面排队减少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 TTFT、P99 TTFT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提高有效 QPS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布局转换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与批量搬运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 / 传输布局解耦；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连续块聚合、批量 DMA 提交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长前缀恢复；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碎片多、小传输密集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 I/O、描述符和提交次数减少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有效带宽提高，加载等待缩短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 TTFT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提高有效 QPS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放置策略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与多通道利用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分层放置、亲和分配与带宽分片；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拓扑感知选路、通道负载均衡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多内存通道、多网卡；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链路负载不均或容量受限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跨域访问和热点通道排队减少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可用容量与聚合带宽更充分利用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 TTFT、尾时延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提高有效 QPS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按需直达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与按层流水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 DMA 减少主机中转；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按需访问、预取与计算重叠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 KV 恢复；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生成中需要逐层召回的场景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中转、无效搬运和首层等待减少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数据等待与计算停顿减少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 TTFT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逐层召回场景改善 TPOT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动态选路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与前后台控制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加载 / 重算成本比较；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优先级队列、限速与退避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低复用、拥塞链路；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前台推理与后台搬运混压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不划算的拉取与共享资源竞争减少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请求等待和生成干扰降低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改善 TTFT、TPOT 与 P99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提高有效 QPS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48219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D3325D-7910-4218-BE0F-EEC2D393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E6607-F7B3-4C90-A43B-54B9382A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下一步工作安排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01471-420A-4A9D-8F4C-46C089A3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KVC 工作汇报 · 2026-10-15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6D203-CC77-49CA-86F4-30D862D1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A866E-8338-4440-9C50-86CEAC3B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3925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推进现有控制面、数据面原型测试，并把发现的物理瓶颈整理为软硬协同研究课题。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F02E0-EF72-4ABD-A584-49735A26D2CA}"/>
              </a:ext>
            </a:extLst>
          </p:cNvPr>
          <p:cNvGraphicFramePr/>
          <p:nvPr/>
        </p:nvGraphicFramePr>
        <p:xfrm>
          <a:off xmlns:a="http://schemas.openxmlformats.org/drawingml/2006/main" x="457200" y="1333500"/>
          <a:ext xmlns:a="http://schemas.openxmlformats.org/drawingml/2006/main" cx="112776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4524375"/>
                <a:gridCol w="2238375"/>
                <a:gridCol w="2895600"/>
              </a:tblGrid>
              <a:tr h="60579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工作方向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近期工作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重点工况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观察指标与交付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</a:tr>
              <a:tr h="60579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控制面优化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复核检索基线与统计口径；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补充查询、注册、提交和排队的耗时分解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低载、高复用快加载；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控制服务接近饱和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 / 提交开销、TTFT、P99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检索对照与在线影响分析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数据面优化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比较业务块粒度、连续程度和提交方式；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对照直达、中转与按层流水的实际开销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长前缀、碎片化 KV；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多通道与逐层召回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搬运字节、有效带宽、首层等待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加载分解及 TTFT / TPOT 对照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组合与混压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在代表工况组合有效机制；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记录前台推理与后台搬运的实际通路和资源使用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正常 / 拥塞网络；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纯前台与固定后台负载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TTFT、TPOT、有效 QPS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后台进度及资源代价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软硬协同研究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按表示、放置、访问和执行梳理瓶颈；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评估布局转换、稳定描述符、拓扑与队列能力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依托现有设备和原型；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对应具体访问粒度与消费方式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机制—物理开销—业务指标映射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共性能力清单与候选课题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ED85E-0324-4AE2-B717-156BEE9A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三周推进安排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EF8CF-CE36-4D3C-B167-5857361A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第 1 周：基线与瓶颈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91B22-4B9E-4926-BD2A-26FB0AE6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76875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统一比较条件，复核检索与通信记录；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测清查询、提交、搬运和同步分别耗时多少。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02415-56F0-49BD-975B-DAB21F0F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958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第 2 周：单项与场景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5A1AB-22D3-4F4C-9879-1046314E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76875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分别切换优化机制，测试代表场景；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把物理开销变化与请求时延、吞吐对应起来。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1B9F1-FC2F-480B-93A3-227C77F2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958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第 3 周：组合与汇总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399A3-E874-4119-A987-0B9C5CE4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76875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复测重点结果，补充组合和混压对照；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汇总收益场景、资源代价、问题和研究线索。</a:t>
            </a:r>
          </a:p>
        </p:txBody>
      </p:sp>
    </p:spTree>
    <p:extLst>
      <p:ext uri="{BB962C8B-B14F-4D97-AF65-F5344CB8AC3E}">
        <p14:creationId xmlns:p14="http://schemas.microsoft.com/office/powerpoint/2010/main" val="19018682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2026-10-13T13:46:18.7780000Z</dcterms:created>
  <dcterms:modified xsi:type="dcterms:W3CDTF">2026-10-13T13:46:18.7780000Z</dcterms:modified>
</coreProperties>
</file>