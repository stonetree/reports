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【汇报讲稿与技术背景（第 1 页：KVC 软硬协同价值）】</a:t>
            </a:r>
          </a:p>
          <a:p>
            <a:r>
              <a:t>各位领导、评审专家，大家好！本页重点汇报我们围绕 KVCache 展开软硬件协同优化的核心逻辑与第一性原理。</a:t>
            </a:r>
          </a:p>
          <a:p>
            <a:r>
              <a:t>在传统观念中，KVCache 往往被视作上层推理框架的一个缓存淘汰算法或中间件对象。但当我们深入底层时发现：KVC 绝不仅是软件数据结构，它是一个直接跨越五个物理抽象层级的体系结构问题（如顶部流程图所示）：</a:t>
            </a:r>
          </a:p>
          <a:p>
            <a:r>
              <a:t>1. 逻辑 KV 层：上层定义 Token 前缀和注意力张量；</a:t>
            </a:r>
          </a:p>
          <a:p>
            <a:r>
              <a:t>2. 物理布局层：如何将逻辑 Block 组织为适合高速搬运的连续块；</a:t>
            </a:r>
          </a:p>
          <a:p>
            <a:r>
              <a:t>3. 物理介质层：跨 HBM、DDR、CXL 与 NVMe SSD 进行多级容量扩展；</a:t>
            </a:r>
          </a:p>
          <a:p>
            <a:r>
              <a:t>4. 数据路径层：消除 CPU 内存中转，实现 Host CPU 零数据拷贝与设备 DMA 直达；</a:t>
            </a:r>
          </a:p>
          <a:p>
            <a:r>
              <a:t>5. 计算消费层：实现按层流式预取，使数据搬运完全被 GPU/NPU 计算掩盖。</a:t>
            </a:r>
          </a:p>
          <a:p/>
          <a:p>
            <a:r>
              <a:t>【右侧数据图详细读图指引】：</a:t>
            </a:r>
          </a:p>
          <a:p>
            <a:r>
              <a:t>右图来自 2026 年针对外部主流推理引擎（vLLM）外挂存储的最新实测（py-kvcache）。图中的横轴是用户输入的上下文长度（1k 到 80k Tokens），纵轴是前缀命中的复用比例（0% 到 100%）。颜色代表加速比对数：绿色代表拉取比重算快（净加速，最高 4 倍），橙红色代表拉取比重算还慢（性能反噬，拉取最慢反而慢 4 倍），黑色实线则是两者的盈亏平衡分界线（Break-Even Frontier）。</a:t>
            </a:r>
          </a:p>
          <a:p>
            <a:r>
              <a:t>领导和专家可以看到，在最右侧传统的 CPU 卸载通路中，在 1k~8k 的中短上下文下，存在大面积的红色负收益区——这意味着即便前缀命中高达 70%，拉取缓存的开销依然大于直接用 GPU 重新计算！只有当上下文拉长到数万 Tokens 时，重算代价极高，才逐渐进入绿色净收益区。</a:t>
            </a:r>
          </a:p>
          <a:p>
            <a:r>
              <a:t>这给我们的深刻启示是：KVCache 命中并不天然等于性能收益！如果我们不做软硬件协同，依然走传统的 Host CPU 二次拷贝与散碎小 I/O，那么大部分业务请求都会落在红色负收益区。唯有通过 Host CPU 零数据拷贝、连续块聚合和设备 DMA 直达，把底层数据搬运开销压到极致，才能把这条盈亏平衡线大幅往下推，让中短前缀和中低复用率场景也能稳稳落入绿色净收益区！</a:t>
            </a:r>
          </a:p>
          <a:p/>
          <a:p>
            <a:r>
              <a:t>参考文献依据：OSDI 2026 Strata; FAST 2026 Bidaw; SIGCOMM 2026 DualPath; py-kvcache 2026。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【汇报讲稿与技术背景（第 2 页：技术探索方向与瓶颈引导）】</a:t>
            </a:r>
          </a:p>
          <a:p>
            <a:r>
              <a:t>本页是承上启下的关键页，核心任务是引导领导和评审专家清晰看到 KVC 在数据面与控制面面临的根本物理瓶颈，并直接引出后续同事将要汇报的具体优化成果。</a:t>
            </a:r>
          </a:p>
          <a:p/>
          <a:p>
            <a:r>
              <a:t>左侧聚焦【数据面物理痛点】：</a:t>
            </a:r>
          </a:p>
          <a:p>
            <a:r>
              <a:t>大模型计算天然需要按层（Layer-first）组织显存以便执行注意力计算；但如果存储和 Host 内存也机械沿用该布局，跨层 KV 读取就会被切碎成海量微小 I/O。Strata (OSDI'26) 实测表明，在离散小页下 PCIe/总线利用率仅有 5%~22%，I/O 停顿占 Prefill 总耗时高达 74%！通过计算/传输布局解耦与按页连续聚合，平均 TTFT 减半（5.03s 降至 2.42s），吞吐提升 33%。这直接证实了我们在数据面推进“连续块聚合、描述符批量编译、Host CPU 零拷贝与绕过主机内存”的必要性。</a:t>
            </a:r>
          </a:p>
          <a:p/>
          <a:p>
            <a:r>
              <a:t>右侧聚焦【控制面开销瓶颈】：</a:t>
            </a:r>
          </a:p>
          <a:p>
            <a:r>
              <a:t>Beluga (SIGMOD'26) 的微基准测试揭示了高并发下的致命隐患：传统网络 RPC 控制事务耗时 10~30µs。随着并发上升，排队延迟呈 3.5 倍恶化发散，形成“控制面排队风暴”，阻塞整个服务流水线。而通过微秒级快路径，控制开销压降至数微秒，吞吐提升 2.5 倍以上。这直接引出了我们在控制面深耕的“元数据共享内存快路径、单边免 CPU 协商与微秒选路决策”。</a:t>
            </a:r>
          </a:p>
          <a:p/>
          <a:p>
            <a:r>
              <a:t>下方的优化方向表，清晰地将 5 大机制划分为控制面与数据面，与后续汇报的实验数据一一对应。接下来请各位同事汇报我们在控制面与数据面上取得的实测成果！</a:t>
            </a:r>
          </a:p>
          <a:p/>
          <a:p>
            <a:r>
              <a:t>参考文献依据：OSDI 2026 Strata (Fig.6, Fig.13); SIGMOD 2026 Beluga (Fig.14)。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【汇报讲稿与技术背景（第 3 页：下一步工作安排）】</a:t>
            </a:r>
          </a:p>
          <a:p>
            <a:r>
              <a:t>最后向各位领导汇报我们后续的工作规划与推进节奏：</a:t>
            </a:r>
          </a:p>
          <a:p>
            <a:r>
              <a:t>本次汇报的后续工作安排坚持研发客观演进节奏，不设置死板行政化排期，聚焦于物理开销摸底与软硬件协同课题沉淀：</a:t>
            </a:r>
          </a:p>
          <a:p>
            <a:r>
              <a:t>1. 控制面：补齐微秒级检索、注册、提交与排队耗时分解，摸清在低载与高并发快加载下的行为；</a:t>
            </a:r>
          </a:p>
          <a:p>
            <a:r>
              <a:t>2. 数据面：严格比较块粒度、连续性、设备直达与按层流水，观察加载等待和逐层召回的停顿掩盖效果；</a:t>
            </a:r>
          </a:p>
          <a:p>
            <a:r>
              <a:t>3. 组合与混压：在代表工况下组合有效机制，测试前台在线推理受后台满载搬运的干扰程度；</a:t>
            </a:r>
          </a:p>
          <a:p>
            <a:r>
              <a:t>4. 软硬协同研究：依托第一页提炼的物理化递进链条，把瓶颈对应到布局转换、稳定描述符、拓扑与队列硬件能力，提炼出可落地的共性芯片课题。</a:t>
            </a:r>
          </a:p>
          <a:p/>
          <a:p>
            <a:r>
              <a:t>节奏上采用三周推进闭环：第 1 周统一测清基线；第 2 周单项机制穿透；第 3 周组合混压并汇总成果与研究课题。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777240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KVC 的软硬协同价值：从计算状态到物理执行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164592"/>
            <a:ext cx="3319272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BFDBFE"/>
                </a:solidFill>
                <a:latin typeface="Microsoft YaHei"/>
              </a:defRPr>
            </a:pPr>
            <a:r>
              <a:t>KVC 价值探索 · 体系结构与业务传导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04672"/>
            <a:ext cx="11277295" cy="3657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804672"/>
            <a:ext cx="73152" cy="365760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841248"/>
            <a:ext cx="1101852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0F172A"/>
                </a:solidFill>
                <a:latin typeface="Microsoft YaHei"/>
              </a:defRPr>
            </a:pPr>
            <a:r>
              <a:t>大模型注意力键值缓存（KVCache）将逻辑计算状态与底层内存、存储、互联及执行紧密绑定；单纯上层优化无法突破物理墙，底层通路决定其能否兑现为业务净收益。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61872"/>
            <a:ext cx="1975104" cy="786384"/>
          </a:xfrm>
          <a:prstGeom prst="rect">
            <a:avLst/>
          </a:prstGeom>
          <a:solidFill>
            <a:srgbClr val="EFF6FF"/>
          </a:solidFill>
          <a:ln w="1524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" y="1307592"/>
            <a:ext cx="1865376" cy="6949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19" b="1">
                <a:solidFill>
                  <a:srgbClr val="1E3A8A"/>
                </a:solidFill>
                <a:latin typeface="Microsoft YaHei"/>
              </a:defRPr>
            </a:pPr>
            <a:r>
              <a:t>① 逻辑 KV</a:t>
            </a:r>
          </a:p>
          <a:p>
            <a:pPr>
              <a:spcBef>
                <a:spcPts val="100"/>
              </a:spcBef>
              <a:defRPr sz="800" b="1">
                <a:solidFill>
                  <a:srgbClr val="1D4ED8"/>
                </a:solidFill>
                <a:latin typeface="Microsoft YaHei"/>
              </a:defRPr>
            </a:pPr>
            <a:r>
              <a:t>[计算状态抽象]</a:t>
            </a:r>
          </a:p>
          <a:p>
            <a:pPr>
              <a:spcBef>
                <a:spcPts val="100"/>
              </a:spcBef>
              <a:defRPr sz="750">
                <a:solidFill>
                  <a:srgbClr val="475569"/>
                </a:solidFill>
                <a:latin typeface="Microsoft YaHei"/>
              </a:defRPr>
            </a:pPr>
            <a:r>
              <a:t>Token/提示词前缀 · 激活状态张量 · 逐层依赖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32304" y="1389888"/>
            <a:ext cx="347472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750" b="1">
                <a:solidFill>
                  <a:srgbClr val="1D4ED8"/>
                </a:solidFill>
                <a:latin typeface="Microsoft YaHei"/>
              </a:defRPr>
            </a:pPr>
            <a:r>
              <a:t>表示</a:t>
            </a:r>
          </a:p>
          <a:p>
            <a:pPr algn="ctr">
              <a:spcBef>
                <a:spcPts val="100"/>
              </a:spcBef>
              <a:defRPr sz="1100" b="1">
                <a:solidFill>
                  <a:srgbClr val="1D4ED8"/>
                </a:solidFill>
                <a:latin typeface="Microsoft YaHei"/>
              </a:defRPr>
            </a:pPr>
            <a:r>
              <a:t>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79776" y="1261872"/>
            <a:ext cx="1975104" cy="786384"/>
          </a:xfrm>
          <a:prstGeom prst="rect">
            <a:avLst/>
          </a:prstGeom>
          <a:solidFill>
            <a:srgbClr val="FFFF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34640" y="1307592"/>
            <a:ext cx="1865376" cy="6949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19" b="1">
                <a:solidFill>
                  <a:srgbClr val="1E3A8A"/>
                </a:solidFill>
                <a:latin typeface="Microsoft YaHei"/>
              </a:defRPr>
            </a:pPr>
            <a:r>
              <a:t>② 物理布局</a:t>
            </a:r>
          </a:p>
          <a:p>
            <a:pPr>
              <a:spcBef>
                <a:spcPts val="100"/>
              </a:spcBef>
              <a:defRPr sz="800" b="1">
                <a:solidFill>
                  <a:srgbClr val="1D4ED8"/>
                </a:solidFill>
                <a:latin typeface="Microsoft YaHei"/>
              </a:defRPr>
            </a:pPr>
            <a:r>
              <a:t>[组织与解耦]</a:t>
            </a:r>
          </a:p>
          <a:p>
            <a:pPr>
              <a:spcBef>
                <a:spcPts val="100"/>
              </a:spcBef>
              <a:defRPr sz="750">
                <a:solidFill>
                  <a:srgbClr val="475569"/>
                </a:solidFill>
                <a:latin typeface="Microsoft YaHei"/>
              </a:defRPr>
            </a:pPr>
            <a:r>
              <a:t>连续块聚合 (Chunking) · 读写与计算解耦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1389888"/>
            <a:ext cx="347472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750" b="1">
                <a:solidFill>
                  <a:srgbClr val="1D4ED8"/>
                </a:solidFill>
                <a:latin typeface="Microsoft YaHei"/>
              </a:defRPr>
            </a:pPr>
            <a:r>
              <a:t>放置</a:t>
            </a:r>
          </a:p>
          <a:p>
            <a:pPr algn="ctr">
              <a:spcBef>
                <a:spcPts val="100"/>
              </a:spcBef>
              <a:defRPr sz="1100" b="1">
                <a:solidFill>
                  <a:srgbClr val="1D4ED8"/>
                </a:solidFill>
                <a:latin typeface="Microsoft YaHei"/>
              </a:defRPr>
            </a:pPr>
            <a:r>
              <a:t>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02352" y="1261872"/>
            <a:ext cx="1975104" cy="786384"/>
          </a:xfrm>
          <a:prstGeom prst="rect">
            <a:avLst/>
          </a:prstGeom>
          <a:solidFill>
            <a:srgbClr val="FFFF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57216" y="1307592"/>
            <a:ext cx="1865376" cy="6949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19" b="1">
                <a:solidFill>
                  <a:srgbClr val="1E3A8A"/>
                </a:solidFill>
                <a:latin typeface="Microsoft YaHei"/>
              </a:defRPr>
            </a:pPr>
            <a:r>
              <a:t>③ 物理介质</a:t>
            </a:r>
          </a:p>
          <a:p>
            <a:pPr>
              <a:spcBef>
                <a:spcPts val="100"/>
              </a:spcBef>
              <a:defRPr sz="800" b="1">
                <a:solidFill>
                  <a:srgbClr val="1D4ED8"/>
                </a:solidFill>
                <a:latin typeface="Microsoft YaHei"/>
              </a:defRPr>
            </a:pPr>
            <a:r>
              <a:t>[多级存储分层]</a:t>
            </a:r>
          </a:p>
          <a:p>
            <a:pPr>
              <a:spcBef>
                <a:spcPts val="100"/>
              </a:spcBef>
              <a:defRPr sz="750">
                <a:solidFill>
                  <a:srgbClr val="475569"/>
                </a:solidFill>
                <a:latin typeface="Microsoft YaHei"/>
              </a:defRPr>
            </a:pPr>
            <a:r>
              <a:t>HBM ↔ Host DDR ↔ CXL ↔ NVMe SSD 扩展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77456" y="1389888"/>
            <a:ext cx="347472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750" b="1">
                <a:solidFill>
                  <a:srgbClr val="1D4ED8"/>
                </a:solidFill>
                <a:latin typeface="Microsoft YaHei"/>
              </a:defRPr>
            </a:pPr>
            <a:r>
              <a:t>通路</a:t>
            </a:r>
          </a:p>
          <a:p>
            <a:pPr algn="ctr">
              <a:spcBef>
                <a:spcPts val="100"/>
              </a:spcBef>
              <a:defRPr sz="1100" b="1">
                <a:solidFill>
                  <a:srgbClr val="1D4ED8"/>
                </a:solidFill>
                <a:latin typeface="Microsoft YaHei"/>
              </a:defRPr>
            </a:pPr>
            <a:r>
              <a:t>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24928" y="1261872"/>
            <a:ext cx="1975104" cy="786384"/>
          </a:xfrm>
          <a:prstGeom prst="rect">
            <a:avLst/>
          </a:prstGeom>
          <a:solidFill>
            <a:srgbClr val="FFFF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79792" y="1307592"/>
            <a:ext cx="1865376" cy="6949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19" b="1">
                <a:solidFill>
                  <a:srgbClr val="1E3A8A"/>
                </a:solidFill>
                <a:latin typeface="Microsoft YaHei"/>
              </a:defRPr>
            </a:pPr>
            <a:r>
              <a:t>④ 数据路径</a:t>
            </a:r>
          </a:p>
          <a:p>
            <a:pPr>
              <a:spcBef>
                <a:spcPts val="100"/>
              </a:spcBef>
              <a:defRPr sz="800" b="1">
                <a:solidFill>
                  <a:srgbClr val="1D4ED8"/>
                </a:solidFill>
                <a:latin typeface="Microsoft YaHei"/>
              </a:defRPr>
            </a:pPr>
            <a:r>
              <a:t>[硬件极速通路]</a:t>
            </a:r>
          </a:p>
          <a:p>
            <a:pPr>
              <a:spcBef>
                <a:spcPts val="100"/>
              </a:spcBef>
              <a:defRPr sz="750">
                <a:solidFill>
                  <a:srgbClr val="475569"/>
                </a:solidFill>
                <a:latin typeface="Microsoft YaHei"/>
              </a:defRPr>
            </a:pPr>
            <a:r>
              <a:t>Host CPU 零数据拷贝 · 设备 DMA 直达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00032" y="1389888"/>
            <a:ext cx="347472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750" b="1">
                <a:solidFill>
                  <a:srgbClr val="1D4ED8"/>
                </a:solidFill>
                <a:latin typeface="Microsoft YaHei"/>
              </a:defRPr>
            </a:pPr>
            <a:r>
              <a:t>流式</a:t>
            </a:r>
          </a:p>
          <a:p>
            <a:pPr algn="ctr">
              <a:spcBef>
                <a:spcPts val="100"/>
              </a:spcBef>
              <a:defRPr sz="1100" b="1">
                <a:solidFill>
                  <a:srgbClr val="1D4ED8"/>
                </a:solidFill>
                <a:latin typeface="Microsoft YaHei"/>
              </a:defRPr>
            </a:pPr>
            <a:r>
              <a:t>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47504" y="1261872"/>
            <a:ext cx="1975104" cy="786384"/>
          </a:xfrm>
          <a:prstGeom prst="rect">
            <a:avLst/>
          </a:prstGeom>
          <a:solidFill>
            <a:srgbClr val="EFF6FF"/>
          </a:solidFill>
          <a:ln w="1524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02368" y="1307592"/>
            <a:ext cx="1865376" cy="6949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19" b="1">
                <a:solidFill>
                  <a:srgbClr val="1E3A8A"/>
                </a:solidFill>
                <a:latin typeface="Microsoft YaHei"/>
              </a:defRPr>
            </a:pPr>
            <a:r>
              <a:t>⑤ 计算消费</a:t>
            </a:r>
          </a:p>
          <a:p>
            <a:pPr>
              <a:spcBef>
                <a:spcPts val="100"/>
              </a:spcBef>
              <a:defRPr sz="800" b="1">
                <a:solidFill>
                  <a:srgbClr val="1D4ED8"/>
                </a:solidFill>
                <a:latin typeface="Microsoft YaHei"/>
              </a:defRPr>
            </a:pPr>
            <a:r>
              <a:t>[加速器流式消费]</a:t>
            </a:r>
          </a:p>
          <a:p>
            <a:pPr>
              <a:spcBef>
                <a:spcPts val="100"/>
              </a:spcBef>
              <a:defRPr sz="750">
                <a:solidFill>
                  <a:srgbClr val="475569"/>
                </a:solidFill>
                <a:latin typeface="Microsoft YaHei"/>
              </a:defRPr>
            </a:pPr>
            <a:r>
              <a:t>按层异步就绪 · 预取与计算流水掩盖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2176272"/>
            <a:ext cx="667512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E3A8A"/>
                </a:solidFill>
                <a:latin typeface="Microsoft YaHei"/>
              </a:defRPr>
            </a:pPr>
            <a:r>
              <a:t>【物理化映射矩阵：软件机制如何传导至物理开销与业务指标】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457200" y="2450592"/>
          <a:ext cx="6675120" cy="2697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057400"/>
                <a:gridCol w="2011680"/>
                <a:gridCol w="1234440"/>
              </a:tblGrid>
              <a:tr h="539496"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连接环节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软件机制与底层能力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改变的物理开销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关联业务指标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1E3A8A"/>
                          </a:solidFill>
                          <a:latin typeface="Microsoft YaHei"/>
                        </a:defRPr>
                      </a:pPr>
                      <a:r>
                        <a:t>逻辑 KV → 物理布局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布局转换、连续块合并</a:t>
                      </a:r>
                      <a:br/>
                      <a:r>
                        <a:t>对接 DMA 批量搬运与地址生成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散碎小传输与描述符大幅减少</a:t>
                      </a:r>
                      <a:br/>
                      <a:r>
                        <a:t>有效带宽提升，转换耗时大幅收敛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TTFT 缩短</a:t>
                      </a:r>
                      <a:br/>
                      <a:r>
                        <a:t>有效 QPS 提升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1E3A8A"/>
                          </a:solidFill>
                          <a:latin typeface="Microsoft YaHei"/>
                        </a:defRPr>
                      </a:pPr>
                      <a:r>
                        <a:t>物理布局 → 物理介质</a:t>
                      </a:r>
                    </a:p>
                  </a:txBody>
                  <a:tcPr anchor="ctr" marL="54864" marR="54864" marT="27432" marB="2743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分层放置、NUMA 亲和与按带宽分片</a:t>
                      </a:r>
                      <a:br/>
                      <a:r>
                        <a:t>匹配内存通道特征与 SSD 块粒度</a:t>
                      </a:r>
                    </a:p>
                  </a:txBody>
                  <a:tcPr anchor="ctr" marL="54864" marR="54864" marT="27432" marB="2743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突破显存容量墙，多通道负载均衡</a:t>
                      </a:r>
                      <a:br/>
                      <a:r>
                        <a:t>远端访问与换入换出总线争用消除</a:t>
                      </a:r>
                    </a:p>
                  </a:txBody>
                  <a:tcPr anchor="ctr" marL="54864" marR="54864" marT="27432" marB="2743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有效 QPS 提升</a:t>
                      </a:r>
                      <a:br/>
                      <a:r>
                        <a:t>承载超长上下文</a:t>
                      </a:r>
                      <a:br/>
                      <a:r>
                        <a:t>降低单请求 TCO</a:t>
                      </a:r>
                    </a:p>
                  </a:txBody>
                  <a:tcPr anchor="ctr" marL="54864" marR="54864" marT="27432" marB="27432">
                    <a:solidFill>
                      <a:srgbClr val="F1F5F9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1E3A8A"/>
                          </a:solidFill>
                          <a:latin typeface="Microsoft YaHei"/>
                        </a:defRPr>
                      </a:pPr>
                      <a:r>
                        <a:t>物理介质 → 数据路径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设备 DMA 直达、按需读取与地址映射</a:t>
                      </a:r>
                      <a:br/>
                      <a:r>
                        <a:t>匹配访问粒度与拓扑，绕过主机内存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消除 Host CPU 数据拷贝与二次中转</a:t>
                      </a:r>
                      <a:br/>
                      <a:r>
                        <a:t>实际搬运字节减半，释放系统总线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TTFT 显著降低</a:t>
                      </a:r>
                      <a:br/>
                      <a:r>
                        <a:t>逐层召回改善 TPOT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1E3A8A"/>
                          </a:solidFill>
                          <a:latin typeface="Microsoft YaHei"/>
                        </a:defRPr>
                      </a:pPr>
                      <a:r>
                        <a:t>数据路径 → 计算消费</a:t>
                      </a:r>
                    </a:p>
                  </a:txBody>
                  <a:tcPr anchor="ctr" marL="54864" marR="54864" marT="27432" marB="2743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按层异步流水、流式预取与完成通知</a:t>
                      </a:r>
                      <a:br/>
                      <a:r>
                        <a:t>配合硬件队列优先级与前后台限流 QoS</a:t>
                      </a:r>
                    </a:p>
                  </a:txBody>
                  <a:tcPr anchor="ctr" marL="54864" marR="54864" marT="27432" marB="2743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消除首层等待，掩盖搬运开销</a:t>
                      </a:r>
                      <a:br/>
                      <a:r>
                        <a:t>计算停顿最小化，前后台零流量干扰</a:t>
                      </a:r>
                    </a:p>
                  </a:txBody>
                  <a:tcPr anchor="ctr" marL="54864" marR="54864" marT="27432" marB="2743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TTFT / TPOT 改善</a:t>
                      </a:r>
                      <a:br/>
                      <a:r>
                        <a:t>P99 尾时延收敛</a:t>
                      </a:r>
                      <a:br/>
                      <a:r>
                        <a:t>有效 QPS 达标</a:t>
                      </a:r>
                    </a:p>
                  </a:txBody>
                  <a:tcPr anchor="ctr" marL="54864" marR="54864" marT="27432" marB="27432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4" name="Rectangle 23"/>
          <p:cNvSpPr/>
          <p:nvPr/>
        </p:nvSpPr>
        <p:spPr>
          <a:xfrm>
            <a:off x="457200" y="5212080"/>
            <a:ext cx="6675120" cy="1115568"/>
          </a:xfrm>
          <a:prstGeom prst="rect">
            <a:avLst/>
          </a:prstGeom>
          <a:solidFill>
            <a:srgbClr val="F1F5F9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5212080"/>
            <a:ext cx="73152" cy="1115568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" y="5248656"/>
            <a:ext cx="6419088" cy="10241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E3A8A"/>
                </a:solidFill>
                <a:latin typeface="Microsoft YaHei"/>
              </a:defRPr>
            </a:pPr>
            <a:r>
              <a:t>【软硬协同研究价值与技术落地闭环】</a:t>
            </a:r>
          </a:p>
          <a:p>
            <a:pPr>
              <a:spcBef>
                <a:spcPts val="300"/>
              </a:spcBef>
              <a:defRPr sz="850">
                <a:solidFill>
                  <a:srgbClr val="0F172A"/>
                </a:solidFill>
                <a:latin typeface="Microsoft YaHei"/>
              </a:defRPr>
            </a:pPr>
            <a:r>
              <a:t>以 KVC 为贯穿对象，把底层硬件特性（DMA/通道/拓扑）、中间软件机制（布局转换/批量搬运/队列）与业务指标（TTFT/QPS/TPOT）置于同一链条中量化分析；既探明当前瓶颈，也提炼出布局转换、批量数据搬运与拓扑调度等核心共性课题，为后续系统实现与芯片协同演进沉淀扎实依据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96912" y="2176272"/>
            <a:ext cx="443484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E3A8A"/>
                </a:solidFill>
                <a:latin typeface="Microsoft YaHei"/>
              </a:defRPr>
            </a:pPr>
            <a:r>
              <a:t>【核心依据：物理开销决定净收益边界 (Break-Even)】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96912" y="2450592"/>
            <a:ext cx="4434840" cy="38770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96912" y="2450592"/>
            <a:ext cx="4434840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88352" y="2478024"/>
            <a:ext cx="425196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80" b="1">
                <a:solidFill>
                  <a:srgbClr val="1E3A8A"/>
                </a:solidFill>
                <a:latin typeface="Microsoft YaHei"/>
              </a:defRPr>
            </a:pPr>
            <a:r>
              <a:t>图解：为什么 KVC“命中 ≠ 收益”？外部论文实测平衡线</a:t>
            </a:r>
          </a:p>
        </p:txBody>
      </p:sp>
      <p:pic>
        <p:nvPicPr>
          <p:cNvPr id="31" name="Picture 30" descr="pykvcache_fig06_break_even_fronti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0064" y="2752344"/>
            <a:ext cx="4288536" cy="1600200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7370064" y="4370832"/>
            <a:ext cx="4288536" cy="347472"/>
          </a:xfrm>
          <a:prstGeom prst="rect">
            <a:avLst/>
          </a:prstGeom>
          <a:solidFill>
            <a:srgbClr val="F1F5F9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88352" y="4379976"/>
            <a:ext cx="425196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730" b="1">
                <a:solidFill>
                  <a:srgbClr val="0F172A"/>
                </a:solidFill>
                <a:latin typeface="Microsoft YaHei"/>
              </a:defRPr>
            </a:pPr>
            <a:r>
              <a:t>坐标定义：横轴=上下文总长(1k~80k) | 纵轴=前缀复用率(0%~100%) | 实线=盈亏平衡分界线</a:t>
            </a:r>
            <a:br/>
            <a:r>
              <a:t>【绿色区】：拉取耗时 &lt; 本地重算 (净加速，最高 4x)  |  【红黄色区】：拉取耗时 &gt; 本地重算 (负收益反噬)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88352" y="4754880"/>
            <a:ext cx="4251960" cy="15361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780">
                <a:solidFill>
                  <a:srgbClr val="BE123C"/>
                </a:solidFill>
                <a:latin typeface="Microsoft YaHei"/>
              </a:defRPr>
            </a:pPr>
            <a:r>
              <a:t>• 怎么看该图？（以右侧 vLLM CPU Offload 为例）：短上下文或低复用下出现大面积红区（最慢反噬达 4x），因为此时 GPU 算力快而 Host I/O 搬运慢，拉取还不如直接重算！</a:t>
            </a:r>
          </a:p>
          <a:p>
            <a:pPr>
              <a:spcBef>
                <a:spcPts val="300"/>
              </a:spcBef>
              <a:defRPr sz="780">
                <a:solidFill>
                  <a:srgbClr val="0F172A"/>
                </a:solidFill>
                <a:latin typeface="Microsoft YaHei"/>
              </a:defRPr>
            </a:pPr>
            <a:r>
              <a:t>• 突破临界线 (Break-Even)：只有满足“拉取与加载总开销 &lt; 本地直接重算耗时”，缓存才有价值；若走传统通用 Host 协议与小 I/O，平衡线上移，红区急剧扩大。</a:t>
            </a:r>
          </a:p>
          <a:p>
            <a:pPr>
              <a:spcBef>
                <a:spcPts val="300"/>
              </a:spcBef>
              <a:defRPr sz="780" b="1">
                <a:solidFill>
                  <a:srgbClr val="047857"/>
                </a:solidFill>
                <a:latin typeface="Microsoft YaHei"/>
              </a:defRPr>
            </a:pPr>
            <a:r>
              <a:t>• 软硬协同核心价值：通过设备 DMA 直达、连续块合并与 Host 零拷贝，把加载开销压降到极致，将平衡线大幅下移，让绿色净加速区覆盖真实业务工况！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537960"/>
            <a:ext cx="10287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Microsoft YaHei"/>
              </a:defRPr>
            </a:pPr>
            <a:r>
              <a:t>KVC 工作汇报 · 2026-10-15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74552" y="6537960"/>
            <a:ext cx="4572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475569"/>
                </a:solidFill>
                <a:latin typeface="Microsoft YaHei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777240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技术探索方向：布局开销与控制面吞吐的收益传导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164592"/>
            <a:ext cx="3319272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BFDBFE"/>
                </a:solidFill>
                <a:latin typeface="Microsoft YaHei"/>
              </a:defRPr>
            </a:pPr>
            <a:r>
              <a:t>KVC 探索方向 · 瓶颈引导与优化映射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04672"/>
            <a:ext cx="11277295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804672"/>
            <a:ext cx="73152" cy="347472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841248"/>
            <a:ext cx="11018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0F172A"/>
                </a:solidFill>
                <a:latin typeface="Microsoft YaHei"/>
              </a:defRPr>
            </a:pPr>
            <a:r>
              <a:t>以数据面“计算/传输布局失配”与控制面“微秒级事务累积排队”为两大瓶颈切入点，引导并全面承接后续控制面与数据面优化成果。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34440"/>
            <a:ext cx="553212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234440"/>
            <a:ext cx="5532120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1271016"/>
            <a:ext cx="5312664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19" b="1">
                <a:solidFill>
                  <a:srgbClr val="1E3A8A"/>
                </a:solidFill>
                <a:latin typeface="Microsoft YaHei"/>
              </a:defRPr>
            </a:pPr>
            <a:r>
              <a:t>【数据面痛点引导】布局失配与碎片 I/O 导致总线严重饥饿</a:t>
            </a:r>
          </a:p>
        </p:txBody>
      </p:sp>
      <p:pic>
        <p:nvPicPr>
          <p:cNvPr id="11" name="Picture 10" descr="fig06_layout_decoup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600200"/>
            <a:ext cx="3246120" cy="94183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3886200" y="1581912"/>
            <a:ext cx="1993392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59352" y="1600200"/>
            <a:ext cx="1847088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1E3A8A"/>
                </a:solidFill>
                <a:latin typeface="Microsoft YaHei"/>
              </a:defRPr>
            </a:pPr>
            <a:r>
              <a:t>平均 TTFT：5.03s ➔ 2.42s</a:t>
            </a:r>
          </a:p>
          <a:p>
            <a:pPr>
              <a:defRPr sz="780" b="1">
                <a:solidFill>
                  <a:srgbClr val="047857"/>
                </a:solidFill>
                <a:latin typeface="Microsoft YaHei"/>
              </a:defRPr>
            </a:pPr>
            <a:r>
              <a:t>缩短 52% (2.1x 加速，延迟减半)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86200" y="2084832"/>
            <a:ext cx="1993392" cy="457200"/>
          </a:xfrm>
          <a:prstGeom prst="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59352" y="2103120"/>
            <a:ext cx="1847088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047857"/>
                </a:solidFill>
                <a:latin typeface="Microsoft YaHei"/>
              </a:defRPr>
            </a:pPr>
            <a:r>
              <a:t>生成吞吐：27.4 ➔ 36.4 T/s</a:t>
            </a:r>
          </a:p>
          <a:p>
            <a:pPr>
              <a:defRPr sz="780" b="1">
                <a:solidFill>
                  <a:srgbClr val="047857"/>
                </a:solidFill>
                <a:latin typeface="Microsoft YaHei"/>
              </a:defRPr>
            </a:pPr>
            <a:r>
              <a:t>吞吐提升 33% (满足高并发 SLO)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2560320"/>
            <a:ext cx="324612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80" b="1">
                <a:solidFill>
                  <a:srgbClr val="475569"/>
                </a:solidFill>
                <a:latin typeface="Microsoft YaHei"/>
              </a:defRPr>
            </a:pPr>
            <a:r>
              <a:t>GPU：按层计算布局   Host/存储：按页连续传输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2770632"/>
            <a:ext cx="5312664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>
                <a:solidFill>
                  <a:srgbClr val="BE123C"/>
                </a:solidFill>
                <a:latin typeface="Microsoft YaHei"/>
              </a:defRPr>
            </a:pPr>
            <a:r>
              <a:t>❌ 传统物理痛点：GPU 按层组织利于算子，但沿用到 Host 会导致跨层读取被打碎为海量微小 I/O；在离散小页下，总线利用率骤降至 5%~22%，I/O 停顿占 Prefill 耗时高达 74%！</a:t>
            </a:r>
          </a:p>
          <a:p>
            <a:pPr>
              <a:spcBef>
                <a:spcPts val="200"/>
              </a:spcBef>
              <a:defRPr sz="800">
                <a:solidFill>
                  <a:srgbClr val="0F172A"/>
                </a:solidFill>
                <a:latin typeface="Microsoft YaHei"/>
              </a:defRPr>
            </a:pPr>
            <a:r>
              <a:t>✅ 解耦收益传导：计算与传输解耦，按页聚合形成连续 I/O，小传输与描述符大幅减少，打满物理总线，加载等待缩短 52%。（Strata OSDI'26 Fig.6/13 实测，非本项目数据）</a:t>
            </a:r>
          </a:p>
          <a:p>
            <a:pPr>
              <a:spcBef>
                <a:spcPts val="200"/>
              </a:spcBef>
              <a:defRPr sz="800" b="1">
                <a:solidFill>
                  <a:srgbClr val="1D4ED8"/>
                </a:solidFill>
                <a:latin typeface="Microsoft YaHei"/>
              </a:defRPr>
            </a:pPr>
            <a:r>
              <a:t>👉 承接后续汇报【数据面优化成果】：连续物理块聚合、描述符批量编译、Host CPU 零数据拷贝与绕过主机内存 (Payload Bypass DDR)。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1234440"/>
            <a:ext cx="553212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9632" y="1234440"/>
            <a:ext cx="5532120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1271016"/>
            <a:ext cx="5312664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19" b="1">
                <a:solidFill>
                  <a:srgbClr val="1E3A8A"/>
                </a:solidFill>
                <a:latin typeface="Microsoft YaHei"/>
              </a:defRPr>
            </a:pPr>
            <a:r>
              <a:t>【控制面痛点引导】微秒级事务累积引发排队风暴与长尾恶化</a:t>
            </a:r>
          </a:p>
        </p:txBody>
      </p:sp>
      <p:pic>
        <p:nvPicPr>
          <p:cNvPr id="21" name="Picture 20" descr="beluga_fig14_cropp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581912"/>
            <a:ext cx="5120640" cy="118872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309360" y="2788920"/>
            <a:ext cx="5312664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>
                <a:solidFill>
                  <a:srgbClr val="BE123C"/>
                </a:solidFill>
                <a:latin typeface="Microsoft YaHei"/>
              </a:defRPr>
            </a:pPr>
            <a:r>
              <a:t>❌ 传统物理痛点：高并发下传统网络 RPC/元数据查表每次需 10~30µs；当并发上升或前缀变短时，排队延迟呈 3.5 倍恶化发散，形成控制面瓶颈，导致 P99 TTFT 严重失控！</a:t>
            </a:r>
          </a:p>
          <a:p>
            <a:pPr>
              <a:spcBef>
                <a:spcPts val="200"/>
              </a:spcBef>
              <a:defRPr sz="800">
                <a:solidFill>
                  <a:srgbClr val="0F172A"/>
                </a:solidFill>
                <a:latin typeface="Microsoft YaHei"/>
              </a:defRPr>
            </a:pPr>
            <a:r>
              <a:t>✅ 快路径收益传导：单次控制事务缩短数微秒 ➔ 同等在途并发下控制吞吐提升 2.5 倍以上（突破 12 M ops/s），彻底消除控制面堆积与 Head-of-Line 阻塞。（Beluga SIGMOD'26 Fig.14 外部微基准）</a:t>
            </a:r>
          </a:p>
          <a:p>
            <a:pPr>
              <a:spcBef>
                <a:spcPts val="200"/>
              </a:spcBef>
              <a:defRPr sz="800" b="1">
                <a:solidFill>
                  <a:srgbClr val="1D4ED8"/>
                </a:solidFill>
                <a:latin typeface="Microsoft YaHei"/>
              </a:defRPr>
            </a:pPr>
            <a:r>
              <a:t>👉 承接后续汇报【控制面优化成果】：元数据共享内存快路径、单边免 CPU 协商、描述符批量复用与微秒选路决策。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977639"/>
            <a:ext cx="11277295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E3A8A"/>
                </a:solidFill>
                <a:latin typeface="Microsoft YaHei"/>
              </a:defRPr>
            </a:pPr>
            <a:r>
              <a:t>【优化方向与收益传导矩阵（直接对应后续控制面与数据面成果汇报）】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457200" y="4215383"/>
          <a:ext cx="11274552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/>
                <a:gridCol w="2560320"/>
                <a:gridCol w="2011680"/>
                <a:gridCol w="3291840"/>
                <a:gridCol w="1719072"/>
              </a:tblGrid>
              <a:tr h="37338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优化方向 / 归属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软件 / 硬件机制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收益场景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微观变化与收益传导机理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收益指标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D4ED8"/>
                          </a:solidFill>
                          <a:latin typeface="Microsoft YaHei"/>
                        </a:defRPr>
                      </a:pPr>
                      <a:r>
                        <a:t>【控制面】</a:t>
                      </a:r>
                      <a:br/>
                      <a:r>
                        <a:t>元数据快路径与稳定描述符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共享内存检索、批量查询；</a:t>
                      </a:r>
                      <a:br/>
                      <a:r>
                        <a:t>复用注册信息与地址描述符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高复用且加载快；</a:t>
                      </a:r>
                      <a:br/>
                      <a:r>
                        <a:t>查询服务接近饱和的高并发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查询往返、注册和处理开销减少 ➔ 同步等待与控制面排队减少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缩短 TTFT、P99 TTFT</a:t>
                      </a:r>
                      <a:br/>
                      <a:r>
                        <a:t>提高有效 QPS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D4ED8"/>
                          </a:solidFill>
                          <a:latin typeface="Microsoft YaHei"/>
                        </a:defRPr>
                      </a:pPr>
                      <a:r>
                        <a:t>【控制面】</a:t>
                      </a:r>
                      <a:br/>
                      <a:r>
                        <a:t>动态选路决策与前后台控制</a:t>
                      </a:r>
                    </a:p>
                  </a:txBody>
                  <a:tcPr anchor="ctr"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加载 / 重算成本前置模型；</a:t>
                      </a:r>
                      <a:br/>
                      <a:r>
                        <a:t>硬件优先级队列、限速与退避</a:t>
                      </a:r>
                    </a:p>
                  </a:txBody>
                  <a:tcPr anchor="ctr"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低复用、拥塞链路；</a:t>
                      </a:r>
                      <a:br/>
                      <a:r>
                        <a:t>前台推理与后台搬运混压</a:t>
                      </a:r>
                    </a:p>
                  </a:txBody>
                  <a:tcPr anchor="ctr"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不划算的拉取与共享资源竞争减少 ➔ 杜绝性能反噬，降低生成干扰</a:t>
                      </a:r>
                    </a:p>
                  </a:txBody>
                  <a:tcPr anchor="ctr"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改善 TTFT、TPOT 与 P99</a:t>
                      </a:r>
                      <a:br/>
                      <a:r>
                        <a:t>提高有效 QPS</a:t>
                      </a:r>
                    </a:p>
                  </a:txBody>
                  <a:tcPr anchor="ctr" marL="54864" marR="54864" marT="18288" marB="18288">
                    <a:solidFill>
                      <a:srgbClr val="F1F5F9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【数据面】</a:t>
                      </a:r>
                      <a:br/>
                      <a:r>
                        <a:t>布局转换与批量聚合搬运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计算 / 传输布局解耦；</a:t>
                      </a:r>
                      <a:br/>
                      <a:r>
                        <a:t>连续块聚合、批量 DMA 提交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长前缀恢复；</a:t>
                      </a:r>
                      <a:br/>
                      <a:r>
                        <a:t>KV 碎片多、小传输密集场景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小 I/O、描述符和提交次数减少 ➔ 打满物理带宽，加载等待缩短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显著缩短 TTFT</a:t>
                      </a:r>
                      <a:br/>
                      <a:r>
                        <a:t>提高有效 QPS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【数据面】</a:t>
                      </a:r>
                      <a:br/>
                      <a:r>
                        <a:t>分层放置与多通道均衡利用</a:t>
                      </a:r>
                    </a:p>
                  </a:txBody>
                  <a:tcPr anchor="ctr"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分层存储、亲和分配与带宽分片；</a:t>
                      </a:r>
                      <a:br/>
                      <a:r>
                        <a:t>拓扑感知选路、通道负载均衡</a:t>
                      </a:r>
                    </a:p>
                  </a:txBody>
                  <a:tcPr anchor="ctr"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多内存通道、多网卡；</a:t>
                      </a:r>
                      <a:br/>
                      <a:r>
                        <a:t>链路负载不均或容量受限</a:t>
                      </a:r>
                    </a:p>
                  </a:txBody>
                  <a:tcPr anchor="ctr"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跨域访问和热点通道排队减少 ➔ 物理可用容量与聚合带宽更充分利用</a:t>
                      </a:r>
                    </a:p>
                  </a:txBody>
                  <a:tcPr anchor="ctr"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缩短 TTFT、收敛尾时延</a:t>
                      </a:r>
                      <a:br/>
                      <a:r>
                        <a:t>提高有效 QPS，降低 TCO</a:t>
                      </a:r>
                    </a:p>
                  </a:txBody>
                  <a:tcPr anchor="ctr" marL="54864" marR="54864" marT="18288" marB="18288">
                    <a:solidFill>
                      <a:srgbClr val="F1F5F9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【数据面】</a:t>
                      </a:r>
                      <a:br/>
                      <a:r>
                        <a:t>按需直达与按层异步流水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设备 DMA 直达绕过主机内存；</a:t>
                      </a:r>
                      <a:br/>
                      <a:r>
                        <a:t>按需访问、逐层预取与计算重叠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外部 KV 恢复；</a:t>
                      </a:r>
                      <a:br/>
                      <a:r>
                        <a:t>生成中需要逐层召回的场景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消除中转与 Host CPU 拷贝，首层等待减少 ➔ 数据等待与计算停顿掩盖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缩短 TTFT</a:t>
                      </a:r>
                      <a:br/>
                      <a:r>
                        <a:t>逐层召回场景改善 TPOT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457200" y="6537960"/>
            <a:ext cx="10287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Microsoft YaHei"/>
              </a:defRPr>
            </a:pPr>
            <a:r>
              <a:t>KVC 工作汇报 · 2026-10-15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74552" y="6537960"/>
            <a:ext cx="4572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475569"/>
                </a:solidFill>
                <a:latin typeface="Microsoft YaHei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777240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下一步工作安排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164592"/>
            <a:ext cx="3319272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BFDBFE"/>
                </a:solidFill>
                <a:latin typeface="Microsoft YaHei"/>
              </a:defRPr>
            </a:pPr>
            <a:r>
              <a:t>KVC 工作规划 · 原型实测与软硬协同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04672"/>
            <a:ext cx="11277295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804672"/>
            <a:ext cx="73152" cy="347472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841248"/>
            <a:ext cx="11018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0F172A"/>
                </a:solidFill>
                <a:latin typeface="Microsoft YaHei"/>
              </a:defRPr>
            </a:pPr>
            <a:r>
              <a:t>推进现有控制面、数据面原型测试，并把发现的物理瓶颈整理为软硬协同研究课题。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234440"/>
          <a:ext cx="11277295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474720"/>
                <a:gridCol w="2743200"/>
                <a:gridCol w="3413455"/>
              </a:tblGrid>
              <a:tr h="603504"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工作方向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近期工作重点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重点验证工况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观察指标与交付成果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1E3A8A"/>
                          </a:solidFill>
                          <a:latin typeface="Microsoft YaHei"/>
                        </a:defRPr>
                      </a:pPr>
                      <a:r>
                        <a:t>控制面优化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复核检索基线与统计口径；</a:t>
                      </a:r>
                      <a:br/>
                      <a:r>
                        <a:t>补充查询、注册、提交和排队的耗时分解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低载、高复用快加载；</a:t>
                      </a:r>
                      <a:br/>
                      <a:r>
                        <a:t>控制服务接近饱和的高并发场景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查询 / 提交开销、TTFT、P99 尾部时延</a:t>
                      </a:r>
                      <a:br/>
                      <a:r>
                        <a:t>检索对照与在线影响分析报告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1E3A8A"/>
                          </a:solidFill>
                          <a:latin typeface="Microsoft YaHei"/>
                        </a:defRPr>
                      </a:pPr>
                      <a:r>
                        <a:t>数据面优化</a:t>
                      </a:r>
                    </a:p>
                  </a:txBody>
                  <a:tcPr anchor="ctr" marL="73152" marR="73152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比较业务块粒度、连续程度和提交方式；</a:t>
                      </a:r>
                      <a:br/>
                      <a:r>
                        <a:t>对照直达、中转与按层流水的实际开销</a:t>
                      </a:r>
                    </a:p>
                  </a:txBody>
                  <a:tcPr anchor="ctr" marL="73152" marR="73152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长前缀、碎片化 KV；</a:t>
                      </a:r>
                      <a:br/>
                      <a:r>
                        <a:t>多通道与逐层召回场景</a:t>
                      </a:r>
                    </a:p>
                  </a:txBody>
                  <a:tcPr anchor="ctr" marL="73152" marR="73152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搬运字节、有效带宽、首层等待时间</a:t>
                      </a:r>
                      <a:br/>
                      <a:r>
                        <a:t>加载分解及 TTFT / TPOT 对照数据</a:t>
                      </a:r>
                    </a:p>
                  </a:txBody>
                  <a:tcPr anchor="ctr" marL="73152" marR="73152" marT="36576" marB="36576">
                    <a:solidFill>
                      <a:srgbClr val="F1F5F9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1E3A8A"/>
                          </a:solidFill>
                          <a:latin typeface="Microsoft YaHei"/>
                        </a:defRPr>
                      </a:pPr>
                      <a:r>
                        <a:t>组合与混压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在代表工况组合有效机制；</a:t>
                      </a:r>
                      <a:br/>
                      <a:r>
                        <a:t>记录前台推理与后台搬运的实际通路和资源使用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正常 / 拥塞网络；</a:t>
                      </a:r>
                      <a:br/>
                      <a:r>
                        <a:t>纯前台与固定后台高吞吐搬运混压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TTFT、TPOT、有效 QPS 达标率</a:t>
                      </a:r>
                      <a:br/>
                      <a:r>
                        <a:t>后台进度及资源代价平衡曲线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1E3A8A"/>
                          </a:solidFill>
                          <a:latin typeface="Microsoft YaHei"/>
                        </a:defRPr>
                      </a:pPr>
                      <a:r>
                        <a:t>软硬协同研究</a:t>
                      </a:r>
                    </a:p>
                  </a:txBody>
                  <a:tcPr anchor="ctr" marL="73152" marR="73152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按表示、放置、访问和执行梳理物理瓶颈；</a:t>
                      </a:r>
                      <a:br/>
                      <a:r>
                        <a:t>评估布局转换、稳定描述符、拓扑与队列能力</a:t>
                      </a:r>
                    </a:p>
                  </a:txBody>
                  <a:tcPr anchor="ctr" marL="73152" marR="73152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依托现有设备和验证原型；</a:t>
                      </a:r>
                      <a:br/>
                      <a:r>
                        <a:t>对应具体访问粒度与消费方式</a:t>
                      </a:r>
                    </a:p>
                  </a:txBody>
                  <a:tcPr anchor="ctr" marL="73152" marR="73152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机制—物理开销—业务指标映射分析</a:t>
                      </a:r>
                      <a:br/>
                      <a:r>
                        <a:t>共性硬件能力清单与候选芯片课题</a:t>
                      </a:r>
                    </a:p>
                  </a:txBody>
                  <a:tcPr anchor="ctr" marL="73152" marR="73152" marT="36576" marB="36576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4434840"/>
            <a:ext cx="1127729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E3A8A"/>
                </a:solidFill>
                <a:latin typeface="Microsoft YaHei"/>
              </a:defRPr>
            </a:pPr>
            <a:r>
              <a:t>【三周推进安排与节奏规划】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754880"/>
            <a:ext cx="36118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4754880"/>
            <a:ext cx="3611880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4791456"/>
            <a:ext cx="342900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1E3A8A"/>
                </a:solidFill>
                <a:latin typeface="Microsoft YaHei"/>
              </a:defRPr>
            </a:pPr>
            <a:r>
              <a:t>第 1 周：基线与瓶颈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5102352"/>
            <a:ext cx="3392424" cy="11704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19" b="1">
                <a:solidFill>
                  <a:srgbClr val="1D4ED8"/>
                </a:solidFill>
                <a:latin typeface="Microsoft YaHei"/>
              </a:defRPr>
            </a:pPr>
            <a:r>
              <a:t>【核心目标】统一基准 · 测清耗时</a:t>
            </a:r>
          </a:p>
          <a:p>
            <a:pPr>
              <a:spcBef>
                <a:spcPts val="300"/>
              </a:spcBef>
              <a:defRPr sz="800">
                <a:solidFill>
                  <a:srgbClr val="0F172A"/>
                </a:solidFill>
                <a:latin typeface="Microsoft YaHei"/>
              </a:defRPr>
            </a:pPr>
            <a:r>
              <a:t>• 统一实验比较条件，复核检索与通信记录</a:t>
            </a:r>
          </a:p>
          <a:p>
            <a:pPr>
              <a:spcBef>
                <a:spcPts val="300"/>
              </a:spcBef>
              <a:defRPr sz="800">
                <a:solidFill>
                  <a:srgbClr val="0F172A"/>
                </a:solidFill>
                <a:latin typeface="Microsoft YaHei"/>
              </a:defRPr>
            </a:pPr>
            <a:r>
              <a:t>• 测清查询、提交、搬运和同步分别耗时多少</a:t>
            </a:r>
          </a:p>
          <a:p>
            <a:pPr>
              <a:spcBef>
                <a:spcPts val="300"/>
              </a:spcBef>
              <a:defRPr sz="800">
                <a:solidFill>
                  <a:srgbClr val="0F172A"/>
                </a:solidFill>
                <a:latin typeface="Microsoft YaHei"/>
              </a:defRPr>
            </a:pPr>
            <a:r>
              <a:t>• 建立各环节时间开销微秒级基线台账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88536" y="4754880"/>
            <a:ext cx="36118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88536" y="4754880"/>
            <a:ext cx="3611880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79976" y="4791456"/>
            <a:ext cx="342900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1E3A8A"/>
                </a:solidFill>
                <a:latin typeface="Microsoft YaHei"/>
              </a:defRPr>
            </a:pPr>
            <a:r>
              <a:t>第 2 周：单项与场景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98264" y="5102352"/>
            <a:ext cx="3392424" cy="11704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19" b="1">
                <a:solidFill>
                  <a:srgbClr val="1D4ED8"/>
                </a:solidFill>
                <a:latin typeface="Microsoft YaHei"/>
              </a:defRPr>
            </a:pPr>
            <a:r>
              <a:t>【核心目标】机制切换 · 指标穿透</a:t>
            </a:r>
          </a:p>
          <a:p>
            <a:pPr>
              <a:spcBef>
                <a:spcPts val="300"/>
              </a:spcBef>
              <a:defRPr sz="800">
                <a:solidFill>
                  <a:srgbClr val="0F172A"/>
                </a:solidFill>
                <a:latin typeface="Microsoft YaHei"/>
              </a:defRPr>
            </a:pPr>
            <a:r>
              <a:t>• 分别切换各单项优化机制，测试代表业务场景</a:t>
            </a:r>
          </a:p>
          <a:p>
            <a:pPr>
              <a:spcBef>
                <a:spcPts val="300"/>
              </a:spcBef>
              <a:defRPr sz="800">
                <a:solidFill>
                  <a:srgbClr val="0F172A"/>
                </a:solidFill>
                <a:latin typeface="Microsoft YaHei"/>
              </a:defRPr>
            </a:pPr>
            <a:r>
              <a:t>• 把物理开销变化与请求时延、吞吐精准对应</a:t>
            </a:r>
          </a:p>
          <a:p>
            <a:pPr>
              <a:spcBef>
                <a:spcPts val="300"/>
              </a:spcBef>
              <a:defRPr sz="800">
                <a:solidFill>
                  <a:srgbClr val="0F172A"/>
                </a:solidFill>
                <a:latin typeface="Microsoft YaHei"/>
              </a:defRPr>
            </a:pPr>
            <a:r>
              <a:t>• 验证控制面快路径与数据面连续聚合加速净收益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19872" y="4754880"/>
            <a:ext cx="3611880" cy="1554480"/>
          </a:xfrm>
          <a:prstGeom prst="rect">
            <a:avLst/>
          </a:prstGeom>
          <a:solidFill>
            <a:srgbClr val="EFF6FF"/>
          </a:solidFill>
          <a:ln w="1524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19872" y="4754880"/>
            <a:ext cx="3611880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11312" y="4791456"/>
            <a:ext cx="342900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1E3A8A"/>
                </a:solidFill>
                <a:latin typeface="Microsoft YaHei"/>
              </a:defRPr>
            </a:pPr>
            <a:r>
              <a:t>第 3 周：组合与汇总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5102352"/>
            <a:ext cx="3392424" cy="11704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19" b="1">
                <a:solidFill>
                  <a:srgbClr val="1D4ED8"/>
                </a:solidFill>
                <a:latin typeface="Microsoft YaHei"/>
              </a:defRPr>
            </a:pPr>
            <a:r>
              <a:t>【核心目标】全链混压 · 提炼课题</a:t>
            </a:r>
          </a:p>
          <a:p>
            <a:pPr>
              <a:spcBef>
                <a:spcPts val="300"/>
              </a:spcBef>
              <a:defRPr sz="800">
                <a:solidFill>
                  <a:srgbClr val="0F172A"/>
                </a:solidFill>
                <a:latin typeface="Microsoft YaHei"/>
              </a:defRPr>
            </a:pPr>
            <a:r>
              <a:t>• 复测重点结果，补充组合和前后台混压对照</a:t>
            </a:r>
          </a:p>
          <a:p>
            <a:pPr>
              <a:spcBef>
                <a:spcPts val="300"/>
              </a:spcBef>
              <a:defRPr sz="800">
                <a:solidFill>
                  <a:srgbClr val="0F172A"/>
                </a:solidFill>
                <a:latin typeface="Microsoft YaHei"/>
              </a:defRPr>
            </a:pPr>
            <a:r>
              <a:t>• 汇总收益场景、资源代价、瓶颈与反思总结</a:t>
            </a:r>
          </a:p>
          <a:p>
            <a:pPr>
              <a:spcBef>
                <a:spcPts val="300"/>
              </a:spcBef>
              <a:defRPr sz="800">
                <a:solidFill>
                  <a:srgbClr val="0F172A"/>
                </a:solidFill>
                <a:latin typeface="Microsoft YaHei"/>
              </a:defRPr>
            </a:pPr>
            <a:r>
              <a:t>• 提炼出可落地的软硬件协同共性研究线索与课题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537960"/>
            <a:ext cx="10287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Microsoft YaHei"/>
              </a:defRPr>
            </a:pPr>
            <a:r>
              <a:t>KVC 工作汇报 · 2026-10-15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74552" y="6537960"/>
            <a:ext cx="4572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475569"/>
                </a:solidFill>
                <a:latin typeface="Microsoft YaHei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