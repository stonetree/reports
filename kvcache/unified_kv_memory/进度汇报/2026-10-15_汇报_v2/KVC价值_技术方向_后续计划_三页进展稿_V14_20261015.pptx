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【汇报讲稿与技术背景（第 1 页：KVC 软硬协同价值）】</a:t>
            </a:r>
          </a:p>
          <a:p>
            <a:r>
              <a:t>各位领导、评审专家，大家好！本页重点汇报我们围绕 KVCache 展开软硬件协同优化的核心逻辑与第一性原理。</a:t>
            </a:r>
          </a:p>
          <a:p>
            <a:r>
              <a:t>在传统认知中，KVCache 往往被视作上层推理框架的一个缓存淘汰算法或中间件对象。但当我们深入底层时发现：KVC 绝不仅是软件数据结构，它是一个直接跨越五个物理抽象层级的体系结构问题（如顶部流程图所示）：</a:t>
            </a:r>
          </a:p>
          <a:p>
            <a:r>
              <a:t>1. 逻辑 KV 层：定义 Token 前缀和注意力激活张量；</a:t>
            </a:r>
          </a:p>
          <a:p>
            <a:r>
              <a:t>2. 物理布局层：将逻辑 Block 组织为适合高速搬运的连续块；</a:t>
            </a:r>
          </a:p>
          <a:p>
            <a:r>
              <a:t>3. 物理介质层：跨 HBM、DDR、CXL 与 NVMe SSD 进行多级容量扩展；</a:t>
            </a:r>
          </a:p>
          <a:p>
            <a:r>
              <a:t>4. 数据路径层：消除 CPU 内存中转，实现 Host CPU 零数据拷贝与设备 DMA 直达；</a:t>
            </a:r>
          </a:p>
          <a:p>
            <a:r>
              <a:t>5. 计算消费层：实现按层流式预取，使数据搬运完全被 GPU/NPU 计算掩盖。</a:t>
            </a:r>
          </a:p>
          <a:p/>
          <a:p>
            <a:r>
              <a:t>【右侧外部实测盈亏平衡线分析】：</a:t>
            </a:r>
          </a:p>
          <a:p>
            <a:r>
              <a:t>右图来自 2026 年顶会针对外部主流推理引擎（vLLM）外挂存储的最新实测（py-kvcache）。图中的横轴是用户输入的上下文长度（1k 到 80k Tokens），纵轴是前缀命中的复用比例（0% 到 100%）。颜色代表加速比对数：绿色代表加载比重算快（净加速，最高 4 倍），橙红色代表加载比重算更慢（性能反噬，降速最高达 4 倍），黑色实线则是两者的盈亏平衡分界线（Break-Even Frontier）。</a:t>
            </a:r>
          </a:p>
          <a:p>
            <a:r>
              <a:t>可以看到，在最右侧通用的 CPU 卸载通路中，在 1k~8k 的中短上下文下，存在大面积的红色负收益区——这意味着即便前缀命中率高达 70%，拉取缓存的开销依然大于直接用 GPU 重新计算。只有当上下文拉长到数万 Tokens 时，重算代价极高，才逐渐进入绿色净收益区。</a:t>
            </a:r>
          </a:p>
          <a:p>
            <a:r>
              <a:t>这给我们的技术启示是：KVCache 命中并不天然等于性能收益。如果不做软硬件协同，依然走传统的 Host CPU 二次拷贝与散碎小 I/O，大部分业务请求都会落在红色负收益区。唯有通过 Host CPU 零数据拷贝、连续物理块聚合和设备 DMA 直达，把底层数据搬运开销压降到极致，才能把这条盈亏平衡线大幅向下平移，使中短前缀和中低复用率场景也能稳定获取加速收益。</a:t>
            </a:r>
          </a:p>
          <a:p/>
          <a:p>
            <a:r>
              <a:t>参考文献依据：OSDI 2026 Strata; FAST 2026 Bidaw; SIGCOMM 2026 DualPath; py-kvcache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【汇报讲稿与技术背景（第 2 页：技术探索方向与瓶颈引导）】</a:t>
            </a:r>
          </a:p>
          <a:p>
            <a:r>
              <a:t>本页是承上启下的关键页，核心任务是引导领导和评审专家清晰看到 KVC 在数据面与控制面面临的根本物理瓶颈，并直接引出后续具体优化成果汇报。</a:t>
            </a:r>
          </a:p>
          <a:p/>
          <a:p>
            <a:r>
              <a:t>左侧聚焦【数据面物理痛点】：</a:t>
            </a:r>
          </a:p>
          <a:p>
            <a:r>
              <a:t>大模型计算天然需要按层（Layer-first）组织显存以便执行注意力计算；但如果存储和 Host 内存也机械沿用该布局，跨层 KV 读取就会被切碎成海量微小 I/O。Strata (OSDI'26) 实测表明，在离散小页下 PCIe/总线利用率仅有 5%~22%，I/O 停顿占 Prefill 总耗时达 74%。通过计算/传输布局解耦与按页连续聚合，平均 TTFT 缩短 52%（5.03s 降至 2.42s），吞吐提升 33%。这直接证实了我们在数据面推进“连续块聚合、描述符批量编译、Host CPU 零拷贝与绕过主机内存”的必要性。</a:t>
            </a:r>
          </a:p>
          <a:p/>
          <a:p>
            <a:r>
              <a:t>右侧聚焦【控制面开销瓶颈】：</a:t>
            </a:r>
          </a:p>
          <a:p>
            <a:r>
              <a:t>Beluga (SIGMOD'26) 的微基准测试揭示了高并发下的系统瓶颈：传统网络 RPC 控制事务耗时 10~30µs。随着并发上升，排队延迟呈 3.5 倍发散恶化，形成控制面阻塞，拉大 P99 尾部时延。而通过微秒级快路径，控制开销压降至数微秒，吞吐提升 2.5 倍以上。这直接引出了我们在控制面深耕的“元数据共享内存快路径、单边免 CPU 协商与微秒选路决策”。</a:t>
            </a:r>
          </a:p>
          <a:p/>
          <a:p>
            <a:r>
              <a:t>下方的优化方向表，清晰地将 5 大机制划分为控制面与数据面，与后续汇报的实验数据一一对应。</a:t>
            </a:r>
          </a:p>
          <a:p/>
          <a:p>
            <a:r>
              <a:t>参考文献依据：OSDI 2026 Strata (Fig.6, Fig.13); SIGMOD 2026 Beluga (Fig.14)。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【汇报讲稿与技术背景（第 3 页：下一步工作规划）】</a:t>
            </a:r>
          </a:p>
          <a:p>
            <a:r>
              <a:t>各位领导，在前面几页中，我们汇报了 KVC 的体系结构物理化价值与实测盈亏平衡边界，同事们也展示了控制面微秒快路径与数据面连续聚合的实际优化数据。在此基础上，最后一页向领导汇报后续的三阶段推进规划：</a:t>
            </a:r>
          </a:p>
          <a:p/>
          <a:p>
            <a:r>
              <a:t>1. 阶段一（近期 1~3 周 · 原型闭环）：推进机制全组合与真实双节点前后台混压，以严格客观门禁检验效果（TTFT 缩短 ≥20%、QPS 提升 ≥10%、TPOT 干扰率 &lt;3%），彻底摸清全工况收益边界并沉淀对账台账；</a:t>
            </a:r>
          </a:p>
          <a:p>
            <a:r>
              <a:t>2. 阶段二（中期 1~2 个月 · 生产就绪）：以插件化方式无缝接入主流开源推理引擎（vLLM / SGLang），打通张量并行多卡协同与多级存储自动分层扩容，交付统一调度底座代码库；</a:t>
            </a:r>
          </a:p>
          <a:p>
            <a:r>
              <a:t>3. 阶段三（远期 · 芯片协同）：跳出单一软件层面，将原型中验证有效的连续物理块与设备 DMA 直达等物理机制标准化，沉淀为下一代国产专用 AI 芯片的硬件设计输入，实现原厂软硬件协同演进。</a:t>
            </a:r>
          </a:p>
          <a:p/>
          <a:p>
            <a:r>
              <a:t>整个规划按客观技术演进节奏推进，目标明确、指标量化、交付物清晰。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94944"/>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772400" cy="475488"/>
          </a:xfrm>
          <a:prstGeom prst="rect">
            <a:avLst/>
          </a:prstGeom>
          <a:noFill/>
        </p:spPr>
        <p:txBody>
          <a:bodyPr wrap="square" lIns="0" tIns="0" rIns="0" bIns="0">
            <a:spAutoFit/>
          </a:bodyPr>
          <a:lstStyle/>
          <a:p>
            <a:pPr>
              <a:defRPr sz="1600" b="1">
                <a:solidFill>
                  <a:srgbClr val="FFFFFF"/>
                </a:solidFill>
                <a:latin typeface="Microsoft YaHei"/>
              </a:defRPr>
            </a:pPr>
            <a:r>
              <a:t>KVC 的软硬协同价值：从计算状态到物理执行</a:t>
            </a:r>
          </a:p>
        </p:txBody>
      </p:sp>
      <p:sp>
        <p:nvSpPr>
          <p:cNvPr id="4" name="TextBox 3"/>
          <p:cNvSpPr txBox="1"/>
          <p:nvPr/>
        </p:nvSpPr>
        <p:spPr>
          <a:xfrm>
            <a:off x="8412480" y="164592"/>
            <a:ext cx="3319272" cy="365760"/>
          </a:xfrm>
          <a:prstGeom prst="rect">
            <a:avLst/>
          </a:prstGeom>
          <a:noFill/>
        </p:spPr>
        <p:txBody>
          <a:bodyPr wrap="none" lIns="0" tIns="0" rIns="0" bIns="0">
            <a:spAutoFit/>
          </a:bodyPr>
          <a:lstStyle/>
          <a:p>
            <a:pPr algn="r">
              <a:defRPr sz="1100" b="1">
                <a:solidFill>
                  <a:srgbClr val="BFDBFE"/>
                </a:solidFill>
                <a:latin typeface="Microsoft YaHei"/>
              </a:defRPr>
            </a:pPr>
            <a:r>
              <a:t>KVC 价值探索 · 体系结构与业务传导</a:t>
            </a:r>
          </a:p>
        </p:txBody>
      </p:sp>
      <p:sp>
        <p:nvSpPr>
          <p:cNvPr id="5" name="Rectangle 4"/>
          <p:cNvSpPr/>
          <p:nvPr/>
        </p:nvSpPr>
        <p:spPr>
          <a:xfrm>
            <a:off x="457200" y="804672"/>
            <a:ext cx="11277295" cy="36576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804672"/>
            <a:ext cx="73152" cy="36576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841248"/>
            <a:ext cx="11018520" cy="292608"/>
          </a:xfrm>
          <a:prstGeom prst="rect">
            <a:avLst/>
          </a:prstGeom>
          <a:noFill/>
        </p:spPr>
        <p:txBody>
          <a:bodyPr wrap="square" lIns="0" tIns="0" rIns="0" bIns="0">
            <a:spAutoFit/>
          </a:bodyPr>
          <a:lstStyle/>
          <a:p>
            <a:pPr>
              <a:defRPr sz="950">
                <a:solidFill>
                  <a:srgbClr val="0F172A"/>
                </a:solidFill>
                <a:latin typeface="Microsoft YaHei"/>
              </a:defRPr>
            </a:pPr>
            <a:r>
              <a:t>大模型注意力键值缓存（KVCache）将逻辑计算状态与底层内存、存储、互联及执行紧密绑定；单纯上层优化无法突破物理墙，底层通路决定其能否兑现为业务净收益。</a:t>
            </a:r>
          </a:p>
        </p:txBody>
      </p:sp>
      <p:sp>
        <p:nvSpPr>
          <p:cNvPr id="8" name="Rectangle 7"/>
          <p:cNvSpPr/>
          <p:nvPr/>
        </p:nvSpPr>
        <p:spPr>
          <a:xfrm>
            <a:off x="457200" y="1261872"/>
            <a:ext cx="1975104" cy="786384"/>
          </a:xfrm>
          <a:prstGeom prst="rect">
            <a:avLst/>
          </a:prstGeom>
          <a:solidFill>
            <a:srgbClr val="EFF6FF"/>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1307592"/>
            <a:ext cx="1865376" cy="694944"/>
          </a:xfrm>
          <a:prstGeom prst="rect">
            <a:avLst/>
          </a:prstGeom>
          <a:noFill/>
        </p:spPr>
        <p:txBody>
          <a:bodyPr wrap="square" lIns="0" tIns="0" rIns="0" bIns="0">
            <a:spAutoFit/>
          </a:bodyPr>
          <a:lstStyle/>
          <a:p>
            <a:pPr>
              <a:defRPr sz="1019" b="1">
                <a:solidFill>
                  <a:srgbClr val="1E3A8A"/>
                </a:solidFill>
                <a:latin typeface="Microsoft YaHei"/>
              </a:defRPr>
            </a:pPr>
            <a:r>
              <a:t>① 逻辑 KV</a:t>
            </a:r>
          </a:p>
          <a:p>
            <a:pPr>
              <a:spcBef>
                <a:spcPts val="100"/>
              </a:spcBef>
              <a:defRPr sz="800" b="1">
                <a:solidFill>
                  <a:srgbClr val="1D4ED8"/>
                </a:solidFill>
                <a:latin typeface="Microsoft YaHei"/>
              </a:defRPr>
            </a:pPr>
            <a:r>
              <a:t>[计算状态抽象]</a:t>
            </a:r>
          </a:p>
          <a:p>
            <a:pPr>
              <a:spcBef>
                <a:spcPts val="100"/>
              </a:spcBef>
              <a:defRPr sz="750">
                <a:solidFill>
                  <a:srgbClr val="475569"/>
                </a:solidFill>
                <a:latin typeface="Microsoft YaHei"/>
              </a:defRPr>
            </a:pPr>
            <a:r>
              <a:t>Token/提示词前缀 · 激活状态张量 · 逐层依赖</a:t>
            </a:r>
          </a:p>
        </p:txBody>
      </p:sp>
      <p:sp>
        <p:nvSpPr>
          <p:cNvPr id="10" name="TextBox 9"/>
          <p:cNvSpPr txBox="1"/>
          <p:nvPr/>
        </p:nvSpPr>
        <p:spPr>
          <a:xfrm>
            <a:off x="2432304" y="1389888"/>
            <a:ext cx="347472" cy="502920"/>
          </a:xfrm>
          <a:prstGeom prst="rect">
            <a:avLst/>
          </a:prstGeom>
          <a:noFill/>
        </p:spPr>
        <p:txBody>
          <a:bodyPr wrap="none" lIns="0" tIns="0" rIns="0" bIns="0">
            <a:spAutoFit/>
          </a:bodyPr>
          <a:lstStyle/>
          <a:p>
            <a:pPr algn="ctr">
              <a:defRPr sz="750" b="1">
                <a:solidFill>
                  <a:srgbClr val="1D4ED8"/>
                </a:solidFill>
                <a:latin typeface="Microsoft YaHei"/>
              </a:defRPr>
            </a:pPr>
            <a:r>
              <a:t>表示</a:t>
            </a:r>
          </a:p>
          <a:p>
            <a:pPr algn="ctr">
              <a:spcBef>
                <a:spcPts val="100"/>
              </a:spcBef>
              <a:defRPr sz="1100" b="1">
                <a:solidFill>
                  <a:srgbClr val="1D4ED8"/>
                </a:solidFill>
                <a:latin typeface="Microsoft YaHei"/>
              </a:defRPr>
            </a:pPr>
            <a:r>
              <a:t>➔</a:t>
            </a:r>
          </a:p>
        </p:txBody>
      </p:sp>
      <p:sp>
        <p:nvSpPr>
          <p:cNvPr id="11" name="Rectangle 10"/>
          <p:cNvSpPr/>
          <p:nvPr/>
        </p:nvSpPr>
        <p:spPr>
          <a:xfrm>
            <a:off x="2779776" y="1261872"/>
            <a:ext cx="1975104" cy="78638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1307592"/>
            <a:ext cx="1865376" cy="694944"/>
          </a:xfrm>
          <a:prstGeom prst="rect">
            <a:avLst/>
          </a:prstGeom>
          <a:noFill/>
        </p:spPr>
        <p:txBody>
          <a:bodyPr wrap="square" lIns="0" tIns="0" rIns="0" bIns="0">
            <a:spAutoFit/>
          </a:bodyPr>
          <a:lstStyle/>
          <a:p>
            <a:pPr>
              <a:defRPr sz="1019" b="1">
                <a:solidFill>
                  <a:srgbClr val="1E3A8A"/>
                </a:solidFill>
                <a:latin typeface="Microsoft YaHei"/>
              </a:defRPr>
            </a:pPr>
            <a:r>
              <a:t>② 物理布局</a:t>
            </a:r>
          </a:p>
          <a:p>
            <a:pPr>
              <a:spcBef>
                <a:spcPts val="100"/>
              </a:spcBef>
              <a:defRPr sz="800" b="1">
                <a:solidFill>
                  <a:srgbClr val="1D4ED8"/>
                </a:solidFill>
                <a:latin typeface="Microsoft YaHei"/>
              </a:defRPr>
            </a:pPr>
            <a:r>
              <a:t>[组织与解耦]</a:t>
            </a:r>
          </a:p>
          <a:p>
            <a:pPr>
              <a:spcBef>
                <a:spcPts val="100"/>
              </a:spcBef>
              <a:defRPr sz="750">
                <a:solidFill>
                  <a:srgbClr val="475569"/>
                </a:solidFill>
                <a:latin typeface="Microsoft YaHei"/>
              </a:defRPr>
            </a:pPr>
            <a:r>
              <a:t>连续块聚合 (Chunking) · 读写与计算解耦</a:t>
            </a:r>
          </a:p>
        </p:txBody>
      </p:sp>
      <p:sp>
        <p:nvSpPr>
          <p:cNvPr id="13" name="TextBox 12"/>
          <p:cNvSpPr txBox="1"/>
          <p:nvPr/>
        </p:nvSpPr>
        <p:spPr>
          <a:xfrm>
            <a:off x="4754880" y="1389888"/>
            <a:ext cx="347472" cy="502920"/>
          </a:xfrm>
          <a:prstGeom prst="rect">
            <a:avLst/>
          </a:prstGeom>
          <a:noFill/>
        </p:spPr>
        <p:txBody>
          <a:bodyPr wrap="none" lIns="0" tIns="0" rIns="0" bIns="0">
            <a:spAutoFit/>
          </a:bodyPr>
          <a:lstStyle/>
          <a:p>
            <a:pPr algn="ctr">
              <a:defRPr sz="750" b="1">
                <a:solidFill>
                  <a:srgbClr val="1D4ED8"/>
                </a:solidFill>
                <a:latin typeface="Microsoft YaHei"/>
              </a:defRPr>
            </a:pPr>
            <a:r>
              <a:t>放置</a:t>
            </a:r>
          </a:p>
          <a:p>
            <a:pPr algn="ctr">
              <a:spcBef>
                <a:spcPts val="100"/>
              </a:spcBef>
              <a:defRPr sz="1100" b="1">
                <a:solidFill>
                  <a:srgbClr val="1D4ED8"/>
                </a:solidFill>
                <a:latin typeface="Microsoft YaHei"/>
              </a:defRPr>
            </a:pPr>
            <a:r>
              <a:t>➔</a:t>
            </a:r>
          </a:p>
        </p:txBody>
      </p:sp>
      <p:sp>
        <p:nvSpPr>
          <p:cNvPr id="14" name="Rectangle 13"/>
          <p:cNvSpPr/>
          <p:nvPr/>
        </p:nvSpPr>
        <p:spPr>
          <a:xfrm>
            <a:off x="5102352" y="1261872"/>
            <a:ext cx="1975104" cy="78638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1307592"/>
            <a:ext cx="1865376" cy="694944"/>
          </a:xfrm>
          <a:prstGeom prst="rect">
            <a:avLst/>
          </a:prstGeom>
          <a:noFill/>
        </p:spPr>
        <p:txBody>
          <a:bodyPr wrap="square" lIns="0" tIns="0" rIns="0" bIns="0">
            <a:spAutoFit/>
          </a:bodyPr>
          <a:lstStyle/>
          <a:p>
            <a:pPr>
              <a:defRPr sz="1019" b="1">
                <a:solidFill>
                  <a:srgbClr val="1E3A8A"/>
                </a:solidFill>
                <a:latin typeface="Microsoft YaHei"/>
              </a:defRPr>
            </a:pPr>
            <a:r>
              <a:t>③ 物理介质</a:t>
            </a:r>
          </a:p>
          <a:p>
            <a:pPr>
              <a:spcBef>
                <a:spcPts val="100"/>
              </a:spcBef>
              <a:defRPr sz="800" b="1">
                <a:solidFill>
                  <a:srgbClr val="1D4ED8"/>
                </a:solidFill>
                <a:latin typeface="Microsoft YaHei"/>
              </a:defRPr>
            </a:pPr>
            <a:r>
              <a:t>[多级存储分层]</a:t>
            </a:r>
          </a:p>
          <a:p>
            <a:pPr>
              <a:spcBef>
                <a:spcPts val="100"/>
              </a:spcBef>
              <a:defRPr sz="750">
                <a:solidFill>
                  <a:srgbClr val="475569"/>
                </a:solidFill>
                <a:latin typeface="Microsoft YaHei"/>
              </a:defRPr>
            </a:pPr>
            <a:r>
              <a:t>HBM ↔ Host DDR ↔ CXL ↔ NVMe SSD 扩展</a:t>
            </a:r>
          </a:p>
        </p:txBody>
      </p:sp>
      <p:sp>
        <p:nvSpPr>
          <p:cNvPr id="16" name="TextBox 15"/>
          <p:cNvSpPr txBox="1"/>
          <p:nvPr/>
        </p:nvSpPr>
        <p:spPr>
          <a:xfrm>
            <a:off x="7077456" y="1389888"/>
            <a:ext cx="347472" cy="502920"/>
          </a:xfrm>
          <a:prstGeom prst="rect">
            <a:avLst/>
          </a:prstGeom>
          <a:noFill/>
        </p:spPr>
        <p:txBody>
          <a:bodyPr wrap="none" lIns="0" tIns="0" rIns="0" bIns="0">
            <a:spAutoFit/>
          </a:bodyPr>
          <a:lstStyle/>
          <a:p>
            <a:pPr algn="ctr">
              <a:defRPr sz="750" b="1">
                <a:solidFill>
                  <a:srgbClr val="1D4ED8"/>
                </a:solidFill>
                <a:latin typeface="Microsoft YaHei"/>
              </a:defRPr>
            </a:pPr>
            <a:r>
              <a:t>通路</a:t>
            </a:r>
          </a:p>
          <a:p>
            <a:pPr algn="ctr">
              <a:spcBef>
                <a:spcPts val="100"/>
              </a:spcBef>
              <a:defRPr sz="1100" b="1">
                <a:solidFill>
                  <a:srgbClr val="1D4ED8"/>
                </a:solidFill>
                <a:latin typeface="Microsoft YaHei"/>
              </a:defRPr>
            </a:pPr>
            <a:r>
              <a:t>➔</a:t>
            </a:r>
          </a:p>
        </p:txBody>
      </p:sp>
      <p:sp>
        <p:nvSpPr>
          <p:cNvPr id="17" name="Rectangle 16"/>
          <p:cNvSpPr/>
          <p:nvPr/>
        </p:nvSpPr>
        <p:spPr>
          <a:xfrm>
            <a:off x="7424928" y="1261872"/>
            <a:ext cx="1975104" cy="78638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9792" y="1307592"/>
            <a:ext cx="1865376" cy="694944"/>
          </a:xfrm>
          <a:prstGeom prst="rect">
            <a:avLst/>
          </a:prstGeom>
          <a:noFill/>
        </p:spPr>
        <p:txBody>
          <a:bodyPr wrap="square" lIns="0" tIns="0" rIns="0" bIns="0">
            <a:spAutoFit/>
          </a:bodyPr>
          <a:lstStyle/>
          <a:p>
            <a:pPr>
              <a:defRPr sz="1019" b="1">
                <a:solidFill>
                  <a:srgbClr val="1E3A8A"/>
                </a:solidFill>
                <a:latin typeface="Microsoft YaHei"/>
              </a:defRPr>
            </a:pPr>
            <a:r>
              <a:t>④ 数据路径</a:t>
            </a:r>
          </a:p>
          <a:p>
            <a:pPr>
              <a:spcBef>
                <a:spcPts val="100"/>
              </a:spcBef>
              <a:defRPr sz="800" b="1">
                <a:solidFill>
                  <a:srgbClr val="1D4ED8"/>
                </a:solidFill>
                <a:latin typeface="Microsoft YaHei"/>
              </a:defRPr>
            </a:pPr>
            <a:r>
              <a:t>[硬件极速通路]</a:t>
            </a:r>
          </a:p>
          <a:p>
            <a:pPr>
              <a:spcBef>
                <a:spcPts val="100"/>
              </a:spcBef>
              <a:defRPr sz="750">
                <a:solidFill>
                  <a:srgbClr val="475569"/>
                </a:solidFill>
                <a:latin typeface="Microsoft YaHei"/>
              </a:defRPr>
            </a:pPr>
            <a:r>
              <a:t>Host CPU 零数据拷贝 · 设备 DMA 直达</a:t>
            </a:r>
          </a:p>
        </p:txBody>
      </p:sp>
      <p:sp>
        <p:nvSpPr>
          <p:cNvPr id="19" name="TextBox 18"/>
          <p:cNvSpPr txBox="1"/>
          <p:nvPr/>
        </p:nvSpPr>
        <p:spPr>
          <a:xfrm>
            <a:off x="9400032" y="1389888"/>
            <a:ext cx="347472" cy="502920"/>
          </a:xfrm>
          <a:prstGeom prst="rect">
            <a:avLst/>
          </a:prstGeom>
          <a:noFill/>
        </p:spPr>
        <p:txBody>
          <a:bodyPr wrap="none" lIns="0" tIns="0" rIns="0" bIns="0">
            <a:spAutoFit/>
          </a:bodyPr>
          <a:lstStyle/>
          <a:p>
            <a:pPr algn="ctr">
              <a:defRPr sz="750" b="1">
                <a:solidFill>
                  <a:srgbClr val="1D4ED8"/>
                </a:solidFill>
                <a:latin typeface="Microsoft YaHei"/>
              </a:defRPr>
            </a:pPr>
            <a:r>
              <a:t>流式</a:t>
            </a:r>
          </a:p>
          <a:p>
            <a:pPr algn="ctr">
              <a:spcBef>
                <a:spcPts val="100"/>
              </a:spcBef>
              <a:defRPr sz="1100" b="1">
                <a:solidFill>
                  <a:srgbClr val="1D4ED8"/>
                </a:solidFill>
                <a:latin typeface="Microsoft YaHei"/>
              </a:defRPr>
            </a:pPr>
            <a:r>
              <a:t>➔</a:t>
            </a:r>
          </a:p>
        </p:txBody>
      </p:sp>
      <p:sp>
        <p:nvSpPr>
          <p:cNvPr id="20" name="Rectangle 19"/>
          <p:cNvSpPr/>
          <p:nvPr/>
        </p:nvSpPr>
        <p:spPr>
          <a:xfrm>
            <a:off x="9747504" y="1261872"/>
            <a:ext cx="1975104" cy="786384"/>
          </a:xfrm>
          <a:prstGeom prst="rect">
            <a:avLst/>
          </a:prstGeom>
          <a:solidFill>
            <a:srgbClr val="EFF6FF"/>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02368" y="1307592"/>
            <a:ext cx="1865376" cy="694944"/>
          </a:xfrm>
          <a:prstGeom prst="rect">
            <a:avLst/>
          </a:prstGeom>
          <a:noFill/>
        </p:spPr>
        <p:txBody>
          <a:bodyPr wrap="square" lIns="0" tIns="0" rIns="0" bIns="0">
            <a:spAutoFit/>
          </a:bodyPr>
          <a:lstStyle/>
          <a:p>
            <a:pPr>
              <a:defRPr sz="1019" b="1">
                <a:solidFill>
                  <a:srgbClr val="1E3A8A"/>
                </a:solidFill>
                <a:latin typeface="Microsoft YaHei"/>
              </a:defRPr>
            </a:pPr>
            <a:r>
              <a:t>⑤ 计算消费</a:t>
            </a:r>
          </a:p>
          <a:p>
            <a:pPr>
              <a:spcBef>
                <a:spcPts val="100"/>
              </a:spcBef>
              <a:defRPr sz="800" b="1">
                <a:solidFill>
                  <a:srgbClr val="1D4ED8"/>
                </a:solidFill>
                <a:latin typeface="Microsoft YaHei"/>
              </a:defRPr>
            </a:pPr>
            <a:r>
              <a:t>[加速器流式消费]</a:t>
            </a:r>
          </a:p>
          <a:p>
            <a:pPr>
              <a:spcBef>
                <a:spcPts val="100"/>
              </a:spcBef>
              <a:defRPr sz="750">
                <a:solidFill>
                  <a:srgbClr val="475569"/>
                </a:solidFill>
                <a:latin typeface="Microsoft YaHei"/>
              </a:defRPr>
            </a:pPr>
            <a:r>
              <a:t>按层异步就绪 · 预取与计算流水掩盖</a:t>
            </a:r>
          </a:p>
        </p:txBody>
      </p:sp>
      <p:sp>
        <p:nvSpPr>
          <p:cNvPr id="22" name="TextBox 21"/>
          <p:cNvSpPr txBox="1"/>
          <p:nvPr/>
        </p:nvSpPr>
        <p:spPr>
          <a:xfrm>
            <a:off x="457200" y="2176272"/>
            <a:ext cx="6675120" cy="237744"/>
          </a:xfrm>
          <a:prstGeom prst="rect">
            <a:avLst/>
          </a:prstGeom>
          <a:noFill/>
        </p:spPr>
        <p:txBody>
          <a:bodyPr wrap="square" lIns="0" tIns="0" rIns="0" bIns="0">
            <a:spAutoFit/>
          </a:bodyPr>
          <a:lstStyle/>
          <a:p>
            <a:pPr>
              <a:defRPr sz="1100" b="1">
                <a:solidFill>
                  <a:srgbClr val="1E3A8A"/>
                </a:solidFill>
                <a:latin typeface="Microsoft YaHei"/>
              </a:defRPr>
            </a:pPr>
            <a:r>
              <a:t>【物理化映射矩阵：软件机制如何传导至物理开销与业务指标】</a:t>
            </a:r>
          </a:p>
        </p:txBody>
      </p:sp>
      <p:graphicFrame>
        <p:nvGraphicFramePr>
          <p:cNvPr id="23" name="Table 22"/>
          <p:cNvGraphicFramePr>
            <a:graphicFrameLocks noGrp="1"/>
          </p:cNvGraphicFramePr>
          <p:nvPr/>
        </p:nvGraphicFramePr>
        <p:xfrm>
          <a:off x="457200" y="2450592"/>
          <a:ext cx="6675120" cy="2697480"/>
        </p:xfrm>
        <a:graphic>
          <a:graphicData uri="http://schemas.openxmlformats.org/drawingml/2006/table">
            <a:tbl>
              <a:tblPr firstRow="1" bandRow="1">
                <a:tableStyleId>{5C22544A-7EE6-4342-B048-85BDC9FD1C3A}</a:tableStyleId>
              </a:tblPr>
              <a:tblGrid>
                <a:gridCol w="1371600"/>
                <a:gridCol w="2057400"/>
                <a:gridCol w="2011680"/>
                <a:gridCol w="1234440"/>
              </a:tblGrid>
              <a:tr h="539496">
                <a:tc>
                  <a:txBody>
                    <a:bodyPr/>
                    <a:lstStyle/>
                    <a:p>
                      <a:pPr algn="ctr">
                        <a:defRPr sz="919" b="1">
                          <a:solidFill>
                            <a:srgbClr val="FFFFFF"/>
                          </a:solidFill>
                          <a:latin typeface="Microsoft YaHei"/>
                        </a:defRPr>
                      </a:pPr>
                      <a:r>
                        <a:t>连接环节</a:t>
                      </a:r>
                    </a:p>
                  </a:txBody>
                  <a:tcPr anchor="ctr">
                    <a:solidFill>
                      <a:srgbClr val="1E3A8A"/>
                    </a:solidFill>
                  </a:tcPr>
                </a:tc>
                <a:tc>
                  <a:txBody>
                    <a:bodyPr/>
                    <a:lstStyle/>
                    <a:p>
                      <a:pPr algn="ctr">
                        <a:defRPr sz="919" b="1">
                          <a:solidFill>
                            <a:srgbClr val="FFFFFF"/>
                          </a:solidFill>
                          <a:latin typeface="Microsoft YaHei"/>
                        </a:defRPr>
                      </a:pPr>
                      <a:r>
                        <a:t>软件机制与底层能力</a:t>
                      </a:r>
                    </a:p>
                  </a:txBody>
                  <a:tcPr anchor="ctr">
                    <a:solidFill>
                      <a:srgbClr val="1E3A8A"/>
                    </a:solidFill>
                  </a:tcPr>
                </a:tc>
                <a:tc>
                  <a:txBody>
                    <a:bodyPr/>
                    <a:lstStyle/>
                    <a:p>
                      <a:pPr algn="ctr">
                        <a:defRPr sz="919" b="1">
                          <a:solidFill>
                            <a:srgbClr val="FFFFFF"/>
                          </a:solidFill>
                          <a:latin typeface="Microsoft YaHei"/>
                        </a:defRPr>
                      </a:pPr>
                      <a:r>
                        <a:t>改变的物理开销</a:t>
                      </a:r>
                    </a:p>
                  </a:txBody>
                  <a:tcPr anchor="ctr">
                    <a:solidFill>
                      <a:srgbClr val="1E3A8A"/>
                    </a:solidFill>
                  </a:tcPr>
                </a:tc>
                <a:tc>
                  <a:txBody>
                    <a:bodyPr/>
                    <a:lstStyle/>
                    <a:p>
                      <a:pPr algn="ctr">
                        <a:defRPr sz="919" b="1">
                          <a:solidFill>
                            <a:srgbClr val="FFFFFF"/>
                          </a:solidFill>
                          <a:latin typeface="Microsoft YaHei"/>
                        </a:defRPr>
                      </a:pPr>
                      <a:r>
                        <a:t>关联业务指标</a:t>
                      </a:r>
                    </a:p>
                  </a:txBody>
                  <a:tcPr anchor="ctr">
                    <a:solidFill>
                      <a:srgbClr val="1E3A8A"/>
                    </a:solidFill>
                  </a:tcPr>
                </a:tc>
              </a:tr>
              <a:tr h="539496">
                <a:tc>
                  <a:txBody>
                    <a:bodyPr/>
                    <a:lstStyle/>
                    <a:p>
                      <a:pPr algn="ctr">
                        <a:defRPr sz="819" b="1">
                          <a:solidFill>
                            <a:srgbClr val="1E3A8A"/>
                          </a:solidFill>
                          <a:latin typeface="Microsoft YaHei"/>
                        </a:defRPr>
                      </a:pPr>
                      <a:r>
                        <a:t>逻辑 KV → 物理布局</a:t>
                      </a:r>
                    </a:p>
                  </a:txBody>
                  <a:tcPr anchor="ctr" marL="54864" marR="54864" marT="27432" marB="27432">
                    <a:solidFill>
                      <a:srgbClr val="FFFFFF"/>
                    </a:solidFill>
                  </a:tcPr>
                </a:tc>
                <a:tc>
                  <a:txBody>
                    <a:bodyPr/>
                    <a:lstStyle/>
                    <a:p>
                      <a:pPr>
                        <a:defRPr sz="819">
                          <a:solidFill>
                            <a:srgbClr val="0F172A"/>
                          </a:solidFill>
                          <a:latin typeface="Microsoft YaHei"/>
                        </a:defRPr>
                      </a:pPr>
                      <a:r>
                        <a:t>布局转换、连续块合并</a:t>
                      </a:r>
                      <a:br/>
                      <a:r>
                        <a:t>对接 DMA 批量搬运与地址生成</a:t>
                      </a:r>
                    </a:p>
                  </a:txBody>
                  <a:tcPr anchor="ctr" marL="54864" marR="54864" marT="27432" marB="27432">
                    <a:solidFill>
                      <a:srgbClr val="FFFFFF"/>
                    </a:solidFill>
                  </a:tcPr>
                </a:tc>
                <a:tc>
                  <a:txBody>
                    <a:bodyPr/>
                    <a:lstStyle/>
                    <a:p>
                      <a:pPr>
                        <a:defRPr sz="819">
                          <a:solidFill>
                            <a:srgbClr val="0F172A"/>
                          </a:solidFill>
                          <a:latin typeface="Microsoft YaHei"/>
                        </a:defRPr>
                      </a:pPr>
                      <a:r>
                        <a:t>散碎小传输与描述符大幅减少</a:t>
                      </a:r>
                      <a:br/>
                      <a:r>
                        <a:t>有效带宽提升，转换耗时大幅收敛</a:t>
                      </a:r>
                    </a:p>
                  </a:txBody>
                  <a:tcPr anchor="ctr" marL="54864" marR="54864" marT="27432" marB="27432">
                    <a:solidFill>
                      <a:srgbClr val="FFFFFF"/>
                    </a:solidFill>
                  </a:tcPr>
                </a:tc>
                <a:tc>
                  <a:txBody>
                    <a:bodyPr/>
                    <a:lstStyle/>
                    <a:p>
                      <a:pPr algn="ctr">
                        <a:defRPr sz="819" b="1">
                          <a:solidFill>
                            <a:srgbClr val="047857"/>
                          </a:solidFill>
                          <a:latin typeface="Microsoft YaHei"/>
                        </a:defRPr>
                      </a:pPr>
                      <a:r>
                        <a:t>TTFT 缩短</a:t>
                      </a:r>
                      <a:br/>
                      <a:r>
                        <a:t>有效 QPS 提升</a:t>
                      </a:r>
                    </a:p>
                  </a:txBody>
                  <a:tcPr anchor="ctr" marL="54864" marR="54864" marT="27432" marB="27432">
                    <a:solidFill>
                      <a:srgbClr val="FFFFFF"/>
                    </a:solidFill>
                  </a:tcPr>
                </a:tc>
              </a:tr>
              <a:tr h="539496">
                <a:tc>
                  <a:txBody>
                    <a:bodyPr/>
                    <a:lstStyle/>
                    <a:p>
                      <a:pPr algn="ctr">
                        <a:defRPr sz="819" b="1">
                          <a:solidFill>
                            <a:srgbClr val="1E3A8A"/>
                          </a:solidFill>
                          <a:latin typeface="Microsoft YaHei"/>
                        </a:defRPr>
                      </a:pPr>
                      <a:r>
                        <a:t>物理布局 → 物理介质</a:t>
                      </a:r>
                    </a:p>
                  </a:txBody>
                  <a:tcPr anchor="ctr" marL="54864" marR="54864" marT="27432" marB="27432">
                    <a:solidFill>
                      <a:srgbClr val="F1F5F9"/>
                    </a:solidFill>
                  </a:tcPr>
                </a:tc>
                <a:tc>
                  <a:txBody>
                    <a:bodyPr/>
                    <a:lstStyle/>
                    <a:p>
                      <a:pPr>
                        <a:defRPr sz="819">
                          <a:solidFill>
                            <a:srgbClr val="0F172A"/>
                          </a:solidFill>
                          <a:latin typeface="Microsoft YaHei"/>
                        </a:defRPr>
                      </a:pPr>
                      <a:r>
                        <a:t>分层放置、NUMA 亲和与按带宽分片</a:t>
                      </a:r>
                      <a:br/>
                      <a:r>
                        <a:t>匹配内存通道特征与 SSD 块粒度</a:t>
                      </a:r>
                    </a:p>
                  </a:txBody>
                  <a:tcPr anchor="ctr" marL="54864" marR="54864" marT="27432" marB="27432">
                    <a:solidFill>
                      <a:srgbClr val="F1F5F9"/>
                    </a:solidFill>
                  </a:tcPr>
                </a:tc>
                <a:tc>
                  <a:txBody>
                    <a:bodyPr/>
                    <a:lstStyle/>
                    <a:p>
                      <a:pPr>
                        <a:defRPr sz="819">
                          <a:solidFill>
                            <a:srgbClr val="0F172A"/>
                          </a:solidFill>
                          <a:latin typeface="Microsoft YaHei"/>
                        </a:defRPr>
                      </a:pPr>
                      <a:r>
                        <a:t>突破显存容量墙，多通道负载均衡</a:t>
                      </a:r>
                      <a:br/>
                      <a:r>
                        <a:t>远端访问与换入换出总线争用消除</a:t>
                      </a:r>
                    </a:p>
                  </a:txBody>
                  <a:tcPr anchor="ctr" marL="54864" marR="54864" marT="27432" marB="27432">
                    <a:solidFill>
                      <a:srgbClr val="F1F5F9"/>
                    </a:solidFill>
                  </a:tcPr>
                </a:tc>
                <a:tc>
                  <a:txBody>
                    <a:bodyPr/>
                    <a:lstStyle/>
                    <a:p>
                      <a:pPr algn="ctr">
                        <a:defRPr sz="819" b="1">
                          <a:solidFill>
                            <a:srgbClr val="047857"/>
                          </a:solidFill>
                          <a:latin typeface="Microsoft YaHei"/>
                        </a:defRPr>
                      </a:pPr>
                      <a:r>
                        <a:t>有效 QPS 提升</a:t>
                      </a:r>
                      <a:br/>
                      <a:r>
                        <a:t>承载超长上下文</a:t>
                      </a:r>
                      <a:br/>
                      <a:r>
                        <a:t>降低单请求 TCO</a:t>
                      </a:r>
                    </a:p>
                  </a:txBody>
                  <a:tcPr anchor="ctr" marL="54864" marR="54864" marT="27432" marB="27432">
                    <a:solidFill>
                      <a:srgbClr val="F1F5F9"/>
                    </a:solidFill>
                  </a:tcPr>
                </a:tc>
              </a:tr>
              <a:tr h="539496">
                <a:tc>
                  <a:txBody>
                    <a:bodyPr/>
                    <a:lstStyle/>
                    <a:p>
                      <a:pPr algn="ctr">
                        <a:defRPr sz="819" b="1">
                          <a:solidFill>
                            <a:srgbClr val="1E3A8A"/>
                          </a:solidFill>
                          <a:latin typeface="Microsoft YaHei"/>
                        </a:defRPr>
                      </a:pPr>
                      <a:r>
                        <a:t>物理介质 → 数据路径</a:t>
                      </a:r>
                    </a:p>
                  </a:txBody>
                  <a:tcPr anchor="ctr" marL="54864" marR="54864" marT="27432" marB="27432">
                    <a:solidFill>
                      <a:srgbClr val="FFFFFF"/>
                    </a:solidFill>
                  </a:tcPr>
                </a:tc>
                <a:tc>
                  <a:txBody>
                    <a:bodyPr/>
                    <a:lstStyle/>
                    <a:p>
                      <a:pPr>
                        <a:defRPr sz="819">
                          <a:solidFill>
                            <a:srgbClr val="0F172A"/>
                          </a:solidFill>
                          <a:latin typeface="Microsoft YaHei"/>
                        </a:defRPr>
                      </a:pPr>
                      <a:r>
                        <a:t>设备 DMA 直达、按需读取与地址映射</a:t>
                      </a:r>
                      <a:br/>
                      <a:r>
                        <a:t>匹配访问粒度与拓扑，绕过主机内存</a:t>
                      </a:r>
                    </a:p>
                  </a:txBody>
                  <a:tcPr anchor="ctr" marL="54864" marR="54864" marT="27432" marB="27432">
                    <a:solidFill>
                      <a:srgbClr val="FFFFFF"/>
                    </a:solidFill>
                  </a:tcPr>
                </a:tc>
                <a:tc>
                  <a:txBody>
                    <a:bodyPr/>
                    <a:lstStyle/>
                    <a:p>
                      <a:pPr>
                        <a:defRPr sz="819">
                          <a:solidFill>
                            <a:srgbClr val="0F172A"/>
                          </a:solidFill>
                          <a:latin typeface="Microsoft YaHei"/>
                        </a:defRPr>
                      </a:pPr>
                      <a:r>
                        <a:t>消除 Host CPU 数据拷贝与二次中转</a:t>
                      </a:r>
                      <a:br/>
                      <a:r>
                        <a:t>实际搬运字节减半，释放系统总线</a:t>
                      </a:r>
                    </a:p>
                  </a:txBody>
                  <a:tcPr anchor="ctr" marL="54864" marR="54864" marT="27432" marB="27432">
                    <a:solidFill>
                      <a:srgbClr val="FFFFFF"/>
                    </a:solidFill>
                  </a:tcPr>
                </a:tc>
                <a:tc>
                  <a:txBody>
                    <a:bodyPr/>
                    <a:lstStyle/>
                    <a:p>
                      <a:pPr algn="ctr">
                        <a:defRPr sz="819" b="1">
                          <a:solidFill>
                            <a:srgbClr val="047857"/>
                          </a:solidFill>
                          <a:latin typeface="Microsoft YaHei"/>
                        </a:defRPr>
                      </a:pPr>
                      <a:r>
                        <a:t>TTFT 显著降低</a:t>
                      </a:r>
                      <a:br/>
                      <a:r>
                        <a:t>逐层召回改善 TPOT</a:t>
                      </a:r>
                    </a:p>
                  </a:txBody>
                  <a:tcPr anchor="ctr" marL="54864" marR="54864" marT="27432" marB="27432">
                    <a:solidFill>
                      <a:srgbClr val="FFFFFF"/>
                    </a:solidFill>
                  </a:tcPr>
                </a:tc>
              </a:tr>
              <a:tr h="539496">
                <a:tc>
                  <a:txBody>
                    <a:bodyPr/>
                    <a:lstStyle/>
                    <a:p>
                      <a:pPr algn="ctr">
                        <a:defRPr sz="819" b="1">
                          <a:solidFill>
                            <a:srgbClr val="1E3A8A"/>
                          </a:solidFill>
                          <a:latin typeface="Microsoft YaHei"/>
                        </a:defRPr>
                      </a:pPr>
                      <a:r>
                        <a:t>数据路径 → 计算消费</a:t>
                      </a:r>
                    </a:p>
                  </a:txBody>
                  <a:tcPr anchor="ctr" marL="54864" marR="54864" marT="27432" marB="27432">
                    <a:solidFill>
                      <a:srgbClr val="F1F5F9"/>
                    </a:solidFill>
                  </a:tcPr>
                </a:tc>
                <a:tc>
                  <a:txBody>
                    <a:bodyPr/>
                    <a:lstStyle/>
                    <a:p>
                      <a:pPr>
                        <a:defRPr sz="819">
                          <a:solidFill>
                            <a:srgbClr val="0F172A"/>
                          </a:solidFill>
                          <a:latin typeface="Microsoft YaHei"/>
                        </a:defRPr>
                      </a:pPr>
                      <a:r>
                        <a:t>按层异步流水、流式预取与完成通知</a:t>
                      </a:r>
                      <a:br/>
                      <a:r>
                        <a:t>配合硬件队列优先级与前后台限流 QoS</a:t>
                      </a:r>
                    </a:p>
                  </a:txBody>
                  <a:tcPr anchor="ctr" marL="54864" marR="54864" marT="27432" marB="27432">
                    <a:solidFill>
                      <a:srgbClr val="F1F5F9"/>
                    </a:solidFill>
                  </a:tcPr>
                </a:tc>
                <a:tc>
                  <a:txBody>
                    <a:bodyPr/>
                    <a:lstStyle/>
                    <a:p>
                      <a:pPr>
                        <a:defRPr sz="819">
                          <a:solidFill>
                            <a:srgbClr val="0F172A"/>
                          </a:solidFill>
                          <a:latin typeface="Microsoft YaHei"/>
                        </a:defRPr>
                      </a:pPr>
                      <a:r>
                        <a:t>消除首层等待，掩盖搬运开销</a:t>
                      </a:r>
                      <a:br/>
                      <a:r>
                        <a:t>计算停顿最小化，前后台零流量干扰</a:t>
                      </a:r>
                    </a:p>
                  </a:txBody>
                  <a:tcPr anchor="ctr" marL="54864" marR="54864" marT="27432" marB="27432">
                    <a:solidFill>
                      <a:srgbClr val="F1F5F9"/>
                    </a:solidFill>
                  </a:tcPr>
                </a:tc>
                <a:tc>
                  <a:txBody>
                    <a:bodyPr/>
                    <a:lstStyle/>
                    <a:p>
                      <a:pPr algn="ctr">
                        <a:defRPr sz="819" b="1">
                          <a:solidFill>
                            <a:srgbClr val="047857"/>
                          </a:solidFill>
                          <a:latin typeface="Microsoft YaHei"/>
                        </a:defRPr>
                      </a:pPr>
                      <a:r>
                        <a:t>TTFT / TPOT 改善</a:t>
                      </a:r>
                      <a:br/>
                      <a:r>
                        <a:t>P99 尾时延收敛</a:t>
                      </a:r>
                      <a:br/>
                      <a:r>
                        <a:t>有效 QPS 达标</a:t>
                      </a:r>
                    </a:p>
                  </a:txBody>
                  <a:tcPr anchor="ctr" marL="54864" marR="54864" marT="27432" marB="27432">
                    <a:solidFill>
                      <a:srgbClr val="F1F5F9"/>
                    </a:solidFill>
                  </a:tcPr>
                </a:tc>
              </a:tr>
            </a:tbl>
          </a:graphicData>
        </a:graphic>
      </p:graphicFrame>
      <p:sp>
        <p:nvSpPr>
          <p:cNvPr id="24" name="Rectangle 23"/>
          <p:cNvSpPr/>
          <p:nvPr/>
        </p:nvSpPr>
        <p:spPr>
          <a:xfrm>
            <a:off x="457200" y="5212080"/>
            <a:ext cx="6675120" cy="1115568"/>
          </a:xfrm>
          <a:prstGeom prst="rect">
            <a:avLst/>
          </a:prstGeom>
          <a:solidFill>
            <a:srgbClr val="F1F5F9"/>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212080"/>
            <a:ext cx="73152" cy="111556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5248656"/>
            <a:ext cx="6419088" cy="1024128"/>
          </a:xfrm>
          <a:prstGeom prst="rect">
            <a:avLst/>
          </a:prstGeom>
          <a:noFill/>
        </p:spPr>
        <p:txBody>
          <a:bodyPr wrap="square" lIns="0" tIns="0" rIns="0" bIns="0">
            <a:spAutoFit/>
          </a:bodyPr>
          <a:lstStyle/>
          <a:p>
            <a:pPr>
              <a:defRPr sz="1000" b="1">
                <a:solidFill>
                  <a:srgbClr val="1E3A8A"/>
                </a:solidFill>
                <a:latin typeface="Microsoft YaHei"/>
              </a:defRPr>
            </a:pPr>
            <a:r>
              <a:t>【软硬协同研究价值与技术落地闭环】</a:t>
            </a:r>
          </a:p>
          <a:p>
            <a:pPr>
              <a:spcBef>
                <a:spcPts val="300"/>
              </a:spcBef>
              <a:defRPr sz="850">
                <a:solidFill>
                  <a:srgbClr val="0F172A"/>
                </a:solidFill>
                <a:latin typeface="Microsoft YaHei"/>
              </a:defRPr>
            </a:pPr>
            <a:r>
              <a:t>以 KVC 为核心切入点，将底层硬件特性（DMA/通道/拓扑）、中间软件机制（布局转换/批量搬运/队列）与核心业务指标（TTFT/QPS/TPOT）贯穿于统一链条中量化分析；既探明当前系统物理瓶颈，也提炼出布局转换、批量数据搬运与拓扑调度等共性课题，为后续系统实现与软硬件协同演进提供扎实依据。</a:t>
            </a:r>
          </a:p>
        </p:txBody>
      </p:sp>
      <p:sp>
        <p:nvSpPr>
          <p:cNvPr id="27" name="TextBox 26"/>
          <p:cNvSpPr txBox="1"/>
          <p:nvPr/>
        </p:nvSpPr>
        <p:spPr>
          <a:xfrm>
            <a:off x="7296912" y="2176272"/>
            <a:ext cx="4434840" cy="237744"/>
          </a:xfrm>
          <a:prstGeom prst="rect">
            <a:avLst/>
          </a:prstGeom>
          <a:noFill/>
        </p:spPr>
        <p:txBody>
          <a:bodyPr wrap="square" lIns="0" tIns="0" rIns="0" bIns="0">
            <a:spAutoFit/>
          </a:bodyPr>
          <a:lstStyle/>
          <a:p>
            <a:pPr>
              <a:defRPr sz="1100" b="1">
                <a:solidFill>
                  <a:srgbClr val="1E3A8A"/>
                </a:solidFill>
                <a:latin typeface="Microsoft YaHei"/>
              </a:defRPr>
            </a:pPr>
            <a:r>
              <a:t>【核心依据：物理开销决定净收益边界 (Break-Even)】</a:t>
            </a:r>
          </a:p>
        </p:txBody>
      </p:sp>
      <p:sp>
        <p:nvSpPr>
          <p:cNvPr id="28" name="Rectangle 27"/>
          <p:cNvSpPr/>
          <p:nvPr/>
        </p:nvSpPr>
        <p:spPr>
          <a:xfrm>
            <a:off x="7296912" y="2450592"/>
            <a:ext cx="4434840" cy="387705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96912" y="2450592"/>
            <a:ext cx="4434840" cy="27432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88352" y="2478024"/>
            <a:ext cx="4251960" cy="219456"/>
          </a:xfrm>
          <a:prstGeom prst="rect">
            <a:avLst/>
          </a:prstGeom>
          <a:noFill/>
        </p:spPr>
        <p:txBody>
          <a:bodyPr wrap="none" lIns="0" tIns="0" rIns="0" bIns="0">
            <a:spAutoFit/>
          </a:bodyPr>
          <a:lstStyle/>
          <a:p>
            <a:pPr>
              <a:defRPr sz="850" b="1">
                <a:solidFill>
                  <a:srgbClr val="1E3A8A"/>
                </a:solidFill>
                <a:latin typeface="Microsoft YaHei"/>
              </a:defRPr>
            </a:pPr>
            <a:r>
              <a:t>外部实测：KVC 命中与加速净收益的盈亏平衡分界线 (py-kvcache 2026)</a:t>
            </a:r>
          </a:p>
        </p:txBody>
      </p:sp>
      <p:pic>
        <p:nvPicPr>
          <p:cNvPr id="31" name="Picture 30" descr="pykvcache_fig06_break_even_frontiers.png"/>
          <p:cNvPicPr>
            <a:picLocks noChangeAspect="1"/>
          </p:cNvPicPr>
          <p:nvPr/>
        </p:nvPicPr>
        <p:blipFill>
          <a:blip r:embed="rId2"/>
          <a:stretch>
            <a:fillRect/>
          </a:stretch>
        </p:blipFill>
        <p:spPr>
          <a:xfrm>
            <a:off x="7370064" y="2743200"/>
            <a:ext cx="4288536" cy="1554480"/>
          </a:xfrm>
          <a:prstGeom prst="rect">
            <a:avLst/>
          </a:prstGeom>
        </p:spPr>
      </p:pic>
      <p:sp>
        <p:nvSpPr>
          <p:cNvPr id="32" name="Rectangle 31"/>
          <p:cNvSpPr/>
          <p:nvPr/>
        </p:nvSpPr>
        <p:spPr>
          <a:xfrm>
            <a:off x="7370064" y="4334256"/>
            <a:ext cx="4288536" cy="329184"/>
          </a:xfrm>
          <a:prstGeom prst="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88352" y="4343400"/>
            <a:ext cx="4251960" cy="310896"/>
          </a:xfrm>
          <a:prstGeom prst="rect">
            <a:avLst/>
          </a:prstGeom>
          <a:noFill/>
        </p:spPr>
        <p:txBody>
          <a:bodyPr wrap="square" lIns="0" tIns="0" rIns="0" bIns="0">
            <a:spAutoFit/>
          </a:bodyPr>
          <a:lstStyle/>
          <a:p>
            <a:pPr>
              <a:defRPr sz="700" b="1">
                <a:solidFill>
                  <a:srgbClr val="0F172A"/>
                </a:solidFill>
                <a:latin typeface="Microsoft YaHei"/>
              </a:defRPr>
            </a:pPr>
            <a:r>
              <a:t>【坐标维度】横轴=上下文总长(1k~80k) | 纵轴=前缀复用率(0~100%) | 实线=盈亏平衡分界线</a:t>
            </a:r>
            <a:br/>
            <a:r>
              <a:t>【绿色净加速区】：加载耗时 &lt; 本地重算耗时  |  【红黄色负收益区】：加载耗时 &gt; 本地重算耗时</a:t>
            </a:r>
          </a:p>
        </p:txBody>
      </p:sp>
      <p:sp>
        <p:nvSpPr>
          <p:cNvPr id="34" name="TextBox 33"/>
          <p:cNvSpPr txBox="1"/>
          <p:nvPr/>
        </p:nvSpPr>
        <p:spPr>
          <a:xfrm>
            <a:off x="7388352" y="4700016"/>
            <a:ext cx="4251960" cy="1572768"/>
          </a:xfrm>
          <a:prstGeom prst="rect">
            <a:avLst/>
          </a:prstGeom>
          <a:noFill/>
        </p:spPr>
        <p:txBody>
          <a:bodyPr wrap="square" lIns="0" tIns="0" rIns="0" bIns="0">
            <a:spAutoFit/>
          </a:bodyPr>
          <a:lstStyle/>
          <a:p>
            <a:pPr>
              <a:defRPr sz="750">
                <a:solidFill>
                  <a:srgbClr val="BE123C"/>
                </a:solidFill>
                <a:latin typeface="Microsoft YaHei"/>
              </a:defRPr>
            </a:pPr>
            <a:r>
              <a:t>• 负收益反噬机理（以右侧通用 CPU 卸载为例）：在中短上下文（1k~8k）或中低复用率下呈现大面积红区（降速最高达 4x）；根因在于加速器计算密度高而 Host I/O 搬运较慢，数据拉取与二次中转开销超过直接重算耗时。</a:t>
            </a:r>
          </a:p>
          <a:p>
            <a:pPr>
              <a:spcBef>
                <a:spcPts val="300"/>
              </a:spcBef>
              <a:defRPr sz="750">
                <a:solidFill>
                  <a:srgbClr val="0F172A"/>
                </a:solidFill>
                <a:latin typeface="Microsoft YaHei"/>
              </a:defRPr>
            </a:pPr>
            <a:r>
              <a:t>• 盈亏平衡临界条件：仅当“数据拉取与加载总开销 &lt; 本地直接重算耗时”时缓存具备净收益；沿用通用 Host 协议与离散小 I/O 将推高平衡线，大幅压缩有效收益工况空间。</a:t>
            </a:r>
          </a:p>
          <a:p>
            <a:pPr>
              <a:spcBef>
                <a:spcPts val="300"/>
              </a:spcBef>
              <a:defRPr sz="750" b="1">
                <a:solidFill>
                  <a:srgbClr val="047857"/>
                </a:solidFill>
                <a:latin typeface="Microsoft YaHei"/>
              </a:defRPr>
            </a:pPr>
            <a:r>
              <a:t>• 软硬协同优化目标：通过设备 DMA 直达、连续物理块聚合与 Host CPU 零数据拷贝，大幅压降数据加载开销，推动平衡线向下平移，使绿色净加速区全面覆盖真实业务工况。</a:t>
            </a:r>
          </a:p>
        </p:txBody>
      </p:sp>
      <p:sp>
        <p:nvSpPr>
          <p:cNvPr id="35" name="TextBox 34"/>
          <p:cNvSpPr txBox="1"/>
          <p:nvPr/>
        </p:nvSpPr>
        <p:spPr>
          <a:xfrm>
            <a:off x="457200" y="6537960"/>
            <a:ext cx="10287000" cy="182880"/>
          </a:xfrm>
          <a:prstGeom prst="rect">
            <a:avLst/>
          </a:prstGeom>
          <a:noFill/>
        </p:spPr>
        <p:txBody>
          <a:bodyPr wrap="none" lIns="0" tIns="0" rIns="0" bIns="0">
            <a:spAutoFit/>
          </a:bodyPr>
          <a:lstStyle/>
          <a:p>
            <a:pPr>
              <a:defRPr sz="900">
                <a:solidFill>
                  <a:srgbClr val="475569"/>
                </a:solidFill>
                <a:latin typeface="Microsoft YaHei"/>
              </a:defRPr>
            </a:pPr>
            <a:r>
              <a:t>KVC 工作汇报 · 2026-10-15</a:t>
            </a:r>
          </a:p>
        </p:txBody>
      </p:sp>
      <p:sp>
        <p:nvSpPr>
          <p:cNvPr id="36" name="TextBox 35"/>
          <p:cNvSpPr txBox="1"/>
          <p:nvPr/>
        </p:nvSpPr>
        <p:spPr>
          <a:xfrm>
            <a:off x="11274552" y="6537960"/>
            <a:ext cx="457200" cy="182880"/>
          </a:xfrm>
          <a:prstGeom prst="rect">
            <a:avLst/>
          </a:prstGeom>
          <a:noFill/>
        </p:spPr>
        <p:txBody>
          <a:bodyPr wrap="none" lIns="0" tIns="0" rIns="0" bIns="0">
            <a:spAutoFit/>
          </a:bodyPr>
          <a:lstStyle/>
          <a:p>
            <a:pPr algn="r">
              <a:defRPr sz="900" b="1">
                <a:solidFill>
                  <a:srgbClr val="475569"/>
                </a:solidFill>
                <a:latin typeface="Microsoft YaHe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94944"/>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772400" cy="475488"/>
          </a:xfrm>
          <a:prstGeom prst="rect">
            <a:avLst/>
          </a:prstGeom>
          <a:noFill/>
        </p:spPr>
        <p:txBody>
          <a:bodyPr wrap="square" lIns="0" tIns="0" rIns="0" bIns="0">
            <a:spAutoFit/>
          </a:bodyPr>
          <a:lstStyle/>
          <a:p>
            <a:pPr>
              <a:defRPr sz="1600" b="1">
                <a:solidFill>
                  <a:srgbClr val="FFFFFF"/>
                </a:solidFill>
                <a:latin typeface="Microsoft YaHei"/>
              </a:defRPr>
            </a:pPr>
            <a:r>
              <a:t>技术探索方向：布局开销与控制面吞吐的收益传导</a:t>
            </a:r>
          </a:p>
        </p:txBody>
      </p:sp>
      <p:sp>
        <p:nvSpPr>
          <p:cNvPr id="4" name="TextBox 3"/>
          <p:cNvSpPr txBox="1"/>
          <p:nvPr/>
        </p:nvSpPr>
        <p:spPr>
          <a:xfrm>
            <a:off x="8412480" y="164592"/>
            <a:ext cx="3319272" cy="365760"/>
          </a:xfrm>
          <a:prstGeom prst="rect">
            <a:avLst/>
          </a:prstGeom>
          <a:noFill/>
        </p:spPr>
        <p:txBody>
          <a:bodyPr wrap="none" lIns="0" tIns="0" rIns="0" bIns="0">
            <a:spAutoFit/>
          </a:bodyPr>
          <a:lstStyle/>
          <a:p>
            <a:pPr algn="r">
              <a:defRPr sz="1100" b="1">
                <a:solidFill>
                  <a:srgbClr val="BFDBFE"/>
                </a:solidFill>
                <a:latin typeface="Microsoft YaHei"/>
              </a:defRPr>
            </a:pPr>
            <a:r>
              <a:t>KVC 探索方向 · 瓶颈引导与优化映射</a:t>
            </a:r>
          </a:p>
        </p:txBody>
      </p:sp>
      <p:sp>
        <p:nvSpPr>
          <p:cNvPr id="5" name="Rectangle 4"/>
          <p:cNvSpPr/>
          <p:nvPr/>
        </p:nvSpPr>
        <p:spPr>
          <a:xfrm>
            <a:off x="457200" y="804672"/>
            <a:ext cx="11277295" cy="347472"/>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804672"/>
            <a:ext cx="73152" cy="3474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841248"/>
            <a:ext cx="11018520" cy="274320"/>
          </a:xfrm>
          <a:prstGeom prst="rect">
            <a:avLst/>
          </a:prstGeom>
          <a:noFill/>
        </p:spPr>
        <p:txBody>
          <a:bodyPr wrap="square" lIns="0" tIns="0" rIns="0" bIns="0">
            <a:spAutoFit/>
          </a:bodyPr>
          <a:lstStyle/>
          <a:p>
            <a:pPr>
              <a:defRPr sz="950">
                <a:solidFill>
                  <a:srgbClr val="0F172A"/>
                </a:solidFill>
                <a:latin typeface="Microsoft YaHei"/>
              </a:defRPr>
            </a:pPr>
            <a:r>
              <a:t>以数据面“计算/传输布局失配”与控制面“微秒级事务累积排队”为两大瓶颈切入点，引导并全面承接后续控制面与数据面优化成果。</a:t>
            </a:r>
          </a:p>
        </p:txBody>
      </p:sp>
      <p:sp>
        <p:nvSpPr>
          <p:cNvPr id="8" name="Rectangle 7"/>
          <p:cNvSpPr/>
          <p:nvPr/>
        </p:nvSpPr>
        <p:spPr>
          <a:xfrm>
            <a:off x="457200" y="1234440"/>
            <a:ext cx="5532120" cy="26517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34440"/>
            <a:ext cx="5532120" cy="292608"/>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271016"/>
            <a:ext cx="5312664" cy="237744"/>
          </a:xfrm>
          <a:prstGeom prst="rect">
            <a:avLst/>
          </a:prstGeom>
          <a:noFill/>
        </p:spPr>
        <p:txBody>
          <a:bodyPr wrap="none" lIns="0" tIns="0" rIns="0" bIns="0">
            <a:spAutoFit/>
          </a:bodyPr>
          <a:lstStyle/>
          <a:p>
            <a:pPr>
              <a:defRPr sz="1019" b="1">
                <a:solidFill>
                  <a:srgbClr val="1E3A8A"/>
                </a:solidFill>
                <a:latin typeface="Microsoft YaHei"/>
              </a:defRPr>
            </a:pPr>
            <a:r>
              <a:t>【数据面痛点引导】布局失配与碎片 I/O 导致总线严重饥饿</a:t>
            </a:r>
          </a:p>
        </p:txBody>
      </p:sp>
      <p:pic>
        <p:nvPicPr>
          <p:cNvPr id="11" name="Picture 10" descr="fig06_layout_decoupling.png"/>
          <p:cNvPicPr>
            <a:picLocks noChangeAspect="1"/>
          </p:cNvPicPr>
          <p:nvPr/>
        </p:nvPicPr>
        <p:blipFill>
          <a:blip r:embed="rId2"/>
          <a:stretch>
            <a:fillRect/>
          </a:stretch>
        </p:blipFill>
        <p:spPr>
          <a:xfrm>
            <a:off x="566928" y="1600200"/>
            <a:ext cx="3246120" cy="941832"/>
          </a:xfrm>
          <a:prstGeom prst="rect">
            <a:avLst/>
          </a:prstGeom>
        </p:spPr>
      </p:pic>
      <p:sp>
        <p:nvSpPr>
          <p:cNvPr id="12" name="Rectangle 11"/>
          <p:cNvSpPr/>
          <p:nvPr/>
        </p:nvSpPr>
        <p:spPr>
          <a:xfrm>
            <a:off x="3886200" y="1581912"/>
            <a:ext cx="1993392" cy="45720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9352" y="1600200"/>
            <a:ext cx="1847088" cy="411480"/>
          </a:xfrm>
          <a:prstGeom prst="rect">
            <a:avLst/>
          </a:prstGeom>
          <a:noFill/>
        </p:spPr>
        <p:txBody>
          <a:bodyPr wrap="square" lIns="0" tIns="0" rIns="0" bIns="0">
            <a:spAutoFit/>
          </a:bodyPr>
          <a:lstStyle/>
          <a:p>
            <a:pPr>
              <a:defRPr sz="850" b="1">
                <a:solidFill>
                  <a:srgbClr val="1E3A8A"/>
                </a:solidFill>
                <a:latin typeface="Microsoft YaHei"/>
              </a:defRPr>
            </a:pPr>
            <a:r>
              <a:t>平均 TTFT：5.03s ➔ 2.42s</a:t>
            </a:r>
          </a:p>
          <a:p>
            <a:pPr>
              <a:defRPr sz="780" b="1">
                <a:solidFill>
                  <a:srgbClr val="047857"/>
                </a:solidFill>
                <a:latin typeface="Microsoft YaHei"/>
              </a:defRPr>
            </a:pPr>
            <a:r>
              <a:t>缩短 52% (2.1x 加速，TTFT 减半)</a:t>
            </a:r>
          </a:p>
        </p:txBody>
      </p:sp>
      <p:sp>
        <p:nvSpPr>
          <p:cNvPr id="14" name="Rectangle 13"/>
          <p:cNvSpPr/>
          <p:nvPr/>
        </p:nvSpPr>
        <p:spPr>
          <a:xfrm>
            <a:off x="3886200" y="2084832"/>
            <a:ext cx="1993392" cy="457200"/>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59352" y="2103120"/>
            <a:ext cx="1847088" cy="411480"/>
          </a:xfrm>
          <a:prstGeom prst="rect">
            <a:avLst/>
          </a:prstGeom>
          <a:noFill/>
        </p:spPr>
        <p:txBody>
          <a:bodyPr wrap="square" lIns="0" tIns="0" rIns="0" bIns="0">
            <a:spAutoFit/>
          </a:bodyPr>
          <a:lstStyle/>
          <a:p>
            <a:pPr>
              <a:defRPr sz="850" b="1">
                <a:solidFill>
                  <a:srgbClr val="047857"/>
                </a:solidFill>
                <a:latin typeface="Microsoft YaHei"/>
              </a:defRPr>
            </a:pPr>
            <a:r>
              <a:t>生成吞吐：27.4 ➔ 36.4 T/s</a:t>
            </a:r>
          </a:p>
          <a:p>
            <a:pPr>
              <a:defRPr sz="780" b="1">
                <a:solidFill>
                  <a:srgbClr val="047857"/>
                </a:solidFill>
                <a:latin typeface="Microsoft YaHei"/>
              </a:defRPr>
            </a:pPr>
            <a:r>
              <a:t>吞吐提升 33% (满足高并发 SLO)</a:t>
            </a:r>
          </a:p>
        </p:txBody>
      </p:sp>
      <p:sp>
        <p:nvSpPr>
          <p:cNvPr id="16" name="TextBox 15"/>
          <p:cNvSpPr txBox="1"/>
          <p:nvPr/>
        </p:nvSpPr>
        <p:spPr>
          <a:xfrm>
            <a:off x="566928" y="2560320"/>
            <a:ext cx="3246120" cy="182880"/>
          </a:xfrm>
          <a:prstGeom prst="rect">
            <a:avLst/>
          </a:prstGeom>
          <a:noFill/>
        </p:spPr>
        <p:txBody>
          <a:bodyPr wrap="none" lIns="0" tIns="0" rIns="0" bIns="0">
            <a:spAutoFit/>
          </a:bodyPr>
          <a:lstStyle/>
          <a:p>
            <a:pPr>
              <a:defRPr sz="780" b="1">
                <a:solidFill>
                  <a:srgbClr val="475569"/>
                </a:solidFill>
                <a:latin typeface="Microsoft YaHei"/>
              </a:defRPr>
            </a:pPr>
            <a:r>
              <a:t>GPU：按层计算布局   Host/存储：按页连续传输</a:t>
            </a:r>
          </a:p>
        </p:txBody>
      </p:sp>
      <p:sp>
        <p:nvSpPr>
          <p:cNvPr id="17" name="TextBox 16"/>
          <p:cNvSpPr txBox="1"/>
          <p:nvPr/>
        </p:nvSpPr>
        <p:spPr>
          <a:xfrm>
            <a:off x="566928" y="2770632"/>
            <a:ext cx="5312664" cy="1051560"/>
          </a:xfrm>
          <a:prstGeom prst="rect">
            <a:avLst/>
          </a:prstGeom>
          <a:noFill/>
        </p:spPr>
        <p:txBody>
          <a:bodyPr wrap="square" lIns="0" tIns="0" rIns="0" bIns="0">
            <a:spAutoFit/>
          </a:bodyPr>
          <a:lstStyle/>
          <a:p>
            <a:pPr>
              <a:defRPr sz="800">
                <a:solidFill>
                  <a:srgbClr val="BE123C"/>
                </a:solidFill>
                <a:latin typeface="Microsoft YaHei"/>
              </a:defRPr>
            </a:pPr>
            <a:r>
              <a:t>【物理瓶颈】计算与传输布局失配：GPU 按层组织显存便于算子计算，沿用至 Host 导致跨层读取被打散为海量微小 I/O；离散小页下物理总线利用率仅 5%~22%，I/O 停顿占 Prefill 耗时达 74%（Strata OSDI'26 实测）。</a:t>
            </a:r>
          </a:p>
          <a:p>
            <a:pPr>
              <a:spcBef>
                <a:spcPts val="200"/>
              </a:spcBef>
              <a:defRPr sz="800">
                <a:solidFill>
                  <a:srgbClr val="0F172A"/>
                </a:solidFill>
                <a:latin typeface="Microsoft YaHei"/>
              </a:defRPr>
            </a:pPr>
            <a:r>
              <a:t>【收益传导】计算与传输解耦：按页连续聚合组织物理 I/O，大幅减少碎片化小传输与描述符提交，有效打满物理总线带宽，数据加载等待时间缩短 52%（TTFT 5.03s 降至 2.42s）。</a:t>
            </a:r>
          </a:p>
          <a:p>
            <a:pPr>
              <a:spcBef>
                <a:spcPts val="200"/>
              </a:spcBef>
              <a:defRPr sz="800" b="1">
                <a:solidFill>
                  <a:srgbClr val="1D4ED8"/>
                </a:solidFill>
                <a:latin typeface="Microsoft YaHei"/>
              </a:defRPr>
            </a:pPr>
            <a:r>
              <a:t>【后续成果承接】数据面优化重点：连续物理块聚合、描述符批量编译、Host CPU 零数据拷贝与绕过主机内存 (Payload Bypass DDR)。</a:t>
            </a:r>
          </a:p>
        </p:txBody>
      </p:sp>
      <p:sp>
        <p:nvSpPr>
          <p:cNvPr id="18" name="Rectangle 17"/>
          <p:cNvSpPr/>
          <p:nvPr/>
        </p:nvSpPr>
        <p:spPr>
          <a:xfrm>
            <a:off x="6199632" y="1234440"/>
            <a:ext cx="5532120" cy="26517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234440"/>
            <a:ext cx="5532120" cy="292608"/>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271016"/>
            <a:ext cx="5312664" cy="237744"/>
          </a:xfrm>
          <a:prstGeom prst="rect">
            <a:avLst/>
          </a:prstGeom>
          <a:noFill/>
        </p:spPr>
        <p:txBody>
          <a:bodyPr wrap="none" lIns="0" tIns="0" rIns="0" bIns="0">
            <a:spAutoFit/>
          </a:bodyPr>
          <a:lstStyle/>
          <a:p>
            <a:pPr>
              <a:defRPr sz="1019" b="1">
                <a:solidFill>
                  <a:srgbClr val="1E3A8A"/>
                </a:solidFill>
                <a:latin typeface="Microsoft YaHei"/>
              </a:defRPr>
            </a:pPr>
            <a:r>
              <a:t>【控制面痛点引导】微秒级事务累积引发排队风暴与长尾恶化</a:t>
            </a:r>
          </a:p>
        </p:txBody>
      </p:sp>
      <p:pic>
        <p:nvPicPr>
          <p:cNvPr id="21" name="Picture 20" descr="beluga_fig14_cropped.png"/>
          <p:cNvPicPr>
            <a:picLocks noChangeAspect="1"/>
          </p:cNvPicPr>
          <p:nvPr/>
        </p:nvPicPr>
        <p:blipFill>
          <a:blip r:embed="rId3"/>
          <a:stretch>
            <a:fillRect/>
          </a:stretch>
        </p:blipFill>
        <p:spPr>
          <a:xfrm>
            <a:off x="6400800" y="1581912"/>
            <a:ext cx="5120640" cy="1188720"/>
          </a:xfrm>
          <a:prstGeom prst="rect">
            <a:avLst/>
          </a:prstGeom>
        </p:spPr>
      </p:pic>
      <p:sp>
        <p:nvSpPr>
          <p:cNvPr id="22" name="TextBox 21"/>
          <p:cNvSpPr txBox="1"/>
          <p:nvPr/>
        </p:nvSpPr>
        <p:spPr>
          <a:xfrm>
            <a:off x="6309360" y="2788920"/>
            <a:ext cx="5312664" cy="1051560"/>
          </a:xfrm>
          <a:prstGeom prst="rect">
            <a:avLst/>
          </a:prstGeom>
          <a:noFill/>
        </p:spPr>
        <p:txBody>
          <a:bodyPr wrap="square" lIns="0" tIns="0" rIns="0" bIns="0">
            <a:spAutoFit/>
          </a:bodyPr>
          <a:lstStyle/>
          <a:p>
            <a:pPr>
              <a:defRPr sz="800">
                <a:solidFill>
                  <a:srgbClr val="BE123C"/>
                </a:solidFill>
                <a:latin typeface="Microsoft YaHei"/>
              </a:defRPr>
            </a:pPr>
            <a:r>
              <a:t>【物理瓶颈】高并发控制事务累积排队：传统网络 RPC 与元数据检索单次耗时 10~30µs；并发请求上升或前缀变短时，排队延迟呈 3.5 倍发散恶化，形成控制面阻塞并引发 P99 尾部时延抖动（Beluga SIGMOD'26 实测）。</a:t>
            </a:r>
          </a:p>
          <a:p>
            <a:pPr>
              <a:spcBef>
                <a:spcPts val="200"/>
              </a:spcBef>
              <a:defRPr sz="800">
                <a:solidFill>
                  <a:srgbClr val="0F172A"/>
                </a:solidFill>
                <a:latin typeface="Microsoft YaHei"/>
              </a:defRPr>
            </a:pPr>
            <a:r>
              <a:t>【收益传导】微秒级控制面快路径：将单次控制事务缩短至数微秒，同等在途并发下控制吞吐提升 2.5 倍以上（突破 12 M ops/s），有效消除控制面队头阻塞与事务积压。</a:t>
            </a:r>
          </a:p>
          <a:p>
            <a:pPr>
              <a:spcBef>
                <a:spcPts val="200"/>
              </a:spcBef>
              <a:defRPr sz="800" b="1">
                <a:solidFill>
                  <a:srgbClr val="1D4ED8"/>
                </a:solidFill>
                <a:latin typeface="Microsoft YaHei"/>
              </a:defRPr>
            </a:pPr>
            <a:r>
              <a:t>【后续成果承接】控制面优化重点：元数据共享内存快路径、单边免 CPU 协商、描述符批量复用与微秒选路决策。</a:t>
            </a:r>
          </a:p>
        </p:txBody>
      </p:sp>
      <p:sp>
        <p:nvSpPr>
          <p:cNvPr id="23" name="TextBox 22"/>
          <p:cNvSpPr txBox="1"/>
          <p:nvPr/>
        </p:nvSpPr>
        <p:spPr>
          <a:xfrm>
            <a:off x="457200" y="3977639"/>
            <a:ext cx="11277295" cy="228600"/>
          </a:xfrm>
          <a:prstGeom prst="rect">
            <a:avLst/>
          </a:prstGeom>
          <a:noFill/>
        </p:spPr>
        <p:txBody>
          <a:bodyPr wrap="square" lIns="0" tIns="0" rIns="0" bIns="0">
            <a:spAutoFit/>
          </a:bodyPr>
          <a:lstStyle/>
          <a:p>
            <a:pPr>
              <a:defRPr sz="1100" b="1">
                <a:solidFill>
                  <a:srgbClr val="1E3A8A"/>
                </a:solidFill>
                <a:latin typeface="Microsoft YaHei"/>
              </a:defRPr>
            </a:pPr>
            <a:r>
              <a:t>【优化方向与收益传导矩阵（直接对应后续控制面与数据面成果汇报）】</a:t>
            </a:r>
          </a:p>
        </p:txBody>
      </p:sp>
      <p:graphicFrame>
        <p:nvGraphicFramePr>
          <p:cNvPr id="24" name="Table 23"/>
          <p:cNvGraphicFramePr>
            <a:graphicFrameLocks noGrp="1"/>
          </p:cNvGraphicFramePr>
          <p:nvPr/>
        </p:nvGraphicFramePr>
        <p:xfrm>
          <a:off x="457200" y="4215383"/>
          <a:ext cx="11274552" cy="2240280"/>
        </p:xfrm>
        <a:graphic>
          <a:graphicData uri="http://schemas.openxmlformats.org/drawingml/2006/table">
            <a:tbl>
              <a:tblPr firstRow="1" bandRow="1">
                <a:tableStyleId>{5C22544A-7EE6-4342-B048-85BDC9FD1C3A}</a:tableStyleId>
              </a:tblPr>
              <a:tblGrid>
                <a:gridCol w="1691640"/>
                <a:gridCol w="2560320"/>
                <a:gridCol w="2011680"/>
                <a:gridCol w="3291840"/>
                <a:gridCol w="1719072"/>
              </a:tblGrid>
              <a:tr h="373380">
                <a:tc>
                  <a:txBody>
                    <a:bodyPr/>
                    <a:lstStyle/>
                    <a:p>
                      <a:pPr algn="ctr">
                        <a:defRPr sz="900" b="1">
                          <a:solidFill>
                            <a:srgbClr val="FFFFFF"/>
                          </a:solidFill>
                          <a:latin typeface="Microsoft YaHei"/>
                        </a:defRPr>
                      </a:pPr>
                      <a:r>
                        <a:t>优化方向 / 归属</a:t>
                      </a:r>
                    </a:p>
                  </a:txBody>
                  <a:tcPr anchor="ctr">
                    <a:solidFill>
                      <a:srgbClr val="1E3A8A"/>
                    </a:solidFill>
                  </a:tcPr>
                </a:tc>
                <a:tc>
                  <a:txBody>
                    <a:bodyPr/>
                    <a:lstStyle/>
                    <a:p>
                      <a:pPr algn="ctr">
                        <a:defRPr sz="900" b="1">
                          <a:solidFill>
                            <a:srgbClr val="FFFFFF"/>
                          </a:solidFill>
                          <a:latin typeface="Microsoft YaHei"/>
                        </a:defRPr>
                      </a:pPr>
                      <a:r>
                        <a:t>软件 / 硬件机制</a:t>
                      </a:r>
                    </a:p>
                  </a:txBody>
                  <a:tcPr anchor="ctr">
                    <a:solidFill>
                      <a:srgbClr val="1E3A8A"/>
                    </a:solidFill>
                  </a:tcPr>
                </a:tc>
                <a:tc>
                  <a:txBody>
                    <a:bodyPr/>
                    <a:lstStyle/>
                    <a:p>
                      <a:pPr algn="ctr">
                        <a:defRPr sz="900" b="1">
                          <a:solidFill>
                            <a:srgbClr val="FFFFFF"/>
                          </a:solidFill>
                          <a:latin typeface="Microsoft YaHei"/>
                        </a:defRPr>
                      </a:pPr>
                      <a:r>
                        <a:t>收益场景</a:t>
                      </a:r>
                    </a:p>
                  </a:txBody>
                  <a:tcPr anchor="ctr">
                    <a:solidFill>
                      <a:srgbClr val="1E3A8A"/>
                    </a:solidFill>
                  </a:tcPr>
                </a:tc>
                <a:tc>
                  <a:txBody>
                    <a:bodyPr/>
                    <a:lstStyle/>
                    <a:p>
                      <a:pPr algn="ctr">
                        <a:defRPr sz="900" b="1">
                          <a:solidFill>
                            <a:srgbClr val="FFFFFF"/>
                          </a:solidFill>
                          <a:latin typeface="Microsoft YaHei"/>
                        </a:defRPr>
                      </a:pPr>
                      <a:r>
                        <a:t>微观变化与收益传导机理</a:t>
                      </a:r>
                    </a:p>
                  </a:txBody>
                  <a:tcPr anchor="ctr">
                    <a:solidFill>
                      <a:srgbClr val="1E3A8A"/>
                    </a:solidFill>
                  </a:tcPr>
                </a:tc>
                <a:tc>
                  <a:txBody>
                    <a:bodyPr/>
                    <a:lstStyle/>
                    <a:p>
                      <a:pPr algn="ctr">
                        <a:defRPr sz="900" b="1">
                          <a:solidFill>
                            <a:srgbClr val="FFFFFF"/>
                          </a:solidFill>
                          <a:latin typeface="Microsoft YaHei"/>
                        </a:defRPr>
                      </a:pPr>
                      <a:r>
                        <a:t>收益指标</a:t>
                      </a:r>
                    </a:p>
                  </a:txBody>
                  <a:tcPr anchor="ctr">
                    <a:solidFill>
                      <a:srgbClr val="1E3A8A"/>
                    </a:solidFill>
                  </a:tcPr>
                </a:tc>
              </a:tr>
              <a:tr h="373380">
                <a:tc>
                  <a:txBody>
                    <a:bodyPr/>
                    <a:lstStyle/>
                    <a:p>
                      <a:pPr algn="ctr">
                        <a:defRPr sz="800" b="1">
                          <a:solidFill>
                            <a:srgbClr val="1D4ED8"/>
                          </a:solidFill>
                          <a:latin typeface="Microsoft YaHei"/>
                        </a:defRPr>
                      </a:pPr>
                      <a:r>
                        <a:t>【控制面】</a:t>
                      </a:r>
                      <a:br/>
                      <a:r>
                        <a:t>元数据快路径与稳定描述符</a:t>
                      </a:r>
                    </a:p>
                  </a:txBody>
                  <a:tcPr anchor="ctr" marL="54864" marR="54864" marT="18288" marB="18288">
                    <a:solidFill>
                      <a:srgbClr val="FFFFFF"/>
                    </a:solidFill>
                  </a:tcPr>
                </a:tc>
                <a:tc>
                  <a:txBody>
                    <a:bodyPr/>
                    <a:lstStyle/>
                    <a:p>
                      <a:pPr>
                        <a:defRPr sz="800">
                          <a:solidFill>
                            <a:srgbClr val="0F172A"/>
                          </a:solidFill>
                          <a:latin typeface="Microsoft YaHei"/>
                        </a:defRPr>
                      </a:pPr>
                      <a:r>
                        <a:t>共享内存检索、批量查询；</a:t>
                      </a:r>
                      <a:br/>
                      <a:r>
                        <a:t>复用注册信息与地址描述符</a:t>
                      </a:r>
                    </a:p>
                  </a:txBody>
                  <a:tcPr anchor="ctr" marL="54864" marR="54864" marT="18288" marB="18288">
                    <a:solidFill>
                      <a:srgbClr val="FFFFFF"/>
                    </a:solidFill>
                  </a:tcPr>
                </a:tc>
                <a:tc>
                  <a:txBody>
                    <a:bodyPr/>
                    <a:lstStyle/>
                    <a:p>
                      <a:pPr>
                        <a:defRPr sz="800">
                          <a:solidFill>
                            <a:srgbClr val="0F172A"/>
                          </a:solidFill>
                          <a:latin typeface="Microsoft YaHei"/>
                        </a:defRPr>
                      </a:pPr>
                      <a:r>
                        <a:t>高复用且加载快；</a:t>
                      </a:r>
                      <a:br/>
                      <a:r>
                        <a:t>查询服务接近饱和的高并发</a:t>
                      </a:r>
                    </a:p>
                  </a:txBody>
                  <a:tcPr anchor="ctr" marL="54864" marR="54864" marT="18288" marB="18288">
                    <a:solidFill>
                      <a:srgbClr val="FFFFFF"/>
                    </a:solidFill>
                  </a:tcPr>
                </a:tc>
                <a:tc>
                  <a:txBody>
                    <a:bodyPr/>
                    <a:lstStyle/>
                    <a:p>
                      <a:pPr>
                        <a:defRPr sz="800">
                          <a:solidFill>
                            <a:srgbClr val="0F172A"/>
                          </a:solidFill>
                          <a:latin typeface="Microsoft YaHei"/>
                        </a:defRPr>
                      </a:pPr>
                      <a:r>
                        <a:t>查询往返、注册和处理开销减少 ➔ 同步等待与控制面排队减少</a:t>
                      </a:r>
                    </a:p>
                  </a:txBody>
                  <a:tcPr anchor="ctr" marL="54864" marR="54864" marT="18288" marB="18288">
                    <a:solidFill>
                      <a:srgbClr val="FFFFFF"/>
                    </a:solidFill>
                  </a:tcPr>
                </a:tc>
                <a:tc>
                  <a:txBody>
                    <a:bodyPr/>
                    <a:lstStyle/>
                    <a:p>
                      <a:pPr algn="ctr">
                        <a:defRPr sz="800" b="1">
                          <a:solidFill>
                            <a:srgbClr val="047857"/>
                          </a:solidFill>
                          <a:latin typeface="Microsoft YaHei"/>
                        </a:defRPr>
                      </a:pPr>
                      <a:r>
                        <a:t>缩短 TTFT、P99 TTFT</a:t>
                      </a:r>
                      <a:br/>
                      <a:r>
                        <a:t>提高有效 QPS</a:t>
                      </a:r>
                    </a:p>
                  </a:txBody>
                  <a:tcPr anchor="ctr" marL="54864" marR="54864" marT="18288" marB="18288">
                    <a:solidFill>
                      <a:srgbClr val="FFFFFF"/>
                    </a:solidFill>
                  </a:tcPr>
                </a:tc>
              </a:tr>
              <a:tr h="373380">
                <a:tc>
                  <a:txBody>
                    <a:bodyPr/>
                    <a:lstStyle/>
                    <a:p>
                      <a:pPr algn="ctr">
                        <a:defRPr sz="800" b="1">
                          <a:solidFill>
                            <a:srgbClr val="1D4ED8"/>
                          </a:solidFill>
                          <a:latin typeface="Microsoft YaHei"/>
                        </a:defRPr>
                      </a:pPr>
                      <a:r>
                        <a:t>【控制面】</a:t>
                      </a:r>
                      <a:br/>
                      <a:r>
                        <a:t>动态选路决策与前后台控制</a:t>
                      </a:r>
                    </a:p>
                  </a:txBody>
                  <a:tcPr anchor="ctr" marL="54864" marR="54864" marT="18288" marB="18288">
                    <a:solidFill>
                      <a:srgbClr val="F1F5F9"/>
                    </a:solidFill>
                  </a:tcPr>
                </a:tc>
                <a:tc>
                  <a:txBody>
                    <a:bodyPr/>
                    <a:lstStyle/>
                    <a:p>
                      <a:pPr>
                        <a:defRPr sz="800">
                          <a:solidFill>
                            <a:srgbClr val="0F172A"/>
                          </a:solidFill>
                          <a:latin typeface="Microsoft YaHei"/>
                        </a:defRPr>
                      </a:pPr>
                      <a:r>
                        <a:t>加载 / 重算成本前置模型；</a:t>
                      </a:r>
                      <a:br/>
                      <a:r>
                        <a:t>硬件优先级队列、限速与退避</a:t>
                      </a:r>
                    </a:p>
                  </a:txBody>
                  <a:tcPr anchor="ctr" marL="54864" marR="54864" marT="18288" marB="18288">
                    <a:solidFill>
                      <a:srgbClr val="F1F5F9"/>
                    </a:solidFill>
                  </a:tcPr>
                </a:tc>
                <a:tc>
                  <a:txBody>
                    <a:bodyPr/>
                    <a:lstStyle/>
                    <a:p>
                      <a:pPr>
                        <a:defRPr sz="800">
                          <a:solidFill>
                            <a:srgbClr val="0F172A"/>
                          </a:solidFill>
                          <a:latin typeface="Microsoft YaHei"/>
                        </a:defRPr>
                      </a:pPr>
                      <a:r>
                        <a:t>低复用、拥塞链路；</a:t>
                      </a:r>
                      <a:br/>
                      <a:r>
                        <a:t>前台推理与后台搬运混压</a:t>
                      </a:r>
                    </a:p>
                  </a:txBody>
                  <a:tcPr anchor="ctr" marL="54864" marR="54864" marT="18288" marB="18288">
                    <a:solidFill>
                      <a:srgbClr val="F1F5F9"/>
                    </a:solidFill>
                  </a:tcPr>
                </a:tc>
                <a:tc>
                  <a:txBody>
                    <a:bodyPr/>
                    <a:lstStyle/>
                    <a:p>
                      <a:pPr>
                        <a:defRPr sz="800">
                          <a:solidFill>
                            <a:srgbClr val="0F172A"/>
                          </a:solidFill>
                          <a:latin typeface="Microsoft YaHei"/>
                        </a:defRPr>
                      </a:pPr>
                      <a:r>
                        <a:t>避免非收益的低效拉取，降低共享资源总线争用 ➔ 杜绝性能反噬，降低前台生成干扰</a:t>
                      </a:r>
                    </a:p>
                  </a:txBody>
                  <a:tcPr anchor="ctr" marL="54864" marR="54864" marT="18288" marB="18288">
                    <a:solidFill>
                      <a:srgbClr val="F1F5F9"/>
                    </a:solidFill>
                  </a:tcPr>
                </a:tc>
                <a:tc>
                  <a:txBody>
                    <a:bodyPr/>
                    <a:lstStyle/>
                    <a:p>
                      <a:pPr algn="ctr">
                        <a:defRPr sz="800" b="1">
                          <a:solidFill>
                            <a:srgbClr val="047857"/>
                          </a:solidFill>
                          <a:latin typeface="Microsoft YaHei"/>
                        </a:defRPr>
                      </a:pPr>
                      <a:r>
                        <a:t>改善 TTFT、TPOT 与 P99</a:t>
                      </a:r>
                      <a:br/>
                      <a:r>
                        <a:t>提高有效 QPS</a:t>
                      </a:r>
                    </a:p>
                  </a:txBody>
                  <a:tcPr anchor="ctr" marL="54864" marR="54864" marT="18288" marB="18288">
                    <a:solidFill>
                      <a:srgbClr val="F1F5F9"/>
                    </a:solidFill>
                  </a:tcPr>
                </a:tc>
              </a:tr>
              <a:tr h="373380">
                <a:tc>
                  <a:txBody>
                    <a:bodyPr/>
                    <a:lstStyle/>
                    <a:p>
                      <a:pPr algn="ctr">
                        <a:defRPr sz="800" b="1">
                          <a:solidFill>
                            <a:srgbClr val="047857"/>
                          </a:solidFill>
                          <a:latin typeface="Microsoft YaHei"/>
                        </a:defRPr>
                      </a:pPr>
                      <a:r>
                        <a:t>【数据面】</a:t>
                      </a:r>
                      <a:br/>
                      <a:r>
                        <a:t>布局转换与批量聚合搬运</a:t>
                      </a:r>
                    </a:p>
                  </a:txBody>
                  <a:tcPr anchor="ctr" marL="54864" marR="54864" marT="18288" marB="18288">
                    <a:solidFill>
                      <a:srgbClr val="FFFFFF"/>
                    </a:solidFill>
                  </a:tcPr>
                </a:tc>
                <a:tc>
                  <a:txBody>
                    <a:bodyPr/>
                    <a:lstStyle/>
                    <a:p>
                      <a:pPr>
                        <a:defRPr sz="800">
                          <a:solidFill>
                            <a:srgbClr val="0F172A"/>
                          </a:solidFill>
                          <a:latin typeface="Microsoft YaHei"/>
                        </a:defRPr>
                      </a:pPr>
                      <a:r>
                        <a:t>计算 / 传输布局解耦；</a:t>
                      </a:r>
                      <a:br/>
                      <a:r>
                        <a:t>连续块聚合、批量 DMA 提交</a:t>
                      </a:r>
                    </a:p>
                  </a:txBody>
                  <a:tcPr anchor="ctr" marL="54864" marR="54864" marT="18288" marB="18288">
                    <a:solidFill>
                      <a:srgbClr val="FFFFFF"/>
                    </a:solidFill>
                  </a:tcPr>
                </a:tc>
                <a:tc>
                  <a:txBody>
                    <a:bodyPr/>
                    <a:lstStyle/>
                    <a:p>
                      <a:pPr>
                        <a:defRPr sz="800">
                          <a:solidFill>
                            <a:srgbClr val="0F172A"/>
                          </a:solidFill>
                          <a:latin typeface="Microsoft YaHei"/>
                        </a:defRPr>
                      </a:pPr>
                      <a:r>
                        <a:t>长前缀恢复；</a:t>
                      </a:r>
                      <a:br/>
                      <a:r>
                        <a:t>KV 碎片多、小传输密集场景</a:t>
                      </a:r>
                    </a:p>
                  </a:txBody>
                  <a:tcPr anchor="ctr" marL="54864" marR="54864" marT="18288" marB="18288">
                    <a:solidFill>
                      <a:srgbClr val="FFFFFF"/>
                    </a:solidFill>
                  </a:tcPr>
                </a:tc>
                <a:tc>
                  <a:txBody>
                    <a:bodyPr/>
                    <a:lstStyle/>
                    <a:p>
                      <a:pPr>
                        <a:defRPr sz="800">
                          <a:solidFill>
                            <a:srgbClr val="0F172A"/>
                          </a:solidFill>
                          <a:latin typeface="Microsoft YaHei"/>
                        </a:defRPr>
                      </a:pPr>
                      <a:r>
                        <a:t>小 I/O、描述符和提交次数减少 ➔ 打满物理带宽，加载等待缩短</a:t>
                      </a:r>
                    </a:p>
                  </a:txBody>
                  <a:tcPr anchor="ctr" marL="54864" marR="54864" marT="18288" marB="18288">
                    <a:solidFill>
                      <a:srgbClr val="FFFFFF"/>
                    </a:solidFill>
                  </a:tcPr>
                </a:tc>
                <a:tc>
                  <a:txBody>
                    <a:bodyPr/>
                    <a:lstStyle/>
                    <a:p>
                      <a:pPr algn="ctr">
                        <a:defRPr sz="800" b="1">
                          <a:solidFill>
                            <a:srgbClr val="047857"/>
                          </a:solidFill>
                          <a:latin typeface="Microsoft YaHei"/>
                        </a:defRPr>
                      </a:pPr>
                      <a:r>
                        <a:t>显著缩短 TTFT</a:t>
                      </a:r>
                      <a:br/>
                      <a:r>
                        <a:t>提高有效 QPS</a:t>
                      </a:r>
                    </a:p>
                  </a:txBody>
                  <a:tcPr anchor="ctr" marL="54864" marR="54864" marT="18288" marB="18288">
                    <a:solidFill>
                      <a:srgbClr val="FFFFFF"/>
                    </a:solidFill>
                  </a:tcPr>
                </a:tc>
              </a:tr>
              <a:tr h="373380">
                <a:tc>
                  <a:txBody>
                    <a:bodyPr/>
                    <a:lstStyle/>
                    <a:p>
                      <a:pPr algn="ctr">
                        <a:defRPr sz="800" b="1">
                          <a:solidFill>
                            <a:srgbClr val="047857"/>
                          </a:solidFill>
                          <a:latin typeface="Microsoft YaHei"/>
                        </a:defRPr>
                      </a:pPr>
                      <a:r>
                        <a:t>【数据面】</a:t>
                      </a:r>
                      <a:br/>
                      <a:r>
                        <a:t>分层放置与多通道均衡利用</a:t>
                      </a:r>
                    </a:p>
                  </a:txBody>
                  <a:tcPr anchor="ctr" marL="54864" marR="54864" marT="18288" marB="18288">
                    <a:solidFill>
                      <a:srgbClr val="F1F5F9"/>
                    </a:solidFill>
                  </a:tcPr>
                </a:tc>
                <a:tc>
                  <a:txBody>
                    <a:bodyPr/>
                    <a:lstStyle/>
                    <a:p>
                      <a:pPr>
                        <a:defRPr sz="800">
                          <a:solidFill>
                            <a:srgbClr val="0F172A"/>
                          </a:solidFill>
                          <a:latin typeface="Microsoft YaHei"/>
                        </a:defRPr>
                      </a:pPr>
                      <a:r>
                        <a:t>分层存储、亲和分配与带宽分片；</a:t>
                      </a:r>
                      <a:br/>
                      <a:r>
                        <a:t>拓扑感知选路、通道负载均衡</a:t>
                      </a:r>
                    </a:p>
                  </a:txBody>
                  <a:tcPr anchor="ctr" marL="54864" marR="54864" marT="18288" marB="18288">
                    <a:solidFill>
                      <a:srgbClr val="F1F5F9"/>
                    </a:solidFill>
                  </a:tcPr>
                </a:tc>
                <a:tc>
                  <a:txBody>
                    <a:bodyPr/>
                    <a:lstStyle/>
                    <a:p>
                      <a:pPr>
                        <a:defRPr sz="800">
                          <a:solidFill>
                            <a:srgbClr val="0F172A"/>
                          </a:solidFill>
                          <a:latin typeface="Microsoft YaHei"/>
                        </a:defRPr>
                      </a:pPr>
                      <a:r>
                        <a:t>多内存通道、多网卡；</a:t>
                      </a:r>
                      <a:br/>
                      <a:r>
                        <a:t>链路负载不均或容量受限</a:t>
                      </a:r>
                    </a:p>
                  </a:txBody>
                  <a:tcPr anchor="ctr" marL="54864" marR="54864" marT="18288" marB="18288">
                    <a:solidFill>
                      <a:srgbClr val="F1F5F9"/>
                    </a:solidFill>
                  </a:tcPr>
                </a:tc>
                <a:tc>
                  <a:txBody>
                    <a:bodyPr/>
                    <a:lstStyle/>
                    <a:p>
                      <a:pPr>
                        <a:defRPr sz="800">
                          <a:solidFill>
                            <a:srgbClr val="0F172A"/>
                          </a:solidFill>
                          <a:latin typeface="Microsoft YaHei"/>
                        </a:defRPr>
                      </a:pPr>
                      <a:r>
                        <a:t>跨域访问和热点通道排队减少 ➔ 物理可用容量与聚合带宽更充分利用</a:t>
                      </a:r>
                    </a:p>
                  </a:txBody>
                  <a:tcPr anchor="ctr" marL="54864" marR="54864" marT="18288" marB="18288">
                    <a:solidFill>
                      <a:srgbClr val="F1F5F9"/>
                    </a:solidFill>
                  </a:tcPr>
                </a:tc>
                <a:tc>
                  <a:txBody>
                    <a:bodyPr/>
                    <a:lstStyle/>
                    <a:p>
                      <a:pPr algn="ctr">
                        <a:defRPr sz="800" b="1">
                          <a:solidFill>
                            <a:srgbClr val="047857"/>
                          </a:solidFill>
                          <a:latin typeface="Microsoft YaHei"/>
                        </a:defRPr>
                      </a:pPr>
                      <a:r>
                        <a:t>缩短 TTFT、收敛尾时延</a:t>
                      </a:r>
                      <a:br/>
                      <a:r>
                        <a:t>提高有效 QPS，降低 TCO</a:t>
                      </a:r>
                    </a:p>
                  </a:txBody>
                  <a:tcPr anchor="ctr" marL="54864" marR="54864" marT="18288" marB="18288">
                    <a:solidFill>
                      <a:srgbClr val="F1F5F9"/>
                    </a:solidFill>
                  </a:tcPr>
                </a:tc>
              </a:tr>
              <a:tr h="373380">
                <a:tc>
                  <a:txBody>
                    <a:bodyPr/>
                    <a:lstStyle/>
                    <a:p>
                      <a:pPr algn="ctr">
                        <a:defRPr sz="800" b="1">
                          <a:solidFill>
                            <a:srgbClr val="047857"/>
                          </a:solidFill>
                          <a:latin typeface="Microsoft YaHei"/>
                        </a:defRPr>
                      </a:pPr>
                      <a:r>
                        <a:t>【数据面】</a:t>
                      </a:r>
                      <a:br/>
                      <a:r>
                        <a:t>按需直达与按层异步流水</a:t>
                      </a:r>
                    </a:p>
                  </a:txBody>
                  <a:tcPr anchor="ctr" marL="54864" marR="54864" marT="18288" marB="18288">
                    <a:solidFill>
                      <a:srgbClr val="FFFFFF"/>
                    </a:solidFill>
                  </a:tcPr>
                </a:tc>
                <a:tc>
                  <a:txBody>
                    <a:bodyPr/>
                    <a:lstStyle/>
                    <a:p>
                      <a:pPr>
                        <a:defRPr sz="800">
                          <a:solidFill>
                            <a:srgbClr val="0F172A"/>
                          </a:solidFill>
                          <a:latin typeface="Microsoft YaHei"/>
                        </a:defRPr>
                      </a:pPr>
                      <a:r>
                        <a:t>设备 DMA 直达绕过主机内存；</a:t>
                      </a:r>
                      <a:br/>
                      <a:r>
                        <a:t>按需访问、逐层预取与计算重叠</a:t>
                      </a:r>
                    </a:p>
                  </a:txBody>
                  <a:tcPr anchor="ctr" marL="54864" marR="54864" marT="18288" marB="18288">
                    <a:solidFill>
                      <a:srgbClr val="FFFFFF"/>
                    </a:solidFill>
                  </a:tcPr>
                </a:tc>
                <a:tc>
                  <a:txBody>
                    <a:bodyPr/>
                    <a:lstStyle/>
                    <a:p>
                      <a:pPr>
                        <a:defRPr sz="800">
                          <a:solidFill>
                            <a:srgbClr val="0F172A"/>
                          </a:solidFill>
                          <a:latin typeface="Microsoft YaHei"/>
                        </a:defRPr>
                      </a:pPr>
                      <a:r>
                        <a:t>外部 KV 恢复；</a:t>
                      </a:r>
                      <a:br/>
                      <a:r>
                        <a:t>生成中需要逐层召回的场景</a:t>
                      </a:r>
                    </a:p>
                  </a:txBody>
                  <a:tcPr anchor="ctr" marL="54864" marR="54864" marT="18288" marB="18288">
                    <a:solidFill>
                      <a:srgbClr val="FFFFFF"/>
                    </a:solidFill>
                  </a:tcPr>
                </a:tc>
                <a:tc>
                  <a:txBody>
                    <a:bodyPr/>
                    <a:lstStyle/>
                    <a:p>
                      <a:pPr>
                        <a:defRPr sz="800">
                          <a:solidFill>
                            <a:srgbClr val="0F172A"/>
                          </a:solidFill>
                          <a:latin typeface="Microsoft YaHei"/>
                        </a:defRPr>
                      </a:pPr>
                      <a:r>
                        <a:t>消除中转与 Host CPU 拷贝，首层等待减少 ➔ 数据等待与计算停顿掩盖</a:t>
                      </a:r>
                    </a:p>
                  </a:txBody>
                  <a:tcPr anchor="ctr" marL="54864" marR="54864" marT="18288" marB="18288">
                    <a:solidFill>
                      <a:srgbClr val="FFFFFF"/>
                    </a:solidFill>
                  </a:tcPr>
                </a:tc>
                <a:tc>
                  <a:txBody>
                    <a:bodyPr/>
                    <a:lstStyle/>
                    <a:p>
                      <a:pPr algn="ctr">
                        <a:defRPr sz="800" b="1">
                          <a:solidFill>
                            <a:srgbClr val="047857"/>
                          </a:solidFill>
                          <a:latin typeface="Microsoft YaHei"/>
                        </a:defRPr>
                      </a:pPr>
                      <a:r>
                        <a:t>缩短 TTFT</a:t>
                      </a:r>
                      <a:br/>
                      <a:r>
                        <a:t>逐层召回场景改善 TPOT</a:t>
                      </a:r>
                    </a:p>
                  </a:txBody>
                  <a:tcPr anchor="ctr" marL="54864" marR="54864" marT="18288" marB="18288">
                    <a:solidFill>
                      <a:srgbClr val="FFFFFF"/>
                    </a:solidFill>
                  </a:tcPr>
                </a:tc>
              </a:tr>
            </a:tbl>
          </a:graphicData>
        </a:graphic>
      </p:graphicFrame>
      <p:sp>
        <p:nvSpPr>
          <p:cNvPr id="25" name="TextBox 24"/>
          <p:cNvSpPr txBox="1"/>
          <p:nvPr/>
        </p:nvSpPr>
        <p:spPr>
          <a:xfrm>
            <a:off x="457200" y="6537960"/>
            <a:ext cx="10287000" cy="182880"/>
          </a:xfrm>
          <a:prstGeom prst="rect">
            <a:avLst/>
          </a:prstGeom>
          <a:noFill/>
        </p:spPr>
        <p:txBody>
          <a:bodyPr wrap="none" lIns="0" tIns="0" rIns="0" bIns="0">
            <a:spAutoFit/>
          </a:bodyPr>
          <a:lstStyle/>
          <a:p>
            <a:pPr>
              <a:defRPr sz="900">
                <a:solidFill>
                  <a:srgbClr val="475569"/>
                </a:solidFill>
                <a:latin typeface="Microsoft YaHei"/>
              </a:defRPr>
            </a:pPr>
            <a:r>
              <a:t>KVC 工作汇报 · 2026-10-15</a:t>
            </a:r>
          </a:p>
        </p:txBody>
      </p:sp>
      <p:sp>
        <p:nvSpPr>
          <p:cNvPr id="26" name="TextBox 25"/>
          <p:cNvSpPr txBox="1"/>
          <p:nvPr/>
        </p:nvSpPr>
        <p:spPr>
          <a:xfrm>
            <a:off x="11274552" y="6537960"/>
            <a:ext cx="457200" cy="182880"/>
          </a:xfrm>
          <a:prstGeom prst="rect">
            <a:avLst/>
          </a:prstGeom>
          <a:noFill/>
        </p:spPr>
        <p:txBody>
          <a:bodyPr wrap="none" lIns="0" tIns="0" rIns="0" bIns="0">
            <a:spAutoFit/>
          </a:bodyPr>
          <a:lstStyle/>
          <a:p>
            <a:pPr algn="r">
              <a:defRPr sz="900" b="1">
                <a:solidFill>
                  <a:srgbClr val="475569"/>
                </a:solidFill>
                <a:latin typeface="Microsoft YaHe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94944"/>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7772400" cy="475488"/>
          </a:xfrm>
          <a:prstGeom prst="rect">
            <a:avLst/>
          </a:prstGeom>
          <a:noFill/>
        </p:spPr>
        <p:txBody>
          <a:bodyPr wrap="square" lIns="0" tIns="0" rIns="0" bIns="0">
            <a:spAutoFit/>
          </a:bodyPr>
          <a:lstStyle/>
          <a:p>
            <a:pPr>
              <a:defRPr sz="1600" b="1">
                <a:solidFill>
                  <a:srgbClr val="FFFFFF"/>
                </a:solidFill>
                <a:latin typeface="Microsoft YaHei"/>
              </a:defRPr>
            </a:pPr>
            <a:r>
              <a:t>下一步工作规划：从原型验证走向系统集成与芯片协同</a:t>
            </a:r>
          </a:p>
        </p:txBody>
      </p:sp>
      <p:sp>
        <p:nvSpPr>
          <p:cNvPr id="4" name="TextBox 3"/>
          <p:cNvSpPr txBox="1"/>
          <p:nvPr/>
        </p:nvSpPr>
        <p:spPr>
          <a:xfrm>
            <a:off x="8412480" y="164592"/>
            <a:ext cx="3319272" cy="365760"/>
          </a:xfrm>
          <a:prstGeom prst="rect">
            <a:avLst/>
          </a:prstGeom>
          <a:noFill/>
        </p:spPr>
        <p:txBody>
          <a:bodyPr wrap="none" lIns="0" tIns="0" rIns="0" bIns="0">
            <a:spAutoFit/>
          </a:bodyPr>
          <a:lstStyle/>
          <a:p>
            <a:pPr algn="r">
              <a:defRPr sz="1100" b="1">
                <a:solidFill>
                  <a:srgbClr val="BFDBFE"/>
                </a:solidFill>
                <a:latin typeface="Microsoft YaHei"/>
              </a:defRPr>
            </a:pPr>
            <a:r>
              <a:t>KVC 推进规划 · 阶段目标与交付成果</a:t>
            </a:r>
          </a:p>
        </p:txBody>
      </p:sp>
      <p:sp>
        <p:nvSpPr>
          <p:cNvPr id="5" name="Rectangle 4"/>
          <p:cNvSpPr/>
          <p:nvPr/>
        </p:nvSpPr>
        <p:spPr>
          <a:xfrm>
            <a:off x="457200" y="804672"/>
            <a:ext cx="11277295" cy="347472"/>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804672"/>
            <a:ext cx="73152" cy="3474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841248"/>
            <a:ext cx="11018520" cy="274320"/>
          </a:xfrm>
          <a:prstGeom prst="rect">
            <a:avLst/>
          </a:prstGeom>
          <a:noFill/>
        </p:spPr>
        <p:txBody>
          <a:bodyPr wrap="square" lIns="0" tIns="0" rIns="0" bIns="0">
            <a:spAutoFit/>
          </a:bodyPr>
          <a:lstStyle/>
          <a:p>
            <a:pPr>
              <a:defRPr sz="950">
                <a:solidFill>
                  <a:srgbClr val="0F172A"/>
                </a:solidFill>
                <a:latin typeface="Microsoft YaHei"/>
              </a:defRPr>
            </a:pPr>
            <a:r>
              <a:t>基于已有的控制面与数据面优化机制，按三阶段推进全链路混压测试、推理引擎工程化集成与下代芯片硬件需求沉淀。</a:t>
            </a:r>
          </a:p>
        </p:txBody>
      </p:sp>
      <p:sp>
        <p:nvSpPr>
          <p:cNvPr id="8" name="TextBox 7"/>
          <p:cNvSpPr txBox="1"/>
          <p:nvPr/>
        </p:nvSpPr>
        <p:spPr>
          <a:xfrm>
            <a:off x="457200" y="1243584"/>
            <a:ext cx="11277295" cy="219456"/>
          </a:xfrm>
          <a:prstGeom prst="rect">
            <a:avLst/>
          </a:prstGeom>
          <a:noFill/>
        </p:spPr>
        <p:txBody>
          <a:bodyPr wrap="square" lIns="0" tIns="0" rIns="0" bIns="0">
            <a:spAutoFit/>
          </a:bodyPr>
          <a:lstStyle/>
          <a:p>
            <a:pPr>
              <a:defRPr sz="1100" b="1">
                <a:solidFill>
                  <a:srgbClr val="1E3A8A"/>
                </a:solidFill>
                <a:latin typeface="Microsoft YaHei"/>
              </a:defRPr>
            </a:pPr>
            <a:r>
              <a:t>【推进规划：阶段目标、关键工作与交付成果】</a:t>
            </a:r>
          </a:p>
        </p:txBody>
      </p:sp>
      <p:sp>
        <p:nvSpPr>
          <p:cNvPr id="9" name="Rectangle 8"/>
          <p:cNvSpPr/>
          <p:nvPr/>
        </p:nvSpPr>
        <p:spPr>
          <a:xfrm>
            <a:off x="457200" y="1536192"/>
            <a:ext cx="3493008" cy="48006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36192"/>
            <a:ext cx="3493008" cy="34747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91056"/>
            <a:ext cx="3310128" cy="256032"/>
          </a:xfrm>
          <a:prstGeom prst="rect">
            <a:avLst/>
          </a:prstGeom>
          <a:noFill/>
        </p:spPr>
        <p:txBody>
          <a:bodyPr wrap="none" lIns="0" tIns="0" rIns="0" bIns="0">
            <a:spAutoFit/>
          </a:bodyPr>
          <a:lstStyle/>
          <a:p>
            <a:pPr>
              <a:defRPr sz="960" b="1">
                <a:solidFill>
                  <a:srgbClr val="FFFFFF"/>
                </a:solidFill>
                <a:latin typeface="Microsoft YaHei"/>
              </a:defRPr>
            </a:pPr>
            <a:r>
              <a:t>阶段一：全链路混压与门禁达标 (近期 1~3 周)</a:t>
            </a:r>
          </a:p>
        </p:txBody>
      </p:sp>
      <p:sp>
        <p:nvSpPr>
          <p:cNvPr id="12" name="TextBox 11"/>
          <p:cNvSpPr txBox="1"/>
          <p:nvPr/>
        </p:nvSpPr>
        <p:spPr>
          <a:xfrm>
            <a:off x="3950208" y="1554480"/>
            <a:ext cx="393192" cy="310896"/>
          </a:xfrm>
          <a:prstGeom prst="rect">
            <a:avLst/>
          </a:prstGeom>
          <a:noFill/>
        </p:spPr>
        <p:txBody>
          <a:bodyPr wrap="none" lIns="0" tIns="0" rIns="0" bIns="0">
            <a:spAutoFit/>
          </a:bodyPr>
          <a:lstStyle/>
          <a:p>
            <a:pPr algn="ctr">
              <a:defRPr sz="1300" b="1">
                <a:solidFill>
                  <a:srgbClr val="1D4ED8"/>
                </a:solidFill>
                <a:latin typeface="Microsoft YaHei"/>
              </a:defRPr>
            </a:pPr>
            <a:r>
              <a:t>➔</a:t>
            </a:r>
          </a:p>
        </p:txBody>
      </p:sp>
      <p:sp>
        <p:nvSpPr>
          <p:cNvPr id="13" name="TextBox 12"/>
          <p:cNvSpPr txBox="1"/>
          <p:nvPr/>
        </p:nvSpPr>
        <p:spPr>
          <a:xfrm>
            <a:off x="566928" y="1938528"/>
            <a:ext cx="3273552" cy="4343400"/>
          </a:xfrm>
          <a:prstGeom prst="rect">
            <a:avLst/>
          </a:prstGeom>
          <a:noFill/>
        </p:spPr>
        <p:txBody>
          <a:bodyPr wrap="square" lIns="0" tIns="0" rIns="0" bIns="0">
            <a:spAutoFit/>
          </a:bodyPr>
          <a:lstStyle/>
          <a:p>
            <a:pPr>
              <a:defRPr sz="900" b="1">
                <a:solidFill>
                  <a:srgbClr val="1E3A8A"/>
                </a:solidFill>
                <a:latin typeface="Microsoft YaHei"/>
              </a:defRPr>
            </a:pPr>
            <a:r>
              <a:t>【阶段目标】</a:t>
            </a:r>
          </a:p>
          <a:p>
            <a:pPr>
              <a:spcBef>
                <a:spcPts val="200"/>
              </a:spcBef>
              <a:defRPr sz="830">
                <a:solidFill>
                  <a:srgbClr val="0F172A"/>
                </a:solidFill>
                <a:latin typeface="Microsoft YaHei"/>
              </a:defRPr>
            </a:pPr>
            <a:r>
              <a:t>将控制面快路径与数据面连续聚合打通，验证真实双节点端到端组合净收益。</a:t>
            </a:r>
          </a:p>
          <a:p>
            <a:pPr>
              <a:spcBef>
                <a:spcPts val="700"/>
              </a:spcBef>
              <a:defRPr sz="900" b="1">
                <a:solidFill>
                  <a:srgbClr val="1E3A8A"/>
                </a:solidFill>
                <a:latin typeface="Microsoft YaHei"/>
              </a:defRPr>
            </a:pPr>
            <a:r>
              <a:t>【重点工作】</a:t>
            </a:r>
          </a:p>
          <a:p>
            <a:pPr>
              <a:spcBef>
                <a:spcPts val="200"/>
              </a:spcBef>
              <a:defRPr sz="800">
                <a:solidFill>
                  <a:srgbClr val="0F172A"/>
                </a:solidFill>
                <a:latin typeface="Microsoft YaHei"/>
              </a:defRPr>
            </a:pPr>
            <a:r>
              <a:t>• 机制组合测试：打通共享快路径与连续块聚合，测试复合加速收益</a:t>
            </a:r>
          </a:p>
          <a:p>
            <a:pPr>
              <a:spcBef>
                <a:spcPts val="200"/>
              </a:spcBef>
              <a:defRPr sz="800">
                <a:solidFill>
                  <a:srgbClr val="0F172A"/>
                </a:solidFill>
                <a:latin typeface="Microsoft YaHei"/>
              </a:defRPr>
            </a:pPr>
            <a:r>
              <a:t>• 双节点前后台混压：前台在线推理与后台数据搬运并发，压测 P99 尾部抖动</a:t>
            </a:r>
          </a:p>
          <a:p>
            <a:pPr>
              <a:spcBef>
                <a:spcPts val="200"/>
              </a:spcBef>
              <a:defRPr sz="800">
                <a:solidFill>
                  <a:srgbClr val="0F172A"/>
                </a:solidFill>
                <a:latin typeface="Microsoft YaHei"/>
              </a:defRPr>
            </a:pPr>
            <a:r>
              <a:t>• 收益边界摸底：实测全工况加速与资源开销，消除低复用下的负收益反噬</a:t>
            </a:r>
          </a:p>
          <a:p>
            <a:pPr>
              <a:spcBef>
                <a:spcPts val="700"/>
              </a:spcBef>
              <a:defRPr sz="900" b="1">
                <a:solidFill>
                  <a:srgbClr val="1E3A8A"/>
                </a:solidFill>
                <a:latin typeface="Microsoft YaHei"/>
              </a:defRPr>
            </a:pPr>
            <a:r>
              <a:t>【准出指标】</a:t>
            </a:r>
          </a:p>
          <a:p>
            <a:pPr>
              <a:spcBef>
                <a:spcPts val="200"/>
              </a:spcBef>
              <a:defRPr sz="800">
                <a:solidFill>
                  <a:srgbClr val="0F172A"/>
                </a:solidFill>
                <a:latin typeface="Microsoft YaHei"/>
              </a:defRPr>
            </a:pPr>
            <a:r>
              <a:t>• TTFT 缩短 ≥20%，有效 QPS 提升 ≥10%</a:t>
            </a:r>
          </a:p>
          <a:p>
            <a:pPr>
              <a:spcBef>
                <a:spcPts val="200"/>
              </a:spcBef>
              <a:defRPr sz="800">
                <a:solidFill>
                  <a:srgbClr val="0F172A"/>
                </a:solidFill>
                <a:latin typeface="Microsoft YaHei"/>
              </a:defRPr>
            </a:pPr>
            <a:r>
              <a:t>• 前台 TPOT 干扰率 &lt;3%，满足长尾 SLO 稳定性要求</a:t>
            </a:r>
          </a:p>
          <a:p>
            <a:pPr>
              <a:spcBef>
                <a:spcPts val="700"/>
              </a:spcBef>
              <a:defRPr sz="900" b="1">
                <a:solidFill>
                  <a:srgbClr val="1D4ED8"/>
                </a:solidFill>
                <a:latin typeface="Microsoft YaHei"/>
              </a:defRPr>
            </a:pPr>
            <a:r>
              <a:t>【阶段交付物】</a:t>
            </a:r>
          </a:p>
          <a:p>
            <a:pPr>
              <a:spcBef>
                <a:spcPts val="200"/>
              </a:spcBef>
              <a:defRPr sz="800" b="1">
                <a:solidFill>
                  <a:srgbClr val="1E3A8A"/>
                </a:solidFill>
                <a:latin typeface="Microsoft YaHei"/>
              </a:defRPr>
            </a:pPr>
            <a:r>
              <a:t>• 全工况实测性能对账集（含短/中/长上下文与 5 档复用率台账）</a:t>
            </a:r>
          </a:p>
          <a:p>
            <a:pPr>
              <a:spcBef>
                <a:spcPts val="200"/>
              </a:spcBef>
              <a:defRPr sz="800" b="1">
                <a:solidFill>
                  <a:srgbClr val="1E3A8A"/>
                </a:solidFill>
                <a:latin typeface="Microsoft YaHei"/>
              </a:defRPr>
            </a:pPr>
            <a:r>
              <a:t>• 机制组合与双节点混压测试分析报告</a:t>
            </a:r>
          </a:p>
        </p:txBody>
      </p:sp>
      <p:sp>
        <p:nvSpPr>
          <p:cNvPr id="14" name="Rectangle 13"/>
          <p:cNvSpPr/>
          <p:nvPr/>
        </p:nvSpPr>
        <p:spPr>
          <a:xfrm>
            <a:off x="4343400" y="1536192"/>
            <a:ext cx="3493008" cy="4800600"/>
          </a:xfrm>
          <a:prstGeom prst="rect">
            <a:avLst/>
          </a:prstGeom>
          <a:solidFill>
            <a:srgbClr val="EFF6FF"/>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536192"/>
            <a:ext cx="3493008" cy="34747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591056"/>
            <a:ext cx="3310128" cy="256032"/>
          </a:xfrm>
          <a:prstGeom prst="rect">
            <a:avLst/>
          </a:prstGeom>
          <a:noFill/>
        </p:spPr>
        <p:txBody>
          <a:bodyPr wrap="none" lIns="0" tIns="0" rIns="0" bIns="0">
            <a:spAutoFit/>
          </a:bodyPr>
          <a:lstStyle/>
          <a:p>
            <a:pPr>
              <a:defRPr sz="960" b="1">
                <a:solidFill>
                  <a:srgbClr val="FFFFFF"/>
                </a:solidFill>
                <a:latin typeface="Microsoft YaHei"/>
              </a:defRPr>
            </a:pPr>
            <a:r>
              <a:t>阶段二：引擎集成与系统工程化 (中期 1~2 个月)</a:t>
            </a:r>
          </a:p>
        </p:txBody>
      </p:sp>
      <p:sp>
        <p:nvSpPr>
          <p:cNvPr id="17" name="TextBox 16"/>
          <p:cNvSpPr txBox="1"/>
          <p:nvPr/>
        </p:nvSpPr>
        <p:spPr>
          <a:xfrm>
            <a:off x="7836408" y="1554480"/>
            <a:ext cx="393192" cy="310896"/>
          </a:xfrm>
          <a:prstGeom prst="rect">
            <a:avLst/>
          </a:prstGeom>
          <a:noFill/>
        </p:spPr>
        <p:txBody>
          <a:bodyPr wrap="none" lIns="0" tIns="0" rIns="0" bIns="0">
            <a:spAutoFit/>
          </a:bodyPr>
          <a:lstStyle/>
          <a:p>
            <a:pPr algn="ctr">
              <a:defRPr sz="1300" b="1">
                <a:solidFill>
                  <a:srgbClr val="1D4ED8"/>
                </a:solidFill>
                <a:latin typeface="Microsoft YaHei"/>
              </a:defRPr>
            </a:pPr>
            <a:r>
              <a:t>➔</a:t>
            </a:r>
          </a:p>
        </p:txBody>
      </p:sp>
      <p:sp>
        <p:nvSpPr>
          <p:cNvPr id="18" name="TextBox 17"/>
          <p:cNvSpPr txBox="1"/>
          <p:nvPr/>
        </p:nvSpPr>
        <p:spPr>
          <a:xfrm>
            <a:off x="4453128" y="1938528"/>
            <a:ext cx="3273552" cy="4343400"/>
          </a:xfrm>
          <a:prstGeom prst="rect">
            <a:avLst/>
          </a:prstGeom>
          <a:noFill/>
        </p:spPr>
        <p:txBody>
          <a:bodyPr wrap="square" lIns="0" tIns="0" rIns="0" bIns="0">
            <a:spAutoFit/>
          </a:bodyPr>
          <a:lstStyle/>
          <a:p>
            <a:pPr>
              <a:defRPr sz="900" b="1">
                <a:solidFill>
                  <a:srgbClr val="1E3A8A"/>
                </a:solidFill>
                <a:latin typeface="Microsoft YaHei"/>
              </a:defRPr>
            </a:pPr>
            <a:r>
              <a:t>【阶段目标】</a:t>
            </a:r>
          </a:p>
          <a:p>
            <a:pPr>
              <a:spcBef>
                <a:spcPts val="200"/>
              </a:spcBef>
              <a:defRPr sz="830">
                <a:solidFill>
                  <a:srgbClr val="0F172A"/>
                </a:solidFill>
                <a:latin typeface="Microsoft YaHei"/>
              </a:defRPr>
            </a:pPr>
            <a:r>
              <a:t>无缝嵌入主流开源推理引擎，具备生产级多卡协同与多级存储扩展能力。</a:t>
            </a:r>
          </a:p>
          <a:p>
            <a:pPr>
              <a:spcBef>
                <a:spcPts val="700"/>
              </a:spcBef>
              <a:defRPr sz="900" b="1">
                <a:solidFill>
                  <a:srgbClr val="1E3A8A"/>
                </a:solidFill>
                <a:latin typeface="Microsoft YaHei"/>
              </a:defRPr>
            </a:pPr>
            <a:r>
              <a:t>【重点工作】</a:t>
            </a:r>
          </a:p>
          <a:p>
            <a:pPr>
              <a:spcBef>
                <a:spcPts val="200"/>
              </a:spcBef>
              <a:defRPr sz="800">
                <a:solidFill>
                  <a:srgbClr val="0F172A"/>
                </a:solidFill>
                <a:latin typeface="Microsoft YaHei"/>
              </a:defRPr>
            </a:pPr>
            <a:r>
              <a:t>• 推理引擎适配：以插件化方式对接 vLLM / SGLang 生态，业务无感接入</a:t>
            </a:r>
          </a:p>
          <a:p>
            <a:pPr>
              <a:spcBef>
                <a:spcPts val="200"/>
              </a:spcBef>
              <a:defRPr sz="800">
                <a:solidFill>
                  <a:srgbClr val="0F172A"/>
                </a:solidFill>
                <a:latin typeface="Microsoft YaHei"/>
              </a:defRPr>
            </a:pPr>
            <a:r>
              <a:t>• 张量并行多卡协同：打通 TP=8 多卡状态同步机制，消除通信死锁隐患</a:t>
            </a:r>
          </a:p>
          <a:p>
            <a:pPr>
              <a:spcBef>
                <a:spcPts val="200"/>
              </a:spcBef>
              <a:defRPr sz="800">
                <a:solidFill>
                  <a:srgbClr val="0F172A"/>
                </a:solidFill>
                <a:latin typeface="Microsoft YaHei"/>
              </a:defRPr>
            </a:pPr>
            <a:r>
              <a:t>• 多级存储自动分层：打通 HBM ↔ Host DDR ↔ NVMe SSD 自动流转与扩容</a:t>
            </a:r>
          </a:p>
          <a:p>
            <a:pPr>
              <a:spcBef>
                <a:spcPts val="200"/>
              </a:spcBef>
              <a:defRPr sz="800">
                <a:solidFill>
                  <a:srgbClr val="0F172A"/>
                </a:solidFill>
                <a:latin typeface="Microsoft YaHei"/>
              </a:defRPr>
            </a:pPr>
            <a:r>
              <a:t>• 节点容错保障：完善视图租约安全守卫机制，支持异常微秒级安全回滚</a:t>
            </a:r>
          </a:p>
          <a:p>
            <a:pPr>
              <a:spcBef>
                <a:spcPts val="700"/>
              </a:spcBef>
              <a:defRPr sz="900" b="1">
                <a:solidFill>
                  <a:srgbClr val="1E3A8A"/>
                </a:solidFill>
                <a:latin typeface="Microsoft YaHei"/>
              </a:defRPr>
            </a:pPr>
            <a:r>
              <a:t>【关键能力】</a:t>
            </a:r>
          </a:p>
          <a:p>
            <a:pPr>
              <a:spcBef>
                <a:spcPts val="200"/>
              </a:spcBef>
              <a:defRPr sz="800">
                <a:solidFill>
                  <a:srgbClr val="0F172A"/>
                </a:solidFill>
                <a:latin typeface="Microsoft YaHei"/>
              </a:defRPr>
            </a:pPr>
            <a:r>
              <a:t>• 单机多卡与跨节点透明访问，显存容量扩展 ≥30%</a:t>
            </a:r>
          </a:p>
          <a:p>
            <a:pPr>
              <a:spcBef>
                <a:spcPts val="200"/>
              </a:spcBef>
              <a:defRPr sz="800">
                <a:solidFill>
                  <a:srgbClr val="0F172A"/>
                </a:solidFill>
                <a:latin typeface="Microsoft YaHei"/>
              </a:defRPr>
            </a:pPr>
            <a:r>
              <a:t>• 代码单元测试覆盖率 ≥85%，支持独立构建与部署</a:t>
            </a:r>
          </a:p>
          <a:p>
            <a:pPr>
              <a:spcBef>
                <a:spcPts val="700"/>
              </a:spcBef>
              <a:defRPr sz="900" b="1">
                <a:solidFill>
                  <a:srgbClr val="1D4ED8"/>
                </a:solidFill>
                <a:latin typeface="Microsoft YaHei"/>
              </a:defRPr>
            </a:pPr>
            <a:r>
              <a:t>【阶段交付物】</a:t>
            </a:r>
          </a:p>
          <a:p>
            <a:pPr>
              <a:spcBef>
                <a:spcPts val="200"/>
              </a:spcBef>
              <a:defRPr sz="800" b="1">
                <a:solidFill>
                  <a:srgbClr val="1E3A8A"/>
                </a:solidFill>
                <a:latin typeface="Microsoft YaHei"/>
              </a:defRPr>
            </a:pPr>
            <a:r>
              <a:t>• 统一异构调度底座代码库主干</a:t>
            </a:r>
          </a:p>
          <a:p>
            <a:pPr>
              <a:spcBef>
                <a:spcPts val="200"/>
              </a:spcBef>
              <a:defRPr sz="800" b="1">
                <a:solidFill>
                  <a:srgbClr val="1E3A8A"/>
                </a:solidFill>
                <a:latin typeface="Microsoft YaHei"/>
              </a:defRPr>
            </a:pPr>
            <a:r>
              <a:t>• 推理集群分层部署与 QoS 队列参数调优指南</a:t>
            </a:r>
          </a:p>
        </p:txBody>
      </p:sp>
      <p:sp>
        <p:nvSpPr>
          <p:cNvPr id="19" name="Rectangle 18"/>
          <p:cNvSpPr/>
          <p:nvPr/>
        </p:nvSpPr>
        <p:spPr>
          <a:xfrm>
            <a:off x="8229600" y="1536192"/>
            <a:ext cx="3493008" cy="4800600"/>
          </a:xfrm>
          <a:prstGeom prst="rect">
            <a:avLst/>
          </a:prstGeom>
          <a:solidFill>
            <a:srgbClr val="ECFDF5"/>
          </a:solidFill>
          <a:ln w="1524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36192"/>
            <a:ext cx="3493008" cy="347472"/>
          </a:xfrm>
          <a:prstGeom prst="rect">
            <a:avLst/>
          </a:prstGeom>
          <a:solidFill>
            <a:srgbClr val="047857"/>
          </a:solidFill>
          <a:ln>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591056"/>
            <a:ext cx="3310128" cy="256032"/>
          </a:xfrm>
          <a:prstGeom prst="rect">
            <a:avLst/>
          </a:prstGeom>
          <a:noFill/>
        </p:spPr>
        <p:txBody>
          <a:bodyPr wrap="none" lIns="0" tIns="0" rIns="0" bIns="0">
            <a:spAutoFit/>
          </a:bodyPr>
          <a:lstStyle/>
          <a:p>
            <a:pPr>
              <a:defRPr sz="960" b="1">
                <a:solidFill>
                  <a:srgbClr val="FFFFFF"/>
                </a:solidFill>
                <a:latin typeface="Microsoft YaHei"/>
              </a:defRPr>
            </a:pPr>
            <a:r>
              <a:t>阶段三：芯片软硬协同与需求反哺 (下代演进)</a:t>
            </a:r>
          </a:p>
        </p:txBody>
      </p:sp>
      <p:sp>
        <p:nvSpPr>
          <p:cNvPr id="22" name="TextBox 21"/>
          <p:cNvSpPr txBox="1"/>
          <p:nvPr/>
        </p:nvSpPr>
        <p:spPr>
          <a:xfrm>
            <a:off x="8339328" y="1938528"/>
            <a:ext cx="3273552" cy="4343400"/>
          </a:xfrm>
          <a:prstGeom prst="rect">
            <a:avLst/>
          </a:prstGeom>
          <a:noFill/>
        </p:spPr>
        <p:txBody>
          <a:bodyPr wrap="square" lIns="0" tIns="0" rIns="0" bIns="0">
            <a:spAutoFit/>
          </a:bodyPr>
          <a:lstStyle/>
          <a:p>
            <a:pPr>
              <a:defRPr sz="900" b="1">
                <a:solidFill>
                  <a:srgbClr val="1E3A8A"/>
                </a:solidFill>
                <a:latin typeface="Microsoft YaHei"/>
              </a:defRPr>
            </a:pPr>
            <a:r>
              <a:t>【阶段目标】</a:t>
            </a:r>
          </a:p>
          <a:p>
            <a:pPr>
              <a:spcBef>
                <a:spcPts val="200"/>
              </a:spcBef>
              <a:defRPr sz="830">
                <a:solidFill>
                  <a:srgbClr val="0F172A"/>
                </a:solidFill>
                <a:latin typeface="Microsoft YaHei"/>
              </a:defRPr>
            </a:pPr>
            <a:r>
              <a:t>将原型中验证有效的物理机制标准化，沉淀为下一代 AI 芯片的硬件能力需求。</a:t>
            </a:r>
          </a:p>
          <a:p>
            <a:pPr>
              <a:spcBef>
                <a:spcPts val="700"/>
              </a:spcBef>
              <a:defRPr sz="900" b="1">
                <a:solidFill>
                  <a:srgbClr val="1E3A8A"/>
                </a:solidFill>
                <a:latin typeface="Microsoft YaHei"/>
              </a:defRPr>
            </a:pPr>
            <a:r>
              <a:t>【重点工作】</a:t>
            </a:r>
          </a:p>
          <a:p>
            <a:pPr>
              <a:spcBef>
                <a:spcPts val="200"/>
              </a:spcBef>
              <a:defRPr sz="800">
                <a:solidFill>
                  <a:srgbClr val="0F172A"/>
                </a:solidFill>
                <a:latin typeface="Microsoft YaHei"/>
              </a:defRPr>
            </a:pPr>
            <a:r>
              <a:t>• 硬件需求量化：基于实测提炼底层通信、DMA 与存储接口共性物理需求</a:t>
            </a:r>
          </a:p>
          <a:p>
            <a:pPr>
              <a:spcBef>
                <a:spcPts val="200"/>
              </a:spcBef>
              <a:defRPr sz="800">
                <a:solidFill>
                  <a:srgbClr val="0F172A"/>
                </a:solidFill>
                <a:latin typeface="Microsoft YaHei"/>
              </a:defRPr>
            </a:pPr>
            <a:r>
              <a:t>• 芯片规格输入：向芯片团队输入连续物理块解析、设备直达硬件规范</a:t>
            </a:r>
          </a:p>
          <a:p>
            <a:pPr>
              <a:spcBef>
                <a:spcPts val="200"/>
              </a:spcBef>
              <a:defRPr sz="800">
                <a:solidFill>
                  <a:srgbClr val="0F172A"/>
                </a:solidFill>
                <a:latin typeface="Microsoft YaHei"/>
              </a:defRPr>
            </a:pPr>
            <a:r>
              <a:t>• 全栈协同优化：联合编译器与底层驱动团队，推进软硬件一体化协同</a:t>
            </a:r>
          </a:p>
          <a:p>
            <a:pPr>
              <a:spcBef>
                <a:spcPts val="700"/>
              </a:spcBef>
              <a:defRPr sz="900" b="1">
                <a:solidFill>
                  <a:srgbClr val="047857"/>
                </a:solidFill>
                <a:latin typeface="Microsoft YaHei"/>
              </a:defRPr>
            </a:pPr>
            <a:r>
              <a:t>【核心价值】</a:t>
            </a:r>
          </a:p>
          <a:p>
            <a:pPr>
              <a:spcBef>
                <a:spcPts val="200"/>
              </a:spcBef>
              <a:defRPr sz="800">
                <a:solidFill>
                  <a:srgbClr val="0F172A"/>
                </a:solidFill>
                <a:latin typeface="Microsoft YaHei"/>
              </a:defRPr>
            </a:pPr>
            <a:r>
              <a:t>• 推动国产专用芯片原生支持 KVCache 硬件加速，突破主机总线瓶颈</a:t>
            </a:r>
          </a:p>
          <a:p>
            <a:pPr>
              <a:spcBef>
                <a:spcPts val="200"/>
              </a:spcBef>
              <a:defRPr sz="800">
                <a:solidFill>
                  <a:srgbClr val="0F172A"/>
                </a:solidFill>
                <a:latin typeface="Microsoft YaHei"/>
              </a:defRPr>
            </a:pPr>
            <a:r>
              <a:t>• 沉淀大模型注意力键值缓存调度与互联技术规范</a:t>
            </a:r>
          </a:p>
          <a:p>
            <a:pPr>
              <a:spcBef>
                <a:spcPts val="700"/>
              </a:spcBef>
              <a:defRPr sz="900" b="1">
                <a:solidFill>
                  <a:srgbClr val="047857"/>
                </a:solidFill>
                <a:latin typeface="Microsoft YaHei"/>
              </a:defRPr>
            </a:pPr>
            <a:r>
              <a:t>【阶段交付物】</a:t>
            </a:r>
          </a:p>
          <a:p>
            <a:pPr>
              <a:spcBef>
                <a:spcPts val="200"/>
              </a:spcBef>
              <a:defRPr sz="800" b="1">
                <a:solidFill>
                  <a:srgbClr val="1E3A8A"/>
                </a:solidFill>
                <a:latin typeface="Microsoft YaHei"/>
              </a:defRPr>
            </a:pPr>
            <a:r>
              <a:t>• 软硬件协同硬件能力需求输入说明书</a:t>
            </a:r>
          </a:p>
          <a:p>
            <a:pPr>
              <a:spcBef>
                <a:spcPts val="200"/>
              </a:spcBef>
              <a:defRPr sz="800" b="1">
                <a:solidFill>
                  <a:srgbClr val="1E3A8A"/>
                </a:solidFill>
                <a:latin typeface="Microsoft YaHei"/>
              </a:defRPr>
            </a:pPr>
            <a:r>
              <a:t>• 统一异构 KVCache 调度与互联技术规范白皮书</a:t>
            </a:r>
          </a:p>
        </p:txBody>
      </p:sp>
      <p:sp>
        <p:nvSpPr>
          <p:cNvPr id="23" name="TextBox 22"/>
          <p:cNvSpPr txBox="1"/>
          <p:nvPr/>
        </p:nvSpPr>
        <p:spPr>
          <a:xfrm>
            <a:off x="457200" y="6537960"/>
            <a:ext cx="10287000" cy="182880"/>
          </a:xfrm>
          <a:prstGeom prst="rect">
            <a:avLst/>
          </a:prstGeom>
          <a:noFill/>
        </p:spPr>
        <p:txBody>
          <a:bodyPr wrap="none" lIns="0" tIns="0" rIns="0" bIns="0">
            <a:spAutoFit/>
          </a:bodyPr>
          <a:lstStyle/>
          <a:p>
            <a:pPr>
              <a:defRPr sz="900">
                <a:solidFill>
                  <a:srgbClr val="475569"/>
                </a:solidFill>
                <a:latin typeface="Microsoft YaHei"/>
              </a:defRPr>
            </a:pPr>
            <a:r>
              <a:t>KVC 工作汇报 · 2026-10-15</a:t>
            </a:r>
          </a:p>
        </p:txBody>
      </p:sp>
      <p:sp>
        <p:nvSpPr>
          <p:cNvPr id="24" name="TextBox 23"/>
          <p:cNvSpPr txBox="1"/>
          <p:nvPr/>
        </p:nvSpPr>
        <p:spPr>
          <a:xfrm>
            <a:off x="11274552" y="6537960"/>
            <a:ext cx="457200" cy="182880"/>
          </a:xfrm>
          <a:prstGeom prst="rect">
            <a:avLst/>
          </a:prstGeom>
          <a:noFill/>
        </p:spPr>
        <p:txBody>
          <a:bodyPr wrap="none" lIns="0" tIns="0" rIns="0" bIns="0">
            <a:spAutoFit/>
          </a:bodyPr>
          <a:lstStyle/>
          <a:p>
            <a:pPr algn="r">
              <a:defRPr sz="900" b="1">
                <a:solidFill>
                  <a:srgbClr val="475569"/>
                </a:solidFill>
                <a:latin typeface="Microsoft YaHei"/>
              </a:defRPr>
            </a:pPr>
            <a:r>
              <a:t>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