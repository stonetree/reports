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1 页：KVC 软硬协同价值）】</a:t>
            </a:r>
          </a:p>
          <a:p>
            <a:r>
              <a:t>各位领导、评审专家，大家好！本页重点汇报我们围绕 KVCache 展开软硬件协同优化的核心逻辑与第一性原理。</a:t>
            </a:r>
          </a:p>
          <a:p>
            <a:r>
              <a:t>在传统认知中，KVCache 往往被视作上层推理框架的一个缓存淘汰算法或中间件对象。但当我们深入底层时发现：KVC 绝不仅是软件数据结构，它是一个直接跨越五个物理抽象层级的体系结构问题（如顶部流程图所示）：</a:t>
            </a:r>
          </a:p>
          <a:p>
            <a:r>
              <a:t>1. 逻辑 KV 层：定义 Token 前缀和注意力激活张量，软硬协同切入点在于 KV 状态对象化 (KVHandle)；</a:t>
            </a:r>
          </a:p>
          <a:p>
            <a:r>
              <a:t>2. 物理布局层：通过计算与传输布局解耦 (Strata) 以及连续块聚合，解决碎片化离散小传输；</a:t>
            </a:r>
          </a:p>
          <a:p>
            <a:r>
              <a:t>3. 物理介质层：跨 HOST DDR、CXL 与 NVMe SSD 进行多级容量扩展，结合 NUMA 亲和与按带宽分片；</a:t>
            </a:r>
          </a:p>
          <a:p>
            <a:r>
              <a:t>4. 数据路径层：优化 KVC 传输通道与投递流水，全面提升 CPU/NPU 的 KVC 协同效率；</a:t>
            </a:r>
          </a:p>
          <a:p>
            <a:r>
              <a:t>5. 计算消费层：实现 HOST 侧按层流式预取与硬件 QoS 优先级队列，使数据搬运完全被推理计算掩盖。</a:t>
            </a:r>
          </a:p>
          <a:p/>
          <a:p>
            <a:r>
              <a:t>【右侧外部实测盈亏平衡线分析与木桶效应】：</a:t>
            </a:r>
          </a:p>
          <a:p>
            <a:r>
              <a:t>右图来自 2026 年顶会针对外部主流推理引擎（vLLM）外挂存储的最新实测（py-kvcache）。图中的横轴是用户输入的上下文长度（1k 到 80k Tokens），纵轴是前缀命中的复用比例（0% 到 100%）。绿色代表加载比重算快（净加速），橙红色代表加载比重算更慢（性能反噬，降速最高达 4 倍），黑色实线则是两者的盈亏平衡分界线。</a:t>
            </a:r>
          </a:p>
          <a:p>
            <a:r>
              <a:t>这里必须重点指出的工程规律是：KVC 加速存在极强的'全链路木桶效应'。HOST 侧若在任何单一环节存在适配问题（例如连续块合并失效引发离散小 I/O、触发了 CPU 内存拷贝、跨 NUMA 访存或者总线争用），微观物理开销就会迅速累积反噬，导致数据拉取耗时超过直接重算，整个系统直接坠入大面积红黄色负收益区，恶化在线推理的 TTFT、TPOT 尾部时延与有效吞吐等宏观指标。</a:t>
            </a:r>
          </a:p>
          <a:p>
            <a:r>
              <a:t>因此，HOST 侧软硬协同的核心价值，就是优化 KVC 传输与投递、提升 CPU/NPU 协同效率并消除短板，将盈亏平衡分界线大幅向下平移，确保真实推理业务稳定获取加速净收益。</a:t>
            </a:r>
          </a:p>
          <a:p/>
          <a:p>
            <a:r>
              <a:t>参考文献依据：OSDI 2026 Strata; FAST 2026 Bidaw; SIGCOMM 2026 DualPath; py-kvcache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2 页：技术探索方向与瓶颈引导）】</a:t>
            </a:r>
          </a:p>
          <a:p>
            <a:r>
              <a:t>本页是承上启下的关键页，核心任务是引导领导和评审专家清晰看到 KVC 在数据面与控制面面临的根本物理瓶颈，并直接引出后续具体优化成果汇报。</a:t>
            </a:r>
          </a:p>
          <a:p/>
          <a:p>
            <a:r>
              <a:t>左侧聚焦【数据面物理痛点】：</a:t>
            </a:r>
          </a:p>
          <a:p>
            <a:r>
              <a:t>大模型计算天然需要按层（Layer-first）组织显存以便执行注意力计算；但如果存储和 Host 内存也机械沿用该布局，跨层 KV 读取就会被切碎成海量微小 I/O。Strata (OSDI'26) 实测表明，在离散小页下 PCIe/总线利用率仅有 5%~22%，I/O 停顿占 Prefill 总耗时达 74%。通过计算/传输布局解耦与按页连续聚合，平均 TTFT 缩短 52%（5.03s 降至 2.42s），吞吐提升 33%。这直接证实了我们在数据面推进“连续块聚合、描述符批量编译、Host CPU 零拷贝与绕过主机内存”的必要性。</a:t>
            </a:r>
          </a:p>
          <a:p/>
          <a:p>
            <a:r>
              <a:t>右侧聚焦【控制面开销瓶颈】：</a:t>
            </a:r>
          </a:p>
          <a:p>
            <a:r>
              <a:t>Beluga (SIGMOD'26) 的微基准测试揭示了高并发下的系统瓶颈：传统网络 RPC 控制事务耗时 10~30µs。随着并发上升，排队延迟呈 3.5 倍发散恶化，形成控制面阻塞，拉大 P99 尾部时延。而通过微秒级快路径，控制开销压降至数微秒，吞吐提升 2.5 倍以上。这直接引出了我们在控制面深耕的“元数据共享内存快路径、单边免 CPU 协商与微秒选路决策”。</a:t>
            </a:r>
          </a:p>
          <a:p/>
          <a:p>
            <a:r>
              <a:t>下方的优化方向表，清晰地将 5 大机制划分为控制面与数据面，与后续汇报的实验数据一一对应。</a:t>
            </a:r>
          </a:p>
          <a:p/>
          <a:p>
            <a:r>
              <a:t>参考文献依据：OSDI 2026 Strata (Fig.6, Fig.13); SIGMOD 2026 Beluga (Fig.14)。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【汇报讲稿（第 3 页：后续推进规划 · 1 分钟快速串讲，引导领导多指方向）】</a:t>
            </a:r>
          </a:p>
          <a:p>
            <a:r>
              <a:t>各位领导，最后这一页简要汇报后续的三个重点工作方向，把时间留给领导多指导和把关方向：</a:t>
            </a:r>
          </a:p>
          <a:p/>
          <a:p>
            <a:r>
              <a:t>1. 全链路混压验证：打通真实双节点控制面与数据面机制，验证端到端复合加速净收益，指标明确为 TTFT 缩短 20%、QPS 提升 10%、前台干扰小于 3%，输出全工况实测性能对账集与混压报告；</a:t>
            </a:r>
          </a:p>
          <a:p>
            <a:r>
              <a:t>2. 主流引擎工程化适配：以插件化方式无缝接入 vLLM 与 SGLang 开源生态，打通单机多卡 TP=8 协同与显存向外分层扩展，交付调度底座主干代码库与集群调优指南；</a:t>
            </a:r>
          </a:p>
          <a:p>
            <a:r>
              <a:t>3. 探索 HOST 侧 KVC 软硬结合优化手段，提升解决方案竞争力：紧扣第一页全流程价值链，重点围绕计算/传输布局解耦、多级存储扩展、连续块聚合以及按层流式消费展开全链路评估，沉淀面向异构底座的软硬协同优化方法与技术方案，提升系统底层竞争力。</a:t>
            </a:r>
          </a:p>
          <a:p/>
          <a:p>
            <a:r>
              <a:t>后续重点工作就是这三项，非常期待各位领导在技术方向、实验条件和软硬结合路径上给我们多提指导意见！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KVC 的软硬协同价值：从计算状态到物理执行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价值探索 · 体系结构与业务传导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大模型注意力键值缓存（KVCache）将逻辑计算状态与底层内存、存储、互联及执行紧密绑定；单纯上层优化无法突破物理墙，底层通路决定其能否兑现为业务净收益。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43584"/>
            <a:ext cx="1975104" cy="841248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80160"/>
            <a:ext cx="1865376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① 逻辑 KV</a:t>
            </a:r>
          </a:p>
          <a:p>
            <a:pPr>
              <a:spcBef>
                <a:spcPts val="100"/>
              </a:spcBef>
              <a:defRPr sz="780" b="1">
                <a:solidFill>
                  <a:srgbClr val="1D4ED8"/>
                </a:solidFill>
                <a:latin typeface="Microsoft YaHei"/>
              </a:defRPr>
            </a:pPr>
            <a:r>
              <a:t>[语义与状态表示]</a:t>
            </a:r>
          </a:p>
          <a:p>
            <a:pPr>
              <a:spcBef>
                <a:spcPts val="100"/>
              </a:spcBef>
              <a:defRPr sz="700">
                <a:solidFill>
                  <a:srgbClr val="475569"/>
                </a:solidFill>
                <a:latin typeface="Microsoft YaHei"/>
              </a:defRPr>
            </a:pPr>
            <a:r>
              <a:t>Token/前缀表示 · 逐层状态依赖</a:t>
            </a:r>
          </a:p>
          <a:p>
            <a:pPr>
              <a:spcBef>
                <a:spcPts val="100"/>
              </a:spcBef>
              <a:defRPr sz="700" b="1">
                <a:solidFill>
                  <a:srgbClr val="1E3A8A"/>
                </a:solidFill>
                <a:latin typeface="Microsoft YaHei"/>
              </a:defRPr>
            </a:pPr>
            <a:r>
              <a:t>软硬协同：KV 状态对象化 (KVHandle)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1408176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表示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1243584"/>
            <a:ext cx="1975104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280160"/>
            <a:ext cx="1865376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② 物理布局</a:t>
            </a:r>
          </a:p>
          <a:p>
            <a:pPr>
              <a:spcBef>
                <a:spcPts val="100"/>
              </a:spcBef>
              <a:defRPr sz="780" b="1">
                <a:solidFill>
                  <a:srgbClr val="1D4ED8"/>
                </a:solidFill>
                <a:latin typeface="Microsoft YaHei"/>
              </a:defRPr>
            </a:pPr>
            <a:r>
              <a:t>[计算/传输解耦]</a:t>
            </a:r>
          </a:p>
          <a:p>
            <a:pPr>
              <a:spcBef>
                <a:spcPts val="100"/>
              </a:spcBef>
              <a:defRPr sz="700">
                <a:solidFill>
                  <a:srgbClr val="475569"/>
                </a:solidFill>
                <a:latin typeface="Microsoft YaHei"/>
              </a:defRPr>
            </a:pPr>
            <a:r>
              <a:t>连续物理块聚合 · 描述符编译</a:t>
            </a:r>
          </a:p>
          <a:p>
            <a:pPr>
              <a:spcBef>
                <a:spcPts val="100"/>
              </a:spcBef>
              <a:defRPr sz="700" b="1">
                <a:solidFill>
                  <a:srgbClr val="1E3A8A"/>
                </a:solidFill>
                <a:latin typeface="Microsoft YaHei"/>
              </a:defRPr>
            </a:pPr>
            <a:r>
              <a:t>软硬协同：计算与传输布局解耦 (Strata)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408176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放置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43584"/>
            <a:ext cx="1975104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280160"/>
            <a:ext cx="1865376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③ 物理介质</a:t>
            </a:r>
          </a:p>
          <a:p>
            <a:pPr>
              <a:spcBef>
                <a:spcPts val="100"/>
              </a:spcBef>
              <a:defRPr sz="780" b="1">
                <a:solidFill>
                  <a:srgbClr val="1D4ED8"/>
                </a:solidFill>
                <a:latin typeface="Microsoft YaHei"/>
              </a:defRPr>
            </a:pPr>
            <a:r>
              <a:t>[多级存储分层]</a:t>
            </a:r>
          </a:p>
          <a:p>
            <a:pPr>
              <a:spcBef>
                <a:spcPts val="100"/>
              </a:spcBef>
              <a:defRPr sz="700">
                <a:solidFill>
                  <a:srgbClr val="475569"/>
                </a:solidFill>
                <a:latin typeface="Microsoft YaHei"/>
              </a:defRPr>
            </a:pPr>
            <a:r>
              <a:t>HOST DDR ↔ CXL ↔ NVMe SSD 扩展</a:t>
            </a:r>
          </a:p>
          <a:p>
            <a:pPr>
              <a:spcBef>
                <a:spcPts val="100"/>
              </a:spcBef>
              <a:defRPr sz="700" b="1">
                <a:solidFill>
                  <a:srgbClr val="1E3A8A"/>
                </a:solidFill>
                <a:latin typeface="Microsoft YaHei"/>
              </a:defRPr>
            </a:pPr>
            <a:r>
              <a:t>软硬协同：NUMA 亲和 · 按带宽动态分片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1408176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通路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8" y="1243584"/>
            <a:ext cx="1975104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280160"/>
            <a:ext cx="1865376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④ 数据路径</a:t>
            </a:r>
          </a:p>
          <a:p>
            <a:pPr>
              <a:spcBef>
                <a:spcPts val="100"/>
              </a:spcBef>
              <a:defRPr sz="780" b="1">
                <a:solidFill>
                  <a:srgbClr val="1D4ED8"/>
                </a:solidFill>
                <a:latin typeface="Microsoft YaHei"/>
              </a:defRPr>
            </a:pPr>
            <a:r>
              <a:t>[传输与投递协同]</a:t>
            </a:r>
          </a:p>
          <a:p>
            <a:pPr>
              <a:spcBef>
                <a:spcPts val="100"/>
              </a:spcBef>
              <a:defRPr sz="700">
                <a:solidFill>
                  <a:srgbClr val="475569"/>
                </a:solidFill>
                <a:latin typeface="Microsoft YaHei"/>
              </a:defRPr>
            </a:pPr>
            <a:r>
              <a:t>优化 KVC 传输通道 · 快速协同投递</a:t>
            </a:r>
          </a:p>
          <a:p>
            <a:pPr>
              <a:spcBef>
                <a:spcPts val="100"/>
              </a:spcBef>
              <a:defRPr sz="700" b="1">
                <a:solidFill>
                  <a:srgbClr val="1E3A8A"/>
                </a:solidFill>
                <a:latin typeface="Microsoft YaHei"/>
              </a:defRPr>
            </a:pPr>
            <a:r>
              <a:t>软硬协同：提升 CPU/NPU 协同效率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408176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流式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7504" y="1243584"/>
            <a:ext cx="1975104" cy="841248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8" y="1280160"/>
            <a:ext cx="1865376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⑤ 计算消费</a:t>
            </a:r>
          </a:p>
          <a:p>
            <a:pPr>
              <a:spcBef>
                <a:spcPts val="100"/>
              </a:spcBef>
              <a:defRPr sz="780" b="1">
                <a:solidFill>
                  <a:srgbClr val="1D4ED8"/>
                </a:solidFill>
                <a:latin typeface="Microsoft YaHei"/>
              </a:defRPr>
            </a:pPr>
            <a:r>
              <a:t>[逐层流式消费]</a:t>
            </a:r>
          </a:p>
          <a:p>
            <a:pPr>
              <a:spcBef>
                <a:spcPts val="100"/>
              </a:spcBef>
              <a:defRPr sz="700">
                <a:solidFill>
                  <a:srgbClr val="475569"/>
                </a:solidFill>
                <a:latin typeface="Microsoft YaHei"/>
              </a:defRPr>
            </a:pPr>
            <a:r>
              <a:t>按层流式预取 · 传输计算流水掩盖</a:t>
            </a:r>
          </a:p>
          <a:p>
            <a:pPr>
              <a:spcBef>
                <a:spcPts val="100"/>
              </a:spcBef>
              <a:defRPr sz="700" b="1">
                <a:solidFill>
                  <a:srgbClr val="1E3A8A"/>
                </a:solidFill>
                <a:latin typeface="Microsoft YaHei"/>
              </a:defRPr>
            </a:pPr>
            <a:r>
              <a:t>软硬协同：硬件 QoS 队列与自适应退避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176272"/>
            <a:ext cx="6675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【HOST 侧物理化映射矩阵：软件机制如何传导至物理开销与业务指标】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2432304"/>
          <a:ext cx="66751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57400"/>
                <a:gridCol w="2011680"/>
                <a:gridCol w="1234440"/>
              </a:tblGrid>
              <a:tr h="61264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连接环节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HOST 软件机制与底层能力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改变的物理开销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关联业务指标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逻辑 KV → 物理布局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计算/传输布局解耦 (Strata)</a:t>
                      </a:r>
                      <a:br/>
                      <a:r>
                        <a:t>• 连续物理块聚合 (Chunking)</a:t>
                      </a:r>
                      <a:br/>
                      <a:r>
                        <a:t>• 描述符批量编译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消除离散碎片小 I/O</a:t>
                      </a:r>
                      <a:br/>
                      <a:r>
                        <a:t>• 降低 CPU 转换与提交耗时</a:t>
                      </a:r>
                      <a:br/>
                      <a:r>
                        <a:t>• 提升 PCIe/总线带宽利用率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缩短</a:t>
                      </a:r>
                      <a:br/>
                      <a:r>
                        <a:t>有效吞吐提升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物理布局 → 物理介质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HOST 内存/SSD 多级分层</a:t>
                      </a:r>
                      <a:br/>
                      <a:r>
                        <a:t>• NUMA 节点亲和绑定</a:t>
                      </a:r>
                      <a:br/>
                      <a:r>
                        <a:t>• 按通道带宽动态分片 (Striping)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规避跨 NUMA 远端访存</a:t>
                      </a:r>
                      <a:br/>
                      <a:r>
                        <a:t>• 平衡多通道 I/O 负载</a:t>
                      </a:r>
                      <a:br/>
                      <a:r>
                        <a:t>• 消除总线访存争用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承载超长上下文</a:t>
                      </a:r>
                      <a:br/>
                      <a:r>
                        <a:t>降低单请求成本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物理介质 → 数据路径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优化 KVC 传输通道与投递流水</a:t>
                      </a:r>
                      <a:br/>
                      <a:r>
                        <a:t>• CPU/NPU 高效协同流水机制</a:t>
                      </a:r>
                      <a:br/>
                      <a:r>
                        <a:t>• 描述符快速分发与内存协同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压缩数据传输与协同投递时延</a:t>
                      </a:r>
                      <a:br/>
                      <a:r>
                        <a:t>• 消除 CPU/NPU 协同等待损耗</a:t>
                      </a:r>
                      <a:br/>
                      <a:r>
                        <a:t>• 提升总线有效利用率与协同吞吐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  <a:br/>
                      <a:r>
                        <a:t>协同吞吐提升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数据路径 → 计算消费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HOST 逐层流式预取</a:t>
                      </a:r>
                      <a:br/>
                      <a:r>
                        <a:t>• 硬件 QoS 优先级队列</a:t>
                      </a:r>
                      <a:br/>
                      <a:r>
                        <a:t>• 前后台流量自适应退避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掩盖数据加载传输时延</a:t>
                      </a:r>
                      <a:br/>
                      <a:r>
                        <a:t>• 避免首层计算等待卡顿</a:t>
                      </a:r>
                      <a:br/>
                      <a:r>
                        <a:t>• 隔离后台 I/O 对前台解码干扰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P99 尾时延收敛</a:t>
                      </a:r>
                      <a:br/>
                      <a:r>
                        <a:t>在线 TPOT 达标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5586984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• 软硬协同核心机会点与价值：KVC 贯穿 HOST 内存、总线与加速器全链路，通过软硬协同优化传输投递、提升 CPU/NPU 协同效率，是突破物理瓶颈、决定能否兑现加速净收益的关键切入点。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2176272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【核心依据：物理开销决定净收益边界 (Break-Even)】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2432304"/>
            <a:ext cx="443484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2432304"/>
            <a:ext cx="44348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8352" y="2468880"/>
            <a:ext cx="4251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外部实测：KVC 命中与加速净收益的盈亏平衡分界线 (py-kvcache 2026)</a:t>
            </a:r>
          </a:p>
        </p:txBody>
      </p:sp>
      <p:pic>
        <p:nvPicPr>
          <p:cNvPr id="29" name="Picture 28" descr="pykvcache_fig06_break_even_fron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724912"/>
            <a:ext cx="4288536" cy="155448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370064" y="4315968"/>
            <a:ext cx="4288536" cy="310896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2" y="4325111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【坐标说明】横轴=上下文总长(1k~80k) | 纵轴=前缀复用率(0~100%) | 实线=盈亏平衡线</a:t>
            </a:r>
            <a:br/>
            <a:r>
              <a:t>【绿色净加速区】：加载耗时 &lt; 重算耗时  |  【红黄色负收益区】：加载耗时 &gt; 重算耗时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4681728"/>
            <a:ext cx="4251960" cy="1408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defRPr sz="750">
                <a:solidFill>
                  <a:srgbClr val="BE123C"/>
                </a:solidFill>
                <a:latin typeface="Microsoft YaHei"/>
              </a:defRPr>
            </a:pPr>
            <a:r>
              <a:t>• 全链路木桶效应与负收益反噬：在 KVC 全链路中，HOST 侧若在任一环节存在适配问题（离散小 I/O、CPU 内存拷贝、跨 NUMA 访存或总线争用），微观物理开销将迅速累积反噬；一旦“数据加载耗时 &gt; 本地直接重算耗时”，系统便落入右图大面积红黄色负收益区（推理降速最高达 4x），直接恶化在线推理的 TTFT、TPOT 尾部时延与吞吐。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750" b="1">
                <a:solidFill>
                  <a:srgbClr val="047857"/>
                </a:solidFill>
                <a:latin typeface="Microsoft YaHei"/>
              </a:defRPr>
            </a:pPr>
            <a:r>
              <a:t>• HOST 软硬协同破局价值：优化传输投递流水、连续物理块聚合与硬件 QoS 退避机制，全面提升 CPU/NPU 协同效率并消除短板，将盈亏平衡线大幅向下平移，确保真实业务稳定获取加速净收益。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技术探索方向：布局开销与控制面吞吐的收益传导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探索方向 · 瓶颈引导与优化映射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以数据面“计算/传输布局失配”与控制面“微秒级事务累积排队”为两大瓶颈切入点，引导并全面承接后续控制面与数据面优化成果。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【数据面痛点引导】布局失配与碎片 I/O 导致总线严重饥饿</a:t>
            </a:r>
          </a:p>
        </p:txBody>
      </p:sp>
      <p:pic>
        <p:nvPicPr>
          <p:cNvPr id="11" name="Picture 10" descr="fig06_layout_de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3246120" cy="9418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86200" y="1581912"/>
            <a:ext cx="1993392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60020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平均 TTFT：5.03s ➔ 2.42s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缩短 52% (2.1x 加速，TTFT 减半)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084832"/>
            <a:ext cx="199339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210312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47857"/>
                </a:solidFill>
                <a:latin typeface="Microsoft YaHei"/>
              </a:defRPr>
            </a:pPr>
            <a:r>
              <a:t>生成吞吐：27.4 ➔ 36.4 T/s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吞吐提升 33% (满足高并发 SLO)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60320"/>
            <a:ext cx="32461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80" b="1">
                <a:solidFill>
                  <a:srgbClr val="475569"/>
                </a:solidFill>
                <a:latin typeface="Microsoft YaHei"/>
              </a:defRPr>
            </a:pPr>
            <a:r>
              <a:t>GPU：按层计算布局   Host/存储：按页连续传输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770632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【物理瓶颈】计算与传输布局失配：GPU 按层组织显存便于算子计算，沿用至 Host 导致跨层读取被打散为海量微小 I/O；离散小页下物理总线利用率仅 5%~22%，I/O 停顿占 Prefill 耗时达 74%（Strata OSDI'26 实测）。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【收益传导】计算与传输解耦：按页连续聚合组织物理 I/O，大幅减少碎片化小传输与描述符提交，有效打满物理总线带宽，数据加载等待时间缩短 52%（TTFT 5.03s 降至 2.42s）。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【后续成果承接】数据面优化重点：连续物理块聚合、描述符批量编译、优化 KVC 传输通道与投递流水，提升 CPU/NPU 协同效率。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【控制面痛点引导】微秒级事务累积引发排队风暴与长尾恶化</a:t>
            </a:r>
          </a:p>
        </p:txBody>
      </p:sp>
      <p:pic>
        <p:nvPicPr>
          <p:cNvPr id="21" name="Picture 20" descr="beluga_fig14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81912"/>
            <a:ext cx="5120640" cy="1188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2788920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【物理瓶颈】高并发控制事务累积排队：传统网络 RPC 与元数据检索单次耗时 10~30µs；并发请求上升或前缀变短时，排队延迟呈 3.5 倍发散恶化，形成控制面阻塞并引发 P99 尾部时延抖动（Beluga SIGMOD'26 实测）。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【收益传导】微秒级控制面快路径：将单次控制事务缩短至数微秒，同等在途并发下控制吞吐提升 2.5 倍以上（突破 12 M ops/s），有效消除控制面队头阻塞与事务积压。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【后续成果承接】控制面优化重点：元数据共享内存快路径、单边免 CPU 协商、描述符批量复用与微秒选路决策。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77639"/>
            <a:ext cx="112772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【优化方向与收益传导矩阵（直接对应后续控制面与数据面成果汇报）】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215383"/>
          <a:ext cx="1127455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560320"/>
                <a:gridCol w="2011680"/>
                <a:gridCol w="3291840"/>
                <a:gridCol w="1719072"/>
              </a:tblGrid>
              <a:tr h="3733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优化方向 / 归属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 / 硬件机制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收益场景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微观变化与收益传导机理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元数据快路径与稳定描述符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共享内存检索、批量查询；</a:t>
                      </a:r>
                      <a:br/>
                      <a:r>
                        <a:t>复用注册信息与地址描述符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高复用且加载快；</a:t>
                      </a:r>
                      <a:br/>
                      <a:r>
                        <a:t>查询服务接近饱和的高并发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查询往返、注册和处理开销减少 ➔ 同步等待与控制面排队减少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TTFT、P99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动态选路决策与前后台控制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加载 / 重算成本前置模型；</a:t>
                      </a:r>
                      <a:br/>
                      <a:r>
                        <a:t>硬件优先级队列、限速与退避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低复用、拥塞链路；</a:t>
                      </a:r>
                      <a:br/>
                      <a:r>
                        <a:t>前台推理与后台搬运混压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避免非收益的低效拉取，降低共享资源总线争用 ➔ 杜绝性能反噬，降低前台生成干扰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改善 TTFT、TPOT 与 P99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布局转换与批量聚合搬运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计算 / 传输布局解耦；</a:t>
                      </a:r>
                      <a:br/>
                      <a:r>
                        <a:t>连续块聚合、批量 DMA 提交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长前缀恢复；</a:t>
                      </a:r>
                      <a:br/>
                      <a:r>
                        <a:t>KV 碎片多、小传输密集场景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小 I/O、描述符和提交次数减少 ➔ 打满物理带宽，加载等待缩短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显著缩短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分层放置与多通道均衡利用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分层存储、亲和分配与带宽分片；</a:t>
                      </a:r>
                      <a:br/>
                      <a:r>
                        <a:t>拓扑感知选路、通道负载均衡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多内存通道、多网卡；</a:t>
                      </a:r>
                      <a:br/>
                      <a:r>
                        <a:t>链路负载不均或容量受限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跨域访问和热点通道排队减少 ➔ 物理可用容量与聚合带宽更充分利用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TTFT、收敛尾时延</a:t>
                      </a:r>
                      <a:br/>
                      <a:r>
                        <a:t>提高有效 QPS，降低 TCO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传输优化与按层异步流水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优化 KVC 传输通道与投递；</a:t>
                      </a:r>
                      <a:br/>
                      <a:r>
                        <a:t>按需访问、逐层预取与计算重叠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外部 KV 恢复；</a:t>
                      </a:r>
                      <a:br/>
                      <a:r>
                        <a:t>生成中需要逐层召回的场景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传输与投递时延压缩，首层等待减少 ➔ 提升 CPU/NPU 协同，掩盖计算停顿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</a:t>
                      </a:r>
                      <a:br/>
                      <a:r>
                        <a:t>逐层召回场景改善 TPOT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下一步工作规划：重点方向、关键指标与预期结果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推进规划 · 目标与预期结果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围绕已有控制面与数据面优化成果，聚焦全链路混压验证、主流引擎适配与 HOST 侧软硬结合手段探索，全面提升解决方案竞争力。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1.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打通真实双节点全链路混压，验证端到端复合加速净收益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端到端 TTFT 缩短 ≥20%，有效 QPS 提升 ≥10%，前台在线推理 TPOT 干扰率 &lt;3%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输出全工况实测性能对账集（涵盖短/中/长 Prompt 与 5 档复用率），形成机制组合与双节点混压分析报告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44368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2.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主流开源推理引擎工程化适配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支持单机多卡（TP=8）与跨节点透明访问，有效显存容量等效扩展 ≥30%，核心代码单测覆盖率 ≥85%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以插件化方式无缝接入 vLLM / SGLang，交付统一异构调度底座代码库主干，沉淀生产级集群分层部署与网络 QoS 队列参数调优指南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44568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3.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探索 HOST 侧 KVC 软硬结合优化手段，提升解决方案竞争力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量化评估布局解耦、多级存储扩展、连续块聚合与硬件 QoS 隔离等手段的加速收益与物理开销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沉淀面向异构硬件底座的软硬协同优化方法，形成系统技术方案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