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109728"/>
          <a:lstStyle/>
          <a:p>
            <a:pPr algn="ct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【内部资料 · 请勿外传】 文档编号: TR-20260721-02  |  统一异构 KVCache 存储池双周进展汇报  |  状态: 🟢 ON TRACK
</a:t>
            </a: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一、双周重点进展与总体成果全景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26791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2000" b="1">
                <a:solidFill>
                  <a:srgbClr val="DC2626"/>
                </a:solidFill>
                <a:latin typeface="Microsoft YaHei"/>
                <a:ea typeface="Microsoft YaHei"/>
              </a:rPr>
              <a:t>149 条
</a:t>
            </a: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SRS V2.2 需求基线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143000"/>
            <a:ext cx="26791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2000" b="1">
                <a:solidFill>
                  <a:srgbClr val="1E3A8A"/>
                </a:solidFill>
                <a:latin typeface="Microsoft YaHei"/>
                <a:ea typeface="Microsoft YaHei"/>
              </a:rPr>
              <a:t>447 个
</a:t>
            </a: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SF-IR-SR-AR 全量贯通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143000"/>
            <a:ext cx="26791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2000" b="1">
                <a:solidFill>
                  <a:srgbClr val="1E3A8A"/>
                </a:solidFill>
                <a:latin typeface="Microsoft YaHei"/>
                <a:ea typeface="Microsoft YaHei"/>
              </a:rPr>
              <a:t>8 项
</a:t>
            </a: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立项前必做 PVT 验证包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143000"/>
            <a:ext cx="26791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2000" b="1">
                <a:solidFill>
                  <a:srgbClr val="166534"/>
                </a:solidFill>
                <a:latin typeface="Microsoft YaHei"/>
                <a:ea typeface="Microsoft YaHei"/>
              </a:rPr>
              <a:t>4 阶段
</a:t>
            </a: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30%/50%/80%/100% 门禁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5595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</a:rPr>
              <a:t>【成果定版】 SRS 需求体系评审与导读定版
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完成多轮 SRS 需求评审，刷新 V2.2 需求基线列表，收敛定义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149 条 SR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编撰并输出《总体架构与 SRS 评审导读》（Markdown &amp;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30+页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专业排版 Word）。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补充 IDL 接口契约、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8 大工程基线与质量门禁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，完善现代软件工程开发环节。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73152" cy="2148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148840"/>
            <a:ext cx="55595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</a:rPr>
              <a:t>【体系重构】 SF-IR-SR-AR 全量需求树贯通
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基于 Pragmatic IPD 流程构建 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SF -&gt; IR -&gt; SR -&gt; AR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四级完整映射需求树。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明确全树节点：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2 个 SF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（平台特性）、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24 条 IR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（骨架）、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149 条 SR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、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447 个 AR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彻底打通“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顶层技术平台 -&gt; 具名组件/KPI -&gt; 可验证需求 -&gt; 原子开发认领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”全链路。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48840"/>
            <a:ext cx="73152" cy="2148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55595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</a:rPr>
              <a:t>【计划锁定】 项目 30%/50%/80%/100% 交付计划
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设置项目实施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30%、50%、80%、100%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四阶段交付计划与明确阶段退出门禁。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明确 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30% 基础通路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、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50% 容量消费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、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80% 薄闭环门禁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及 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100% 全量长稳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交付节点。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为研发排期、人力资源匹配及质量验收建立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可量化的交付衡量标准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73152" cy="2148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389120"/>
            <a:ext cx="555955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</a:rPr>
              <a:t>【攻关摸底】 关键技术原型提前验证计划
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精简重组 PVT 验证包，锁定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8 项立项前必做（PVT-00~07）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与 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3 项条件/证伪项（CVT）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重点开展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Block_table 传输耗时占比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及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Mooncake 前缀匹配查询时间占比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数据采集。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全面启动 Block_table 与 KV 前缀元数据的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UBMEM 内存语义改造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提前验证。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389120"/>
            <a:ext cx="73152" cy="2148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109728"/>
          <a:lstStyle/>
          <a:p>
            <a:pPr algn="ct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【内部资料 · 请勿外传】 文档编号: TR-20260721-02  |  统一异构 KVCache 存储池双周进展汇报  |  状态: 🟢 ON TRACK
</a:t>
            </a: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二、项目 30% / 50% / 80% / 100% 交付计划与里程碑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267919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【第一阶段】 30% 里程碑
</a:t>
            </a: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</a:rPr>
              <a:t>基础通路与控制面 (W0/W1)
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【交付重点】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打通 HBM↔SSD 容量主路径基础框架；完成 vLLM/SGLang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描述符编译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【数据通路】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实现进程内 Meta Cache 与基本 Block/Page 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批量 Descriptor 生成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【退出门禁】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通过 PVT-01/02 验证，Descriptor 数降低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≥50%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，控制面 P99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&lt; 200μs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143000"/>
            <a:ext cx="267919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【第二阶段】 50% 里程碑
</a:t>
            </a: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</a:rPr>
              <a:t>容量扩展与消费闭环 (W2)
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【交付重点】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实现 Raw Hit -&gt; Usable Hit 正确性判定与 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QueryPlan 准入控制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【数据通路】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打通 UBMEM/URMA 端到端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zero-copy 通路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与 HBM/DDR/SSD 分层迁移。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【退出门禁】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通过 PVT-04/05/06 验证，HBM 有效容量提升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≥30%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，错误 KV 消费率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= 0%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143000"/>
            <a:ext cx="267919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【第三阶段】 80% 里程碑
</a:t>
            </a: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</a:rPr>
              <a:t>薄闭环总门禁 (W3)
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【交付重点】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形成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前后台 QoS 隔离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、计算-传输重叠、流量限速与优雅降级能力。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【系统工程】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建立端到端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可观测指标库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（SemanticMetrics/PathTrace/RAS）。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【退出门禁】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通过 PVT-07 混压验证，TTFT P99 降低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≥20%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，TPOT 干扰回退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&lt; 3%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143000"/>
            <a:ext cx="2679192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</a:rPr>
              <a:t>【最终交付】 100% 里程碑
</a:t>
            </a: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</a:rPr>
              <a:t>全量交付与长稳集成 (生产)
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【交付重点】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149 条 SR 与 447 个 AR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全量代码交付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；集成至 vLLM/SGLang 推理主干。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【运维诊断】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交付完整 </a:t>
            </a: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inspect/debug 工具链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、SLO 告警手册与 Dashboard。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【退出门禁】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128K/256K/1M 长上下文并发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72 小时长稳压测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，碎片率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&lt; 5%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，OOM 降低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≥50%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109728"/>
          <a:lstStyle/>
          <a:p>
            <a:pPr algn="ct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【内部资料 · 请勿外传】 文档编号: TR-20260721-02  |  统一异构 KVCache 存储池双周进展汇报  |  状态: 🟢 ON TRACK
</a:t>
            </a: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三、当前攻关事项与关键技术原型验证进展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5595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</a:rPr>
              <a:t>【数据采集】 Block_table CPU↔GPU/NPU 传输耗时占比采集
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【采样进展】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建立微观 Profiling 探针（框架层/驱动层/PCIe），打点采样 vLLM/SGLang 框架下 block_table 跨 Host/Device 搬运及 Scatter-Gather 编排耗时。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【瓶颈分析】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深入分析控制面 Setup 频次对 PCIe 总线带宽的挤占以及由此引发的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NPU/GPU 算力 Duty Cycle 停顿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【量化目标】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为 TM4 数据面编译 Scatter-Gather 批量描述符提供基线，目标将 Setup 频次降低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≥80%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2606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72200" y="1143000"/>
            <a:ext cx="55595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</a:rPr>
              <a:t>【数据采集】 Mooncake KVCache 前缀匹配查询时间占比采集
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【采样进展】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针对 Share-Prefix 与高并发多租户 RAG 场景，打点统计分布式前缀查询中网络 RTT 风暴与串行 Lookup 耗时占比。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【瓶颈分析】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定位 Remote Lookup 在端到端 TTFT 中的延迟包络，确定其在长上下文首包延迟中占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35% 延迟包络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的基线数据。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【量化目标】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验证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5μs 本地 BloomFilter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+ 进程内 Meta Cache 快判机制压降 TTFT 延迟的实际效果。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143000"/>
            <a:ext cx="73152" cy="2606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55595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</a:rPr>
              <a:t>【原型验证】 Block_table 的 UBMEM 内存语义改造验证 (PVT-03)
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【验证进展】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开展基于 UBMEM 的 block_table 元数据直接寻址原型开发与 Benchmark 摸底。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【技术路径】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打破传统 cudaMemcpy/aclrtMemcpy 显式拷贝，改造为基于 UBMEM 的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Zero-copy Direct View 共享内存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访问。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【预期收益】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消除 CPU/GPU 控制面数据中转开销，将控制面 block_table 更新与同步延迟从百微秒级压降至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&lt; 20μs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73152" cy="2606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3840480"/>
            <a:ext cx="55595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</a:rPr>
              <a:t>【原型验证】 KVCache 前缀匹配元数据 UBMEM / URMA 语义改造
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【验证进展】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推进 PrefixDirector 与 SIMD RadixTree 基于 UBMEM / URMA 的共享读取机制原型验证。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【技术路径】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利用 UBMEM / URMA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单边 RDMA（One-sided Read）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共享内存优势，替代传统跨节点 RPC 消息交互。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【预期收益】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彻底解决分布式 RTT 风暴，将远端前缀元数据检索时延降至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&lt; 10μs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，保障 usable hit 高速消费。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73152" cy="2606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109728"/>
          <a:lstStyle/>
          <a:p>
            <a:pPr algn="ct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【内部资料 · 请勿外传】 文档编号: TR-20260721-02  |  统一异构 KVCache 存储池双周进展汇报  |  状态: 🟢 ON TRACK
</a:t>
            </a: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四、项目突出重点问题：技术难题、评审加速与人力安排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729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【技术难题】 关键技术难度与破局策略   </a:t>
            </a: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</a:rPr>
              <a:t>🟡 风险: 中
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【攻关难题】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异构介质（HBM/DDR/SSD）时延跨越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3 个数量级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，远端搬运极易引发负收益；后台迁移可能干扰前台 TPOT；UBMEM/URMA 底座缺乏复杂拓扑硬基线。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【破局策略】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严格执行 PVT-01~07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8 项立项前必做验证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，建立 QueryPlan 成本模型；以硬件能力矩阵与“Usable Hit / 干扰包络”门禁作为功能进入默认主路径的前提。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1691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1127729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【评审加速】 加快评审进度与收敛策略   </a:t>
            </a:r>
            <a:r>
              <a:rPr sz="1300" b="1">
                <a:solidFill>
                  <a:srgbClr val="166534"/>
                </a:solidFill>
                <a:latin typeface="Microsoft YaHei"/>
                <a:ea typeface="Microsoft YaHei"/>
              </a:rPr>
              <a:t>🟢 风险: 低
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【评审难点】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需求多达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149 条 SR、447 个 AR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，跨 L1-L4 多个分层，传统条目式评审极其容易陷入局部技术细节扯皮，且 Raw/Usable Hit 统计口径易分歧。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【收敛策略】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依托已发布的《总体架构与 SRS 评审导读》，以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8 大工程基线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（ShareGPT、长上下文模型、能力矩阵）统一口径，以主流程与场景可用性引导评审速决。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73152" cy="1691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709160"/>
            <a:ext cx="11277295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82880"/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【人力安排】 人力投入安排与团队绑定  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🔴 风险: 高
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【人力痛点】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全量需求树包含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447 个 AR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，W0~W3 原型验证时间窗口紧（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4~5 周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），需要同时覆盖分布式存储、RDMA/UBMEM 硬件内核及推理框架适配等多栈技术。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</a:rPr>
              <a:t>【安排策略】 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以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24 条 IR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 为核心单元开展认领，重点补充 L3 传输管理与 L4 UBMEM/驱动底座开发人力；优先保障 </a:t>
            </a:r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</a:rPr>
              <a:t>8 个立项前必做 PVT 原型力量</a:t>
            </a:r>
            <a:r>
              <a:rPr sz="1300" b="0">
                <a:solidFill>
                  <a:srgbClr val="1E293B"/>
                </a:solidFill>
                <a:latin typeface="Microsoft YaHei"/>
                <a:ea typeface="Microsoft YaHei"/>
              </a:rPr>
              <a:t>，集中精锐突破攻关。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09160"/>
            <a:ext cx="73152" cy="1691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109728"/>
          <a:lstStyle/>
          <a:p>
            <a:pPr algn="ct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【内部资料 · 请勿外传】 文档编号: TR-20260721-02  |  统一异构 KVCache 存储池双周进展汇报  |  状态: 🟢 ON TRACK
</a:t>
            </a: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五、下双周（2026.07.22 - 2026.08.04）工作计划与产出预期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【重点计划】 下双周重点推进事项 (Action Items)
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•  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完成 Block_table 与 Mooncake 前缀匹配耗时占比采集，形成</a:t>
            </a:r>
            <a:r>
              <a:rPr sz="1400" b="1">
                <a:solidFill>
                  <a:srgbClr val="DC2626"/>
                </a:solidFill>
                <a:latin typeface="Microsoft YaHei"/>
                <a:ea typeface="Microsoft YaHei"/>
              </a:rPr>
              <a:t>定量剖析数据分析报告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•  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完成 Block_table 与 Prefix Meta 的 UBMEM 语义改造阶段性 </a:t>
            </a:r>
            <a:r>
              <a:rPr sz="1400" b="1">
                <a:solidFill>
                  <a:srgbClr val="DC2626"/>
                </a:solidFill>
                <a:latin typeface="Microsoft YaHei"/>
                <a:ea typeface="Microsoft YaHei"/>
              </a:rPr>
              <a:t>Benchmark 摸底报告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•  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全面启动 W0 波次原型验证：</a:t>
            </a: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PVT-00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（前缀复用上限）与 </a:t>
            </a: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PVT-01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（硬件能力矩阵）。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•  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组织各研发团队完成 </a:t>
            </a:r>
            <a:r>
              <a:rPr sz="1400" b="1">
                <a:solidFill>
                  <a:srgbClr val="DC2626"/>
                </a:solidFill>
                <a:latin typeface="Microsoft YaHei"/>
                <a:ea typeface="Microsoft YaHei"/>
              </a:rPr>
              <a:t>447 个 AR 的细粒度认领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与实施计划排期，锁定团队责任边界。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•  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冻结 </a:t>
            </a:r>
            <a:r>
              <a:rPr sz="1400" b="1">
                <a:solidFill>
                  <a:srgbClr val="DC2626"/>
                </a:solidFill>
                <a:latin typeface="Microsoft YaHei"/>
                <a:ea typeface="Microsoft YaHei"/>
              </a:rPr>
              <a:t>L1~L4 跨层契约第一版</a:t>
            </a:r>
            <a:r>
              <a:rPr sz="1400" b="0">
                <a:solidFill>
                  <a:srgbClr val="1E293B"/>
                </a:solidFill>
                <a:latin typeface="Microsoft YaHei"/>
                <a:ea typeface="Microsoft YaHei"/>
              </a:rPr>
              <a:t>（明确 QueryPlan、AttachHandle、ExtentManifest 字段与错误码）。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5349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095" y="1143000"/>
            <a:ext cx="548640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【交付清单】 预期交付成果清单 (Expected Deliverables)
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📄  </a:t>
            </a: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《Block_table 传输与 Mooncake 前缀查询耗时占比分析报告》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📄  </a:t>
            </a: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《UBMEM 内存语义改造原型验证评估与 Go/No-Go 结论》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📊  </a:t>
            </a: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《PVT-00 / PVT-01 阶段性测试数据与硬件 capability 矩阵》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📋  </a:t>
            </a: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《SF-IR-SR-AR 团队细粒度认领表与 TR2 实施日历》</a:t>
            </a:r>
          </a:p>
          <a:p>
            <a:pPr>
              <a:spcBef>
                <a:spcPts val="200"/>
              </a:spcBef>
              <a:spcAft>
                <a:spcPts val="160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</a:rPr>
              <a:t>💻  </a:t>
            </a:r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《L1~L4 跨层接口协议与 IDL 契约草案 V1.0》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1143000"/>
            <a:ext cx="73152" cy="5349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