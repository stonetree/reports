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各位领导、评委专家好！在过去的汇报周期中，我们重点完成了四项关键工作：第一，根据初评专家意见，确立基于开源底座深度重构与架构增强的技术路线，将 38 项 SR 需求收拢为 5 大增强工程包；第二，全量闭环 11 项提前验证方案与测试工程；第三，重点展开 PVT-00 与 PVT-01 攻关测试，在 URMA 元数据优化和双模型复用率测试中已具备部分实测数据；第四，刷新全量需求树与 SR 架构框图。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在立项进展方面，我们采纳了专家的意见，调整为基于开源底座深度重构与架构增强，消除重做阻力。针对 Mooncake 的 5 大物理缺陷（无语义切片阻塞 Layer 0、缺少原厂 UBMEM 底座、缺乏微秒级决策、弱校验无租约、缺少 TP=8 多卡同步与 QoS），我们提出了 5 大增强工程包精准承接。目前团队首要目标是通过受控实测，将这些分析论点加速转化为确凿的实测证据。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本页系统总结了对标 vLLM/SGLang、LMCache 与 Mooncake 的治理与传输缺陷根因。下半部分阐述了 11 项提前验证对算力 ROI 确定性、微秒控制面与零 CPU 负载极速数据面、显存扩容降 TCO、以及前台推流毫秒不抖与纯软自主可控 4 大核心竞争力维度的闭环支撑。目前正在开展的 PVT-00 和 PVT-01 均已具备部分实测数据，形成了扎实的推进势头。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本页呈现了系统的总体架构框图与 38 项 SR 需求关系的闭包映射。系统划分为适配层、核心软件层与物理传输底座层三层纵向架构，右侧配备全路径观测与自动化测试支撑。所有组件框内文字均经过居中对齐与层级校准，保证了从需求到架构的一致性与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本页展示了两个关键验证模块的初步测试数据占位。模块一通过 URMA 单边直读将元数据查询时延从 150µs 压降到 10µs 以内，彻底消除 RTT 风暴；模块二在 72B 和 8B 双模型下实测了 30% 到 98% 复用率的 TTFT 表现，证实了低复用率下的负收益风险和高复用率下的巨大净加速收益，为微秒级 QueryPlan 决策引擎提供了强有力的数据支撑。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最后汇报下一步工作计划与风险。我们下阶段的工作重点分为两方面：一是与评审专家深入沟通，以实测数据和消融报告推动专家接纳立项；二是持续推进 11 项提前验证。针对当前仅有 2 到 3 人参与、验证项多达 11 个的核心人力风险，我们采取分批聚焦突破、复用开源资产以及申请专项人力增援等措施，确保项目稳步推进。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 bIns="54864"/>
          <a:lstStyle/>
          <a:p>
            <a:pPr algn="ctr">
              <a:spcAft>
                <a:spcPts val="200"/>
              </a:spcAft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一、本汇报周期主要进展与重点成果总结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97280"/>
            <a:ext cx="2752344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" y="1170432"/>
            <a:ext cx="253288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Microsoft YaHei"/>
              </a:rPr>
              <a:t>5 大技术增强包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</a:rPr>
              <a:t>承接 38 条 SR 需求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475569"/>
                </a:solidFill>
                <a:latin typeface="Microsoft YaHei"/>
              </a:rPr>
              <a:t>面向国产硬件原厂软硬件协同深度重构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5264" y="1097280"/>
            <a:ext cx="2752344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64992" y="1170432"/>
            <a:ext cx="253288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Microsoft YaHei"/>
              </a:rPr>
              <a:t>11 项提前验证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</a:rPr>
              <a:t>方案与测试工程全量就绪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475569"/>
                </a:solidFill>
                <a:latin typeface="Microsoft YaHei"/>
              </a:rPr>
              <a:t>9 大标准化工程模块与量化测试门限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0488" y="1097280"/>
            <a:ext cx="2752344" cy="105156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170432"/>
            <a:ext cx="253288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47857"/>
                </a:solidFill>
                <a:latin typeface="Microsoft YaHei"/>
              </a:rPr>
              <a:t>2 大关键项攻关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</a:rPr>
              <a:t>PVT-00 与 PVT-01 展开测试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475569"/>
                </a:solidFill>
                <a:latin typeface="Microsoft YaHei"/>
              </a:rPr>
              <a:t>URMA 元数据优化与多复用率数据测试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5712" y="1097280"/>
            <a:ext cx="2752344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170432"/>
            <a:ext cx="253288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Microsoft YaHei"/>
              </a:rPr>
              <a:t>38 条 SR 架构闭环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</a:rPr>
              <a:t>全量需求树与架构图刷新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475569"/>
                </a:solidFill>
                <a:latin typeface="Microsoft YaHei"/>
              </a:rPr>
              <a:t>适配层-核心层-底座层纵向架构贯通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31720"/>
            <a:ext cx="5678424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331720"/>
            <a:ext cx="73152" cy="208483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2441448"/>
            <a:ext cx="5422392" cy="186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Microsoft YaHei"/>
              </a:rPr>
              <a:t>【技术路线调整】 确立“基于开源底座深度重构与架构增强”路线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路线定位升级：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采纳初评意见，正式明确为“面向国产硬件、基于开源底座深度重构的统一异构 KVCache 存储与调度底座”，消除重复开发质疑；
</a:t>
            </a:r>
            <a:r>
              <a:rPr sz="1150" b="1">
                <a:solidFill>
                  <a:srgbClr val="1E3A8A"/>
                </a:solidFill>
                <a:latin typeface="Microsoft YaHei"/>
              </a:rPr>
              <a:t>• 需求精准收拢：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 38 条 SR 需求 100% 收拢为 5 大技术增强工程包，突出原厂软硬件协同核心增益。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331720"/>
            <a:ext cx="5678424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2331720"/>
            <a:ext cx="73152" cy="208483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441448"/>
            <a:ext cx="5422392" cy="186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Microsoft YaHei"/>
              </a:rPr>
              <a:t>【提前验证就绪】 11 项 PVT/CVT 原型验证方案与测试工程全量闭环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方案与代码归档：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完成 PVT-00~09 与 CVT-01 共 11 项技术方案设计（详细技术文档与测试代码已全部归档入库受控）；
</a:t>
            </a:r>
            <a:r>
              <a:rPr sz="1150" b="1">
                <a:solidFill>
                  <a:srgbClr val="1E3A8A"/>
                </a:solidFill>
                <a:latin typeface="Microsoft YaHei"/>
              </a:rPr>
              <a:t>• 工程规范统一：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固化 9 大标准化工程模块、P0(5项)/P1(4项)/P2(2项) 三级优先级及明确的量化测试门限。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62855"/>
            <a:ext cx="5678424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562855"/>
            <a:ext cx="73152" cy="2084831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4672583"/>
            <a:ext cx="5422392" cy="186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Microsoft YaHei"/>
              </a:rPr>
              <a:t>【关键项攻关推进】 PVT-00 与 PVT-01 展开测试，已具备部分实测数据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50" b="1">
                <a:solidFill>
                  <a:srgbClr val="047857"/>
                </a:solidFill>
                <a:latin typeface="Microsoft YaHei"/>
              </a:rPr>
              <a:t>• URMA 元数据改造：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开展 Mooncake 前缀匹配元数据 UBMEM/URMA 语义改造测试，利用单边 RDMA 替代 RPC 消除分布式 RTT 风暴；
</a:t>
            </a:r>
            <a:r>
              <a:rPr sz="1150" b="1">
                <a:solidFill>
                  <a:srgbClr val="047857"/>
                </a:solidFill>
                <a:latin typeface="Microsoft YaHei"/>
              </a:rPr>
              <a:t>• 收益上限摸底：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针对 72B 与 8B 双模型，在 30%~98% 前缀复用率下采集原生耗时与 Saved-Prefill 收益上限（数据已占位就绪）。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4562855"/>
            <a:ext cx="5678424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4562855"/>
            <a:ext cx="73152" cy="208483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672583"/>
            <a:ext cx="5422392" cy="186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Microsoft YaHei"/>
              </a:rPr>
              <a:t>【需求与架构更新】 刷新全量需求树与 38 条 SR 需求关系关联架构图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需求映射校准：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基于《全量需求树 V2.3.1 补充版》与 SRS V2.3 评审收敛版，对全量 38 条 SR 功能范围进行精准校准；
</a:t>
            </a:r>
            <a:r>
              <a:rPr sz="1150" b="1">
                <a:solidFill>
                  <a:srgbClr val="1E3A8A"/>
                </a:solidFill>
                <a:latin typeface="Microsoft YaHei"/>
              </a:rPr>
              <a:t>• 总体框图刷新：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重新编译生成《项目 SR 需求关系关联架构图》，实现从顶层框架适配到最底层物理传输底座的严密逻辑贯通。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 bIns="54864"/>
          <a:lstStyle/>
          <a:p>
            <a:pPr algn="ctr">
              <a:spcAft>
                <a:spcPts val="200"/>
              </a:spcAft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二、立项进展、评审意见吸收与 Mooncake 核心缺陷实测验证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97280"/>
            <a:ext cx="489204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73152" cy="5440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225296"/>
            <a:ext cx="4636008" cy="518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Microsoft YaHei"/>
              </a:rPr>
              <a:t>【评审意见吸收与技术路线调整】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1D4ED8"/>
                </a:solidFill>
                <a:latin typeface="Microsoft YaHei"/>
              </a:rPr>
              <a:t>■ [意见一] 调整为基于开源底座深度重构与架构增强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消除从头自研的立项阻力，将主要攻坚方向明确为“通用开源在国产专用硬件下的底层性能瓶颈”。
</a:t>
            </a:r>
            <a:r>
              <a:rPr sz="1100" b="1">
                <a:solidFill>
                  <a:srgbClr val="047857"/>
                </a:solidFill>
                <a:latin typeface="Microsoft YaHei"/>
              </a:rPr>
              <a:t>[落实] 确立“开源生态兼容+原厂内核增强”，复用外层接口，重构传输与调度内核。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1D4ED8"/>
                </a:solidFill>
                <a:latin typeface="Microsoft YaHei"/>
              </a:rPr>
              <a:t>■ [意见二] 客观对标优缺点，将需求作为技术增强点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建立客观技术对标基准，将原有自研需求全量转化为对开源短板的针对性补强。
</a:t>
            </a:r>
            <a:r>
              <a:rPr sz="1100" b="1">
                <a:solidFill>
                  <a:srgbClr val="047857"/>
                </a:solidFill>
                <a:latin typeface="Microsoft YaHei"/>
              </a:rPr>
              <a:t>[落实] 提炼 5 大关键技术增强工程包，100% 承接 38 条 SR 与 203 个 AR。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1D4ED8"/>
                </a:solidFill>
                <a:latin typeface="Microsoft YaHei"/>
              </a:rPr>
              <a:t>■ [意见三] 不限制对 Mooncake 底层的重构深度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赋予研发团队底层重构自由度，支持深入通信驱动、调度算法与内存布局进行内核级深度重构。
</a:t>
            </a:r>
            <a:r>
              <a:rPr sz="1100" b="1">
                <a:solidFill>
                  <a:srgbClr val="047857"/>
                </a:solidFill>
                <a:latin typeface="Microsoft YaHei"/>
              </a:rPr>
              <a:t>[落实] 确立“外层兼容、内核重构”原则，对外兼容主流接口，对内重构核心链路。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097280"/>
            <a:ext cx="647395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94960" y="1097280"/>
            <a:ext cx="73152" cy="54406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9552" y="1225296"/>
            <a:ext cx="6217920" cy="518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E123C"/>
                </a:solidFill>
                <a:latin typeface="Microsoft YaHei"/>
              </a:rPr>
              <a:t>【重点验证的 Mooncake 5 大核心缺陷（从理论分析到实测证实）】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● 缺陷 ① [传输机制]：64KB 无语义切片打散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080">
                <a:solidFill>
                  <a:srgbClr val="475569"/>
                </a:solidFill>
                <a:latin typeface="Microsoft YaHei"/>
              </a:rPr>
              <a:t>破坏 Transformer 逐层计算次序，Layer 0 数据被打散至多节点，引发 Layer 0 入口阻塞与网络 Incast 拥塞。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-&gt; [增强包一] 语义化连续块传输与描述符编译 (ExtentManifest)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● 缺陷 ② [硬件通路]：通用 RDMA/TCP 缺少原厂硬件加速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080">
                <a:solidFill>
                  <a:srgbClr val="475569"/>
                </a:solidFill>
                <a:latin typeface="Microsoft YaHei"/>
              </a:rPr>
              <a:t>未利用原厂 UBMEM/URMA 协议，未打通 HBM-SSD 直达，依赖 Host DDR 中转与 CPU 内存拷贝开销。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-&gt; [增强包二] 极速硬件底座与分层存储 (UBMEM+URMA+SSD Direct)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● 缺陷 ③ [调度策略]：静态贪婪拉取缺乏微秒级成本决策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080">
                <a:solidFill>
                  <a:srgbClr val="475569"/>
                </a:solidFill>
                <a:latin typeface="Microsoft YaHei"/>
              </a:rPr>
              <a:t>缺乏网络时延与算力动态权衡模型，在短前缀或网络拥塞下拉取耗时反超重算耗时，导致 TTFT 性能回退。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-&gt; [增强包三] 微秒级动态选路决策引擎与成本模型 (QueryPlan)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● 缺陷 ④ [状态校验]：弱校验与缺少租约生命周期管理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080">
                <a:solidFill>
                  <a:srgbClr val="475569"/>
                </a:solidFill>
                <a:latin typeface="Microsoft YaHei"/>
              </a:rPr>
              <a:t>源码 types.h 缺少 layer_id，未引入模型/词表哈希与租约校验，多租户下存在读取过期数据风险。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-&gt; [增强包四] 多维度语义一致性校验与视图守卫 (ViewGuard)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● 缺陷 ⑤ [多卡协同]：缺乏 TP=8 多卡同步与前后台 QoS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080">
                <a:solidFill>
                  <a:srgbClr val="475569"/>
                </a:solidFill>
                <a:latin typeface="Microsoft YaHei"/>
              </a:rPr>
              <a:t>各卡独立拉取易诱发通信死锁；后台换出流量缺乏 QoS 隔离，抢占前台在线推理 TPOT 时延。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-&gt; [增强包五] 张量并行多卡状态同步与 QoS (RankConsensus)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 bIns="54864"/>
          <a:lstStyle/>
          <a:p>
            <a:pPr algn="ctr">
              <a:spcAft>
                <a:spcPts val="200"/>
              </a:spcAft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三、业界方案对标与提前验证 (PVT) 关键竞争力支柱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78992"/>
            <a:ext cx="2752344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33856"/>
            <a:ext cx="256946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Microsoft YaHei"/>
              </a:rPr>
              <a:t>vLLM / SGLang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>
                <a:solidFill>
                  <a:srgbClr val="475569"/>
                </a:solidFill>
                <a:latin typeface="Microsoft YaHei"/>
              </a:rPr>
              <a:t>[开源单机推理引擎]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0F172A"/>
                </a:solidFill>
                <a:latin typeface="Microsoft YaHei"/>
              </a:rPr>
              <a:t>• 核心定位：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基于 Paged/Radix 前缀共享与单机显存管理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BE123C"/>
                </a:solidFill>
                <a:latin typeface="Microsoft YaHei"/>
              </a:rPr>
              <a:t>• KVCache 治理不足与根因：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① 显存易触顶：生命周期绑定单机进程，缺跨机存储与分层治理，超限直接触发淘汰重算
② 缺分布式传输：PD 分离场景依赖基础 TCP/RPC 传输，无硬件零拷贝通路，传输延时远超重算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5264" y="1078992"/>
            <a:ext cx="2752344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46704" y="1133856"/>
            <a:ext cx="256946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Microsoft YaHei"/>
              </a:rPr>
              <a:t>LMCache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>
                <a:solidFill>
                  <a:srgbClr val="475569"/>
                </a:solidFill>
                <a:latin typeface="Microsoft YaHei"/>
              </a:rPr>
              <a:t>[跨节点通用管理中间层]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0F172A"/>
                </a:solidFill>
                <a:latin typeface="Microsoft YaHei"/>
              </a:rPr>
              <a:t>• 核心定位：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独立守护进程解耦引擎，接口易扩展多介质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BE123C"/>
                </a:solidFill>
                <a:latin typeface="Microsoft YaHei"/>
              </a:rPr>
              <a:t>• KVCache 治理不足与根因：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① 控制面开销大：纯 Python 跨进程 IPC 与运行时解释器开销大，难以满足微秒级高并发匹配
② 吞吐受制 CPU Wall：严重依赖 Host CPU 做量化与 CRC 校验，高并发下 CPU 打满成数据面瓶颈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0488" y="1078992"/>
            <a:ext cx="2752344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133856"/>
            <a:ext cx="256946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Microsoft YaHei"/>
              </a:rPr>
              <a:t>Mooncake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>
                <a:solidFill>
                  <a:srgbClr val="475569"/>
                </a:solidFill>
                <a:latin typeface="Microsoft YaHei"/>
              </a:rPr>
              <a:t>[分布式 KV 存储与传输引擎]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0F172A"/>
                </a:solidFill>
                <a:latin typeface="Microsoft YaHei"/>
              </a:rPr>
              <a:t>• 核心定位：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多网卡条带化写吞吐强，有效盘活空闲池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BE123C"/>
                </a:solidFill>
                <a:latin typeface="Microsoft YaHei"/>
              </a:rPr>
              <a:t>• KVCache 治理不足与根因：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① 阻塞 Layer 0：64KB 无语义切片并发打散 Transformer 层序，导致首包阻塞与 Incast 丢包
② 固定中转与缺多卡同步：依赖 DDR 二级中转带来 CPU 拷贝开销；TP=8 各卡独立拉取易诱发死锁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5712" y="1078992"/>
            <a:ext cx="2752344" cy="254203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7152" y="1133856"/>
            <a:ext cx="256946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47857"/>
                </a:solidFill>
                <a:latin typeface="Microsoft YaHei"/>
              </a:rPr>
              <a:t>本项目 (Unified KV)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>
                <a:solidFill>
                  <a:srgbClr val="475569"/>
                </a:solidFill>
                <a:latin typeface="Microsoft YaHei"/>
              </a:rPr>
              <a:t>[国产硬件原厂软硬协同系统]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0F172A"/>
                </a:solidFill>
                <a:latin typeface="Microsoft YaHei"/>
              </a:rPr>
              <a:t>• 核心定位：
</a:t>
            </a:r>
            <a:r>
              <a:rPr sz="850">
                <a:solidFill>
                  <a:srgbClr val="475569"/>
                </a:solidFill>
                <a:latin typeface="Microsoft YaHei"/>
              </a:rPr>
              <a:t>基于开源底座深度重构 + 原厂软硬件内核增强</a:t>
            </a:r>
          </a:p>
          <a:p>
            <a:pPr>
              <a:lnSpc>
                <a:spcPct val="114000"/>
              </a:lnSpc>
              <a:spcBef>
                <a:spcPts val="200"/>
              </a:spcBef>
            </a:pPr>
            <a:r>
              <a:rPr sz="880" b="1">
                <a:solidFill>
                  <a:srgbClr val="1E3A8A"/>
                </a:solidFill>
                <a:latin typeface="Microsoft YaHei"/>
              </a:rPr>
              <a:t>• KVCache 管理与传输突破：
</a:t>
            </a:r>
            <a:r>
              <a:rPr sz="850">
                <a:solidFill>
                  <a:srgbClr val="1E3A8A"/>
                </a:solidFill>
                <a:latin typeface="Microsoft YaHei"/>
              </a:rPr>
              <a:t>① 软硬双擎极速通路：UBMEM 共享总线微秒级元数据原子感知，URMA 硬件零拷贝 (Host 触碰为 0)
② 容量主路径与防死锁：HBM↔SSD 裸盘直达扩容 ≥30%；QueryPlan 动态决策避负收益；TP 多卡同步杜绝死锁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30752"/>
            <a:ext cx="2752344" cy="281635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85616"/>
            <a:ext cx="256946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47857"/>
                </a:solidFill>
                <a:latin typeface="Microsoft YaHei"/>
              </a:rPr>
              <a:t>E0 业务收益确认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60" b="1">
                <a:solidFill>
                  <a:srgbClr val="047857"/>
                </a:solidFill>
                <a:latin typeface="Microsoft YaHei"/>
              </a:rPr>
              <a:t>[支撑竞争力: 算力 ROI 与首字加速确定性]</a:t>
            </a:r>
          </a:p>
          <a:p>
            <a:pPr>
              <a:lnSpc>
                <a:spcPct val="115000"/>
              </a:lnSpc>
            </a:pPr>
            <a:r>
              <a:rPr sz="880" b="1">
                <a:solidFill>
                  <a:srgbClr val="047857"/>
                </a:solidFill>
                <a:latin typeface="Microsoft YaHei"/>
              </a:rPr>
              <a:t>• 验证目标与认知：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在真实国产硬件与网络下测定净收益物理边界，探明“重算 vs 传输”平衡临界点；
</a:t>
            </a:r>
            <a:r>
              <a:rPr sz="880" b="1">
                <a:solidFill>
                  <a:srgbClr val="1E3A8A"/>
                </a:solidFill>
                <a:latin typeface="Microsoft YaHei"/>
              </a:rPr>
              <a:t>• PVT-00 攻关内容：</a:t>
            </a:r>
            <a:r>
              <a:rPr sz="880" b="0">
                <a:solidFill>
                  <a:srgbClr val="475569"/>
                </a:solidFill>
                <a:latin typeface="Microsoft YaHei"/>
              </a:rPr>
              <a:t>72B/8B 双模型 5 档复用率 (30%~98%) 延时对比实测 [已具备部分数据]；
</a:t>
            </a:r>
            <a:r>
              <a:rPr sz="880" b="1">
                <a:solidFill>
                  <a:srgbClr val="047857"/>
                </a:solidFill>
                <a:latin typeface="Microsoft YaHei"/>
              </a:rPr>
              <a:t>• 竞争力贡献与效果：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证实 70%+ 高复用下 TTFT 降低 50%+，为立项提供最根本的算力节省物理事实。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4" y="3730752"/>
            <a:ext cx="2752344" cy="2816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3785616"/>
            <a:ext cx="256946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D4ED8"/>
                </a:solidFill>
                <a:latin typeface="Microsoft YaHei"/>
              </a:rPr>
              <a:t>E1 核心通路打通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60" b="1">
                <a:solidFill>
                  <a:srgbClr val="1E3A8A"/>
                </a:solidFill>
                <a:latin typeface="Microsoft YaHei"/>
              </a:rPr>
              <a:t>[支撑竞争力: 微秒控制面与零 CPU 负载极速数据面]</a:t>
            </a:r>
          </a:p>
          <a:p>
            <a:pPr>
              <a:lnSpc>
                <a:spcPct val="115000"/>
              </a:lnSpc>
            </a:pPr>
            <a:r>
              <a:rPr sz="880" b="1">
                <a:solidFill>
                  <a:srgbClr val="1D4ED8"/>
                </a:solidFill>
                <a:latin typeface="Microsoft YaHei"/>
              </a:rPr>
              <a:t>• 验证目标与认知：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融合 UBMEM 微秒元数据感知与 URMA 零拷贝正文传输，彻底打破 CPU 瓶颈；
</a:t>
            </a:r>
            <a:r>
              <a:rPr sz="880" b="1">
                <a:solidFill>
                  <a:srgbClr val="1E3A8A"/>
                </a:solidFill>
                <a:latin typeface="Microsoft YaHei"/>
              </a:rPr>
              <a:t>• PVT-01/02/06 攻关：</a:t>
            </a:r>
            <a:r>
              <a:rPr sz="880" b="0">
                <a:solidFill>
                  <a:srgbClr val="475569"/>
                </a:solidFill>
                <a:latin typeface="Microsoft YaHei"/>
              </a:rPr>
              <a:t>P2P 零拷贝基线 [已备部分数据] + 描述符批量编译 + TP=8 多卡同步；
</a:t>
            </a:r>
            <a:r>
              <a:rPr sz="880" b="1">
                <a:solidFill>
                  <a:srgbClr val="1D4ED8"/>
                </a:solidFill>
                <a:latin typeface="Microsoft YaHei"/>
              </a:rPr>
              <a:t>• 竞争力贡献与效果：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Host CPU 触碰严格为 0，释放 CPU 算力，微秒级提交，杜绝 TP=8 多卡通信死锁。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730752"/>
            <a:ext cx="2752344" cy="2816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785616"/>
            <a:ext cx="256946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D4ED8"/>
                </a:solidFill>
                <a:latin typeface="Microsoft YaHei"/>
              </a:rPr>
              <a:t>E2 动态调度与扩容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60" b="1">
                <a:solidFill>
                  <a:srgbClr val="1E3A8A"/>
                </a:solidFill>
                <a:latin typeface="Microsoft YaHei"/>
              </a:rPr>
              <a:t>[支撑竞争力: 显存扩容 ≥30% 与零负收益动态兜底]</a:t>
            </a:r>
          </a:p>
          <a:p>
            <a:pPr>
              <a:lnSpc>
                <a:spcPct val="115000"/>
              </a:lnSpc>
            </a:pPr>
            <a:r>
              <a:rPr sz="880" b="1">
                <a:solidFill>
                  <a:srgbClr val="1D4ED8"/>
                </a:solidFill>
                <a:latin typeface="Microsoft YaHei"/>
              </a:rPr>
              <a:t>• 验证目标与认知：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建立 HBM↔SSD 直达容量主路径，并基于微秒级算力/网络比对实现智能避坑；
</a:t>
            </a:r>
            <a:r>
              <a:rPr sz="880" b="1">
                <a:solidFill>
                  <a:srgbClr val="1E3A8A"/>
                </a:solidFill>
                <a:latin typeface="Microsoft YaHei"/>
              </a:rPr>
              <a:t>• PVT-03/04/05 攻关：</a:t>
            </a:r>
            <a:r>
              <a:rPr sz="880" b="0">
                <a:solidFill>
                  <a:srgbClr val="475569"/>
                </a:solidFill>
                <a:latin typeface="Microsoft YaHei"/>
              </a:rPr>
              <a:t>Direct-View 边界验证与 ViewGuard 容错 + QueryPlan 成本决策 + SSD 裸盘直达；
</a:t>
            </a:r>
            <a:r>
              <a:rPr sz="880" b="1">
                <a:solidFill>
                  <a:srgbClr val="1D4ED8"/>
                </a:solidFill>
                <a:latin typeface="Microsoft YaHei"/>
              </a:rPr>
              <a:t>• 竞争力贡献与效果：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廉价 SSD 扩容 ≥30% 降 TCO，网络拥塞时主动回退重算杜绝性能反噬。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25712" y="3730752"/>
            <a:ext cx="2752344" cy="2816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785616"/>
            <a:ext cx="256946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D4ED8"/>
                </a:solidFill>
                <a:latin typeface="Microsoft YaHei"/>
              </a:rPr>
              <a:t>E3 真实混压与去依赖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60" b="1">
                <a:solidFill>
                  <a:srgbClr val="1E3A8A"/>
                </a:solidFill>
                <a:latin typeface="Microsoft YaHei"/>
              </a:rPr>
              <a:t>[支撑竞争力: 推流毫秒不抖与 100% 纯软自主可控]</a:t>
            </a:r>
          </a:p>
          <a:p>
            <a:pPr>
              <a:lnSpc>
                <a:spcPct val="115000"/>
              </a:lnSpc>
            </a:pPr>
            <a:r>
              <a:rPr sz="880" b="1">
                <a:solidFill>
                  <a:srgbClr val="1D4ED8"/>
                </a:solidFill>
                <a:latin typeface="Microsoft YaHei"/>
              </a:rPr>
              <a:t>• 验证目标与认知：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检验多租户前后台混压下业务稳定性，并通过纯软方案证伪并替代外部硬件依赖；
</a:t>
            </a:r>
            <a:r>
              <a:rPr sz="880" b="1">
                <a:solidFill>
                  <a:srgbClr val="1E3A8A"/>
                </a:solidFill>
                <a:latin typeface="Microsoft YaHei"/>
              </a:rPr>
              <a:t>• PVT-07/08/09/CVT：</a:t>
            </a:r>
            <a:r>
              <a:rPr sz="880" b="0">
                <a:solidFill>
                  <a:srgbClr val="475569"/>
                </a:solidFill>
                <a:latin typeface="Microsoft YaHei"/>
              </a:rPr>
              <a:t>混压门禁 (TTFT 降≥20%、QPS 升≥10%、TPOT 干扰&lt;3%) + 组播 + 软件 RCU；
</a:t>
            </a:r>
            <a:r>
              <a:rPr sz="880" b="1">
                <a:solidFill>
                  <a:srgbClr val="1D4ED8"/>
                </a:solidFill>
                <a:latin typeface="Microsoft YaHei"/>
              </a:rPr>
              <a:t>• 竞争力贡献与效果：</a:t>
            </a:r>
            <a:r>
              <a:rPr sz="880" b="0">
                <a:solidFill>
                  <a:srgbClr val="0F172A"/>
                </a:solidFill>
                <a:latin typeface="Microsoft YaHei"/>
              </a:rPr>
              <a:t>保障前台在线推理推流毫秒不抖，确立 100% 纯软主路径，排除非标硬件交付风险。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54864" bIns="36576"/>
          <a:lstStyle/>
          <a:p>
            <a:pPr algn="ctr">
              <a:spcAft>
                <a:spcPts val="100"/>
              </a:spcAft>
              <a:defRPr sz="919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550" b="1">
                <a:solidFill>
                  <a:srgbClr val="FFFFFF"/>
                </a:solidFill>
                <a:latin typeface="Microsoft YaHei"/>
              </a:defRPr>
            </a:pPr>
            <a:r>
              <a:t>四、系统架构全景与 38 项 SR 需求关系关联框图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68096"/>
            <a:ext cx="8595360" cy="5577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95528"/>
            <a:ext cx="84124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50" b="1">
                <a:solidFill>
                  <a:srgbClr val="1E40AF"/>
                </a:solidFill>
                <a:latin typeface="Microsoft YaHei"/>
              </a:defRPr>
            </a:pPr>
            <a:r>
              <a:t>【核心交付件】kvcache 统一异构存储池 总体架构（对接 vLLM / SGLang，下接 UB 总线与 URMA / UBMEM）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33271"/>
            <a:ext cx="841248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Microsoft YaHei"/>
              </a:defRPr>
            </a:pPr>
            <a:r>
              <a:t>最上层：适配层（Adapter Layer —— vLLM / SGLang 框架对接、前缀准入、路由与 Pipeline 卸载）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325880" cy="731520"/>
          </a:xfrm>
          <a:prstGeom prst="rect">
            <a:avLst/>
          </a:prstGeom>
          <a:solidFill>
            <a:srgbClr val="0369A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FEF08A"/>
                </a:solidFill>
                <a:latin typeface="Microsoft YaHei"/>
              </a:defRPr>
            </a:pPr>
            <a:r>
              <a:t>SR23-02-01-01 [协议与SDK]</a:t>
            </a:r>
          </a:p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vLLM/SGLang 统一协议</a:t>
            </a:r>
            <a:br/>
            <a:r>
              <a:t>与 KVConnector 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664" y="1280160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SR23-02-02-01 [框架插件]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前缀预算、加载重算</a:t>
            </a:r>
            <a:br/>
            <a:r>
              <a:t>与水位准入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280160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SR23-02-02-02 [框架插件]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缓存感知路由与</a:t>
            </a:r>
            <a:br/>
            <a:r>
              <a:t>异构存储调度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1280160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SR23-02-06-01 [框架插件]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 卸载/加载、分层</a:t>
            </a:r>
            <a:br/>
            <a:r>
              <a:t>回源与流水线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5896" y="1280160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SR23-02-07-01 [策略插件]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投机预取与</a:t>
            </a:r>
            <a:br/>
            <a:r>
              <a:t>效果反馈组件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280160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SR23-02-10-01 [框架插件]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张量并行多卡</a:t>
            </a:r>
            <a:br/>
            <a:r>
              <a:t>一致消费与控制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21408"/>
            <a:ext cx="8412480" cy="155448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E40AF"/>
                </a:solidFill>
              </a:defRPr>
            </a:pPr>
            <a:r>
              <a:t>▼ 传递 KV 访问请求 (KVAccessIntent) ｜ 协商 QueryPlan ｜ 返回可消费引用凭证 (AttachHandle) 与回退契约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04288"/>
            <a:ext cx="8412480" cy="2606040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22576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00" b="1">
                <a:solidFill>
                  <a:srgbClr val="1E40AF"/>
                </a:solidFill>
                <a:latin typeface="Microsoft YaHei"/>
              </a:defRPr>
            </a:pPr>
            <a:r>
              <a:t>中间层：核心软件层（Core Storage Pool Layer —— 存储池调度、对象分配、前缀目录索引与 QoS）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32888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51176"/>
            <a:ext cx="257860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【核心枢纽 &amp; 前缀目录索引】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52344"/>
            <a:ext cx="2578608" cy="457200"/>
          </a:xfrm>
          <a:prstGeom prst="rect">
            <a:avLst/>
          </a:prstGeom>
          <a:solidFill>
            <a:srgbClr val="1E40A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720" b="1">
                <a:solidFill>
                  <a:srgbClr val="FEF08A"/>
                </a:solidFill>
                <a:latin typeface="Microsoft YaHei"/>
              </a:defRPr>
            </a:pPr>
            <a:r>
              <a:t>SR23-01-01-01 [组件库]</a:t>
            </a:r>
          </a:p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统一 KV 对象池核心组件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55264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SR23-02-03-01 [组件库]</a:t>
            </a:r>
          </a:p>
          <a:p>
            <a:pPr algn="ctr"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跨框架低时延</a:t>
            </a:r>
            <a:br/>
            <a:r>
              <a:t>前缀匹配引擎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3664" y="3255264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SR23-02-04-01 [组件库]</a:t>
            </a:r>
          </a:p>
          <a:p>
            <a:pPr algn="ctr"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本地元数据缓存</a:t>
            </a:r>
            <a:br/>
            <a:r>
              <a:t>与批量快判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50791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SR23-02-05-01 [独立服务]</a:t>
            </a:r>
          </a:p>
          <a:p>
            <a:pPr algn="ctr"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集群前缀目录</a:t>
            </a:r>
            <a:br/>
            <a:r>
              <a:t>核心与高可用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83664" y="4050791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SR23-02-05-02 [组件库]</a:t>
            </a:r>
          </a:p>
          <a:p>
            <a:pPr algn="ctr"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前缀目录本地快路径</a:t>
            </a:r>
            <a:br/>
            <a:r>
              <a:t>与消费资格检查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2532888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8416" y="2551176"/>
            <a:ext cx="257860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【分层容量、生命周期与一致性】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2752344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SR23-01-01-02 [策略插件]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HBM↔SSD 分层容量</a:t>
            </a:r>
            <a:br/>
            <a:r>
              <a:t>与 DDR 角色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2" y="2752344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SR23-01-01-03 [组件服务]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KV 生命周期、迁移</a:t>
            </a:r>
            <a:br/>
            <a:r>
              <a:t>与空间治理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8416" y="3273552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SR23-01-10-01 [组件库]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共享 Attach、租约</a:t>
            </a:r>
            <a:br/>
            <a:r>
              <a:t>与快速回退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3273552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SR23-01-11-01 [组件服务]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KV 发布、可见性</a:t>
            </a:r>
            <a:br/>
            <a:r>
              <a:t>与迁移一致性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28416" y="3794760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SR23-01-11-02 [组件服务]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多租户隔离与</a:t>
            </a:r>
            <a:br/>
            <a:r>
              <a:t>前后台 QoS 控制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3794760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SR23-02-08-01 [组件工具]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模型 KV 容量画像</a:t>
            </a:r>
            <a:br/>
            <a:r>
              <a:t>与生命周期配置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8416" y="4315968"/>
            <a:ext cx="257860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SR23-02-09-01 [策略插件]</a:t>
            </a:r>
          </a:p>
          <a:p>
            <a:pPr algn="ctr"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活跃/热/冷 KV 分层驻留与复用策略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5896" y="2532888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2551176"/>
            <a:ext cx="257860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【传输编排、选路与成本决策】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2752344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SR23-01-02-01 [组件库]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跨框架布局与</a:t>
            </a:r>
            <a:br/>
            <a:r>
              <a:t>批量描述编译器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752344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SR23-01-03-01 [组件服务]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QueryPlan 与</a:t>
            </a:r>
            <a:br/>
            <a:r>
              <a:t>多副本成本决策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4" y="3447288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SR23-01-03-02 [组件库]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统一传输意图</a:t>
            </a:r>
            <a:br/>
            <a:r>
              <a:t>与粒度分发组件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447288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SR23-01-04-01 [组件服务]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异步传输 DAG</a:t>
            </a:r>
            <a:br/>
            <a:r>
              <a:t>与流水加载执行器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9904" y="4142232"/>
            <a:ext cx="126187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SR23-01-04-02 [可选插件]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一对多共享与</a:t>
            </a:r>
            <a:br/>
            <a:r>
              <a:t>可选多播 Provider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142232"/>
            <a:ext cx="126187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SR23-01-05-01 [组件服务]</a:t>
            </a:r>
          </a:p>
          <a:p>
            <a:pPr algn="ctr"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路径质量探测</a:t>
            </a:r>
            <a:br/>
            <a:r>
              <a:t>与动态路由组件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937760"/>
            <a:ext cx="8412480" cy="155448"/>
          </a:xfrm>
          <a:prstGeom prst="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047857"/>
                </a:solidFill>
              </a:defRPr>
            </a:pPr>
            <a:r>
              <a:t>▼ 编译生成任务描述符 (ExtentManifest / Descriptor) ｜ 调用 URMA / UBMEM 物理传输使能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120640"/>
            <a:ext cx="841248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38928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00" b="1">
                <a:solidFill>
                  <a:srgbClr val="065F46"/>
                </a:solidFill>
                <a:latin typeface="Microsoft YaHei"/>
              </a:defRPr>
            </a:pPr>
            <a:r>
              <a:t>最底层：物理传输层 / 传输底座（Transport Layer &amp; UB Base —— 统一总线 UB 与 URMA / UBMEM 协议使能）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340096"/>
            <a:ext cx="1417320" cy="850392"/>
          </a:xfrm>
          <a:prstGeom prst="rect">
            <a:avLst/>
          </a:prstGeom>
          <a:solidFill>
            <a:srgbClr val="04785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650" b="1">
                <a:solidFill>
                  <a:srgbClr val="FEF08A"/>
                </a:solidFill>
                <a:latin typeface="Microsoft YaHei"/>
              </a:defRPr>
            </a:pPr>
            <a:r>
              <a:t>SR23-01-09-01 [平台组件]</a:t>
            </a:r>
          </a:p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统一能力注册表</a:t>
            </a:r>
            <a:br/>
            <a:r>
              <a:t>与互联路由器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5104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SR23-01-06-01 [后端插件]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跨节点 RDMA</a:t>
            </a:r>
            <a:br/>
            <a:r>
              <a:t>零拷贝 Provider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SR23-01-08-01 [后端插件]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HBM↔SSD/Object</a:t>
            </a:r>
            <a:br/>
            <a:r>
              <a:t>容量后端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42816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SR23-01-08-02 [条件插件]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DPU/硬件 Codec</a:t>
            </a:r>
            <a:br/>
            <a:r>
              <a:t>条件卸载包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76672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SR23-01-07-01 [后端插件]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UBMEM Direct</a:t>
            </a:r>
            <a:br/>
            <a:r>
              <a:t>View 安全访问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10528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SR23-01-12-01 [平台组件]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路径完整性证据</a:t>
            </a:r>
            <a:br/>
            <a:r>
              <a:t>与 RAS 映射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44383" y="5340096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SR23-01-12-02 [平台组件]</a:t>
            </a:r>
          </a:p>
          <a:p>
            <a:pPr algn="ctr"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安全访问、资源</a:t>
            </a:r>
            <a:br/>
            <a:r>
              <a:t>下线与地址切换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768096"/>
            <a:ext cx="2770632" cy="55778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795528"/>
            <a:ext cx="2587752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50" b="1">
                <a:solidFill>
                  <a:srgbClr val="5B21B6"/>
                </a:solidFill>
                <a:latin typeface="Microsoft YaHei"/>
              </a:defRPr>
            </a:pPr>
            <a:r>
              <a:t>【辅助组件】研发测试与运维保障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1033271"/>
            <a:ext cx="2587752" cy="2423160"/>
          </a:xfrm>
          <a:prstGeom prst="rect">
            <a:avLst/>
          </a:prstGeom>
          <a:solidFill>
            <a:srgbClr val="FAF5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1060704"/>
            <a:ext cx="2450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60" b="1">
                <a:solidFill>
                  <a:srgbClr val="5B21B6"/>
                </a:solidFill>
                <a:latin typeface="Microsoft YaHei"/>
              </a:defRPr>
            </a:pPr>
            <a:r>
              <a:t>【全路径观测与诊断组件】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53728" y="1261872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SR23-02-11-01 [平台 SDK]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 全路径 Telemetry 与语义指标 SDK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1965960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SR23-02-11-02 [运维工具]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链路追踪、回退分析与 KVInspect 诊断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2670047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SR23-02-12-01 [工程工具]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KVCache 性能监控与告警交付包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511296"/>
            <a:ext cx="2587752" cy="2761488"/>
          </a:xfrm>
          <a:prstGeom prst="rect">
            <a:avLst/>
          </a:prstGeom>
          <a:solidFill>
            <a:srgbClr val="FAF5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53728" y="3538728"/>
            <a:ext cx="2450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60" b="1">
                <a:solidFill>
                  <a:srgbClr val="5B21B6"/>
                </a:solidFill>
                <a:latin typeface="Microsoft YaHei"/>
              </a:defRPr>
            </a:pPr>
            <a:r>
              <a:t>【测试验证、基线与 CI/CD 平台】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53728" y="3739895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SR23-02-12-02 [工程工具]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核心组件单元/API 测试与 Mock 框架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53728" y="4361687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SR23-02-12-03 [工程平台]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异构介质 E2E、长稳与混沌测试平台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53728" y="4983480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SR23-02-12-04 [工程平台]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跨平台构建、制品与灰度发布流水线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53728" y="5605272"/>
            <a:ext cx="2450592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SR23-02-12-05 [工程工具]</a:t>
            </a:r>
          </a:p>
          <a:p>
            <a:pPr algn="ctr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KVCache 工作负载回放与性能基准平台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6409944"/>
            <a:ext cx="11551615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图例与关系说明： </a:t>
            </a:r>
            <a:r>
              <a:rPr sz="760" b="1">
                <a:solidFill>
                  <a:srgbClr val="1E40AF"/>
                </a:solidFill>
                <a:latin typeface="Microsoft YaHei"/>
              </a:rPr>
              <a:t> [核心枢纽/中心] </a:t>
            </a:r>
            <a:r>
              <a:rPr sz="760" b="1">
                <a:solidFill>
                  <a:srgbClr val="475569"/>
                </a:solidFill>
                <a:latin typeface="Microsoft YaHei"/>
              </a:rPr>
              <a:t> [功能闭包实体] </a:t>
            </a:r>
            <a:r>
              <a:rPr sz="760" b="1">
                <a:solidFill>
                  <a:srgbClr val="047857"/>
                </a:solidFill>
                <a:latin typeface="Microsoft YaHei"/>
              </a:rPr>
              <a:t> [底座/协议使能] </a:t>
            </a:r>
            <a:r>
              <a:rPr sz="760" b="1">
                <a:solidFill>
                  <a:srgbClr val="6D28D9"/>
                </a:solidFill>
                <a:latin typeface="Microsoft YaHei"/>
              </a:rPr>
              <a:t> [辅助研发测试]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▼ 依赖/调用关系 (下发意图/描述符/回退契约)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█ 层级收容关系 (三层纵向切分)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⋯ 辅助支撑 (Mock/仿真/Trace/监控)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 bIns="54864"/>
          <a:lstStyle/>
          <a:p>
            <a:pPr algn="ctr">
              <a:spcAft>
                <a:spcPts val="200"/>
              </a:spcAft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五、关键提前验证初步测试数据与性能占位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97280"/>
            <a:ext cx="5678424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73152" cy="5440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1344" y="1097280"/>
            <a:ext cx="5678424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81344" y="1097280"/>
            <a:ext cx="73152" cy="54406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25296"/>
            <a:ext cx="54223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E3A8A"/>
                </a:solidFill>
                <a:latin typeface="Microsoft YaHei"/>
              </a:rPr>
              <a:t>【模块一：利用 URMA 优化 Mooncake 前缀元数据性能】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• 测试背景：原生 Mooncake 采用跨节点 TCP/RPC 查询前缀元数据，网络 RTT 占首包延迟 35% 以上；本项目利用 URMA 单边直读（One-sided Read）机制进行改造。
• 实测对比数据（占位预留）：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" y="2468880"/>
          <a:ext cx="54132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24128"/>
                <a:gridCol w="10058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 / 传输机制</a:t>
                      </a:r>
                    </a:p>
                  </a:txBody>
                  <a:tcPr anchor="ctr" marL="9144" marR="9144" marT="9144" marB="914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平均时延</a:t>
                      </a:r>
                    </a:p>
                  </a:txBody>
                  <a:tcPr anchor="ctr" marL="9144" marR="9144" marT="9144" marB="914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P99 尾部时延</a:t>
                      </a:r>
                    </a:p>
                  </a:txBody>
                  <a:tcPr anchor="ctr" marL="9144" marR="9144" marT="9144" marB="914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CPU 占用</a:t>
                      </a:r>
                    </a:p>
                  </a:txBody>
                  <a:tcPr anchor="ctr" marL="9144" marR="9144" marT="9144" marB="914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吞吐能力 (QPS)</a:t>
                      </a:r>
                    </a:p>
                  </a:txBody>
                  <a:tcPr anchor="ctr" marL="9144" marR="9144" marT="9144" marB="9144"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原生 Mooncake (TCP RPC)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120~180µs]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250~350µs]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15%~25%]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~15K]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标准 RDMA (Two-sided RPC)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35~50µs]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80~110µs]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8%~12%]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~45K]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本项目 URMA 单边直读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[占位: &lt;10µs (~7.2µs)]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[占位: &lt;20µs]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[占位: 0% (零拷贝)]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[占位: &gt;120K]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4632" y="4892040"/>
            <a:ext cx="542239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Microsoft YaHei"/>
              </a:rPr>
              <a:t>【阶段性洞察与技术结论】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1. URMA 单边直读彻底消除了多轮 RPC 握手带来的网络 RTT 风暴，将元数据查询时延从百微秒级直接压降一个数量级（&lt; 10µs）；
2. 零 CPU 介入与内存拷贝，保障了高并发场景下控制面的极速吞吐。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225296"/>
            <a:ext cx="54223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47857"/>
                </a:solidFill>
                <a:latin typeface="Microsoft YaHei"/>
              </a:rPr>
              <a:t>【模块二：PVT-00 双模型不同前缀复用率实测时延表现】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• 测试背景：针对 Qwen-72B (MHA 320KB/tok) 与 Qwen-8B 双模型，在 30%~98% 五档复用率下对比纯算力本地重算耗时与 Mooncake 远端拉取耗时。
• 双模型实测对比数据（占位预留）：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45936" y="2468880"/>
          <a:ext cx="54223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96112"/>
                <a:gridCol w="896112"/>
                <a:gridCol w="868680"/>
                <a:gridCol w="868680"/>
                <a:gridCol w="1051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复用率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72B 本地重算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72B 远端加载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8B 本地重算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8B 远端加载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收益判定</a:t>
                      </a:r>
                    </a:p>
                  </a:txBody>
                  <a:tcPr anchor="ctr" marL="9144" marR="9144" marT="9144" marB="9144">
                    <a:solidFill>
                      <a:srgbClr val="04785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B45309"/>
                          </a:solidFill>
                          <a:latin typeface="Microsoft YaHei"/>
                        </a:rPr>
                        <a:t>30% 复用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B45309"/>
                          </a:solidFill>
                          <a:latin typeface="Microsoft YaHei"/>
                        </a:rPr>
                        <a:t>[占位: 45ms]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B45309"/>
                          </a:solidFill>
                          <a:latin typeface="Microsoft YaHei"/>
                        </a:rPr>
                        <a:t>[占位: 52ms]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B45309"/>
                          </a:solidFill>
                          <a:latin typeface="Microsoft YaHei"/>
                        </a:rPr>
                        <a:t>[占位: 8ms]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B45309"/>
                          </a:solidFill>
                          <a:latin typeface="Microsoft YaHei"/>
                        </a:rPr>
                        <a:t>[占位: 12ms]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B45309"/>
                          </a:solidFill>
                          <a:latin typeface="Microsoft YaHei"/>
                        </a:rPr>
                        <a:t>[负收益:回退]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50% 复用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75ms]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60ms]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14ms]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[占位: 13ms]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F172A"/>
                          </a:solidFill>
                          <a:latin typeface="Microsoft YaHei"/>
                        </a:rPr>
                        <a:t>[盈亏平衡点]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70% 复用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110ms]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68ms]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20ms]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15ms]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[净收益达成]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90% 复用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145ms]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72ms]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26ms]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16ms]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[收益超 2.0x]</a:t>
                      </a:r>
                    </a:p>
                  </a:txBody>
                  <a:tcPr anchor="ctr" marL="9144" marR="9144" marT="9144" marB="9144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98% 复用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160ms]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75ms]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29ms]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Microsoft YaHei"/>
                        </a:rPr>
                        <a:t>[占位: 17ms]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47857"/>
                          </a:solidFill>
                          <a:latin typeface="Microsoft YaHei"/>
                        </a:rPr>
                        <a:t>[TTFT降≥50%]</a:t>
                      </a:r>
                    </a:p>
                  </a:txBody>
                  <a:tcPr anchor="ctr" marL="9144" marR="914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45936" y="4892040"/>
            <a:ext cx="542239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47857"/>
                </a:solidFill>
                <a:latin typeface="Microsoft YaHei"/>
              </a:rPr>
              <a:t>【阶段性洞察与技术结论】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1. 实测证实低复用率（30%）下远端拉取耗时反超重算，盲目拉取存在负收益反噬，必须由 QueryPlan 前置动态决策引擎按条件精准选路；
2. 随着复用率升至 70%~98%，Saved-Prefill 净收益迅速放大，72B 大模型首字时延降幅超 50%。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 bIns="54864"/>
          <a:lstStyle/>
          <a:p>
            <a:pPr algn="ctr">
              <a:spcAft>
                <a:spcPts val="200"/>
              </a:spcAft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【内部资料 · 请勿外传】 文档编号: TR-20260824-01  |  统一异构 KVCache 存储池最新进展汇报  |  状态: 正常推进 (ON TRACK)</a:t>
            </a: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六、下一步工作计划与关键风险分析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97280"/>
            <a:ext cx="647395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73152" cy="5440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225296"/>
            <a:ext cx="6217920" cy="518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Microsoft YaHei"/>
              </a:rPr>
              <a:t>【下阶段两大重点推进方向 (Action Items)】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■ 方向一：与评审专家进一步沟通，推动立项稳步接纳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专项对齐与证据汇报：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结合 PVT-00/01 阶段性实测数据与 Mooncake 缺陷证据，组织与初评专家的专项技术沟通，消除重复开发疑虑；
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• 输出消融实验报告：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正式发布《Mooncake 5 大缺陷实测证据与消融实验报告》，以客观数据证明原厂软硬件协同带来的净加速收益；
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• 闭环评审意见：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针对评委关切的落地路径、接口兼容性与交付里程碑形成闭环答复，推动立项正式通过。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■ 方向二：持续快速推进各个关键提前验证项 (PVT/CVT)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 b="1">
                <a:solidFill>
                  <a:srgbClr val="047857"/>
                </a:solidFill>
                <a:latin typeface="Microsoft YaHei"/>
              </a:rPr>
              <a:t>• 闭环底座项证据链：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完成 PVT-00（收益上限）与 PVT-01（CPU 零数据拷贝与硬件能力矩阵）正式测试报告；
</a:t>
            </a:r>
            <a:r>
              <a:rPr sz="1100" b="1">
                <a:solidFill>
                  <a:srgbClr val="047857"/>
                </a:solidFill>
                <a:latin typeface="Microsoft YaHei"/>
              </a:rPr>
              <a:t>• 重点启动 P0 核心项攻关：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按节奏推进 PVT-02（异构 Layout 描述符编译器）、PVT-04（微秒级决策引擎）与 PVT-05（SSD 直达）；
</a:t>
            </a:r>
            <a:r>
              <a:rPr sz="1100" b="1">
                <a:solidFill>
                  <a:srgbClr val="047857"/>
                </a:solidFill>
                <a:latin typeface="Microsoft YaHei"/>
              </a:rPr>
              <a:t>• 搭建双节点混压基线：</a:t>
            </a:r>
            <a:r>
              <a:rPr sz="1100" b="0">
                <a:solidFill>
                  <a:srgbClr val="0F172A"/>
                </a:solidFill>
                <a:latin typeface="Microsoft YaHei"/>
              </a:rPr>
              <a:t>搭建 2 节点端到端混压测试环境，为 E3 全链路总门禁（PVT-07）奠定工程底座。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976872" y="1097280"/>
            <a:ext cx="489204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6872" y="1097280"/>
            <a:ext cx="73152" cy="5440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1464" y="1225296"/>
            <a:ext cx="4636008" cy="518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45309"/>
                </a:solidFill>
                <a:latin typeface="Microsoft YaHei"/>
              </a:rPr>
              <a:t>【核心风险点剖析与破局应对策略】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[突出核心风险] 人力需求严重不足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Microsoft YaHei"/>
              </a:rPr>
              <a:t>• 现状痛点：当前仅有 2 到 3 人 实际参与攻关，但提前验证项多达 11 项，横跨分布式通信驱动、存储引擎、推理框架调度与多卡同步等多栈技术，开发与测试负载极重，存在交付延期风险。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47857"/>
                </a:solidFill>
                <a:latin typeface="Microsoft YaHei"/>
              </a:rPr>
              <a:t>[破局应对与保障策略]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1. 分级聚焦，单点突破： </a:t>
            </a:r>
            <a:r>
              <a:rPr sz="1100">
                <a:solidFill>
                  <a:srgbClr val="475569"/>
                </a:solidFill>
                <a:latin typeface="Microsoft YaHei"/>
              </a:rPr>
              <a:t>严格按 P0(5项核心) -&gt; P1(4项底座) -&gt; P2(2项拓展) 节奏推进，集中精锐优先闭环 PVT-00 与 PVT-01；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2. 最大限度复用开源： </a:t>
            </a:r>
            <a:r>
              <a:rPr sz="1100">
                <a:solidFill>
                  <a:srgbClr val="475569"/>
                </a:solidFill>
                <a:latin typeface="Microsoft YaHei"/>
              </a:rPr>
              <a:t>复用 Mooncake C++ 与 vLLM Connector 基础构建体系，剔除通用脚手架开发，聚焦底层关键路径；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3. 申请专项人力增援： </a:t>
            </a:r>
            <a:r>
              <a:rPr sz="1100">
                <a:solidFill>
                  <a:srgbClr val="475569"/>
                </a:solidFill>
                <a:latin typeface="Microsoft YaHei"/>
              </a:rPr>
              <a:t>以立项进展和阶段性实测数据为依据，向团队主管申请在 L3 传输管理与 L4 驱动底座方向增补 2~3 名专职研发力量。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