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305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Microsoft YaHei"/>
              </a:defRPr>
            </a:pPr>
            <a:r>
              <a:t>统一异构 KVCache 存储池 ｜ 项目 SR 需求关系关联架构图</a:t>
            </a:r>
          </a:p>
          <a:p>
            <a:pPr>
              <a:defRPr sz="950">
                <a:solidFill>
                  <a:srgbClr val="475569"/>
                </a:solidFill>
                <a:latin typeface="Microsoft YaHei"/>
              </a:defRPr>
            </a:pPr>
            <a:r>
              <a:t>顶层架构约束与 SR 功能闭包边界全景视图（基于 SRS V2.2 / 全量需求树 V2.3.1，38 个 SR 全量精准映射）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77240"/>
            <a:ext cx="8595360" cy="5577840"/>
          </a:xfrm>
          <a:prstGeom prst="rect">
            <a:avLst/>
          </a:prstGeom>
          <a:solidFill>
            <a:srgbClr val="FFFFFF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04672"/>
            <a:ext cx="841248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1E40AF"/>
                </a:solidFill>
                <a:latin typeface="Microsoft YaHei"/>
              </a:defRPr>
            </a:pPr>
            <a:r>
              <a:t>【核心交付件】kvcache 统一异构存储池 总体架构（对接 vLLM / SGLang，下接 UB 总线与 URMA / UBMEM）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8412480" cy="1051560"/>
          </a:xfrm>
          <a:prstGeom prst="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8229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0369A1"/>
                </a:solidFill>
                <a:latin typeface="Microsoft YaHei"/>
              </a:defRPr>
            </a:pPr>
            <a:r>
              <a:t>最上层：适配层（Adapter Layer —— vLLM / SGLang 框架对接、前缀准入、路由与 Pipeline 卸载）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1325880" cy="731520"/>
          </a:xfrm>
          <a:prstGeom prst="rect">
            <a:avLst/>
          </a:prstGeom>
          <a:solidFill>
            <a:srgbClr val="0369A1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FEF08A"/>
                </a:solidFill>
                <a:latin typeface="Microsoft YaHei"/>
              </a:defRPr>
            </a:pPr>
            <a:r>
              <a:t>SR23-02-01-01 [协议与 SDK]</a:t>
            </a:r>
          </a:p>
          <a:p>
            <a:pPr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vLLM/SGLang 统一 Connector 与 SDK</a:t>
            </a:r>
          </a:p>
        </p:txBody>
      </p:sp>
      <p:sp>
        <p:nvSpPr>
          <p:cNvPr id="9" name="Rectangle 8"/>
          <p:cNvSpPr/>
          <p:nvPr/>
        </p:nvSpPr>
        <p:spPr>
          <a:xfrm>
            <a:off x="1883664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SR23-02-02-01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前缀预算、加载重算与水位准入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SR23-02-02-02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缓存感知路由与异构存储调度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45152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SR23-02-06-01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KV 卸载/加载、分层回源与流水线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25896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SR23-02-07-01 [策略插件]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投机预取与效果反馈组件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298448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0369A1"/>
                </a:solidFill>
                <a:latin typeface="Microsoft YaHei"/>
              </a:defRPr>
            </a:pPr>
            <a:r>
              <a:t>SR23-02-10-01 [框架插件]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多 Parallel Rank 一致消费与专家控制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30552"/>
            <a:ext cx="8412480" cy="155448"/>
          </a:xfrm>
          <a:prstGeom prst="rect">
            <a:avLst/>
          </a:prstGeom>
          <a:solidFill>
            <a:srgbClr val="EFF6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80" b="1">
                <a:solidFill>
                  <a:srgbClr val="1E40AF"/>
                </a:solidFill>
              </a:defRPr>
            </a:pPr>
            <a:r>
              <a:t>▼ 传递 KV 访问请求 (KVAccessIntent) ｜ 协商 QueryPlan ｜ 返回可消费引用凭证 (AttachHandle) 与回退契约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13432"/>
            <a:ext cx="8412480" cy="2606040"/>
          </a:xfrm>
          <a:prstGeom prst="rect">
            <a:avLst/>
          </a:prstGeom>
          <a:solidFill>
            <a:srgbClr val="F0F4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31720"/>
            <a:ext cx="8229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1E40AF"/>
                </a:solidFill>
                <a:latin typeface="Microsoft YaHei"/>
              </a:defRPr>
            </a:pPr>
            <a:r>
              <a:t>中间层：核心软件层（Core Storage Pool Layer —— 存储池调度、对象分配、前缀目录索引与 QoS）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2032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257860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1E40AF"/>
                </a:solidFill>
                <a:latin typeface="Microsoft YaHei"/>
              </a:defRPr>
            </a:pPr>
            <a:r>
              <a:t>【核心枢纽 &amp; 前缀目录索引】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61488"/>
            <a:ext cx="2578608" cy="457200"/>
          </a:xfrm>
          <a:prstGeom prst="rect">
            <a:avLst/>
          </a:prstGeom>
          <a:solidFill>
            <a:srgbClr val="1E40A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50" b="1">
                <a:solidFill>
                  <a:srgbClr val="FEF08A"/>
                </a:solidFill>
                <a:latin typeface="Microsoft YaHei"/>
              </a:defRPr>
            </a:pPr>
            <a:r>
              <a:t>SR23-01-01-01 [核心枢纽组件库]</a:t>
            </a:r>
          </a:p>
          <a:p>
            <a:pPr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统一 KV 对象池核心组件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64408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1E40AF"/>
                </a:solidFill>
                <a:latin typeface="Microsoft YaHei"/>
              </a:defRPr>
            </a:pPr>
            <a:r>
              <a:t>SR23-02-03-01 [组件库]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跨框架前缀匹配引擎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83664" y="3264408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1E40AF"/>
                </a:solidFill>
                <a:latin typeface="Microsoft YaHei"/>
              </a:defRPr>
            </a:pPr>
            <a:r>
              <a:t>SR23-02-04-01 [组件库]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本地元数据缓存与快判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59935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1E40AF"/>
                </a:solidFill>
                <a:latin typeface="Microsoft YaHei"/>
              </a:defRPr>
            </a:pPr>
            <a:r>
              <a:t>SR23-02-05-01 [独立服务]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集群前缀目录 HA 服务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83664" y="4059935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1E40AF"/>
                </a:solidFill>
                <a:latin typeface="Microsoft YaHei"/>
              </a:defRPr>
            </a:pPr>
            <a:r>
              <a:t>SR23-02-05-02 [组件库]</a:t>
            </a:r>
          </a:p>
          <a:p>
            <a:pPr>
              <a:defRPr sz="760" b="1">
                <a:solidFill>
                  <a:srgbClr val="0F172A"/>
                </a:solidFill>
                <a:latin typeface="Microsoft YaHei"/>
              </a:defRPr>
            </a:pPr>
            <a:r>
              <a:t>前缀目录本地快路径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2542032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28416" y="2560320"/>
            <a:ext cx="257860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1E40AF"/>
                </a:solidFill>
                <a:latin typeface="Microsoft YaHei"/>
              </a:defRPr>
            </a:pPr>
            <a:r>
              <a:t>【分层容量、生命周期与一致性】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8416" y="2761488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SR23-01-01-02 [策略插件]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HBM↔SSD 分层容量与 DDR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45152" y="2761488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SR23-01-01-03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生命周期与空间治理控制器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8416" y="3282696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SR23-01-10-01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共享 Attach 与快速回退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45152" y="3282696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SR23-01-11-01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KV 发布与迁移一致性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28416" y="3803904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SR23-01-11-02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多租户隔离与 QoS 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3803904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SR23-02-08-01 [组件工具]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容量画像与生命周期配置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28416" y="4325112"/>
            <a:ext cx="2578608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SR23-02-09-01 [策略插件]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热/冷 KV 分层与复用策略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5896" y="2542032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4" y="2560320"/>
            <a:ext cx="257860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1E40AF"/>
                </a:solidFill>
                <a:latin typeface="Microsoft YaHei"/>
              </a:defRPr>
            </a:pPr>
            <a:r>
              <a:t>【传输编排、选路与成本决策】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9904" y="2761488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SR23-01-02-01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布局与批量传输描述编译器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761488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SR23-01-03-01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QueryPlan 与多副本决策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9904" y="3456432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SR23-01-03-02 [组件库]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统一传输意图与粒度分发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456432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SR23-01-04-01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异步传输 DAG 与流水加载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9904" y="4151376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SR23-01-04-02 [可选插件]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一对多共享与多播 Provider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4151376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1E40AF"/>
                </a:solidFill>
                <a:latin typeface="Microsoft YaHei"/>
              </a:defRPr>
            </a:pPr>
            <a:r>
              <a:t>SR23-01-05-01 [组件服务]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路径质量探测与动态路由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946904"/>
            <a:ext cx="8412480" cy="155448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80" b="1">
                <a:solidFill>
                  <a:srgbClr val="047857"/>
                </a:solidFill>
              </a:defRPr>
            </a:pPr>
            <a:r>
              <a:t>▼ 编译生成任务描述符 (ExtentManifest / Descriptor) ｜ 调用 URMA / UBMEM 物理传输使能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129784"/>
            <a:ext cx="8412480" cy="114300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148072"/>
            <a:ext cx="8229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065F46"/>
                </a:solidFill>
                <a:latin typeface="Microsoft YaHei"/>
              </a:defRPr>
            </a:pPr>
            <a:r>
              <a:t>最底层：物理传输层 / 传输底座（Transport Layer &amp; UB Base —— 统一总线 UB 与 URMA / UBMEM 协议使能）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9240"/>
            <a:ext cx="1691640" cy="868680"/>
          </a:xfrm>
          <a:prstGeom prst="rect">
            <a:avLst/>
          </a:prstGeom>
          <a:solidFill>
            <a:srgbClr val="047857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FEF08A"/>
                </a:solidFill>
                <a:latin typeface="Microsoft YaHei"/>
              </a:defRPr>
            </a:pPr>
            <a:r>
              <a:t>SR23-01-09-01 [底座枢纽 / 平台]</a:t>
            </a:r>
          </a:p>
          <a:p>
            <a:pPr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Capability 注册表与 Fabric 路由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4028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SR23-01-06-01 [后端插件]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跨节点 RDMA 零拷贝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SR23-01-08-01 [后端插件]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SSD/对象存储容量后端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3484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SR23-01-08-02 [条件插件]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DPU Codec 条件卸载包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3212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SR23-01-07-01 [后端插件]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UBMEM Direct View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9400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SR23-01-12-01 [平台组件]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完整性与 RAS 映射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26679" y="5349240"/>
            <a:ext cx="1051560" cy="868680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00" b="1">
                <a:solidFill>
                  <a:srgbClr val="065F46"/>
                </a:solidFill>
                <a:latin typeface="Microsoft YaHei"/>
              </a:defRPr>
            </a:pPr>
            <a:r>
              <a:t>SR23-01-12-02 [平台组件]</a:t>
            </a:r>
          </a:p>
          <a:p>
            <a:pPr>
              <a:defRPr sz="750" b="1">
                <a:solidFill>
                  <a:srgbClr val="0F172A"/>
                </a:solidFill>
                <a:latin typeface="Microsoft YaHei"/>
              </a:defRPr>
            </a:pPr>
            <a:r>
              <a:t>安全访问与下线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777240"/>
            <a:ext cx="2770632" cy="55778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89720" y="804672"/>
            <a:ext cx="2587752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5B21B6"/>
                </a:solidFill>
                <a:latin typeface="Microsoft YaHei"/>
              </a:defRPr>
            </a:pPr>
            <a:r>
              <a:t>【辅助组件】研发测试与运维保障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89720" y="1051560"/>
            <a:ext cx="2587752" cy="2423160"/>
          </a:xfrm>
          <a:prstGeom prst="rect">
            <a:avLst/>
          </a:prstGeom>
          <a:solidFill>
            <a:srgbClr val="FAF5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53728" y="1078992"/>
            <a:ext cx="2450592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5B21B6"/>
                </a:solidFill>
                <a:latin typeface="Microsoft YaHei"/>
              </a:defRPr>
            </a:pPr>
            <a:r>
              <a:t>【全路径观测与诊断组件】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53728" y="1280160"/>
            <a:ext cx="245059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SR23-02-11-01 [平台 SDK]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KV 全路径 Telemetry 与语义指标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53728" y="1975104"/>
            <a:ext cx="245059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SR23-02-11-02 [运维工具]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链路追踪、Fallback 与 KVInspect 工具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53728" y="2670048"/>
            <a:ext cx="2450592" cy="6949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SR23-02-12-01 [工程工具]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KVCache 性能监控与告警交付包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89720" y="3520440"/>
            <a:ext cx="2587752" cy="2761488"/>
          </a:xfrm>
          <a:prstGeom prst="rect">
            <a:avLst/>
          </a:prstGeom>
          <a:solidFill>
            <a:srgbClr val="FAF5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53728" y="3547872"/>
            <a:ext cx="2450592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80" b="1">
                <a:solidFill>
                  <a:srgbClr val="5B21B6"/>
                </a:solidFill>
                <a:latin typeface="Microsoft YaHei"/>
              </a:defRPr>
            </a:pPr>
            <a:r>
              <a:t>【测试验证、基线与 CI/CD 平台】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253728" y="3749039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SR23-02-12-02 [工程工具]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核心组件 API 测试与 Mock 框架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53728" y="4370831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SR23-02-12-03 [工程平台]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异构介质 E2E、长稳与混沌测试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53728" y="4992624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SR23-02-12-04 [工程平台]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跨平台构建、制品与灰度发布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5614416"/>
            <a:ext cx="2450592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720" b="1">
                <a:solidFill>
                  <a:srgbClr val="5B21B6"/>
                </a:solidFill>
                <a:latin typeface="Microsoft YaHei"/>
              </a:defRPr>
            </a:pPr>
            <a:r>
              <a:t>SR23-02-12-05 [工程工具]</a:t>
            </a:r>
          </a:p>
          <a:p>
            <a:pPr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t>工作负载回放与性能基准平台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" y="6419088"/>
            <a:ext cx="116430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t>关系说明与图例标注：  </a:t>
            </a:r>
            <a:r>
              <a:rPr sz="780" b="1">
                <a:solidFill>
                  <a:srgbClr val="1E40AF"/>
                </a:solidFill>
                <a:latin typeface="Microsoft YaHei"/>
              </a:rPr>
              <a:t> [核心枢纽/中心] </a:t>
            </a:r>
            <a:r>
              <a:rPr sz="780" b="1">
                <a:solidFill>
                  <a:srgbClr val="475569"/>
                </a:solidFill>
                <a:latin typeface="Microsoft YaHei"/>
              </a:rPr>
              <a:t> [功能闭包实体] </a:t>
            </a:r>
            <a:r>
              <a:rPr sz="780" b="1">
                <a:solidFill>
                  <a:srgbClr val="047857"/>
                </a:solidFill>
                <a:latin typeface="Microsoft YaHei"/>
              </a:rPr>
              <a:t> [底座/协议使能] </a:t>
            </a:r>
            <a:r>
              <a:rPr sz="780" b="1">
                <a:solidFill>
                  <a:srgbClr val="6D28D9"/>
                </a:solidFill>
                <a:latin typeface="Microsoft YaHei"/>
              </a:rPr>
              <a:t> [辅助研发测试] </a:t>
            </a:r>
            <a:r>
              <a:rPr sz="780" b="1">
                <a:solidFill>
                  <a:srgbClr val="64748B"/>
                </a:solidFill>
                <a:latin typeface="Microsoft YaHei"/>
              </a:rPr>
              <a:t>  --&gt; 依赖/调用关系 (如访问请求、硬件任务描述符下发)  </a:t>
            </a:r>
            <a:r>
              <a:rPr sz="780" b="1">
                <a:solidFill>
                  <a:srgbClr val="64748B"/>
                </a:solidFill>
                <a:latin typeface="Microsoft YaHei"/>
              </a:rPr>
              <a:t>  ==&gt; 层级收容与包含关系 (三层纵向架构切分)  </a:t>
            </a:r>
            <a:r>
              <a:rPr sz="780" b="1">
                <a:solidFill>
                  <a:srgbClr val="64748B"/>
                </a:solidFill>
                <a:latin typeface="Microsoft YaHei"/>
              </a:rPr>
              <a:t>  ... 辅助支撑 (为全系统提供功能测试、Mock仿真、Trace验证与监控告警)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