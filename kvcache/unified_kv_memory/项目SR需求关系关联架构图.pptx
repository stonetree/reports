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09728"/>
            <a:ext cx="11643055" cy="621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800" b="1">
                <a:solidFill>
                  <a:srgbClr val="0F172A"/>
                </a:solidFill>
                <a:latin typeface="Microsoft YaHei"/>
              </a:defRPr>
            </a:pPr>
            <a:r>
              <a:t>统一异构 KVCache 存储池 ｜ 项目 SR 需求关系关联架构图</a:t>
            </a:r>
          </a:p>
          <a:p>
            <a:pPr>
              <a:defRPr sz="950">
                <a:solidFill>
                  <a:srgbClr val="475569"/>
                </a:solidFill>
                <a:latin typeface="Microsoft YaHei"/>
              </a:defRPr>
            </a:pPr>
            <a:r>
              <a:t>顶层架构约束与 SR 功能闭包边界全景视图（基于 SRS V2.2 / 全量需求树 V2.3.1 补充版，38 个 SR 全量精准映射）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320040" y="777240"/>
            <a:ext cx="8595360" cy="5577840"/>
          </a:xfrm>
          <a:prstGeom prst="rect">
            <a:avLst/>
          </a:prstGeom>
          <a:solidFill>
            <a:srgbClr val="FFFFFF"/>
          </a:solidFill>
          <a:ln w="15240">
            <a:solidFill>
              <a:srgbClr val="1E40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804672"/>
            <a:ext cx="8412480" cy="20116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980" b="1">
                <a:solidFill>
                  <a:srgbClr val="1E40AF"/>
                </a:solidFill>
                <a:latin typeface="Microsoft YaHei"/>
              </a:defRPr>
            </a:pPr>
            <a:r>
              <a:t>【核心交付件】kvcache 统一异构存储池 总体架构（对接 vLLM / SGLang，下接 UB 总线与 URMA / UBMEM）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1051560"/>
            <a:ext cx="8412480" cy="1051560"/>
          </a:xfrm>
          <a:prstGeom prst="rect">
            <a:avLst/>
          </a:prstGeom>
          <a:solidFill>
            <a:srgbClr val="F0F9FF"/>
          </a:solidFill>
          <a:ln w="1270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1078992"/>
            <a:ext cx="8229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919" b="1">
                <a:solidFill>
                  <a:srgbClr val="0369A1"/>
                </a:solidFill>
                <a:latin typeface="Microsoft YaHei"/>
              </a:defRPr>
            </a:pPr>
            <a:r>
              <a:t>最上层：适配层（Adapter Layer —— vLLM / SGLang 框架对接、前缀准入、路由与 Pipeline 卸载）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1298448"/>
            <a:ext cx="1325880" cy="731520"/>
          </a:xfrm>
          <a:prstGeom prst="rect">
            <a:avLst/>
          </a:prstGeom>
          <a:solidFill>
            <a:srgbClr val="0369A1"/>
          </a:solidFill>
          <a:ln w="1905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>
              <a:defRPr sz="720" b="1">
                <a:solidFill>
                  <a:srgbClr val="FEF08A"/>
                </a:solidFill>
                <a:latin typeface="Microsoft YaHei"/>
              </a:defRPr>
            </a:pPr>
            <a:r>
              <a:t>SR23-02-01-01 [协议与 SDK]</a:t>
            </a:r>
          </a:p>
          <a:p>
            <a:pPr>
              <a:defRPr sz="850" b="1">
                <a:solidFill>
                  <a:srgbClr val="FFFFFF"/>
                </a:solidFill>
                <a:latin typeface="Microsoft YaHei"/>
              </a:defRPr>
            </a:pPr>
            <a:r>
              <a:t>vLLM/SGLang 统一 KVConnector SDK</a:t>
            </a:r>
          </a:p>
        </p:txBody>
      </p:sp>
      <p:sp>
        <p:nvSpPr>
          <p:cNvPr id="9" name="Rectangle 8"/>
          <p:cNvSpPr/>
          <p:nvPr/>
        </p:nvSpPr>
        <p:spPr>
          <a:xfrm>
            <a:off x="1883664" y="1298448"/>
            <a:ext cx="1325880" cy="731520"/>
          </a:xfrm>
          <a:prstGeom prst="rect">
            <a:avLst/>
          </a:prstGeom>
          <a:solidFill>
            <a:srgbClr val="FFFFFF"/>
          </a:solidFill>
          <a:ln w="10160">
            <a:solidFill>
              <a:srgbClr val="BAE6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>
              <a:defRPr sz="720" b="1">
                <a:solidFill>
                  <a:srgbClr val="0369A1"/>
                </a:solidFill>
                <a:latin typeface="Microsoft YaHei"/>
              </a:defRPr>
            </a:pPr>
            <a:r>
              <a:t>SR23-02-02-01 [框架插件]</a:t>
            </a:r>
          </a:p>
          <a:p>
            <a:pPr>
              <a:defRPr sz="760" b="1">
                <a:solidFill>
                  <a:srgbClr val="0F172A"/>
                </a:solidFill>
                <a:latin typeface="Microsoft YaHei"/>
              </a:defRPr>
            </a:pPr>
            <a:r>
              <a:t>前缀预算、加载重算与水位准入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64408" y="1298448"/>
            <a:ext cx="1325880" cy="731520"/>
          </a:xfrm>
          <a:prstGeom prst="rect">
            <a:avLst/>
          </a:prstGeom>
          <a:solidFill>
            <a:srgbClr val="FFFFFF"/>
          </a:solidFill>
          <a:ln w="10160">
            <a:solidFill>
              <a:srgbClr val="BAE6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>
              <a:defRPr sz="720" b="1">
                <a:solidFill>
                  <a:srgbClr val="0369A1"/>
                </a:solidFill>
                <a:latin typeface="Microsoft YaHei"/>
              </a:defRPr>
            </a:pPr>
            <a:r>
              <a:t>SR23-02-02-02 [框架插件]</a:t>
            </a:r>
          </a:p>
          <a:p>
            <a:pPr>
              <a:defRPr sz="760" b="1">
                <a:solidFill>
                  <a:srgbClr val="0F172A"/>
                </a:solidFill>
                <a:latin typeface="Microsoft YaHei"/>
              </a:defRPr>
            </a:pPr>
            <a:r>
              <a:t>缓存感知路由与异构存储调度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645152" y="1298448"/>
            <a:ext cx="1325880" cy="731520"/>
          </a:xfrm>
          <a:prstGeom prst="rect">
            <a:avLst/>
          </a:prstGeom>
          <a:solidFill>
            <a:srgbClr val="FFFFFF"/>
          </a:solidFill>
          <a:ln w="10160">
            <a:solidFill>
              <a:srgbClr val="BAE6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>
              <a:defRPr sz="720" b="1">
                <a:solidFill>
                  <a:srgbClr val="0369A1"/>
                </a:solidFill>
                <a:latin typeface="Microsoft YaHei"/>
              </a:defRPr>
            </a:pPr>
            <a:r>
              <a:t>SR23-02-06-01 [框架插件]</a:t>
            </a:r>
          </a:p>
          <a:p>
            <a:pPr>
              <a:defRPr sz="760" b="1">
                <a:solidFill>
                  <a:srgbClr val="0F172A"/>
                </a:solidFill>
                <a:latin typeface="Microsoft YaHei"/>
              </a:defRPr>
            </a:pPr>
            <a:r>
              <a:t>KV 卸载/加载、分层回源与流水线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025896" y="1298448"/>
            <a:ext cx="1325880" cy="731520"/>
          </a:xfrm>
          <a:prstGeom prst="rect">
            <a:avLst/>
          </a:prstGeom>
          <a:solidFill>
            <a:srgbClr val="FFFFFF"/>
          </a:solidFill>
          <a:ln w="10160">
            <a:solidFill>
              <a:srgbClr val="BAE6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>
              <a:defRPr sz="720" b="1">
                <a:solidFill>
                  <a:srgbClr val="0369A1"/>
                </a:solidFill>
                <a:latin typeface="Microsoft YaHei"/>
              </a:defRPr>
            </a:pPr>
            <a:r>
              <a:t>SR23-02-07-01 [策略插件]</a:t>
            </a:r>
          </a:p>
          <a:p>
            <a:pPr>
              <a:defRPr sz="760" b="1">
                <a:solidFill>
                  <a:srgbClr val="0F172A"/>
                </a:solidFill>
                <a:latin typeface="Microsoft YaHei"/>
              </a:defRPr>
            </a:pPr>
            <a:r>
              <a:t>投机预取与效果反馈组件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406640" y="1298448"/>
            <a:ext cx="1325880" cy="731520"/>
          </a:xfrm>
          <a:prstGeom prst="rect">
            <a:avLst/>
          </a:prstGeom>
          <a:solidFill>
            <a:srgbClr val="FFFFFF"/>
          </a:solidFill>
          <a:ln w="10160">
            <a:solidFill>
              <a:srgbClr val="BAE6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>
              <a:defRPr sz="720" b="1">
                <a:solidFill>
                  <a:srgbClr val="0369A1"/>
                </a:solidFill>
                <a:latin typeface="Microsoft YaHei"/>
              </a:defRPr>
            </a:pPr>
            <a:r>
              <a:t>SR23-02-10-01 [框架插件]</a:t>
            </a:r>
          </a:p>
          <a:p>
            <a:pPr>
              <a:defRPr sz="760" b="1">
                <a:solidFill>
                  <a:srgbClr val="0F172A"/>
                </a:solidFill>
                <a:latin typeface="Microsoft YaHei"/>
              </a:defRPr>
            </a:pPr>
            <a:r>
              <a:t>多 Parallel Rank 一致消费与专家控制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1480" y="2130552"/>
            <a:ext cx="8412480" cy="155448"/>
          </a:xfrm>
          <a:prstGeom prst="rect">
            <a:avLst/>
          </a:prstGeom>
          <a:solidFill>
            <a:srgbClr val="EFF6FF"/>
          </a:solidFill>
          <a:ln w="10160">
            <a:solidFill>
              <a:srgbClr val="93C5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780" b="1">
                <a:solidFill>
                  <a:srgbClr val="1E40AF"/>
                </a:solidFill>
              </a:defRPr>
            </a:pPr>
            <a:r>
              <a:t>▼ 传递 KV 访问请求 (KVAccessIntent) ｜ 协商 QueryPlan ｜ 返回可消费引用凭证 (AttachHandle) 与回退契约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11480" y="2313432"/>
            <a:ext cx="8412480" cy="2606040"/>
          </a:xfrm>
          <a:prstGeom prst="rect">
            <a:avLst/>
          </a:prstGeom>
          <a:solidFill>
            <a:srgbClr val="F0F4FF"/>
          </a:solidFill>
          <a:ln w="12700">
            <a:solidFill>
              <a:srgbClr val="1D4E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2920" y="2331720"/>
            <a:ext cx="8229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919" b="1">
                <a:solidFill>
                  <a:srgbClr val="1E40AF"/>
                </a:solidFill>
                <a:latin typeface="Microsoft YaHei"/>
              </a:defRPr>
            </a:pPr>
            <a:r>
              <a:t>中间层：核心软件层（Core Storage Pool Layer —— 存储池调度、对象分配、前缀目录索引与 QoS）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2542032"/>
            <a:ext cx="2706624" cy="2331720"/>
          </a:xfrm>
          <a:prstGeom prst="rect">
            <a:avLst/>
          </a:prstGeom>
          <a:solidFill>
            <a:srgbClr val="FFFFFF"/>
          </a:solidFill>
          <a:ln w="10160">
            <a:solidFill>
              <a:srgbClr val="93C5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66928" y="2560320"/>
            <a:ext cx="2578608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880" b="1">
                <a:solidFill>
                  <a:srgbClr val="1E40AF"/>
                </a:solidFill>
                <a:latin typeface="Microsoft YaHei"/>
              </a:defRPr>
            </a:pPr>
            <a:r>
              <a:t>【核心枢纽 &amp; 前缀目录索引】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66928" y="2761488"/>
            <a:ext cx="2578608" cy="457200"/>
          </a:xfrm>
          <a:prstGeom prst="rect">
            <a:avLst/>
          </a:prstGeom>
          <a:solidFill>
            <a:srgbClr val="1E40AF"/>
          </a:solidFill>
          <a:ln w="19050">
            <a:solidFill>
              <a:srgbClr val="1D4E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>
              <a:defRPr sz="750" b="1">
                <a:solidFill>
                  <a:srgbClr val="FEF08A"/>
                </a:solidFill>
                <a:latin typeface="Microsoft YaHei"/>
              </a:defRPr>
            </a:pPr>
            <a:r>
              <a:t>SR23-01-01-01 [核心枢纽组件库]</a:t>
            </a:r>
          </a:p>
          <a:p>
            <a:pPr>
              <a:defRPr sz="850" b="1">
                <a:solidFill>
                  <a:srgbClr val="FFFFFF"/>
                </a:solidFill>
                <a:latin typeface="Microsoft YaHei"/>
              </a:defRPr>
            </a:pPr>
            <a:r>
              <a:t>统一 KV 对象池核心组件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66928" y="3264408"/>
            <a:ext cx="1261872" cy="749808"/>
          </a:xfrm>
          <a:prstGeom prst="rect">
            <a:avLst/>
          </a:prstGeom>
          <a:solidFill>
            <a:srgbClr val="FFFFFF"/>
          </a:solidFill>
          <a:ln w="10160"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>
              <a:defRPr sz="700" b="1">
                <a:solidFill>
                  <a:srgbClr val="1E40AF"/>
                </a:solidFill>
                <a:latin typeface="Microsoft YaHei"/>
              </a:defRPr>
            </a:pPr>
            <a:r>
              <a:t>SR23-02-03-01 [组件库]</a:t>
            </a:r>
          </a:p>
          <a:p>
            <a:pPr>
              <a:defRPr sz="750" b="1">
                <a:solidFill>
                  <a:srgbClr val="0F172A"/>
                </a:solidFill>
                <a:latin typeface="Microsoft YaHei"/>
              </a:defRPr>
            </a:pPr>
            <a:r>
              <a:t>跨框架低时延前缀匹配引擎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883664" y="3264408"/>
            <a:ext cx="1261872" cy="749808"/>
          </a:xfrm>
          <a:prstGeom prst="rect">
            <a:avLst/>
          </a:prstGeom>
          <a:solidFill>
            <a:srgbClr val="FFFFFF"/>
          </a:solidFill>
          <a:ln w="10160"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>
              <a:defRPr sz="700" b="1">
                <a:solidFill>
                  <a:srgbClr val="1E40AF"/>
                </a:solidFill>
                <a:latin typeface="Microsoft YaHei"/>
              </a:defRPr>
            </a:pPr>
            <a:r>
              <a:t>SR23-02-04-01 [组件库]</a:t>
            </a:r>
          </a:p>
          <a:p>
            <a:pPr>
              <a:defRPr sz="750" b="1">
                <a:solidFill>
                  <a:srgbClr val="0F172A"/>
                </a:solidFill>
                <a:latin typeface="Microsoft YaHei"/>
              </a:defRPr>
            </a:pPr>
            <a:r>
              <a:t>本地元数据缓存与批量快判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66928" y="4059935"/>
            <a:ext cx="1261872" cy="749808"/>
          </a:xfrm>
          <a:prstGeom prst="rect">
            <a:avLst/>
          </a:prstGeom>
          <a:solidFill>
            <a:srgbClr val="FFFFFF"/>
          </a:solidFill>
          <a:ln w="10160"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>
              <a:defRPr sz="700" b="1">
                <a:solidFill>
                  <a:srgbClr val="1E40AF"/>
                </a:solidFill>
                <a:latin typeface="Microsoft YaHei"/>
              </a:defRPr>
            </a:pPr>
            <a:r>
              <a:t>SR23-02-05-01 [独立服务]</a:t>
            </a:r>
          </a:p>
          <a:p>
            <a:pPr>
              <a:defRPr sz="750" b="1">
                <a:solidFill>
                  <a:srgbClr val="0F172A"/>
                </a:solidFill>
                <a:latin typeface="Microsoft YaHei"/>
              </a:defRPr>
            </a:pPr>
            <a:r>
              <a:t>集群前缀目录核心与 HA 服务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883664" y="4059935"/>
            <a:ext cx="1261872" cy="749808"/>
          </a:xfrm>
          <a:prstGeom prst="rect">
            <a:avLst/>
          </a:prstGeom>
          <a:solidFill>
            <a:srgbClr val="FFFFFF"/>
          </a:solidFill>
          <a:ln w="10160"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>
              <a:defRPr sz="700" b="1">
                <a:solidFill>
                  <a:srgbClr val="1E40AF"/>
                </a:solidFill>
                <a:latin typeface="Microsoft YaHei"/>
              </a:defRPr>
            </a:pPr>
            <a:r>
              <a:t>SR23-02-05-02 [组件库]</a:t>
            </a:r>
          </a:p>
          <a:p>
            <a:pPr>
              <a:defRPr sz="750" b="1">
                <a:solidFill>
                  <a:srgbClr val="0F172A"/>
                </a:solidFill>
                <a:latin typeface="Microsoft YaHei"/>
              </a:defRPr>
            </a:pPr>
            <a:r>
              <a:t>前缀目录本地快路径与资格检查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264408" y="2542032"/>
            <a:ext cx="2706624" cy="2331720"/>
          </a:xfrm>
          <a:prstGeom prst="rect">
            <a:avLst/>
          </a:prstGeom>
          <a:solidFill>
            <a:srgbClr val="FFFFFF"/>
          </a:solidFill>
          <a:ln w="10160">
            <a:solidFill>
              <a:srgbClr val="93C5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328416" y="2560320"/>
            <a:ext cx="2578608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880" b="1">
                <a:solidFill>
                  <a:srgbClr val="1E40AF"/>
                </a:solidFill>
                <a:latin typeface="Microsoft YaHei"/>
              </a:defRPr>
            </a:pPr>
            <a:r>
              <a:t>【分层容量、生命周期与一致性】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328416" y="2761488"/>
            <a:ext cx="1261872" cy="484632"/>
          </a:xfrm>
          <a:prstGeom prst="rect">
            <a:avLst/>
          </a:prstGeom>
          <a:solidFill>
            <a:srgbClr val="FFFFFF"/>
          </a:solidFill>
          <a:ln w="10160"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>
              <a:defRPr sz="700" b="1">
                <a:solidFill>
                  <a:srgbClr val="1E40AF"/>
                </a:solidFill>
                <a:latin typeface="Microsoft YaHei"/>
              </a:defRPr>
            </a:pPr>
            <a:r>
              <a:t>SR23-01-01-02 [策略插件]</a:t>
            </a:r>
          </a:p>
          <a:p>
            <a:pPr>
              <a:defRPr sz="750" b="1">
                <a:solidFill>
                  <a:srgbClr val="0F172A"/>
                </a:solidFill>
                <a:latin typeface="Microsoft YaHei"/>
              </a:defRPr>
            </a:pPr>
            <a:r>
              <a:t>HBM↔SSD 分层容量与 DDR 角色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645152" y="2761488"/>
            <a:ext cx="1261872" cy="484632"/>
          </a:xfrm>
          <a:prstGeom prst="rect">
            <a:avLst/>
          </a:prstGeom>
          <a:solidFill>
            <a:srgbClr val="FFFFFF"/>
          </a:solidFill>
          <a:ln w="10160"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>
              <a:defRPr sz="700" b="1">
                <a:solidFill>
                  <a:srgbClr val="1E40AF"/>
                </a:solidFill>
                <a:latin typeface="Microsoft YaHei"/>
              </a:defRPr>
            </a:pPr>
            <a:r>
              <a:t>SR23-01-01-03 [组件服务]</a:t>
            </a:r>
          </a:p>
          <a:p>
            <a:pPr>
              <a:defRPr sz="750" b="1">
                <a:solidFill>
                  <a:srgbClr val="0F172A"/>
                </a:solidFill>
                <a:latin typeface="Microsoft YaHei"/>
              </a:defRPr>
            </a:pPr>
            <a:r>
              <a:t>KV 生命周期与空间治理控制器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328416" y="3282696"/>
            <a:ext cx="1261872" cy="484632"/>
          </a:xfrm>
          <a:prstGeom prst="rect">
            <a:avLst/>
          </a:prstGeom>
          <a:solidFill>
            <a:srgbClr val="FFFFFF"/>
          </a:solidFill>
          <a:ln w="10160"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>
              <a:defRPr sz="700" b="1">
                <a:solidFill>
                  <a:srgbClr val="1E40AF"/>
                </a:solidFill>
                <a:latin typeface="Microsoft YaHei"/>
              </a:defRPr>
            </a:pPr>
            <a:r>
              <a:t>SR23-01-10-01 [组件库]</a:t>
            </a:r>
          </a:p>
          <a:p>
            <a:pPr>
              <a:defRPr sz="750" b="1">
                <a:solidFill>
                  <a:srgbClr val="0F172A"/>
                </a:solidFill>
                <a:latin typeface="Microsoft YaHei"/>
              </a:defRPr>
            </a:pPr>
            <a:r>
              <a:t>共享 Attach、租约与快速回退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645152" y="3282696"/>
            <a:ext cx="1261872" cy="484632"/>
          </a:xfrm>
          <a:prstGeom prst="rect">
            <a:avLst/>
          </a:prstGeom>
          <a:solidFill>
            <a:srgbClr val="FFFFFF"/>
          </a:solidFill>
          <a:ln w="10160"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>
              <a:defRPr sz="700" b="1">
                <a:solidFill>
                  <a:srgbClr val="1E40AF"/>
                </a:solidFill>
                <a:latin typeface="Microsoft YaHei"/>
              </a:defRPr>
            </a:pPr>
            <a:r>
              <a:t>SR23-01-11-01 [组件服务]</a:t>
            </a:r>
          </a:p>
          <a:p>
            <a:pPr>
              <a:defRPr sz="750" b="1">
                <a:solidFill>
                  <a:srgbClr val="0F172A"/>
                </a:solidFill>
                <a:latin typeface="Microsoft YaHei"/>
              </a:defRPr>
            </a:pPr>
            <a:r>
              <a:t>KV 发布、可见性与迁移一致性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328416" y="3803904"/>
            <a:ext cx="1261872" cy="484632"/>
          </a:xfrm>
          <a:prstGeom prst="rect">
            <a:avLst/>
          </a:prstGeom>
          <a:solidFill>
            <a:srgbClr val="FFFFFF"/>
          </a:solidFill>
          <a:ln w="10160"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>
              <a:defRPr sz="700" b="1">
                <a:solidFill>
                  <a:srgbClr val="1E40AF"/>
                </a:solidFill>
                <a:latin typeface="Microsoft YaHei"/>
              </a:defRPr>
            </a:pPr>
            <a:r>
              <a:t>SR23-01-11-02 [组件服务]</a:t>
            </a:r>
          </a:p>
          <a:p>
            <a:pPr>
              <a:defRPr sz="750" b="1">
                <a:solidFill>
                  <a:srgbClr val="0F172A"/>
                </a:solidFill>
                <a:latin typeface="Microsoft YaHei"/>
              </a:defRPr>
            </a:pPr>
            <a:r>
              <a:t>多租户隔离与前后台 QoS 控制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645152" y="3803904"/>
            <a:ext cx="1261872" cy="484632"/>
          </a:xfrm>
          <a:prstGeom prst="rect">
            <a:avLst/>
          </a:prstGeom>
          <a:solidFill>
            <a:srgbClr val="FFFFFF"/>
          </a:solidFill>
          <a:ln w="10160"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>
              <a:defRPr sz="700" b="1">
                <a:solidFill>
                  <a:srgbClr val="1E40AF"/>
                </a:solidFill>
                <a:latin typeface="Microsoft YaHei"/>
              </a:defRPr>
            </a:pPr>
            <a:r>
              <a:t>SR23-02-08-01 [组件工具]</a:t>
            </a:r>
          </a:p>
          <a:p>
            <a:pPr>
              <a:defRPr sz="750" b="1">
                <a:solidFill>
                  <a:srgbClr val="0F172A"/>
                </a:solidFill>
                <a:latin typeface="Microsoft YaHei"/>
              </a:defRPr>
            </a:pPr>
            <a:r>
              <a:t>模型 KV 容量画像与生命周期配置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328416" y="4325112"/>
            <a:ext cx="2578608" cy="493776"/>
          </a:xfrm>
          <a:prstGeom prst="rect">
            <a:avLst/>
          </a:prstGeom>
          <a:solidFill>
            <a:srgbClr val="FFFFFF"/>
          </a:solidFill>
          <a:ln w="10160"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>
              <a:defRPr sz="700" b="1">
                <a:solidFill>
                  <a:srgbClr val="1E40AF"/>
                </a:solidFill>
                <a:latin typeface="Microsoft YaHei"/>
              </a:defRPr>
            </a:pPr>
            <a:r>
              <a:t>SR23-02-09-01 [策略插件]</a:t>
            </a:r>
          </a:p>
          <a:p>
            <a:pPr>
              <a:defRPr sz="750" b="1">
                <a:solidFill>
                  <a:srgbClr val="0F172A"/>
                </a:solidFill>
                <a:latin typeface="Microsoft YaHei"/>
              </a:defRPr>
            </a:pPr>
            <a:r>
              <a:t>热/冷 KV 分层驻留与复用策略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025896" y="2542032"/>
            <a:ext cx="2706624" cy="2331720"/>
          </a:xfrm>
          <a:prstGeom prst="rect">
            <a:avLst/>
          </a:prstGeom>
          <a:solidFill>
            <a:srgbClr val="FFFFFF"/>
          </a:solidFill>
          <a:ln w="10160">
            <a:solidFill>
              <a:srgbClr val="93C5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089904" y="2560320"/>
            <a:ext cx="2578608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880" b="1">
                <a:solidFill>
                  <a:srgbClr val="1E40AF"/>
                </a:solidFill>
                <a:latin typeface="Microsoft YaHei"/>
              </a:defRPr>
            </a:pPr>
            <a:r>
              <a:t>【传输编排、选路与成本决策】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089904" y="2761488"/>
            <a:ext cx="1261872" cy="658368"/>
          </a:xfrm>
          <a:prstGeom prst="rect">
            <a:avLst/>
          </a:prstGeom>
          <a:solidFill>
            <a:srgbClr val="FFFFFF"/>
          </a:solidFill>
          <a:ln w="10160"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>
              <a:defRPr sz="700" b="1">
                <a:solidFill>
                  <a:srgbClr val="1E40AF"/>
                </a:solidFill>
                <a:latin typeface="Microsoft YaHei"/>
              </a:defRPr>
            </a:pPr>
            <a:r>
              <a:t>SR23-01-02-01 [组件库]</a:t>
            </a:r>
          </a:p>
          <a:p>
            <a:pPr>
              <a:defRPr sz="730" b="1">
                <a:solidFill>
                  <a:srgbClr val="0F172A"/>
                </a:solidFill>
                <a:latin typeface="Microsoft YaHei"/>
              </a:defRPr>
            </a:pPr>
            <a:r>
              <a:t>布局与批量传输描述编译器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406640" y="2761488"/>
            <a:ext cx="1261872" cy="658368"/>
          </a:xfrm>
          <a:prstGeom prst="rect">
            <a:avLst/>
          </a:prstGeom>
          <a:solidFill>
            <a:srgbClr val="FFFFFF"/>
          </a:solidFill>
          <a:ln w="10160"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>
              <a:defRPr sz="700" b="1">
                <a:solidFill>
                  <a:srgbClr val="1E40AF"/>
                </a:solidFill>
                <a:latin typeface="Microsoft YaHei"/>
              </a:defRPr>
            </a:pPr>
            <a:r>
              <a:t>SR23-01-03-01 [组件服务]</a:t>
            </a:r>
          </a:p>
          <a:p>
            <a:pPr>
              <a:defRPr sz="730" b="1">
                <a:solidFill>
                  <a:srgbClr val="0F172A"/>
                </a:solidFill>
                <a:latin typeface="Microsoft YaHei"/>
              </a:defRPr>
            </a:pPr>
            <a:r>
              <a:t>QueryPlan 与多副本成本决策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089904" y="3456432"/>
            <a:ext cx="1261872" cy="658368"/>
          </a:xfrm>
          <a:prstGeom prst="rect">
            <a:avLst/>
          </a:prstGeom>
          <a:solidFill>
            <a:srgbClr val="FFFFFF"/>
          </a:solidFill>
          <a:ln w="10160"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>
              <a:defRPr sz="700" b="1">
                <a:solidFill>
                  <a:srgbClr val="1E40AF"/>
                </a:solidFill>
                <a:latin typeface="Microsoft YaHei"/>
              </a:defRPr>
            </a:pPr>
            <a:r>
              <a:t>SR23-01-03-02 [组件库]</a:t>
            </a:r>
          </a:p>
          <a:p>
            <a:pPr>
              <a:defRPr sz="730" b="1">
                <a:solidFill>
                  <a:srgbClr val="0F172A"/>
                </a:solidFill>
                <a:latin typeface="Microsoft YaHei"/>
              </a:defRPr>
            </a:pPr>
            <a:r>
              <a:t>统一传输意图与粒度分发</a:t>
            </a:r>
          </a:p>
        </p:txBody>
      </p:sp>
      <p:sp>
        <p:nvSpPr>
          <p:cNvPr id="38" name="Rectangle 37"/>
          <p:cNvSpPr/>
          <p:nvPr/>
        </p:nvSpPr>
        <p:spPr>
          <a:xfrm>
            <a:off x="7406640" y="3456432"/>
            <a:ext cx="1261872" cy="658368"/>
          </a:xfrm>
          <a:prstGeom prst="rect">
            <a:avLst/>
          </a:prstGeom>
          <a:solidFill>
            <a:srgbClr val="FFFFFF"/>
          </a:solidFill>
          <a:ln w="10160"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>
              <a:defRPr sz="700" b="1">
                <a:solidFill>
                  <a:srgbClr val="1E40AF"/>
                </a:solidFill>
                <a:latin typeface="Microsoft YaHei"/>
              </a:defRPr>
            </a:pPr>
            <a:r>
              <a:t>SR23-01-04-01 [组件服务]</a:t>
            </a:r>
          </a:p>
          <a:p>
            <a:pPr>
              <a:defRPr sz="730" b="1">
                <a:solidFill>
                  <a:srgbClr val="0F172A"/>
                </a:solidFill>
                <a:latin typeface="Microsoft YaHei"/>
              </a:defRPr>
            </a:pPr>
            <a:r>
              <a:t>异步传输 DAG 与流水加载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089904" y="4151376"/>
            <a:ext cx="1261872" cy="676656"/>
          </a:xfrm>
          <a:prstGeom prst="rect">
            <a:avLst/>
          </a:prstGeom>
          <a:solidFill>
            <a:srgbClr val="FFFFFF"/>
          </a:solidFill>
          <a:ln w="10160"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>
              <a:defRPr sz="700" b="1">
                <a:solidFill>
                  <a:srgbClr val="1E40AF"/>
                </a:solidFill>
                <a:latin typeface="Microsoft YaHei"/>
              </a:defRPr>
            </a:pPr>
            <a:r>
              <a:t>SR23-01-04-02 [可选插件]</a:t>
            </a:r>
          </a:p>
          <a:p>
            <a:pPr>
              <a:defRPr sz="730" b="1">
                <a:solidFill>
                  <a:srgbClr val="0F172A"/>
                </a:solidFill>
                <a:latin typeface="Microsoft YaHei"/>
              </a:defRPr>
            </a:pPr>
            <a:r>
              <a:t>一对多共享与可选多播 Provider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406640" y="4151376"/>
            <a:ext cx="1261872" cy="676656"/>
          </a:xfrm>
          <a:prstGeom prst="rect">
            <a:avLst/>
          </a:prstGeom>
          <a:solidFill>
            <a:srgbClr val="FFFFFF"/>
          </a:solidFill>
          <a:ln w="10160"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>
              <a:defRPr sz="700" b="1">
                <a:solidFill>
                  <a:srgbClr val="1E40AF"/>
                </a:solidFill>
                <a:latin typeface="Microsoft YaHei"/>
              </a:defRPr>
            </a:pPr>
            <a:r>
              <a:t>SR23-01-05-01 [组件服务]</a:t>
            </a:r>
          </a:p>
          <a:p>
            <a:pPr>
              <a:defRPr sz="730" b="1">
                <a:solidFill>
                  <a:srgbClr val="0F172A"/>
                </a:solidFill>
                <a:latin typeface="Microsoft YaHei"/>
              </a:defRPr>
            </a:pPr>
            <a:r>
              <a:t>路径质量探测与动态路由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11480" y="4946904"/>
            <a:ext cx="8412480" cy="155448"/>
          </a:xfrm>
          <a:prstGeom prst="rect">
            <a:avLst/>
          </a:prstGeom>
          <a:solidFill>
            <a:srgbClr val="ECFDF5"/>
          </a:solidFill>
          <a:ln w="10160">
            <a:solidFill>
              <a:srgbClr val="A7F3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780" b="1">
                <a:solidFill>
                  <a:srgbClr val="047857"/>
                </a:solidFill>
              </a:defRPr>
            </a:pPr>
            <a:r>
              <a:t>▼ 编译生成任务描述符 (ExtentManifest / Descriptor) ｜ 调用 URMA / UBMEM 物理传输使能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11480" y="5129784"/>
            <a:ext cx="8412480" cy="1143000"/>
          </a:xfrm>
          <a:prstGeom prst="rect">
            <a:avLst/>
          </a:prstGeom>
          <a:solidFill>
            <a:srgbClr val="ECFDF5"/>
          </a:solidFill>
          <a:ln w="12700">
            <a:solidFill>
              <a:srgbClr val="0478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02920" y="5148072"/>
            <a:ext cx="8229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919" b="1">
                <a:solidFill>
                  <a:srgbClr val="065F46"/>
                </a:solidFill>
                <a:latin typeface="Microsoft YaHei"/>
              </a:defRPr>
            </a:pPr>
            <a:r>
              <a:t>最底层：物理传输层 / 传输底座（Transport Layer &amp; UB Base —— 统一总线 UB 与 URMA / UBMEM 协议使能）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02920" y="5349240"/>
            <a:ext cx="1691640" cy="868680"/>
          </a:xfrm>
          <a:prstGeom prst="rect">
            <a:avLst/>
          </a:prstGeom>
          <a:solidFill>
            <a:srgbClr val="047857"/>
          </a:solidFill>
          <a:ln w="19050">
            <a:solidFill>
              <a:srgbClr val="0478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>
              <a:defRPr sz="720" b="1">
                <a:solidFill>
                  <a:srgbClr val="FEF08A"/>
                </a:solidFill>
                <a:latin typeface="Microsoft YaHei"/>
              </a:defRPr>
            </a:pPr>
            <a:r>
              <a:t>SR23-01-09-01 [底座枢纽 / 平台]</a:t>
            </a:r>
          </a:p>
          <a:p>
            <a:pPr>
              <a:defRPr sz="850" b="1">
                <a:solidFill>
                  <a:srgbClr val="FFFFFF"/>
                </a:solidFill>
                <a:latin typeface="Microsoft YaHei"/>
              </a:defRPr>
            </a:pPr>
            <a:r>
              <a:t>Capability 注册表与 Fabric 路由</a:t>
            </a:r>
          </a:p>
        </p:txBody>
      </p:sp>
      <p:sp>
        <p:nvSpPr>
          <p:cNvPr id="45" name="Rectangle 44"/>
          <p:cNvSpPr/>
          <p:nvPr/>
        </p:nvSpPr>
        <p:spPr>
          <a:xfrm>
            <a:off x="2240280" y="5349240"/>
            <a:ext cx="1051560" cy="868680"/>
          </a:xfrm>
          <a:prstGeom prst="rect">
            <a:avLst/>
          </a:prstGeom>
          <a:solidFill>
            <a:srgbClr val="FFFFFF"/>
          </a:solidFill>
          <a:ln w="10160">
            <a:solidFill>
              <a:srgbClr val="A7F3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>
              <a:defRPr sz="700" b="1">
                <a:solidFill>
                  <a:srgbClr val="065F46"/>
                </a:solidFill>
                <a:latin typeface="Microsoft YaHei"/>
              </a:defRPr>
            </a:pPr>
            <a:r>
              <a:t>SR23-01-06-01 [后端插件]</a:t>
            </a:r>
          </a:p>
          <a:p>
            <a:pPr>
              <a:defRPr sz="750" b="1">
                <a:solidFill>
                  <a:srgbClr val="0F172A"/>
                </a:solidFill>
                <a:latin typeface="Microsoft YaHei"/>
              </a:defRPr>
            </a:pPr>
            <a:r>
              <a:t>跨节点 RDMA 零拷贝 Provider</a:t>
            </a:r>
          </a:p>
        </p:txBody>
      </p:sp>
      <p:sp>
        <p:nvSpPr>
          <p:cNvPr id="46" name="Rectangle 45"/>
          <p:cNvSpPr/>
          <p:nvPr/>
        </p:nvSpPr>
        <p:spPr>
          <a:xfrm>
            <a:off x="3337560" y="5349240"/>
            <a:ext cx="1051560" cy="868680"/>
          </a:xfrm>
          <a:prstGeom prst="rect">
            <a:avLst/>
          </a:prstGeom>
          <a:solidFill>
            <a:srgbClr val="FFFFFF"/>
          </a:solidFill>
          <a:ln w="10160">
            <a:solidFill>
              <a:srgbClr val="A7F3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>
              <a:defRPr sz="700" b="1">
                <a:solidFill>
                  <a:srgbClr val="065F46"/>
                </a:solidFill>
                <a:latin typeface="Microsoft YaHei"/>
              </a:defRPr>
            </a:pPr>
            <a:r>
              <a:t>SR23-01-08-01 [后端插件]</a:t>
            </a:r>
          </a:p>
          <a:p>
            <a:pPr>
              <a:defRPr sz="750" b="1">
                <a:solidFill>
                  <a:srgbClr val="0F172A"/>
                </a:solidFill>
                <a:latin typeface="Microsoft YaHei"/>
              </a:defRPr>
            </a:pPr>
            <a:r>
              <a:t>HBM↔SSD/Object 容量后端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434840" y="5349240"/>
            <a:ext cx="1051560" cy="868680"/>
          </a:xfrm>
          <a:prstGeom prst="rect">
            <a:avLst/>
          </a:prstGeom>
          <a:solidFill>
            <a:srgbClr val="FFFFFF"/>
          </a:solidFill>
          <a:ln w="10160">
            <a:solidFill>
              <a:srgbClr val="A7F3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>
              <a:defRPr sz="700" b="1">
                <a:solidFill>
                  <a:srgbClr val="065F46"/>
                </a:solidFill>
                <a:latin typeface="Microsoft YaHei"/>
              </a:defRPr>
            </a:pPr>
            <a:r>
              <a:t>SR23-01-08-02 [条件插件]</a:t>
            </a:r>
          </a:p>
          <a:p>
            <a:pPr>
              <a:defRPr sz="750" b="1">
                <a:solidFill>
                  <a:srgbClr val="0F172A"/>
                </a:solidFill>
                <a:latin typeface="Microsoft YaHei"/>
              </a:defRPr>
            </a:pPr>
            <a:r>
              <a:t>DPU/硬件 Codec 条件卸载包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532120" y="5349240"/>
            <a:ext cx="1051560" cy="868680"/>
          </a:xfrm>
          <a:prstGeom prst="rect">
            <a:avLst/>
          </a:prstGeom>
          <a:solidFill>
            <a:srgbClr val="FFFFFF"/>
          </a:solidFill>
          <a:ln w="10160">
            <a:solidFill>
              <a:srgbClr val="A7F3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>
              <a:defRPr sz="700" b="1">
                <a:solidFill>
                  <a:srgbClr val="065F46"/>
                </a:solidFill>
                <a:latin typeface="Microsoft YaHei"/>
              </a:defRPr>
            </a:pPr>
            <a:r>
              <a:t>SR23-01-07-01 [后端插件]</a:t>
            </a:r>
          </a:p>
          <a:p>
            <a:pPr>
              <a:defRPr sz="750" b="1">
                <a:solidFill>
                  <a:srgbClr val="0F172A"/>
                </a:solidFill>
                <a:latin typeface="Microsoft YaHei"/>
              </a:defRPr>
            </a:pPr>
            <a:r>
              <a:t>UBMEM Direct View 安全访问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629400" y="5349240"/>
            <a:ext cx="1051560" cy="868680"/>
          </a:xfrm>
          <a:prstGeom prst="rect">
            <a:avLst/>
          </a:prstGeom>
          <a:solidFill>
            <a:srgbClr val="FFFFFF"/>
          </a:solidFill>
          <a:ln w="10160">
            <a:solidFill>
              <a:srgbClr val="A7F3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>
              <a:defRPr sz="700" b="1">
                <a:solidFill>
                  <a:srgbClr val="065F46"/>
                </a:solidFill>
                <a:latin typeface="Microsoft YaHei"/>
              </a:defRPr>
            </a:pPr>
            <a:r>
              <a:t>SR23-01-12-01 [平台组件]</a:t>
            </a:r>
          </a:p>
          <a:p>
            <a:pPr>
              <a:defRPr sz="750" b="1">
                <a:solidFill>
                  <a:srgbClr val="0F172A"/>
                </a:solidFill>
                <a:latin typeface="Microsoft YaHei"/>
              </a:defRPr>
            </a:pPr>
            <a:r>
              <a:t>完整性证据与 RAS 故障映射</a:t>
            </a:r>
          </a:p>
        </p:txBody>
      </p:sp>
      <p:sp>
        <p:nvSpPr>
          <p:cNvPr id="50" name="Rectangle 49"/>
          <p:cNvSpPr/>
          <p:nvPr/>
        </p:nvSpPr>
        <p:spPr>
          <a:xfrm>
            <a:off x="7726679" y="5349240"/>
            <a:ext cx="1051560" cy="868680"/>
          </a:xfrm>
          <a:prstGeom prst="rect">
            <a:avLst/>
          </a:prstGeom>
          <a:solidFill>
            <a:srgbClr val="FFFFFF"/>
          </a:solidFill>
          <a:ln w="10160">
            <a:solidFill>
              <a:srgbClr val="A7F3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>
              <a:defRPr sz="700" b="1">
                <a:solidFill>
                  <a:srgbClr val="065F46"/>
                </a:solidFill>
                <a:latin typeface="Microsoft YaHei"/>
              </a:defRPr>
            </a:pPr>
            <a:r>
              <a:t>SR23-01-12-02 [平台组件]</a:t>
            </a:r>
          </a:p>
          <a:p>
            <a:pPr>
              <a:defRPr sz="750" b="1">
                <a:solidFill>
                  <a:srgbClr val="0F172A"/>
                </a:solidFill>
                <a:latin typeface="Microsoft YaHei"/>
              </a:defRPr>
            </a:pPr>
            <a:r>
              <a:t>安全访问、资源下线与地址切换</a:t>
            </a:r>
          </a:p>
        </p:txBody>
      </p:sp>
      <p:sp>
        <p:nvSpPr>
          <p:cNvPr id="51" name="Rectangle 50"/>
          <p:cNvSpPr/>
          <p:nvPr/>
        </p:nvSpPr>
        <p:spPr>
          <a:xfrm>
            <a:off x="9098280" y="777240"/>
            <a:ext cx="2770632" cy="5577840"/>
          </a:xfrm>
          <a:prstGeom prst="rect">
            <a:avLst/>
          </a:prstGeom>
          <a:solidFill>
            <a:srgbClr val="FFFFFF"/>
          </a:solidFill>
          <a:ln w="15240">
            <a:solidFill>
              <a:srgbClr val="6D28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9189720" y="804672"/>
            <a:ext cx="2587752" cy="20116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980" b="1">
                <a:solidFill>
                  <a:srgbClr val="5B21B6"/>
                </a:solidFill>
                <a:latin typeface="Microsoft YaHei"/>
              </a:defRPr>
            </a:pPr>
            <a:r>
              <a:t>【辅助组件】研发测试与运维保障</a:t>
            </a:r>
          </a:p>
        </p:txBody>
      </p:sp>
      <p:sp>
        <p:nvSpPr>
          <p:cNvPr id="53" name="Rectangle 52"/>
          <p:cNvSpPr/>
          <p:nvPr/>
        </p:nvSpPr>
        <p:spPr>
          <a:xfrm>
            <a:off x="9189720" y="1051560"/>
            <a:ext cx="2587752" cy="2423160"/>
          </a:xfrm>
          <a:prstGeom prst="rect">
            <a:avLst/>
          </a:prstGeom>
          <a:solidFill>
            <a:srgbClr val="FAF5FF"/>
          </a:solidFill>
          <a:ln w="10160">
            <a:solidFill>
              <a:srgbClr val="D8B4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9253728" y="1078992"/>
            <a:ext cx="2450592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880" b="1">
                <a:solidFill>
                  <a:srgbClr val="5B21B6"/>
                </a:solidFill>
                <a:latin typeface="Microsoft YaHei"/>
              </a:defRPr>
            </a:pPr>
            <a:r>
              <a:t>【全路径观测与诊断组件】</a:t>
            </a:r>
          </a:p>
        </p:txBody>
      </p:sp>
      <p:sp>
        <p:nvSpPr>
          <p:cNvPr id="55" name="Rectangle 54"/>
          <p:cNvSpPr/>
          <p:nvPr/>
        </p:nvSpPr>
        <p:spPr>
          <a:xfrm>
            <a:off x="9253728" y="1280160"/>
            <a:ext cx="2450592" cy="658368"/>
          </a:xfrm>
          <a:prstGeom prst="rect">
            <a:avLst/>
          </a:prstGeom>
          <a:solidFill>
            <a:srgbClr val="FFFFFF"/>
          </a:solidFill>
          <a:ln w="10160">
            <a:solidFill>
              <a:srgbClr val="D8B4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>
              <a:defRPr sz="720" b="1">
                <a:solidFill>
                  <a:srgbClr val="5B21B6"/>
                </a:solidFill>
                <a:latin typeface="Microsoft YaHei"/>
              </a:defRPr>
            </a:pPr>
            <a:r>
              <a:t>SR23-02-11-01 [平台 SDK]</a:t>
            </a:r>
          </a:p>
          <a:p>
            <a:pPr>
              <a:defRPr sz="780" b="1">
                <a:solidFill>
                  <a:srgbClr val="0F172A"/>
                </a:solidFill>
                <a:latin typeface="Microsoft YaHei"/>
              </a:defRPr>
            </a:pPr>
            <a:r>
              <a:t>KV 全路径 Telemetry 与指标 SDK</a:t>
            </a:r>
          </a:p>
        </p:txBody>
      </p:sp>
      <p:sp>
        <p:nvSpPr>
          <p:cNvPr id="56" name="Rectangle 55"/>
          <p:cNvSpPr/>
          <p:nvPr/>
        </p:nvSpPr>
        <p:spPr>
          <a:xfrm>
            <a:off x="9253728" y="1975104"/>
            <a:ext cx="2450592" cy="658368"/>
          </a:xfrm>
          <a:prstGeom prst="rect">
            <a:avLst/>
          </a:prstGeom>
          <a:solidFill>
            <a:srgbClr val="FFFFFF"/>
          </a:solidFill>
          <a:ln w="10160">
            <a:solidFill>
              <a:srgbClr val="D8B4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>
              <a:defRPr sz="720" b="1">
                <a:solidFill>
                  <a:srgbClr val="5B21B6"/>
                </a:solidFill>
                <a:latin typeface="Microsoft YaHei"/>
              </a:defRPr>
            </a:pPr>
            <a:r>
              <a:t>SR23-02-11-02 [运维工具]</a:t>
            </a:r>
          </a:p>
          <a:p>
            <a:pPr>
              <a:defRPr sz="780" b="1">
                <a:solidFill>
                  <a:srgbClr val="0F172A"/>
                </a:solidFill>
                <a:latin typeface="Microsoft YaHei"/>
              </a:defRPr>
            </a:pPr>
            <a:r>
              <a:t>链路追踪、Fallback 与 KVInspect</a:t>
            </a:r>
          </a:p>
        </p:txBody>
      </p:sp>
      <p:sp>
        <p:nvSpPr>
          <p:cNvPr id="57" name="Rectangle 56"/>
          <p:cNvSpPr/>
          <p:nvPr/>
        </p:nvSpPr>
        <p:spPr>
          <a:xfrm>
            <a:off x="9253728" y="2670048"/>
            <a:ext cx="2450592" cy="694944"/>
          </a:xfrm>
          <a:prstGeom prst="rect">
            <a:avLst/>
          </a:prstGeom>
          <a:solidFill>
            <a:srgbClr val="FFFFFF"/>
          </a:solidFill>
          <a:ln w="10160">
            <a:solidFill>
              <a:srgbClr val="D8B4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>
              <a:defRPr sz="720" b="1">
                <a:solidFill>
                  <a:srgbClr val="5B21B6"/>
                </a:solidFill>
                <a:latin typeface="Microsoft YaHei"/>
              </a:defRPr>
            </a:pPr>
            <a:r>
              <a:t>SR23-02-12-01 [工程工具]</a:t>
            </a:r>
          </a:p>
          <a:p>
            <a:pPr>
              <a:defRPr sz="780" b="1">
                <a:solidFill>
                  <a:srgbClr val="0F172A"/>
                </a:solidFill>
                <a:latin typeface="Microsoft YaHei"/>
              </a:defRPr>
            </a:pPr>
            <a:r>
              <a:t>KVCache 性能监控与告警交付包</a:t>
            </a:r>
          </a:p>
        </p:txBody>
      </p:sp>
      <p:sp>
        <p:nvSpPr>
          <p:cNvPr id="58" name="Rectangle 57"/>
          <p:cNvSpPr/>
          <p:nvPr/>
        </p:nvSpPr>
        <p:spPr>
          <a:xfrm>
            <a:off x="9189720" y="3520440"/>
            <a:ext cx="2587752" cy="2761488"/>
          </a:xfrm>
          <a:prstGeom prst="rect">
            <a:avLst/>
          </a:prstGeom>
          <a:solidFill>
            <a:srgbClr val="FAF5FF"/>
          </a:solidFill>
          <a:ln w="10160">
            <a:solidFill>
              <a:srgbClr val="D8B4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9253728" y="3547872"/>
            <a:ext cx="2450592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880" b="1">
                <a:solidFill>
                  <a:srgbClr val="5B21B6"/>
                </a:solidFill>
                <a:latin typeface="Microsoft YaHei"/>
              </a:defRPr>
            </a:pPr>
            <a:r>
              <a:t>【测试验证、基线与 CI/CD 平台】</a:t>
            </a:r>
          </a:p>
        </p:txBody>
      </p:sp>
      <p:sp>
        <p:nvSpPr>
          <p:cNvPr id="60" name="Rectangle 59"/>
          <p:cNvSpPr/>
          <p:nvPr/>
        </p:nvSpPr>
        <p:spPr>
          <a:xfrm>
            <a:off x="9253728" y="3749039"/>
            <a:ext cx="2450592" cy="585216"/>
          </a:xfrm>
          <a:prstGeom prst="rect">
            <a:avLst/>
          </a:prstGeom>
          <a:solidFill>
            <a:srgbClr val="FFFFFF"/>
          </a:solidFill>
          <a:ln w="10160">
            <a:solidFill>
              <a:srgbClr val="D8B4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>
              <a:defRPr sz="720" b="1">
                <a:solidFill>
                  <a:srgbClr val="5B21B6"/>
                </a:solidFill>
                <a:latin typeface="Microsoft YaHei"/>
              </a:defRPr>
            </a:pPr>
            <a:r>
              <a:t>SR23-02-12-02 [工程工具]</a:t>
            </a:r>
          </a:p>
          <a:p>
            <a:pPr>
              <a:defRPr sz="780" b="1">
                <a:solidFill>
                  <a:srgbClr val="0F172A"/>
                </a:solidFill>
                <a:latin typeface="Microsoft YaHei"/>
              </a:defRPr>
            </a:pPr>
            <a:r>
              <a:t>核心组件 API 测试与 Mock 框架</a:t>
            </a:r>
          </a:p>
        </p:txBody>
      </p:sp>
      <p:sp>
        <p:nvSpPr>
          <p:cNvPr id="61" name="Rectangle 60"/>
          <p:cNvSpPr/>
          <p:nvPr/>
        </p:nvSpPr>
        <p:spPr>
          <a:xfrm>
            <a:off x="9253728" y="4370831"/>
            <a:ext cx="2450592" cy="585216"/>
          </a:xfrm>
          <a:prstGeom prst="rect">
            <a:avLst/>
          </a:prstGeom>
          <a:solidFill>
            <a:srgbClr val="FFFFFF"/>
          </a:solidFill>
          <a:ln w="10160">
            <a:solidFill>
              <a:srgbClr val="D8B4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>
              <a:defRPr sz="720" b="1">
                <a:solidFill>
                  <a:srgbClr val="5B21B6"/>
                </a:solidFill>
                <a:latin typeface="Microsoft YaHei"/>
              </a:defRPr>
            </a:pPr>
            <a:r>
              <a:t>SR23-02-12-03 [工程平台]</a:t>
            </a:r>
          </a:p>
          <a:p>
            <a:pPr>
              <a:defRPr sz="780" b="1">
                <a:solidFill>
                  <a:srgbClr val="0F172A"/>
                </a:solidFill>
                <a:latin typeface="Microsoft YaHei"/>
              </a:defRPr>
            </a:pPr>
            <a:r>
              <a:t>异构介质 E2E、长稳与混沌测试</a:t>
            </a:r>
          </a:p>
        </p:txBody>
      </p:sp>
      <p:sp>
        <p:nvSpPr>
          <p:cNvPr id="62" name="Rectangle 61"/>
          <p:cNvSpPr/>
          <p:nvPr/>
        </p:nvSpPr>
        <p:spPr>
          <a:xfrm>
            <a:off x="9253728" y="4992624"/>
            <a:ext cx="2450592" cy="585216"/>
          </a:xfrm>
          <a:prstGeom prst="rect">
            <a:avLst/>
          </a:prstGeom>
          <a:solidFill>
            <a:srgbClr val="FFFFFF"/>
          </a:solidFill>
          <a:ln w="10160">
            <a:solidFill>
              <a:srgbClr val="D8B4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>
              <a:defRPr sz="720" b="1">
                <a:solidFill>
                  <a:srgbClr val="5B21B6"/>
                </a:solidFill>
                <a:latin typeface="Microsoft YaHei"/>
              </a:defRPr>
            </a:pPr>
            <a:r>
              <a:t>SR23-02-12-04 [工程平台]</a:t>
            </a:r>
          </a:p>
          <a:p>
            <a:pPr>
              <a:defRPr sz="780" b="1">
                <a:solidFill>
                  <a:srgbClr val="0F172A"/>
                </a:solidFill>
                <a:latin typeface="Microsoft YaHei"/>
              </a:defRPr>
            </a:pPr>
            <a:r>
              <a:t>跨平台构建、制品与灰度发布</a:t>
            </a:r>
          </a:p>
        </p:txBody>
      </p:sp>
      <p:sp>
        <p:nvSpPr>
          <p:cNvPr id="63" name="Rectangle 62"/>
          <p:cNvSpPr/>
          <p:nvPr/>
        </p:nvSpPr>
        <p:spPr>
          <a:xfrm>
            <a:off x="9253728" y="5614416"/>
            <a:ext cx="2450592" cy="603504"/>
          </a:xfrm>
          <a:prstGeom prst="rect">
            <a:avLst/>
          </a:prstGeom>
          <a:solidFill>
            <a:srgbClr val="FFFFFF"/>
          </a:solidFill>
          <a:ln w="10160">
            <a:solidFill>
              <a:srgbClr val="D8B4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>
              <a:defRPr sz="720" b="1">
                <a:solidFill>
                  <a:srgbClr val="5B21B6"/>
                </a:solidFill>
                <a:latin typeface="Microsoft YaHei"/>
              </a:defRPr>
            </a:pPr>
            <a:r>
              <a:t>SR23-02-12-05 [工程工具]</a:t>
            </a:r>
          </a:p>
          <a:p>
            <a:pPr>
              <a:defRPr sz="780" b="1">
                <a:solidFill>
                  <a:srgbClr val="0F172A"/>
                </a:solidFill>
                <a:latin typeface="Microsoft YaHei"/>
              </a:defRPr>
            </a:pPr>
            <a:r>
              <a:t>工作负载回放与性能基准平台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74320" y="6419088"/>
            <a:ext cx="11643055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850" b="1">
                <a:solidFill>
                  <a:srgbClr val="0F172A"/>
                </a:solidFill>
                <a:latin typeface="Microsoft YaHei"/>
              </a:defRPr>
            </a:pPr>
            <a:r>
              <a:t>关系说明与图例标注：  </a:t>
            </a:r>
            <a:r>
              <a:rPr sz="780" b="1">
                <a:solidFill>
                  <a:srgbClr val="1E40AF"/>
                </a:solidFill>
                <a:latin typeface="Microsoft YaHei"/>
              </a:rPr>
              <a:t> [核心枢纽/中心] </a:t>
            </a:r>
            <a:r>
              <a:rPr sz="780" b="1">
                <a:solidFill>
                  <a:srgbClr val="475569"/>
                </a:solidFill>
                <a:latin typeface="Microsoft YaHei"/>
              </a:rPr>
              <a:t> [功能闭包实体] </a:t>
            </a:r>
            <a:r>
              <a:rPr sz="780" b="1">
                <a:solidFill>
                  <a:srgbClr val="047857"/>
                </a:solidFill>
                <a:latin typeface="Microsoft YaHei"/>
              </a:rPr>
              <a:t> [底座/协议使能] </a:t>
            </a:r>
            <a:r>
              <a:rPr sz="780" b="1">
                <a:solidFill>
                  <a:srgbClr val="6D28D9"/>
                </a:solidFill>
                <a:latin typeface="Microsoft YaHei"/>
              </a:rPr>
              <a:t> [辅助研发测试] </a:t>
            </a:r>
            <a:r>
              <a:rPr sz="780" b="1">
                <a:solidFill>
                  <a:srgbClr val="64748B"/>
                </a:solidFill>
                <a:latin typeface="Microsoft YaHei"/>
              </a:rPr>
              <a:t>  --&gt; 依赖/调用关系 (如访问请求、硬件任务描述符下发)  </a:t>
            </a:r>
            <a:r>
              <a:rPr sz="780" b="1">
                <a:solidFill>
                  <a:srgbClr val="64748B"/>
                </a:solidFill>
                <a:latin typeface="Microsoft YaHei"/>
              </a:rPr>
              <a:t>  ==&gt; 层级收容与包含关系 (三层纵向架构切分)  </a:t>
            </a:r>
            <a:r>
              <a:rPr sz="780" b="1">
                <a:solidFill>
                  <a:srgbClr val="64748B"/>
                </a:solidFill>
                <a:latin typeface="Microsoft YaHei"/>
              </a:rPr>
              <a:t>  ... 辅助支撑 (为全系统提供功能测试、Mock仿真、Trace验证与监控告警)  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