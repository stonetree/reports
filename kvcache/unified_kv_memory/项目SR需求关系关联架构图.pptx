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51615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50" b="1">
                <a:solidFill>
                  <a:srgbClr val="0F172A"/>
                </a:solidFill>
                <a:latin typeface="Microsoft YaHei"/>
              </a:defRPr>
            </a:pPr>
            <a:r>
              <a:t>统一异构 KVCache 存储池 ｜ 项目 SR 需求关系关联架构图</a:t>
            </a:r>
          </a:p>
          <a:p>
            <a:pPr>
              <a:defRPr sz="919">
                <a:solidFill>
                  <a:srgbClr val="475569"/>
                </a:solidFill>
                <a:latin typeface="Microsoft YaHei"/>
              </a:defRPr>
            </a:pPr>
            <a:r>
              <a:t>顶层架构约束与 SR 功能闭包边界全景视图（基于 SRS V2.3 收敛版 / 全量需求树 V2.3.1 补充版，38 个 SR 全量精准映射）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77240"/>
            <a:ext cx="8595360" cy="5577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8412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40AF"/>
                </a:solidFill>
                <a:latin typeface="Microsoft YaHei"/>
              </a:defRPr>
            </a:pPr>
            <a:r>
              <a:t>【核心交付件】kvcache 统一异构存储池 总体架构（对接 vLLM / SGLang，下接 UB 总线与 URMA / UBMEM）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42415"/>
            <a:ext cx="841248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8229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0369A1"/>
                </a:solidFill>
                <a:latin typeface="Microsoft YaHei"/>
              </a:defRPr>
            </a:pPr>
            <a:r>
              <a:t>最上层：适配层（Adapter Layer —— vLLM / SGLang 框架对接、前缀准入、路由与 Pipeline 卸载）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9304"/>
            <a:ext cx="1325880" cy="731520"/>
          </a:xfrm>
          <a:prstGeom prst="rect">
            <a:avLst/>
          </a:prstGeom>
          <a:solidFill>
            <a:srgbClr val="0369A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FEF08A"/>
                </a:solidFill>
                <a:latin typeface="Microsoft YaHei"/>
              </a:defRPr>
            </a:pPr>
            <a:r>
              <a:t>SR23-02-01-01 [协议与SDK]</a:t>
            </a:r>
          </a:p>
          <a:p>
            <a:pPr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vLLM/SGLang 统一协议</a:t>
            </a:r>
            <a:br/>
            <a:r>
              <a:t>与 KVConnector 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664" y="1289304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SR23-02-02-01 [框架插件]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前缀预算、加载重算</a:t>
            </a:r>
            <a:br/>
            <a:r>
              <a:t>与水位准入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289304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SR23-02-02-02 [框架插件]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缓存感知路由与</a:t>
            </a:r>
            <a:br/>
            <a:r>
              <a:t>异构存储调度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1289304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SR23-02-06-01 [框架插件]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 卸载/加载、分层</a:t>
            </a:r>
            <a:br/>
            <a:r>
              <a:t>回源与流水线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25896" y="1289304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SR23-02-07-01 [策略插件]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投机预取与</a:t>
            </a:r>
            <a:br/>
            <a:r>
              <a:t>效果反馈组件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289304"/>
            <a:ext cx="132588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0369A1"/>
                </a:solidFill>
                <a:latin typeface="Microsoft YaHei"/>
              </a:defRPr>
            </a:pPr>
            <a:r>
              <a:t>SR23-02-10-01 [框架插件]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张量并行多卡</a:t>
            </a:r>
            <a:br/>
            <a:r>
              <a:t>一致消费与控制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30552"/>
            <a:ext cx="8412480" cy="155448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1E40AF"/>
                </a:solidFill>
              </a:defRPr>
            </a:pPr>
            <a:r>
              <a:t>▼ 传递 KV 访问请求 (KVAccessIntent) ｜ 协商 QueryPlan ｜ 返回可消费引用凭证 (AttachHandle) 与回退契约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313432"/>
            <a:ext cx="8412480" cy="2606040"/>
          </a:xfrm>
          <a:prstGeom prst="rect">
            <a:avLst/>
          </a:prstGeom>
          <a:solidFill>
            <a:srgbClr val="F0F4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E40AF"/>
                </a:solidFill>
                <a:latin typeface="Microsoft YaHei"/>
              </a:defRPr>
            </a:pPr>
            <a:r>
              <a:t>中间层：核心软件层（Core Storage Pool Layer —— 存储池调度、对象分配、前缀目录索引与 QoS）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60320"/>
            <a:ext cx="257860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【核心枢纽 &amp; 前缀目录索引】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61488"/>
            <a:ext cx="2578608" cy="457200"/>
          </a:xfrm>
          <a:prstGeom prst="rect">
            <a:avLst/>
          </a:prstGeom>
          <a:solidFill>
            <a:srgbClr val="1E40A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720" b="1">
                <a:solidFill>
                  <a:srgbClr val="FEF08A"/>
                </a:solidFill>
                <a:latin typeface="Microsoft YaHei"/>
              </a:defRPr>
            </a:pPr>
            <a:r>
              <a:t>SR23-01-01-01 [组件库]</a:t>
            </a:r>
          </a:p>
          <a:p>
            <a:pPr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统一 KV 对象池核心组件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64408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SR23-02-03-01 [组件库]</a:t>
            </a:r>
          </a:p>
          <a:p>
            <a:pPr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跨框架低时延</a:t>
            </a:r>
            <a:br/>
            <a:r>
              <a:t>前缀匹配引擎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3664" y="3264408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SR23-02-04-01 [组件库]</a:t>
            </a:r>
          </a:p>
          <a:p>
            <a:pPr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本地元数据缓存</a:t>
            </a:r>
            <a:br/>
            <a:r>
              <a:t>与批量快判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059935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SR23-02-05-01 [独立服务]</a:t>
            </a:r>
          </a:p>
          <a:p>
            <a:pPr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集群前缀目录</a:t>
            </a:r>
            <a:br/>
            <a:r>
              <a:t>核心与高可用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83664" y="4059935"/>
            <a:ext cx="1261872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SR23-02-05-02 [组件库]</a:t>
            </a:r>
          </a:p>
          <a:p>
            <a:pPr>
              <a:defRPr sz="720" b="1">
                <a:solidFill>
                  <a:srgbClr val="0F172A"/>
                </a:solidFill>
                <a:latin typeface="Microsoft YaHei"/>
              </a:defRPr>
            </a:pPr>
            <a:r>
              <a:t>前缀目录本地快路径</a:t>
            </a:r>
            <a:br/>
            <a:r>
              <a:t>与消费资格检查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2542032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28416" y="2560320"/>
            <a:ext cx="257860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【分层容量、生命周期与一致性】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8416" y="2761488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SR23-01-01-02 [策略插件]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HBM↔SSD 分层容量</a:t>
            </a:r>
            <a:br/>
            <a:r>
              <a:t>与 DDR 角色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2" y="2761488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SR23-01-01-03 [组件服务]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KV 生命周期、迁移</a:t>
            </a:r>
            <a:br/>
            <a:r>
              <a:t>与空间治理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8416" y="3282696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SR23-01-10-01 [组件库]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共享 Attach、租约</a:t>
            </a:r>
            <a:br/>
            <a:r>
              <a:t>与快速回退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3282696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SR23-01-11-01 [组件服务]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KV 发布、可见性</a:t>
            </a:r>
            <a:br/>
            <a:r>
              <a:t>与迁移一致性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28416" y="3803904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SR23-01-11-02 [组件服务]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多租户隔离与</a:t>
            </a:r>
            <a:br/>
            <a:r>
              <a:t>前后台 QoS 控制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3803904"/>
            <a:ext cx="126187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SR23-02-08-01 [组件工具]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模型 KV 容量画像</a:t>
            </a:r>
            <a:br/>
            <a:r>
              <a:t>与生命周期配置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8416" y="4325112"/>
            <a:ext cx="257860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50" b="1">
                <a:solidFill>
                  <a:srgbClr val="1E40AF"/>
                </a:solidFill>
                <a:latin typeface="Microsoft YaHei"/>
              </a:defRPr>
            </a:pPr>
            <a:r>
              <a:t>SR23-02-09-01 [策略插件]</a:t>
            </a:r>
          </a:p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活跃/热/冷 KV 分层驻留与复用策略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5896" y="2542032"/>
            <a:ext cx="2706624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2560320"/>
            <a:ext cx="257860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60" b="1">
                <a:solidFill>
                  <a:srgbClr val="1E40AF"/>
                </a:solidFill>
                <a:latin typeface="Microsoft YaHei"/>
              </a:defRPr>
            </a:pPr>
            <a:r>
              <a:t>【传输编排、选路与成本决策】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2761488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SR23-01-02-01 [组件库]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跨框架布局与</a:t>
            </a:r>
            <a:br/>
            <a:r>
              <a:t>批量描述编译器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761488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SR23-01-03-01 [组件服务]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QueryPlan 与</a:t>
            </a:r>
            <a:br/>
            <a:r>
              <a:t>多副本成本决策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9904" y="3456432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SR23-01-03-02 [组件库]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统一传输意图</a:t>
            </a:r>
            <a:br/>
            <a:r>
              <a:t>与粒度分发组件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3456432"/>
            <a:ext cx="12618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SR23-01-04-01 [组件服务]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异步传输 DAG</a:t>
            </a:r>
            <a:br/>
            <a:r>
              <a:t>与流水加载执行器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9904" y="4151376"/>
            <a:ext cx="126187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SR23-01-04-02 [可选插件]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一对多共享与</a:t>
            </a:r>
            <a:br/>
            <a:r>
              <a:t>可选多播 Provider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151376"/>
            <a:ext cx="1261872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70" b="1">
                <a:solidFill>
                  <a:srgbClr val="1E40AF"/>
                </a:solidFill>
                <a:latin typeface="Microsoft YaHei"/>
              </a:defRPr>
            </a:pPr>
            <a:r>
              <a:t>SR23-01-05-01 [组件服务]</a:t>
            </a:r>
          </a:p>
          <a:p>
            <a:pPr>
              <a:defRPr sz="710" b="1">
                <a:solidFill>
                  <a:srgbClr val="0F172A"/>
                </a:solidFill>
                <a:latin typeface="Microsoft YaHei"/>
              </a:defRPr>
            </a:pPr>
            <a:r>
              <a:t>路径质量探测</a:t>
            </a:r>
            <a:br/>
            <a:r>
              <a:t>与动态路由组件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946904"/>
            <a:ext cx="8412480" cy="155448"/>
          </a:xfrm>
          <a:prstGeom prst="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047857"/>
                </a:solidFill>
              </a:defRPr>
            </a:pPr>
            <a:r>
              <a:t>▼ 编译生成任务描述符 (ExtentManifest / Descriptor) ｜ 调用 URMA / UBMEM 物理传输使能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129784"/>
            <a:ext cx="841248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48072"/>
            <a:ext cx="8229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065F46"/>
                </a:solidFill>
                <a:latin typeface="Microsoft YaHei"/>
              </a:defRPr>
            </a:pPr>
            <a:r>
              <a:t>最底层：物理传输层 / 传输底座（Transport Layer &amp; UB Base —— 统一总线 UB 与 URMA / UBMEM 协议使能）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349240"/>
            <a:ext cx="1417320" cy="850392"/>
          </a:xfrm>
          <a:prstGeom prst="rect">
            <a:avLst/>
          </a:prstGeom>
          <a:solidFill>
            <a:srgbClr val="04785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650" b="1">
                <a:solidFill>
                  <a:srgbClr val="FEF08A"/>
                </a:solidFill>
                <a:latin typeface="Microsoft YaHei"/>
              </a:defRPr>
            </a:pPr>
            <a:r>
              <a:t>SR23-01-09-01 [平台组件]</a:t>
            </a:r>
          </a:p>
          <a:p>
            <a:pPr>
              <a:defRPr sz="819" b="1">
                <a:solidFill>
                  <a:srgbClr val="FFFFFF"/>
                </a:solidFill>
                <a:latin typeface="Microsoft YaHei"/>
              </a:defRPr>
            </a:pPr>
            <a:r>
              <a:t>统一能力注册表</a:t>
            </a:r>
            <a:br/>
            <a:r>
              <a:t>与互联路由器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5104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SR23-01-06-01 [后端插件]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跨节点 RDMA</a:t>
            </a:r>
            <a:br/>
            <a:r>
              <a:t>零拷贝 Provider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SR23-01-08-01 [后端插件]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HBM↔SSD/Object</a:t>
            </a:r>
            <a:br/>
            <a:r>
              <a:t>容量后端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42816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SR23-01-08-02 [条件插件]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DPU/硬件 Codec</a:t>
            </a:r>
            <a:br/>
            <a:r>
              <a:t>条件卸载包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76672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SR23-01-07-01 [后端插件]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UBMEM Direct</a:t>
            </a:r>
            <a:br/>
            <a:r>
              <a:t>View 安全访问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10528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SR23-01-12-01 [平台组件]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路径完整性证据</a:t>
            </a:r>
            <a:br/>
            <a:r>
              <a:t>与 RAS 映射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44383" y="5349240"/>
            <a:ext cx="1097280" cy="850392"/>
          </a:xfrm>
          <a:prstGeom prst="rect">
            <a:avLst/>
          </a:prstGeom>
          <a:solidFill>
            <a:srgbClr val="FFFFFF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defRPr sz="590" b="1">
                <a:solidFill>
                  <a:srgbClr val="065F46"/>
                </a:solidFill>
                <a:latin typeface="Microsoft YaHei"/>
              </a:defRPr>
            </a:pPr>
            <a:r>
              <a:t>SR23-01-12-02 [平台组件]</a:t>
            </a:r>
          </a:p>
          <a:p>
            <a:pPr>
              <a:defRPr sz="690" b="1">
                <a:solidFill>
                  <a:srgbClr val="0F172A"/>
                </a:solidFill>
                <a:latin typeface="Microsoft YaHei"/>
              </a:defRPr>
            </a:pPr>
            <a:r>
              <a:t>安全访问、资源</a:t>
            </a:r>
            <a:br/>
            <a:r>
              <a:t>下线与地址切换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777240"/>
            <a:ext cx="2770632" cy="55778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804672"/>
            <a:ext cx="258775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B21B6"/>
                </a:solidFill>
                <a:latin typeface="Microsoft YaHei"/>
              </a:defRPr>
            </a:pPr>
            <a:r>
              <a:t>【辅助组件】研发测试与运维保障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1042415"/>
            <a:ext cx="2587752" cy="2423160"/>
          </a:xfrm>
          <a:prstGeom prst="rect">
            <a:avLst/>
          </a:prstGeom>
          <a:solidFill>
            <a:srgbClr val="FAF5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53728" y="1069848"/>
            <a:ext cx="245059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60" b="1">
                <a:solidFill>
                  <a:srgbClr val="5B21B6"/>
                </a:solidFill>
                <a:latin typeface="Microsoft YaHei"/>
              </a:defRPr>
            </a:pPr>
            <a:r>
              <a:t>【全路径观测与诊断组件】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53728" y="1271016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SR23-02-11-01 [平台 SDK]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 全路径 Telemetry 与语义指标 SDK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3728" y="1975104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SR23-02-11-02 [运维工具]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链路追踪、回退分析与 KVInspect 诊断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53728" y="2679191"/>
            <a:ext cx="2450592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SR23-02-12-01 [工程工具]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KVCache 性能监控与告警交付包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3520440"/>
            <a:ext cx="2587752" cy="2761488"/>
          </a:xfrm>
          <a:prstGeom prst="rect">
            <a:avLst/>
          </a:prstGeom>
          <a:solidFill>
            <a:srgbClr val="FAF5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53728" y="3547872"/>
            <a:ext cx="245059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60" b="1">
                <a:solidFill>
                  <a:srgbClr val="5B21B6"/>
                </a:solidFill>
                <a:latin typeface="Microsoft YaHei"/>
              </a:defRPr>
            </a:pPr>
            <a:r>
              <a:t>【测试验证、基线与 CI/CD 平台】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53728" y="3749039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SR23-02-12-02 [工程工具]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核心组件单元/API 测试与 Mock 框架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53728" y="4370831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SR23-02-12-03 [工程平台]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异构介质 E2E、长稳与混沌测试平台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53728" y="4992624"/>
            <a:ext cx="245059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SR23-02-12-04 [工程平台]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跨平台构建、制品与灰度发布流水线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53728" y="5614416"/>
            <a:ext cx="2450592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defRPr sz="680" b="1">
                <a:solidFill>
                  <a:srgbClr val="5B21B6"/>
                </a:solidFill>
                <a:latin typeface="Microsoft YaHei"/>
              </a:defRPr>
            </a:pPr>
            <a:r>
              <a:t>SR23-02-12-05 [工程工具]</a:t>
            </a:r>
          </a:p>
          <a:p>
            <a:pPr>
              <a:defRPr sz="740" b="1">
                <a:solidFill>
                  <a:srgbClr val="0F172A"/>
                </a:solidFill>
                <a:latin typeface="Microsoft YaHei"/>
              </a:defRPr>
            </a:pPr>
            <a:r>
              <a:t>KVCache 工作负载回放与性能基准平台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" y="6419088"/>
            <a:ext cx="11551615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图例与关系说明： </a:t>
            </a:r>
            <a:r>
              <a:rPr sz="760" b="1">
                <a:solidFill>
                  <a:srgbClr val="1E40AF"/>
                </a:solidFill>
                <a:latin typeface="Microsoft YaHei"/>
              </a:rPr>
              <a:t> [核心枢纽/中心] </a:t>
            </a:r>
            <a:r>
              <a:rPr sz="760" b="1">
                <a:solidFill>
                  <a:srgbClr val="475569"/>
                </a:solidFill>
                <a:latin typeface="Microsoft YaHei"/>
              </a:rPr>
              <a:t> [功能闭包实体] </a:t>
            </a:r>
            <a:r>
              <a:rPr sz="760" b="1">
                <a:solidFill>
                  <a:srgbClr val="047857"/>
                </a:solidFill>
                <a:latin typeface="Microsoft YaHei"/>
              </a:rPr>
              <a:t> [底座/协议使能] </a:t>
            </a:r>
            <a:r>
              <a:rPr sz="760" b="1">
                <a:solidFill>
                  <a:srgbClr val="6D28D9"/>
                </a:solidFill>
                <a:latin typeface="Microsoft YaHei"/>
              </a:rPr>
              <a:t> [辅助研发测试]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▼ 依赖/调用关系 (下发意图/描述符/回退契约)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█ 层级收容关系 (三层纵向切分) </a:t>
            </a:r>
            <a:r>
              <a:rPr sz="760" b="1">
                <a:solidFill>
                  <a:srgbClr val="64748B"/>
                </a:solidFill>
                <a:latin typeface="Microsoft YaHei"/>
              </a:rPr>
              <a:t> │ ⋯ 辅助支撑 (Mock/仿真/Trace/监控)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